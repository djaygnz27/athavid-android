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Next Steps &amp; Current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217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DD7EE"/>
                </a:solidFill>
              </a:rPr>
              <a:t>PRJ13797: JMUX Replacement  |  PSEG Long Island  |  April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005840"/>
            <a:ext cx="11731752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005840"/>
            <a:ext cx="117317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  📋 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335024"/>
            <a:ext cx="11731752" cy="2834640"/>
          </a:xfrm>
          <a:prstGeom prst="rect">
            <a:avLst/>
          </a:prstGeom>
          <a:solidFill>
            <a:srgbClr val="F2F2F2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1371600"/>
            <a:ext cx="11594592" cy="420624"/>
          </a:xfrm>
          <a:prstGeom prst="rect">
            <a:avLst/>
          </a:prstGeom>
          <a:solidFill>
            <a:srgbClr val="FFFFFF"/>
          </a:solidFill>
          <a:ln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" y="1435608"/>
            <a:ext cx="292608" cy="2926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43560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1417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3964"/>
                </a:solidFill>
              </a:rPr>
              <a:t>Work with B&amp;M to test the RTU circuit that was run by CNI team.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" y="1828800"/>
            <a:ext cx="11594592" cy="420624"/>
          </a:xfrm>
          <a:prstGeom prst="rect">
            <a:avLst/>
          </a:prstGeom>
          <a:solidFill>
            <a:srgbClr val="F2F2F2"/>
          </a:solidFill>
          <a:ln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" y="1892807"/>
            <a:ext cx="292608" cy="2926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" y="1892807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74519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3964"/>
                </a:solidFill>
              </a:rPr>
              <a:t>Make sure all Phase 1 nodes are built into the network GUI and can be accessed remotely. Also need to check that all routers are configured as per SSP.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" y="2286000"/>
            <a:ext cx="11594592" cy="420624"/>
          </a:xfrm>
          <a:prstGeom prst="rect">
            <a:avLst/>
          </a:prstGeom>
          <a:solidFill>
            <a:srgbClr val="FFFFFF"/>
          </a:solidFill>
          <a:ln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" y="2350008"/>
            <a:ext cx="292608" cy="2926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35000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23317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3964"/>
                </a:solidFill>
              </a:rPr>
              <a:t>Complete testing on test RTU and work with B&amp;M to go over MOP to move production RTU.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" y="2743200"/>
            <a:ext cx="11594592" cy="420624"/>
          </a:xfrm>
          <a:prstGeom prst="rect">
            <a:avLst/>
          </a:prstGeom>
          <a:solidFill>
            <a:srgbClr val="F2F2F2"/>
          </a:solidFill>
          <a:ln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" y="2807208"/>
            <a:ext cx="292608" cy="2926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" y="280720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" y="2788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3964"/>
                </a:solidFill>
              </a:rPr>
              <a:t>Follow up with Hawkeye to make sure the site surveys are scheduled for Phase 2 sites. 9/36 IFCs sent to Hawkeye.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" y="3200400"/>
            <a:ext cx="11594592" cy="420624"/>
          </a:xfrm>
          <a:prstGeom prst="rect">
            <a:avLst/>
          </a:prstGeom>
          <a:solidFill>
            <a:srgbClr val="FFFFFF"/>
          </a:solidFill>
          <a:ln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" y="3264408"/>
            <a:ext cx="292608" cy="2926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26440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32461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3964"/>
                </a:solidFill>
              </a:rPr>
              <a:t>Track PAR control design and equipment ordered for 6 sites.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" y="3657600"/>
            <a:ext cx="11594592" cy="420624"/>
          </a:xfrm>
          <a:prstGeom prst="rect">
            <a:avLst/>
          </a:prstGeom>
          <a:solidFill>
            <a:srgbClr val="F2F2F2"/>
          </a:solidFill>
          <a:ln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9184" y="3721608"/>
            <a:ext cx="292608" cy="29260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" y="372160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3703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3964"/>
                </a:solidFill>
              </a:rPr>
              <a:t>Keep tracking IFR/IFCs – 9/36 received to date.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" y="4251960"/>
            <a:ext cx="11731752" cy="3291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600" y="4251960"/>
            <a:ext cx="117317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  ⚠️  Current Risks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" y="4581144"/>
            <a:ext cx="11731752" cy="1938528"/>
          </a:xfrm>
          <a:prstGeom prst="rect">
            <a:avLst/>
          </a:prstGeom>
          <a:solidFill>
            <a:srgbClr val="FFF2CC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92608" y="4617720"/>
            <a:ext cx="11594592" cy="576072"/>
          </a:xfrm>
          <a:prstGeom prst="rect">
            <a:avLst/>
          </a:prstGeom>
          <a:solidFill>
            <a:srgbClr val="FFFFFF"/>
          </a:solidFill>
          <a:ln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9184" y="4709159"/>
            <a:ext cx="292608" cy="2926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" y="4709159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" y="46908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3964"/>
                </a:solidFill>
              </a:rPr>
              <a:t>Legacy JMUX equipment is over 25 years old and brittle — faulty connectors, potential brittle fiber patch panels, face plates, connectors and cables. Potential for Outage.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8" y="5230368"/>
            <a:ext cx="11594592" cy="576072"/>
          </a:xfrm>
          <a:prstGeom prst="rect">
            <a:avLst/>
          </a:prstGeom>
          <a:solidFill>
            <a:srgbClr val="F2F2F2"/>
          </a:solidFill>
          <a:ln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9184" y="5321807"/>
            <a:ext cx="292608" cy="2926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184" y="5321807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" y="530352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3964"/>
                </a:solidFill>
              </a:rPr>
              <a:t>Weather delay and delay in installing the equipment at sub-station (tracking weekly).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8" y="5843016"/>
            <a:ext cx="11594592" cy="576072"/>
          </a:xfrm>
          <a:prstGeom prst="rect">
            <a:avLst/>
          </a:prstGeom>
          <a:solidFill>
            <a:srgbClr val="FFFFFF"/>
          </a:solidFill>
          <a:ln>
            <a:solidFill>
              <a:srgbClr val="D8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9184" y="5934455"/>
            <a:ext cx="292608" cy="2926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9184" y="5934455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</a:rPr>
              <a:t>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" y="591616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F3964"/>
                </a:solidFill>
              </a:rPr>
              <a:t>Potential Schedule delays due to other major substation project conflicts.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82880" y="6583680"/>
            <a:ext cx="1188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PSEG Long Island  |  JMUX Replacement Program  |  PRJ13797  |  Confidential  | 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