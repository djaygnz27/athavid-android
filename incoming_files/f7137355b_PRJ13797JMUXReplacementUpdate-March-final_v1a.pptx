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5"/>
  </p:notesMasterIdLst>
  <p:sldIdLst>
    <p:sldId id="454" r:id="rId5"/>
    <p:sldId id="465" r:id="rId6"/>
    <p:sldId id="2147477447" r:id="rId7"/>
    <p:sldId id="2147477446" r:id="rId8"/>
    <p:sldId id="2147477433" r:id="rId9"/>
    <p:sldId id="2147477434" r:id="rId10"/>
    <p:sldId id="2147477435" r:id="rId11"/>
    <p:sldId id="260" r:id="rId12"/>
    <p:sldId id="2147477441" r:id="rId13"/>
    <p:sldId id="21474774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7"/>
            <p14:sldId id="2147477446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3690" autoAdjust="0"/>
  </p:normalViewPr>
  <p:slideViewPr>
    <p:cSldViewPr snapToGrid="0">
      <p:cViewPr>
        <p:scale>
          <a:sx n="60" d="100"/>
          <a:sy n="60" d="100"/>
        </p:scale>
        <p:origin x="1828" y="1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2DC0-E0FC-2F31-3420-754F6BAB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C4AF5-040F-FEAD-5363-2031C743D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76142-0A00-9559-EAC3-CDC92D54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18814-3B54-AEC3-5931-C731942BE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Binary_Worksheet1.xlsb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substations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 creation, MPLS Equipment order, Power and ancillary equipment(Patch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the equipment as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340F-1C3A-A0D3-B43B-E10EFF31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DBD241-5315-B36E-1316-23DF8054A44C}"/>
              </a:ext>
            </a:extLst>
          </p:cNvPr>
          <p:cNvSpPr txBox="1"/>
          <p:nvPr/>
        </p:nvSpPr>
        <p:spPr>
          <a:xfrm>
            <a:off x="-1" y="-146080"/>
            <a:ext cx="1048972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b="1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400" b="1" dirty="0"/>
          </a:p>
          <a:p>
            <a:endParaRPr lang="en-US" sz="1100" b="1" dirty="0">
              <a:solidFill>
                <a:schemeClr val="accent2"/>
              </a:solidFill>
            </a:endParaRPr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2" fontAlgn="ctr"/>
            <a:endParaRPr lang="en-US" sz="1200" b="1" dirty="0"/>
          </a:p>
          <a:p>
            <a:pPr lvl="2" fontAlgn="ctr"/>
            <a:endParaRPr lang="en-US" sz="1200" b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dirty="0"/>
              <a:t>.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endParaRPr lang="en-US" sz="140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133123F-99D2-6028-82F8-1D2A43AF89AC}"/>
              </a:ext>
            </a:extLst>
          </p:cNvPr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8C769-A129-F621-9383-534367DE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45389"/>
            <a:ext cx="10489720" cy="5943600"/>
          </a:xfrm>
          <a:prstGeom prst="rect">
            <a:avLst/>
          </a:prstGeom>
        </p:spPr>
      </p:pic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690208A9-E851-59E8-9E59-EF873362D56F}"/>
              </a:ext>
            </a:extLst>
          </p:cNvPr>
          <p:cNvSpPr txBox="1">
            <a:spLocks/>
          </p:cNvSpPr>
          <p:nvPr/>
        </p:nvSpPr>
        <p:spPr>
          <a:xfrm>
            <a:off x="131975" y="5913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2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EA8F55-9765-08E1-DAB2-AD5917A07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38"/>
            <a:ext cx="12192000" cy="654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13188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Fri 3/13/26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38220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Fri 3/13/26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00144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SPI = 0.76 (Yellow).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</a:t>
            </a:r>
            <a:r>
              <a:rPr lang="en-US" sz="1200" dirty="0" err="1"/>
              <a:t>iLO</a:t>
            </a:r>
            <a:r>
              <a:rPr lang="en-US" sz="1200" dirty="0"/>
              <a:t> port configuration without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BGP Configuration at Hicksville and Melville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Remote access routers and </a:t>
            </a:r>
            <a:r>
              <a:rPr lang="en-US" sz="1200"/>
              <a:t>complete configuration as per SSP doc. </a:t>
            </a:r>
            <a:r>
              <a:rPr lang="en-US" sz="1200" b="0" i="0" dirty="0"/>
              <a:t>
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0.76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491895" flipH="1" flipV="1">
            <a:off x="2719944" y="2290818"/>
            <a:ext cx="69053" cy="114943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372018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Northport Fuse issue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0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OTDR Testing from Syosset to Hicksville, link now active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(OTDR 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NSP cable run and terminated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(NSP fiber term)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eqpt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0</a:t>
                      </a:r>
                      <a:r>
                        <a:rPr sz="700" dirty="0"/>
                        <a:t>
(logistics task)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0.5
(complete ✅)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N/A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sz="700"/>
                        <a:t>Phase 2 Nokia equipment moved to new Hawkeye staging trailer. Not on critical path.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9A1C5FB-7290-C052-97F9-EA00537CD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7" y="823532"/>
          <a:ext cx="747966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7143661" imgH="1111420" progId="Excel.SheetBinaryMacroEnabled.12">
                  <p:embed/>
                </p:oleObj>
              </mc:Choice>
              <mc:Fallback>
                <p:oleObj name="Binary Worksheet" r:id="rId2" imgW="7143661" imgH="1111420" progId="Excel.SheetBinaryMacroEnabled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9A1C5FB-7290-C052-97F9-EA00537CD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7" y="823532"/>
                        <a:ext cx="7479665" cy="111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5022820" imgH="2540288" progId="Excel.SheetBinaryMacroEnabled.12">
                  <p:embed/>
                </p:oleObj>
              </mc:Choice>
              <mc:Fallback>
                <p:oleObj name="Binary Worksheet" r:id="rId4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61ED8ECF-0FFD-8359-AA21-5470E64A300A}"/>
              </a:ext>
            </a:extLst>
          </p:cNvPr>
          <p:cNvSpPr txBox="1">
            <a:spLocks/>
          </p:cNvSpPr>
          <p:nvPr/>
        </p:nvSpPr>
        <p:spPr>
          <a:xfrm>
            <a:off x="8884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 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Potential Schedule delays due to 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Next Steps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i="1" dirty="0" err="1"/>
              <a:t>iLO</a:t>
            </a:r>
            <a:r>
              <a:rPr lang="en-US" i="1" dirty="0"/>
              <a:t> corporate connectivity </a:t>
            </a:r>
            <a:r>
              <a:rPr lang="en-US" dirty="0"/>
              <a:t>interfaces turned up at Melville and Hicksville</a:t>
            </a:r>
            <a:endParaRPr lang="en-US" dirty="0">
              <a:solidFill>
                <a:srgbClr val="00B050"/>
              </a:solidFill>
            </a:endParaRP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BGP Configurations and integration with Corporate network in Melville &amp; Hicksville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Remote access into Nokia routers to manage routers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Baseline network configurations and testing on Nokia Routers </a:t>
            </a:r>
          </a:p>
          <a:p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136263</TotalTime>
  <Words>1329</Words>
  <Application>Microsoft Office PowerPoint</Application>
  <PresentationFormat>Widescreen</PresentationFormat>
  <Paragraphs>490</Paragraphs>
  <Slides>10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909</cp:revision>
  <dcterms:modified xsi:type="dcterms:W3CDTF">2026-03-24T18:12:32Z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