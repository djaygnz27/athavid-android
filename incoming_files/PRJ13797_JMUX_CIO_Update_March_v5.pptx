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33" r:id="rId4"/>
  </p:sldMasterIdLst>
  <p:notesMasterIdLst>
    <p:notesMasterId r:id="rId19"/>
  </p:notesMasterIdLst>
  <p:sldIdLst>
    <p:sldId id="454" r:id="rId5"/>
    <p:sldId id="265" r:id="rId6"/>
    <p:sldId id="258" r:id="rId7"/>
    <p:sldId id="259" r:id="rId8"/>
    <p:sldId id="260" r:id="rId9"/>
    <p:sldId id="2147477440" r:id="rId10"/>
    <p:sldId id="2147477445" r:id="rId11"/>
    <p:sldId id="2147477344" r:id="rId12"/>
    <p:sldId id="2147477433" r:id="rId13"/>
    <p:sldId id="2147477434" r:id="rId14"/>
    <p:sldId id="2147477435" r:id="rId15"/>
    <p:sldId id="2147477438" r:id="rId16"/>
    <p:sldId id="262"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5F1BB82B-E214-404B-B4A1-D1B60B4AAF9F}">
          <p14:sldIdLst>
            <p14:sldId id="454"/>
          </p14:sldIdLst>
        </p14:section>
        <p14:section name="Divider Section" id="{E082A701-3AD9-4733-BB9A-2631BFCCDFFB}">
          <p14:sldIdLst/>
        </p14:section>
        <p14:section name="Content Section" id="{46443504-A548-4F26-B7C8-B462ABD4EFF0}">
          <p14:sldIdLst>
            <p14:sldId id="265"/>
            <p14:sldId id="258"/>
            <p14:sldId id="259"/>
            <p14:sldId id="260"/>
            <p14:sldId id="2147477440"/>
            <p14:sldId id="2147477445"/>
            <p14:sldId id="2147477344"/>
            <p14:sldId id="2147477433"/>
            <p14:sldId id="2147477434"/>
            <p14:sldId id="2147477435"/>
            <p14:sldId id="2147477438"/>
            <p14:sldId id="262"/>
            <p14:sldId id="264"/>
          </p14:sldIdLst>
        </p14:section>
        <p14:section name="Closing Section" id="{9F918853-CC87-4290-A67C-08F0CA27339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CB8484E-85E5-B6BC-69A0-322218EBF286}" name="Treber, Kaitlin" initials="TK" userId="S::31439@icf.com::9dfe7150-1d09-491d-af00-d225e3736704" providerId="AD"/>
  <p188:author id="{62CAADDC-D9D2-520D-42C7-343811CAF82E}" name="Silverman, Matt" initials="SM" userId="S::40292@icf.com::0daebbd3-6099-4db6-b0ec-f7787efe94c9" providerId="AD"/>
  <p188:author id="{CD2442DD-B799-B0EB-47B7-2497D9B753F7}" name="Specht, George" initials="SG" userId="S::34756@icf.com::339283ee-a0bb-48e3-b124-8f63f8ac955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n, Carlotta" initials="CC" lastIdx="4" clrIdx="0">
    <p:extLst>
      <p:ext uri="{19B8F6BF-5375-455C-9EA6-DF929625EA0E}">
        <p15:presenceInfo xmlns:p15="http://schemas.microsoft.com/office/powerpoint/2012/main" userId="S-1-5-21-1876172974-742851678-1849977318-1503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33"/>
    <a:srgbClr val="E5EDF8"/>
    <a:srgbClr val="142C41"/>
    <a:srgbClr val="E1FF01"/>
    <a:srgbClr val="FCFC92"/>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3690" autoAdjust="0"/>
  </p:normalViewPr>
  <p:slideViewPr>
    <p:cSldViewPr snapToGrid="0">
      <p:cViewPr>
        <p:scale>
          <a:sx n="60" d="100"/>
          <a:sy n="60" d="100"/>
        </p:scale>
        <p:origin x="280" y="6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commentAuthors" Target="commentAuthor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5693C9-38CA-445B-AEEA-616BD994FADC}" type="datetimeFigureOut">
              <a:rPr lang="en-US" smtClean="0"/>
              <a:t>3/9/2026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523DC-AC0C-4CF5-B9CB-C3612BF693EF}" type="slidenum">
              <a:rPr lang="en-US" smtClean="0"/>
              <a:t>‹#›</a:t>
            </a:fld>
            <a:endParaRPr lang="en-US" dirty="0"/>
          </a:p>
        </p:txBody>
      </p:sp>
    </p:spTree>
    <p:extLst>
      <p:ext uri="{BB962C8B-B14F-4D97-AF65-F5344CB8AC3E}">
        <p14:creationId xmlns:p14="http://schemas.microsoft.com/office/powerpoint/2010/main" val="489643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0523DC-AC0C-4CF5-B9CB-C3612BF693EF}" type="slidenum">
              <a:rPr lang="en-US" smtClean="0"/>
              <a:t>1</a:t>
            </a:fld>
            <a:endParaRPr lang="en-US" dirty="0"/>
          </a:p>
        </p:txBody>
      </p:sp>
    </p:spTree>
    <p:extLst>
      <p:ext uri="{BB962C8B-B14F-4D97-AF65-F5344CB8AC3E}">
        <p14:creationId xmlns:p14="http://schemas.microsoft.com/office/powerpoint/2010/main" val="35801094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6</a:t>
            </a:fld>
            <a:endParaRPr lang="en-US" dirty="0"/>
          </a:p>
        </p:txBody>
      </p:sp>
    </p:spTree>
    <p:extLst>
      <p:ext uri="{BB962C8B-B14F-4D97-AF65-F5344CB8AC3E}">
        <p14:creationId xmlns:p14="http://schemas.microsoft.com/office/powerpoint/2010/main" val="39279690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7</a:t>
            </a:fld>
            <a:endParaRPr lang="en-US" dirty="0"/>
          </a:p>
        </p:txBody>
      </p:sp>
    </p:spTree>
    <p:extLst>
      <p:ext uri="{BB962C8B-B14F-4D97-AF65-F5344CB8AC3E}">
        <p14:creationId xmlns:p14="http://schemas.microsoft.com/office/powerpoint/2010/main" val="14496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523DC-AC0C-4CF5-B9CB-C3612BF693EF}" type="slidenum">
              <a:rPr lang="en-US" smtClean="0"/>
              <a:t>10</a:t>
            </a:fld>
            <a:endParaRPr lang="en-US" dirty="0"/>
          </a:p>
        </p:txBody>
      </p:sp>
    </p:spTree>
    <p:extLst>
      <p:ext uri="{BB962C8B-B14F-4D97-AF65-F5344CB8AC3E}">
        <p14:creationId xmlns:p14="http://schemas.microsoft.com/office/powerpoint/2010/main" val="3138547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0557443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640015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368018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415832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387927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942387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32259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60322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841254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77318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707474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 Full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0" y="0"/>
            <a:ext cx="12192000" cy="6858000"/>
          </a:xfrm>
        </p:spPr>
        <p:txBody>
          <a:bodyP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763079"/>
            <a:ext cx="5969000" cy="1699591"/>
          </a:xfrm>
        </p:spPr>
        <p:txBody>
          <a:bodyPr anchor="t" anchorCtr="0">
            <a:normAutofit/>
          </a:bodyPr>
          <a:lstStyle>
            <a:lvl1pPr algn="l">
              <a:defRPr sz="4600">
                <a:solidFill>
                  <a:schemeClr val="accent1"/>
                </a:solidFill>
              </a:defRPr>
            </a:lvl1pPr>
          </a:lstStyle>
          <a:p>
            <a:r>
              <a:rPr lang="en-US"/>
              <a:t>Click to edit Master title style</a:t>
            </a:r>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5" name="Subtitle 2">
            <a:extLst>
              <a:ext uri="{FF2B5EF4-FFF2-40B4-BE49-F238E27FC236}">
                <a16:creationId xmlns:a16="http://schemas.microsoft.com/office/drawing/2014/main" id="{B85B803C-754B-909B-4478-4FBB175B3749}"/>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3" name="Picture 2">
            <a:extLst>
              <a:ext uri="{FF2B5EF4-FFF2-40B4-BE49-F238E27FC236}">
                <a16:creationId xmlns:a16="http://schemas.microsoft.com/office/drawing/2014/main" id="{8D96E424-0B0B-4906-94B5-B37E7E0C7E08}"/>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60526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 Steel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6" name="Rectangle 5">
            <a:extLst>
              <a:ext uri="{FF2B5EF4-FFF2-40B4-BE49-F238E27FC236}">
                <a16:creationId xmlns:a16="http://schemas.microsoft.com/office/drawing/2014/main" id="{6AB575AC-86C2-D337-14DF-FCF46DCC0708}"/>
              </a:ext>
            </a:extLst>
          </p:cNvPr>
          <p:cNvSpPr/>
          <p:nvPr userDrawn="1"/>
        </p:nvSpPr>
        <p:spPr>
          <a:xfrm>
            <a:off x="10591800" y="0"/>
            <a:ext cx="1600200" cy="68525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4" name="Slide Number Placeholder 5">
            <a:extLst>
              <a:ext uri="{FF2B5EF4-FFF2-40B4-BE49-F238E27FC236}">
                <a16:creationId xmlns:a16="http://schemas.microsoft.com/office/drawing/2014/main" id="{B3799BAE-1EDC-B379-8D6B-9DE8FD3A626A}"/>
              </a:ext>
            </a:extLst>
          </p:cNvPr>
          <p:cNvSpPr txBox="1">
            <a:spLocks/>
          </p:cNvSpPr>
          <p:nvPr userDrawn="1"/>
        </p:nvSpPr>
        <p:spPr>
          <a:xfrm>
            <a:off x="11892520" y="65247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469974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Side Picture">
    <p:spTree>
      <p:nvGrpSpPr>
        <p:cNvPr id="1" name=""/>
        <p:cNvGrpSpPr/>
        <p:nvPr/>
      </p:nvGrpSpPr>
      <p:grpSpPr>
        <a:xfrm>
          <a:off x="0" y="0"/>
          <a:ext cx="0" cy="0"/>
          <a:chOff x="0" y="0"/>
          <a:chExt cx="0" cy="0"/>
        </a:xfrm>
      </p:grpSpPr>
      <p:sp>
        <p:nvSpPr>
          <p:cNvPr id="35" name="Picture Placeholder 34">
            <a:extLst>
              <a:ext uri="{FF2B5EF4-FFF2-40B4-BE49-F238E27FC236}">
                <a16:creationId xmlns:a16="http://schemas.microsoft.com/office/drawing/2014/main" id="{9791AC60-58C6-9164-8F72-D155C522B773}"/>
              </a:ext>
            </a:extLst>
          </p:cNvPr>
          <p:cNvSpPr>
            <a:spLocks noGrp="1"/>
          </p:cNvSpPr>
          <p:nvPr>
            <p:ph type="pic" sz="quarter" idx="10"/>
          </p:nvPr>
        </p:nvSpPr>
        <p:spPr>
          <a:xfrm>
            <a:off x="8214360" y="0"/>
            <a:ext cx="3977640" cy="6858000"/>
          </a:xfrm>
        </p:spPr>
        <p:txBody>
          <a:bodyPr/>
          <a:lstStyle/>
          <a:p>
            <a:endParaRPr lang="en-US" dirty="0"/>
          </a:p>
        </p:txBody>
      </p:sp>
      <p:sp>
        <p:nvSpPr>
          <p:cNvPr id="31" name="Slide Number Placeholder 5">
            <a:extLst>
              <a:ext uri="{FF2B5EF4-FFF2-40B4-BE49-F238E27FC236}">
                <a16:creationId xmlns:a16="http://schemas.microsoft.com/office/drawing/2014/main" id="{BAAC64E3-0361-F4FA-B3AD-E06D755F1963}"/>
              </a:ext>
            </a:extLst>
          </p:cNvPr>
          <p:cNvSpPr txBox="1">
            <a:spLocks/>
          </p:cNvSpPr>
          <p:nvPr userDrawn="1"/>
        </p:nvSpPr>
        <p:spPr>
          <a:xfrm>
            <a:off x="11579225" y="6373813"/>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mtClean="0">
                <a:solidFill>
                  <a:schemeClr val="bg1"/>
                </a:solidFill>
              </a:rPr>
              <a:pPr algn="ctr"/>
              <a:t>‹#›</a:t>
            </a:fld>
            <a:endParaRPr lang="en-US" dirty="0">
              <a:solidFill>
                <a:schemeClr val="bg1"/>
              </a:solidFill>
            </a:endParaRPr>
          </a:p>
        </p:txBody>
      </p:sp>
      <p:sp>
        <p:nvSpPr>
          <p:cNvPr id="33" name="Freeform: Shape 32">
            <a:extLst>
              <a:ext uri="{FF2B5EF4-FFF2-40B4-BE49-F238E27FC236}">
                <a16:creationId xmlns:a16="http://schemas.microsoft.com/office/drawing/2014/main" id="{8438D377-8C25-500F-B46A-738EE9EC0613}"/>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4" name="Title 1">
            <a:extLst>
              <a:ext uri="{FF2B5EF4-FFF2-40B4-BE49-F238E27FC236}">
                <a16:creationId xmlns:a16="http://schemas.microsoft.com/office/drawing/2014/main" id="{0C698C27-9AFB-5139-37A3-B84E67D9F0B8}"/>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Subtitle 2">
            <a:extLst>
              <a:ext uri="{FF2B5EF4-FFF2-40B4-BE49-F238E27FC236}">
                <a16:creationId xmlns:a16="http://schemas.microsoft.com/office/drawing/2014/main" id="{89BDCC2C-E78C-0328-75E0-515B063111F3}"/>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6" name="Picture 5">
            <a:extLst>
              <a:ext uri="{FF2B5EF4-FFF2-40B4-BE49-F238E27FC236}">
                <a16:creationId xmlns:a16="http://schemas.microsoft.com/office/drawing/2014/main" id="{02650B90-B0BB-AE3C-F0AC-59812CE4D569}"/>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1983402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13992"/>
            <a:ext cx="5969000" cy="1948070"/>
          </a:xfrm>
        </p:spPr>
        <p:txBody>
          <a:bodyPr anchor="t" anchorCtr="0">
            <a:normAutofit/>
          </a:bodyPr>
          <a:lstStyle>
            <a:lvl1pPr algn="l">
              <a:defRPr sz="4600">
                <a:solidFill>
                  <a:schemeClr val="accent1"/>
                </a:solidFill>
              </a:defRPr>
            </a:lvl1pPr>
          </a:lstStyle>
          <a:p>
            <a:r>
              <a:rPr lang="en-US"/>
              <a:t>Click to edit Master title style</a:t>
            </a:r>
          </a:p>
        </p:txBody>
      </p:sp>
      <p:sp>
        <p:nvSpPr>
          <p:cNvPr id="5" name="Content Placeholder 2">
            <a:extLst>
              <a:ext uri="{FF2B5EF4-FFF2-40B4-BE49-F238E27FC236}">
                <a16:creationId xmlns:a16="http://schemas.microsoft.com/office/drawing/2014/main" id="{A51277D9-2ACD-423C-7F93-BB9DAF2C87B0}"/>
              </a:ext>
            </a:extLst>
          </p:cNvPr>
          <p:cNvSpPr>
            <a:spLocks noGrp="1"/>
          </p:cNvSpPr>
          <p:nvPr>
            <p:ph idx="12" hasCustomPrompt="1"/>
          </p:nvPr>
        </p:nvSpPr>
        <p:spPr>
          <a:xfrm>
            <a:off x="8891081" y="6445023"/>
            <a:ext cx="3095640" cy="278735"/>
          </a:xfrm>
        </p:spPr>
        <p:txBody>
          <a:bodyPr numCol="1" spcCol="0">
            <a:noAutofit/>
          </a:bodyPr>
          <a:lstStyle>
            <a:lvl1pPr algn="r">
              <a:spcBef>
                <a:spcPts val="300"/>
              </a:spcBef>
              <a:spcAft>
                <a:spcPts val="300"/>
              </a:spcAft>
              <a:defRPr sz="1000" i="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sp>
        <p:nvSpPr>
          <p:cNvPr id="4" name="Subtitle 2">
            <a:extLst>
              <a:ext uri="{FF2B5EF4-FFF2-40B4-BE49-F238E27FC236}">
                <a16:creationId xmlns:a16="http://schemas.microsoft.com/office/drawing/2014/main" id="{D32A9164-F04F-DDA7-649A-DE500A79FE37}"/>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1"/>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pic>
        <p:nvPicPr>
          <p:cNvPr id="7" name="Picture 6">
            <a:extLst>
              <a:ext uri="{FF2B5EF4-FFF2-40B4-BE49-F238E27FC236}">
                <a16:creationId xmlns:a16="http://schemas.microsoft.com/office/drawing/2014/main" id="{36CF2B6B-3475-1BC0-2928-40C8F4B6747D}"/>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3" cy="920896"/>
          </a:xfrm>
          <a:prstGeom prst="rect">
            <a:avLst/>
          </a:prstGeom>
        </p:spPr>
      </p:pic>
    </p:spTree>
    <p:extLst>
      <p:ext uri="{BB962C8B-B14F-4D97-AF65-F5344CB8AC3E}">
        <p14:creationId xmlns:p14="http://schemas.microsoft.com/office/powerpoint/2010/main" val="3922401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Steel">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E136F65-5519-5748-58DD-F416FBE55DEB}"/>
              </a:ext>
            </a:extLst>
          </p:cNvPr>
          <p:cNvSpPr>
            <a:spLocks noGrp="1"/>
          </p:cNvSpPr>
          <p:nvPr>
            <p:ph type="subTitle" idx="1"/>
          </p:nvPr>
        </p:nvSpPr>
        <p:spPr>
          <a:xfrm>
            <a:off x="1875919" y="4739602"/>
            <a:ext cx="6065445" cy="615792"/>
          </a:xfrm>
          <a:noFill/>
        </p:spPr>
        <p:txBody>
          <a:bodyPr tIns="0" bIns="0" numCol="1"/>
          <a:lstStyle>
            <a:lvl1pPr marL="0" indent="0" algn="l">
              <a:buNone/>
              <a:defRPr sz="1800" b="1" i="0">
                <a:solidFill>
                  <a:schemeClr val="accent4"/>
                </a:solidFill>
                <a:latin typeface="Outfit SemiBold"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a:t>
            </a:r>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905000" y="2635871"/>
            <a:ext cx="6528786" cy="1548213"/>
          </a:xfrm>
        </p:spPr>
        <p:txBody>
          <a:bodyPr anchor="t" anchorCtr="0">
            <a:normAutofit/>
          </a:bodyPr>
          <a:lstStyle>
            <a:lvl1pPr algn="l">
              <a:defRPr sz="4600">
                <a:solidFill>
                  <a:schemeClr val="accent4"/>
                </a:solidFill>
              </a:defRPr>
            </a:lvl1pPr>
          </a:lstStyle>
          <a:p>
            <a:r>
              <a:rPr lang="en-US"/>
              <a:t>Click to edit Master title style</a:t>
            </a:r>
          </a:p>
        </p:txBody>
      </p:sp>
      <p:sp>
        <p:nvSpPr>
          <p:cNvPr id="6" name="Content Placeholder 2">
            <a:extLst>
              <a:ext uri="{FF2B5EF4-FFF2-40B4-BE49-F238E27FC236}">
                <a16:creationId xmlns:a16="http://schemas.microsoft.com/office/drawing/2014/main" id="{76D4CFEA-AD6E-3BEA-BD0D-AEDC252517C2}"/>
              </a:ext>
            </a:extLst>
          </p:cNvPr>
          <p:cNvSpPr>
            <a:spLocks noGrp="1"/>
          </p:cNvSpPr>
          <p:nvPr>
            <p:ph idx="12" hasCustomPrompt="1"/>
          </p:nvPr>
        </p:nvSpPr>
        <p:spPr>
          <a:xfrm>
            <a:off x="9523379" y="6445023"/>
            <a:ext cx="2463342" cy="278735"/>
          </a:xfrm>
        </p:spPr>
        <p:txBody>
          <a:bodyPr numCol="1" spcCol="0">
            <a:noAutofit/>
          </a:bodyPr>
          <a:lstStyle>
            <a:lvl1pPr algn="r">
              <a:spcBef>
                <a:spcPts val="300"/>
              </a:spcBef>
              <a:spcAft>
                <a:spcPts val="300"/>
              </a:spcAft>
              <a:defRPr sz="10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Date</a:t>
            </a:r>
          </a:p>
        </p:txBody>
      </p:sp>
      <p:pic>
        <p:nvPicPr>
          <p:cNvPr id="4" name="Picture 3">
            <a:extLst>
              <a:ext uri="{FF2B5EF4-FFF2-40B4-BE49-F238E27FC236}">
                <a16:creationId xmlns:a16="http://schemas.microsoft.com/office/drawing/2014/main" id="{7CACBAA6-21A2-5DBB-5959-DE259AA1F55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1755847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image -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898C888C-0B26-783E-C8DD-285EE5C7D0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15549676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image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5" name="Picture Placeholder 4">
            <a:extLst>
              <a:ext uri="{FF2B5EF4-FFF2-40B4-BE49-F238E27FC236}">
                <a16:creationId xmlns:a16="http://schemas.microsoft.com/office/drawing/2014/main" id="{5AA75544-E969-B4AD-6108-D531937CC91F}"/>
              </a:ext>
            </a:extLst>
          </p:cNvPr>
          <p:cNvSpPr>
            <a:spLocks noGrp="1"/>
          </p:cNvSpPr>
          <p:nvPr>
            <p:ph type="pic" sz="quarter" idx="10"/>
          </p:nvPr>
        </p:nvSpPr>
        <p:spPr>
          <a:xfrm>
            <a:off x="5480050" y="0"/>
            <a:ext cx="6711950" cy="6858000"/>
          </a:xfrm>
        </p:spPr>
        <p:txBody>
          <a:bodyPr/>
          <a:lstStyle/>
          <a:p>
            <a:endParaRPr lang="en-US" dirty="0"/>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0E369C34-77C0-8157-D7A7-2F31EFEE0A4E}"/>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613360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Slide Full - Platinum">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accent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tx1">
                    <a:lumMod val="50000"/>
                    <a:lumOff val="50000"/>
                  </a:schemeClr>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18" name="Content Placeholder 2">
            <a:extLst>
              <a:ext uri="{FF2B5EF4-FFF2-40B4-BE49-F238E27FC236}">
                <a16:creationId xmlns:a16="http://schemas.microsoft.com/office/drawing/2014/main" id="{67C0CE33-76BB-3B40-58CF-691261A5ED5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7B531C2-AD84-2C53-671D-F31A87405A4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30769654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Slide Full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0F4B64-29BA-A4A6-5E23-04ADBC69135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F2B45F00-4A0D-2358-55FD-8E8C9C94FD0D}"/>
              </a:ext>
            </a:extLst>
          </p:cNvPr>
          <p:cNvSpPr/>
          <p:nvPr/>
        </p:nvSpPr>
        <p:spPr>
          <a:xfrm>
            <a:off x="695949" y="1422570"/>
            <a:ext cx="1457369" cy="1460462"/>
          </a:xfrm>
          <a:custGeom>
            <a:avLst/>
            <a:gdLst>
              <a:gd name="connsiteX0" fmla="*/ 1353235 w 1457369"/>
              <a:gd name="connsiteY0" fmla="*/ 0 h 1460462"/>
              <a:gd name="connsiteX1" fmla="*/ 160197 w 1457369"/>
              <a:gd name="connsiteY1" fmla="*/ 0 h 1460462"/>
              <a:gd name="connsiteX2" fmla="*/ 264074 w 1457369"/>
              <a:gd name="connsiteY2" fmla="*/ 103748 h 1460462"/>
              <a:gd name="connsiteX3" fmla="*/ 1279902 w 1457369"/>
              <a:gd name="connsiteY3" fmla="*/ 103748 h 1460462"/>
              <a:gd name="connsiteX4" fmla="*/ 0 w 1457369"/>
              <a:gd name="connsiteY4" fmla="*/ 1387001 h 1460462"/>
              <a:gd name="connsiteX5" fmla="*/ 73590 w 1457369"/>
              <a:gd name="connsiteY5" fmla="*/ 1460463 h 1460462"/>
              <a:gd name="connsiteX6" fmla="*/ 1353235 w 1457369"/>
              <a:gd name="connsiteY6" fmla="*/ 177596 h 1460462"/>
              <a:gd name="connsiteX7" fmla="*/ 1353235 w 1457369"/>
              <a:gd name="connsiteY7" fmla="*/ 1200126 h 1460462"/>
              <a:gd name="connsiteX8" fmla="*/ 1457369 w 1457369"/>
              <a:gd name="connsiteY8" fmla="*/ 1294466 h 1460462"/>
              <a:gd name="connsiteX9" fmla="*/ 1457369 w 1457369"/>
              <a:gd name="connsiteY9" fmla="*/ 103748 h 1460462"/>
              <a:gd name="connsiteX10" fmla="*/ 1457369 w 1457369"/>
              <a:gd name="connsiteY10" fmla="*/ 0 h 1460462"/>
              <a:gd name="connsiteX11" fmla="*/ 1353235 w 1457369"/>
              <a:gd name="connsiteY11" fmla="*/ 0 h 1460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369" h="1460462">
                <a:moveTo>
                  <a:pt x="1353235" y="0"/>
                </a:moveTo>
                <a:lnTo>
                  <a:pt x="160197" y="0"/>
                </a:lnTo>
                <a:lnTo>
                  <a:pt x="264074" y="103748"/>
                </a:lnTo>
                <a:lnTo>
                  <a:pt x="1279902" y="103748"/>
                </a:lnTo>
                <a:lnTo>
                  <a:pt x="0" y="1387001"/>
                </a:lnTo>
                <a:lnTo>
                  <a:pt x="73590" y="1460463"/>
                </a:lnTo>
                <a:lnTo>
                  <a:pt x="1353235" y="177596"/>
                </a:lnTo>
                <a:lnTo>
                  <a:pt x="1353235" y="1200126"/>
                </a:lnTo>
                <a:lnTo>
                  <a:pt x="1457369" y="1294466"/>
                </a:lnTo>
                <a:lnTo>
                  <a:pt x="1457369" y="103748"/>
                </a:lnTo>
                <a:lnTo>
                  <a:pt x="1457369" y="0"/>
                </a:lnTo>
                <a:lnTo>
                  <a:pt x="1353235" y="0"/>
                </a:lnTo>
                <a:close/>
              </a:path>
            </a:pathLst>
          </a:custGeom>
          <a:solidFill>
            <a:srgbClr val="F0522A"/>
          </a:solidFill>
          <a:ln w="12888"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2482850" y="1255713"/>
            <a:ext cx="6667500" cy="3125787"/>
          </a:xfrm>
        </p:spPr>
        <p:txBody>
          <a:bodyPr anchor="t" anchorCtr="0">
            <a:noAutofit/>
          </a:bodyPr>
          <a:lstStyle>
            <a:lvl1pPr algn="l">
              <a:defRPr sz="6700">
                <a:solidFill>
                  <a:schemeClr val="bg1"/>
                </a:solidFill>
              </a:defRPr>
            </a:lvl1pPr>
          </a:lstStyle>
          <a:p>
            <a:r>
              <a:rPr lang="en-US"/>
              <a:t>Click to edit Master title style</a:t>
            </a:r>
          </a:p>
        </p:txBody>
      </p:sp>
      <p:sp>
        <p:nvSpPr>
          <p:cNvPr id="172" name="Text Placeholder 171">
            <a:extLst>
              <a:ext uri="{FF2B5EF4-FFF2-40B4-BE49-F238E27FC236}">
                <a16:creationId xmlns:a16="http://schemas.microsoft.com/office/drawing/2014/main" id="{C7C18846-2822-2CB5-3682-09F6897F5BB9}"/>
              </a:ext>
            </a:extLst>
          </p:cNvPr>
          <p:cNvSpPr>
            <a:spLocks noGrp="1"/>
          </p:cNvSpPr>
          <p:nvPr>
            <p:ph type="body" sz="quarter" idx="10"/>
          </p:nvPr>
        </p:nvSpPr>
        <p:spPr>
          <a:xfrm>
            <a:off x="4425950" y="4895850"/>
            <a:ext cx="6445250" cy="1651000"/>
          </a:xfrm>
        </p:spPr>
        <p:txBody>
          <a:bodyPr numCol="1" spcCol="0"/>
          <a:lstStyle>
            <a:lvl1pPr>
              <a:defRPr sz="2100" i="1">
                <a:solidFill>
                  <a:schemeClr val="accent3"/>
                </a:solidFill>
              </a:defRPr>
            </a:lvl1pPr>
            <a:lvl2pPr>
              <a:defRPr sz="2100" i="1">
                <a:solidFill>
                  <a:schemeClr val="accent2"/>
                </a:solidFill>
              </a:defRPr>
            </a:lvl2pPr>
            <a:lvl3pPr>
              <a:defRPr sz="2100" i="1">
                <a:solidFill>
                  <a:schemeClr val="accent2"/>
                </a:solidFill>
              </a:defRPr>
            </a:lvl3pPr>
            <a:lvl4pPr>
              <a:defRPr sz="2100" i="1">
                <a:solidFill>
                  <a:schemeClr val="accent2"/>
                </a:solidFill>
              </a:defRPr>
            </a:lvl4pPr>
            <a:lvl5pPr>
              <a:defRPr sz="2100" i="1">
                <a:solidFill>
                  <a:schemeClr val="accent2"/>
                </a:solidFill>
              </a:defRPr>
            </a:lvl5pPr>
          </a:lstStyle>
          <a:p>
            <a:pPr lvl="0"/>
            <a:r>
              <a:rPr lang="en-US"/>
              <a:t>Click to edit Master text styles</a:t>
            </a:r>
          </a:p>
        </p:txBody>
      </p:sp>
      <p:sp>
        <p:nvSpPr>
          <p:cNvPr id="7" name="Content Placeholder 2">
            <a:extLst>
              <a:ext uri="{FF2B5EF4-FFF2-40B4-BE49-F238E27FC236}">
                <a16:creationId xmlns:a16="http://schemas.microsoft.com/office/drawing/2014/main" id="{D007DC57-4711-AB03-C8AF-2A14889A204C}"/>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496E1396-41C7-B1BB-5F02-6C1169B8AB33}"/>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3834668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Slide - Power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9863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Divider Slide - Power - 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rgbClr val="E5EDF8"/>
                </a:solidFill>
                <a:latin typeface="Outfit Light" pitchFamily="2" charset="0"/>
              </a:defRPr>
            </a:lvl1pPr>
          </a:lstStyle>
          <a:p>
            <a:r>
              <a:rPr lang="en-US" dirty="0"/>
              <a:t>future</a:t>
            </a:r>
          </a:p>
        </p:txBody>
      </p:sp>
      <p:sp>
        <p:nvSpPr>
          <p:cNvPr id="43" name="Freeform: Shape 42">
            <a:extLst>
              <a:ext uri="{FF2B5EF4-FFF2-40B4-BE49-F238E27FC236}">
                <a16:creationId xmlns:a16="http://schemas.microsoft.com/office/drawing/2014/main" id="{6C064BB9-6EFE-1F08-DE1F-FF3D33277DAA}"/>
              </a:ext>
            </a:extLst>
          </p:cNvPr>
          <p:cNvSpPr/>
          <p:nvPr/>
        </p:nvSpPr>
        <p:spPr>
          <a:xfrm>
            <a:off x="10030948" y="738346"/>
            <a:ext cx="1472577" cy="1417287"/>
          </a:xfrm>
          <a:custGeom>
            <a:avLst/>
            <a:gdLst>
              <a:gd name="connsiteX0" fmla="*/ 1367411 w 1472577"/>
              <a:gd name="connsiteY0" fmla="*/ 0 h 1417287"/>
              <a:gd name="connsiteX1" fmla="*/ 162002 w 1472577"/>
              <a:gd name="connsiteY1" fmla="*/ 0 h 1417287"/>
              <a:gd name="connsiteX2" fmla="*/ 266781 w 1472577"/>
              <a:gd name="connsiteY2" fmla="*/ 100784 h 1417287"/>
              <a:gd name="connsiteX3" fmla="*/ 1293305 w 1472577"/>
              <a:gd name="connsiteY3" fmla="*/ 100784 h 1417287"/>
              <a:gd name="connsiteX4" fmla="*/ 0 w 1472577"/>
              <a:gd name="connsiteY4" fmla="*/ 1346018 h 1417287"/>
              <a:gd name="connsiteX5" fmla="*/ 74492 w 1472577"/>
              <a:gd name="connsiteY5" fmla="*/ 1417288 h 1417287"/>
              <a:gd name="connsiteX6" fmla="*/ 1367411 w 1472577"/>
              <a:gd name="connsiteY6" fmla="*/ 172441 h 1417287"/>
              <a:gd name="connsiteX7" fmla="*/ 1367411 w 1472577"/>
              <a:gd name="connsiteY7" fmla="*/ 1164555 h 1417287"/>
              <a:gd name="connsiteX8" fmla="*/ 1472577 w 1472577"/>
              <a:gd name="connsiteY8" fmla="*/ 1256189 h 1417287"/>
              <a:gd name="connsiteX9" fmla="*/ 1472577 w 1472577"/>
              <a:gd name="connsiteY9" fmla="*/ 100784 h 1417287"/>
              <a:gd name="connsiteX10" fmla="*/ 1472577 w 1472577"/>
              <a:gd name="connsiteY10" fmla="*/ 0 h 1417287"/>
              <a:gd name="connsiteX11" fmla="*/ 1367411 w 1472577"/>
              <a:gd name="connsiteY11" fmla="*/ 0 h 1417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72577" h="1417287">
                <a:moveTo>
                  <a:pt x="1367411" y="0"/>
                </a:moveTo>
                <a:lnTo>
                  <a:pt x="162002" y="0"/>
                </a:lnTo>
                <a:lnTo>
                  <a:pt x="266781" y="100784"/>
                </a:lnTo>
                <a:lnTo>
                  <a:pt x="1293305" y="100784"/>
                </a:lnTo>
                <a:lnTo>
                  <a:pt x="0" y="1346018"/>
                </a:lnTo>
                <a:lnTo>
                  <a:pt x="74492" y="1417288"/>
                </a:lnTo>
                <a:lnTo>
                  <a:pt x="1367411" y="172441"/>
                </a:lnTo>
                <a:lnTo>
                  <a:pt x="1367411" y="1164555"/>
                </a:lnTo>
                <a:lnTo>
                  <a:pt x="1472577" y="1256189"/>
                </a:lnTo>
                <a:lnTo>
                  <a:pt x="1472577" y="100784"/>
                </a:lnTo>
                <a:lnTo>
                  <a:pt x="1472577" y="0"/>
                </a:lnTo>
                <a:lnTo>
                  <a:pt x="1367411" y="0"/>
                </a:lnTo>
                <a:close/>
              </a:path>
            </a:pathLst>
          </a:custGeom>
          <a:solidFill>
            <a:srgbClr val="F0512C"/>
          </a:solidFill>
          <a:ln w="12888" cap="flat">
            <a:noFill/>
            <a:prstDash val="solid"/>
            <a:miter/>
          </a:ln>
        </p:spPr>
        <p:txBody>
          <a:bodyPr rtlCol="0" anchor="ctr"/>
          <a:lstStyle/>
          <a:p>
            <a:endParaRPr lang="en-US" dirty="0"/>
          </a:p>
        </p:txBody>
      </p:sp>
      <p:sp>
        <p:nvSpPr>
          <p:cNvPr id="4" name="Slide Number Placeholder 5">
            <a:extLst>
              <a:ext uri="{FF2B5EF4-FFF2-40B4-BE49-F238E27FC236}">
                <a16:creationId xmlns:a16="http://schemas.microsoft.com/office/drawing/2014/main" id="{BE80CBB6-3B98-22CE-31A3-6DF1157E069F}"/>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3" name="Content Placeholder 2">
            <a:extLst>
              <a:ext uri="{FF2B5EF4-FFF2-40B4-BE49-F238E27FC236}">
                <a16:creationId xmlns:a16="http://schemas.microsoft.com/office/drawing/2014/main" id="{E7A50E9F-6473-F7A6-7C5C-75DB8F6D979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35109491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Internal Slide w/text - White">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6" name="Freeform: Shape 54">
            <a:extLst>
              <a:ext uri="{FF2B5EF4-FFF2-40B4-BE49-F238E27FC236}">
                <a16:creationId xmlns:a16="http://schemas.microsoft.com/office/drawing/2014/main" id="{0B28F2D1-0450-9173-1799-FAAF547F3D2D}"/>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D0D329CF-2058-5444-6197-836A18C2751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66809D8-08F3-3C3E-A532-A1FC049D1B8D}"/>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7F73E556-955A-7C12-35AB-F8C217C888E9}"/>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9871656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nternal Slide w/text - platinum">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accent1"/>
                </a:solidFill>
              </a:defRPr>
            </a:lvl1pPr>
          </a:lstStyle>
          <a:p>
            <a:r>
              <a:rPr lang="en-US"/>
              <a:t>Click to edit Master title style</a:t>
            </a:r>
          </a:p>
        </p:txBody>
      </p:sp>
      <p:sp>
        <p:nvSpPr>
          <p:cNvPr id="3" name="Freeform: Shape 54">
            <a:extLst>
              <a:ext uri="{FF2B5EF4-FFF2-40B4-BE49-F238E27FC236}">
                <a16:creationId xmlns:a16="http://schemas.microsoft.com/office/drawing/2014/main" id="{6AE56EA0-D173-F25A-CFA3-9E364339CA75}"/>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 name="Slide Number Placeholder 5">
            <a:extLst>
              <a:ext uri="{FF2B5EF4-FFF2-40B4-BE49-F238E27FC236}">
                <a16:creationId xmlns:a16="http://schemas.microsoft.com/office/drawing/2014/main" id="{D64B630C-1C51-3A96-DC67-4F60C60C4C7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71334F36-E631-69B0-5A4E-6FE9878F2537}"/>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EA91E68D-B7A1-85CF-3F3E-DBBEA2EF6283}"/>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4251009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nal Slide w/text - Stee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5F8133F-ECAA-6B60-8231-63D7B57372C5}"/>
              </a:ext>
            </a:extLst>
          </p:cNvPr>
          <p:cNvSpPr/>
          <p:nvPr userDrawn="1"/>
        </p:nvSpPr>
        <p:spPr>
          <a:xfrm>
            <a:off x="0" y="0"/>
            <a:ext cx="12192000" cy="6868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B9BB8F0-85EC-4D39-CE63-DE684648F525}"/>
              </a:ext>
            </a:extLst>
          </p:cNvPr>
          <p:cNvSpPr/>
          <p:nvPr/>
        </p:nvSpPr>
        <p:spPr>
          <a:xfrm>
            <a:off x="555506" y="1786987"/>
            <a:ext cx="824293" cy="826074"/>
          </a:xfrm>
          <a:custGeom>
            <a:avLst/>
            <a:gdLst>
              <a:gd name="connsiteX0" fmla="*/ 765397 w 824293"/>
              <a:gd name="connsiteY0" fmla="*/ 0 h 826074"/>
              <a:gd name="connsiteX1" fmla="*/ 90571 w 824293"/>
              <a:gd name="connsiteY1" fmla="*/ 0 h 826074"/>
              <a:gd name="connsiteX2" fmla="*/ 149340 w 824293"/>
              <a:gd name="connsiteY2" fmla="*/ 58769 h 826074"/>
              <a:gd name="connsiteX3" fmla="*/ 723928 w 824293"/>
              <a:gd name="connsiteY3" fmla="*/ 58769 h 826074"/>
              <a:gd name="connsiteX4" fmla="*/ 0 w 824293"/>
              <a:gd name="connsiteY4" fmla="*/ 784605 h 826074"/>
              <a:gd name="connsiteX5" fmla="*/ 41596 w 824293"/>
              <a:gd name="connsiteY5" fmla="*/ 826074 h 826074"/>
              <a:gd name="connsiteX6" fmla="*/ 765397 w 824293"/>
              <a:gd name="connsiteY6" fmla="*/ 100493 h 826074"/>
              <a:gd name="connsiteX7" fmla="*/ 765397 w 824293"/>
              <a:gd name="connsiteY7" fmla="*/ 678770 h 826074"/>
              <a:gd name="connsiteX8" fmla="*/ 824293 w 824293"/>
              <a:gd name="connsiteY8" fmla="*/ 732196 h 826074"/>
              <a:gd name="connsiteX9" fmla="*/ 824293 w 824293"/>
              <a:gd name="connsiteY9" fmla="*/ 58769 h 826074"/>
              <a:gd name="connsiteX10" fmla="*/ 824293 w 824293"/>
              <a:gd name="connsiteY10" fmla="*/ 0 h 826074"/>
              <a:gd name="connsiteX11" fmla="*/ 765397 w 824293"/>
              <a:gd name="connsiteY11" fmla="*/ 0 h 826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293" h="826074">
                <a:moveTo>
                  <a:pt x="765397" y="0"/>
                </a:moveTo>
                <a:lnTo>
                  <a:pt x="90571" y="0"/>
                </a:lnTo>
                <a:lnTo>
                  <a:pt x="149340" y="58769"/>
                </a:lnTo>
                <a:lnTo>
                  <a:pt x="723928" y="58769"/>
                </a:lnTo>
                <a:lnTo>
                  <a:pt x="0" y="784605"/>
                </a:lnTo>
                <a:lnTo>
                  <a:pt x="41596" y="826074"/>
                </a:lnTo>
                <a:lnTo>
                  <a:pt x="765397" y="100493"/>
                </a:lnTo>
                <a:lnTo>
                  <a:pt x="765397" y="678770"/>
                </a:lnTo>
                <a:lnTo>
                  <a:pt x="824293" y="732196"/>
                </a:lnTo>
                <a:lnTo>
                  <a:pt x="824293" y="58769"/>
                </a:lnTo>
                <a:lnTo>
                  <a:pt x="824293" y="0"/>
                </a:lnTo>
                <a:lnTo>
                  <a:pt x="765397" y="0"/>
                </a:lnTo>
                <a:close/>
              </a:path>
            </a:pathLst>
          </a:custGeom>
          <a:solidFill>
            <a:srgbClr val="F0522A"/>
          </a:solidFill>
          <a:ln w="12700" cap="flat">
            <a:noFill/>
            <a:prstDash val="solid"/>
            <a:miter/>
          </a:ln>
        </p:spPr>
        <p:txBody>
          <a:bodyPr rtlCol="0" anchor="ctr"/>
          <a:lstStyle/>
          <a:p>
            <a:endParaRPr lang="en-US" dirty="0"/>
          </a:p>
        </p:txBody>
      </p:sp>
      <p:grpSp>
        <p:nvGrpSpPr>
          <p:cNvPr id="162" name="Group 161">
            <a:extLst>
              <a:ext uri="{FF2B5EF4-FFF2-40B4-BE49-F238E27FC236}">
                <a16:creationId xmlns:a16="http://schemas.microsoft.com/office/drawing/2014/main" id="{11480D01-4761-3492-998E-3FF3623ED63F}"/>
              </a:ext>
            </a:extLst>
          </p:cNvPr>
          <p:cNvGrpSpPr/>
          <p:nvPr userDrawn="1"/>
        </p:nvGrpSpPr>
        <p:grpSpPr>
          <a:xfrm>
            <a:off x="-1" y="5539431"/>
            <a:ext cx="5495289" cy="1329173"/>
            <a:chOff x="-1" y="5539431"/>
            <a:chExt cx="5495289" cy="1329173"/>
          </a:xfrm>
        </p:grpSpPr>
        <p:sp>
          <p:nvSpPr>
            <p:cNvPr id="41" name="Freeform: Shape 40">
              <a:extLst>
                <a:ext uri="{FF2B5EF4-FFF2-40B4-BE49-F238E27FC236}">
                  <a16:creationId xmlns:a16="http://schemas.microsoft.com/office/drawing/2014/main" id="{D31F1AD9-92E1-506E-3C36-A6B7551BE1CA}"/>
                </a:ext>
              </a:extLst>
            </p:cNvPr>
            <p:cNvSpPr/>
            <p:nvPr/>
          </p:nvSpPr>
          <p:spPr>
            <a:xfrm>
              <a:off x="-1" y="5539431"/>
              <a:ext cx="5495289" cy="1329173"/>
            </a:xfrm>
            <a:custGeom>
              <a:avLst/>
              <a:gdLst>
                <a:gd name="connsiteX0" fmla="*/ 0 w 5495289"/>
                <a:gd name="connsiteY0" fmla="*/ 0 h 1329173"/>
                <a:gd name="connsiteX1" fmla="*/ 5495289 w 5495289"/>
                <a:gd name="connsiteY1" fmla="*/ 0 h 1329173"/>
                <a:gd name="connsiteX2" fmla="*/ 5495289 w 5495289"/>
                <a:gd name="connsiteY2" fmla="*/ 1329174 h 1329173"/>
                <a:gd name="connsiteX3" fmla="*/ 0 w 5495289"/>
                <a:gd name="connsiteY3" fmla="*/ 1329174 h 1329173"/>
              </a:gdLst>
              <a:ahLst/>
              <a:cxnLst>
                <a:cxn ang="0">
                  <a:pos x="connsiteX0" y="connsiteY0"/>
                </a:cxn>
                <a:cxn ang="0">
                  <a:pos x="connsiteX1" y="connsiteY1"/>
                </a:cxn>
                <a:cxn ang="0">
                  <a:pos x="connsiteX2" y="connsiteY2"/>
                </a:cxn>
                <a:cxn ang="0">
                  <a:pos x="connsiteX3" y="connsiteY3"/>
                </a:cxn>
              </a:cxnLst>
              <a:rect l="l" t="t" r="r" b="b"/>
              <a:pathLst>
                <a:path w="5495289" h="1329173">
                  <a:moveTo>
                    <a:pt x="0" y="0"/>
                  </a:moveTo>
                  <a:lnTo>
                    <a:pt x="5495289" y="0"/>
                  </a:lnTo>
                  <a:lnTo>
                    <a:pt x="5495289" y="1329174"/>
                  </a:lnTo>
                  <a:lnTo>
                    <a:pt x="0" y="1329174"/>
                  </a:lnTo>
                  <a:close/>
                </a:path>
              </a:pathLst>
            </a:custGeom>
            <a:solidFill>
              <a:srgbClr val="152C41"/>
            </a:solidFill>
            <a:ln w="12700" cap="flat">
              <a:noFill/>
              <a:prstDash val="solid"/>
              <a:miter/>
            </a:ln>
          </p:spPr>
          <p:txBody>
            <a:bodyPr rtlCol="0" anchor="ctr"/>
            <a:lstStyle/>
            <a:p>
              <a:endParaRPr lang="en-US" dirty="0"/>
            </a:p>
          </p:txBody>
        </p:sp>
        <p:sp>
          <p:nvSpPr>
            <p:cNvPr id="42" name="Freeform: Shape 41">
              <a:extLst>
                <a:ext uri="{FF2B5EF4-FFF2-40B4-BE49-F238E27FC236}">
                  <a16:creationId xmlns:a16="http://schemas.microsoft.com/office/drawing/2014/main" id="{DB6E6DD0-814E-EDF7-79A2-CF509AB8742C}"/>
                </a:ext>
              </a:extLst>
            </p:cNvPr>
            <p:cNvSpPr/>
            <p:nvPr/>
          </p:nvSpPr>
          <p:spPr>
            <a:xfrm>
              <a:off x="191316"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3" name="Freeform: Shape 42">
              <a:extLst>
                <a:ext uri="{FF2B5EF4-FFF2-40B4-BE49-F238E27FC236}">
                  <a16:creationId xmlns:a16="http://schemas.microsoft.com/office/drawing/2014/main" id="{59E7EE5B-0DDF-FA42-B534-B595799F3ADF}"/>
                </a:ext>
              </a:extLst>
            </p:cNvPr>
            <p:cNvSpPr/>
            <p:nvPr/>
          </p:nvSpPr>
          <p:spPr>
            <a:xfrm>
              <a:off x="431353"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4" name="Freeform: Shape 43">
              <a:extLst>
                <a:ext uri="{FF2B5EF4-FFF2-40B4-BE49-F238E27FC236}">
                  <a16:creationId xmlns:a16="http://schemas.microsoft.com/office/drawing/2014/main" id="{39E07E20-E767-2E29-8438-93036F8682F3}"/>
                </a:ext>
              </a:extLst>
            </p:cNvPr>
            <p:cNvSpPr/>
            <p:nvPr/>
          </p:nvSpPr>
          <p:spPr>
            <a:xfrm>
              <a:off x="671391"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5" name="Freeform: Shape 44">
              <a:extLst>
                <a:ext uri="{FF2B5EF4-FFF2-40B4-BE49-F238E27FC236}">
                  <a16:creationId xmlns:a16="http://schemas.microsoft.com/office/drawing/2014/main" id="{F5E67F6A-353B-7020-31E9-72057ABAC2AF}"/>
                </a:ext>
              </a:extLst>
            </p:cNvPr>
            <p:cNvSpPr/>
            <p:nvPr/>
          </p:nvSpPr>
          <p:spPr>
            <a:xfrm>
              <a:off x="911428"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6" name="Freeform: Shape 45">
              <a:extLst>
                <a:ext uri="{FF2B5EF4-FFF2-40B4-BE49-F238E27FC236}">
                  <a16:creationId xmlns:a16="http://schemas.microsoft.com/office/drawing/2014/main" id="{57B04529-14B6-9877-E9F6-4DA45486901A}"/>
                </a:ext>
              </a:extLst>
            </p:cNvPr>
            <p:cNvSpPr/>
            <p:nvPr/>
          </p:nvSpPr>
          <p:spPr>
            <a:xfrm>
              <a:off x="1151338"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7" name="Freeform: Shape 46">
              <a:extLst>
                <a:ext uri="{FF2B5EF4-FFF2-40B4-BE49-F238E27FC236}">
                  <a16:creationId xmlns:a16="http://schemas.microsoft.com/office/drawing/2014/main" id="{460F9CDD-FDBE-3121-E594-313B506946D7}"/>
                </a:ext>
              </a:extLst>
            </p:cNvPr>
            <p:cNvSpPr/>
            <p:nvPr/>
          </p:nvSpPr>
          <p:spPr>
            <a:xfrm>
              <a:off x="1391375"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8" name="Freeform: Shape 47">
              <a:extLst>
                <a:ext uri="{FF2B5EF4-FFF2-40B4-BE49-F238E27FC236}">
                  <a16:creationId xmlns:a16="http://schemas.microsoft.com/office/drawing/2014/main" id="{589CA4AD-7B98-EA74-D881-C6524D12B1E5}"/>
                </a:ext>
              </a:extLst>
            </p:cNvPr>
            <p:cNvSpPr/>
            <p:nvPr/>
          </p:nvSpPr>
          <p:spPr>
            <a:xfrm>
              <a:off x="191316"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9" name="Freeform: Shape 48">
              <a:extLst>
                <a:ext uri="{FF2B5EF4-FFF2-40B4-BE49-F238E27FC236}">
                  <a16:creationId xmlns:a16="http://schemas.microsoft.com/office/drawing/2014/main" id="{EACA4565-956A-BFA8-215E-8F0A5AADDE34}"/>
                </a:ext>
              </a:extLst>
            </p:cNvPr>
            <p:cNvSpPr/>
            <p:nvPr/>
          </p:nvSpPr>
          <p:spPr>
            <a:xfrm>
              <a:off x="431353"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0" name="Freeform: Shape 49">
              <a:extLst>
                <a:ext uri="{FF2B5EF4-FFF2-40B4-BE49-F238E27FC236}">
                  <a16:creationId xmlns:a16="http://schemas.microsoft.com/office/drawing/2014/main" id="{62310491-A779-7203-1941-01ED120AB3A2}"/>
                </a:ext>
              </a:extLst>
            </p:cNvPr>
            <p:cNvSpPr/>
            <p:nvPr/>
          </p:nvSpPr>
          <p:spPr>
            <a:xfrm>
              <a:off x="671391"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1" name="Freeform: Shape 50">
              <a:extLst>
                <a:ext uri="{FF2B5EF4-FFF2-40B4-BE49-F238E27FC236}">
                  <a16:creationId xmlns:a16="http://schemas.microsoft.com/office/drawing/2014/main" id="{AD4829F7-1D1F-CA32-26A5-BA792C26C6AB}"/>
                </a:ext>
              </a:extLst>
            </p:cNvPr>
            <p:cNvSpPr/>
            <p:nvPr/>
          </p:nvSpPr>
          <p:spPr>
            <a:xfrm>
              <a:off x="911428"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2" name="Freeform: Shape 51">
              <a:extLst>
                <a:ext uri="{FF2B5EF4-FFF2-40B4-BE49-F238E27FC236}">
                  <a16:creationId xmlns:a16="http://schemas.microsoft.com/office/drawing/2014/main" id="{DC7D8279-4982-5950-42A9-4D2A80224CBA}"/>
                </a:ext>
              </a:extLst>
            </p:cNvPr>
            <p:cNvSpPr/>
            <p:nvPr/>
          </p:nvSpPr>
          <p:spPr>
            <a:xfrm>
              <a:off x="1151338"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3" name="Freeform: Shape 52">
              <a:extLst>
                <a:ext uri="{FF2B5EF4-FFF2-40B4-BE49-F238E27FC236}">
                  <a16:creationId xmlns:a16="http://schemas.microsoft.com/office/drawing/2014/main" id="{FD7EE964-70EE-8EF4-5580-DF285A54DEDA}"/>
                </a:ext>
              </a:extLst>
            </p:cNvPr>
            <p:cNvSpPr/>
            <p:nvPr/>
          </p:nvSpPr>
          <p:spPr>
            <a:xfrm>
              <a:off x="1391375"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4" name="Freeform: Shape 53">
              <a:extLst>
                <a:ext uri="{FF2B5EF4-FFF2-40B4-BE49-F238E27FC236}">
                  <a16:creationId xmlns:a16="http://schemas.microsoft.com/office/drawing/2014/main" id="{37B32B9C-8737-D019-1C0E-32342F26DA01}"/>
                </a:ext>
              </a:extLst>
            </p:cNvPr>
            <p:cNvSpPr/>
            <p:nvPr/>
          </p:nvSpPr>
          <p:spPr>
            <a:xfrm>
              <a:off x="191316"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8FD0413B-D4B9-D902-0402-B578C889FD74}"/>
                </a:ext>
              </a:extLst>
            </p:cNvPr>
            <p:cNvSpPr/>
            <p:nvPr/>
          </p:nvSpPr>
          <p:spPr>
            <a:xfrm>
              <a:off x="431353"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6" name="Freeform: Shape 55">
              <a:extLst>
                <a:ext uri="{FF2B5EF4-FFF2-40B4-BE49-F238E27FC236}">
                  <a16:creationId xmlns:a16="http://schemas.microsoft.com/office/drawing/2014/main" id="{13DEA5DF-5488-7CF6-AF8B-296D5D9D4641}"/>
                </a:ext>
              </a:extLst>
            </p:cNvPr>
            <p:cNvSpPr/>
            <p:nvPr/>
          </p:nvSpPr>
          <p:spPr>
            <a:xfrm>
              <a:off x="671391"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127A5458-F197-BE63-FB19-1FEB079E0816}"/>
                </a:ext>
              </a:extLst>
            </p:cNvPr>
            <p:cNvSpPr/>
            <p:nvPr/>
          </p:nvSpPr>
          <p:spPr>
            <a:xfrm>
              <a:off x="911428"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58" name="Freeform: Shape 57">
              <a:extLst>
                <a:ext uri="{FF2B5EF4-FFF2-40B4-BE49-F238E27FC236}">
                  <a16:creationId xmlns:a16="http://schemas.microsoft.com/office/drawing/2014/main" id="{D6F44BB6-A0E6-4A07-6821-46038F00ED80}"/>
                </a:ext>
              </a:extLst>
            </p:cNvPr>
            <p:cNvSpPr/>
            <p:nvPr/>
          </p:nvSpPr>
          <p:spPr>
            <a:xfrm>
              <a:off x="1151338"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9A3936C2-33C2-8DFD-6A00-B1750E5FA14C}"/>
                </a:ext>
              </a:extLst>
            </p:cNvPr>
            <p:cNvSpPr/>
            <p:nvPr/>
          </p:nvSpPr>
          <p:spPr>
            <a:xfrm>
              <a:off x="1391375"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1" name="Freeform: Shape 60">
              <a:extLst>
                <a:ext uri="{FF2B5EF4-FFF2-40B4-BE49-F238E27FC236}">
                  <a16:creationId xmlns:a16="http://schemas.microsoft.com/office/drawing/2014/main" id="{6868D47A-757A-4976-6FAE-BA95133A983D}"/>
                </a:ext>
              </a:extLst>
            </p:cNvPr>
            <p:cNvSpPr/>
            <p:nvPr/>
          </p:nvSpPr>
          <p:spPr>
            <a:xfrm>
              <a:off x="431353"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2" name="Freeform: Shape 61">
              <a:extLst>
                <a:ext uri="{FF2B5EF4-FFF2-40B4-BE49-F238E27FC236}">
                  <a16:creationId xmlns:a16="http://schemas.microsoft.com/office/drawing/2014/main" id="{AFD578F1-FD62-C0F3-7149-2EC7D7EF6053}"/>
                </a:ext>
              </a:extLst>
            </p:cNvPr>
            <p:cNvSpPr/>
            <p:nvPr/>
          </p:nvSpPr>
          <p:spPr>
            <a:xfrm>
              <a:off x="671391"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3" name="Freeform: Shape 62">
              <a:extLst>
                <a:ext uri="{FF2B5EF4-FFF2-40B4-BE49-F238E27FC236}">
                  <a16:creationId xmlns:a16="http://schemas.microsoft.com/office/drawing/2014/main" id="{1238BD56-0905-9C22-F56A-89CA04EBAD40}"/>
                </a:ext>
              </a:extLst>
            </p:cNvPr>
            <p:cNvSpPr/>
            <p:nvPr/>
          </p:nvSpPr>
          <p:spPr>
            <a:xfrm>
              <a:off x="911428"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4" name="Freeform: Shape 63">
              <a:extLst>
                <a:ext uri="{FF2B5EF4-FFF2-40B4-BE49-F238E27FC236}">
                  <a16:creationId xmlns:a16="http://schemas.microsoft.com/office/drawing/2014/main" id="{4E75AF73-25B0-4B80-00EC-20A5E2FD992A}"/>
                </a:ext>
              </a:extLst>
            </p:cNvPr>
            <p:cNvSpPr/>
            <p:nvPr/>
          </p:nvSpPr>
          <p:spPr>
            <a:xfrm>
              <a:off x="1151338"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5" name="Freeform: Shape 64">
              <a:extLst>
                <a:ext uri="{FF2B5EF4-FFF2-40B4-BE49-F238E27FC236}">
                  <a16:creationId xmlns:a16="http://schemas.microsoft.com/office/drawing/2014/main" id="{348671C7-E380-7114-4C5F-77DC0B5903AC}"/>
                </a:ext>
              </a:extLst>
            </p:cNvPr>
            <p:cNvSpPr/>
            <p:nvPr/>
          </p:nvSpPr>
          <p:spPr>
            <a:xfrm>
              <a:off x="1391375"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6" name="Freeform: Shape 65">
              <a:extLst>
                <a:ext uri="{FF2B5EF4-FFF2-40B4-BE49-F238E27FC236}">
                  <a16:creationId xmlns:a16="http://schemas.microsoft.com/office/drawing/2014/main" id="{3ED655DB-0C3F-A732-1DBC-C23D01F14EEF}"/>
                </a:ext>
              </a:extLst>
            </p:cNvPr>
            <p:cNvSpPr/>
            <p:nvPr/>
          </p:nvSpPr>
          <p:spPr>
            <a:xfrm>
              <a:off x="19004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7" name="Freeform: Shape 66">
              <a:extLst>
                <a:ext uri="{FF2B5EF4-FFF2-40B4-BE49-F238E27FC236}">
                  <a16:creationId xmlns:a16="http://schemas.microsoft.com/office/drawing/2014/main" id="{2A5D3891-762D-8890-575B-F2D603C50A2F}"/>
                </a:ext>
              </a:extLst>
            </p:cNvPr>
            <p:cNvSpPr/>
            <p:nvPr/>
          </p:nvSpPr>
          <p:spPr>
            <a:xfrm>
              <a:off x="42995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67">
              <a:extLst>
                <a:ext uri="{FF2B5EF4-FFF2-40B4-BE49-F238E27FC236}">
                  <a16:creationId xmlns:a16="http://schemas.microsoft.com/office/drawing/2014/main" id="{3A09AA46-BBB8-2475-C18D-7EF99570943F}"/>
                </a:ext>
              </a:extLst>
            </p:cNvPr>
            <p:cNvSpPr/>
            <p:nvPr/>
          </p:nvSpPr>
          <p:spPr>
            <a:xfrm>
              <a:off x="669991"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9" name="Freeform: Shape 68">
              <a:extLst>
                <a:ext uri="{FF2B5EF4-FFF2-40B4-BE49-F238E27FC236}">
                  <a16:creationId xmlns:a16="http://schemas.microsoft.com/office/drawing/2014/main" id="{01C1C954-F256-144A-C7C0-7941A6385700}"/>
                </a:ext>
              </a:extLst>
            </p:cNvPr>
            <p:cNvSpPr/>
            <p:nvPr/>
          </p:nvSpPr>
          <p:spPr>
            <a:xfrm>
              <a:off x="91002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69">
              <a:extLst>
                <a:ext uri="{FF2B5EF4-FFF2-40B4-BE49-F238E27FC236}">
                  <a16:creationId xmlns:a16="http://schemas.microsoft.com/office/drawing/2014/main" id="{FF5E6685-B8AD-98B5-7B7C-D3EF245951F1}"/>
                </a:ext>
              </a:extLst>
            </p:cNvPr>
            <p:cNvSpPr/>
            <p:nvPr/>
          </p:nvSpPr>
          <p:spPr>
            <a:xfrm>
              <a:off x="1150066"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9138C584-1AAD-44EE-C378-33558DF86877}"/>
                </a:ext>
              </a:extLst>
            </p:cNvPr>
            <p:cNvSpPr/>
            <p:nvPr/>
          </p:nvSpPr>
          <p:spPr>
            <a:xfrm>
              <a:off x="1389976"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71">
              <a:extLst>
                <a:ext uri="{FF2B5EF4-FFF2-40B4-BE49-F238E27FC236}">
                  <a16:creationId xmlns:a16="http://schemas.microsoft.com/office/drawing/2014/main" id="{4CC0AF82-1B96-C3E4-543E-2E00B1A1D72A}"/>
                </a:ext>
              </a:extLst>
            </p:cNvPr>
            <p:cNvSpPr/>
            <p:nvPr/>
          </p:nvSpPr>
          <p:spPr>
            <a:xfrm>
              <a:off x="139277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3" name="Freeform: Shape 72">
              <a:extLst>
                <a:ext uri="{FF2B5EF4-FFF2-40B4-BE49-F238E27FC236}">
                  <a16:creationId xmlns:a16="http://schemas.microsoft.com/office/drawing/2014/main" id="{55013B29-2A2F-0055-8F84-CC270EC6E877}"/>
                </a:ext>
              </a:extLst>
            </p:cNvPr>
            <p:cNvSpPr/>
            <p:nvPr/>
          </p:nvSpPr>
          <p:spPr>
            <a:xfrm>
              <a:off x="163268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73">
              <a:extLst>
                <a:ext uri="{FF2B5EF4-FFF2-40B4-BE49-F238E27FC236}">
                  <a16:creationId xmlns:a16="http://schemas.microsoft.com/office/drawing/2014/main" id="{546F824D-FE8B-3355-472F-C7B83FA0D30B}"/>
                </a:ext>
              </a:extLst>
            </p:cNvPr>
            <p:cNvSpPr/>
            <p:nvPr/>
          </p:nvSpPr>
          <p:spPr>
            <a:xfrm>
              <a:off x="1872722"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5" name="Freeform: Shape 74">
              <a:extLst>
                <a:ext uri="{FF2B5EF4-FFF2-40B4-BE49-F238E27FC236}">
                  <a16:creationId xmlns:a16="http://schemas.microsoft.com/office/drawing/2014/main" id="{82B0A187-966E-44F5-12B8-F564D8CE9B3B}"/>
                </a:ext>
              </a:extLst>
            </p:cNvPr>
            <p:cNvSpPr/>
            <p:nvPr/>
          </p:nvSpPr>
          <p:spPr>
            <a:xfrm>
              <a:off x="211275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75">
              <a:extLst>
                <a:ext uri="{FF2B5EF4-FFF2-40B4-BE49-F238E27FC236}">
                  <a16:creationId xmlns:a16="http://schemas.microsoft.com/office/drawing/2014/main" id="{102F05AC-3E62-2068-B954-98B44442B0E7}"/>
                </a:ext>
              </a:extLst>
            </p:cNvPr>
            <p:cNvSpPr/>
            <p:nvPr/>
          </p:nvSpPr>
          <p:spPr>
            <a:xfrm>
              <a:off x="2352669" y="5946235"/>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7" name="Freeform: Shape 76">
              <a:extLst>
                <a:ext uri="{FF2B5EF4-FFF2-40B4-BE49-F238E27FC236}">
                  <a16:creationId xmlns:a16="http://schemas.microsoft.com/office/drawing/2014/main" id="{745738EC-E936-14E7-4688-A952621C535D}"/>
                </a:ext>
              </a:extLst>
            </p:cNvPr>
            <p:cNvSpPr/>
            <p:nvPr/>
          </p:nvSpPr>
          <p:spPr>
            <a:xfrm>
              <a:off x="2592706"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8" name="Freeform: Shape 77">
              <a:extLst>
                <a:ext uri="{FF2B5EF4-FFF2-40B4-BE49-F238E27FC236}">
                  <a16:creationId xmlns:a16="http://schemas.microsoft.com/office/drawing/2014/main" id="{CB64FAE9-58D6-74A0-6249-B4E0FE4F582F}"/>
                </a:ext>
              </a:extLst>
            </p:cNvPr>
            <p:cNvSpPr/>
            <p:nvPr/>
          </p:nvSpPr>
          <p:spPr>
            <a:xfrm>
              <a:off x="139277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9" name="Freeform: Shape 78">
              <a:extLst>
                <a:ext uri="{FF2B5EF4-FFF2-40B4-BE49-F238E27FC236}">
                  <a16:creationId xmlns:a16="http://schemas.microsoft.com/office/drawing/2014/main" id="{333EC820-135E-7B49-5F27-FB74053778C1}"/>
                </a:ext>
              </a:extLst>
            </p:cNvPr>
            <p:cNvSpPr/>
            <p:nvPr/>
          </p:nvSpPr>
          <p:spPr>
            <a:xfrm>
              <a:off x="163268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79">
              <a:extLst>
                <a:ext uri="{FF2B5EF4-FFF2-40B4-BE49-F238E27FC236}">
                  <a16:creationId xmlns:a16="http://schemas.microsoft.com/office/drawing/2014/main" id="{FA5B788C-64EA-C173-8ACF-C687B11A5612}"/>
                </a:ext>
              </a:extLst>
            </p:cNvPr>
            <p:cNvSpPr/>
            <p:nvPr/>
          </p:nvSpPr>
          <p:spPr>
            <a:xfrm>
              <a:off x="1872722"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317"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1" name="Freeform: Shape 80">
              <a:extLst>
                <a:ext uri="{FF2B5EF4-FFF2-40B4-BE49-F238E27FC236}">
                  <a16:creationId xmlns:a16="http://schemas.microsoft.com/office/drawing/2014/main" id="{E89C2842-2CF8-A845-7A95-D4C5030B9A86}"/>
                </a:ext>
              </a:extLst>
            </p:cNvPr>
            <p:cNvSpPr/>
            <p:nvPr/>
          </p:nvSpPr>
          <p:spPr>
            <a:xfrm>
              <a:off x="211275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81">
              <a:extLst>
                <a:ext uri="{FF2B5EF4-FFF2-40B4-BE49-F238E27FC236}">
                  <a16:creationId xmlns:a16="http://schemas.microsoft.com/office/drawing/2014/main" id="{9B6083FD-0412-BA64-3D90-EF8127971D12}"/>
                </a:ext>
              </a:extLst>
            </p:cNvPr>
            <p:cNvSpPr/>
            <p:nvPr/>
          </p:nvSpPr>
          <p:spPr>
            <a:xfrm>
              <a:off x="2352669" y="6182074"/>
              <a:ext cx="62839" cy="62839"/>
            </a:xfrm>
            <a:custGeom>
              <a:avLst/>
              <a:gdLst>
                <a:gd name="connsiteX0" fmla="*/ 57879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3" name="Freeform: Shape 82">
              <a:extLst>
                <a:ext uri="{FF2B5EF4-FFF2-40B4-BE49-F238E27FC236}">
                  <a16:creationId xmlns:a16="http://schemas.microsoft.com/office/drawing/2014/main" id="{36283C82-0197-BF5E-C924-8D01ECD38692}"/>
                </a:ext>
              </a:extLst>
            </p:cNvPr>
            <p:cNvSpPr/>
            <p:nvPr/>
          </p:nvSpPr>
          <p:spPr>
            <a:xfrm>
              <a:off x="2592706"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4" name="Freeform: Shape 83">
              <a:extLst>
                <a:ext uri="{FF2B5EF4-FFF2-40B4-BE49-F238E27FC236}">
                  <a16:creationId xmlns:a16="http://schemas.microsoft.com/office/drawing/2014/main" id="{EF8666B1-CE12-EE87-A833-D59B4BE10DAD}"/>
                </a:ext>
              </a:extLst>
            </p:cNvPr>
            <p:cNvSpPr/>
            <p:nvPr/>
          </p:nvSpPr>
          <p:spPr>
            <a:xfrm>
              <a:off x="139277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5" name="Freeform: Shape 84">
              <a:extLst>
                <a:ext uri="{FF2B5EF4-FFF2-40B4-BE49-F238E27FC236}">
                  <a16:creationId xmlns:a16="http://schemas.microsoft.com/office/drawing/2014/main" id="{CE1E5ECB-4981-B43A-1C14-3565BF0985F5}"/>
                </a:ext>
              </a:extLst>
            </p:cNvPr>
            <p:cNvSpPr/>
            <p:nvPr/>
          </p:nvSpPr>
          <p:spPr>
            <a:xfrm>
              <a:off x="163268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85">
              <a:extLst>
                <a:ext uri="{FF2B5EF4-FFF2-40B4-BE49-F238E27FC236}">
                  <a16:creationId xmlns:a16="http://schemas.microsoft.com/office/drawing/2014/main" id="{F38689E7-0DC4-3A6E-A525-FF6BEFC50F34}"/>
                </a:ext>
              </a:extLst>
            </p:cNvPr>
            <p:cNvSpPr/>
            <p:nvPr/>
          </p:nvSpPr>
          <p:spPr>
            <a:xfrm>
              <a:off x="1872722"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317"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87" name="Freeform: Shape 86">
              <a:extLst>
                <a:ext uri="{FF2B5EF4-FFF2-40B4-BE49-F238E27FC236}">
                  <a16:creationId xmlns:a16="http://schemas.microsoft.com/office/drawing/2014/main" id="{3C24FC8F-CD48-34F4-1617-5B40239038FE}"/>
                </a:ext>
              </a:extLst>
            </p:cNvPr>
            <p:cNvSpPr/>
            <p:nvPr/>
          </p:nvSpPr>
          <p:spPr>
            <a:xfrm>
              <a:off x="211275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87">
              <a:extLst>
                <a:ext uri="{FF2B5EF4-FFF2-40B4-BE49-F238E27FC236}">
                  <a16:creationId xmlns:a16="http://schemas.microsoft.com/office/drawing/2014/main" id="{BB552D9B-CB04-D083-759B-1946763C583F}"/>
                </a:ext>
              </a:extLst>
            </p:cNvPr>
            <p:cNvSpPr/>
            <p:nvPr/>
          </p:nvSpPr>
          <p:spPr>
            <a:xfrm>
              <a:off x="2352669" y="641804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89" name="Freeform: Shape 88">
              <a:extLst>
                <a:ext uri="{FF2B5EF4-FFF2-40B4-BE49-F238E27FC236}">
                  <a16:creationId xmlns:a16="http://schemas.microsoft.com/office/drawing/2014/main" id="{FA97C9EA-B690-BAA8-20EB-CAA8B20873C2}"/>
                </a:ext>
              </a:extLst>
            </p:cNvPr>
            <p:cNvSpPr/>
            <p:nvPr/>
          </p:nvSpPr>
          <p:spPr>
            <a:xfrm>
              <a:off x="2592706"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0" name="Freeform: Shape 89">
              <a:extLst>
                <a:ext uri="{FF2B5EF4-FFF2-40B4-BE49-F238E27FC236}">
                  <a16:creationId xmlns:a16="http://schemas.microsoft.com/office/drawing/2014/main" id="{D7152835-6AE9-ED98-8440-12C53A79EEBE}"/>
                </a:ext>
              </a:extLst>
            </p:cNvPr>
            <p:cNvSpPr/>
            <p:nvPr/>
          </p:nvSpPr>
          <p:spPr>
            <a:xfrm>
              <a:off x="139277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1" name="Freeform: Shape 90">
              <a:extLst>
                <a:ext uri="{FF2B5EF4-FFF2-40B4-BE49-F238E27FC236}">
                  <a16:creationId xmlns:a16="http://schemas.microsoft.com/office/drawing/2014/main" id="{E89DDF44-E36F-5651-671B-64A36BEBD976}"/>
                </a:ext>
              </a:extLst>
            </p:cNvPr>
            <p:cNvSpPr/>
            <p:nvPr/>
          </p:nvSpPr>
          <p:spPr>
            <a:xfrm>
              <a:off x="163268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91">
              <a:extLst>
                <a:ext uri="{FF2B5EF4-FFF2-40B4-BE49-F238E27FC236}">
                  <a16:creationId xmlns:a16="http://schemas.microsoft.com/office/drawing/2014/main" id="{4C8096F1-A51C-9573-2521-B30820AEEC68}"/>
                </a:ext>
              </a:extLst>
            </p:cNvPr>
            <p:cNvSpPr/>
            <p:nvPr/>
          </p:nvSpPr>
          <p:spPr>
            <a:xfrm>
              <a:off x="1872722"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317"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3" name="Freeform: Shape 92">
              <a:extLst>
                <a:ext uri="{FF2B5EF4-FFF2-40B4-BE49-F238E27FC236}">
                  <a16:creationId xmlns:a16="http://schemas.microsoft.com/office/drawing/2014/main" id="{DB9538A3-F252-6E39-FAC8-5BC241FDA6F3}"/>
                </a:ext>
              </a:extLst>
            </p:cNvPr>
            <p:cNvSpPr/>
            <p:nvPr/>
          </p:nvSpPr>
          <p:spPr>
            <a:xfrm>
              <a:off x="211275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93">
              <a:extLst>
                <a:ext uri="{FF2B5EF4-FFF2-40B4-BE49-F238E27FC236}">
                  <a16:creationId xmlns:a16="http://schemas.microsoft.com/office/drawing/2014/main" id="{0861692D-7D4E-C041-50DB-A281B078F2E3}"/>
                </a:ext>
              </a:extLst>
            </p:cNvPr>
            <p:cNvSpPr/>
            <p:nvPr/>
          </p:nvSpPr>
          <p:spPr>
            <a:xfrm>
              <a:off x="2352669" y="6654008"/>
              <a:ext cx="62839" cy="62839"/>
            </a:xfrm>
            <a:custGeom>
              <a:avLst/>
              <a:gdLst>
                <a:gd name="connsiteX0" fmla="*/ 57879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5" name="Freeform: Shape 94">
              <a:extLst>
                <a:ext uri="{FF2B5EF4-FFF2-40B4-BE49-F238E27FC236}">
                  <a16:creationId xmlns:a16="http://schemas.microsoft.com/office/drawing/2014/main" id="{62795F03-6802-44FC-95B8-BF08ECB582A8}"/>
                </a:ext>
              </a:extLst>
            </p:cNvPr>
            <p:cNvSpPr/>
            <p:nvPr/>
          </p:nvSpPr>
          <p:spPr>
            <a:xfrm>
              <a:off x="2592706"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6" name="Freeform: Shape 95">
              <a:extLst>
                <a:ext uri="{FF2B5EF4-FFF2-40B4-BE49-F238E27FC236}">
                  <a16:creationId xmlns:a16="http://schemas.microsoft.com/office/drawing/2014/main" id="{CE108CBF-2206-6C19-DB39-E7DEA29A0718}"/>
                </a:ext>
              </a:extLst>
            </p:cNvPr>
            <p:cNvSpPr/>
            <p:nvPr/>
          </p:nvSpPr>
          <p:spPr>
            <a:xfrm>
              <a:off x="1391375"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7" name="Freeform: Shape 96">
              <a:extLst>
                <a:ext uri="{FF2B5EF4-FFF2-40B4-BE49-F238E27FC236}">
                  <a16:creationId xmlns:a16="http://schemas.microsoft.com/office/drawing/2014/main" id="{64A0664F-9927-56A8-B0EA-5F5BAD752350}"/>
                </a:ext>
              </a:extLst>
            </p:cNvPr>
            <p:cNvSpPr/>
            <p:nvPr/>
          </p:nvSpPr>
          <p:spPr>
            <a:xfrm>
              <a:off x="1631412"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8" name="Freeform: Shape 97">
              <a:extLst>
                <a:ext uri="{FF2B5EF4-FFF2-40B4-BE49-F238E27FC236}">
                  <a16:creationId xmlns:a16="http://schemas.microsoft.com/office/drawing/2014/main" id="{864C76EC-ADF5-B99A-1EA4-3DB2DA18DBAF}"/>
                </a:ext>
              </a:extLst>
            </p:cNvPr>
            <p:cNvSpPr/>
            <p:nvPr/>
          </p:nvSpPr>
          <p:spPr>
            <a:xfrm>
              <a:off x="1871323"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9" name="Freeform: Shape 98">
              <a:extLst>
                <a:ext uri="{FF2B5EF4-FFF2-40B4-BE49-F238E27FC236}">
                  <a16:creationId xmlns:a16="http://schemas.microsoft.com/office/drawing/2014/main" id="{3A90797F-EA9E-7F37-48A9-3F06FCB9B682}"/>
                </a:ext>
              </a:extLst>
            </p:cNvPr>
            <p:cNvSpPr/>
            <p:nvPr/>
          </p:nvSpPr>
          <p:spPr>
            <a:xfrm>
              <a:off x="2111360" y="5711794"/>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317"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99">
              <a:extLst>
                <a:ext uri="{FF2B5EF4-FFF2-40B4-BE49-F238E27FC236}">
                  <a16:creationId xmlns:a16="http://schemas.microsoft.com/office/drawing/2014/main" id="{6E63434F-35B9-6ADD-C2EF-B0433123893B}"/>
                </a:ext>
              </a:extLst>
            </p:cNvPr>
            <p:cNvSpPr/>
            <p:nvPr/>
          </p:nvSpPr>
          <p:spPr>
            <a:xfrm>
              <a:off x="2351397"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00">
              <a:extLst>
                <a:ext uri="{FF2B5EF4-FFF2-40B4-BE49-F238E27FC236}">
                  <a16:creationId xmlns:a16="http://schemas.microsoft.com/office/drawing/2014/main" id="{CE7B8ED4-17BA-9011-E360-8AF0056C7F39}"/>
                </a:ext>
              </a:extLst>
            </p:cNvPr>
            <p:cNvSpPr/>
            <p:nvPr/>
          </p:nvSpPr>
          <p:spPr>
            <a:xfrm>
              <a:off x="2591307" y="5711794"/>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8 w 62839"/>
                <a:gd name="connsiteY6" fmla="*/ 8523 h 62712"/>
                <a:gd name="connsiteX7" fmla="*/ 57878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3"/>
                  </a:lnTo>
                  <a:lnTo>
                    <a:pt x="57878" y="8523"/>
                  </a:lnTo>
                  <a:lnTo>
                    <a:pt x="57878" y="58133"/>
                  </a:lnTo>
                  <a:lnTo>
                    <a:pt x="62839" y="62713"/>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01">
              <a:extLst>
                <a:ext uri="{FF2B5EF4-FFF2-40B4-BE49-F238E27FC236}">
                  <a16:creationId xmlns:a16="http://schemas.microsoft.com/office/drawing/2014/main" id="{53F3AFFD-5D91-2452-C4E0-C03D5484358F}"/>
                </a:ext>
              </a:extLst>
            </p:cNvPr>
            <p:cNvSpPr/>
            <p:nvPr/>
          </p:nvSpPr>
          <p:spPr>
            <a:xfrm>
              <a:off x="2832744" y="5946235"/>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90"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3" name="Freeform: Shape 102">
              <a:extLst>
                <a:ext uri="{FF2B5EF4-FFF2-40B4-BE49-F238E27FC236}">
                  <a16:creationId xmlns:a16="http://schemas.microsoft.com/office/drawing/2014/main" id="{B5F4C5B1-E51D-ADBD-EE59-63D5DB3760A9}"/>
                </a:ext>
              </a:extLst>
            </p:cNvPr>
            <p:cNvSpPr/>
            <p:nvPr/>
          </p:nvSpPr>
          <p:spPr>
            <a:xfrm>
              <a:off x="3072781"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03">
              <a:extLst>
                <a:ext uri="{FF2B5EF4-FFF2-40B4-BE49-F238E27FC236}">
                  <a16:creationId xmlns:a16="http://schemas.microsoft.com/office/drawing/2014/main" id="{DA3196EE-4240-6ECE-B958-535E1B1795FF}"/>
                </a:ext>
              </a:extLst>
            </p:cNvPr>
            <p:cNvSpPr/>
            <p:nvPr/>
          </p:nvSpPr>
          <p:spPr>
            <a:xfrm>
              <a:off x="3312691"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39 w 62839"/>
                <a:gd name="connsiteY8" fmla="*/ 62712 h 62712"/>
                <a:gd name="connsiteX9" fmla="*/ 62839 w 62839"/>
                <a:gd name="connsiteY9" fmla="*/ 4961 h 62712"/>
                <a:gd name="connsiteX10" fmla="*/ 62839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39" y="62712"/>
                  </a:lnTo>
                  <a:lnTo>
                    <a:pt x="62839" y="4961"/>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04">
              <a:extLst>
                <a:ext uri="{FF2B5EF4-FFF2-40B4-BE49-F238E27FC236}">
                  <a16:creationId xmlns:a16="http://schemas.microsoft.com/office/drawing/2014/main" id="{C03CA418-BC65-6B0A-8568-01F7112FE278}"/>
                </a:ext>
              </a:extLst>
            </p:cNvPr>
            <p:cNvSpPr/>
            <p:nvPr/>
          </p:nvSpPr>
          <p:spPr>
            <a:xfrm>
              <a:off x="3552728" y="5946235"/>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1 w 62839"/>
                <a:gd name="connsiteY6" fmla="*/ 8523 h 62712"/>
                <a:gd name="connsiteX7" fmla="*/ 57751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189" y="4961"/>
                  </a:lnTo>
                  <a:lnTo>
                    <a:pt x="0" y="59151"/>
                  </a:lnTo>
                  <a:lnTo>
                    <a:pt x="3562" y="62712"/>
                  </a:lnTo>
                  <a:lnTo>
                    <a:pt x="57751" y="8523"/>
                  </a:lnTo>
                  <a:lnTo>
                    <a:pt x="57751" y="58133"/>
                  </a:lnTo>
                  <a:lnTo>
                    <a:pt x="62840" y="62712"/>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05">
              <a:extLst>
                <a:ext uri="{FF2B5EF4-FFF2-40B4-BE49-F238E27FC236}">
                  <a16:creationId xmlns:a16="http://schemas.microsoft.com/office/drawing/2014/main" id="{95FDA5DE-3617-2B1C-0805-B93408E3BE12}"/>
                </a:ext>
              </a:extLst>
            </p:cNvPr>
            <p:cNvSpPr/>
            <p:nvPr/>
          </p:nvSpPr>
          <p:spPr>
            <a:xfrm>
              <a:off x="3792766"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06">
              <a:extLst>
                <a:ext uri="{FF2B5EF4-FFF2-40B4-BE49-F238E27FC236}">
                  <a16:creationId xmlns:a16="http://schemas.microsoft.com/office/drawing/2014/main" id="{097ABC53-A7D0-86E0-FBC2-805DB3BA793F}"/>
                </a:ext>
              </a:extLst>
            </p:cNvPr>
            <p:cNvSpPr/>
            <p:nvPr/>
          </p:nvSpPr>
          <p:spPr>
            <a:xfrm>
              <a:off x="4032675" y="5946235"/>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9 w 62839"/>
                <a:gd name="connsiteY6" fmla="*/ 8523 h 62712"/>
                <a:gd name="connsiteX7" fmla="*/ 57879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2"/>
                  </a:lnTo>
                  <a:lnTo>
                    <a:pt x="57879" y="8523"/>
                  </a:lnTo>
                  <a:lnTo>
                    <a:pt x="57879" y="58133"/>
                  </a:lnTo>
                  <a:lnTo>
                    <a:pt x="62840" y="62712"/>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07">
              <a:extLst>
                <a:ext uri="{FF2B5EF4-FFF2-40B4-BE49-F238E27FC236}">
                  <a16:creationId xmlns:a16="http://schemas.microsoft.com/office/drawing/2014/main" id="{D7204991-C99C-3955-D7AE-3AB3A6CF99E6}"/>
                </a:ext>
              </a:extLst>
            </p:cNvPr>
            <p:cNvSpPr/>
            <p:nvPr/>
          </p:nvSpPr>
          <p:spPr>
            <a:xfrm>
              <a:off x="2832744" y="6182074"/>
              <a:ext cx="62839" cy="62839"/>
            </a:xfrm>
            <a:custGeom>
              <a:avLst/>
              <a:gdLst>
                <a:gd name="connsiteX0" fmla="*/ 57751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9"/>
                  </a:lnTo>
                  <a:lnTo>
                    <a:pt x="54190"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08">
              <a:extLst>
                <a:ext uri="{FF2B5EF4-FFF2-40B4-BE49-F238E27FC236}">
                  <a16:creationId xmlns:a16="http://schemas.microsoft.com/office/drawing/2014/main" id="{3FAB1303-D528-1129-5FB7-0F54A8FDE614}"/>
                </a:ext>
              </a:extLst>
            </p:cNvPr>
            <p:cNvSpPr/>
            <p:nvPr/>
          </p:nvSpPr>
          <p:spPr>
            <a:xfrm>
              <a:off x="3072781"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09">
              <a:extLst>
                <a:ext uri="{FF2B5EF4-FFF2-40B4-BE49-F238E27FC236}">
                  <a16:creationId xmlns:a16="http://schemas.microsoft.com/office/drawing/2014/main" id="{F1F986DC-5C79-89FC-6E2F-DE3B101316C3}"/>
                </a:ext>
              </a:extLst>
            </p:cNvPr>
            <p:cNvSpPr/>
            <p:nvPr/>
          </p:nvSpPr>
          <p:spPr>
            <a:xfrm>
              <a:off x="3312691"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3 h 62839"/>
                <a:gd name="connsiteX9" fmla="*/ 62839 w 62839"/>
                <a:gd name="connsiteY9" fmla="*/ 5089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39" y="62713"/>
                  </a:lnTo>
                  <a:lnTo>
                    <a:pt x="62839" y="5089"/>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10">
              <a:extLst>
                <a:ext uri="{FF2B5EF4-FFF2-40B4-BE49-F238E27FC236}">
                  <a16:creationId xmlns:a16="http://schemas.microsoft.com/office/drawing/2014/main" id="{D496896D-5DF2-DE6A-D428-A4E4F012C9EB}"/>
                </a:ext>
              </a:extLst>
            </p:cNvPr>
            <p:cNvSpPr/>
            <p:nvPr/>
          </p:nvSpPr>
          <p:spPr>
            <a:xfrm>
              <a:off x="3552728" y="6182074"/>
              <a:ext cx="62839" cy="62839"/>
            </a:xfrm>
            <a:custGeom>
              <a:avLst/>
              <a:gdLst>
                <a:gd name="connsiteX0" fmla="*/ 57751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9"/>
                  </a:lnTo>
                  <a:lnTo>
                    <a:pt x="54189" y="5089"/>
                  </a:lnTo>
                  <a:lnTo>
                    <a:pt x="0" y="59278"/>
                  </a:lnTo>
                  <a:lnTo>
                    <a:pt x="3562" y="62840"/>
                  </a:lnTo>
                  <a:lnTo>
                    <a:pt x="57751" y="8650"/>
                  </a:lnTo>
                  <a:lnTo>
                    <a:pt x="57751" y="58133"/>
                  </a:lnTo>
                  <a:lnTo>
                    <a:pt x="62840" y="62713"/>
                  </a:lnTo>
                  <a:lnTo>
                    <a:pt x="62840" y="5089"/>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11">
              <a:extLst>
                <a:ext uri="{FF2B5EF4-FFF2-40B4-BE49-F238E27FC236}">
                  <a16:creationId xmlns:a16="http://schemas.microsoft.com/office/drawing/2014/main" id="{7BBB21A4-CDC1-1EE0-0CA3-182E90747FE2}"/>
                </a:ext>
              </a:extLst>
            </p:cNvPr>
            <p:cNvSpPr/>
            <p:nvPr/>
          </p:nvSpPr>
          <p:spPr>
            <a:xfrm>
              <a:off x="3792766"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12">
              <a:extLst>
                <a:ext uri="{FF2B5EF4-FFF2-40B4-BE49-F238E27FC236}">
                  <a16:creationId xmlns:a16="http://schemas.microsoft.com/office/drawing/2014/main" id="{54BED72D-8442-5C91-CEFE-95D32A7D7EA9}"/>
                </a:ext>
              </a:extLst>
            </p:cNvPr>
            <p:cNvSpPr/>
            <p:nvPr/>
          </p:nvSpPr>
          <p:spPr>
            <a:xfrm>
              <a:off x="4032675" y="6182074"/>
              <a:ext cx="62839" cy="62839"/>
            </a:xfrm>
            <a:custGeom>
              <a:avLst/>
              <a:gdLst>
                <a:gd name="connsiteX0" fmla="*/ 57879 w 62839"/>
                <a:gd name="connsiteY0" fmla="*/ 0 h 62839"/>
                <a:gd name="connsiteX1" fmla="*/ 0 w 62839"/>
                <a:gd name="connsiteY1" fmla="*/ 0 h 62839"/>
                <a:gd name="connsiteX2" fmla="*/ 5089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9"/>
                  </a:lnTo>
                  <a:lnTo>
                    <a:pt x="54317" y="5089"/>
                  </a:lnTo>
                  <a:lnTo>
                    <a:pt x="127" y="59278"/>
                  </a:lnTo>
                  <a:lnTo>
                    <a:pt x="3689" y="62840"/>
                  </a:lnTo>
                  <a:lnTo>
                    <a:pt x="57879" y="8650"/>
                  </a:lnTo>
                  <a:lnTo>
                    <a:pt x="57879" y="58133"/>
                  </a:lnTo>
                  <a:lnTo>
                    <a:pt x="62840" y="62713"/>
                  </a:lnTo>
                  <a:lnTo>
                    <a:pt x="62840" y="5089"/>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13">
              <a:extLst>
                <a:ext uri="{FF2B5EF4-FFF2-40B4-BE49-F238E27FC236}">
                  <a16:creationId xmlns:a16="http://schemas.microsoft.com/office/drawing/2014/main" id="{21C5316E-5E51-5DDE-5D2C-3FE0A261FBE3}"/>
                </a:ext>
              </a:extLst>
            </p:cNvPr>
            <p:cNvSpPr/>
            <p:nvPr/>
          </p:nvSpPr>
          <p:spPr>
            <a:xfrm>
              <a:off x="2832744" y="6418041"/>
              <a:ext cx="62839" cy="62839"/>
            </a:xfrm>
            <a:custGeom>
              <a:avLst/>
              <a:gdLst>
                <a:gd name="connsiteX0" fmla="*/ 57751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5088"/>
                  </a:lnTo>
                  <a:lnTo>
                    <a:pt x="54190"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14">
              <a:extLst>
                <a:ext uri="{FF2B5EF4-FFF2-40B4-BE49-F238E27FC236}">
                  <a16:creationId xmlns:a16="http://schemas.microsoft.com/office/drawing/2014/main" id="{D0526843-D893-60D9-A1F5-5636E8693607}"/>
                </a:ext>
              </a:extLst>
            </p:cNvPr>
            <p:cNvSpPr/>
            <p:nvPr/>
          </p:nvSpPr>
          <p:spPr>
            <a:xfrm>
              <a:off x="3072781"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15">
              <a:extLst>
                <a:ext uri="{FF2B5EF4-FFF2-40B4-BE49-F238E27FC236}">
                  <a16:creationId xmlns:a16="http://schemas.microsoft.com/office/drawing/2014/main" id="{FF9FBF0C-4C9A-26E0-5A4B-51985687D71B}"/>
                </a:ext>
              </a:extLst>
            </p:cNvPr>
            <p:cNvSpPr/>
            <p:nvPr/>
          </p:nvSpPr>
          <p:spPr>
            <a:xfrm>
              <a:off x="3312691"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39 w 62839"/>
                <a:gd name="connsiteY8" fmla="*/ 62712 h 62839"/>
                <a:gd name="connsiteX9" fmla="*/ 62839 w 62839"/>
                <a:gd name="connsiteY9" fmla="*/ 5088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39" y="62712"/>
                  </a:lnTo>
                  <a:lnTo>
                    <a:pt x="62839" y="5088"/>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16">
              <a:extLst>
                <a:ext uri="{FF2B5EF4-FFF2-40B4-BE49-F238E27FC236}">
                  <a16:creationId xmlns:a16="http://schemas.microsoft.com/office/drawing/2014/main" id="{BCB94C1A-3DF2-A5E1-231D-D80AD4C498F9}"/>
                </a:ext>
              </a:extLst>
            </p:cNvPr>
            <p:cNvSpPr/>
            <p:nvPr/>
          </p:nvSpPr>
          <p:spPr>
            <a:xfrm>
              <a:off x="3552728" y="6418041"/>
              <a:ext cx="62839" cy="62839"/>
            </a:xfrm>
            <a:custGeom>
              <a:avLst/>
              <a:gdLst>
                <a:gd name="connsiteX0" fmla="*/ 57751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1 w 62839"/>
                <a:gd name="connsiteY6" fmla="*/ 8650 h 62839"/>
                <a:gd name="connsiteX7" fmla="*/ 57751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5088"/>
                  </a:lnTo>
                  <a:lnTo>
                    <a:pt x="54189" y="5088"/>
                  </a:lnTo>
                  <a:lnTo>
                    <a:pt x="0" y="59278"/>
                  </a:lnTo>
                  <a:lnTo>
                    <a:pt x="3562" y="62840"/>
                  </a:lnTo>
                  <a:lnTo>
                    <a:pt x="57751" y="8650"/>
                  </a:lnTo>
                  <a:lnTo>
                    <a:pt x="57751" y="58133"/>
                  </a:lnTo>
                  <a:lnTo>
                    <a:pt x="62840" y="62712"/>
                  </a:lnTo>
                  <a:lnTo>
                    <a:pt x="62840" y="5088"/>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17">
              <a:extLst>
                <a:ext uri="{FF2B5EF4-FFF2-40B4-BE49-F238E27FC236}">
                  <a16:creationId xmlns:a16="http://schemas.microsoft.com/office/drawing/2014/main" id="{1EF0F011-0D9A-D65D-7A58-D1DEDAE830BE}"/>
                </a:ext>
              </a:extLst>
            </p:cNvPr>
            <p:cNvSpPr/>
            <p:nvPr/>
          </p:nvSpPr>
          <p:spPr>
            <a:xfrm>
              <a:off x="3792766"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18">
              <a:extLst>
                <a:ext uri="{FF2B5EF4-FFF2-40B4-BE49-F238E27FC236}">
                  <a16:creationId xmlns:a16="http://schemas.microsoft.com/office/drawing/2014/main" id="{56250D62-9132-3D5B-4AD2-75F2CA6C90E8}"/>
                </a:ext>
              </a:extLst>
            </p:cNvPr>
            <p:cNvSpPr/>
            <p:nvPr/>
          </p:nvSpPr>
          <p:spPr>
            <a:xfrm>
              <a:off x="4032675" y="6418041"/>
              <a:ext cx="62839" cy="62839"/>
            </a:xfrm>
            <a:custGeom>
              <a:avLst/>
              <a:gdLst>
                <a:gd name="connsiteX0" fmla="*/ 57879 w 62839"/>
                <a:gd name="connsiteY0" fmla="*/ 0 h 62839"/>
                <a:gd name="connsiteX1" fmla="*/ 0 w 62839"/>
                <a:gd name="connsiteY1" fmla="*/ 0 h 62839"/>
                <a:gd name="connsiteX2" fmla="*/ 5089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19">
              <a:extLst>
                <a:ext uri="{FF2B5EF4-FFF2-40B4-BE49-F238E27FC236}">
                  <a16:creationId xmlns:a16="http://schemas.microsoft.com/office/drawing/2014/main" id="{A4651914-6BAE-9CD8-B7C2-275425DC8FA0}"/>
                </a:ext>
              </a:extLst>
            </p:cNvPr>
            <p:cNvSpPr/>
            <p:nvPr/>
          </p:nvSpPr>
          <p:spPr>
            <a:xfrm>
              <a:off x="2832744" y="6654008"/>
              <a:ext cx="62839" cy="62839"/>
            </a:xfrm>
            <a:custGeom>
              <a:avLst/>
              <a:gdLst>
                <a:gd name="connsiteX0" fmla="*/ 57751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4961" y="4960"/>
                  </a:lnTo>
                  <a:lnTo>
                    <a:pt x="54190"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20">
              <a:extLst>
                <a:ext uri="{FF2B5EF4-FFF2-40B4-BE49-F238E27FC236}">
                  <a16:creationId xmlns:a16="http://schemas.microsoft.com/office/drawing/2014/main" id="{3CB8F57D-0CB8-E70D-FD99-4D53B221D051}"/>
                </a:ext>
              </a:extLst>
            </p:cNvPr>
            <p:cNvSpPr/>
            <p:nvPr/>
          </p:nvSpPr>
          <p:spPr>
            <a:xfrm>
              <a:off x="3072781"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21">
              <a:extLst>
                <a:ext uri="{FF2B5EF4-FFF2-40B4-BE49-F238E27FC236}">
                  <a16:creationId xmlns:a16="http://schemas.microsoft.com/office/drawing/2014/main" id="{33B2D3AD-C36B-1CEE-82F5-6039938EB2F9}"/>
                </a:ext>
              </a:extLst>
            </p:cNvPr>
            <p:cNvSpPr/>
            <p:nvPr/>
          </p:nvSpPr>
          <p:spPr>
            <a:xfrm>
              <a:off x="3312691"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39 w 62839"/>
                <a:gd name="connsiteY8" fmla="*/ 62712 h 62839"/>
                <a:gd name="connsiteX9" fmla="*/ 62839 w 62839"/>
                <a:gd name="connsiteY9" fmla="*/ 4960 h 62839"/>
                <a:gd name="connsiteX10" fmla="*/ 62839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39" y="62712"/>
                  </a:lnTo>
                  <a:lnTo>
                    <a:pt x="62839" y="4960"/>
                  </a:lnTo>
                  <a:lnTo>
                    <a:pt x="62839"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22">
              <a:extLst>
                <a:ext uri="{FF2B5EF4-FFF2-40B4-BE49-F238E27FC236}">
                  <a16:creationId xmlns:a16="http://schemas.microsoft.com/office/drawing/2014/main" id="{D6F64876-4241-9652-10B1-794C7AA90D99}"/>
                </a:ext>
              </a:extLst>
            </p:cNvPr>
            <p:cNvSpPr/>
            <p:nvPr/>
          </p:nvSpPr>
          <p:spPr>
            <a:xfrm>
              <a:off x="3552728" y="6654008"/>
              <a:ext cx="62839" cy="62839"/>
            </a:xfrm>
            <a:custGeom>
              <a:avLst/>
              <a:gdLst>
                <a:gd name="connsiteX0" fmla="*/ 57751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1 w 62839"/>
                <a:gd name="connsiteY6" fmla="*/ 8523 h 62839"/>
                <a:gd name="connsiteX7" fmla="*/ 57751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1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1" y="0"/>
                  </a:moveTo>
                  <a:lnTo>
                    <a:pt x="0" y="0"/>
                  </a:lnTo>
                  <a:lnTo>
                    <a:pt x="5088" y="4960"/>
                  </a:lnTo>
                  <a:lnTo>
                    <a:pt x="54189" y="4960"/>
                  </a:lnTo>
                  <a:lnTo>
                    <a:pt x="0" y="59278"/>
                  </a:lnTo>
                  <a:lnTo>
                    <a:pt x="3562" y="62840"/>
                  </a:lnTo>
                  <a:lnTo>
                    <a:pt x="57751" y="8523"/>
                  </a:lnTo>
                  <a:lnTo>
                    <a:pt x="57751" y="58132"/>
                  </a:lnTo>
                  <a:lnTo>
                    <a:pt x="62840" y="62712"/>
                  </a:lnTo>
                  <a:lnTo>
                    <a:pt x="62840" y="4960"/>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23">
              <a:extLst>
                <a:ext uri="{FF2B5EF4-FFF2-40B4-BE49-F238E27FC236}">
                  <a16:creationId xmlns:a16="http://schemas.microsoft.com/office/drawing/2014/main" id="{0145BD8D-1492-2AB1-1011-0411B37EA9CA}"/>
                </a:ext>
              </a:extLst>
            </p:cNvPr>
            <p:cNvSpPr/>
            <p:nvPr/>
          </p:nvSpPr>
          <p:spPr>
            <a:xfrm>
              <a:off x="3792766"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24">
              <a:extLst>
                <a:ext uri="{FF2B5EF4-FFF2-40B4-BE49-F238E27FC236}">
                  <a16:creationId xmlns:a16="http://schemas.microsoft.com/office/drawing/2014/main" id="{9DD7E1DD-CDB6-B006-3336-01B53228FF27}"/>
                </a:ext>
              </a:extLst>
            </p:cNvPr>
            <p:cNvSpPr/>
            <p:nvPr/>
          </p:nvSpPr>
          <p:spPr>
            <a:xfrm>
              <a:off x="4032675" y="6654008"/>
              <a:ext cx="62839" cy="62839"/>
            </a:xfrm>
            <a:custGeom>
              <a:avLst/>
              <a:gdLst>
                <a:gd name="connsiteX0" fmla="*/ 57879 w 62839"/>
                <a:gd name="connsiteY0" fmla="*/ 0 h 62839"/>
                <a:gd name="connsiteX1" fmla="*/ 0 w 62839"/>
                <a:gd name="connsiteY1" fmla="*/ 0 h 62839"/>
                <a:gd name="connsiteX2" fmla="*/ 5089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9 w 62839"/>
                <a:gd name="connsiteY6" fmla="*/ 8523 h 62839"/>
                <a:gd name="connsiteX7" fmla="*/ 57879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9" y="4960"/>
                  </a:lnTo>
                  <a:lnTo>
                    <a:pt x="54317" y="4960"/>
                  </a:lnTo>
                  <a:lnTo>
                    <a:pt x="127" y="59278"/>
                  </a:lnTo>
                  <a:lnTo>
                    <a:pt x="3689" y="62840"/>
                  </a:lnTo>
                  <a:lnTo>
                    <a:pt x="57879" y="8523"/>
                  </a:lnTo>
                  <a:lnTo>
                    <a:pt x="57879" y="58132"/>
                  </a:lnTo>
                  <a:lnTo>
                    <a:pt x="62840" y="62712"/>
                  </a:lnTo>
                  <a:lnTo>
                    <a:pt x="62840" y="4960"/>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25">
              <a:extLst>
                <a:ext uri="{FF2B5EF4-FFF2-40B4-BE49-F238E27FC236}">
                  <a16:creationId xmlns:a16="http://schemas.microsoft.com/office/drawing/2014/main" id="{4A238509-E0B8-9716-8E31-84AD6BDB7634}"/>
                </a:ext>
              </a:extLst>
            </p:cNvPr>
            <p:cNvSpPr/>
            <p:nvPr/>
          </p:nvSpPr>
          <p:spPr>
            <a:xfrm>
              <a:off x="2831344"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26">
              <a:extLst>
                <a:ext uri="{FF2B5EF4-FFF2-40B4-BE49-F238E27FC236}">
                  <a16:creationId xmlns:a16="http://schemas.microsoft.com/office/drawing/2014/main" id="{F08D1868-9CEC-E660-F01E-79530ABF0DCD}"/>
                </a:ext>
              </a:extLst>
            </p:cNvPr>
            <p:cNvSpPr/>
            <p:nvPr/>
          </p:nvSpPr>
          <p:spPr>
            <a:xfrm>
              <a:off x="3071382" y="5711794"/>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27">
              <a:extLst>
                <a:ext uri="{FF2B5EF4-FFF2-40B4-BE49-F238E27FC236}">
                  <a16:creationId xmlns:a16="http://schemas.microsoft.com/office/drawing/2014/main" id="{35BC27BC-A137-60D2-7B15-9FA50033EE60}"/>
                </a:ext>
              </a:extLst>
            </p:cNvPr>
            <p:cNvSpPr/>
            <p:nvPr/>
          </p:nvSpPr>
          <p:spPr>
            <a:xfrm>
              <a:off x="3311419"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28">
              <a:extLst>
                <a:ext uri="{FF2B5EF4-FFF2-40B4-BE49-F238E27FC236}">
                  <a16:creationId xmlns:a16="http://schemas.microsoft.com/office/drawing/2014/main" id="{7FCC765C-96B0-4647-16F9-44833266D8EB}"/>
                </a:ext>
              </a:extLst>
            </p:cNvPr>
            <p:cNvSpPr/>
            <p:nvPr/>
          </p:nvSpPr>
          <p:spPr>
            <a:xfrm>
              <a:off x="3551329"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29">
              <a:extLst>
                <a:ext uri="{FF2B5EF4-FFF2-40B4-BE49-F238E27FC236}">
                  <a16:creationId xmlns:a16="http://schemas.microsoft.com/office/drawing/2014/main" id="{C9F65D26-DBE1-6AF5-B54F-28C287E52383}"/>
                </a:ext>
              </a:extLst>
            </p:cNvPr>
            <p:cNvSpPr/>
            <p:nvPr/>
          </p:nvSpPr>
          <p:spPr>
            <a:xfrm>
              <a:off x="3791366"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30">
              <a:extLst>
                <a:ext uri="{FF2B5EF4-FFF2-40B4-BE49-F238E27FC236}">
                  <a16:creationId xmlns:a16="http://schemas.microsoft.com/office/drawing/2014/main" id="{D841C56E-859E-460C-24D2-BADF5874550D}"/>
                </a:ext>
              </a:extLst>
            </p:cNvPr>
            <p:cNvSpPr/>
            <p:nvPr/>
          </p:nvSpPr>
          <p:spPr>
            <a:xfrm>
              <a:off x="4031404"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31">
              <a:extLst>
                <a:ext uri="{FF2B5EF4-FFF2-40B4-BE49-F238E27FC236}">
                  <a16:creationId xmlns:a16="http://schemas.microsoft.com/office/drawing/2014/main" id="{B3ABD4C7-711C-9923-AC74-5A40688FD304}"/>
                </a:ext>
              </a:extLst>
            </p:cNvPr>
            <p:cNvSpPr/>
            <p:nvPr/>
          </p:nvSpPr>
          <p:spPr>
            <a:xfrm>
              <a:off x="4034075"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3" name="Freeform: Shape 132">
              <a:extLst>
                <a:ext uri="{FF2B5EF4-FFF2-40B4-BE49-F238E27FC236}">
                  <a16:creationId xmlns:a16="http://schemas.microsoft.com/office/drawing/2014/main" id="{3D06AC70-F9AE-EAF0-D53B-C6F4F0024341}"/>
                </a:ext>
              </a:extLst>
            </p:cNvPr>
            <p:cNvSpPr/>
            <p:nvPr/>
          </p:nvSpPr>
          <p:spPr>
            <a:xfrm>
              <a:off x="4274112"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3">
              <a:extLst>
                <a:ext uri="{FF2B5EF4-FFF2-40B4-BE49-F238E27FC236}">
                  <a16:creationId xmlns:a16="http://schemas.microsoft.com/office/drawing/2014/main" id="{40AB4583-B167-3377-E727-8106A43DE968}"/>
                </a:ext>
              </a:extLst>
            </p:cNvPr>
            <p:cNvSpPr/>
            <p:nvPr/>
          </p:nvSpPr>
          <p:spPr>
            <a:xfrm>
              <a:off x="4514149"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4">
              <a:extLst>
                <a:ext uri="{FF2B5EF4-FFF2-40B4-BE49-F238E27FC236}">
                  <a16:creationId xmlns:a16="http://schemas.microsoft.com/office/drawing/2014/main" id="{DD3FE090-01B9-97FD-27B2-9C288204D033}"/>
                </a:ext>
              </a:extLst>
            </p:cNvPr>
            <p:cNvSpPr/>
            <p:nvPr/>
          </p:nvSpPr>
          <p:spPr>
            <a:xfrm>
              <a:off x="4754060" y="5946235"/>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5">
              <a:extLst>
                <a:ext uri="{FF2B5EF4-FFF2-40B4-BE49-F238E27FC236}">
                  <a16:creationId xmlns:a16="http://schemas.microsoft.com/office/drawing/2014/main" id="{9DB05C28-1FC1-D0F5-F7F3-CE75D7BE844F}"/>
                </a:ext>
              </a:extLst>
            </p:cNvPr>
            <p:cNvSpPr/>
            <p:nvPr/>
          </p:nvSpPr>
          <p:spPr>
            <a:xfrm>
              <a:off x="4994097" y="5946235"/>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6">
              <a:extLst>
                <a:ext uri="{FF2B5EF4-FFF2-40B4-BE49-F238E27FC236}">
                  <a16:creationId xmlns:a16="http://schemas.microsoft.com/office/drawing/2014/main" id="{DCA5910D-D024-34AF-4026-B05D636A4BD9}"/>
                </a:ext>
              </a:extLst>
            </p:cNvPr>
            <p:cNvSpPr/>
            <p:nvPr/>
          </p:nvSpPr>
          <p:spPr>
            <a:xfrm>
              <a:off x="5234134" y="5946235"/>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7">
              <a:extLst>
                <a:ext uri="{FF2B5EF4-FFF2-40B4-BE49-F238E27FC236}">
                  <a16:creationId xmlns:a16="http://schemas.microsoft.com/office/drawing/2014/main" id="{784A91D8-77CE-5EDA-24A7-9A7577D4EC1D}"/>
                </a:ext>
              </a:extLst>
            </p:cNvPr>
            <p:cNvSpPr/>
            <p:nvPr/>
          </p:nvSpPr>
          <p:spPr>
            <a:xfrm>
              <a:off x="4034075"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8">
              <a:extLst>
                <a:ext uri="{FF2B5EF4-FFF2-40B4-BE49-F238E27FC236}">
                  <a16:creationId xmlns:a16="http://schemas.microsoft.com/office/drawing/2014/main" id="{C509EEEF-5EFF-F445-F464-612FB164BBC1}"/>
                </a:ext>
              </a:extLst>
            </p:cNvPr>
            <p:cNvSpPr/>
            <p:nvPr/>
          </p:nvSpPr>
          <p:spPr>
            <a:xfrm>
              <a:off x="4274112"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9">
              <a:extLst>
                <a:ext uri="{FF2B5EF4-FFF2-40B4-BE49-F238E27FC236}">
                  <a16:creationId xmlns:a16="http://schemas.microsoft.com/office/drawing/2014/main" id="{AE2E8EF4-C053-7B6D-E90B-CCF6E14527A0}"/>
                </a:ext>
              </a:extLst>
            </p:cNvPr>
            <p:cNvSpPr/>
            <p:nvPr/>
          </p:nvSpPr>
          <p:spPr>
            <a:xfrm>
              <a:off x="4514149"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40">
              <a:extLst>
                <a:ext uri="{FF2B5EF4-FFF2-40B4-BE49-F238E27FC236}">
                  <a16:creationId xmlns:a16="http://schemas.microsoft.com/office/drawing/2014/main" id="{B93A74F4-E9AC-3F5C-B9AC-A179C2FCF95E}"/>
                </a:ext>
              </a:extLst>
            </p:cNvPr>
            <p:cNvSpPr/>
            <p:nvPr/>
          </p:nvSpPr>
          <p:spPr>
            <a:xfrm>
              <a:off x="4754060" y="618207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1">
              <a:extLst>
                <a:ext uri="{FF2B5EF4-FFF2-40B4-BE49-F238E27FC236}">
                  <a16:creationId xmlns:a16="http://schemas.microsoft.com/office/drawing/2014/main" id="{5D0ED169-153A-34C9-F495-F01C9AE272EE}"/>
                </a:ext>
              </a:extLst>
            </p:cNvPr>
            <p:cNvSpPr/>
            <p:nvPr/>
          </p:nvSpPr>
          <p:spPr>
            <a:xfrm>
              <a:off x="4994097" y="618207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2">
              <a:extLst>
                <a:ext uri="{FF2B5EF4-FFF2-40B4-BE49-F238E27FC236}">
                  <a16:creationId xmlns:a16="http://schemas.microsoft.com/office/drawing/2014/main" id="{0E919175-11D0-681A-5807-C973682D2D9F}"/>
                </a:ext>
              </a:extLst>
            </p:cNvPr>
            <p:cNvSpPr/>
            <p:nvPr/>
          </p:nvSpPr>
          <p:spPr>
            <a:xfrm>
              <a:off x="5234134" y="618207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3">
              <a:extLst>
                <a:ext uri="{FF2B5EF4-FFF2-40B4-BE49-F238E27FC236}">
                  <a16:creationId xmlns:a16="http://schemas.microsoft.com/office/drawing/2014/main" id="{7A8180E8-6EAE-F404-C0E9-4E4BA6B15C62}"/>
                </a:ext>
              </a:extLst>
            </p:cNvPr>
            <p:cNvSpPr/>
            <p:nvPr/>
          </p:nvSpPr>
          <p:spPr>
            <a:xfrm>
              <a:off x="4034075"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4">
              <a:extLst>
                <a:ext uri="{FF2B5EF4-FFF2-40B4-BE49-F238E27FC236}">
                  <a16:creationId xmlns:a16="http://schemas.microsoft.com/office/drawing/2014/main" id="{C5A6832E-F4DA-2040-519E-F254BFD38852}"/>
                </a:ext>
              </a:extLst>
            </p:cNvPr>
            <p:cNvSpPr/>
            <p:nvPr/>
          </p:nvSpPr>
          <p:spPr>
            <a:xfrm>
              <a:off x="4274112"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5">
              <a:extLst>
                <a:ext uri="{FF2B5EF4-FFF2-40B4-BE49-F238E27FC236}">
                  <a16:creationId xmlns:a16="http://schemas.microsoft.com/office/drawing/2014/main" id="{6B7C9327-9842-897E-F6FC-55891023FA5E}"/>
                </a:ext>
              </a:extLst>
            </p:cNvPr>
            <p:cNvSpPr/>
            <p:nvPr/>
          </p:nvSpPr>
          <p:spPr>
            <a:xfrm>
              <a:off x="4514149"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6">
              <a:extLst>
                <a:ext uri="{FF2B5EF4-FFF2-40B4-BE49-F238E27FC236}">
                  <a16:creationId xmlns:a16="http://schemas.microsoft.com/office/drawing/2014/main" id="{A2F387A3-5A49-5794-57D0-475D134099CF}"/>
                </a:ext>
              </a:extLst>
            </p:cNvPr>
            <p:cNvSpPr/>
            <p:nvPr/>
          </p:nvSpPr>
          <p:spPr>
            <a:xfrm>
              <a:off x="4754060" y="6418041"/>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7">
              <a:extLst>
                <a:ext uri="{FF2B5EF4-FFF2-40B4-BE49-F238E27FC236}">
                  <a16:creationId xmlns:a16="http://schemas.microsoft.com/office/drawing/2014/main" id="{F5F7021B-E3C3-7AE8-CA0B-EE582C68F600}"/>
                </a:ext>
              </a:extLst>
            </p:cNvPr>
            <p:cNvSpPr/>
            <p:nvPr/>
          </p:nvSpPr>
          <p:spPr>
            <a:xfrm>
              <a:off x="4994097" y="6418041"/>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8">
              <a:extLst>
                <a:ext uri="{FF2B5EF4-FFF2-40B4-BE49-F238E27FC236}">
                  <a16:creationId xmlns:a16="http://schemas.microsoft.com/office/drawing/2014/main" id="{7E66158D-3554-345A-76AD-9BB647F858B2}"/>
                </a:ext>
              </a:extLst>
            </p:cNvPr>
            <p:cNvSpPr/>
            <p:nvPr/>
          </p:nvSpPr>
          <p:spPr>
            <a:xfrm>
              <a:off x="5234134" y="6418041"/>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9">
              <a:extLst>
                <a:ext uri="{FF2B5EF4-FFF2-40B4-BE49-F238E27FC236}">
                  <a16:creationId xmlns:a16="http://schemas.microsoft.com/office/drawing/2014/main" id="{8103BC87-CBD7-7CC6-E2CD-B03441703C21}"/>
                </a:ext>
              </a:extLst>
            </p:cNvPr>
            <p:cNvSpPr/>
            <p:nvPr/>
          </p:nvSpPr>
          <p:spPr>
            <a:xfrm>
              <a:off x="4034075"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50">
              <a:extLst>
                <a:ext uri="{FF2B5EF4-FFF2-40B4-BE49-F238E27FC236}">
                  <a16:creationId xmlns:a16="http://schemas.microsoft.com/office/drawing/2014/main" id="{DA1BD991-0661-220C-96D0-89708DA841BA}"/>
                </a:ext>
              </a:extLst>
            </p:cNvPr>
            <p:cNvSpPr/>
            <p:nvPr/>
          </p:nvSpPr>
          <p:spPr>
            <a:xfrm>
              <a:off x="4274112"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1">
              <a:extLst>
                <a:ext uri="{FF2B5EF4-FFF2-40B4-BE49-F238E27FC236}">
                  <a16:creationId xmlns:a16="http://schemas.microsoft.com/office/drawing/2014/main" id="{52FBC5EB-BEAE-0B42-253F-A951955901B6}"/>
                </a:ext>
              </a:extLst>
            </p:cNvPr>
            <p:cNvSpPr/>
            <p:nvPr/>
          </p:nvSpPr>
          <p:spPr>
            <a:xfrm>
              <a:off x="4514149"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2">
              <a:extLst>
                <a:ext uri="{FF2B5EF4-FFF2-40B4-BE49-F238E27FC236}">
                  <a16:creationId xmlns:a16="http://schemas.microsoft.com/office/drawing/2014/main" id="{FED43B26-1B1A-7602-0C03-64A95ACC6391}"/>
                </a:ext>
              </a:extLst>
            </p:cNvPr>
            <p:cNvSpPr/>
            <p:nvPr/>
          </p:nvSpPr>
          <p:spPr>
            <a:xfrm>
              <a:off x="4754060" y="6654008"/>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3">
              <a:extLst>
                <a:ext uri="{FF2B5EF4-FFF2-40B4-BE49-F238E27FC236}">
                  <a16:creationId xmlns:a16="http://schemas.microsoft.com/office/drawing/2014/main" id="{D782E27A-4416-C23C-F79D-6A5A22138206}"/>
                </a:ext>
              </a:extLst>
            </p:cNvPr>
            <p:cNvSpPr/>
            <p:nvPr/>
          </p:nvSpPr>
          <p:spPr>
            <a:xfrm>
              <a:off x="4994097" y="6654008"/>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4">
              <a:extLst>
                <a:ext uri="{FF2B5EF4-FFF2-40B4-BE49-F238E27FC236}">
                  <a16:creationId xmlns:a16="http://schemas.microsoft.com/office/drawing/2014/main" id="{0BC7AFCE-0A30-8578-AF3C-376DD2D0EFEE}"/>
                </a:ext>
              </a:extLst>
            </p:cNvPr>
            <p:cNvSpPr/>
            <p:nvPr/>
          </p:nvSpPr>
          <p:spPr>
            <a:xfrm>
              <a:off x="5234134" y="6654008"/>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5">
              <a:extLst>
                <a:ext uri="{FF2B5EF4-FFF2-40B4-BE49-F238E27FC236}">
                  <a16:creationId xmlns:a16="http://schemas.microsoft.com/office/drawing/2014/main" id="{220D122C-07F2-A450-8200-27788636444A}"/>
                </a:ext>
              </a:extLst>
            </p:cNvPr>
            <p:cNvSpPr/>
            <p:nvPr/>
          </p:nvSpPr>
          <p:spPr>
            <a:xfrm>
              <a:off x="4032675"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6">
              <a:extLst>
                <a:ext uri="{FF2B5EF4-FFF2-40B4-BE49-F238E27FC236}">
                  <a16:creationId xmlns:a16="http://schemas.microsoft.com/office/drawing/2014/main" id="{B47B951E-A6CA-C801-A0DE-8BB2A3757491}"/>
                </a:ext>
              </a:extLst>
            </p:cNvPr>
            <p:cNvSpPr/>
            <p:nvPr/>
          </p:nvSpPr>
          <p:spPr>
            <a:xfrm>
              <a:off x="4272713" y="571179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7">
              <a:extLst>
                <a:ext uri="{FF2B5EF4-FFF2-40B4-BE49-F238E27FC236}">
                  <a16:creationId xmlns:a16="http://schemas.microsoft.com/office/drawing/2014/main" id="{89D26608-876A-FE63-17C2-D9215F589F69}"/>
                </a:ext>
              </a:extLst>
            </p:cNvPr>
            <p:cNvSpPr/>
            <p:nvPr/>
          </p:nvSpPr>
          <p:spPr>
            <a:xfrm>
              <a:off x="4512750" y="571179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8">
              <a:extLst>
                <a:ext uri="{FF2B5EF4-FFF2-40B4-BE49-F238E27FC236}">
                  <a16:creationId xmlns:a16="http://schemas.microsoft.com/office/drawing/2014/main" id="{A5930EB3-C68E-08E3-AA24-F8D3AB2848C4}"/>
                </a:ext>
              </a:extLst>
            </p:cNvPr>
            <p:cNvSpPr/>
            <p:nvPr/>
          </p:nvSpPr>
          <p:spPr>
            <a:xfrm>
              <a:off x="4752660" y="571179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9">
              <a:extLst>
                <a:ext uri="{FF2B5EF4-FFF2-40B4-BE49-F238E27FC236}">
                  <a16:creationId xmlns:a16="http://schemas.microsoft.com/office/drawing/2014/main" id="{14869713-D68B-23CD-CEC6-FD4228BB8D0C}"/>
                </a:ext>
              </a:extLst>
            </p:cNvPr>
            <p:cNvSpPr/>
            <p:nvPr/>
          </p:nvSpPr>
          <p:spPr>
            <a:xfrm>
              <a:off x="4992697" y="571179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60">
              <a:extLst>
                <a:ext uri="{FF2B5EF4-FFF2-40B4-BE49-F238E27FC236}">
                  <a16:creationId xmlns:a16="http://schemas.microsoft.com/office/drawing/2014/main" id="{F9330BEF-AD33-DD66-B8CC-6B6EFA450F88}"/>
                </a:ext>
              </a:extLst>
            </p:cNvPr>
            <p:cNvSpPr/>
            <p:nvPr/>
          </p:nvSpPr>
          <p:spPr>
            <a:xfrm>
              <a:off x="5232735" y="571179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sp>
        <p:nvSpPr>
          <p:cNvPr id="2" name="Title 1">
            <a:extLst>
              <a:ext uri="{FF2B5EF4-FFF2-40B4-BE49-F238E27FC236}">
                <a16:creationId xmlns:a16="http://schemas.microsoft.com/office/drawing/2014/main" id="{D6EF36B4-4AB9-C053-84BB-6290B76BBDF0}"/>
              </a:ext>
            </a:extLst>
          </p:cNvPr>
          <p:cNvSpPr>
            <a:spLocks noGrp="1"/>
          </p:cNvSpPr>
          <p:nvPr>
            <p:ph type="ctrTitle"/>
          </p:nvPr>
        </p:nvSpPr>
        <p:spPr>
          <a:xfrm>
            <a:off x="1517650" y="1687513"/>
            <a:ext cx="3473450" cy="2135187"/>
          </a:xfrm>
        </p:spPr>
        <p:txBody>
          <a:bodyPr anchor="t" anchorCtr="0">
            <a:normAutofit/>
          </a:bodyPr>
          <a:lstStyle>
            <a:lvl1pPr algn="l">
              <a:defRPr sz="3800">
                <a:solidFill>
                  <a:schemeClr val="bg1"/>
                </a:solidFill>
              </a:defRPr>
            </a:lvl1pPr>
          </a:lstStyle>
          <a:p>
            <a:r>
              <a:rPr lang="en-US"/>
              <a:t>Click to edit Master title style</a:t>
            </a:r>
          </a:p>
        </p:txBody>
      </p:sp>
      <p:sp>
        <p:nvSpPr>
          <p:cNvPr id="6" name="Freeform: Shape 54">
            <a:extLst>
              <a:ext uri="{FF2B5EF4-FFF2-40B4-BE49-F238E27FC236}">
                <a16:creationId xmlns:a16="http://schemas.microsoft.com/office/drawing/2014/main" id="{691EE3B5-4FBC-06F7-34D9-6D9EF2ABF31C}"/>
              </a:ext>
            </a:extLst>
          </p:cNvPr>
          <p:cNvSpPr/>
          <p:nvPr userDrawn="1"/>
        </p:nvSpPr>
        <p:spPr>
          <a:xfrm>
            <a:off x="187081" y="6647561"/>
            <a:ext cx="62839" cy="62839"/>
          </a:xfrm>
          <a:custGeom>
            <a:avLst/>
            <a:gdLst>
              <a:gd name="connsiteX0" fmla="*/ 57879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9 w 62839"/>
              <a:gd name="connsiteY6" fmla="*/ 8650 h 62839"/>
              <a:gd name="connsiteX7" fmla="*/ 57879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9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9" y="0"/>
                </a:moveTo>
                <a:lnTo>
                  <a:pt x="0" y="0"/>
                </a:lnTo>
                <a:lnTo>
                  <a:pt x="5088" y="5088"/>
                </a:lnTo>
                <a:lnTo>
                  <a:pt x="54317" y="5088"/>
                </a:lnTo>
                <a:lnTo>
                  <a:pt x="127" y="59278"/>
                </a:lnTo>
                <a:lnTo>
                  <a:pt x="3689" y="62840"/>
                </a:lnTo>
                <a:lnTo>
                  <a:pt x="57879" y="8650"/>
                </a:lnTo>
                <a:lnTo>
                  <a:pt x="57879" y="58133"/>
                </a:lnTo>
                <a:lnTo>
                  <a:pt x="62840" y="62712"/>
                </a:lnTo>
                <a:lnTo>
                  <a:pt x="62840" y="5088"/>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 name="Slide Number Placeholder 5">
            <a:extLst>
              <a:ext uri="{FF2B5EF4-FFF2-40B4-BE49-F238E27FC236}">
                <a16:creationId xmlns:a16="http://schemas.microsoft.com/office/drawing/2014/main" id="{C1CBBB2E-C622-2202-821E-E3FA8E3F4FA5}"/>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
        <p:nvSpPr>
          <p:cNvPr id="4" name="Content Placeholder 2">
            <a:extLst>
              <a:ext uri="{FF2B5EF4-FFF2-40B4-BE49-F238E27FC236}">
                <a16:creationId xmlns:a16="http://schemas.microsoft.com/office/drawing/2014/main" id="{68E2E9A8-DE4D-0203-CFA0-6C98829EE226}"/>
              </a:ext>
            </a:extLst>
          </p:cNvPr>
          <p:cNvSpPr>
            <a:spLocks noGrp="1"/>
          </p:cNvSpPr>
          <p:nvPr>
            <p:ph idx="1"/>
          </p:nvPr>
        </p:nvSpPr>
        <p:spPr>
          <a:xfrm>
            <a:off x="7200902" y="517794"/>
            <a:ext cx="4070350" cy="5727120"/>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a:extLst>
              <a:ext uri="{FF2B5EF4-FFF2-40B4-BE49-F238E27FC236}">
                <a16:creationId xmlns:a16="http://schemas.microsoft.com/office/drawing/2014/main" id="{9FEC4438-1B2B-FCD7-77A7-439739D13000}"/>
              </a:ext>
            </a:extLst>
          </p:cNvPr>
          <p:cNvSpPr>
            <a:spLocks noGrp="1"/>
          </p:cNvSpPr>
          <p:nvPr>
            <p:ph idx="11"/>
          </p:nvPr>
        </p:nvSpPr>
        <p:spPr>
          <a:xfrm>
            <a:off x="197600" y="126326"/>
            <a:ext cx="6212576" cy="278735"/>
          </a:xfrm>
        </p:spPr>
        <p:txBody>
          <a:bodyPr numCol="1" spcCol="0">
            <a:noAutofit/>
          </a:bodyPr>
          <a:lstStyle>
            <a:lvl1pPr>
              <a:spcBef>
                <a:spcPts val="300"/>
              </a:spcBef>
              <a:spcAft>
                <a:spcPts val="300"/>
              </a:spcAft>
              <a:defRPr sz="9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Tree>
    <p:extLst>
      <p:ext uri="{BB962C8B-B14F-4D97-AF65-F5344CB8AC3E}">
        <p14:creationId xmlns:p14="http://schemas.microsoft.com/office/powerpoint/2010/main" val="26127786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 White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Picture Placeholder 4">
            <a:extLst>
              <a:ext uri="{FF2B5EF4-FFF2-40B4-BE49-F238E27FC236}">
                <a16:creationId xmlns:a16="http://schemas.microsoft.com/office/drawing/2014/main" id="{DF29F394-EC6E-8834-E179-A8033F8FD8B2}"/>
              </a:ext>
            </a:extLst>
          </p:cNvPr>
          <p:cNvSpPr>
            <a:spLocks noGrp="1"/>
          </p:cNvSpPr>
          <p:nvPr>
            <p:ph type="pic" sz="quarter" idx="10"/>
          </p:nvPr>
        </p:nvSpPr>
        <p:spPr>
          <a:xfrm>
            <a:off x="10414000" y="0"/>
            <a:ext cx="1778000" cy="6858000"/>
          </a:xfrm>
        </p:spPr>
        <p:txBody>
          <a:bodyPr/>
          <a:lstStyle/>
          <a:p>
            <a:endParaRPr lang="en-US" dirty="0"/>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4192020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Content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0886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Title and Content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54759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 White arrow ba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FA23F0C-1911-661A-FC9B-A27C1F305449}"/>
              </a:ext>
            </a:extLst>
          </p:cNvPr>
          <p:cNvSpPr/>
          <p:nvPr userDrawn="1"/>
        </p:nvSpPr>
        <p:spPr>
          <a:xfrm>
            <a:off x="11267090" y="0"/>
            <a:ext cx="92491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grpSp>
        <p:nvGrpSpPr>
          <p:cNvPr id="7" name="Group 6">
            <a:extLst>
              <a:ext uri="{FF2B5EF4-FFF2-40B4-BE49-F238E27FC236}">
                <a16:creationId xmlns:a16="http://schemas.microsoft.com/office/drawing/2014/main" id="{FE88A30F-9265-BCE3-A615-A4C5CBA83D7F}"/>
              </a:ext>
            </a:extLst>
          </p:cNvPr>
          <p:cNvGrpSpPr/>
          <p:nvPr userDrawn="1"/>
        </p:nvGrpSpPr>
        <p:grpSpPr>
          <a:xfrm>
            <a:off x="10701084" y="97530"/>
            <a:ext cx="1493520" cy="6760470"/>
            <a:chOff x="10701084" y="97530"/>
            <a:chExt cx="1493520" cy="6760470"/>
          </a:xfrm>
        </p:grpSpPr>
        <p:grpSp>
          <p:nvGrpSpPr>
            <p:cNvPr id="8" name="Group 7">
              <a:extLst>
                <a:ext uri="{FF2B5EF4-FFF2-40B4-BE49-F238E27FC236}">
                  <a16:creationId xmlns:a16="http://schemas.microsoft.com/office/drawing/2014/main" id="{1888CD4B-7FA4-A02E-F15D-75A3248EC872}"/>
                </a:ext>
              </a:extLst>
            </p:cNvPr>
            <p:cNvGrpSpPr/>
            <p:nvPr/>
          </p:nvGrpSpPr>
          <p:grpSpPr>
            <a:xfrm>
              <a:off x="10787679" y="97530"/>
              <a:ext cx="1264298" cy="1005053"/>
              <a:chOff x="8867133" y="-492224"/>
              <a:chExt cx="1264298" cy="1005053"/>
            </a:xfrm>
          </p:grpSpPr>
          <p:sp>
            <p:nvSpPr>
              <p:cNvPr id="163" name="Freeform: Shape 131">
                <a:extLst>
                  <a:ext uri="{FF2B5EF4-FFF2-40B4-BE49-F238E27FC236}">
                    <a16:creationId xmlns:a16="http://schemas.microsoft.com/office/drawing/2014/main" id="{56B6B97A-4291-8C8E-2133-DCE9BFB369C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4" name="Freeform: Shape 132">
                <a:extLst>
                  <a:ext uri="{FF2B5EF4-FFF2-40B4-BE49-F238E27FC236}">
                    <a16:creationId xmlns:a16="http://schemas.microsoft.com/office/drawing/2014/main" id="{9BD29A5B-A2C9-79C3-62EA-DF67CEACA78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5" name="Freeform: Shape 133">
                <a:extLst>
                  <a:ext uri="{FF2B5EF4-FFF2-40B4-BE49-F238E27FC236}">
                    <a16:creationId xmlns:a16="http://schemas.microsoft.com/office/drawing/2014/main" id="{5F8094F7-DE68-381A-4345-11DA72CDEB5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6" name="Freeform: Shape 134">
                <a:extLst>
                  <a:ext uri="{FF2B5EF4-FFF2-40B4-BE49-F238E27FC236}">
                    <a16:creationId xmlns:a16="http://schemas.microsoft.com/office/drawing/2014/main" id="{8A2958D4-6C2A-5AF5-B498-0F6CA9122759}"/>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67" name="Freeform: Shape 135">
                <a:extLst>
                  <a:ext uri="{FF2B5EF4-FFF2-40B4-BE49-F238E27FC236}">
                    <a16:creationId xmlns:a16="http://schemas.microsoft.com/office/drawing/2014/main" id="{67CE069C-5EF1-96EF-C09E-6C40CC733291}"/>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8" name="Freeform: Shape 136">
                <a:extLst>
                  <a:ext uri="{FF2B5EF4-FFF2-40B4-BE49-F238E27FC236}">
                    <a16:creationId xmlns:a16="http://schemas.microsoft.com/office/drawing/2014/main" id="{EDB14819-E4FD-5089-9679-A257326AA7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69" name="Freeform: Shape 137">
                <a:extLst>
                  <a:ext uri="{FF2B5EF4-FFF2-40B4-BE49-F238E27FC236}">
                    <a16:creationId xmlns:a16="http://schemas.microsoft.com/office/drawing/2014/main" id="{0B35647A-9CB2-65AD-2CF8-974B14DB973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0" name="Freeform: Shape 138">
                <a:extLst>
                  <a:ext uri="{FF2B5EF4-FFF2-40B4-BE49-F238E27FC236}">
                    <a16:creationId xmlns:a16="http://schemas.microsoft.com/office/drawing/2014/main" id="{ED9397FD-B0E3-782D-95F1-A136B033917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1" name="Freeform: Shape 139">
                <a:extLst>
                  <a:ext uri="{FF2B5EF4-FFF2-40B4-BE49-F238E27FC236}">
                    <a16:creationId xmlns:a16="http://schemas.microsoft.com/office/drawing/2014/main" id="{F1CB5C14-5128-09B1-9870-42A50C1D42C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2" name="Freeform: Shape 140">
                <a:extLst>
                  <a:ext uri="{FF2B5EF4-FFF2-40B4-BE49-F238E27FC236}">
                    <a16:creationId xmlns:a16="http://schemas.microsoft.com/office/drawing/2014/main" id="{DB3DB1EF-FA16-5A3F-3B45-071DA4A7BE47}"/>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3" name="Freeform: Shape 141">
                <a:extLst>
                  <a:ext uri="{FF2B5EF4-FFF2-40B4-BE49-F238E27FC236}">
                    <a16:creationId xmlns:a16="http://schemas.microsoft.com/office/drawing/2014/main" id="{CC54C7CE-404C-E167-664F-BF70A5EA14C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4" name="Freeform: Shape 142">
                <a:extLst>
                  <a:ext uri="{FF2B5EF4-FFF2-40B4-BE49-F238E27FC236}">
                    <a16:creationId xmlns:a16="http://schemas.microsoft.com/office/drawing/2014/main" id="{3D72C6C5-C5A4-3896-9C85-678C226D2465}"/>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5" name="Freeform: Shape 143">
                <a:extLst>
                  <a:ext uri="{FF2B5EF4-FFF2-40B4-BE49-F238E27FC236}">
                    <a16:creationId xmlns:a16="http://schemas.microsoft.com/office/drawing/2014/main" id="{F7D6502B-F2CC-DC0F-6F08-CD7ED298CB47}"/>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6" name="Freeform: Shape 144">
                <a:extLst>
                  <a:ext uri="{FF2B5EF4-FFF2-40B4-BE49-F238E27FC236}">
                    <a16:creationId xmlns:a16="http://schemas.microsoft.com/office/drawing/2014/main" id="{9C07EC7B-908F-8CB9-A129-82817A7F699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7" name="Freeform: Shape 145">
                <a:extLst>
                  <a:ext uri="{FF2B5EF4-FFF2-40B4-BE49-F238E27FC236}">
                    <a16:creationId xmlns:a16="http://schemas.microsoft.com/office/drawing/2014/main" id="{949E6842-769D-A768-363B-5B48E9D824B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78" name="Freeform: Shape 146">
                <a:extLst>
                  <a:ext uri="{FF2B5EF4-FFF2-40B4-BE49-F238E27FC236}">
                    <a16:creationId xmlns:a16="http://schemas.microsoft.com/office/drawing/2014/main" id="{FC50AC8C-FDCD-8C96-EE92-FADAE78E66E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79" name="Freeform: Shape 147">
                <a:extLst>
                  <a:ext uri="{FF2B5EF4-FFF2-40B4-BE49-F238E27FC236}">
                    <a16:creationId xmlns:a16="http://schemas.microsoft.com/office/drawing/2014/main" id="{3F6A2A4F-46BE-A5E3-F6EA-5170A15152B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0" name="Freeform: Shape 148">
                <a:extLst>
                  <a:ext uri="{FF2B5EF4-FFF2-40B4-BE49-F238E27FC236}">
                    <a16:creationId xmlns:a16="http://schemas.microsoft.com/office/drawing/2014/main" id="{EBEC3D6D-F6F5-7181-3879-BCA7F76FDB49}"/>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1" name="Freeform: Shape 149">
                <a:extLst>
                  <a:ext uri="{FF2B5EF4-FFF2-40B4-BE49-F238E27FC236}">
                    <a16:creationId xmlns:a16="http://schemas.microsoft.com/office/drawing/2014/main" id="{C13EA495-B33A-EEC9-F969-AC17EE4FC0CD}"/>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2" name="Freeform: Shape 150">
                <a:extLst>
                  <a:ext uri="{FF2B5EF4-FFF2-40B4-BE49-F238E27FC236}">
                    <a16:creationId xmlns:a16="http://schemas.microsoft.com/office/drawing/2014/main" id="{66E3145D-F4C8-9EF6-62E2-052167233FFF}"/>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3" name="Freeform: Shape 151">
                <a:extLst>
                  <a:ext uri="{FF2B5EF4-FFF2-40B4-BE49-F238E27FC236}">
                    <a16:creationId xmlns:a16="http://schemas.microsoft.com/office/drawing/2014/main" id="{0BA1163B-D982-6E2C-0F43-6F30E3E3824C}"/>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4" name="Freeform: Shape 152">
                <a:extLst>
                  <a:ext uri="{FF2B5EF4-FFF2-40B4-BE49-F238E27FC236}">
                    <a16:creationId xmlns:a16="http://schemas.microsoft.com/office/drawing/2014/main" id="{7FF982EA-4082-B680-53E8-42DB03DC0E23}"/>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85" name="Freeform: Shape 153">
                <a:extLst>
                  <a:ext uri="{FF2B5EF4-FFF2-40B4-BE49-F238E27FC236}">
                    <a16:creationId xmlns:a16="http://schemas.microsoft.com/office/drawing/2014/main" id="{3DC9F143-8148-43AE-6F69-ACD4FD11B727}"/>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6" name="Freeform: Shape 154">
                <a:extLst>
                  <a:ext uri="{FF2B5EF4-FFF2-40B4-BE49-F238E27FC236}">
                    <a16:creationId xmlns:a16="http://schemas.microsoft.com/office/drawing/2014/main" id="{964E931C-EE88-D315-4907-863EA95A25ED}"/>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87" name="Freeform: Shape 155">
                <a:extLst>
                  <a:ext uri="{FF2B5EF4-FFF2-40B4-BE49-F238E27FC236}">
                    <a16:creationId xmlns:a16="http://schemas.microsoft.com/office/drawing/2014/main" id="{5A08AB21-80C4-D56B-B127-CF280BF371DD}"/>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88" name="Freeform: Shape 156">
                <a:extLst>
                  <a:ext uri="{FF2B5EF4-FFF2-40B4-BE49-F238E27FC236}">
                    <a16:creationId xmlns:a16="http://schemas.microsoft.com/office/drawing/2014/main" id="{DF0184FC-6011-94BE-57F3-8B614267718F}"/>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89" name="Freeform: Shape 157">
                <a:extLst>
                  <a:ext uri="{FF2B5EF4-FFF2-40B4-BE49-F238E27FC236}">
                    <a16:creationId xmlns:a16="http://schemas.microsoft.com/office/drawing/2014/main" id="{A929F709-F2DF-E0CB-1806-9F3FFC48298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90" name="Freeform: Shape 158">
                <a:extLst>
                  <a:ext uri="{FF2B5EF4-FFF2-40B4-BE49-F238E27FC236}">
                    <a16:creationId xmlns:a16="http://schemas.microsoft.com/office/drawing/2014/main" id="{E0596825-A9E1-2E01-0F2B-E05D485DC54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1" name="Freeform: Shape 159">
                <a:extLst>
                  <a:ext uri="{FF2B5EF4-FFF2-40B4-BE49-F238E27FC236}">
                    <a16:creationId xmlns:a16="http://schemas.microsoft.com/office/drawing/2014/main" id="{7034EA74-C26A-1C55-865A-849AC1CCEF4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92" name="Freeform: Shape 160">
                <a:extLst>
                  <a:ext uri="{FF2B5EF4-FFF2-40B4-BE49-F238E27FC236}">
                    <a16:creationId xmlns:a16="http://schemas.microsoft.com/office/drawing/2014/main" id="{50B59498-F10C-EE70-EE6E-786EE4F9A83D}"/>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9" name="Group 8">
              <a:extLst>
                <a:ext uri="{FF2B5EF4-FFF2-40B4-BE49-F238E27FC236}">
                  <a16:creationId xmlns:a16="http://schemas.microsoft.com/office/drawing/2014/main" id="{0F6DAF68-D073-21C0-20B7-AFB7F0F6C27A}"/>
                </a:ext>
              </a:extLst>
            </p:cNvPr>
            <p:cNvGrpSpPr/>
            <p:nvPr/>
          </p:nvGrpSpPr>
          <p:grpSpPr>
            <a:xfrm>
              <a:off x="10787679" y="1260775"/>
              <a:ext cx="1264298" cy="1005053"/>
              <a:chOff x="8867133" y="-492224"/>
              <a:chExt cx="1264298" cy="1005053"/>
            </a:xfrm>
          </p:grpSpPr>
          <p:sp>
            <p:nvSpPr>
              <p:cNvPr id="133" name="Freeform: Shape 131">
                <a:extLst>
                  <a:ext uri="{FF2B5EF4-FFF2-40B4-BE49-F238E27FC236}">
                    <a16:creationId xmlns:a16="http://schemas.microsoft.com/office/drawing/2014/main" id="{520CB969-C85C-AAD1-71B8-0653FD5E0A56}"/>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4" name="Freeform: Shape 132">
                <a:extLst>
                  <a:ext uri="{FF2B5EF4-FFF2-40B4-BE49-F238E27FC236}">
                    <a16:creationId xmlns:a16="http://schemas.microsoft.com/office/drawing/2014/main" id="{332CDA43-1BC7-D15E-6372-E35F24C12F24}"/>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5" name="Freeform: Shape 133">
                <a:extLst>
                  <a:ext uri="{FF2B5EF4-FFF2-40B4-BE49-F238E27FC236}">
                    <a16:creationId xmlns:a16="http://schemas.microsoft.com/office/drawing/2014/main" id="{A8322AA3-A0E2-8FA9-4907-62AA83F5925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6" name="Freeform: Shape 134">
                <a:extLst>
                  <a:ext uri="{FF2B5EF4-FFF2-40B4-BE49-F238E27FC236}">
                    <a16:creationId xmlns:a16="http://schemas.microsoft.com/office/drawing/2014/main" id="{CD2E92E2-A6A5-421E-07EC-67510C893E8E}"/>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37" name="Freeform: Shape 135">
                <a:extLst>
                  <a:ext uri="{FF2B5EF4-FFF2-40B4-BE49-F238E27FC236}">
                    <a16:creationId xmlns:a16="http://schemas.microsoft.com/office/drawing/2014/main" id="{7C5136ED-9271-FEB3-E689-E74DB07EE59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8" name="Freeform: Shape 136">
                <a:extLst>
                  <a:ext uri="{FF2B5EF4-FFF2-40B4-BE49-F238E27FC236}">
                    <a16:creationId xmlns:a16="http://schemas.microsoft.com/office/drawing/2014/main" id="{6946669F-5EB3-B6C3-FDF9-0682F9E8512B}"/>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39" name="Freeform: Shape 137">
                <a:extLst>
                  <a:ext uri="{FF2B5EF4-FFF2-40B4-BE49-F238E27FC236}">
                    <a16:creationId xmlns:a16="http://schemas.microsoft.com/office/drawing/2014/main" id="{CAEB37A5-447D-5E34-AD4E-F562D57F8F0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0" name="Freeform: Shape 138">
                <a:extLst>
                  <a:ext uri="{FF2B5EF4-FFF2-40B4-BE49-F238E27FC236}">
                    <a16:creationId xmlns:a16="http://schemas.microsoft.com/office/drawing/2014/main" id="{CBEEA2A6-29CB-213B-2958-258B8E97770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1" name="Freeform: Shape 139">
                <a:extLst>
                  <a:ext uri="{FF2B5EF4-FFF2-40B4-BE49-F238E27FC236}">
                    <a16:creationId xmlns:a16="http://schemas.microsoft.com/office/drawing/2014/main" id="{DCD09A83-EA0C-C69A-939F-14808EDD763B}"/>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2" name="Freeform: Shape 140">
                <a:extLst>
                  <a:ext uri="{FF2B5EF4-FFF2-40B4-BE49-F238E27FC236}">
                    <a16:creationId xmlns:a16="http://schemas.microsoft.com/office/drawing/2014/main" id="{E186D42B-2A6D-65B1-7BDE-A61252FB616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3" name="Freeform: Shape 141">
                <a:extLst>
                  <a:ext uri="{FF2B5EF4-FFF2-40B4-BE49-F238E27FC236}">
                    <a16:creationId xmlns:a16="http://schemas.microsoft.com/office/drawing/2014/main" id="{D07BEF57-FCC0-DD8D-862B-C01D2B9CDC2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4" name="Freeform: Shape 142">
                <a:extLst>
                  <a:ext uri="{FF2B5EF4-FFF2-40B4-BE49-F238E27FC236}">
                    <a16:creationId xmlns:a16="http://schemas.microsoft.com/office/drawing/2014/main" id="{1500FAB2-AA7D-C39D-63C4-C9BA6F24543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5" name="Freeform: Shape 143">
                <a:extLst>
                  <a:ext uri="{FF2B5EF4-FFF2-40B4-BE49-F238E27FC236}">
                    <a16:creationId xmlns:a16="http://schemas.microsoft.com/office/drawing/2014/main" id="{FEEF5E23-9D10-1818-941F-F885CED3128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6" name="Freeform: Shape 144">
                <a:extLst>
                  <a:ext uri="{FF2B5EF4-FFF2-40B4-BE49-F238E27FC236}">
                    <a16:creationId xmlns:a16="http://schemas.microsoft.com/office/drawing/2014/main" id="{3CF334B8-EF72-1F48-987D-E73318B91E93}"/>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7" name="Freeform: Shape 145">
                <a:extLst>
                  <a:ext uri="{FF2B5EF4-FFF2-40B4-BE49-F238E27FC236}">
                    <a16:creationId xmlns:a16="http://schemas.microsoft.com/office/drawing/2014/main" id="{27E4791C-B151-C8B9-64FC-D9D6C772A29E}"/>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48" name="Freeform: Shape 146">
                <a:extLst>
                  <a:ext uri="{FF2B5EF4-FFF2-40B4-BE49-F238E27FC236}">
                    <a16:creationId xmlns:a16="http://schemas.microsoft.com/office/drawing/2014/main" id="{70555BFE-5550-992E-5191-4DA466F2E001}"/>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49" name="Freeform: Shape 147">
                <a:extLst>
                  <a:ext uri="{FF2B5EF4-FFF2-40B4-BE49-F238E27FC236}">
                    <a16:creationId xmlns:a16="http://schemas.microsoft.com/office/drawing/2014/main" id="{AEF54566-4562-FC20-0DB1-809E3791A91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0" name="Freeform: Shape 148">
                <a:extLst>
                  <a:ext uri="{FF2B5EF4-FFF2-40B4-BE49-F238E27FC236}">
                    <a16:creationId xmlns:a16="http://schemas.microsoft.com/office/drawing/2014/main" id="{A0AC34BE-C0C6-49D1-2EB6-8AD514D26792}"/>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1" name="Freeform: Shape 149">
                <a:extLst>
                  <a:ext uri="{FF2B5EF4-FFF2-40B4-BE49-F238E27FC236}">
                    <a16:creationId xmlns:a16="http://schemas.microsoft.com/office/drawing/2014/main" id="{9FD45D6F-FF68-4162-E44F-796F199F5F8E}"/>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2" name="Freeform: Shape 150">
                <a:extLst>
                  <a:ext uri="{FF2B5EF4-FFF2-40B4-BE49-F238E27FC236}">
                    <a16:creationId xmlns:a16="http://schemas.microsoft.com/office/drawing/2014/main" id="{DE31656C-78D4-B214-39D1-94D2B2AADCC4}"/>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3" name="Freeform: Shape 151">
                <a:extLst>
                  <a:ext uri="{FF2B5EF4-FFF2-40B4-BE49-F238E27FC236}">
                    <a16:creationId xmlns:a16="http://schemas.microsoft.com/office/drawing/2014/main" id="{B968E7FA-4B62-9B0E-1CAD-EAD7F545447A}"/>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4" name="Freeform: Shape 152">
                <a:extLst>
                  <a:ext uri="{FF2B5EF4-FFF2-40B4-BE49-F238E27FC236}">
                    <a16:creationId xmlns:a16="http://schemas.microsoft.com/office/drawing/2014/main" id="{F687CE48-2731-7EF3-58F4-1EEC38F77E4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55" name="Freeform: Shape 153">
                <a:extLst>
                  <a:ext uri="{FF2B5EF4-FFF2-40B4-BE49-F238E27FC236}">
                    <a16:creationId xmlns:a16="http://schemas.microsoft.com/office/drawing/2014/main" id="{B3B9572D-83B3-A012-EAA8-C6AA68AF233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6" name="Freeform: Shape 154">
                <a:extLst>
                  <a:ext uri="{FF2B5EF4-FFF2-40B4-BE49-F238E27FC236}">
                    <a16:creationId xmlns:a16="http://schemas.microsoft.com/office/drawing/2014/main" id="{6699C170-539E-0164-76B7-090E2703349F}"/>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57" name="Freeform: Shape 155">
                <a:extLst>
                  <a:ext uri="{FF2B5EF4-FFF2-40B4-BE49-F238E27FC236}">
                    <a16:creationId xmlns:a16="http://schemas.microsoft.com/office/drawing/2014/main" id="{FF93B785-F15C-DB38-D0B7-A43F181CF782}"/>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58" name="Freeform: Shape 156">
                <a:extLst>
                  <a:ext uri="{FF2B5EF4-FFF2-40B4-BE49-F238E27FC236}">
                    <a16:creationId xmlns:a16="http://schemas.microsoft.com/office/drawing/2014/main" id="{A890194D-09B1-5713-0046-E676BD8DD62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59" name="Freeform: Shape 157">
                <a:extLst>
                  <a:ext uri="{FF2B5EF4-FFF2-40B4-BE49-F238E27FC236}">
                    <a16:creationId xmlns:a16="http://schemas.microsoft.com/office/drawing/2014/main" id="{52C3C080-52DB-8623-94C1-99B1C5433814}"/>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60" name="Freeform: Shape 158">
                <a:extLst>
                  <a:ext uri="{FF2B5EF4-FFF2-40B4-BE49-F238E27FC236}">
                    <a16:creationId xmlns:a16="http://schemas.microsoft.com/office/drawing/2014/main" id="{0764D90B-B992-2851-7FB3-A40B779C9AF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1" name="Freeform: Shape 159">
                <a:extLst>
                  <a:ext uri="{FF2B5EF4-FFF2-40B4-BE49-F238E27FC236}">
                    <a16:creationId xmlns:a16="http://schemas.microsoft.com/office/drawing/2014/main" id="{4DD70F15-0946-8C90-D7A7-C2EA1125AAE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62" name="Freeform: Shape 160">
                <a:extLst>
                  <a:ext uri="{FF2B5EF4-FFF2-40B4-BE49-F238E27FC236}">
                    <a16:creationId xmlns:a16="http://schemas.microsoft.com/office/drawing/2014/main" id="{B82C1C03-D64D-AC6A-748C-9B2124EE6218}"/>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0" name="Group 9">
              <a:extLst>
                <a:ext uri="{FF2B5EF4-FFF2-40B4-BE49-F238E27FC236}">
                  <a16:creationId xmlns:a16="http://schemas.microsoft.com/office/drawing/2014/main" id="{1F7255A2-752F-85BD-BADD-256B41ED5BB6}"/>
                </a:ext>
              </a:extLst>
            </p:cNvPr>
            <p:cNvGrpSpPr/>
            <p:nvPr/>
          </p:nvGrpSpPr>
          <p:grpSpPr>
            <a:xfrm>
              <a:off x="10787679" y="2413972"/>
              <a:ext cx="1264298" cy="1005053"/>
              <a:chOff x="8867133" y="-492224"/>
              <a:chExt cx="1264298" cy="1005053"/>
            </a:xfrm>
          </p:grpSpPr>
          <p:sp>
            <p:nvSpPr>
              <p:cNvPr id="103" name="Freeform: Shape 131">
                <a:extLst>
                  <a:ext uri="{FF2B5EF4-FFF2-40B4-BE49-F238E27FC236}">
                    <a16:creationId xmlns:a16="http://schemas.microsoft.com/office/drawing/2014/main" id="{2EA77D5A-7469-D1AB-AF1D-52E8E5B0631A}"/>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4" name="Freeform: Shape 132">
                <a:extLst>
                  <a:ext uri="{FF2B5EF4-FFF2-40B4-BE49-F238E27FC236}">
                    <a16:creationId xmlns:a16="http://schemas.microsoft.com/office/drawing/2014/main" id="{67780946-836D-EE96-E09D-8AC4B30016A0}"/>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5" name="Freeform: Shape 133">
                <a:extLst>
                  <a:ext uri="{FF2B5EF4-FFF2-40B4-BE49-F238E27FC236}">
                    <a16:creationId xmlns:a16="http://schemas.microsoft.com/office/drawing/2014/main" id="{A0E4A56D-06C9-FADE-8C06-59D92FF4A29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6" name="Freeform: Shape 134">
                <a:extLst>
                  <a:ext uri="{FF2B5EF4-FFF2-40B4-BE49-F238E27FC236}">
                    <a16:creationId xmlns:a16="http://schemas.microsoft.com/office/drawing/2014/main" id="{CC26B048-C071-BD27-D439-C7FAECF15DE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07" name="Freeform: Shape 135">
                <a:extLst>
                  <a:ext uri="{FF2B5EF4-FFF2-40B4-BE49-F238E27FC236}">
                    <a16:creationId xmlns:a16="http://schemas.microsoft.com/office/drawing/2014/main" id="{1370A7F9-121F-EF4C-1CA9-333A4024D97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8" name="Freeform: Shape 136">
                <a:extLst>
                  <a:ext uri="{FF2B5EF4-FFF2-40B4-BE49-F238E27FC236}">
                    <a16:creationId xmlns:a16="http://schemas.microsoft.com/office/drawing/2014/main" id="{D2005AFE-C8E5-9B26-B3C0-0EE3E2EA46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09" name="Freeform: Shape 137">
                <a:extLst>
                  <a:ext uri="{FF2B5EF4-FFF2-40B4-BE49-F238E27FC236}">
                    <a16:creationId xmlns:a16="http://schemas.microsoft.com/office/drawing/2014/main" id="{75A320E4-B9D5-B37A-2321-D7BD826CE3F2}"/>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0" name="Freeform: Shape 138">
                <a:extLst>
                  <a:ext uri="{FF2B5EF4-FFF2-40B4-BE49-F238E27FC236}">
                    <a16:creationId xmlns:a16="http://schemas.microsoft.com/office/drawing/2014/main" id="{1B426086-3F8C-A735-F1FD-BDB2E4DDC2E4}"/>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1" name="Freeform: Shape 139">
                <a:extLst>
                  <a:ext uri="{FF2B5EF4-FFF2-40B4-BE49-F238E27FC236}">
                    <a16:creationId xmlns:a16="http://schemas.microsoft.com/office/drawing/2014/main" id="{69365EBB-9388-36ED-9AFD-212349C40F24}"/>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2" name="Freeform: Shape 140">
                <a:extLst>
                  <a:ext uri="{FF2B5EF4-FFF2-40B4-BE49-F238E27FC236}">
                    <a16:creationId xmlns:a16="http://schemas.microsoft.com/office/drawing/2014/main" id="{A346490D-DD83-4C5E-66D2-F11AAC405025}"/>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3" name="Freeform: Shape 141">
                <a:extLst>
                  <a:ext uri="{FF2B5EF4-FFF2-40B4-BE49-F238E27FC236}">
                    <a16:creationId xmlns:a16="http://schemas.microsoft.com/office/drawing/2014/main" id="{20B6EFDA-9E1F-0F19-BDFC-B2EE2C3C474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4" name="Freeform: Shape 142">
                <a:extLst>
                  <a:ext uri="{FF2B5EF4-FFF2-40B4-BE49-F238E27FC236}">
                    <a16:creationId xmlns:a16="http://schemas.microsoft.com/office/drawing/2014/main" id="{1978A77E-9036-2240-53B2-DDDB4C0AB712}"/>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5" name="Freeform: Shape 143">
                <a:extLst>
                  <a:ext uri="{FF2B5EF4-FFF2-40B4-BE49-F238E27FC236}">
                    <a16:creationId xmlns:a16="http://schemas.microsoft.com/office/drawing/2014/main" id="{33335B9D-B51B-0DAA-348D-46CCB8945981}"/>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6" name="Freeform: Shape 144">
                <a:extLst>
                  <a:ext uri="{FF2B5EF4-FFF2-40B4-BE49-F238E27FC236}">
                    <a16:creationId xmlns:a16="http://schemas.microsoft.com/office/drawing/2014/main" id="{A91E8A9E-DDAE-0C78-7988-B20D051F7B22}"/>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7" name="Freeform: Shape 145">
                <a:extLst>
                  <a:ext uri="{FF2B5EF4-FFF2-40B4-BE49-F238E27FC236}">
                    <a16:creationId xmlns:a16="http://schemas.microsoft.com/office/drawing/2014/main" id="{C5008E07-F04C-E323-B702-27F33C81D615}"/>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18" name="Freeform: Shape 146">
                <a:extLst>
                  <a:ext uri="{FF2B5EF4-FFF2-40B4-BE49-F238E27FC236}">
                    <a16:creationId xmlns:a16="http://schemas.microsoft.com/office/drawing/2014/main" id="{9EF0C182-1AF9-699F-BA0F-C1A36B46A65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19" name="Freeform: Shape 147">
                <a:extLst>
                  <a:ext uri="{FF2B5EF4-FFF2-40B4-BE49-F238E27FC236}">
                    <a16:creationId xmlns:a16="http://schemas.microsoft.com/office/drawing/2014/main" id="{2FF54546-0B2C-A919-56C2-82983C5532FB}"/>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0" name="Freeform: Shape 148">
                <a:extLst>
                  <a:ext uri="{FF2B5EF4-FFF2-40B4-BE49-F238E27FC236}">
                    <a16:creationId xmlns:a16="http://schemas.microsoft.com/office/drawing/2014/main" id="{752F0D6D-D942-DFA4-F692-04C05077CEC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1" name="Freeform: Shape 149">
                <a:extLst>
                  <a:ext uri="{FF2B5EF4-FFF2-40B4-BE49-F238E27FC236}">
                    <a16:creationId xmlns:a16="http://schemas.microsoft.com/office/drawing/2014/main" id="{EB28515A-50A3-2D24-8056-CF69709A52D9}"/>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2" name="Freeform: Shape 150">
                <a:extLst>
                  <a:ext uri="{FF2B5EF4-FFF2-40B4-BE49-F238E27FC236}">
                    <a16:creationId xmlns:a16="http://schemas.microsoft.com/office/drawing/2014/main" id="{175FEC2C-2712-ED8A-06E6-E06D42C38D61}"/>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3" name="Freeform: Shape 151">
                <a:extLst>
                  <a:ext uri="{FF2B5EF4-FFF2-40B4-BE49-F238E27FC236}">
                    <a16:creationId xmlns:a16="http://schemas.microsoft.com/office/drawing/2014/main" id="{FE6F5A0C-3C2F-A528-7063-7D65EC72530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4" name="Freeform: Shape 152">
                <a:extLst>
                  <a:ext uri="{FF2B5EF4-FFF2-40B4-BE49-F238E27FC236}">
                    <a16:creationId xmlns:a16="http://schemas.microsoft.com/office/drawing/2014/main" id="{25B2B18A-6144-1847-C5BC-B4B875964D35}"/>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125" name="Freeform: Shape 153">
                <a:extLst>
                  <a:ext uri="{FF2B5EF4-FFF2-40B4-BE49-F238E27FC236}">
                    <a16:creationId xmlns:a16="http://schemas.microsoft.com/office/drawing/2014/main" id="{8247284C-1924-6C97-9F4F-DF73F92653BB}"/>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6" name="Freeform: Shape 154">
                <a:extLst>
                  <a:ext uri="{FF2B5EF4-FFF2-40B4-BE49-F238E27FC236}">
                    <a16:creationId xmlns:a16="http://schemas.microsoft.com/office/drawing/2014/main" id="{DF01EFC6-A335-DC7E-A072-EEE5DBCCA181}"/>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127" name="Freeform: Shape 155">
                <a:extLst>
                  <a:ext uri="{FF2B5EF4-FFF2-40B4-BE49-F238E27FC236}">
                    <a16:creationId xmlns:a16="http://schemas.microsoft.com/office/drawing/2014/main" id="{7D44B5C9-535D-9087-BFD9-2DB39534DD9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28" name="Freeform: Shape 156">
                <a:extLst>
                  <a:ext uri="{FF2B5EF4-FFF2-40B4-BE49-F238E27FC236}">
                    <a16:creationId xmlns:a16="http://schemas.microsoft.com/office/drawing/2014/main" id="{36E1419E-BB62-CEDC-2BC6-533C07B7FAA3}"/>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29" name="Freeform: Shape 157">
                <a:extLst>
                  <a:ext uri="{FF2B5EF4-FFF2-40B4-BE49-F238E27FC236}">
                    <a16:creationId xmlns:a16="http://schemas.microsoft.com/office/drawing/2014/main" id="{5322FC12-FE3D-AC9D-5EDF-D437918E4869}"/>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30" name="Freeform: Shape 158">
                <a:extLst>
                  <a:ext uri="{FF2B5EF4-FFF2-40B4-BE49-F238E27FC236}">
                    <a16:creationId xmlns:a16="http://schemas.microsoft.com/office/drawing/2014/main" id="{471BAB77-EF13-49D6-627F-1CA8F380C197}"/>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1" name="Freeform: Shape 159">
                <a:extLst>
                  <a:ext uri="{FF2B5EF4-FFF2-40B4-BE49-F238E27FC236}">
                    <a16:creationId xmlns:a16="http://schemas.microsoft.com/office/drawing/2014/main" id="{0D13CE8F-E5CC-11EB-EC8C-27892F06B4C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32" name="Freeform: Shape 160">
                <a:extLst>
                  <a:ext uri="{FF2B5EF4-FFF2-40B4-BE49-F238E27FC236}">
                    <a16:creationId xmlns:a16="http://schemas.microsoft.com/office/drawing/2014/main" id="{F677A8E7-2F80-A706-3CA9-5EB654116E2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1" name="Group 10">
              <a:extLst>
                <a:ext uri="{FF2B5EF4-FFF2-40B4-BE49-F238E27FC236}">
                  <a16:creationId xmlns:a16="http://schemas.microsoft.com/office/drawing/2014/main" id="{C9E08A17-80FB-3A1F-5628-13A8CDBC5316}"/>
                </a:ext>
              </a:extLst>
            </p:cNvPr>
            <p:cNvGrpSpPr/>
            <p:nvPr/>
          </p:nvGrpSpPr>
          <p:grpSpPr>
            <a:xfrm>
              <a:off x="10787679" y="3577217"/>
              <a:ext cx="1264298" cy="1005053"/>
              <a:chOff x="8867133" y="-492224"/>
              <a:chExt cx="1264298" cy="1005053"/>
            </a:xfrm>
          </p:grpSpPr>
          <p:sp>
            <p:nvSpPr>
              <p:cNvPr id="73" name="Freeform: Shape 131">
                <a:extLst>
                  <a:ext uri="{FF2B5EF4-FFF2-40B4-BE49-F238E27FC236}">
                    <a16:creationId xmlns:a16="http://schemas.microsoft.com/office/drawing/2014/main" id="{F2022DE9-0446-F267-BC09-3AB5CD14A8D5}"/>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4" name="Freeform: Shape 132">
                <a:extLst>
                  <a:ext uri="{FF2B5EF4-FFF2-40B4-BE49-F238E27FC236}">
                    <a16:creationId xmlns:a16="http://schemas.microsoft.com/office/drawing/2014/main" id="{AE4B307A-D4CD-8C68-7DF9-A32FCE525B0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5" name="Freeform: Shape 133">
                <a:extLst>
                  <a:ext uri="{FF2B5EF4-FFF2-40B4-BE49-F238E27FC236}">
                    <a16:creationId xmlns:a16="http://schemas.microsoft.com/office/drawing/2014/main" id="{53953F62-3C04-4A22-368F-818A8B61EAB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6" name="Freeform: Shape 134">
                <a:extLst>
                  <a:ext uri="{FF2B5EF4-FFF2-40B4-BE49-F238E27FC236}">
                    <a16:creationId xmlns:a16="http://schemas.microsoft.com/office/drawing/2014/main" id="{33A2A415-976E-C4DE-9482-DFCF9E3632B0}"/>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77" name="Freeform: Shape 135">
                <a:extLst>
                  <a:ext uri="{FF2B5EF4-FFF2-40B4-BE49-F238E27FC236}">
                    <a16:creationId xmlns:a16="http://schemas.microsoft.com/office/drawing/2014/main" id="{7E75601B-6184-E09E-F3DC-04F244FED779}"/>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8" name="Freeform: Shape 136">
                <a:extLst>
                  <a:ext uri="{FF2B5EF4-FFF2-40B4-BE49-F238E27FC236}">
                    <a16:creationId xmlns:a16="http://schemas.microsoft.com/office/drawing/2014/main" id="{64292F92-E7C1-4D02-1F6B-1BE2CBF907A0}"/>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79" name="Freeform: Shape 137">
                <a:extLst>
                  <a:ext uri="{FF2B5EF4-FFF2-40B4-BE49-F238E27FC236}">
                    <a16:creationId xmlns:a16="http://schemas.microsoft.com/office/drawing/2014/main" id="{E224D295-6327-EAB1-AE41-A8CB761ABC14}"/>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0" name="Freeform: Shape 138">
                <a:extLst>
                  <a:ext uri="{FF2B5EF4-FFF2-40B4-BE49-F238E27FC236}">
                    <a16:creationId xmlns:a16="http://schemas.microsoft.com/office/drawing/2014/main" id="{2D6ED58D-F745-0BA8-D7DB-D57830C02ED8}"/>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1" name="Freeform: Shape 139">
                <a:extLst>
                  <a:ext uri="{FF2B5EF4-FFF2-40B4-BE49-F238E27FC236}">
                    <a16:creationId xmlns:a16="http://schemas.microsoft.com/office/drawing/2014/main" id="{4E010406-0BAE-28D7-9D57-4C619D8C4763}"/>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2" name="Freeform: Shape 140">
                <a:extLst>
                  <a:ext uri="{FF2B5EF4-FFF2-40B4-BE49-F238E27FC236}">
                    <a16:creationId xmlns:a16="http://schemas.microsoft.com/office/drawing/2014/main" id="{58040611-3ADF-673D-3E1F-00A55ACF5C6C}"/>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3" name="Freeform: Shape 141">
                <a:extLst>
                  <a:ext uri="{FF2B5EF4-FFF2-40B4-BE49-F238E27FC236}">
                    <a16:creationId xmlns:a16="http://schemas.microsoft.com/office/drawing/2014/main" id="{5CC06417-AB3B-8ABC-0140-FE93805C96EC}"/>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4" name="Freeform: Shape 142">
                <a:extLst>
                  <a:ext uri="{FF2B5EF4-FFF2-40B4-BE49-F238E27FC236}">
                    <a16:creationId xmlns:a16="http://schemas.microsoft.com/office/drawing/2014/main" id="{90E191B6-BDF1-9367-BBD4-8B8A8EA827F3}"/>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5" name="Freeform: Shape 143">
                <a:extLst>
                  <a:ext uri="{FF2B5EF4-FFF2-40B4-BE49-F238E27FC236}">
                    <a16:creationId xmlns:a16="http://schemas.microsoft.com/office/drawing/2014/main" id="{1E031F86-A49D-02DC-E638-56CF334795F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6" name="Freeform: Shape 144">
                <a:extLst>
                  <a:ext uri="{FF2B5EF4-FFF2-40B4-BE49-F238E27FC236}">
                    <a16:creationId xmlns:a16="http://schemas.microsoft.com/office/drawing/2014/main" id="{611B6B26-108C-79B5-9B46-DE8F7EADBA84}"/>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7" name="Freeform: Shape 145">
                <a:extLst>
                  <a:ext uri="{FF2B5EF4-FFF2-40B4-BE49-F238E27FC236}">
                    <a16:creationId xmlns:a16="http://schemas.microsoft.com/office/drawing/2014/main" id="{674966C4-D26E-F086-E35E-5AE0C859B71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88" name="Freeform: Shape 146">
                <a:extLst>
                  <a:ext uri="{FF2B5EF4-FFF2-40B4-BE49-F238E27FC236}">
                    <a16:creationId xmlns:a16="http://schemas.microsoft.com/office/drawing/2014/main" id="{59DE8EF9-BE07-9634-8230-FC6599FA2170}"/>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89" name="Freeform: Shape 147">
                <a:extLst>
                  <a:ext uri="{FF2B5EF4-FFF2-40B4-BE49-F238E27FC236}">
                    <a16:creationId xmlns:a16="http://schemas.microsoft.com/office/drawing/2014/main" id="{39BAB499-D8AA-40C8-6255-01C167727082}"/>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0" name="Freeform: Shape 148">
                <a:extLst>
                  <a:ext uri="{FF2B5EF4-FFF2-40B4-BE49-F238E27FC236}">
                    <a16:creationId xmlns:a16="http://schemas.microsoft.com/office/drawing/2014/main" id="{4AC95537-8D5F-AF0D-4634-19358EE3DC0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1" name="Freeform: Shape 149">
                <a:extLst>
                  <a:ext uri="{FF2B5EF4-FFF2-40B4-BE49-F238E27FC236}">
                    <a16:creationId xmlns:a16="http://schemas.microsoft.com/office/drawing/2014/main" id="{223FCF2F-894D-0162-2372-65A202AC8EA1}"/>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2" name="Freeform: Shape 150">
                <a:extLst>
                  <a:ext uri="{FF2B5EF4-FFF2-40B4-BE49-F238E27FC236}">
                    <a16:creationId xmlns:a16="http://schemas.microsoft.com/office/drawing/2014/main" id="{879D059A-4FA4-70AC-30E2-B32A11F7500B}"/>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3" name="Freeform: Shape 151">
                <a:extLst>
                  <a:ext uri="{FF2B5EF4-FFF2-40B4-BE49-F238E27FC236}">
                    <a16:creationId xmlns:a16="http://schemas.microsoft.com/office/drawing/2014/main" id="{B5FD4BC0-1241-C2B3-6EAE-8C1D077A421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4" name="Freeform: Shape 152">
                <a:extLst>
                  <a:ext uri="{FF2B5EF4-FFF2-40B4-BE49-F238E27FC236}">
                    <a16:creationId xmlns:a16="http://schemas.microsoft.com/office/drawing/2014/main" id="{F71D6618-3427-2A63-6D36-18931F6A64C6}"/>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95" name="Freeform: Shape 153">
                <a:extLst>
                  <a:ext uri="{FF2B5EF4-FFF2-40B4-BE49-F238E27FC236}">
                    <a16:creationId xmlns:a16="http://schemas.microsoft.com/office/drawing/2014/main" id="{F845185C-9E28-D3C3-FB93-82FDFAF5428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6" name="Freeform: Shape 154">
                <a:extLst>
                  <a:ext uri="{FF2B5EF4-FFF2-40B4-BE49-F238E27FC236}">
                    <a16:creationId xmlns:a16="http://schemas.microsoft.com/office/drawing/2014/main" id="{5815BFA7-3630-806F-38D6-542D875FBAE2}"/>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97" name="Freeform: Shape 155">
                <a:extLst>
                  <a:ext uri="{FF2B5EF4-FFF2-40B4-BE49-F238E27FC236}">
                    <a16:creationId xmlns:a16="http://schemas.microsoft.com/office/drawing/2014/main" id="{A3AD8765-C9BA-F316-9886-0C7D7A9427C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98" name="Freeform: Shape 156">
                <a:extLst>
                  <a:ext uri="{FF2B5EF4-FFF2-40B4-BE49-F238E27FC236}">
                    <a16:creationId xmlns:a16="http://schemas.microsoft.com/office/drawing/2014/main" id="{F462785B-D0FA-7F73-1539-D67AD4FECD7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99" name="Freeform: Shape 157">
                <a:extLst>
                  <a:ext uri="{FF2B5EF4-FFF2-40B4-BE49-F238E27FC236}">
                    <a16:creationId xmlns:a16="http://schemas.microsoft.com/office/drawing/2014/main" id="{54359F1E-9CF8-9F1C-C91D-44F7640E712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100" name="Freeform: Shape 158">
                <a:extLst>
                  <a:ext uri="{FF2B5EF4-FFF2-40B4-BE49-F238E27FC236}">
                    <a16:creationId xmlns:a16="http://schemas.microsoft.com/office/drawing/2014/main" id="{D3328829-2B5C-0A94-B01E-79FB191584B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1" name="Freeform: Shape 159">
                <a:extLst>
                  <a:ext uri="{FF2B5EF4-FFF2-40B4-BE49-F238E27FC236}">
                    <a16:creationId xmlns:a16="http://schemas.microsoft.com/office/drawing/2014/main" id="{646C8A36-B9F5-CD81-D2D9-FDEA26D16030}"/>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102" name="Freeform: Shape 160">
                <a:extLst>
                  <a:ext uri="{FF2B5EF4-FFF2-40B4-BE49-F238E27FC236}">
                    <a16:creationId xmlns:a16="http://schemas.microsoft.com/office/drawing/2014/main" id="{3FC978FC-EFC9-E045-05B8-436E89A7C387}"/>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2" name="Group 11">
              <a:extLst>
                <a:ext uri="{FF2B5EF4-FFF2-40B4-BE49-F238E27FC236}">
                  <a16:creationId xmlns:a16="http://schemas.microsoft.com/office/drawing/2014/main" id="{C01199C7-3400-AEEB-FE9D-B36381A0626D}"/>
                </a:ext>
              </a:extLst>
            </p:cNvPr>
            <p:cNvGrpSpPr/>
            <p:nvPr/>
          </p:nvGrpSpPr>
          <p:grpSpPr>
            <a:xfrm>
              <a:off x="10790283" y="4770606"/>
              <a:ext cx="1264298" cy="1005053"/>
              <a:chOff x="8867133" y="-492224"/>
              <a:chExt cx="1264298" cy="1005053"/>
            </a:xfrm>
          </p:grpSpPr>
          <p:sp>
            <p:nvSpPr>
              <p:cNvPr id="43" name="Freeform: Shape 131">
                <a:extLst>
                  <a:ext uri="{FF2B5EF4-FFF2-40B4-BE49-F238E27FC236}">
                    <a16:creationId xmlns:a16="http://schemas.microsoft.com/office/drawing/2014/main" id="{88991DF3-5AB8-D9DA-23BC-8434343E025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4" name="Freeform: Shape 132">
                <a:extLst>
                  <a:ext uri="{FF2B5EF4-FFF2-40B4-BE49-F238E27FC236}">
                    <a16:creationId xmlns:a16="http://schemas.microsoft.com/office/drawing/2014/main" id="{C44B4FCB-1166-83F7-91B6-7EE843F420FB}"/>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5" name="Freeform: Shape 133">
                <a:extLst>
                  <a:ext uri="{FF2B5EF4-FFF2-40B4-BE49-F238E27FC236}">
                    <a16:creationId xmlns:a16="http://schemas.microsoft.com/office/drawing/2014/main" id="{51BD86DE-51E7-04EC-1B46-BC0E76DAAE7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6" name="Freeform: Shape 134">
                <a:extLst>
                  <a:ext uri="{FF2B5EF4-FFF2-40B4-BE49-F238E27FC236}">
                    <a16:creationId xmlns:a16="http://schemas.microsoft.com/office/drawing/2014/main" id="{7810AFA0-1BE1-1B52-0918-7A365C62CA6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47" name="Freeform: Shape 135">
                <a:extLst>
                  <a:ext uri="{FF2B5EF4-FFF2-40B4-BE49-F238E27FC236}">
                    <a16:creationId xmlns:a16="http://schemas.microsoft.com/office/drawing/2014/main" id="{F83C21E1-DC2D-6DA5-B1D9-8AFE08DE019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8" name="Freeform: Shape 136">
                <a:extLst>
                  <a:ext uri="{FF2B5EF4-FFF2-40B4-BE49-F238E27FC236}">
                    <a16:creationId xmlns:a16="http://schemas.microsoft.com/office/drawing/2014/main" id="{683D72AE-C4B9-E6EF-604B-944FB0E92FF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49" name="Freeform: Shape 137">
                <a:extLst>
                  <a:ext uri="{FF2B5EF4-FFF2-40B4-BE49-F238E27FC236}">
                    <a16:creationId xmlns:a16="http://schemas.microsoft.com/office/drawing/2014/main" id="{79394AF4-3A4E-8690-0FE4-F4978C90DE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0" name="Freeform: Shape 138">
                <a:extLst>
                  <a:ext uri="{FF2B5EF4-FFF2-40B4-BE49-F238E27FC236}">
                    <a16:creationId xmlns:a16="http://schemas.microsoft.com/office/drawing/2014/main" id="{9E2D424E-A911-B32F-AC74-9E9167B221AA}"/>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1" name="Freeform: Shape 139">
                <a:extLst>
                  <a:ext uri="{FF2B5EF4-FFF2-40B4-BE49-F238E27FC236}">
                    <a16:creationId xmlns:a16="http://schemas.microsoft.com/office/drawing/2014/main" id="{0785BCD6-1470-CCC7-2094-D939E468B408}"/>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2" name="Freeform: Shape 140">
                <a:extLst>
                  <a:ext uri="{FF2B5EF4-FFF2-40B4-BE49-F238E27FC236}">
                    <a16:creationId xmlns:a16="http://schemas.microsoft.com/office/drawing/2014/main" id="{9F0A1895-19E0-CA6B-2E79-121CFD95EFD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3" name="Freeform: Shape 141">
                <a:extLst>
                  <a:ext uri="{FF2B5EF4-FFF2-40B4-BE49-F238E27FC236}">
                    <a16:creationId xmlns:a16="http://schemas.microsoft.com/office/drawing/2014/main" id="{22D359AA-ED73-E18E-E065-24CA4BFA681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4" name="Freeform: Shape 142">
                <a:extLst>
                  <a:ext uri="{FF2B5EF4-FFF2-40B4-BE49-F238E27FC236}">
                    <a16:creationId xmlns:a16="http://schemas.microsoft.com/office/drawing/2014/main" id="{91AD6BF2-3606-8173-281A-DFB41F2552E0}"/>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5" name="Freeform: Shape 143">
                <a:extLst>
                  <a:ext uri="{FF2B5EF4-FFF2-40B4-BE49-F238E27FC236}">
                    <a16:creationId xmlns:a16="http://schemas.microsoft.com/office/drawing/2014/main" id="{EBF638D4-84DC-D736-BAE9-C0544BF8915E}"/>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6" name="Freeform: Shape 144">
                <a:extLst>
                  <a:ext uri="{FF2B5EF4-FFF2-40B4-BE49-F238E27FC236}">
                    <a16:creationId xmlns:a16="http://schemas.microsoft.com/office/drawing/2014/main" id="{82632168-C4C8-6910-08F6-5F0896EB6D68}"/>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7" name="Freeform: Shape 145">
                <a:extLst>
                  <a:ext uri="{FF2B5EF4-FFF2-40B4-BE49-F238E27FC236}">
                    <a16:creationId xmlns:a16="http://schemas.microsoft.com/office/drawing/2014/main" id="{5F84B16B-9D07-6B79-ADC8-535F2BD90236}"/>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58" name="Freeform: Shape 146">
                <a:extLst>
                  <a:ext uri="{FF2B5EF4-FFF2-40B4-BE49-F238E27FC236}">
                    <a16:creationId xmlns:a16="http://schemas.microsoft.com/office/drawing/2014/main" id="{84EC91D8-7420-AAE6-B8D6-D7ED4E69EB4E}"/>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59" name="Freeform: Shape 147">
                <a:extLst>
                  <a:ext uri="{FF2B5EF4-FFF2-40B4-BE49-F238E27FC236}">
                    <a16:creationId xmlns:a16="http://schemas.microsoft.com/office/drawing/2014/main" id="{F329BE0D-5747-1B1E-2FEF-A599EC88AAE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0" name="Freeform: Shape 148">
                <a:extLst>
                  <a:ext uri="{FF2B5EF4-FFF2-40B4-BE49-F238E27FC236}">
                    <a16:creationId xmlns:a16="http://schemas.microsoft.com/office/drawing/2014/main" id="{AABA5DBC-6954-3347-06A2-BD986254567A}"/>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1" name="Freeform: Shape 149">
                <a:extLst>
                  <a:ext uri="{FF2B5EF4-FFF2-40B4-BE49-F238E27FC236}">
                    <a16:creationId xmlns:a16="http://schemas.microsoft.com/office/drawing/2014/main" id="{0B29624D-32A8-5572-346F-FE985C2B9D8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2" name="Freeform: Shape 150">
                <a:extLst>
                  <a:ext uri="{FF2B5EF4-FFF2-40B4-BE49-F238E27FC236}">
                    <a16:creationId xmlns:a16="http://schemas.microsoft.com/office/drawing/2014/main" id="{6028F370-84A4-0297-528D-682B21303705}"/>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3" name="Freeform: Shape 151">
                <a:extLst>
                  <a:ext uri="{FF2B5EF4-FFF2-40B4-BE49-F238E27FC236}">
                    <a16:creationId xmlns:a16="http://schemas.microsoft.com/office/drawing/2014/main" id="{2C3CED85-4FE4-BF2B-DF87-119AA3C5FC51}"/>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4" name="Freeform: Shape 152">
                <a:extLst>
                  <a:ext uri="{FF2B5EF4-FFF2-40B4-BE49-F238E27FC236}">
                    <a16:creationId xmlns:a16="http://schemas.microsoft.com/office/drawing/2014/main" id="{D79A462D-C594-9B59-1DE4-F3C08A05F46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65" name="Freeform: Shape 153">
                <a:extLst>
                  <a:ext uri="{FF2B5EF4-FFF2-40B4-BE49-F238E27FC236}">
                    <a16:creationId xmlns:a16="http://schemas.microsoft.com/office/drawing/2014/main" id="{3A07AB18-2431-6353-6987-8D34C9B208B4}"/>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6" name="Freeform: Shape 154">
                <a:extLst>
                  <a:ext uri="{FF2B5EF4-FFF2-40B4-BE49-F238E27FC236}">
                    <a16:creationId xmlns:a16="http://schemas.microsoft.com/office/drawing/2014/main" id="{540B67E1-0CDA-421F-6272-A42CAF797A2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67" name="Freeform: Shape 155">
                <a:extLst>
                  <a:ext uri="{FF2B5EF4-FFF2-40B4-BE49-F238E27FC236}">
                    <a16:creationId xmlns:a16="http://schemas.microsoft.com/office/drawing/2014/main" id="{96424079-6D85-C2DA-A819-1E4DCE30E3A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68" name="Freeform: Shape 156">
                <a:extLst>
                  <a:ext uri="{FF2B5EF4-FFF2-40B4-BE49-F238E27FC236}">
                    <a16:creationId xmlns:a16="http://schemas.microsoft.com/office/drawing/2014/main" id="{2A97BBEC-36CE-B594-AE66-A3115470A98D}"/>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69" name="Freeform: Shape 157">
                <a:extLst>
                  <a:ext uri="{FF2B5EF4-FFF2-40B4-BE49-F238E27FC236}">
                    <a16:creationId xmlns:a16="http://schemas.microsoft.com/office/drawing/2014/main" id="{92003631-9E95-49B8-E595-B859D56E10BF}"/>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70" name="Freeform: Shape 158">
                <a:extLst>
                  <a:ext uri="{FF2B5EF4-FFF2-40B4-BE49-F238E27FC236}">
                    <a16:creationId xmlns:a16="http://schemas.microsoft.com/office/drawing/2014/main" id="{0370696A-A98E-7034-FF2E-F43A3AD732C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1" name="Freeform: Shape 159">
                <a:extLst>
                  <a:ext uri="{FF2B5EF4-FFF2-40B4-BE49-F238E27FC236}">
                    <a16:creationId xmlns:a16="http://schemas.microsoft.com/office/drawing/2014/main" id="{699D158D-64DE-6AB7-A85D-7CF536BB9D1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72" name="Freeform: Shape 160">
                <a:extLst>
                  <a:ext uri="{FF2B5EF4-FFF2-40B4-BE49-F238E27FC236}">
                    <a16:creationId xmlns:a16="http://schemas.microsoft.com/office/drawing/2014/main" id="{E4EE3E30-8D79-5C66-7728-43DE5873952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4" name="Group 13">
              <a:extLst>
                <a:ext uri="{FF2B5EF4-FFF2-40B4-BE49-F238E27FC236}">
                  <a16:creationId xmlns:a16="http://schemas.microsoft.com/office/drawing/2014/main" id="{ED6544BB-3F90-AC1C-C6F2-7E5834072516}"/>
                </a:ext>
              </a:extLst>
            </p:cNvPr>
            <p:cNvGrpSpPr/>
            <p:nvPr/>
          </p:nvGrpSpPr>
          <p:grpSpPr>
            <a:xfrm>
              <a:off x="10701084" y="5836321"/>
              <a:ext cx="1493520" cy="1021679"/>
              <a:chOff x="10698480" y="0"/>
              <a:chExt cx="1493520" cy="1021679"/>
            </a:xfrm>
          </p:grpSpPr>
          <p:sp>
            <p:nvSpPr>
              <p:cNvPr id="16" name="Rectangle 15">
                <a:extLst>
                  <a:ext uri="{FF2B5EF4-FFF2-40B4-BE49-F238E27FC236}">
                    <a16:creationId xmlns:a16="http://schemas.microsoft.com/office/drawing/2014/main" id="{5D1F618F-754B-D67A-D5AE-3CBE530858ED}"/>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FA03D7D9-065C-6047-CC68-952A558D8BCF}"/>
                  </a:ext>
                </a:extLst>
              </p:cNvPr>
              <p:cNvGrpSpPr/>
              <p:nvPr/>
            </p:nvGrpSpPr>
            <p:grpSpPr>
              <a:xfrm>
                <a:off x="10787679" y="97530"/>
                <a:ext cx="1264298" cy="769086"/>
                <a:chOff x="8867133" y="-492224"/>
                <a:chExt cx="1264298" cy="769086"/>
              </a:xfrm>
            </p:grpSpPr>
            <p:sp>
              <p:nvSpPr>
                <p:cNvPr id="19" name="Freeform: Shape 131">
                  <a:extLst>
                    <a:ext uri="{FF2B5EF4-FFF2-40B4-BE49-F238E27FC236}">
                      <a16:creationId xmlns:a16="http://schemas.microsoft.com/office/drawing/2014/main" id="{4A551F23-BE36-A469-6255-CC8FF471802F}"/>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 name="Freeform: Shape 132">
                  <a:extLst>
                    <a:ext uri="{FF2B5EF4-FFF2-40B4-BE49-F238E27FC236}">
                      <a16:creationId xmlns:a16="http://schemas.microsoft.com/office/drawing/2014/main" id="{404C0765-CAF4-B5A7-0A14-A98F873240D9}"/>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 name="Freeform: Shape 133">
                  <a:extLst>
                    <a:ext uri="{FF2B5EF4-FFF2-40B4-BE49-F238E27FC236}">
                      <a16:creationId xmlns:a16="http://schemas.microsoft.com/office/drawing/2014/main" id="{86B4E10B-B22B-D0EE-E0CF-63DAE7C06CB2}"/>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 name="Freeform: Shape 134">
                  <a:extLst>
                    <a:ext uri="{FF2B5EF4-FFF2-40B4-BE49-F238E27FC236}">
                      <a16:creationId xmlns:a16="http://schemas.microsoft.com/office/drawing/2014/main" id="{F7514E5B-A7B5-3878-ECCA-F2C61D730BBC}"/>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 name="Freeform: Shape 135">
                  <a:extLst>
                    <a:ext uri="{FF2B5EF4-FFF2-40B4-BE49-F238E27FC236}">
                      <a16:creationId xmlns:a16="http://schemas.microsoft.com/office/drawing/2014/main" id="{23928C06-682E-34D6-BB49-8293F2FE1A0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 name="Freeform: Shape 136">
                  <a:extLst>
                    <a:ext uri="{FF2B5EF4-FFF2-40B4-BE49-F238E27FC236}">
                      <a16:creationId xmlns:a16="http://schemas.microsoft.com/office/drawing/2014/main" id="{1A9515AF-65EC-19E8-2777-D1C61A131EC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 name="Freeform: Shape 137">
                  <a:extLst>
                    <a:ext uri="{FF2B5EF4-FFF2-40B4-BE49-F238E27FC236}">
                      <a16:creationId xmlns:a16="http://schemas.microsoft.com/office/drawing/2014/main" id="{FCD1E1E8-1936-037C-DCAB-23E09F1FF04F}"/>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 name="Freeform: Shape 138">
                  <a:extLst>
                    <a:ext uri="{FF2B5EF4-FFF2-40B4-BE49-F238E27FC236}">
                      <a16:creationId xmlns:a16="http://schemas.microsoft.com/office/drawing/2014/main" id="{960B2DB8-A7FF-6649-63C3-ED61C9C00850}"/>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 name="Freeform: Shape 139">
                  <a:extLst>
                    <a:ext uri="{FF2B5EF4-FFF2-40B4-BE49-F238E27FC236}">
                      <a16:creationId xmlns:a16="http://schemas.microsoft.com/office/drawing/2014/main" id="{DDC74ED6-F173-EB3B-5605-F5891056B7A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 name="Freeform: Shape 140">
                  <a:extLst>
                    <a:ext uri="{FF2B5EF4-FFF2-40B4-BE49-F238E27FC236}">
                      <a16:creationId xmlns:a16="http://schemas.microsoft.com/office/drawing/2014/main" id="{66D81270-2CCD-571F-CAE7-85CBB4118C3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 name="Freeform: Shape 141">
                  <a:extLst>
                    <a:ext uri="{FF2B5EF4-FFF2-40B4-BE49-F238E27FC236}">
                      <a16:creationId xmlns:a16="http://schemas.microsoft.com/office/drawing/2014/main" id="{ACC0CA1C-36F5-0C5D-156C-BF9B2BB53AC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 name="Freeform: Shape 142">
                  <a:extLst>
                    <a:ext uri="{FF2B5EF4-FFF2-40B4-BE49-F238E27FC236}">
                      <a16:creationId xmlns:a16="http://schemas.microsoft.com/office/drawing/2014/main" id="{A2FF5A44-CE60-FEB5-C8AE-AA725A30AAF6}"/>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 name="Freeform: Shape 143">
                  <a:extLst>
                    <a:ext uri="{FF2B5EF4-FFF2-40B4-BE49-F238E27FC236}">
                      <a16:creationId xmlns:a16="http://schemas.microsoft.com/office/drawing/2014/main" id="{FE7391F7-03EA-3FBA-C538-9A123F2F8146}"/>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 name="Freeform: Shape 144">
                  <a:extLst>
                    <a:ext uri="{FF2B5EF4-FFF2-40B4-BE49-F238E27FC236}">
                      <a16:creationId xmlns:a16="http://schemas.microsoft.com/office/drawing/2014/main" id="{07D67510-50E7-F99D-FE6C-3236F170CB40}"/>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 name="Freeform: Shape 145">
                  <a:extLst>
                    <a:ext uri="{FF2B5EF4-FFF2-40B4-BE49-F238E27FC236}">
                      <a16:creationId xmlns:a16="http://schemas.microsoft.com/office/drawing/2014/main" id="{FFB75339-8C9D-5D11-FD9B-52CADC6F3D98}"/>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 name="Freeform: Shape 146">
                  <a:extLst>
                    <a:ext uri="{FF2B5EF4-FFF2-40B4-BE49-F238E27FC236}">
                      <a16:creationId xmlns:a16="http://schemas.microsoft.com/office/drawing/2014/main" id="{718E2763-B374-0EFD-6E08-8C315FC1415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 name="Freeform: Shape 147">
                  <a:extLst>
                    <a:ext uri="{FF2B5EF4-FFF2-40B4-BE49-F238E27FC236}">
                      <a16:creationId xmlns:a16="http://schemas.microsoft.com/office/drawing/2014/main" id="{E97D1C17-B693-C048-2190-446ECBD085D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7" name="Freeform: Shape 155">
                  <a:extLst>
                    <a:ext uri="{FF2B5EF4-FFF2-40B4-BE49-F238E27FC236}">
                      <a16:creationId xmlns:a16="http://schemas.microsoft.com/office/drawing/2014/main" id="{A7EB3DB5-7FC7-918D-29F8-944878DF50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8" name="Freeform: Shape 156">
                  <a:extLst>
                    <a:ext uri="{FF2B5EF4-FFF2-40B4-BE49-F238E27FC236}">
                      <a16:creationId xmlns:a16="http://schemas.microsoft.com/office/drawing/2014/main" id="{A7BD1159-59F5-C30B-E2EA-A564B455CDB4}"/>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9" name="Freeform: Shape 157">
                  <a:extLst>
                    <a:ext uri="{FF2B5EF4-FFF2-40B4-BE49-F238E27FC236}">
                      <a16:creationId xmlns:a16="http://schemas.microsoft.com/office/drawing/2014/main" id="{F3D9DBD4-B7A1-B952-8221-B29BDC603EF3}"/>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40" name="Freeform: Shape 158">
                  <a:extLst>
                    <a:ext uri="{FF2B5EF4-FFF2-40B4-BE49-F238E27FC236}">
                      <a16:creationId xmlns:a16="http://schemas.microsoft.com/office/drawing/2014/main" id="{719B853D-9A22-7A65-CA24-975AD29F1A7B}"/>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1" name="Freeform: Shape 159">
                  <a:extLst>
                    <a:ext uri="{FF2B5EF4-FFF2-40B4-BE49-F238E27FC236}">
                      <a16:creationId xmlns:a16="http://schemas.microsoft.com/office/drawing/2014/main" id="{0E24631D-DE3F-432E-42F4-4353CDD649E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42" name="Freeform: Shape 160">
                  <a:extLst>
                    <a:ext uri="{FF2B5EF4-FFF2-40B4-BE49-F238E27FC236}">
                      <a16:creationId xmlns:a16="http://schemas.microsoft.com/office/drawing/2014/main" id="{02DE1C63-2969-CBED-CF7E-C914EBD6890E}"/>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158170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4_Title and Content - Platinum Arrow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56810E-B3D1-AB29-F34A-C85AC8B6A909}"/>
              </a:ext>
            </a:extLst>
          </p:cNvPr>
          <p:cNvSpPr/>
          <p:nvPr userDrawn="1"/>
        </p:nvSpPr>
        <p:spPr>
          <a:xfrm>
            <a:off x="10591800" y="0"/>
            <a:ext cx="1600200" cy="68525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F699251-C167-B7FD-7B25-7FA7C75CBBF8}"/>
              </a:ext>
            </a:extLst>
          </p:cNvPr>
          <p:cNvGrpSpPr/>
          <p:nvPr userDrawn="1"/>
        </p:nvGrpSpPr>
        <p:grpSpPr>
          <a:xfrm>
            <a:off x="10701084" y="97530"/>
            <a:ext cx="1493520" cy="6760470"/>
            <a:chOff x="10701084" y="97530"/>
            <a:chExt cx="1493520" cy="6760470"/>
          </a:xfrm>
        </p:grpSpPr>
        <p:grpSp>
          <p:nvGrpSpPr>
            <p:cNvPr id="17" name="Group 16">
              <a:extLst>
                <a:ext uri="{FF2B5EF4-FFF2-40B4-BE49-F238E27FC236}">
                  <a16:creationId xmlns:a16="http://schemas.microsoft.com/office/drawing/2014/main" id="{579C48C7-0728-517B-6E7E-8B75A97052D8}"/>
                </a:ext>
              </a:extLst>
            </p:cNvPr>
            <p:cNvGrpSpPr/>
            <p:nvPr/>
          </p:nvGrpSpPr>
          <p:grpSpPr>
            <a:xfrm>
              <a:off x="10787679" y="97530"/>
              <a:ext cx="1264298" cy="1005053"/>
              <a:chOff x="8867133" y="-492224"/>
              <a:chExt cx="1264298" cy="1005053"/>
            </a:xfrm>
          </p:grpSpPr>
          <p:sp>
            <p:nvSpPr>
              <p:cNvPr id="343" name="Freeform: Shape 131">
                <a:extLst>
                  <a:ext uri="{FF2B5EF4-FFF2-40B4-BE49-F238E27FC236}">
                    <a16:creationId xmlns:a16="http://schemas.microsoft.com/office/drawing/2014/main" id="{57F42C08-33C6-5276-A883-403357D36EFD}"/>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4" name="Freeform: Shape 132">
                <a:extLst>
                  <a:ext uri="{FF2B5EF4-FFF2-40B4-BE49-F238E27FC236}">
                    <a16:creationId xmlns:a16="http://schemas.microsoft.com/office/drawing/2014/main" id="{D32CE52C-E208-B572-A603-D29B74212155}"/>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5" name="Freeform: Shape 133">
                <a:extLst>
                  <a:ext uri="{FF2B5EF4-FFF2-40B4-BE49-F238E27FC236}">
                    <a16:creationId xmlns:a16="http://schemas.microsoft.com/office/drawing/2014/main" id="{4F705B74-26BF-749C-FD3A-3ED23BA1A47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6" name="Freeform: Shape 134">
                <a:extLst>
                  <a:ext uri="{FF2B5EF4-FFF2-40B4-BE49-F238E27FC236}">
                    <a16:creationId xmlns:a16="http://schemas.microsoft.com/office/drawing/2014/main" id="{D9E35474-D126-93B2-8829-EE06E3D12A35}"/>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47" name="Freeform: Shape 135">
                <a:extLst>
                  <a:ext uri="{FF2B5EF4-FFF2-40B4-BE49-F238E27FC236}">
                    <a16:creationId xmlns:a16="http://schemas.microsoft.com/office/drawing/2014/main" id="{C98DE941-6BC6-23E9-5A03-B9CEAA1A9C63}"/>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8" name="Freeform: Shape 136">
                <a:extLst>
                  <a:ext uri="{FF2B5EF4-FFF2-40B4-BE49-F238E27FC236}">
                    <a16:creationId xmlns:a16="http://schemas.microsoft.com/office/drawing/2014/main" id="{BA2B2082-EBCD-D79F-2DBD-BD4BDA8BCF2D}"/>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49" name="Freeform: Shape 137">
                <a:extLst>
                  <a:ext uri="{FF2B5EF4-FFF2-40B4-BE49-F238E27FC236}">
                    <a16:creationId xmlns:a16="http://schemas.microsoft.com/office/drawing/2014/main" id="{33EB1112-1B85-AF93-3BB8-EE0F5EE0C63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0" name="Freeform: Shape 138">
                <a:extLst>
                  <a:ext uri="{FF2B5EF4-FFF2-40B4-BE49-F238E27FC236}">
                    <a16:creationId xmlns:a16="http://schemas.microsoft.com/office/drawing/2014/main" id="{7E8B3184-1911-4203-4458-7D2632B590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1" name="Freeform: Shape 139">
                <a:extLst>
                  <a:ext uri="{FF2B5EF4-FFF2-40B4-BE49-F238E27FC236}">
                    <a16:creationId xmlns:a16="http://schemas.microsoft.com/office/drawing/2014/main" id="{57D5A795-E5C8-5F0B-C0B1-A6C4E6EAE366}"/>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2" name="Freeform: Shape 140">
                <a:extLst>
                  <a:ext uri="{FF2B5EF4-FFF2-40B4-BE49-F238E27FC236}">
                    <a16:creationId xmlns:a16="http://schemas.microsoft.com/office/drawing/2014/main" id="{E4A28CA3-B5EF-B0F3-7F07-C21248ECBE03}"/>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3" name="Freeform: Shape 141">
                <a:extLst>
                  <a:ext uri="{FF2B5EF4-FFF2-40B4-BE49-F238E27FC236}">
                    <a16:creationId xmlns:a16="http://schemas.microsoft.com/office/drawing/2014/main" id="{72F71302-C0D6-03F9-4300-52F017619BA6}"/>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4" name="Freeform: Shape 142">
                <a:extLst>
                  <a:ext uri="{FF2B5EF4-FFF2-40B4-BE49-F238E27FC236}">
                    <a16:creationId xmlns:a16="http://schemas.microsoft.com/office/drawing/2014/main" id="{572A89E4-C617-B639-70C3-CFD4338C3069}"/>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5" name="Freeform: Shape 143">
                <a:extLst>
                  <a:ext uri="{FF2B5EF4-FFF2-40B4-BE49-F238E27FC236}">
                    <a16:creationId xmlns:a16="http://schemas.microsoft.com/office/drawing/2014/main" id="{AC9DD01C-9A87-CBCD-5855-424E7B7DE5FB}"/>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6" name="Freeform: Shape 144">
                <a:extLst>
                  <a:ext uri="{FF2B5EF4-FFF2-40B4-BE49-F238E27FC236}">
                    <a16:creationId xmlns:a16="http://schemas.microsoft.com/office/drawing/2014/main" id="{9E6D4C02-AE97-2E8C-6E8D-FA8DB963B66C}"/>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7" name="Freeform: Shape 145">
                <a:extLst>
                  <a:ext uri="{FF2B5EF4-FFF2-40B4-BE49-F238E27FC236}">
                    <a16:creationId xmlns:a16="http://schemas.microsoft.com/office/drawing/2014/main" id="{D2914DA8-A11D-AF59-68EA-C924B52D4B47}"/>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58" name="Freeform: Shape 146">
                <a:extLst>
                  <a:ext uri="{FF2B5EF4-FFF2-40B4-BE49-F238E27FC236}">
                    <a16:creationId xmlns:a16="http://schemas.microsoft.com/office/drawing/2014/main" id="{28C338A1-6190-AEB6-C71B-5B447FC422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59" name="Freeform: Shape 147">
                <a:extLst>
                  <a:ext uri="{FF2B5EF4-FFF2-40B4-BE49-F238E27FC236}">
                    <a16:creationId xmlns:a16="http://schemas.microsoft.com/office/drawing/2014/main" id="{6462718F-F039-0FF2-F76D-6D45609290A5}"/>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0" name="Freeform: Shape 148">
                <a:extLst>
                  <a:ext uri="{FF2B5EF4-FFF2-40B4-BE49-F238E27FC236}">
                    <a16:creationId xmlns:a16="http://schemas.microsoft.com/office/drawing/2014/main" id="{97E5D18F-689E-2155-6D5C-88F25E1BCE58}"/>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1" name="Freeform: Shape 149">
                <a:extLst>
                  <a:ext uri="{FF2B5EF4-FFF2-40B4-BE49-F238E27FC236}">
                    <a16:creationId xmlns:a16="http://schemas.microsoft.com/office/drawing/2014/main" id="{A2558AC2-B66C-3BCA-4907-89AF62ED4E63}"/>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2" name="Freeform: Shape 150">
                <a:extLst>
                  <a:ext uri="{FF2B5EF4-FFF2-40B4-BE49-F238E27FC236}">
                    <a16:creationId xmlns:a16="http://schemas.microsoft.com/office/drawing/2014/main" id="{8BF15784-BA2B-0B80-5374-3EC98EF509F6}"/>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3" name="Freeform: Shape 151">
                <a:extLst>
                  <a:ext uri="{FF2B5EF4-FFF2-40B4-BE49-F238E27FC236}">
                    <a16:creationId xmlns:a16="http://schemas.microsoft.com/office/drawing/2014/main" id="{1B0EC508-4FD1-7E84-936B-98CE4D400357}"/>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4" name="Freeform: Shape 152">
                <a:extLst>
                  <a:ext uri="{FF2B5EF4-FFF2-40B4-BE49-F238E27FC236}">
                    <a16:creationId xmlns:a16="http://schemas.microsoft.com/office/drawing/2014/main" id="{B9EC03D4-8E18-4343-286B-08DE534442A9}"/>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65" name="Freeform: Shape 153">
                <a:extLst>
                  <a:ext uri="{FF2B5EF4-FFF2-40B4-BE49-F238E27FC236}">
                    <a16:creationId xmlns:a16="http://schemas.microsoft.com/office/drawing/2014/main" id="{5BEE624B-6E40-207E-70C7-F2AB3E09CEB5}"/>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6" name="Freeform: Shape 154">
                <a:extLst>
                  <a:ext uri="{FF2B5EF4-FFF2-40B4-BE49-F238E27FC236}">
                    <a16:creationId xmlns:a16="http://schemas.microsoft.com/office/drawing/2014/main" id="{EC1D97FC-20CE-D48A-E823-FE8D64014A5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67" name="Freeform: Shape 155">
                <a:extLst>
                  <a:ext uri="{FF2B5EF4-FFF2-40B4-BE49-F238E27FC236}">
                    <a16:creationId xmlns:a16="http://schemas.microsoft.com/office/drawing/2014/main" id="{2D73E1AD-19FB-7EB5-AD9E-DC1D28F51969}"/>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68" name="Freeform: Shape 156">
                <a:extLst>
                  <a:ext uri="{FF2B5EF4-FFF2-40B4-BE49-F238E27FC236}">
                    <a16:creationId xmlns:a16="http://schemas.microsoft.com/office/drawing/2014/main" id="{1E310345-1008-9780-AB1F-664E669907D6}"/>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69" name="Freeform: Shape 157">
                <a:extLst>
                  <a:ext uri="{FF2B5EF4-FFF2-40B4-BE49-F238E27FC236}">
                    <a16:creationId xmlns:a16="http://schemas.microsoft.com/office/drawing/2014/main" id="{205467B6-94C0-6AEC-C445-2BB292DA3D7A}"/>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70" name="Freeform: Shape 158">
                <a:extLst>
                  <a:ext uri="{FF2B5EF4-FFF2-40B4-BE49-F238E27FC236}">
                    <a16:creationId xmlns:a16="http://schemas.microsoft.com/office/drawing/2014/main" id="{E862B08B-C197-1C6D-7A6F-C0E30B5CA3CE}"/>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1" name="Freeform: Shape 159">
                <a:extLst>
                  <a:ext uri="{FF2B5EF4-FFF2-40B4-BE49-F238E27FC236}">
                    <a16:creationId xmlns:a16="http://schemas.microsoft.com/office/drawing/2014/main" id="{9EAEB050-A861-7A11-01A5-875BE0873659}"/>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72" name="Freeform: Shape 160">
                <a:extLst>
                  <a:ext uri="{FF2B5EF4-FFF2-40B4-BE49-F238E27FC236}">
                    <a16:creationId xmlns:a16="http://schemas.microsoft.com/office/drawing/2014/main" id="{920620D3-0163-7DE0-2775-B8B54805DAE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3" name="Group 192">
              <a:extLst>
                <a:ext uri="{FF2B5EF4-FFF2-40B4-BE49-F238E27FC236}">
                  <a16:creationId xmlns:a16="http://schemas.microsoft.com/office/drawing/2014/main" id="{103E6AAA-270B-0716-A572-481483B525DB}"/>
                </a:ext>
              </a:extLst>
            </p:cNvPr>
            <p:cNvGrpSpPr/>
            <p:nvPr/>
          </p:nvGrpSpPr>
          <p:grpSpPr>
            <a:xfrm>
              <a:off x="10787679" y="1260775"/>
              <a:ext cx="1264298" cy="1005053"/>
              <a:chOff x="8867133" y="-492224"/>
              <a:chExt cx="1264298" cy="1005053"/>
            </a:xfrm>
          </p:grpSpPr>
          <p:sp>
            <p:nvSpPr>
              <p:cNvPr id="313" name="Freeform: Shape 131">
                <a:extLst>
                  <a:ext uri="{FF2B5EF4-FFF2-40B4-BE49-F238E27FC236}">
                    <a16:creationId xmlns:a16="http://schemas.microsoft.com/office/drawing/2014/main" id="{3587C69E-229C-9E89-2C8F-BA1B4215FEA0}"/>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4" name="Freeform: Shape 132">
                <a:extLst>
                  <a:ext uri="{FF2B5EF4-FFF2-40B4-BE49-F238E27FC236}">
                    <a16:creationId xmlns:a16="http://schemas.microsoft.com/office/drawing/2014/main" id="{B096A9C5-5214-DDB3-A6A7-17BB545E275E}"/>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5" name="Freeform: Shape 133">
                <a:extLst>
                  <a:ext uri="{FF2B5EF4-FFF2-40B4-BE49-F238E27FC236}">
                    <a16:creationId xmlns:a16="http://schemas.microsoft.com/office/drawing/2014/main" id="{F3665446-98FC-BDAE-BD97-549A3DD883C7}"/>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6" name="Freeform: Shape 134">
                <a:extLst>
                  <a:ext uri="{FF2B5EF4-FFF2-40B4-BE49-F238E27FC236}">
                    <a16:creationId xmlns:a16="http://schemas.microsoft.com/office/drawing/2014/main" id="{4DCCA078-55E3-F6DA-3B85-9F7BE687B13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17" name="Freeform: Shape 135">
                <a:extLst>
                  <a:ext uri="{FF2B5EF4-FFF2-40B4-BE49-F238E27FC236}">
                    <a16:creationId xmlns:a16="http://schemas.microsoft.com/office/drawing/2014/main" id="{0A8DBE2F-D7B3-6A66-53F0-B27F0A6FCDF8}"/>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8" name="Freeform: Shape 136">
                <a:extLst>
                  <a:ext uri="{FF2B5EF4-FFF2-40B4-BE49-F238E27FC236}">
                    <a16:creationId xmlns:a16="http://schemas.microsoft.com/office/drawing/2014/main" id="{1C861F19-49AB-D6DF-C401-1F7F75613B0C}"/>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19" name="Freeform: Shape 137">
                <a:extLst>
                  <a:ext uri="{FF2B5EF4-FFF2-40B4-BE49-F238E27FC236}">
                    <a16:creationId xmlns:a16="http://schemas.microsoft.com/office/drawing/2014/main" id="{CDA5B5BE-FD5E-6B58-9697-A844977A9600}"/>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0" name="Freeform: Shape 138">
                <a:extLst>
                  <a:ext uri="{FF2B5EF4-FFF2-40B4-BE49-F238E27FC236}">
                    <a16:creationId xmlns:a16="http://schemas.microsoft.com/office/drawing/2014/main" id="{24C90700-1965-111C-1833-9BB686589E4C}"/>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1" name="Freeform: Shape 139">
                <a:extLst>
                  <a:ext uri="{FF2B5EF4-FFF2-40B4-BE49-F238E27FC236}">
                    <a16:creationId xmlns:a16="http://schemas.microsoft.com/office/drawing/2014/main" id="{E7D702E6-5FF1-1B41-EE84-DFA6DBFFBFC2}"/>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2" name="Freeform: Shape 140">
                <a:extLst>
                  <a:ext uri="{FF2B5EF4-FFF2-40B4-BE49-F238E27FC236}">
                    <a16:creationId xmlns:a16="http://schemas.microsoft.com/office/drawing/2014/main" id="{04A5BC54-6526-5F06-08C5-C4BEED8A529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3" name="Freeform: Shape 141">
                <a:extLst>
                  <a:ext uri="{FF2B5EF4-FFF2-40B4-BE49-F238E27FC236}">
                    <a16:creationId xmlns:a16="http://schemas.microsoft.com/office/drawing/2014/main" id="{42E9CB64-84A3-B916-B9ED-082835D0C2EB}"/>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4" name="Freeform: Shape 142">
                <a:extLst>
                  <a:ext uri="{FF2B5EF4-FFF2-40B4-BE49-F238E27FC236}">
                    <a16:creationId xmlns:a16="http://schemas.microsoft.com/office/drawing/2014/main" id="{109B1561-EF54-A6EC-3557-F34C7284C334}"/>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5" name="Freeform: Shape 143">
                <a:extLst>
                  <a:ext uri="{FF2B5EF4-FFF2-40B4-BE49-F238E27FC236}">
                    <a16:creationId xmlns:a16="http://schemas.microsoft.com/office/drawing/2014/main" id="{98356881-7665-7D78-DB10-CAE09196718D}"/>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6" name="Freeform: Shape 144">
                <a:extLst>
                  <a:ext uri="{FF2B5EF4-FFF2-40B4-BE49-F238E27FC236}">
                    <a16:creationId xmlns:a16="http://schemas.microsoft.com/office/drawing/2014/main" id="{8EA6D433-9E78-A4AA-D603-A7C95C7963C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7" name="Freeform: Shape 145">
                <a:extLst>
                  <a:ext uri="{FF2B5EF4-FFF2-40B4-BE49-F238E27FC236}">
                    <a16:creationId xmlns:a16="http://schemas.microsoft.com/office/drawing/2014/main" id="{02B4CEB7-7851-C14B-4910-91F97431E4BB}"/>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28" name="Freeform: Shape 146">
                <a:extLst>
                  <a:ext uri="{FF2B5EF4-FFF2-40B4-BE49-F238E27FC236}">
                    <a16:creationId xmlns:a16="http://schemas.microsoft.com/office/drawing/2014/main" id="{8FD0B43B-49E8-0760-3BBC-73716FFB1176}"/>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29" name="Freeform: Shape 147">
                <a:extLst>
                  <a:ext uri="{FF2B5EF4-FFF2-40B4-BE49-F238E27FC236}">
                    <a16:creationId xmlns:a16="http://schemas.microsoft.com/office/drawing/2014/main" id="{BEC4E3B0-A7F6-B81A-0C83-96122DC589DF}"/>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0" name="Freeform: Shape 148">
                <a:extLst>
                  <a:ext uri="{FF2B5EF4-FFF2-40B4-BE49-F238E27FC236}">
                    <a16:creationId xmlns:a16="http://schemas.microsoft.com/office/drawing/2014/main" id="{3D44FD96-A033-19CA-FC57-30302C8F6D93}"/>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1" name="Freeform: Shape 149">
                <a:extLst>
                  <a:ext uri="{FF2B5EF4-FFF2-40B4-BE49-F238E27FC236}">
                    <a16:creationId xmlns:a16="http://schemas.microsoft.com/office/drawing/2014/main" id="{1ECBB1E3-D490-04A8-E1B4-FEA01BAFAF1F}"/>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2" name="Freeform: Shape 150">
                <a:extLst>
                  <a:ext uri="{FF2B5EF4-FFF2-40B4-BE49-F238E27FC236}">
                    <a16:creationId xmlns:a16="http://schemas.microsoft.com/office/drawing/2014/main" id="{83AD7853-7768-6951-46C9-FF1A3C6897A8}"/>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3" name="Freeform: Shape 151">
                <a:extLst>
                  <a:ext uri="{FF2B5EF4-FFF2-40B4-BE49-F238E27FC236}">
                    <a16:creationId xmlns:a16="http://schemas.microsoft.com/office/drawing/2014/main" id="{64C07D1A-3616-583B-B9DD-D25A22983F7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4" name="Freeform: Shape 152">
                <a:extLst>
                  <a:ext uri="{FF2B5EF4-FFF2-40B4-BE49-F238E27FC236}">
                    <a16:creationId xmlns:a16="http://schemas.microsoft.com/office/drawing/2014/main" id="{670FEFBB-3740-CD89-C1FD-16F32710B30F}"/>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35" name="Freeform: Shape 153">
                <a:extLst>
                  <a:ext uri="{FF2B5EF4-FFF2-40B4-BE49-F238E27FC236}">
                    <a16:creationId xmlns:a16="http://schemas.microsoft.com/office/drawing/2014/main" id="{323CBE4B-2C2A-002D-56D3-F1A7589FBBF0}"/>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6" name="Freeform: Shape 154">
                <a:extLst>
                  <a:ext uri="{FF2B5EF4-FFF2-40B4-BE49-F238E27FC236}">
                    <a16:creationId xmlns:a16="http://schemas.microsoft.com/office/drawing/2014/main" id="{2EE0A93E-ECB1-76CA-3320-541A1CA68768}"/>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37" name="Freeform: Shape 155">
                <a:extLst>
                  <a:ext uri="{FF2B5EF4-FFF2-40B4-BE49-F238E27FC236}">
                    <a16:creationId xmlns:a16="http://schemas.microsoft.com/office/drawing/2014/main" id="{675EAD30-4B0A-A40E-93BB-981C683F8161}"/>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38" name="Freeform: Shape 156">
                <a:extLst>
                  <a:ext uri="{FF2B5EF4-FFF2-40B4-BE49-F238E27FC236}">
                    <a16:creationId xmlns:a16="http://schemas.microsoft.com/office/drawing/2014/main" id="{8E755DEF-B640-9247-DD66-6DD48ABAD9A7}"/>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39" name="Freeform: Shape 157">
                <a:extLst>
                  <a:ext uri="{FF2B5EF4-FFF2-40B4-BE49-F238E27FC236}">
                    <a16:creationId xmlns:a16="http://schemas.microsoft.com/office/drawing/2014/main" id="{4E46C120-B362-9F89-A276-E83256D3F9E6}"/>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40" name="Freeform: Shape 158">
                <a:extLst>
                  <a:ext uri="{FF2B5EF4-FFF2-40B4-BE49-F238E27FC236}">
                    <a16:creationId xmlns:a16="http://schemas.microsoft.com/office/drawing/2014/main" id="{F2C59790-A6E8-312A-E946-31BE21587378}"/>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1" name="Freeform: Shape 159">
                <a:extLst>
                  <a:ext uri="{FF2B5EF4-FFF2-40B4-BE49-F238E27FC236}">
                    <a16:creationId xmlns:a16="http://schemas.microsoft.com/office/drawing/2014/main" id="{A884385C-0D17-0849-EDAA-B7B2A8722A22}"/>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42" name="Freeform: Shape 160">
                <a:extLst>
                  <a:ext uri="{FF2B5EF4-FFF2-40B4-BE49-F238E27FC236}">
                    <a16:creationId xmlns:a16="http://schemas.microsoft.com/office/drawing/2014/main" id="{EC2F6470-B4AB-2A31-25EF-9AC595E5FB8A}"/>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4" name="Group 193">
              <a:extLst>
                <a:ext uri="{FF2B5EF4-FFF2-40B4-BE49-F238E27FC236}">
                  <a16:creationId xmlns:a16="http://schemas.microsoft.com/office/drawing/2014/main" id="{B53F533C-BF04-CE80-2B2A-6E3BCDB0AC17}"/>
                </a:ext>
              </a:extLst>
            </p:cNvPr>
            <p:cNvGrpSpPr/>
            <p:nvPr/>
          </p:nvGrpSpPr>
          <p:grpSpPr>
            <a:xfrm>
              <a:off x="10787679" y="2413972"/>
              <a:ext cx="1264298" cy="1005053"/>
              <a:chOff x="8867133" y="-492224"/>
              <a:chExt cx="1264298" cy="1005053"/>
            </a:xfrm>
          </p:grpSpPr>
          <p:sp>
            <p:nvSpPr>
              <p:cNvPr id="283" name="Freeform: Shape 131">
                <a:extLst>
                  <a:ext uri="{FF2B5EF4-FFF2-40B4-BE49-F238E27FC236}">
                    <a16:creationId xmlns:a16="http://schemas.microsoft.com/office/drawing/2014/main" id="{A340DFDA-ACB7-DDD0-E9F6-43BB153485D4}"/>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4" name="Freeform: Shape 132">
                <a:extLst>
                  <a:ext uri="{FF2B5EF4-FFF2-40B4-BE49-F238E27FC236}">
                    <a16:creationId xmlns:a16="http://schemas.microsoft.com/office/drawing/2014/main" id="{D0BB0720-C57A-656E-58B9-202C7DB8C09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5" name="Freeform: Shape 133">
                <a:extLst>
                  <a:ext uri="{FF2B5EF4-FFF2-40B4-BE49-F238E27FC236}">
                    <a16:creationId xmlns:a16="http://schemas.microsoft.com/office/drawing/2014/main" id="{20FFB692-03F4-3697-DDF9-8BA2CCB036AB}"/>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6" name="Freeform: Shape 134">
                <a:extLst>
                  <a:ext uri="{FF2B5EF4-FFF2-40B4-BE49-F238E27FC236}">
                    <a16:creationId xmlns:a16="http://schemas.microsoft.com/office/drawing/2014/main" id="{61452AA2-52EB-B487-E43E-A52F9E42B5AF}"/>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87" name="Freeform: Shape 135">
                <a:extLst>
                  <a:ext uri="{FF2B5EF4-FFF2-40B4-BE49-F238E27FC236}">
                    <a16:creationId xmlns:a16="http://schemas.microsoft.com/office/drawing/2014/main" id="{47498E91-93F0-BAF3-4573-74A477E315C5}"/>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8" name="Freeform: Shape 136">
                <a:extLst>
                  <a:ext uri="{FF2B5EF4-FFF2-40B4-BE49-F238E27FC236}">
                    <a16:creationId xmlns:a16="http://schemas.microsoft.com/office/drawing/2014/main" id="{13B0C120-54E4-E0E8-F2D1-0E4EF31B9E53}"/>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89" name="Freeform: Shape 137">
                <a:extLst>
                  <a:ext uri="{FF2B5EF4-FFF2-40B4-BE49-F238E27FC236}">
                    <a16:creationId xmlns:a16="http://schemas.microsoft.com/office/drawing/2014/main" id="{964E015A-8CE7-0A74-9AE2-8F826CAFD3C3}"/>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0" name="Freeform: Shape 138">
                <a:extLst>
                  <a:ext uri="{FF2B5EF4-FFF2-40B4-BE49-F238E27FC236}">
                    <a16:creationId xmlns:a16="http://schemas.microsoft.com/office/drawing/2014/main" id="{F45C2754-BA7D-B809-456D-F814411AAF11}"/>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1" name="Freeform: Shape 139">
                <a:extLst>
                  <a:ext uri="{FF2B5EF4-FFF2-40B4-BE49-F238E27FC236}">
                    <a16:creationId xmlns:a16="http://schemas.microsoft.com/office/drawing/2014/main" id="{BA9ABD14-2325-F6B0-DC4C-ACD23EE270A9}"/>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2" name="Freeform: Shape 140">
                <a:extLst>
                  <a:ext uri="{FF2B5EF4-FFF2-40B4-BE49-F238E27FC236}">
                    <a16:creationId xmlns:a16="http://schemas.microsoft.com/office/drawing/2014/main" id="{137078ED-08A9-0E71-57AD-945CF4F329FB}"/>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3" name="Freeform: Shape 141">
                <a:extLst>
                  <a:ext uri="{FF2B5EF4-FFF2-40B4-BE49-F238E27FC236}">
                    <a16:creationId xmlns:a16="http://schemas.microsoft.com/office/drawing/2014/main" id="{4BACD203-C34C-442C-5E19-D242AB38B290}"/>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4" name="Freeform: Shape 142">
                <a:extLst>
                  <a:ext uri="{FF2B5EF4-FFF2-40B4-BE49-F238E27FC236}">
                    <a16:creationId xmlns:a16="http://schemas.microsoft.com/office/drawing/2014/main" id="{2692229D-527F-BD28-789E-DE0A3090421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5" name="Freeform: Shape 143">
                <a:extLst>
                  <a:ext uri="{FF2B5EF4-FFF2-40B4-BE49-F238E27FC236}">
                    <a16:creationId xmlns:a16="http://schemas.microsoft.com/office/drawing/2014/main" id="{4902D0CD-585D-B283-F20F-1497C42DE56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6" name="Freeform: Shape 144">
                <a:extLst>
                  <a:ext uri="{FF2B5EF4-FFF2-40B4-BE49-F238E27FC236}">
                    <a16:creationId xmlns:a16="http://schemas.microsoft.com/office/drawing/2014/main" id="{E7BDD6F4-9EA0-AACB-C560-107C3F8B69DB}"/>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7" name="Freeform: Shape 145">
                <a:extLst>
                  <a:ext uri="{FF2B5EF4-FFF2-40B4-BE49-F238E27FC236}">
                    <a16:creationId xmlns:a16="http://schemas.microsoft.com/office/drawing/2014/main" id="{5157DE42-1A13-FA92-424C-1F68A5F52790}"/>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98" name="Freeform: Shape 146">
                <a:extLst>
                  <a:ext uri="{FF2B5EF4-FFF2-40B4-BE49-F238E27FC236}">
                    <a16:creationId xmlns:a16="http://schemas.microsoft.com/office/drawing/2014/main" id="{CA2A9167-5B16-82FE-82AB-81DE4975240A}"/>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99" name="Freeform: Shape 147">
                <a:extLst>
                  <a:ext uri="{FF2B5EF4-FFF2-40B4-BE49-F238E27FC236}">
                    <a16:creationId xmlns:a16="http://schemas.microsoft.com/office/drawing/2014/main" id="{5B9A7AA3-3856-3210-65D3-7BEA6F82505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0" name="Freeform: Shape 148">
                <a:extLst>
                  <a:ext uri="{FF2B5EF4-FFF2-40B4-BE49-F238E27FC236}">
                    <a16:creationId xmlns:a16="http://schemas.microsoft.com/office/drawing/2014/main" id="{E47671A7-1A7D-595C-230F-8E5CF0D57A5E}"/>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1" name="Freeform: Shape 149">
                <a:extLst>
                  <a:ext uri="{FF2B5EF4-FFF2-40B4-BE49-F238E27FC236}">
                    <a16:creationId xmlns:a16="http://schemas.microsoft.com/office/drawing/2014/main" id="{AE325C95-9DB4-4ABC-64E2-C13625EA8F2C}"/>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2" name="Freeform: Shape 150">
                <a:extLst>
                  <a:ext uri="{FF2B5EF4-FFF2-40B4-BE49-F238E27FC236}">
                    <a16:creationId xmlns:a16="http://schemas.microsoft.com/office/drawing/2014/main" id="{70470266-8149-DB0F-31AB-D0D227AB518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3" name="Freeform: Shape 151">
                <a:extLst>
                  <a:ext uri="{FF2B5EF4-FFF2-40B4-BE49-F238E27FC236}">
                    <a16:creationId xmlns:a16="http://schemas.microsoft.com/office/drawing/2014/main" id="{C7DAE5ED-0241-8E68-BB8D-B58F31BD3B24}"/>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4" name="Freeform: Shape 152">
                <a:extLst>
                  <a:ext uri="{FF2B5EF4-FFF2-40B4-BE49-F238E27FC236}">
                    <a16:creationId xmlns:a16="http://schemas.microsoft.com/office/drawing/2014/main" id="{52D706E0-6868-E48E-0768-545A5EA16BD1}"/>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305" name="Freeform: Shape 153">
                <a:extLst>
                  <a:ext uri="{FF2B5EF4-FFF2-40B4-BE49-F238E27FC236}">
                    <a16:creationId xmlns:a16="http://schemas.microsoft.com/office/drawing/2014/main" id="{3DDF3FAE-C888-F360-DEC2-AC1DF699210C}"/>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6" name="Freeform: Shape 154">
                <a:extLst>
                  <a:ext uri="{FF2B5EF4-FFF2-40B4-BE49-F238E27FC236}">
                    <a16:creationId xmlns:a16="http://schemas.microsoft.com/office/drawing/2014/main" id="{94A932A9-A9E7-0A9D-A807-BA3C3F611946}"/>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307" name="Freeform: Shape 155">
                <a:extLst>
                  <a:ext uri="{FF2B5EF4-FFF2-40B4-BE49-F238E27FC236}">
                    <a16:creationId xmlns:a16="http://schemas.microsoft.com/office/drawing/2014/main" id="{A3B55091-63C6-729A-C27F-06A0FAF42C97}"/>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08" name="Freeform: Shape 156">
                <a:extLst>
                  <a:ext uri="{FF2B5EF4-FFF2-40B4-BE49-F238E27FC236}">
                    <a16:creationId xmlns:a16="http://schemas.microsoft.com/office/drawing/2014/main" id="{EFE4B22A-2167-0F87-9CD0-674492E83261}"/>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09" name="Freeform: Shape 157">
                <a:extLst>
                  <a:ext uri="{FF2B5EF4-FFF2-40B4-BE49-F238E27FC236}">
                    <a16:creationId xmlns:a16="http://schemas.microsoft.com/office/drawing/2014/main" id="{78A90422-BCAC-6DA6-D96A-830ADF74AA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310" name="Freeform: Shape 158">
                <a:extLst>
                  <a:ext uri="{FF2B5EF4-FFF2-40B4-BE49-F238E27FC236}">
                    <a16:creationId xmlns:a16="http://schemas.microsoft.com/office/drawing/2014/main" id="{7772D494-0CB8-F701-1287-9FA4C8D6FE0D}"/>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1" name="Freeform: Shape 159">
                <a:extLst>
                  <a:ext uri="{FF2B5EF4-FFF2-40B4-BE49-F238E27FC236}">
                    <a16:creationId xmlns:a16="http://schemas.microsoft.com/office/drawing/2014/main" id="{7F0F2D36-127A-859C-76A1-D221BBF530FF}"/>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312" name="Freeform: Shape 160">
                <a:extLst>
                  <a:ext uri="{FF2B5EF4-FFF2-40B4-BE49-F238E27FC236}">
                    <a16:creationId xmlns:a16="http://schemas.microsoft.com/office/drawing/2014/main" id="{3EFB03EB-F6D2-DC77-46B7-5273B0D351F6}"/>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5" name="Group 194">
              <a:extLst>
                <a:ext uri="{FF2B5EF4-FFF2-40B4-BE49-F238E27FC236}">
                  <a16:creationId xmlns:a16="http://schemas.microsoft.com/office/drawing/2014/main" id="{9FF5EF6B-BE6B-08C7-8FC9-3F61FF01A694}"/>
                </a:ext>
              </a:extLst>
            </p:cNvPr>
            <p:cNvGrpSpPr/>
            <p:nvPr/>
          </p:nvGrpSpPr>
          <p:grpSpPr>
            <a:xfrm>
              <a:off x="10787679" y="3577217"/>
              <a:ext cx="1264298" cy="1005053"/>
              <a:chOff x="8867133" y="-492224"/>
              <a:chExt cx="1264298" cy="1005053"/>
            </a:xfrm>
          </p:grpSpPr>
          <p:sp>
            <p:nvSpPr>
              <p:cNvPr id="253" name="Freeform: Shape 131">
                <a:extLst>
                  <a:ext uri="{FF2B5EF4-FFF2-40B4-BE49-F238E27FC236}">
                    <a16:creationId xmlns:a16="http://schemas.microsoft.com/office/drawing/2014/main" id="{2F966702-0E74-EDBB-323B-8408DA20831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4" name="Freeform: Shape 132">
                <a:extLst>
                  <a:ext uri="{FF2B5EF4-FFF2-40B4-BE49-F238E27FC236}">
                    <a16:creationId xmlns:a16="http://schemas.microsoft.com/office/drawing/2014/main" id="{1F1341CA-5706-51C2-9232-4BDC9E9173F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5" name="Freeform: Shape 133">
                <a:extLst>
                  <a:ext uri="{FF2B5EF4-FFF2-40B4-BE49-F238E27FC236}">
                    <a16:creationId xmlns:a16="http://schemas.microsoft.com/office/drawing/2014/main" id="{4C7E1104-2709-9E57-5948-246B6B5152C5}"/>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6" name="Freeform: Shape 134">
                <a:extLst>
                  <a:ext uri="{FF2B5EF4-FFF2-40B4-BE49-F238E27FC236}">
                    <a16:creationId xmlns:a16="http://schemas.microsoft.com/office/drawing/2014/main" id="{F301332F-E56B-3CC3-30E6-49C93B40DC36}"/>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57" name="Freeform: Shape 135">
                <a:extLst>
                  <a:ext uri="{FF2B5EF4-FFF2-40B4-BE49-F238E27FC236}">
                    <a16:creationId xmlns:a16="http://schemas.microsoft.com/office/drawing/2014/main" id="{41F265F0-B8F1-015D-BCC0-97B113B619E2}"/>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8" name="Freeform: Shape 136">
                <a:extLst>
                  <a:ext uri="{FF2B5EF4-FFF2-40B4-BE49-F238E27FC236}">
                    <a16:creationId xmlns:a16="http://schemas.microsoft.com/office/drawing/2014/main" id="{960EDF1E-2D4E-4CF2-F034-B14441F0970F}"/>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59" name="Freeform: Shape 137">
                <a:extLst>
                  <a:ext uri="{FF2B5EF4-FFF2-40B4-BE49-F238E27FC236}">
                    <a16:creationId xmlns:a16="http://schemas.microsoft.com/office/drawing/2014/main" id="{8219C2D0-3D15-92BC-7A08-F593D2B0705E}"/>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0" name="Freeform: Shape 138">
                <a:extLst>
                  <a:ext uri="{FF2B5EF4-FFF2-40B4-BE49-F238E27FC236}">
                    <a16:creationId xmlns:a16="http://schemas.microsoft.com/office/drawing/2014/main" id="{FC446D3A-93F5-A7B2-CB8A-CF350A97393E}"/>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1" name="Freeform: Shape 139">
                <a:extLst>
                  <a:ext uri="{FF2B5EF4-FFF2-40B4-BE49-F238E27FC236}">
                    <a16:creationId xmlns:a16="http://schemas.microsoft.com/office/drawing/2014/main" id="{ED0AE599-36DC-C779-194C-7093CCF4F207}"/>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2" name="Freeform: Shape 140">
                <a:extLst>
                  <a:ext uri="{FF2B5EF4-FFF2-40B4-BE49-F238E27FC236}">
                    <a16:creationId xmlns:a16="http://schemas.microsoft.com/office/drawing/2014/main" id="{FD1CF0C5-F958-B124-D51E-218915F636F1}"/>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3" name="Freeform: Shape 141">
                <a:extLst>
                  <a:ext uri="{FF2B5EF4-FFF2-40B4-BE49-F238E27FC236}">
                    <a16:creationId xmlns:a16="http://schemas.microsoft.com/office/drawing/2014/main" id="{FBB77B73-BE23-4E32-E55B-84BED8CAA3FE}"/>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4" name="Freeform: Shape 142">
                <a:extLst>
                  <a:ext uri="{FF2B5EF4-FFF2-40B4-BE49-F238E27FC236}">
                    <a16:creationId xmlns:a16="http://schemas.microsoft.com/office/drawing/2014/main" id="{3D966FF4-8901-796C-FEDA-93A9FC5BF2CF}"/>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5" name="Freeform: Shape 143">
                <a:extLst>
                  <a:ext uri="{FF2B5EF4-FFF2-40B4-BE49-F238E27FC236}">
                    <a16:creationId xmlns:a16="http://schemas.microsoft.com/office/drawing/2014/main" id="{9963E82D-64D1-CE96-9AB2-4D48F3EF2514}"/>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6" name="Freeform: Shape 144">
                <a:extLst>
                  <a:ext uri="{FF2B5EF4-FFF2-40B4-BE49-F238E27FC236}">
                    <a16:creationId xmlns:a16="http://schemas.microsoft.com/office/drawing/2014/main" id="{202902B0-2314-D6F0-4822-EF986647120A}"/>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7" name="Freeform: Shape 145">
                <a:extLst>
                  <a:ext uri="{FF2B5EF4-FFF2-40B4-BE49-F238E27FC236}">
                    <a16:creationId xmlns:a16="http://schemas.microsoft.com/office/drawing/2014/main" id="{B890E0B9-9DB0-6AF8-DA0B-2E13F9CE8794}"/>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68" name="Freeform: Shape 146">
                <a:extLst>
                  <a:ext uri="{FF2B5EF4-FFF2-40B4-BE49-F238E27FC236}">
                    <a16:creationId xmlns:a16="http://schemas.microsoft.com/office/drawing/2014/main" id="{73593DB9-3722-596D-9FAB-0EA88B852D42}"/>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69" name="Freeform: Shape 147">
                <a:extLst>
                  <a:ext uri="{FF2B5EF4-FFF2-40B4-BE49-F238E27FC236}">
                    <a16:creationId xmlns:a16="http://schemas.microsoft.com/office/drawing/2014/main" id="{2318831A-ADAF-D87A-D4F6-EB76D5D9DC00}"/>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0" name="Freeform: Shape 148">
                <a:extLst>
                  <a:ext uri="{FF2B5EF4-FFF2-40B4-BE49-F238E27FC236}">
                    <a16:creationId xmlns:a16="http://schemas.microsoft.com/office/drawing/2014/main" id="{B4219E9B-FE83-1E92-D605-3C7B484AEAC5}"/>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1" name="Freeform: Shape 149">
                <a:extLst>
                  <a:ext uri="{FF2B5EF4-FFF2-40B4-BE49-F238E27FC236}">
                    <a16:creationId xmlns:a16="http://schemas.microsoft.com/office/drawing/2014/main" id="{49D5BA8F-0278-79EE-B1E7-FE80E5DF6CCA}"/>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2" name="Freeform: Shape 150">
                <a:extLst>
                  <a:ext uri="{FF2B5EF4-FFF2-40B4-BE49-F238E27FC236}">
                    <a16:creationId xmlns:a16="http://schemas.microsoft.com/office/drawing/2014/main" id="{C49E4EE3-0FFE-CB9E-CC73-2A1AFC71B8A7}"/>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3" name="Freeform: Shape 151">
                <a:extLst>
                  <a:ext uri="{FF2B5EF4-FFF2-40B4-BE49-F238E27FC236}">
                    <a16:creationId xmlns:a16="http://schemas.microsoft.com/office/drawing/2014/main" id="{D786AF54-38CE-0657-338E-6EEFBC8BE2B0}"/>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4" name="Freeform: Shape 152">
                <a:extLst>
                  <a:ext uri="{FF2B5EF4-FFF2-40B4-BE49-F238E27FC236}">
                    <a16:creationId xmlns:a16="http://schemas.microsoft.com/office/drawing/2014/main" id="{BAAA88C8-ADC8-FDA0-56DC-1AD099FE49BB}"/>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75" name="Freeform: Shape 153">
                <a:extLst>
                  <a:ext uri="{FF2B5EF4-FFF2-40B4-BE49-F238E27FC236}">
                    <a16:creationId xmlns:a16="http://schemas.microsoft.com/office/drawing/2014/main" id="{7F016FFF-9C30-2706-94DE-E99446C82EAE}"/>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6" name="Freeform: Shape 154">
                <a:extLst>
                  <a:ext uri="{FF2B5EF4-FFF2-40B4-BE49-F238E27FC236}">
                    <a16:creationId xmlns:a16="http://schemas.microsoft.com/office/drawing/2014/main" id="{785E9A80-4398-E072-7E55-73F370C2DE6A}"/>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77" name="Freeform: Shape 155">
                <a:extLst>
                  <a:ext uri="{FF2B5EF4-FFF2-40B4-BE49-F238E27FC236}">
                    <a16:creationId xmlns:a16="http://schemas.microsoft.com/office/drawing/2014/main" id="{807B3314-E6F2-45BC-DA08-A6B33C2B8CD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78" name="Freeform: Shape 156">
                <a:extLst>
                  <a:ext uri="{FF2B5EF4-FFF2-40B4-BE49-F238E27FC236}">
                    <a16:creationId xmlns:a16="http://schemas.microsoft.com/office/drawing/2014/main" id="{7EC15654-E5FD-F098-04B5-AD3B44049F9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79" name="Freeform: Shape 157">
                <a:extLst>
                  <a:ext uri="{FF2B5EF4-FFF2-40B4-BE49-F238E27FC236}">
                    <a16:creationId xmlns:a16="http://schemas.microsoft.com/office/drawing/2014/main" id="{84FF780F-546E-C892-EF4C-D62E02A7ED0E}"/>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80" name="Freeform: Shape 158">
                <a:extLst>
                  <a:ext uri="{FF2B5EF4-FFF2-40B4-BE49-F238E27FC236}">
                    <a16:creationId xmlns:a16="http://schemas.microsoft.com/office/drawing/2014/main" id="{078905F8-B95A-2FB3-DF5E-B4389AE7D50F}"/>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1" name="Freeform: Shape 159">
                <a:extLst>
                  <a:ext uri="{FF2B5EF4-FFF2-40B4-BE49-F238E27FC236}">
                    <a16:creationId xmlns:a16="http://schemas.microsoft.com/office/drawing/2014/main" id="{6189FBFB-389B-B278-2553-FC5F28D9BE73}"/>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82" name="Freeform: Shape 160">
                <a:extLst>
                  <a:ext uri="{FF2B5EF4-FFF2-40B4-BE49-F238E27FC236}">
                    <a16:creationId xmlns:a16="http://schemas.microsoft.com/office/drawing/2014/main" id="{B9582A29-926B-4022-74E9-E80BCDF41A62}"/>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6" name="Group 195">
              <a:extLst>
                <a:ext uri="{FF2B5EF4-FFF2-40B4-BE49-F238E27FC236}">
                  <a16:creationId xmlns:a16="http://schemas.microsoft.com/office/drawing/2014/main" id="{7765B2B6-F687-B1A0-C8CB-B480269B7D5D}"/>
                </a:ext>
              </a:extLst>
            </p:cNvPr>
            <p:cNvGrpSpPr/>
            <p:nvPr/>
          </p:nvGrpSpPr>
          <p:grpSpPr>
            <a:xfrm>
              <a:off x="10790283" y="4770606"/>
              <a:ext cx="1264298" cy="1005053"/>
              <a:chOff x="8867133" y="-492224"/>
              <a:chExt cx="1264298" cy="1005053"/>
            </a:xfrm>
          </p:grpSpPr>
          <p:sp>
            <p:nvSpPr>
              <p:cNvPr id="223" name="Freeform: Shape 131">
                <a:extLst>
                  <a:ext uri="{FF2B5EF4-FFF2-40B4-BE49-F238E27FC236}">
                    <a16:creationId xmlns:a16="http://schemas.microsoft.com/office/drawing/2014/main" id="{A18B3889-AB13-53BE-2D2C-5F3058D92D73}"/>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4" name="Freeform: Shape 132">
                <a:extLst>
                  <a:ext uri="{FF2B5EF4-FFF2-40B4-BE49-F238E27FC236}">
                    <a16:creationId xmlns:a16="http://schemas.microsoft.com/office/drawing/2014/main" id="{0B197A8F-A1CF-9810-93C5-874DAAE3B85D}"/>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5" name="Freeform: Shape 133">
                <a:extLst>
                  <a:ext uri="{FF2B5EF4-FFF2-40B4-BE49-F238E27FC236}">
                    <a16:creationId xmlns:a16="http://schemas.microsoft.com/office/drawing/2014/main" id="{9D9D23BA-BB7A-4533-A18F-A978297A75DD}"/>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6" name="Freeform: Shape 134">
                <a:extLst>
                  <a:ext uri="{FF2B5EF4-FFF2-40B4-BE49-F238E27FC236}">
                    <a16:creationId xmlns:a16="http://schemas.microsoft.com/office/drawing/2014/main" id="{BBA049FF-0CA9-5777-F3EC-9CBF878B188B}"/>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27" name="Freeform: Shape 135">
                <a:extLst>
                  <a:ext uri="{FF2B5EF4-FFF2-40B4-BE49-F238E27FC236}">
                    <a16:creationId xmlns:a16="http://schemas.microsoft.com/office/drawing/2014/main" id="{9EB985FC-006E-6E22-D801-FFF1C621D466}"/>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8" name="Freeform: Shape 136">
                <a:extLst>
                  <a:ext uri="{FF2B5EF4-FFF2-40B4-BE49-F238E27FC236}">
                    <a16:creationId xmlns:a16="http://schemas.microsoft.com/office/drawing/2014/main" id="{16F63C8C-77B6-ED30-7F41-34F662BFBFFE}"/>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29" name="Freeform: Shape 137">
                <a:extLst>
                  <a:ext uri="{FF2B5EF4-FFF2-40B4-BE49-F238E27FC236}">
                    <a16:creationId xmlns:a16="http://schemas.microsoft.com/office/drawing/2014/main" id="{0737BEA7-5D85-2AD8-00E7-04CCFFA8958A}"/>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0" name="Freeform: Shape 138">
                <a:extLst>
                  <a:ext uri="{FF2B5EF4-FFF2-40B4-BE49-F238E27FC236}">
                    <a16:creationId xmlns:a16="http://schemas.microsoft.com/office/drawing/2014/main" id="{BF8C2B69-152E-74FE-9E61-7235B8B48C2B}"/>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1" name="Freeform: Shape 139">
                <a:extLst>
                  <a:ext uri="{FF2B5EF4-FFF2-40B4-BE49-F238E27FC236}">
                    <a16:creationId xmlns:a16="http://schemas.microsoft.com/office/drawing/2014/main" id="{A7DBE652-36DF-9163-08EA-EA412F47EA5D}"/>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2" name="Freeform: Shape 140">
                <a:extLst>
                  <a:ext uri="{FF2B5EF4-FFF2-40B4-BE49-F238E27FC236}">
                    <a16:creationId xmlns:a16="http://schemas.microsoft.com/office/drawing/2014/main" id="{D80C1650-9F41-3245-43E5-4DB873E10329}"/>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3" name="Freeform: Shape 141">
                <a:extLst>
                  <a:ext uri="{FF2B5EF4-FFF2-40B4-BE49-F238E27FC236}">
                    <a16:creationId xmlns:a16="http://schemas.microsoft.com/office/drawing/2014/main" id="{CAF9A948-8F72-203E-3516-C758594DB9F5}"/>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4" name="Freeform: Shape 142">
                <a:extLst>
                  <a:ext uri="{FF2B5EF4-FFF2-40B4-BE49-F238E27FC236}">
                    <a16:creationId xmlns:a16="http://schemas.microsoft.com/office/drawing/2014/main" id="{1EAD676A-689E-D3C3-7D9D-C4651E466E7C}"/>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5" name="Freeform: Shape 143">
                <a:extLst>
                  <a:ext uri="{FF2B5EF4-FFF2-40B4-BE49-F238E27FC236}">
                    <a16:creationId xmlns:a16="http://schemas.microsoft.com/office/drawing/2014/main" id="{4E638940-93C1-F526-9CD1-DCD4ED731490}"/>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6" name="Freeform: Shape 144">
                <a:extLst>
                  <a:ext uri="{FF2B5EF4-FFF2-40B4-BE49-F238E27FC236}">
                    <a16:creationId xmlns:a16="http://schemas.microsoft.com/office/drawing/2014/main" id="{B1D81BAB-ECCC-A195-ECC8-C46CF423AA5E}"/>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7" name="Freeform: Shape 145">
                <a:extLst>
                  <a:ext uri="{FF2B5EF4-FFF2-40B4-BE49-F238E27FC236}">
                    <a16:creationId xmlns:a16="http://schemas.microsoft.com/office/drawing/2014/main" id="{05C89757-E599-FECF-2D50-5955585297AC}"/>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38" name="Freeform: Shape 146">
                <a:extLst>
                  <a:ext uri="{FF2B5EF4-FFF2-40B4-BE49-F238E27FC236}">
                    <a16:creationId xmlns:a16="http://schemas.microsoft.com/office/drawing/2014/main" id="{E1360129-27B1-BD79-C8AA-8F44DB5A3B33}"/>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39" name="Freeform: Shape 147">
                <a:extLst>
                  <a:ext uri="{FF2B5EF4-FFF2-40B4-BE49-F238E27FC236}">
                    <a16:creationId xmlns:a16="http://schemas.microsoft.com/office/drawing/2014/main" id="{13DFD579-809B-8474-883A-4B55CDD32D9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0" name="Freeform: Shape 148">
                <a:extLst>
                  <a:ext uri="{FF2B5EF4-FFF2-40B4-BE49-F238E27FC236}">
                    <a16:creationId xmlns:a16="http://schemas.microsoft.com/office/drawing/2014/main" id="{88EA25CE-7CB4-5194-ED47-61E059C6944B}"/>
                  </a:ext>
                </a:extLst>
              </p:cNvPr>
              <p:cNvSpPr/>
              <p:nvPr/>
            </p:nvSpPr>
            <p:spPr>
              <a:xfrm>
                <a:off x="10068592"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1" name="Freeform: Shape 149">
                <a:extLst>
                  <a:ext uri="{FF2B5EF4-FFF2-40B4-BE49-F238E27FC236}">
                    <a16:creationId xmlns:a16="http://schemas.microsoft.com/office/drawing/2014/main" id="{2D8D8CE6-E1B7-587A-847C-5941ACB9AC15}"/>
                  </a:ext>
                </a:extLst>
              </p:cNvPr>
              <p:cNvSpPr/>
              <p:nvPr/>
            </p:nvSpPr>
            <p:spPr>
              <a:xfrm>
                <a:off x="8868533"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2" name="Freeform: Shape 150">
                <a:extLst>
                  <a:ext uri="{FF2B5EF4-FFF2-40B4-BE49-F238E27FC236}">
                    <a16:creationId xmlns:a16="http://schemas.microsoft.com/office/drawing/2014/main" id="{8BC5CBC6-9EE9-39D7-ED8F-07710A360E00}"/>
                  </a:ext>
                </a:extLst>
              </p:cNvPr>
              <p:cNvSpPr/>
              <p:nvPr/>
            </p:nvSpPr>
            <p:spPr>
              <a:xfrm>
                <a:off x="9108570"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3" name="Freeform: Shape 151">
                <a:extLst>
                  <a:ext uri="{FF2B5EF4-FFF2-40B4-BE49-F238E27FC236}">
                    <a16:creationId xmlns:a16="http://schemas.microsoft.com/office/drawing/2014/main" id="{1B3D5177-AF08-AB1C-DC75-17BBB1F301EE}"/>
                  </a:ext>
                </a:extLst>
              </p:cNvPr>
              <p:cNvSpPr/>
              <p:nvPr/>
            </p:nvSpPr>
            <p:spPr>
              <a:xfrm>
                <a:off x="9348607"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4" name="Freeform: Shape 152">
                <a:extLst>
                  <a:ext uri="{FF2B5EF4-FFF2-40B4-BE49-F238E27FC236}">
                    <a16:creationId xmlns:a16="http://schemas.microsoft.com/office/drawing/2014/main" id="{1A722BFE-03A6-890F-92C9-AABC3C35AF7A}"/>
                  </a:ext>
                </a:extLst>
              </p:cNvPr>
              <p:cNvSpPr/>
              <p:nvPr/>
            </p:nvSpPr>
            <p:spPr>
              <a:xfrm>
                <a:off x="9588518" y="449990"/>
                <a:ext cx="62839" cy="62839"/>
              </a:xfrm>
              <a:custGeom>
                <a:avLst/>
                <a:gdLst>
                  <a:gd name="connsiteX0" fmla="*/ 57878 w 62839"/>
                  <a:gd name="connsiteY0" fmla="*/ 0 h 62839"/>
                  <a:gd name="connsiteX1" fmla="*/ 0 w 62839"/>
                  <a:gd name="connsiteY1" fmla="*/ 0 h 62839"/>
                  <a:gd name="connsiteX2" fmla="*/ 5088 w 62839"/>
                  <a:gd name="connsiteY2" fmla="*/ 4960 h 62839"/>
                  <a:gd name="connsiteX3" fmla="*/ 54317 w 62839"/>
                  <a:gd name="connsiteY3" fmla="*/ 4960 h 62839"/>
                  <a:gd name="connsiteX4" fmla="*/ 127 w 62839"/>
                  <a:gd name="connsiteY4" fmla="*/ 59278 h 62839"/>
                  <a:gd name="connsiteX5" fmla="*/ 3689 w 62839"/>
                  <a:gd name="connsiteY5" fmla="*/ 62840 h 62839"/>
                  <a:gd name="connsiteX6" fmla="*/ 57878 w 62839"/>
                  <a:gd name="connsiteY6" fmla="*/ 8523 h 62839"/>
                  <a:gd name="connsiteX7" fmla="*/ 57878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4960"/>
                    </a:lnTo>
                    <a:lnTo>
                      <a:pt x="54317" y="4960"/>
                    </a:lnTo>
                    <a:lnTo>
                      <a:pt x="127" y="59278"/>
                    </a:lnTo>
                    <a:lnTo>
                      <a:pt x="3689" y="62840"/>
                    </a:lnTo>
                    <a:lnTo>
                      <a:pt x="57878" y="8523"/>
                    </a:lnTo>
                    <a:lnTo>
                      <a:pt x="57878" y="58132"/>
                    </a:lnTo>
                    <a:lnTo>
                      <a:pt x="62840" y="62712"/>
                    </a:lnTo>
                    <a:lnTo>
                      <a:pt x="62840" y="4960"/>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45" name="Freeform: Shape 153">
                <a:extLst>
                  <a:ext uri="{FF2B5EF4-FFF2-40B4-BE49-F238E27FC236}">
                    <a16:creationId xmlns:a16="http://schemas.microsoft.com/office/drawing/2014/main" id="{78053181-E1FD-7EC5-8947-FB4A54AA7E58}"/>
                  </a:ext>
                </a:extLst>
              </p:cNvPr>
              <p:cNvSpPr/>
              <p:nvPr/>
            </p:nvSpPr>
            <p:spPr>
              <a:xfrm>
                <a:off x="9828555" y="449990"/>
                <a:ext cx="62839" cy="62839"/>
              </a:xfrm>
              <a:custGeom>
                <a:avLst/>
                <a:gdLst>
                  <a:gd name="connsiteX0" fmla="*/ 57752 w 62839"/>
                  <a:gd name="connsiteY0" fmla="*/ 0 h 62839"/>
                  <a:gd name="connsiteX1" fmla="*/ 0 w 62839"/>
                  <a:gd name="connsiteY1" fmla="*/ 0 h 62839"/>
                  <a:gd name="connsiteX2" fmla="*/ 5088 w 62839"/>
                  <a:gd name="connsiteY2" fmla="*/ 4960 h 62839"/>
                  <a:gd name="connsiteX3" fmla="*/ 54189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4960"/>
                    </a:lnTo>
                    <a:lnTo>
                      <a:pt x="54189"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6" name="Freeform: Shape 154">
                <a:extLst>
                  <a:ext uri="{FF2B5EF4-FFF2-40B4-BE49-F238E27FC236}">
                    <a16:creationId xmlns:a16="http://schemas.microsoft.com/office/drawing/2014/main" id="{9ED2E186-9CFC-81CF-7691-8085C576E840}"/>
                  </a:ext>
                </a:extLst>
              </p:cNvPr>
              <p:cNvSpPr/>
              <p:nvPr/>
            </p:nvSpPr>
            <p:spPr>
              <a:xfrm>
                <a:off x="10068592" y="449990"/>
                <a:ext cx="62839" cy="62839"/>
              </a:xfrm>
              <a:custGeom>
                <a:avLst/>
                <a:gdLst>
                  <a:gd name="connsiteX0" fmla="*/ 57752 w 62839"/>
                  <a:gd name="connsiteY0" fmla="*/ 0 h 62839"/>
                  <a:gd name="connsiteX1" fmla="*/ 0 w 62839"/>
                  <a:gd name="connsiteY1" fmla="*/ 0 h 62839"/>
                  <a:gd name="connsiteX2" fmla="*/ 4961 w 62839"/>
                  <a:gd name="connsiteY2" fmla="*/ 4960 h 62839"/>
                  <a:gd name="connsiteX3" fmla="*/ 54190 w 62839"/>
                  <a:gd name="connsiteY3" fmla="*/ 4960 h 62839"/>
                  <a:gd name="connsiteX4" fmla="*/ 0 w 62839"/>
                  <a:gd name="connsiteY4" fmla="*/ 59278 h 62839"/>
                  <a:gd name="connsiteX5" fmla="*/ 3562 w 62839"/>
                  <a:gd name="connsiteY5" fmla="*/ 62840 h 62839"/>
                  <a:gd name="connsiteX6" fmla="*/ 57752 w 62839"/>
                  <a:gd name="connsiteY6" fmla="*/ 8523 h 62839"/>
                  <a:gd name="connsiteX7" fmla="*/ 57752 w 62839"/>
                  <a:gd name="connsiteY7" fmla="*/ 58132 h 62839"/>
                  <a:gd name="connsiteX8" fmla="*/ 62840 w 62839"/>
                  <a:gd name="connsiteY8" fmla="*/ 62712 h 62839"/>
                  <a:gd name="connsiteX9" fmla="*/ 62840 w 62839"/>
                  <a:gd name="connsiteY9" fmla="*/ 4960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4960"/>
                    </a:lnTo>
                    <a:lnTo>
                      <a:pt x="54190" y="4960"/>
                    </a:lnTo>
                    <a:lnTo>
                      <a:pt x="0" y="59278"/>
                    </a:lnTo>
                    <a:lnTo>
                      <a:pt x="3562" y="62840"/>
                    </a:lnTo>
                    <a:lnTo>
                      <a:pt x="57752" y="8523"/>
                    </a:lnTo>
                    <a:lnTo>
                      <a:pt x="57752" y="58132"/>
                    </a:lnTo>
                    <a:lnTo>
                      <a:pt x="62840" y="62712"/>
                    </a:lnTo>
                    <a:lnTo>
                      <a:pt x="62840" y="4960"/>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47" name="Freeform: Shape 155">
                <a:extLst>
                  <a:ext uri="{FF2B5EF4-FFF2-40B4-BE49-F238E27FC236}">
                    <a16:creationId xmlns:a16="http://schemas.microsoft.com/office/drawing/2014/main" id="{9EB89204-39A6-4131-F605-2828D960BF1C}"/>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48" name="Freeform: Shape 156">
                <a:extLst>
                  <a:ext uri="{FF2B5EF4-FFF2-40B4-BE49-F238E27FC236}">
                    <a16:creationId xmlns:a16="http://schemas.microsoft.com/office/drawing/2014/main" id="{4ADB8665-025E-D139-05C5-F5C3012D55AE}"/>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49" name="Freeform: Shape 157">
                <a:extLst>
                  <a:ext uri="{FF2B5EF4-FFF2-40B4-BE49-F238E27FC236}">
                    <a16:creationId xmlns:a16="http://schemas.microsoft.com/office/drawing/2014/main" id="{8131E12C-599B-E502-7A80-678C7CEC1AC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50" name="Freeform: Shape 158">
                <a:extLst>
                  <a:ext uri="{FF2B5EF4-FFF2-40B4-BE49-F238E27FC236}">
                    <a16:creationId xmlns:a16="http://schemas.microsoft.com/office/drawing/2014/main" id="{C0E3567B-CB0B-EB69-D811-09D763F85B6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1" name="Freeform: Shape 159">
                <a:extLst>
                  <a:ext uri="{FF2B5EF4-FFF2-40B4-BE49-F238E27FC236}">
                    <a16:creationId xmlns:a16="http://schemas.microsoft.com/office/drawing/2014/main" id="{6BFF59CA-0AB7-F3D3-766B-50E9FF642A78}"/>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52" name="Freeform: Shape 160">
                <a:extLst>
                  <a:ext uri="{FF2B5EF4-FFF2-40B4-BE49-F238E27FC236}">
                    <a16:creationId xmlns:a16="http://schemas.microsoft.com/office/drawing/2014/main" id="{CFF006CC-2504-600E-8C8D-061BF611536F}"/>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nvGrpSpPr>
            <p:cNvPr id="197" name="Group 196">
              <a:extLst>
                <a:ext uri="{FF2B5EF4-FFF2-40B4-BE49-F238E27FC236}">
                  <a16:creationId xmlns:a16="http://schemas.microsoft.com/office/drawing/2014/main" id="{20FAEAC8-7633-C0ED-16D8-85DD90DB6BA7}"/>
                </a:ext>
              </a:extLst>
            </p:cNvPr>
            <p:cNvGrpSpPr/>
            <p:nvPr/>
          </p:nvGrpSpPr>
          <p:grpSpPr>
            <a:xfrm>
              <a:off x="10701084" y="5836321"/>
              <a:ext cx="1493520" cy="1021679"/>
              <a:chOff x="10698480" y="0"/>
              <a:chExt cx="1493520" cy="1021679"/>
            </a:xfrm>
          </p:grpSpPr>
          <p:sp>
            <p:nvSpPr>
              <p:cNvPr id="198" name="Rectangle 197">
                <a:extLst>
                  <a:ext uri="{FF2B5EF4-FFF2-40B4-BE49-F238E27FC236}">
                    <a16:creationId xmlns:a16="http://schemas.microsoft.com/office/drawing/2014/main" id="{EBCF0B54-351D-C38D-7663-135FEC1FF921}"/>
                  </a:ext>
                </a:extLst>
              </p:cNvPr>
              <p:cNvSpPr/>
              <p:nvPr/>
            </p:nvSpPr>
            <p:spPr>
              <a:xfrm>
                <a:off x="10698480" y="0"/>
                <a:ext cx="1493520" cy="10216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9" name="Group 198">
                <a:extLst>
                  <a:ext uri="{FF2B5EF4-FFF2-40B4-BE49-F238E27FC236}">
                    <a16:creationId xmlns:a16="http://schemas.microsoft.com/office/drawing/2014/main" id="{AA008DC5-5FFA-3CA6-E50E-455ED3A807FA}"/>
                  </a:ext>
                </a:extLst>
              </p:cNvPr>
              <p:cNvGrpSpPr/>
              <p:nvPr/>
            </p:nvGrpSpPr>
            <p:grpSpPr>
              <a:xfrm>
                <a:off x="10787679" y="97530"/>
                <a:ext cx="1264298" cy="769086"/>
                <a:chOff x="8867133" y="-492224"/>
                <a:chExt cx="1264298" cy="769086"/>
              </a:xfrm>
            </p:grpSpPr>
            <p:sp>
              <p:nvSpPr>
                <p:cNvPr id="200" name="Freeform: Shape 131">
                  <a:extLst>
                    <a:ext uri="{FF2B5EF4-FFF2-40B4-BE49-F238E27FC236}">
                      <a16:creationId xmlns:a16="http://schemas.microsoft.com/office/drawing/2014/main" id="{614D64B0-A2BB-D2A1-7B26-719E2968FB78}"/>
                    </a:ext>
                  </a:extLst>
                </p:cNvPr>
                <p:cNvSpPr/>
                <p:nvPr/>
              </p:nvSpPr>
              <p:spPr>
                <a:xfrm>
                  <a:off x="8868533"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1" name="Freeform: Shape 132">
                  <a:extLst>
                    <a:ext uri="{FF2B5EF4-FFF2-40B4-BE49-F238E27FC236}">
                      <a16:creationId xmlns:a16="http://schemas.microsoft.com/office/drawing/2014/main" id="{324D23FB-7C6E-2B25-2737-824F9C2827AA}"/>
                    </a:ext>
                  </a:extLst>
                </p:cNvPr>
                <p:cNvSpPr/>
                <p:nvPr/>
              </p:nvSpPr>
              <p:spPr>
                <a:xfrm>
                  <a:off x="9108570"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2" name="Freeform: Shape 133">
                  <a:extLst>
                    <a:ext uri="{FF2B5EF4-FFF2-40B4-BE49-F238E27FC236}">
                      <a16:creationId xmlns:a16="http://schemas.microsoft.com/office/drawing/2014/main" id="{291001BA-A2AD-02D8-95F8-1AFD49B52004}"/>
                    </a:ext>
                  </a:extLst>
                </p:cNvPr>
                <p:cNvSpPr/>
                <p:nvPr/>
              </p:nvSpPr>
              <p:spPr>
                <a:xfrm>
                  <a:off x="9348607"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3" name="Freeform: Shape 134">
                  <a:extLst>
                    <a:ext uri="{FF2B5EF4-FFF2-40B4-BE49-F238E27FC236}">
                      <a16:creationId xmlns:a16="http://schemas.microsoft.com/office/drawing/2014/main" id="{95E36737-AF0F-ADF0-EC67-4A0287AEF073}"/>
                    </a:ext>
                  </a:extLst>
                </p:cNvPr>
                <p:cNvSpPr/>
                <p:nvPr/>
              </p:nvSpPr>
              <p:spPr>
                <a:xfrm>
                  <a:off x="9588518" y="-257783"/>
                  <a:ext cx="62839" cy="62712"/>
                </a:xfrm>
                <a:custGeom>
                  <a:avLst/>
                  <a:gdLst>
                    <a:gd name="connsiteX0" fmla="*/ 57878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2 h 62712"/>
                    <a:gd name="connsiteX6" fmla="*/ 57878 w 62839"/>
                    <a:gd name="connsiteY6" fmla="*/ 8523 h 62712"/>
                    <a:gd name="connsiteX7" fmla="*/ 57878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878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8" y="0"/>
                      </a:moveTo>
                      <a:lnTo>
                        <a:pt x="0" y="0"/>
                      </a:lnTo>
                      <a:lnTo>
                        <a:pt x="5088" y="4961"/>
                      </a:lnTo>
                      <a:lnTo>
                        <a:pt x="54317" y="4961"/>
                      </a:lnTo>
                      <a:lnTo>
                        <a:pt x="127" y="59151"/>
                      </a:lnTo>
                      <a:lnTo>
                        <a:pt x="3689" y="62712"/>
                      </a:lnTo>
                      <a:lnTo>
                        <a:pt x="57878" y="8523"/>
                      </a:lnTo>
                      <a:lnTo>
                        <a:pt x="57878" y="58133"/>
                      </a:lnTo>
                      <a:lnTo>
                        <a:pt x="62840" y="62712"/>
                      </a:lnTo>
                      <a:lnTo>
                        <a:pt x="62840" y="4961"/>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4" name="Freeform: Shape 135">
                  <a:extLst>
                    <a:ext uri="{FF2B5EF4-FFF2-40B4-BE49-F238E27FC236}">
                      <a16:creationId xmlns:a16="http://schemas.microsoft.com/office/drawing/2014/main" id="{9006DC27-8FCF-44EE-A555-031F1AB45970}"/>
                    </a:ext>
                  </a:extLst>
                </p:cNvPr>
                <p:cNvSpPr/>
                <p:nvPr/>
              </p:nvSpPr>
              <p:spPr>
                <a:xfrm>
                  <a:off x="9828555" y="-257783"/>
                  <a:ext cx="62839" cy="62712"/>
                </a:xfrm>
                <a:custGeom>
                  <a:avLst/>
                  <a:gdLst>
                    <a:gd name="connsiteX0" fmla="*/ 57752 w 62839"/>
                    <a:gd name="connsiteY0" fmla="*/ 0 h 62712"/>
                    <a:gd name="connsiteX1" fmla="*/ 0 w 62839"/>
                    <a:gd name="connsiteY1" fmla="*/ 0 h 62712"/>
                    <a:gd name="connsiteX2" fmla="*/ 5088 w 62839"/>
                    <a:gd name="connsiteY2" fmla="*/ 4961 h 62712"/>
                    <a:gd name="connsiteX3" fmla="*/ 54189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8" y="4961"/>
                      </a:lnTo>
                      <a:lnTo>
                        <a:pt x="54189"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5" name="Freeform: Shape 136">
                  <a:extLst>
                    <a:ext uri="{FF2B5EF4-FFF2-40B4-BE49-F238E27FC236}">
                      <a16:creationId xmlns:a16="http://schemas.microsoft.com/office/drawing/2014/main" id="{DDF25CA9-EE35-7569-A3D5-3C55FEF10432}"/>
                    </a:ext>
                  </a:extLst>
                </p:cNvPr>
                <p:cNvSpPr/>
                <p:nvPr/>
              </p:nvSpPr>
              <p:spPr>
                <a:xfrm>
                  <a:off x="10068592" y="-257783"/>
                  <a:ext cx="62839" cy="62712"/>
                </a:xfrm>
                <a:custGeom>
                  <a:avLst/>
                  <a:gdLst>
                    <a:gd name="connsiteX0" fmla="*/ 57752 w 62839"/>
                    <a:gd name="connsiteY0" fmla="*/ 0 h 62712"/>
                    <a:gd name="connsiteX1" fmla="*/ 0 w 62839"/>
                    <a:gd name="connsiteY1" fmla="*/ 0 h 62712"/>
                    <a:gd name="connsiteX2" fmla="*/ 4961 w 62839"/>
                    <a:gd name="connsiteY2" fmla="*/ 4961 h 62712"/>
                    <a:gd name="connsiteX3" fmla="*/ 54190 w 62839"/>
                    <a:gd name="connsiteY3" fmla="*/ 4961 h 62712"/>
                    <a:gd name="connsiteX4" fmla="*/ 0 w 62839"/>
                    <a:gd name="connsiteY4" fmla="*/ 59151 h 62712"/>
                    <a:gd name="connsiteX5" fmla="*/ 3562 w 62839"/>
                    <a:gd name="connsiteY5" fmla="*/ 62712 h 62712"/>
                    <a:gd name="connsiteX6" fmla="*/ 57752 w 62839"/>
                    <a:gd name="connsiteY6" fmla="*/ 8523 h 62712"/>
                    <a:gd name="connsiteX7" fmla="*/ 57752 w 62839"/>
                    <a:gd name="connsiteY7" fmla="*/ 58133 h 62712"/>
                    <a:gd name="connsiteX8" fmla="*/ 62840 w 62839"/>
                    <a:gd name="connsiteY8" fmla="*/ 62712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4961" y="4961"/>
                      </a:lnTo>
                      <a:lnTo>
                        <a:pt x="54190" y="4961"/>
                      </a:lnTo>
                      <a:lnTo>
                        <a:pt x="0" y="59151"/>
                      </a:lnTo>
                      <a:lnTo>
                        <a:pt x="3562" y="62712"/>
                      </a:lnTo>
                      <a:lnTo>
                        <a:pt x="57752" y="8523"/>
                      </a:lnTo>
                      <a:lnTo>
                        <a:pt x="57752" y="58133"/>
                      </a:lnTo>
                      <a:lnTo>
                        <a:pt x="62840" y="62712"/>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6" name="Freeform: Shape 137">
                  <a:extLst>
                    <a:ext uri="{FF2B5EF4-FFF2-40B4-BE49-F238E27FC236}">
                      <a16:creationId xmlns:a16="http://schemas.microsoft.com/office/drawing/2014/main" id="{E79EEFAE-90A4-0F6A-627E-57F7B43CFA26}"/>
                    </a:ext>
                  </a:extLst>
                </p:cNvPr>
                <p:cNvSpPr/>
                <p:nvPr/>
              </p:nvSpPr>
              <p:spPr>
                <a:xfrm>
                  <a:off x="8868533"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07" name="Freeform: Shape 138">
                  <a:extLst>
                    <a:ext uri="{FF2B5EF4-FFF2-40B4-BE49-F238E27FC236}">
                      <a16:creationId xmlns:a16="http://schemas.microsoft.com/office/drawing/2014/main" id="{877D0A70-5296-AF0A-A358-0EC98CD2AD16}"/>
                    </a:ext>
                  </a:extLst>
                </p:cNvPr>
                <p:cNvSpPr/>
                <p:nvPr/>
              </p:nvSpPr>
              <p:spPr>
                <a:xfrm>
                  <a:off x="9108570"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8" name="Freeform: Shape 139">
                  <a:extLst>
                    <a:ext uri="{FF2B5EF4-FFF2-40B4-BE49-F238E27FC236}">
                      <a16:creationId xmlns:a16="http://schemas.microsoft.com/office/drawing/2014/main" id="{A4254E57-33F3-3BAD-FF68-22B91BE861EF}"/>
                    </a:ext>
                  </a:extLst>
                </p:cNvPr>
                <p:cNvSpPr/>
                <p:nvPr/>
              </p:nvSpPr>
              <p:spPr>
                <a:xfrm>
                  <a:off x="9348607"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09" name="Freeform: Shape 140">
                  <a:extLst>
                    <a:ext uri="{FF2B5EF4-FFF2-40B4-BE49-F238E27FC236}">
                      <a16:creationId xmlns:a16="http://schemas.microsoft.com/office/drawing/2014/main" id="{94B6A35E-F6A5-0526-3F52-2DBC259D906E}"/>
                    </a:ext>
                  </a:extLst>
                </p:cNvPr>
                <p:cNvSpPr/>
                <p:nvPr/>
              </p:nvSpPr>
              <p:spPr>
                <a:xfrm>
                  <a:off x="9588518" y="-21944"/>
                  <a:ext cx="62839" cy="62839"/>
                </a:xfrm>
                <a:custGeom>
                  <a:avLst/>
                  <a:gdLst>
                    <a:gd name="connsiteX0" fmla="*/ 57878 w 62839"/>
                    <a:gd name="connsiteY0" fmla="*/ 0 h 62839"/>
                    <a:gd name="connsiteX1" fmla="*/ 0 w 62839"/>
                    <a:gd name="connsiteY1" fmla="*/ 0 h 62839"/>
                    <a:gd name="connsiteX2" fmla="*/ 5088 w 62839"/>
                    <a:gd name="connsiteY2" fmla="*/ 5089 h 62839"/>
                    <a:gd name="connsiteX3" fmla="*/ 54317 w 62839"/>
                    <a:gd name="connsiteY3" fmla="*/ 5089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9"/>
                      </a:lnTo>
                      <a:lnTo>
                        <a:pt x="54317" y="5089"/>
                      </a:lnTo>
                      <a:lnTo>
                        <a:pt x="127" y="59278"/>
                      </a:lnTo>
                      <a:lnTo>
                        <a:pt x="3689" y="62840"/>
                      </a:lnTo>
                      <a:lnTo>
                        <a:pt x="57878" y="8650"/>
                      </a:lnTo>
                      <a:lnTo>
                        <a:pt x="57878" y="58133"/>
                      </a:lnTo>
                      <a:lnTo>
                        <a:pt x="62840" y="62713"/>
                      </a:lnTo>
                      <a:lnTo>
                        <a:pt x="62840" y="5089"/>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0" name="Freeform: Shape 141">
                  <a:extLst>
                    <a:ext uri="{FF2B5EF4-FFF2-40B4-BE49-F238E27FC236}">
                      <a16:creationId xmlns:a16="http://schemas.microsoft.com/office/drawing/2014/main" id="{110BD815-9C88-3C27-3EFA-5D4E89D776D1}"/>
                    </a:ext>
                  </a:extLst>
                </p:cNvPr>
                <p:cNvSpPr/>
                <p:nvPr/>
              </p:nvSpPr>
              <p:spPr>
                <a:xfrm>
                  <a:off x="9828555" y="-21944"/>
                  <a:ext cx="62839" cy="62839"/>
                </a:xfrm>
                <a:custGeom>
                  <a:avLst/>
                  <a:gdLst>
                    <a:gd name="connsiteX0" fmla="*/ 57752 w 62839"/>
                    <a:gd name="connsiteY0" fmla="*/ 0 h 62839"/>
                    <a:gd name="connsiteX1" fmla="*/ 0 w 62839"/>
                    <a:gd name="connsiteY1" fmla="*/ 0 h 62839"/>
                    <a:gd name="connsiteX2" fmla="*/ 5088 w 62839"/>
                    <a:gd name="connsiteY2" fmla="*/ 5089 h 62839"/>
                    <a:gd name="connsiteX3" fmla="*/ 54189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9"/>
                      </a:lnTo>
                      <a:lnTo>
                        <a:pt x="54189"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1" name="Freeform: Shape 142">
                  <a:extLst>
                    <a:ext uri="{FF2B5EF4-FFF2-40B4-BE49-F238E27FC236}">
                      <a16:creationId xmlns:a16="http://schemas.microsoft.com/office/drawing/2014/main" id="{4F9E96E1-8F79-42DD-3D00-2076779EAE38}"/>
                    </a:ext>
                  </a:extLst>
                </p:cNvPr>
                <p:cNvSpPr/>
                <p:nvPr/>
              </p:nvSpPr>
              <p:spPr>
                <a:xfrm>
                  <a:off x="10068592" y="-21944"/>
                  <a:ext cx="62839" cy="62839"/>
                </a:xfrm>
                <a:custGeom>
                  <a:avLst/>
                  <a:gdLst>
                    <a:gd name="connsiteX0" fmla="*/ 57752 w 62839"/>
                    <a:gd name="connsiteY0" fmla="*/ 0 h 62839"/>
                    <a:gd name="connsiteX1" fmla="*/ 0 w 62839"/>
                    <a:gd name="connsiteY1" fmla="*/ 0 h 62839"/>
                    <a:gd name="connsiteX2" fmla="*/ 4961 w 62839"/>
                    <a:gd name="connsiteY2" fmla="*/ 5089 h 62839"/>
                    <a:gd name="connsiteX3" fmla="*/ 54190 w 62839"/>
                    <a:gd name="connsiteY3" fmla="*/ 5089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3 h 62839"/>
                    <a:gd name="connsiteX9" fmla="*/ 62840 w 62839"/>
                    <a:gd name="connsiteY9" fmla="*/ 5089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9"/>
                      </a:lnTo>
                      <a:lnTo>
                        <a:pt x="54190" y="5089"/>
                      </a:lnTo>
                      <a:lnTo>
                        <a:pt x="0" y="59278"/>
                      </a:lnTo>
                      <a:lnTo>
                        <a:pt x="3562" y="62840"/>
                      </a:lnTo>
                      <a:lnTo>
                        <a:pt x="57752" y="8650"/>
                      </a:lnTo>
                      <a:lnTo>
                        <a:pt x="57752" y="58133"/>
                      </a:lnTo>
                      <a:lnTo>
                        <a:pt x="62840" y="62713"/>
                      </a:lnTo>
                      <a:lnTo>
                        <a:pt x="62840" y="5089"/>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2" name="Freeform: Shape 143">
                  <a:extLst>
                    <a:ext uri="{FF2B5EF4-FFF2-40B4-BE49-F238E27FC236}">
                      <a16:creationId xmlns:a16="http://schemas.microsoft.com/office/drawing/2014/main" id="{E4DA058D-277D-CDF6-04B1-63B3BD9C9A0A}"/>
                    </a:ext>
                  </a:extLst>
                </p:cNvPr>
                <p:cNvSpPr/>
                <p:nvPr/>
              </p:nvSpPr>
              <p:spPr>
                <a:xfrm>
                  <a:off x="8868533"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3" name="Freeform: Shape 144">
                  <a:extLst>
                    <a:ext uri="{FF2B5EF4-FFF2-40B4-BE49-F238E27FC236}">
                      <a16:creationId xmlns:a16="http://schemas.microsoft.com/office/drawing/2014/main" id="{6F10E194-1BD8-3EDC-7EE8-7E8405DF57D5}"/>
                    </a:ext>
                  </a:extLst>
                </p:cNvPr>
                <p:cNvSpPr/>
                <p:nvPr/>
              </p:nvSpPr>
              <p:spPr>
                <a:xfrm>
                  <a:off x="9108570"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4" name="Freeform: Shape 145">
                  <a:extLst>
                    <a:ext uri="{FF2B5EF4-FFF2-40B4-BE49-F238E27FC236}">
                      <a16:creationId xmlns:a16="http://schemas.microsoft.com/office/drawing/2014/main" id="{29D06D89-63A6-FE9F-3E58-F2D4B46839EF}"/>
                    </a:ext>
                  </a:extLst>
                </p:cNvPr>
                <p:cNvSpPr/>
                <p:nvPr/>
              </p:nvSpPr>
              <p:spPr>
                <a:xfrm>
                  <a:off x="9348607" y="214023"/>
                  <a:ext cx="62839" cy="62839"/>
                </a:xfrm>
                <a:custGeom>
                  <a:avLst/>
                  <a:gdLst>
                    <a:gd name="connsiteX0" fmla="*/ 57752 w 62839"/>
                    <a:gd name="connsiteY0" fmla="*/ 0 h 62839"/>
                    <a:gd name="connsiteX1" fmla="*/ 0 w 62839"/>
                    <a:gd name="connsiteY1" fmla="*/ 0 h 62839"/>
                    <a:gd name="connsiteX2" fmla="*/ 4961 w 62839"/>
                    <a:gd name="connsiteY2" fmla="*/ 5088 h 62839"/>
                    <a:gd name="connsiteX3" fmla="*/ 54190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4961" y="5088"/>
                      </a:lnTo>
                      <a:lnTo>
                        <a:pt x="54190"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5" name="Freeform: Shape 146">
                  <a:extLst>
                    <a:ext uri="{FF2B5EF4-FFF2-40B4-BE49-F238E27FC236}">
                      <a16:creationId xmlns:a16="http://schemas.microsoft.com/office/drawing/2014/main" id="{32051BFF-00A7-EA0F-73E4-61C59544F79F}"/>
                    </a:ext>
                  </a:extLst>
                </p:cNvPr>
                <p:cNvSpPr/>
                <p:nvPr/>
              </p:nvSpPr>
              <p:spPr>
                <a:xfrm>
                  <a:off x="9588518" y="214023"/>
                  <a:ext cx="62839" cy="62839"/>
                </a:xfrm>
                <a:custGeom>
                  <a:avLst/>
                  <a:gdLst>
                    <a:gd name="connsiteX0" fmla="*/ 57878 w 62839"/>
                    <a:gd name="connsiteY0" fmla="*/ 0 h 62839"/>
                    <a:gd name="connsiteX1" fmla="*/ 0 w 62839"/>
                    <a:gd name="connsiteY1" fmla="*/ 0 h 62839"/>
                    <a:gd name="connsiteX2" fmla="*/ 5088 w 62839"/>
                    <a:gd name="connsiteY2" fmla="*/ 5088 h 62839"/>
                    <a:gd name="connsiteX3" fmla="*/ 54317 w 62839"/>
                    <a:gd name="connsiteY3" fmla="*/ 5088 h 62839"/>
                    <a:gd name="connsiteX4" fmla="*/ 127 w 62839"/>
                    <a:gd name="connsiteY4" fmla="*/ 59278 h 62839"/>
                    <a:gd name="connsiteX5" fmla="*/ 3689 w 62839"/>
                    <a:gd name="connsiteY5" fmla="*/ 62840 h 62839"/>
                    <a:gd name="connsiteX6" fmla="*/ 57878 w 62839"/>
                    <a:gd name="connsiteY6" fmla="*/ 8650 h 62839"/>
                    <a:gd name="connsiteX7" fmla="*/ 57878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878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878" y="0"/>
                      </a:moveTo>
                      <a:lnTo>
                        <a:pt x="0" y="0"/>
                      </a:lnTo>
                      <a:lnTo>
                        <a:pt x="5088" y="5088"/>
                      </a:lnTo>
                      <a:lnTo>
                        <a:pt x="54317" y="5088"/>
                      </a:lnTo>
                      <a:lnTo>
                        <a:pt x="127" y="59278"/>
                      </a:lnTo>
                      <a:lnTo>
                        <a:pt x="3689" y="62840"/>
                      </a:lnTo>
                      <a:lnTo>
                        <a:pt x="57878" y="8650"/>
                      </a:lnTo>
                      <a:lnTo>
                        <a:pt x="57878" y="58133"/>
                      </a:lnTo>
                      <a:lnTo>
                        <a:pt x="62840" y="62712"/>
                      </a:lnTo>
                      <a:lnTo>
                        <a:pt x="62840" y="5088"/>
                      </a:lnTo>
                      <a:lnTo>
                        <a:pt x="62840" y="0"/>
                      </a:lnTo>
                      <a:lnTo>
                        <a:pt x="57878" y="0"/>
                      </a:lnTo>
                      <a:close/>
                    </a:path>
                  </a:pathLst>
                </a:custGeom>
                <a:solidFill>
                  <a:srgbClr val="E13D30"/>
                </a:solidFill>
                <a:ln w="12700" cap="flat">
                  <a:noFill/>
                  <a:prstDash val="solid"/>
                  <a:miter/>
                </a:ln>
              </p:spPr>
              <p:txBody>
                <a:bodyPr rtlCol="0" anchor="ctr"/>
                <a:lstStyle/>
                <a:p>
                  <a:endParaRPr lang="en-US" dirty="0"/>
                </a:p>
              </p:txBody>
            </p:sp>
            <p:sp>
              <p:nvSpPr>
                <p:cNvPr id="216" name="Freeform: Shape 147">
                  <a:extLst>
                    <a:ext uri="{FF2B5EF4-FFF2-40B4-BE49-F238E27FC236}">
                      <a16:creationId xmlns:a16="http://schemas.microsoft.com/office/drawing/2014/main" id="{9B9F7A47-A865-B219-73AD-8FA60BD49DCC}"/>
                    </a:ext>
                  </a:extLst>
                </p:cNvPr>
                <p:cNvSpPr/>
                <p:nvPr/>
              </p:nvSpPr>
              <p:spPr>
                <a:xfrm>
                  <a:off x="9828555" y="214023"/>
                  <a:ext cx="62839" cy="62839"/>
                </a:xfrm>
                <a:custGeom>
                  <a:avLst/>
                  <a:gdLst>
                    <a:gd name="connsiteX0" fmla="*/ 57752 w 62839"/>
                    <a:gd name="connsiteY0" fmla="*/ 0 h 62839"/>
                    <a:gd name="connsiteX1" fmla="*/ 0 w 62839"/>
                    <a:gd name="connsiteY1" fmla="*/ 0 h 62839"/>
                    <a:gd name="connsiteX2" fmla="*/ 5088 w 62839"/>
                    <a:gd name="connsiteY2" fmla="*/ 5088 h 62839"/>
                    <a:gd name="connsiteX3" fmla="*/ 54189 w 62839"/>
                    <a:gd name="connsiteY3" fmla="*/ 5088 h 62839"/>
                    <a:gd name="connsiteX4" fmla="*/ 0 w 62839"/>
                    <a:gd name="connsiteY4" fmla="*/ 59278 h 62839"/>
                    <a:gd name="connsiteX5" fmla="*/ 3562 w 62839"/>
                    <a:gd name="connsiteY5" fmla="*/ 62840 h 62839"/>
                    <a:gd name="connsiteX6" fmla="*/ 57752 w 62839"/>
                    <a:gd name="connsiteY6" fmla="*/ 8650 h 62839"/>
                    <a:gd name="connsiteX7" fmla="*/ 57752 w 62839"/>
                    <a:gd name="connsiteY7" fmla="*/ 58133 h 62839"/>
                    <a:gd name="connsiteX8" fmla="*/ 62840 w 62839"/>
                    <a:gd name="connsiteY8" fmla="*/ 62712 h 62839"/>
                    <a:gd name="connsiteX9" fmla="*/ 62840 w 62839"/>
                    <a:gd name="connsiteY9" fmla="*/ 5088 h 62839"/>
                    <a:gd name="connsiteX10" fmla="*/ 62840 w 62839"/>
                    <a:gd name="connsiteY10" fmla="*/ 0 h 62839"/>
                    <a:gd name="connsiteX11" fmla="*/ 57752 w 62839"/>
                    <a:gd name="connsiteY11" fmla="*/ 0 h 62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839">
                      <a:moveTo>
                        <a:pt x="57752" y="0"/>
                      </a:moveTo>
                      <a:lnTo>
                        <a:pt x="0" y="0"/>
                      </a:lnTo>
                      <a:lnTo>
                        <a:pt x="5088" y="5088"/>
                      </a:lnTo>
                      <a:lnTo>
                        <a:pt x="54189" y="5088"/>
                      </a:lnTo>
                      <a:lnTo>
                        <a:pt x="0" y="59278"/>
                      </a:lnTo>
                      <a:lnTo>
                        <a:pt x="3562" y="62840"/>
                      </a:lnTo>
                      <a:lnTo>
                        <a:pt x="57752" y="8650"/>
                      </a:lnTo>
                      <a:lnTo>
                        <a:pt x="57752" y="58133"/>
                      </a:lnTo>
                      <a:lnTo>
                        <a:pt x="62840" y="62712"/>
                      </a:lnTo>
                      <a:lnTo>
                        <a:pt x="62840" y="5088"/>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sp>
              <p:nvSpPr>
                <p:cNvPr id="217" name="Freeform: Shape 155">
                  <a:extLst>
                    <a:ext uri="{FF2B5EF4-FFF2-40B4-BE49-F238E27FC236}">
                      <a16:creationId xmlns:a16="http://schemas.microsoft.com/office/drawing/2014/main" id="{B529A8E0-4EBA-B745-FF64-0C7EB1DAAB0B}"/>
                    </a:ext>
                  </a:extLst>
                </p:cNvPr>
                <p:cNvSpPr/>
                <p:nvPr/>
              </p:nvSpPr>
              <p:spPr>
                <a:xfrm>
                  <a:off x="8867133"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18" name="Freeform: Shape 156">
                  <a:extLst>
                    <a:ext uri="{FF2B5EF4-FFF2-40B4-BE49-F238E27FC236}">
                      <a16:creationId xmlns:a16="http://schemas.microsoft.com/office/drawing/2014/main" id="{D732A7E1-68DA-2E1E-96AF-14C8FA7FE6FA}"/>
                    </a:ext>
                  </a:extLst>
                </p:cNvPr>
                <p:cNvSpPr/>
                <p:nvPr/>
              </p:nvSpPr>
              <p:spPr>
                <a:xfrm>
                  <a:off x="9107171" y="-492224"/>
                  <a:ext cx="62839" cy="62712"/>
                </a:xfrm>
                <a:custGeom>
                  <a:avLst/>
                  <a:gdLst>
                    <a:gd name="connsiteX0" fmla="*/ 57751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39 w 62839"/>
                    <a:gd name="connsiteY8" fmla="*/ 62713 h 62712"/>
                    <a:gd name="connsiteX9" fmla="*/ 62839 w 62839"/>
                    <a:gd name="connsiteY9" fmla="*/ 4961 h 62712"/>
                    <a:gd name="connsiteX10" fmla="*/ 62839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5088" y="4961"/>
                      </a:lnTo>
                      <a:lnTo>
                        <a:pt x="54317" y="4961"/>
                      </a:lnTo>
                      <a:lnTo>
                        <a:pt x="0" y="59151"/>
                      </a:lnTo>
                      <a:lnTo>
                        <a:pt x="3562" y="62713"/>
                      </a:lnTo>
                      <a:lnTo>
                        <a:pt x="57751" y="8523"/>
                      </a:lnTo>
                      <a:lnTo>
                        <a:pt x="57751" y="58133"/>
                      </a:lnTo>
                      <a:lnTo>
                        <a:pt x="62839" y="62713"/>
                      </a:lnTo>
                      <a:lnTo>
                        <a:pt x="62839" y="4961"/>
                      </a:lnTo>
                      <a:lnTo>
                        <a:pt x="62839"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19" name="Freeform: Shape 157">
                  <a:extLst>
                    <a:ext uri="{FF2B5EF4-FFF2-40B4-BE49-F238E27FC236}">
                      <a16:creationId xmlns:a16="http://schemas.microsoft.com/office/drawing/2014/main" id="{636C6756-93AE-738D-2BDB-946C87602CBD}"/>
                    </a:ext>
                  </a:extLst>
                </p:cNvPr>
                <p:cNvSpPr/>
                <p:nvPr/>
              </p:nvSpPr>
              <p:spPr>
                <a:xfrm>
                  <a:off x="9347208" y="-492224"/>
                  <a:ext cx="62839" cy="62712"/>
                </a:xfrm>
                <a:custGeom>
                  <a:avLst/>
                  <a:gdLst>
                    <a:gd name="connsiteX0" fmla="*/ 57751 w 62839"/>
                    <a:gd name="connsiteY0" fmla="*/ 0 h 62712"/>
                    <a:gd name="connsiteX1" fmla="*/ 0 w 62839"/>
                    <a:gd name="connsiteY1" fmla="*/ 0 h 62712"/>
                    <a:gd name="connsiteX2" fmla="*/ 4961 w 62839"/>
                    <a:gd name="connsiteY2" fmla="*/ 4961 h 62712"/>
                    <a:gd name="connsiteX3" fmla="*/ 54189 w 62839"/>
                    <a:gd name="connsiteY3" fmla="*/ 4961 h 62712"/>
                    <a:gd name="connsiteX4" fmla="*/ 0 w 62839"/>
                    <a:gd name="connsiteY4" fmla="*/ 59151 h 62712"/>
                    <a:gd name="connsiteX5" fmla="*/ 3562 w 62839"/>
                    <a:gd name="connsiteY5" fmla="*/ 62713 h 62712"/>
                    <a:gd name="connsiteX6" fmla="*/ 57751 w 62839"/>
                    <a:gd name="connsiteY6" fmla="*/ 8523 h 62712"/>
                    <a:gd name="connsiteX7" fmla="*/ 57751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1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1" y="0"/>
                      </a:moveTo>
                      <a:lnTo>
                        <a:pt x="0" y="0"/>
                      </a:lnTo>
                      <a:lnTo>
                        <a:pt x="4961" y="4961"/>
                      </a:lnTo>
                      <a:lnTo>
                        <a:pt x="54189" y="4961"/>
                      </a:lnTo>
                      <a:lnTo>
                        <a:pt x="0" y="59151"/>
                      </a:lnTo>
                      <a:lnTo>
                        <a:pt x="3562" y="62713"/>
                      </a:lnTo>
                      <a:lnTo>
                        <a:pt x="57751" y="8523"/>
                      </a:lnTo>
                      <a:lnTo>
                        <a:pt x="57751" y="58133"/>
                      </a:lnTo>
                      <a:lnTo>
                        <a:pt x="62840" y="62713"/>
                      </a:lnTo>
                      <a:lnTo>
                        <a:pt x="62840" y="4961"/>
                      </a:lnTo>
                      <a:lnTo>
                        <a:pt x="62840" y="0"/>
                      </a:lnTo>
                      <a:lnTo>
                        <a:pt x="57751" y="0"/>
                      </a:lnTo>
                      <a:close/>
                    </a:path>
                  </a:pathLst>
                </a:custGeom>
                <a:solidFill>
                  <a:srgbClr val="E13D30"/>
                </a:solidFill>
                <a:ln w="12700" cap="flat">
                  <a:noFill/>
                  <a:prstDash val="solid"/>
                  <a:miter/>
                </a:ln>
              </p:spPr>
              <p:txBody>
                <a:bodyPr rtlCol="0" anchor="ctr"/>
                <a:lstStyle/>
                <a:p>
                  <a:endParaRPr lang="en-US" dirty="0"/>
                </a:p>
              </p:txBody>
            </p:sp>
            <p:sp>
              <p:nvSpPr>
                <p:cNvPr id="220" name="Freeform: Shape 158">
                  <a:extLst>
                    <a:ext uri="{FF2B5EF4-FFF2-40B4-BE49-F238E27FC236}">
                      <a16:creationId xmlns:a16="http://schemas.microsoft.com/office/drawing/2014/main" id="{9FB60ACC-4591-B6D6-CEA9-4A460BE73A10}"/>
                    </a:ext>
                  </a:extLst>
                </p:cNvPr>
                <p:cNvSpPr/>
                <p:nvPr/>
              </p:nvSpPr>
              <p:spPr>
                <a:xfrm>
                  <a:off x="9587118" y="-492224"/>
                  <a:ext cx="62839" cy="62712"/>
                </a:xfrm>
                <a:custGeom>
                  <a:avLst/>
                  <a:gdLst>
                    <a:gd name="connsiteX0" fmla="*/ 57879 w 62839"/>
                    <a:gd name="connsiteY0" fmla="*/ 0 h 62712"/>
                    <a:gd name="connsiteX1" fmla="*/ 0 w 62839"/>
                    <a:gd name="connsiteY1" fmla="*/ 0 h 62712"/>
                    <a:gd name="connsiteX2" fmla="*/ 5088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8"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1" name="Freeform: Shape 159">
                  <a:extLst>
                    <a:ext uri="{FF2B5EF4-FFF2-40B4-BE49-F238E27FC236}">
                      <a16:creationId xmlns:a16="http://schemas.microsoft.com/office/drawing/2014/main" id="{EB34CB89-D635-0812-1F6D-50E856B38781}"/>
                    </a:ext>
                  </a:extLst>
                </p:cNvPr>
                <p:cNvSpPr/>
                <p:nvPr/>
              </p:nvSpPr>
              <p:spPr>
                <a:xfrm>
                  <a:off x="9827155" y="-492224"/>
                  <a:ext cx="62839" cy="62712"/>
                </a:xfrm>
                <a:custGeom>
                  <a:avLst/>
                  <a:gdLst>
                    <a:gd name="connsiteX0" fmla="*/ 57879 w 62839"/>
                    <a:gd name="connsiteY0" fmla="*/ 0 h 62712"/>
                    <a:gd name="connsiteX1" fmla="*/ 0 w 62839"/>
                    <a:gd name="connsiteY1" fmla="*/ 0 h 62712"/>
                    <a:gd name="connsiteX2" fmla="*/ 5089 w 62839"/>
                    <a:gd name="connsiteY2" fmla="*/ 4961 h 62712"/>
                    <a:gd name="connsiteX3" fmla="*/ 54317 w 62839"/>
                    <a:gd name="connsiteY3" fmla="*/ 4961 h 62712"/>
                    <a:gd name="connsiteX4" fmla="*/ 127 w 62839"/>
                    <a:gd name="connsiteY4" fmla="*/ 59151 h 62712"/>
                    <a:gd name="connsiteX5" fmla="*/ 3689 w 62839"/>
                    <a:gd name="connsiteY5" fmla="*/ 62713 h 62712"/>
                    <a:gd name="connsiteX6" fmla="*/ 57879 w 62839"/>
                    <a:gd name="connsiteY6" fmla="*/ 8523 h 62712"/>
                    <a:gd name="connsiteX7" fmla="*/ 57879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879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879" y="0"/>
                      </a:moveTo>
                      <a:lnTo>
                        <a:pt x="0" y="0"/>
                      </a:lnTo>
                      <a:lnTo>
                        <a:pt x="5089" y="4961"/>
                      </a:lnTo>
                      <a:lnTo>
                        <a:pt x="54317" y="4961"/>
                      </a:lnTo>
                      <a:lnTo>
                        <a:pt x="127" y="59151"/>
                      </a:lnTo>
                      <a:lnTo>
                        <a:pt x="3689" y="62713"/>
                      </a:lnTo>
                      <a:lnTo>
                        <a:pt x="57879" y="8523"/>
                      </a:lnTo>
                      <a:lnTo>
                        <a:pt x="57879" y="58133"/>
                      </a:lnTo>
                      <a:lnTo>
                        <a:pt x="62840" y="62713"/>
                      </a:lnTo>
                      <a:lnTo>
                        <a:pt x="62840" y="4961"/>
                      </a:lnTo>
                      <a:lnTo>
                        <a:pt x="62840" y="0"/>
                      </a:lnTo>
                      <a:lnTo>
                        <a:pt x="57879" y="0"/>
                      </a:lnTo>
                      <a:close/>
                    </a:path>
                  </a:pathLst>
                </a:custGeom>
                <a:solidFill>
                  <a:srgbClr val="E13D30"/>
                </a:solidFill>
                <a:ln w="12700" cap="flat">
                  <a:noFill/>
                  <a:prstDash val="solid"/>
                  <a:miter/>
                </a:ln>
              </p:spPr>
              <p:txBody>
                <a:bodyPr rtlCol="0" anchor="ctr"/>
                <a:lstStyle/>
                <a:p>
                  <a:endParaRPr lang="en-US" dirty="0"/>
                </a:p>
              </p:txBody>
            </p:sp>
            <p:sp>
              <p:nvSpPr>
                <p:cNvPr id="222" name="Freeform: Shape 160">
                  <a:extLst>
                    <a:ext uri="{FF2B5EF4-FFF2-40B4-BE49-F238E27FC236}">
                      <a16:creationId xmlns:a16="http://schemas.microsoft.com/office/drawing/2014/main" id="{ED8CA160-B795-D671-8597-3F60E34FAA0B}"/>
                    </a:ext>
                  </a:extLst>
                </p:cNvPr>
                <p:cNvSpPr/>
                <p:nvPr/>
              </p:nvSpPr>
              <p:spPr>
                <a:xfrm>
                  <a:off x="10067193" y="-492224"/>
                  <a:ext cx="62839" cy="62712"/>
                </a:xfrm>
                <a:custGeom>
                  <a:avLst/>
                  <a:gdLst>
                    <a:gd name="connsiteX0" fmla="*/ 57752 w 62839"/>
                    <a:gd name="connsiteY0" fmla="*/ 0 h 62712"/>
                    <a:gd name="connsiteX1" fmla="*/ 0 w 62839"/>
                    <a:gd name="connsiteY1" fmla="*/ 0 h 62712"/>
                    <a:gd name="connsiteX2" fmla="*/ 5089 w 62839"/>
                    <a:gd name="connsiteY2" fmla="*/ 4961 h 62712"/>
                    <a:gd name="connsiteX3" fmla="*/ 54190 w 62839"/>
                    <a:gd name="connsiteY3" fmla="*/ 4961 h 62712"/>
                    <a:gd name="connsiteX4" fmla="*/ 0 w 62839"/>
                    <a:gd name="connsiteY4" fmla="*/ 59151 h 62712"/>
                    <a:gd name="connsiteX5" fmla="*/ 3562 w 62839"/>
                    <a:gd name="connsiteY5" fmla="*/ 62713 h 62712"/>
                    <a:gd name="connsiteX6" fmla="*/ 57752 w 62839"/>
                    <a:gd name="connsiteY6" fmla="*/ 8523 h 62712"/>
                    <a:gd name="connsiteX7" fmla="*/ 57752 w 62839"/>
                    <a:gd name="connsiteY7" fmla="*/ 58133 h 62712"/>
                    <a:gd name="connsiteX8" fmla="*/ 62840 w 62839"/>
                    <a:gd name="connsiteY8" fmla="*/ 62713 h 62712"/>
                    <a:gd name="connsiteX9" fmla="*/ 62840 w 62839"/>
                    <a:gd name="connsiteY9" fmla="*/ 4961 h 62712"/>
                    <a:gd name="connsiteX10" fmla="*/ 62840 w 62839"/>
                    <a:gd name="connsiteY10" fmla="*/ 0 h 62712"/>
                    <a:gd name="connsiteX11" fmla="*/ 57752 w 62839"/>
                    <a:gd name="connsiteY11" fmla="*/ 0 h 62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39" h="62712">
                      <a:moveTo>
                        <a:pt x="57752" y="0"/>
                      </a:moveTo>
                      <a:lnTo>
                        <a:pt x="0" y="0"/>
                      </a:lnTo>
                      <a:lnTo>
                        <a:pt x="5089" y="4961"/>
                      </a:lnTo>
                      <a:lnTo>
                        <a:pt x="54190" y="4961"/>
                      </a:lnTo>
                      <a:lnTo>
                        <a:pt x="0" y="59151"/>
                      </a:lnTo>
                      <a:lnTo>
                        <a:pt x="3562" y="62713"/>
                      </a:lnTo>
                      <a:lnTo>
                        <a:pt x="57752" y="8523"/>
                      </a:lnTo>
                      <a:lnTo>
                        <a:pt x="57752" y="58133"/>
                      </a:lnTo>
                      <a:lnTo>
                        <a:pt x="62840" y="62713"/>
                      </a:lnTo>
                      <a:lnTo>
                        <a:pt x="62840" y="4961"/>
                      </a:lnTo>
                      <a:lnTo>
                        <a:pt x="62840" y="0"/>
                      </a:lnTo>
                      <a:lnTo>
                        <a:pt x="57752" y="0"/>
                      </a:lnTo>
                      <a:close/>
                    </a:path>
                  </a:pathLst>
                </a:custGeom>
                <a:solidFill>
                  <a:srgbClr val="E13D30"/>
                </a:solidFill>
                <a:ln w="12700" cap="flat">
                  <a:noFill/>
                  <a:prstDash val="solid"/>
                  <a:miter/>
                </a:ln>
              </p:spPr>
              <p:txBody>
                <a:bodyPr rtlCol="0" anchor="ctr"/>
                <a:lstStyle/>
                <a:p>
                  <a:endParaRPr lang="en-US" dirty="0"/>
                </a:p>
              </p:txBody>
            </p:sp>
          </p:grpSp>
        </p:grpSp>
      </p:gr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3570" y="841375"/>
            <a:ext cx="900913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57220" y="2371725"/>
            <a:ext cx="900913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8261C074-AB37-CCDE-F163-6D2E19F39E3E}"/>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CFA683F9-B148-BFF0-885A-B4D06A388CDB}"/>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5" name="Slide Number Placeholder 5">
            <a:extLst>
              <a:ext uri="{FF2B5EF4-FFF2-40B4-BE49-F238E27FC236}">
                <a16:creationId xmlns:a16="http://schemas.microsoft.com/office/drawing/2014/main" id="{358E0B2B-8141-B7D0-CD16-409DB69A999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0763797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Picture Left Conten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7872869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_Picture Left Content Blu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0" y="2346325"/>
            <a:ext cx="5670550" cy="4511675"/>
          </a:xfrm>
        </p:spPr>
        <p:txBody>
          <a:bodyPr/>
          <a:lstStyle/>
          <a:p>
            <a:endParaRPr lang="en-US" dirty="0"/>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6038850" y="2295525"/>
            <a:ext cx="4006850" cy="372110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05ACB0B-83D6-2B04-8AC5-4F89119F9190}"/>
              </a:ext>
            </a:extLst>
          </p:cNvPr>
          <p:cNvSpPr>
            <a:spLocks noGrp="1"/>
          </p:cNvSpPr>
          <p:nvPr>
            <p:ph type="title"/>
          </p:nvPr>
        </p:nvSpPr>
        <p:spPr>
          <a:xfrm>
            <a:off x="1625600" y="841375"/>
            <a:ext cx="8547100" cy="1325563"/>
          </a:xfrm>
        </p:spPr>
        <p:txBody>
          <a:bodyPr/>
          <a:lstStyle>
            <a:lvl1pP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30885803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 Power Word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7864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52802540-9D17-2CC9-FBE9-CFED3230EE4F}"/>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05356E6B-0EA2-F6E9-AF30-A3A66A25F2BD}"/>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6052736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 Power Word - white/stee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1"/>
                </a:solidFill>
                <a:latin typeface="Outfit Light" pitchFamily="2" charset="0"/>
              </a:defRPr>
            </a:lvl1pPr>
          </a:lstStyle>
          <a:p>
            <a:r>
              <a:rPr lang="en-US" dirty="0"/>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3768725"/>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1" name="Content Placeholder 2">
            <a:extLst>
              <a:ext uri="{FF2B5EF4-FFF2-40B4-BE49-F238E27FC236}">
                <a16:creationId xmlns:a16="http://schemas.microsoft.com/office/drawing/2014/main" id="{BB43FACA-FBC2-0633-CE89-84238C1DAAC3}"/>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F33B0035-E6A3-AD30-2EF3-23D401CF2E9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0781082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 Power Word - platinu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5"/>
                </a:solidFill>
                <a:latin typeface="Outfit Light" pitchFamily="2" charset="0"/>
              </a:defRPr>
            </a:lvl1pPr>
          </a:lstStyle>
          <a:p>
            <a:r>
              <a:rPr lang="en-US"/>
              <a:t>future</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5"/>
            <a:ext cx="9006010" cy="2568137"/>
          </a:xfrm>
        </p:spPr>
        <p:txBody>
          <a:bodyPr numCol="1">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3"/>
            <a:ext cx="8993309" cy="1327112"/>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45634395-AFB9-1964-945B-EAB79638442D}"/>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6F8408E-8DC5-BC4F-218E-F4A49E63081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05761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4702368"/>
            <a:ext cx="9478778" cy="3125787"/>
          </a:xfrm>
        </p:spPr>
        <p:txBody>
          <a:bodyPr anchor="t" anchorCtr="0">
            <a:noAutofit/>
          </a:bodyPr>
          <a:lstStyle>
            <a:lvl1pPr algn="l">
              <a:defRPr sz="23500" b="0" i="0">
                <a:solidFill>
                  <a:schemeClr val="accent4"/>
                </a:solidFill>
                <a:latin typeface="Outfit Light" pitchFamily="2" charset="0"/>
              </a:defRPr>
            </a:lvl1pPr>
          </a:lstStyle>
          <a:p>
            <a:r>
              <a:rPr lang="en-US"/>
              <a:t>future</a:t>
            </a:r>
          </a:p>
        </p:txBody>
      </p:sp>
      <p:sp>
        <p:nvSpPr>
          <p:cNvPr id="15" name="Content Placeholder 2">
            <a:extLst>
              <a:ext uri="{FF2B5EF4-FFF2-40B4-BE49-F238E27FC236}">
                <a16:creationId xmlns:a16="http://schemas.microsoft.com/office/drawing/2014/main" id="{D0759E58-D4C4-80AF-82BA-1904B3D31D35}"/>
              </a:ext>
            </a:extLst>
          </p:cNvPr>
          <p:cNvSpPr>
            <a:spLocks noGrp="1"/>
          </p:cNvSpPr>
          <p:nvPr>
            <p:ph idx="1"/>
          </p:nvPr>
        </p:nvSpPr>
        <p:spPr>
          <a:xfrm>
            <a:off x="1160340" y="2371726"/>
            <a:ext cx="9006010" cy="2452522"/>
          </a:xfrm>
        </p:spPr>
        <p:txBody>
          <a:bodyPr numCol="1">
            <a:noAutofit/>
          </a:bodyPr>
          <a:lstStyle>
            <a:lvl1pPr>
              <a:spcBef>
                <a:spcPts val="300"/>
              </a:spcBef>
              <a:spcAft>
                <a:spcPts val="300"/>
              </a:spcAft>
              <a:defRPr>
                <a:solidFill>
                  <a:schemeClr val="bg1"/>
                </a:solidFill>
              </a:defRPr>
            </a:lvl1pPr>
            <a:lvl2pPr>
              <a:spcBef>
                <a:spcPts val="300"/>
              </a:spcBef>
              <a:spcAft>
                <a:spcPts val="300"/>
              </a:spcAft>
              <a:defRPr>
                <a:solidFill>
                  <a:schemeClr val="bg1"/>
                </a:solidFill>
              </a:defRPr>
            </a:lvl2pPr>
            <a:lvl3pPr>
              <a:spcBef>
                <a:spcPts val="300"/>
              </a:spcBef>
              <a:spcAft>
                <a:spcPts val="300"/>
              </a:spcAft>
              <a:defRPr>
                <a:solidFill>
                  <a:schemeClr val="bg1"/>
                </a:solidFill>
              </a:defRPr>
            </a:lvl3pPr>
            <a:lvl4pPr>
              <a:spcBef>
                <a:spcPts val="300"/>
              </a:spcBef>
              <a:spcAft>
                <a:spcPts val="300"/>
              </a:spcAft>
              <a:defRPr>
                <a:solidFill>
                  <a:schemeClr val="bg1"/>
                </a:solidFill>
              </a:defRPr>
            </a:lvl4pPr>
            <a:lvl5pPr>
              <a:spcBef>
                <a:spcPts val="300"/>
              </a:spcBef>
              <a:spcAft>
                <a:spcPts val="300"/>
              </a:spcAft>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8993309" cy="1422805"/>
          </a:xfrm>
        </p:spPr>
        <p:txBody>
          <a:bodyPr tIns="0" bIns="0" numCol="1">
            <a:noAutofit/>
          </a:bodyPr>
          <a:lstStyle>
            <a:lvl1pPr>
              <a:spcBef>
                <a:spcPts val="300"/>
              </a:spcBef>
              <a:spcAft>
                <a:spcPts val="300"/>
              </a:spcAft>
              <a:defRPr sz="4000" b="1">
                <a:solidFill>
                  <a:schemeClr val="bg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0" name="Content Placeholder 2">
            <a:extLst>
              <a:ext uri="{FF2B5EF4-FFF2-40B4-BE49-F238E27FC236}">
                <a16:creationId xmlns:a16="http://schemas.microsoft.com/office/drawing/2014/main" id="{E29E37D8-5073-8420-E497-7D71636ABDB7}"/>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3" name="Slide Number Placeholder 5">
            <a:extLst>
              <a:ext uri="{FF2B5EF4-FFF2-40B4-BE49-F238E27FC236}">
                <a16:creationId xmlns:a16="http://schemas.microsoft.com/office/drawing/2014/main" id="{AF93878B-70D6-3441-AFD9-B2506613940C}"/>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Tree>
    <p:extLst>
      <p:ext uri="{BB962C8B-B14F-4D97-AF65-F5344CB8AC3E}">
        <p14:creationId xmlns:p14="http://schemas.microsoft.com/office/powerpoint/2010/main" val="1443103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sz="2000">
                <a:solidFill>
                  <a:schemeClr val="accent1"/>
                </a:solidFill>
              </a:defRPr>
            </a:lvl1pPr>
            <a:lvl2pPr>
              <a:spcBef>
                <a:spcPts val="300"/>
              </a:spcBef>
              <a:spcAft>
                <a:spcPts val="300"/>
              </a:spcAft>
              <a:defRPr sz="1800">
                <a:solidFill>
                  <a:schemeClr val="accent1"/>
                </a:solidFill>
              </a:defRPr>
            </a:lvl2pPr>
            <a:lvl3pPr>
              <a:spcBef>
                <a:spcPts val="300"/>
              </a:spcBef>
              <a:spcAft>
                <a:spcPts val="300"/>
              </a:spcAft>
              <a:defRPr sz="1600">
                <a:solidFill>
                  <a:schemeClr val="accent1"/>
                </a:solidFill>
              </a:defRPr>
            </a:lvl3pPr>
            <a:lvl4pPr>
              <a:spcBef>
                <a:spcPts val="300"/>
              </a:spcBef>
              <a:spcAft>
                <a:spcPts val="300"/>
              </a:spcAft>
              <a:defRPr sz="1400">
                <a:solidFill>
                  <a:schemeClr val="accent1"/>
                </a:solidFill>
              </a:defRPr>
            </a:lvl4pPr>
            <a:lvl5pPr>
              <a:spcBef>
                <a:spcPts val="300"/>
              </a:spcBef>
              <a:spcAft>
                <a:spcPts val="300"/>
              </a:spcAft>
              <a:defRPr sz="14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reeform: Shape 18">
            <a:extLst>
              <a:ext uri="{FF2B5EF4-FFF2-40B4-BE49-F238E27FC236}">
                <a16:creationId xmlns:a16="http://schemas.microsoft.com/office/drawing/2014/main" id="{6B61184C-B93E-ECFD-8108-B0FDA2FECBC8}"/>
              </a:ext>
            </a:extLst>
          </p:cNvPr>
          <p:cNvSpPr/>
          <p:nvPr userDrawn="1"/>
        </p:nvSpPr>
        <p:spPr>
          <a:xfrm>
            <a:off x="11411458" y="508"/>
            <a:ext cx="12700" cy="6858000"/>
          </a:xfrm>
          <a:custGeom>
            <a:avLst/>
            <a:gdLst>
              <a:gd name="connsiteX0" fmla="*/ 0 w 12700"/>
              <a:gd name="connsiteY0" fmla="*/ 0 h 6858000"/>
              <a:gd name="connsiteX1" fmla="*/ 0 w 12700"/>
              <a:gd name="connsiteY1" fmla="*/ 6858000 h 6858000"/>
            </a:gdLst>
            <a:ahLst/>
            <a:cxnLst>
              <a:cxn ang="0">
                <a:pos x="connsiteX0" y="connsiteY0"/>
              </a:cxn>
              <a:cxn ang="0">
                <a:pos x="connsiteX1" y="connsiteY1"/>
              </a:cxn>
            </a:cxnLst>
            <a:rect l="l" t="t" r="r" b="b"/>
            <a:pathLst>
              <a:path w="12700" h="6858000">
                <a:moveTo>
                  <a:pt x="0" y="0"/>
                </a:moveTo>
                <a:lnTo>
                  <a:pt x="0" y="6858000"/>
                </a:lnTo>
              </a:path>
            </a:pathLst>
          </a:custGeom>
          <a:ln w="3174" cap="flat">
            <a:solidFill>
              <a:schemeClr val="bg1"/>
            </a:solidFill>
            <a:prstDash val="solid"/>
            <a:miter/>
          </a:ln>
        </p:spPr>
        <p:txBody>
          <a:bodyPr rtlCol="0" anchor="ctr"/>
          <a:lstStyle/>
          <a:p>
            <a:endParaRPr lang="en-US" dirty="0"/>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7" name="Content Placeholder 2">
            <a:extLst>
              <a:ext uri="{FF2B5EF4-FFF2-40B4-BE49-F238E27FC236}">
                <a16:creationId xmlns:a16="http://schemas.microsoft.com/office/drawing/2014/main" id="{087513A7-C127-FBA9-2411-6DACB506A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9B555C45-BF68-6D27-B96D-DE13828713FA}"/>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14741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 Image - platinum">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A1A1523-308A-20BA-325B-DCC6C201399A}"/>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0340" y="841375"/>
            <a:ext cx="5919909" cy="1325563"/>
          </a:xfrm>
        </p:spPr>
        <p:txBody>
          <a:bodyPr/>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1160340" y="2371725"/>
            <a:ext cx="5907210" cy="3768725"/>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96FC539C-1B87-F249-E2CC-DF39C8758039}"/>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1" name="Content Placeholder 2">
            <a:extLst>
              <a:ext uri="{FF2B5EF4-FFF2-40B4-BE49-F238E27FC236}">
                <a16:creationId xmlns:a16="http://schemas.microsoft.com/office/drawing/2014/main" id="{7E98F8E5-8778-FB43-3984-0633BD1FC678}"/>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6692FD45-83AD-586A-3C9B-63B66CF6209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69222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ide Title - Image - Whit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9AC06A9-C5DA-F682-078F-FBF322776EF2}"/>
              </a:ext>
            </a:extLst>
          </p:cNvPr>
          <p:cNvSpPr>
            <a:spLocks noGrp="1"/>
          </p:cNvSpPr>
          <p:nvPr>
            <p:ph type="pic" sz="quarter" idx="10"/>
          </p:nvPr>
        </p:nvSpPr>
        <p:spPr>
          <a:xfrm>
            <a:off x="8415528" y="0"/>
            <a:ext cx="3776472" cy="6858000"/>
          </a:xfrm>
        </p:spPr>
        <p:txBody>
          <a:bodyPr/>
          <a:lstStyle/>
          <a:p>
            <a:endParaRPr lang="en-US" dirty="0"/>
          </a:p>
        </p:txBody>
      </p:sp>
      <p:sp>
        <p:nvSpPr>
          <p:cNvPr id="2" name="Title 1">
            <a:extLst>
              <a:ext uri="{FF2B5EF4-FFF2-40B4-BE49-F238E27FC236}">
                <a16:creationId xmlns:a16="http://schemas.microsoft.com/office/drawing/2014/main" id="{2B6BBE39-43EE-B905-E082-829A0E3FA928}"/>
              </a:ext>
            </a:extLst>
          </p:cNvPr>
          <p:cNvSpPr>
            <a:spLocks noGrp="1"/>
          </p:cNvSpPr>
          <p:nvPr>
            <p:ph type="title"/>
          </p:nvPr>
        </p:nvSpPr>
        <p:spPr>
          <a:xfrm>
            <a:off x="1168402" y="252345"/>
            <a:ext cx="2590800" cy="1609859"/>
          </a:xfrm>
        </p:spPr>
        <p:txBody>
          <a:bodyPr anchor="ctr" anchorCtr="0">
            <a:normAutofit/>
          </a:bodyPr>
          <a:lstStyle>
            <a:lvl1pPr>
              <a:defRPr sz="3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B233342-43E6-66D6-3D5B-57AB4F7AD00E}"/>
              </a:ext>
            </a:extLst>
          </p:cNvPr>
          <p:cNvSpPr>
            <a:spLocks noGrp="1"/>
          </p:cNvSpPr>
          <p:nvPr>
            <p:ph idx="1"/>
          </p:nvPr>
        </p:nvSpPr>
        <p:spPr>
          <a:xfrm>
            <a:off x="4217828" y="436105"/>
            <a:ext cx="3814184" cy="5308536"/>
          </a:xfrm>
        </p:spPr>
        <p:txBody>
          <a:bodyPr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8C6D6D2-5187-5271-139E-B580F38E349B}"/>
              </a:ext>
            </a:extLst>
          </p:cNvPr>
          <p:cNvSpPr>
            <a:spLocks noGrp="1"/>
          </p:cNvSpPr>
          <p:nvPr>
            <p:ph idx="12" hasCustomPrompt="1"/>
          </p:nvPr>
        </p:nvSpPr>
        <p:spPr>
          <a:xfrm>
            <a:off x="509288" y="6573857"/>
            <a:ext cx="7790650" cy="278735"/>
          </a:xfrm>
        </p:spPr>
        <p:txBody>
          <a:bodyPr numCol="1" spcCol="0">
            <a:noAutofit/>
          </a:bodyPr>
          <a:lstStyle>
            <a:lvl1pPr>
              <a:spcBef>
                <a:spcPts val="300"/>
              </a:spcBef>
              <a:spcAft>
                <a:spcPts val="300"/>
              </a:spcAft>
              <a:defRPr sz="700" i="1">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Source:</a:t>
            </a:r>
          </a:p>
        </p:txBody>
      </p:sp>
      <p:sp>
        <p:nvSpPr>
          <p:cNvPr id="20" name="Content Placeholder 2">
            <a:extLst>
              <a:ext uri="{FF2B5EF4-FFF2-40B4-BE49-F238E27FC236}">
                <a16:creationId xmlns:a16="http://schemas.microsoft.com/office/drawing/2014/main" id="{83D52FB8-BE38-3892-4C76-249A2A9041A0}"/>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B3155EEF-2E74-6BBF-AD6A-BF979CC9E5B8}"/>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12034925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image - Power Word ">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2467269" y="5031979"/>
            <a:ext cx="9478778" cy="3125787"/>
          </a:xfrm>
        </p:spPr>
        <p:txBody>
          <a:bodyPr anchor="t" anchorCtr="0">
            <a:noAutofit/>
          </a:bodyPr>
          <a:lstStyle>
            <a:lvl1pPr algn="l">
              <a:defRPr sz="20000" b="0" i="0">
                <a:solidFill>
                  <a:schemeClr val="accent2"/>
                </a:solidFill>
                <a:latin typeface="Outfit Light" pitchFamily="2" charset="0"/>
              </a:defRPr>
            </a:lvl1pPr>
          </a:lstStyle>
          <a:p>
            <a:r>
              <a:rPr lang="en-US"/>
              <a:t>energy</a:t>
            </a:r>
          </a:p>
        </p:txBody>
      </p:sp>
      <p:sp>
        <p:nvSpPr>
          <p:cNvPr id="3" name="Slide Number Placeholder 5">
            <a:extLst>
              <a:ext uri="{FF2B5EF4-FFF2-40B4-BE49-F238E27FC236}">
                <a16:creationId xmlns:a16="http://schemas.microsoft.com/office/drawing/2014/main" id="{BB56C16F-A5B4-1C6E-8274-527FC1E361F4}"/>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16" name="Picture Placeholder 4">
            <a:extLst>
              <a:ext uri="{FF2B5EF4-FFF2-40B4-BE49-F238E27FC236}">
                <a16:creationId xmlns:a16="http://schemas.microsoft.com/office/drawing/2014/main" id="{C851EF96-4DAA-EDF0-DAED-FE2994C21D9E}"/>
              </a:ext>
            </a:extLst>
          </p:cNvPr>
          <p:cNvSpPr>
            <a:spLocks noGrp="1"/>
          </p:cNvSpPr>
          <p:nvPr>
            <p:ph type="pic" sz="quarter" idx="10"/>
          </p:nvPr>
        </p:nvSpPr>
        <p:spPr>
          <a:xfrm>
            <a:off x="0" y="2346325"/>
            <a:ext cx="5670550" cy="3165475"/>
          </a:xfrm>
        </p:spPr>
        <p:txBody>
          <a:bodyPr/>
          <a:lstStyle/>
          <a:p>
            <a:endParaRPr lang="en-US" dirty="0"/>
          </a:p>
        </p:txBody>
      </p:sp>
      <p:sp>
        <p:nvSpPr>
          <p:cNvPr id="18" name="Content Placeholder 2">
            <a:extLst>
              <a:ext uri="{FF2B5EF4-FFF2-40B4-BE49-F238E27FC236}">
                <a16:creationId xmlns:a16="http://schemas.microsoft.com/office/drawing/2014/main" id="{5B47BB93-F99A-7109-8396-BB6AC4EC1AD1}"/>
              </a:ext>
            </a:extLst>
          </p:cNvPr>
          <p:cNvSpPr>
            <a:spLocks noGrp="1"/>
          </p:cNvSpPr>
          <p:nvPr>
            <p:ph idx="1"/>
          </p:nvPr>
        </p:nvSpPr>
        <p:spPr>
          <a:xfrm>
            <a:off x="5883515" y="2346325"/>
            <a:ext cx="5397629" cy="3178175"/>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
            <a:extLst>
              <a:ext uri="{FF2B5EF4-FFF2-40B4-BE49-F238E27FC236}">
                <a16:creationId xmlns:a16="http://schemas.microsoft.com/office/drawing/2014/main" id="{ED5414B8-AF52-83E1-7CDB-47BDE5877BC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4" name="Slide Number Placeholder 5">
            <a:extLst>
              <a:ext uri="{FF2B5EF4-FFF2-40B4-BE49-F238E27FC236}">
                <a16:creationId xmlns:a16="http://schemas.microsoft.com/office/drawing/2014/main" id="{2C92FFAD-E8D6-7BAD-44AA-3FCC11912722}"/>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6775231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mage - Bullets - Whi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ntent Placeholder 2">
            <a:extLst>
              <a:ext uri="{FF2B5EF4-FFF2-40B4-BE49-F238E27FC236}">
                <a16:creationId xmlns:a16="http://schemas.microsoft.com/office/drawing/2014/main" id="{52C6CB10-136D-68CB-35BB-918F8058D58E}"/>
              </a:ext>
            </a:extLst>
          </p:cNvPr>
          <p:cNvSpPr>
            <a:spLocks noGrp="1"/>
          </p:cNvSpPr>
          <p:nvPr>
            <p:ph idx="12"/>
          </p:nvPr>
        </p:nvSpPr>
        <p:spPr>
          <a:xfrm>
            <a:off x="1160340" y="767502"/>
            <a:ext cx="10120803" cy="1422805"/>
          </a:xfrm>
        </p:spPr>
        <p:txBody>
          <a:bodyPr tIns="0" bIns="0" numCol="1">
            <a:noAutofit/>
          </a:bodyPr>
          <a:lstStyle>
            <a:lvl1pPr>
              <a:spcBef>
                <a:spcPts val="300"/>
              </a:spcBef>
              <a:spcAft>
                <a:spcPts val="300"/>
              </a:spcAft>
              <a:defRPr sz="4000" b="1">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E7F10388-2644-4BA8-473A-44E06DFCABC1}"/>
              </a:ext>
            </a:extLst>
          </p:cNvPr>
          <p:cNvSpPr>
            <a:spLocks noGrp="1"/>
          </p:cNvSpPr>
          <p:nvPr>
            <p:ph idx="1"/>
          </p:nvPr>
        </p:nvSpPr>
        <p:spPr>
          <a:xfrm>
            <a:off x="5883515" y="2346325"/>
            <a:ext cx="5397629" cy="4146550"/>
          </a:xfrm>
        </p:spPr>
        <p:txBody>
          <a:bodyPr tIns="0" numCol="1" spcCol="0">
            <a:noAutofit/>
          </a:bodyPr>
          <a:lstStyle>
            <a:lvl1pPr>
              <a:spcBef>
                <a:spcPts val="300"/>
              </a:spcBef>
              <a:spcAft>
                <a:spcPts val="300"/>
              </a:spcAft>
              <a:defRPr>
                <a:solidFill>
                  <a:schemeClr val="accent1"/>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Slide Number Placeholder 5">
            <a:extLst>
              <a:ext uri="{FF2B5EF4-FFF2-40B4-BE49-F238E27FC236}">
                <a16:creationId xmlns:a16="http://schemas.microsoft.com/office/drawing/2014/main" id="{98C049C0-7552-0F48-9188-024C24F2A9E3}"/>
              </a:ext>
            </a:extLst>
          </p:cNvPr>
          <p:cNvSpPr txBox="1">
            <a:spLocks/>
          </p:cNvSpPr>
          <p:nvPr userDrawn="1"/>
        </p:nvSpPr>
        <p:spPr>
          <a:xfrm>
            <a:off x="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800" smtClean="0">
                <a:solidFill>
                  <a:schemeClr val="bg1"/>
                </a:solidFill>
              </a:rPr>
              <a:pPr algn="ctr"/>
              <a:t>‹#›</a:t>
            </a:fld>
            <a:endParaRPr lang="en-US" sz="800" dirty="0">
              <a:solidFill>
                <a:schemeClr val="bg1"/>
              </a:solidFill>
            </a:endParaRPr>
          </a:p>
        </p:txBody>
      </p:sp>
      <p:sp>
        <p:nvSpPr>
          <p:cNvPr id="19" name="Picture Placeholder 4">
            <a:extLst>
              <a:ext uri="{FF2B5EF4-FFF2-40B4-BE49-F238E27FC236}">
                <a16:creationId xmlns:a16="http://schemas.microsoft.com/office/drawing/2014/main" id="{DB21F27A-8A19-6AD5-0134-4D11D1CB3185}"/>
              </a:ext>
            </a:extLst>
          </p:cNvPr>
          <p:cNvSpPr>
            <a:spLocks noGrp="1"/>
          </p:cNvSpPr>
          <p:nvPr>
            <p:ph type="pic" sz="quarter" idx="10"/>
          </p:nvPr>
        </p:nvSpPr>
        <p:spPr>
          <a:xfrm>
            <a:off x="0" y="2346325"/>
            <a:ext cx="5670550" cy="4511675"/>
          </a:xfrm>
          <a:solidFill>
            <a:schemeClr val="accent4"/>
          </a:solidFill>
        </p:spPr>
        <p:txBody>
          <a:bodyPr/>
          <a:lstStyle/>
          <a:p>
            <a:endParaRPr lang="en-US" dirty="0"/>
          </a:p>
        </p:txBody>
      </p:sp>
      <p:sp>
        <p:nvSpPr>
          <p:cNvPr id="16" name="Content Placeholder 2">
            <a:extLst>
              <a:ext uri="{FF2B5EF4-FFF2-40B4-BE49-F238E27FC236}">
                <a16:creationId xmlns:a16="http://schemas.microsoft.com/office/drawing/2014/main" id="{36EA7EA7-BF43-E670-B282-9BFD78936CEA}"/>
              </a:ext>
            </a:extLst>
          </p:cNvPr>
          <p:cNvSpPr>
            <a:spLocks noGrp="1"/>
          </p:cNvSpPr>
          <p:nvPr>
            <p:ph idx="11"/>
          </p:nvPr>
        </p:nvSpPr>
        <p:spPr>
          <a:xfrm>
            <a:off x="140023" y="113787"/>
            <a:ext cx="6212576" cy="278735"/>
          </a:xfrm>
        </p:spPr>
        <p:txBody>
          <a:bodyPr numCol="1" spcCol="0">
            <a:noAutofit/>
          </a:bodyPr>
          <a:lstStyle>
            <a:lvl1pPr>
              <a:spcBef>
                <a:spcPts val="300"/>
              </a:spcBef>
              <a:spcAft>
                <a:spcPts val="300"/>
              </a:spcAft>
              <a:defRPr sz="800">
                <a:solidFill>
                  <a:schemeClr val="accent3"/>
                </a:solidFill>
              </a:defRPr>
            </a:lvl1pPr>
            <a:lvl2pPr>
              <a:spcBef>
                <a:spcPts val="300"/>
              </a:spcBef>
              <a:spcAft>
                <a:spcPts val="300"/>
              </a:spcAft>
              <a:defRPr>
                <a:solidFill>
                  <a:schemeClr val="accent1"/>
                </a:solidFill>
              </a:defRPr>
            </a:lvl2pPr>
            <a:lvl3pPr>
              <a:spcBef>
                <a:spcPts val="300"/>
              </a:spcBef>
              <a:spcAft>
                <a:spcPts val="300"/>
              </a:spcAft>
              <a:defRPr>
                <a:solidFill>
                  <a:schemeClr val="accent1"/>
                </a:solidFill>
              </a:defRPr>
            </a:lvl3pPr>
            <a:lvl4pPr>
              <a:spcBef>
                <a:spcPts val="300"/>
              </a:spcBef>
              <a:spcAft>
                <a:spcPts val="300"/>
              </a:spcAft>
              <a:defRPr>
                <a:solidFill>
                  <a:schemeClr val="accent1"/>
                </a:solidFill>
              </a:defRPr>
            </a:lvl4pPr>
            <a:lvl5pPr>
              <a:spcBef>
                <a:spcPts val="300"/>
              </a:spcBef>
              <a:spcAft>
                <a:spcPts val="300"/>
              </a:spcAft>
              <a:defRPr>
                <a:solidFill>
                  <a:schemeClr val="accent1"/>
                </a:solidFill>
              </a:defRPr>
            </a:lvl5pPr>
          </a:lstStyle>
          <a:p>
            <a:pPr lvl="0"/>
            <a:r>
              <a:rPr lang="en-US"/>
              <a:t>Click to edit</a:t>
            </a:r>
          </a:p>
        </p:txBody>
      </p:sp>
      <p:sp>
        <p:nvSpPr>
          <p:cNvPr id="2" name="Slide Number Placeholder 5">
            <a:extLst>
              <a:ext uri="{FF2B5EF4-FFF2-40B4-BE49-F238E27FC236}">
                <a16:creationId xmlns:a16="http://schemas.microsoft.com/office/drawing/2014/main" id="{9D007173-AFB4-9AD5-B2A4-A1719ED8BE69}"/>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21870977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 Power Word - Stee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4F244E-AC26-65C7-A8C0-CC9795A7DF55}"/>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2D82DE-A971-7B52-7842-453E51F23E17}"/>
              </a:ext>
            </a:extLst>
          </p:cNvPr>
          <p:cNvSpPr>
            <a:spLocks noGrp="1"/>
          </p:cNvSpPr>
          <p:nvPr>
            <p:ph type="ctrTitle" hasCustomPrompt="1"/>
          </p:nvPr>
        </p:nvSpPr>
        <p:spPr>
          <a:xfrm>
            <a:off x="4030256" y="2416372"/>
            <a:ext cx="6793688" cy="1624005"/>
          </a:xfrm>
        </p:spPr>
        <p:txBody>
          <a:bodyPr anchor="t" anchorCtr="0">
            <a:noAutofit/>
          </a:bodyPr>
          <a:lstStyle>
            <a:lvl1pPr algn="l">
              <a:lnSpc>
                <a:spcPct val="60000"/>
              </a:lnSpc>
              <a:defRPr sz="13000" b="1" i="0">
                <a:solidFill>
                  <a:schemeClr val="bg1"/>
                </a:solidFill>
                <a:latin typeface="Outfit SemiBold" pitchFamily="2" charset="0"/>
              </a:defRPr>
            </a:lvl1pPr>
          </a:lstStyle>
          <a:p>
            <a:r>
              <a:rPr lang="en-US" dirty="0"/>
              <a:t>Thank        </a:t>
            </a:r>
          </a:p>
        </p:txBody>
      </p:sp>
      <p:pic>
        <p:nvPicPr>
          <p:cNvPr id="9" name="Picture 8">
            <a:extLst>
              <a:ext uri="{FF2B5EF4-FFF2-40B4-BE49-F238E27FC236}">
                <a16:creationId xmlns:a16="http://schemas.microsoft.com/office/drawing/2014/main" id="{53480EDC-732B-3B90-A0BD-9F3FB34BDA3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967800" y="2203480"/>
            <a:ext cx="1921953" cy="1921953"/>
          </a:xfrm>
          <a:prstGeom prst="rect">
            <a:avLst/>
          </a:prstGeom>
        </p:spPr>
      </p:pic>
      <p:sp>
        <p:nvSpPr>
          <p:cNvPr id="10" name="Content Placeholder 2">
            <a:extLst>
              <a:ext uri="{FF2B5EF4-FFF2-40B4-BE49-F238E27FC236}">
                <a16:creationId xmlns:a16="http://schemas.microsoft.com/office/drawing/2014/main" id="{35F8EBD3-094C-1237-3D91-07BF2B96448C}"/>
              </a:ext>
            </a:extLst>
          </p:cNvPr>
          <p:cNvSpPr>
            <a:spLocks noGrp="1"/>
          </p:cNvSpPr>
          <p:nvPr>
            <p:ph idx="1" hasCustomPrompt="1"/>
          </p:nvPr>
        </p:nvSpPr>
        <p:spPr>
          <a:xfrm>
            <a:off x="1967801" y="4830040"/>
            <a:ext cx="3624926" cy="1273048"/>
          </a:xfrm>
        </p:spPr>
        <p:txBody>
          <a:bodyPr tIns="0" numCol="1" spcCol="0">
            <a:noAutofit/>
          </a:bodyPr>
          <a:lstStyle>
            <a:lvl1pPr>
              <a:spcBef>
                <a:spcPts val="300"/>
              </a:spcBef>
              <a:spcAft>
                <a:spcPts val="300"/>
              </a:spcAft>
              <a:defRPr>
                <a:solidFill>
                  <a:schemeClr val="accent4"/>
                </a:solidFill>
              </a:defRPr>
            </a:lvl1pPr>
            <a:lvl2pPr>
              <a:spcBef>
                <a:spcPts val="300"/>
              </a:spcBef>
              <a:spcAft>
                <a:spcPts val="300"/>
              </a:spcAft>
              <a:defRPr>
                <a:solidFill>
                  <a:schemeClr val="accent4"/>
                </a:solidFill>
              </a:defRPr>
            </a:lvl2pPr>
            <a:lvl3pPr>
              <a:spcBef>
                <a:spcPts val="300"/>
              </a:spcBef>
              <a:spcAft>
                <a:spcPts val="300"/>
              </a:spcAft>
              <a:defRPr>
                <a:solidFill>
                  <a:schemeClr val="accent4"/>
                </a:solidFill>
              </a:defRPr>
            </a:lvl3pPr>
            <a:lvl4pPr>
              <a:spcBef>
                <a:spcPts val="300"/>
              </a:spcBef>
              <a:spcAft>
                <a:spcPts val="300"/>
              </a:spcAft>
              <a:defRPr>
                <a:solidFill>
                  <a:schemeClr val="accent4"/>
                </a:solidFill>
              </a:defRPr>
            </a:lvl4pPr>
            <a:lvl5pPr>
              <a:spcBef>
                <a:spcPts val="300"/>
              </a:spcBef>
              <a:spcAft>
                <a:spcPts val="300"/>
              </a:spcAft>
              <a:defRPr>
                <a:solidFill>
                  <a:schemeClr val="accent4"/>
                </a:solidFill>
              </a:defRPr>
            </a:lvl5pPr>
          </a:lstStyle>
          <a:p>
            <a:pPr lvl="0"/>
            <a:r>
              <a:rPr lang="en-US"/>
              <a:t>Contact Name</a:t>
            </a:r>
          </a:p>
          <a:p>
            <a:pPr lvl="0"/>
            <a:r>
              <a:rPr lang="en-US"/>
              <a:t>Email</a:t>
            </a:r>
          </a:p>
          <a:p>
            <a:pPr lvl="0"/>
            <a:r>
              <a:rPr lang="en-US"/>
              <a:t>Phone</a:t>
            </a:r>
          </a:p>
        </p:txBody>
      </p:sp>
      <p:sp>
        <p:nvSpPr>
          <p:cNvPr id="4" name="Slide Number Placeholder 5">
            <a:extLst>
              <a:ext uri="{FF2B5EF4-FFF2-40B4-BE49-F238E27FC236}">
                <a16:creationId xmlns:a16="http://schemas.microsoft.com/office/drawing/2014/main" id="{165412F6-6CFA-B25B-605C-0D1408B6D376}"/>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bg1"/>
                </a:solidFill>
              </a:rPr>
              <a:pPr algn="ctr"/>
              <a:t>‹#›</a:t>
            </a:fld>
            <a:endParaRPr lang="en-US" sz="900" dirty="0">
              <a:solidFill>
                <a:schemeClr val="bg1"/>
              </a:solidFill>
            </a:endParaRPr>
          </a:p>
        </p:txBody>
      </p:sp>
      <p:sp>
        <p:nvSpPr>
          <p:cNvPr id="5" name="TextBox 4">
            <a:extLst>
              <a:ext uri="{FF2B5EF4-FFF2-40B4-BE49-F238E27FC236}">
                <a16:creationId xmlns:a16="http://schemas.microsoft.com/office/drawing/2014/main" id="{AF6EEB09-6D28-0349-00D3-ABC8EB2B59E2}"/>
              </a:ext>
            </a:extLst>
          </p:cNvPr>
          <p:cNvSpPr txBox="1"/>
          <p:nvPr userDrawn="1"/>
        </p:nvSpPr>
        <p:spPr>
          <a:xfrm>
            <a:off x="7408731" y="2896862"/>
            <a:ext cx="6094476" cy="2092881"/>
          </a:xfrm>
          <a:prstGeom prst="rect">
            <a:avLst/>
          </a:prstGeom>
          <a:noFill/>
        </p:spPr>
        <p:txBody>
          <a:bodyPr wrap="square">
            <a:spAutoFit/>
          </a:bodyPr>
          <a:lstStyle/>
          <a:p>
            <a:r>
              <a:rPr lang="en-US" sz="13000" i="1" dirty="0">
                <a:solidFill>
                  <a:schemeClr val="accent2"/>
                </a:solidFill>
                <a:latin typeface="DM Serif Display" pitchFamily="2" charset="0"/>
              </a:rPr>
              <a:t>you</a:t>
            </a:r>
          </a:p>
        </p:txBody>
      </p:sp>
      <p:pic>
        <p:nvPicPr>
          <p:cNvPr id="7" name="Picture 6">
            <a:extLst>
              <a:ext uri="{FF2B5EF4-FFF2-40B4-BE49-F238E27FC236}">
                <a16:creationId xmlns:a16="http://schemas.microsoft.com/office/drawing/2014/main" id="{15557FE9-F7F0-F7C7-38FF-831E9C3408DD}"/>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2431274" y="1218128"/>
            <a:ext cx="2981692" cy="920896"/>
          </a:xfrm>
          <a:prstGeom prst="rect">
            <a:avLst/>
          </a:prstGeom>
        </p:spPr>
      </p:pic>
    </p:spTree>
    <p:extLst>
      <p:ext uri="{BB962C8B-B14F-4D97-AF65-F5344CB8AC3E}">
        <p14:creationId xmlns:p14="http://schemas.microsoft.com/office/powerpoint/2010/main" val="31122077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T_Body_2">
    <p:spTree>
      <p:nvGrpSpPr>
        <p:cNvPr id="1" name=""/>
        <p:cNvGrpSpPr/>
        <p:nvPr/>
      </p:nvGrpSpPr>
      <p:grpSpPr>
        <a:xfrm>
          <a:off x="0" y="0"/>
          <a:ext cx="0" cy="0"/>
          <a:chOff x="0" y="0"/>
          <a:chExt cx="0" cy="0"/>
        </a:xfrm>
      </p:grpSpPr>
      <p:sp>
        <p:nvSpPr>
          <p:cNvPr id="13" name="Title 1"/>
          <p:cNvSpPr>
            <a:spLocks noGrp="1"/>
          </p:cNvSpPr>
          <p:nvPr>
            <p:ph type="title"/>
          </p:nvPr>
        </p:nvSpPr>
        <p:spPr>
          <a:xfrm>
            <a:off x="457200" y="365760"/>
            <a:ext cx="11308080" cy="548640"/>
          </a:xfrm>
        </p:spPr>
        <p:txBody>
          <a:bodyPr/>
          <a:lstStyle/>
          <a:p>
            <a:r>
              <a:rPr lang="en-US" dirty="0"/>
              <a:t>Click to edit Master title style</a:t>
            </a:r>
          </a:p>
        </p:txBody>
      </p:sp>
    </p:spTree>
    <p:extLst>
      <p:ext uri="{BB962C8B-B14F-4D97-AF65-F5344CB8AC3E}">
        <p14:creationId xmlns:p14="http://schemas.microsoft.com/office/powerpoint/2010/main" val="360858912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
        <p:nvSpPr>
          <p:cNvPr id="7" name="Slide Number Placeholder 5">
            <a:extLst>
              <a:ext uri="{FF2B5EF4-FFF2-40B4-BE49-F238E27FC236}">
                <a16:creationId xmlns:a16="http://schemas.microsoft.com/office/drawing/2014/main" id="{57D1E85A-45C3-46D5-6AB0-132D0C17E0BB}"/>
              </a:ext>
            </a:extLst>
          </p:cNvPr>
          <p:cNvSpPr txBox="1">
            <a:spLocks/>
          </p:cNvSpPr>
          <p:nvPr userDrawn="1"/>
        </p:nvSpPr>
        <p:spPr>
          <a:xfrm>
            <a:off x="11811000" y="6492875"/>
            <a:ext cx="381000" cy="365125"/>
          </a:xfrm>
          <a:prstGeom prst="rect">
            <a:avLst/>
          </a:prstGeom>
        </p:spPr>
        <p:txBody>
          <a:bodyPr vert="horz" lIns="91440" tIns="45720" rIns="91440" bIns="45720" rtlCol="0" anchor="ctr"/>
          <a:lstStyle>
            <a:defPPr>
              <a:defRPr lang="en-US"/>
            </a:defPPr>
            <a:lvl1pPr marL="0" algn="r" defTabSz="914400" rtl="0" eaLnBrk="1" latinLnBrk="0" hangingPunct="1">
              <a:defRPr sz="1200" b="1" kern="1200">
                <a:solidFill>
                  <a:schemeClr val="accent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7CE7FE3-4C6A-4CF4-9AB8-F9DF39BBB232}" type="slidenum">
              <a:rPr lang="en-US" sz="900" smtClean="0">
                <a:solidFill>
                  <a:schemeClr val="accent1"/>
                </a:solidFill>
              </a:rPr>
              <a:pPr algn="ctr"/>
              <a:t>‹#›</a:t>
            </a:fld>
            <a:endParaRPr lang="en-US" sz="900" dirty="0">
              <a:solidFill>
                <a:schemeClr val="accent1"/>
              </a:solidFill>
            </a:endParaRPr>
          </a:p>
        </p:txBody>
      </p:sp>
    </p:spTree>
    <p:extLst>
      <p:ext uri="{BB962C8B-B14F-4D97-AF65-F5344CB8AC3E}">
        <p14:creationId xmlns:p14="http://schemas.microsoft.com/office/powerpoint/2010/main" val="395366147"/>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 id="2147483845" r:id="rId12"/>
    <p:sldLayoutId id="2147483846" r:id="rId13"/>
    <p:sldLayoutId id="2147483668" r:id="rId14"/>
    <p:sldLayoutId id="2147483669" r:id="rId15"/>
    <p:sldLayoutId id="2147483670" r:id="rId16"/>
    <p:sldLayoutId id="2147483686" r:id="rId17"/>
    <p:sldLayoutId id="2147483671" r:id="rId18"/>
    <p:sldLayoutId id="2147483689" r:id="rId19"/>
    <p:sldLayoutId id="2147483688" r:id="rId20"/>
    <p:sldLayoutId id="2147483674" r:id="rId21"/>
    <p:sldLayoutId id="2147483712" r:id="rId22"/>
    <p:sldLayoutId id="2147483710" r:id="rId23"/>
    <p:sldLayoutId id="2147483711" r:id="rId24"/>
    <p:sldLayoutId id="2147483687" r:id="rId25"/>
    <p:sldLayoutId id="2147483682" r:id="rId26"/>
    <p:sldLayoutId id="2147483715" r:id="rId27"/>
    <p:sldLayoutId id="2147483717" r:id="rId28"/>
    <p:sldLayoutId id="2147483713" r:id="rId29"/>
    <p:sldLayoutId id="2147483716" r:id="rId30"/>
    <p:sldLayoutId id="2147483718" r:id="rId31"/>
    <p:sldLayoutId id="2147483719" r:id="rId32"/>
    <p:sldLayoutId id="2147483695" r:id="rId33"/>
    <p:sldLayoutId id="2147483696" r:id="rId34"/>
    <p:sldLayoutId id="2147483694" r:id="rId35"/>
    <p:sldLayoutId id="2147483697" r:id="rId36"/>
    <p:sldLayoutId id="2147483681" r:id="rId37"/>
    <p:sldLayoutId id="2147483700" r:id="rId38"/>
    <p:sldLayoutId id="2147483684" r:id="rId39"/>
    <p:sldLayoutId id="2147483703" r:id="rId40"/>
    <p:sldLayoutId id="2147483706" r:id="rId41"/>
    <p:sldLayoutId id="2147483709" r:id="rId42"/>
    <p:sldLayoutId id="2147483847" r:id="rId4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hyperlink" Target="https://portal.psegliny.com/sites/SO/PSEGLIISSO/Solution%20Delivery/Forms/AllItems.aspx?RootFolder=%2Fsites%2FSO%2FPSEGLIISSO%2FSolution%20Delivery%2F024%2EInfr%20%2D%20Burns%2DMcDonnell%20JMUX%20Replacement&amp;View=%7BF1034167%2D7ACC%2D465A%2DA26E%2D2EFECC9A118D%7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F8ED0DA0-EE44-6A25-92A6-1464D7BF9C60}"/>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a:ext>
            </a:extLst>
          </a:blip>
          <a:srcRect t="119" b="119"/>
          <a:stretch/>
        </p:blipFill>
        <p:spPr/>
      </p:pic>
      <p:sp>
        <p:nvSpPr>
          <p:cNvPr id="7" name="Title 6">
            <a:extLst>
              <a:ext uri="{FF2B5EF4-FFF2-40B4-BE49-F238E27FC236}">
                <a16:creationId xmlns:a16="http://schemas.microsoft.com/office/drawing/2014/main" id="{F061BD6C-4759-C293-5CA3-F972D28C1D81}"/>
              </a:ext>
            </a:extLst>
          </p:cNvPr>
          <p:cNvSpPr>
            <a:spLocks noGrp="1"/>
          </p:cNvSpPr>
          <p:nvPr>
            <p:ph type="ctrTitle"/>
          </p:nvPr>
        </p:nvSpPr>
        <p:spPr>
          <a:xfrm>
            <a:off x="1875918" y="2232137"/>
            <a:ext cx="6065445" cy="1552251"/>
          </a:xfrm>
        </p:spPr>
        <p:txBody>
          <a:bodyPr>
            <a:normAutofit fontScale="90000"/>
          </a:bodyPr>
          <a:lstStyle/>
          <a:p>
            <a:r>
              <a:rPr lang="en-US" sz="2700" dirty="0">
                <a:solidFill>
                  <a:schemeClr val="bg1"/>
                </a:solidFill>
              </a:rPr>
              <a:t>PRJ13797: JMUX Replacement Update</a:t>
            </a:r>
            <a:br>
              <a:rPr lang="en-US" sz="2700" dirty="0">
                <a:solidFill>
                  <a:schemeClr val="bg1"/>
                </a:solidFill>
              </a:rPr>
            </a:br>
            <a:r>
              <a:rPr lang="en-US" sz="2700" dirty="0">
                <a:solidFill>
                  <a:schemeClr val="bg1"/>
                </a:solidFill>
              </a:rPr>
              <a:t>Project Manager : Dhananjaya Gunaratne </a:t>
            </a:r>
            <a:br>
              <a:rPr lang="en-US" sz="2700" dirty="0">
                <a:solidFill>
                  <a:schemeClr val="bg1"/>
                </a:solidFill>
              </a:rPr>
            </a:br>
            <a:br>
              <a:rPr lang="en-US" dirty="0">
                <a:solidFill>
                  <a:schemeClr val="bg1"/>
                </a:solidFill>
              </a:rPr>
            </a:br>
            <a:endParaRPr lang="en-US" dirty="0">
              <a:solidFill>
                <a:schemeClr val="bg1"/>
              </a:solidFill>
            </a:endParaRPr>
          </a:p>
        </p:txBody>
      </p:sp>
      <p:sp>
        <p:nvSpPr>
          <p:cNvPr id="8" name="Subtitle 7">
            <a:extLst>
              <a:ext uri="{FF2B5EF4-FFF2-40B4-BE49-F238E27FC236}">
                <a16:creationId xmlns:a16="http://schemas.microsoft.com/office/drawing/2014/main" id="{EE993FB0-36D8-46A2-29A8-EE8A722FA73C}"/>
              </a:ext>
            </a:extLst>
          </p:cNvPr>
          <p:cNvSpPr>
            <a:spLocks noGrp="1"/>
          </p:cNvSpPr>
          <p:nvPr>
            <p:ph type="subTitle" idx="1"/>
          </p:nvPr>
        </p:nvSpPr>
        <p:spPr>
          <a:xfrm>
            <a:off x="1875919" y="4739601"/>
            <a:ext cx="6065445" cy="923779"/>
          </a:xfrm>
        </p:spPr>
        <p:txBody>
          <a:bodyPr/>
          <a:lstStyle/>
          <a:p>
            <a:br>
              <a:rPr lang="en-US" dirty="0">
                <a:solidFill>
                  <a:schemeClr val="bg1"/>
                </a:solidFill>
              </a:rPr>
            </a:br>
            <a:endParaRPr lang="en-US" sz="1200" dirty="0">
              <a:solidFill>
                <a:schemeClr val="bg1"/>
              </a:solidFill>
            </a:endParaRPr>
          </a:p>
        </p:txBody>
      </p:sp>
      <p:sp>
        <p:nvSpPr>
          <p:cNvPr id="5" name="Content Placeholder 2">
            <a:extLst>
              <a:ext uri="{FF2B5EF4-FFF2-40B4-BE49-F238E27FC236}">
                <a16:creationId xmlns:a16="http://schemas.microsoft.com/office/drawing/2014/main" id="{CB334AD1-9FAC-24C9-CD9B-3DC36EC1A1FB}"/>
              </a:ext>
            </a:extLst>
          </p:cNvPr>
          <p:cNvSpPr txBox="1">
            <a:spLocks/>
          </p:cNvSpPr>
          <p:nvPr/>
        </p:nvSpPr>
        <p:spPr>
          <a:xfrm>
            <a:off x="8891081" y="6264048"/>
            <a:ext cx="3095640" cy="278735"/>
          </a:xfrm>
          <a:prstGeom prst="rect">
            <a:avLst/>
          </a:prstGeom>
        </p:spPr>
        <p:txBody>
          <a:bodyPr numCol="1" spcCol="0">
            <a:noAutofit/>
          </a:bodyPr>
          <a:lstStyle>
            <a:lvl1pPr marL="0" indent="0" algn="r" defTabSz="914400" rtl="0" eaLnBrk="1" latinLnBrk="0" hangingPunct="1">
              <a:lnSpc>
                <a:spcPct val="120000"/>
              </a:lnSpc>
              <a:spcBef>
                <a:spcPts val="300"/>
              </a:spcBef>
              <a:spcAft>
                <a:spcPts val="300"/>
              </a:spcAft>
              <a:buFont typeface="Arial" panose="020B0604020202020204" pitchFamily="34" charset="0"/>
              <a:buNone/>
              <a:defRPr sz="1000" i="1" kern="1200">
                <a:solidFill>
                  <a:schemeClr val="accent1"/>
                </a:solidFill>
                <a:latin typeface="Arial" panose="020B0604020202020204" pitchFamily="34" charset="0"/>
                <a:ea typeface="+mn-ea"/>
                <a:cs typeface="Arial" panose="020B0604020202020204" pitchFamily="34" charset="0"/>
              </a:defRPr>
            </a:lvl1pPr>
            <a:lvl2pPr marL="0" indent="0" algn="l" defTabSz="914400" rtl="0" eaLnBrk="1" latinLnBrk="0" hangingPunct="1">
              <a:lnSpc>
                <a:spcPct val="120000"/>
              </a:lnSpc>
              <a:spcBef>
                <a:spcPts val="300"/>
              </a:spcBef>
              <a:spcAft>
                <a:spcPts val="300"/>
              </a:spcAft>
              <a:buFont typeface="Arial" panose="020B0604020202020204" pitchFamily="34" charset="0"/>
              <a:buNone/>
              <a:defRPr sz="1800" kern="1200">
                <a:solidFill>
                  <a:schemeClr val="accent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20000"/>
              </a:lnSpc>
              <a:spcBef>
                <a:spcPts val="300"/>
              </a:spcBef>
              <a:spcAft>
                <a:spcPts val="300"/>
              </a:spcAft>
              <a:buFont typeface="Arial" panose="020B0604020202020204" pitchFamily="34" charset="0"/>
              <a:buNone/>
              <a:defRPr sz="1600" kern="1200">
                <a:solidFill>
                  <a:schemeClr val="accent1"/>
                </a:solidFill>
                <a:latin typeface="Arial" panose="020B0604020202020204" pitchFamily="34" charset="0"/>
                <a:ea typeface="+mn-ea"/>
                <a:cs typeface="Arial" panose="020B0604020202020204" pitchFamily="34" charset="0"/>
              </a:defRPr>
            </a:lvl3pPr>
            <a:lvl4pPr marL="0" indent="0" algn="l" defTabSz="914400" rtl="0" eaLnBrk="1" latinLnBrk="0" hangingPunct="1">
              <a:lnSpc>
                <a:spcPct val="120000"/>
              </a:lnSpc>
              <a:spcBef>
                <a:spcPts val="300"/>
              </a:spcBef>
              <a:spcAft>
                <a:spcPts val="300"/>
              </a:spcAft>
              <a:buFont typeface="Arial" panose="020B0604020202020204" pitchFamily="34" charset="0"/>
              <a:buNone/>
              <a:defRPr sz="1400" kern="1200">
                <a:solidFill>
                  <a:schemeClr val="accent1"/>
                </a:solidFill>
                <a:latin typeface="Arial" panose="020B0604020202020204" pitchFamily="34" charset="0"/>
                <a:ea typeface="+mn-ea"/>
                <a:cs typeface="Arial" panose="020B0604020202020204" pitchFamily="34" charset="0"/>
              </a:defRPr>
            </a:lvl4pPr>
            <a:lvl5pPr marL="0" indent="0" algn="l" defTabSz="914400" rtl="0" eaLnBrk="1" latinLnBrk="0" hangingPunct="1">
              <a:lnSpc>
                <a:spcPct val="120000"/>
              </a:lnSpc>
              <a:spcBef>
                <a:spcPts val="300"/>
              </a:spcBef>
              <a:spcAft>
                <a:spcPts val="300"/>
              </a:spcAft>
              <a:buFont typeface="Arial" panose="020B0604020202020204" pitchFamily="34" charset="0"/>
              <a:buNone/>
              <a:defRPr sz="1200" kern="1200">
                <a:solidFill>
                  <a:schemeClr val="accent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bg1"/>
                </a:solidFill>
              </a:rPr>
              <a:t>March 2026</a:t>
            </a:r>
          </a:p>
        </p:txBody>
      </p:sp>
      <p:pic>
        <p:nvPicPr>
          <p:cNvPr id="6" name="Picture 5">
            <a:extLst>
              <a:ext uri="{FF2B5EF4-FFF2-40B4-BE49-F238E27FC236}">
                <a16:creationId xmlns:a16="http://schemas.microsoft.com/office/drawing/2014/main" id="{5797CDCD-E6FC-9247-80E4-BBF1747843EF}"/>
              </a:ext>
            </a:extLst>
          </p:cNvPr>
          <p:cNvPicPr>
            <a:picLocks noChangeAspect="1"/>
          </p:cNvPicPr>
          <p:nvPr/>
        </p:nvPicPr>
        <p:blipFill>
          <a:blip r:embed="rId4" cstate="hqprint">
            <a:extLst>
              <a:ext uri="{28A0092B-C50C-407E-A947-70E740481C1C}">
                <a14:useLocalDpi xmlns:a14="http://schemas.microsoft.com/office/drawing/2010/main" val="0"/>
              </a:ext>
            </a:extLst>
          </a:blip>
          <a:srcRect/>
          <a:stretch/>
        </p:blipFill>
        <p:spPr>
          <a:xfrm>
            <a:off x="1735964" y="1431746"/>
            <a:ext cx="2981692" cy="920896"/>
          </a:xfrm>
          <a:prstGeom prst="rect">
            <a:avLst/>
          </a:prstGeom>
        </p:spPr>
      </p:pic>
    </p:spTree>
    <p:extLst>
      <p:ext uri="{BB962C8B-B14F-4D97-AF65-F5344CB8AC3E}">
        <p14:creationId xmlns:p14="http://schemas.microsoft.com/office/powerpoint/2010/main" val="358660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Goals &amp; Objectives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chemeClr val="bg1"/>
                </a:solidFill>
              </a:rPr>
              <a:t>JMUX Replacement: Private Field Area Network</a:t>
            </a:r>
          </a:p>
        </p:txBody>
      </p:sp>
      <p:sp>
        <p:nvSpPr>
          <p:cNvPr id="6" name="Rectangle 5"/>
          <p:cNvSpPr/>
          <p:nvPr/>
        </p:nvSpPr>
        <p:spPr>
          <a:xfrm>
            <a:off x="0" y="6743171"/>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0700" y="6274200"/>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30701" y="954233"/>
            <a:ext cx="11612880" cy="365760"/>
          </a:xfrm>
          <a:prstGeom prst="rect">
            <a:avLst/>
          </a:prstGeom>
          <a:solidFill>
            <a:srgbClr val="F2F2F2"/>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1042415"/>
            <a:ext cx="11247120" cy="276999"/>
          </a:xfrm>
          <a:prstGeom prst="rect">
            <a:avLst/>
          </a:prstGeom>
          <a:noFill/>
        </p:spPr>
        <p:txBody>
          <a:bodyPr wrap="square">
            <a:spAutoFit/>
          </a:bodyPr>
          <a:lstStyle/>
          <a:p>
            <a:pPr algn="l"/>
            <a:r>
              <a:rPr sz="1200" b="0" i="1" dirty="0"/>
              <a:t>Modernize PSEG LI's substation communications by replacing legacy JMUX with MPLS nodes to deliver a reliable, scalable, and future-ready network.</a:t>
            </a:r>
          </a:p>
        </p:txBody>
      </p:sp>
      <p:sp>
        <p:nvSpPr>
          <p:cNvPr id="10" name="Rectangle 9"/>
          <p:cNvSpPr/>
          <p:nvPr/>
        </p:nvSpPr>
        <p:spPr>
          <a:xfrm>
            <a:off x="23070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0701" y="1435608"/>
            <a:ext cx="3566160" cy="365760"/>
          </a:xfrm>
          <a:prstGeom prst="rect">
            <a:avLst/>
          </a:prstGeom>
          <a:noFill/>
        </p:spPr>
        <p:txBody>
          <a:bodyPr wrap="square">
            <a:spAutoFit/>
          </a:bodyPr>
          <a:lstStyle/>
          <a:p>
            <a:pPr algn="l"/>
            <a:r>
              <a:rPr sz="1200" b="1" i="0">
                <a:solidFill>
                  <a:srgbClr val="FFFFFF"/>
                </a:solidFill>
              </a:rPr>
              <a:t>🔧  Engineering Services</a:t>
            </a:r>
          </a:p>
        </p:txBody>
      </p:sp>
      <p:sp>
        <p:nvSpPr>
          <p:cNvPr id="12" name="Rectangle 11"/>
          <p:cNvSpPr/>
          <p:nvPr/>
        </p:nvSpPr>
        <p:spPr>
          <a:xfrm>
            <a:off x="230701" y="1816501"/>
            <a:ext cx="3749039" cy="3200400"/>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0429" y="1935374"/>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4" name="TextBox 13"/>
          <p:cNvSpPr txBox="1"/>
          <p:nvPr/>
        </p:nvSpPr>
        <p:spPr>
          <a:xfrm>
            <a:off x="596461" y="1880510"/>
            <a:ext cx="3291840" cy="365760"/>
          </a:xfrm>
          <a:prstGeom prst="rect">
            <a:avLst/>
          </a:prstGeom>
          <a:noFill/>
        </p:spPr>
        <p:txBody>
          <a:bodyPr wrap="square">
            <a:spAutoFit/>
          </a:bodyPr>
          <a:lstStyle/>
          <a:p>
            <a:pPr algn="l"/>
            <a:r>
              <a:rPr sz="1000" b="0" i="0" dirty="0">
                <a:solidFill>
                  <a:srgbClr val="404040"/>
                </a:solidFill>
              </a:rPr>
              <a:t>Detailed site surveys at all substations</a:t>
            </a:r>
          </a:p>
        </p:txBody>
      </p:sp>
      <p:sp>
        <p:nvSpPr>
          <p:cNvPr id="15" name="Rectangle 14"/>
          <p:cNvSpPr/>
          <p:nvPr/>
        </p:nvSpPr>
        <p:spPr>
          <a:xfrm>
            <a:off x="340429" y="2314850"/>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6" name="TextBox 15"/>
          <p:cNvSpPr txBox="1"/>
          <p:nvPr/>
        </p:nvSpPr>
        <p:spPr>
          <a:xfrm>
            <a:off x="596461" y="2259986"/>
            <a:ext cx="3291840" cy="365760"/>
          </a:xfrm>
          <a:prstGeom prst="rect">
            <a:avLst/>
          </a:prstGeom>
          <a:noFill/>
        </p:spPr>
        <p:txBody>
          <a:bodyPr wrap="square">
            <a:spAutoFit/>
          </a:bodyPr>
          <a:lstStyle/>
          <a:p>
            <a:pPr algn="l"/>
            <a:r>
              <a:rPr sz="1000" b="0" i="0">
                <a:solidFill>
                  <a:srgbClr val="404040"/>
                </a:solidFill>
              </a:rPr>
              <a:t>Rack elevations, power design &amp; supplemental docs</a:t>
            </a:r>
          </a:p>
        </p:txBody>
      </p:sp>
      <p:sp>
        <p:nvSpPr>
          <p:cNvPr id="17" name="Rectangle 16"/>
          <p:cNvSpPr/>
          <p:nvPr/>
        </p:nvSpPr>
        <p:spPr>
          <a:xfrm>
            <a:off x="340429" y="2694326"/>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19" name="Rectangle 18"/>
          <p:cNvSpPr/>
          <p:nvPr/>
        </p:nvSpPr>
        <p:spPr>
          <a:xfrm>
            <a:off x="340429" y="3073802"/>
            <a:ext cx="164592" cy="16459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20" name="TextBox 19"/>
          <p:cNvSpPr txBox="1"/>
          <p:nvPr/>
        </p:nvSpPr>
        <p:spPr>
          <a:xfrm>
            <a:off x="596434" y="2666531"/>
            <a:ext cx="3291840" cy="365760"/>
          </a:xfrm>
          <a:prstGeom prst="rect">
            <a:avLst/>
          </a:prstGeom>
          <a:noFill/>
        </p:spPr>
        <p:txBody>
          <a:bodyPr wrap="square">
            <a:spAutoFit/>
          </a:bodyPr>
          <a:lstStyle/>
          <a:p>
            <a:pPr algn="l"/>
            <a:r>
              <a:rPr sz="1000" b="0" i="0" dirty="0">
                <a:solidFill>
                  <a:srgbClr val="404040"/>
                </a:solidFill>
              </a:rPr>
              <a:t>All substations aligned to PSEG LI standards</a:t>
            </a:r>
          </a:p>
        </p:txBody>
      </p:sp>
      <p:sp>
        <p:nvSpPr>
          <p:cNvPr id="24" name="TextBox 23"/>
          <p:cNvSpPr txBox="1"/>
          <p:nvPr/>
        </p:nvSpPr>
        <p:spPr>
          <a:xfrm>
            <a:off x="596448" y="3063240"/>
            <a:ext cx="3291840" cy="365760"/>
          </a:xfrm>
          <a:prstGeom prst="rect">
            <a:avLst/>
          </a:prstGeom>
          <a:noFill/>
        </p:spPr>
        <p:txBody>
          <a:bodyPr wrap="square">
            <a:spAutoFit/>
          </a:bodyPr>
          <a:lstStyle/>
          <a:p>
            <a:pPr algn="l"/>
            <a:r>
              <a:rPr sz="1000" b="0" i="0" dirty="0">
                <a:solidFill>
                  <a:srgbClr val="404040"/>
                </a:solidFill>
              </a:rPr>
              <a:t>Phase 2 surveys: Completed during Phase 1</a:t>
            </a:r>
          </a:p>
        </p:txBody>
      </p:sp>
      <p:sp>
        <p:nvSpPr>
          <p:cNvPr id="26" name="TextBox 25"/>
          <p:cNvSpPr txBox="1"/>
          <p:nvPr/>
        </p:nvSpPr>
        <p:spPr>
          <a:xfrm>
            <a:off x="596448" y="3442716"/>
            <a:ext cx="3291840" cy="365760"/>
          </a:xfrm>
          <a:prstGeom prst="rect">
            <a:avLst/>
          </a:prstGeom>
          <a:noFill/>
        </p:spPr>
        <p:txBody>
          <a:bodyPr wrap="square">
            <a:spAutoFit/>
          </a:bodyPr>
          <a:lstStyle/>
          <a:p>
            <a:pPr algn="l"/>
            <a:r>
              <a:rPr sz="1000" b="0" i="0">
                <a:solidFill>
                  <a:srgbClr val="404040"/>
                </a:solidFill>
              </a:rPr>
              <a:t>Phase 2 IFRs: Being issued by BMcD</a:t>
            </a:r>
          </a:p>
        </p:txBody>
      </p:sp>
      <p:sp>
        <p:nvSpPr>
          <p:cNvPr id="28" name="TextBox 27"/>
          <p:cNvSpPr txBox="1"/>
          <p:nvPr/>
        </p:nvSpPr>
        <p:spPr>
          <a:xfrm>
            <a:off x="596434" y="3789761"/>
            <a:ext cx="3291840" cy="365760"/>
          </a:xfrm>
          <a:prstGeom prst="rect">
            <a:avLst/>
          </a:prstGeom>
          <a:noFill/>
        </p:spPr>
        <p:txBody>
          <a:bodyPr wrap="square">
            <a:spAutoFit/>
          </a:bodyPr>
          <a:lstStyle/>
          <a:p>
            <a:pPr algn="l"/>
            <a:r>
              <a:rPr sz="1000" b="0" i="0">
                <a:solidFill>
                  <a:srgbClr val="404040"/>
                </a:solidFill>
              </a:rPr>
              <a:t>Phase 2 IFCs: In progress</a:t>
            </a:r>
          </a:p>
        </p:txBody>
      </p:sp>
      <p:sp>
        <p:nvSpPr>
          <p:cNvPr id="29" name="Rectangle 28"/>
          <p:cNvSpPr/>
          <p:nvPr/>
        </p:nvSpPr>
        <p:spPr>
          <a:xfrm>
            <a:off x="416262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254060" y="1405022"/>
            <a:ext cx="3566160" cy="365760"/>
          </a:xfrm>
          <a:prstGeom prst="rect">
            <a:avLst/>
          </a:prstGeom>
          <a:noFill/>
        </p:spPr>
        <p:txBody>
          <a:bodyPr wrap="square">
            <a:spAutoFit/>
          </a:bodyPr>
          <a:lstStyle/>
          <a:p>
            <a:pPr algn="l"/>
            <a:r>
              <a:rPr sz="1200" b="1" i="0" dirty="0">
                <a:solidFill>
                  <a:srgbClr val="FFFFFF"/>
                </a:solidFill>
              </a:rPr>
              <a:t>📦  Procurement &amp; Staging</a:t>
            </a:r>
          </a:p>
        </p:txBody>
      </p:sp>
      <p:sp>
        <p:nvSpPr>
          <p:cNvPr id="31" name="Rectangle 30"/>
          <p:cNvSpPr/>
          <p:nvPr/>
        </p:nvSpPr>
        <p:spPr>
          <a:xfrm>
            <a:off x="4154611" y="1825593"/>
            <a:ext cx="3749039" cy="3200400"/>
          </a:xfrm>
          <a:prstGeom prst="rect">
            <a:avLst/>
          </a:prstGeom>
          <a:solidFill>
            <a:schemeClr val="bg1"/>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ctr">
              <a:buFont typeface="Wingdings" panose="05000000000000000000" pitchFamily="2" charset="2"/>
              <a:buChar char="q"/>
            </a:pPr>
            <a:endParaRPr dirty="0"/>
          </a:p>
        </p:txBody>
      </p:sp>
      <p:sp>
        <p:nvSpPr>
          <p:cNvPr id="32" name="Rectangle 31"/>
          <p:cNvSpPr/>
          <p:nvPr/>
        </p:nvSpPr>
        <p:spPr>
          <a:xfrm>
            <a:off x="4272349" y="1935374"/>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3" name="TextBox 32"/>
          <p:cNvSpPr txBox="1"/>
          <p:nvPr/>
        </p:nvSpPr>
        <p:spPr>
          <a:xfrm>
            <a:off x="4528381" y="1880510"/>
            <a:ext cx="3291840" cy="365760"/>
          </a:xfrm>
          <a:prstGeom prst="rect">
            <a:avLst/>
          </a:prstGeom>
          <a:noFill/>
        </p:spPr>
        <p:txBody>
          <a:bodyPr wrap="square">
            <a:spAutoFit/>
          </a:bodyPr>
          <a:lstStyle/>
          <a:p>
            <a:pPr algn="l"/>
            <a:r>
              <a:rPr sz="1000" b="0" i="0">
                <a:solidFill>
                  <a:srgbClr val="404040"/>
                </a:solidFill>
              </a:rPr>
              <a:t>All Phase 1 equipment purchased by PSEG LI</a:t>
            </a:r>
          </a:p>
        </p:txBody>
      </p:sp>
      <p:sp>
        <p:nvSpPr>
          <p:cNvPr id="34" name="Rectangle 33"/>
          <p:cNvSpPr/>
          <p:nvPr/>
        </p:nvSpPr>
        <p:spPr>
          <a:xfrm>
            <a:off x="4272349" y="2314850"/>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6" name="Rectangle 35"/>
          <p:cNvSpPr/>
          <p:nvPr/>
        </p:nvSpPr>
        <p:spPr>
          <a:xfrm>
            <a:off x="4272349" y="2694326"/>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7" name="TextBox 36"/>
          <p:cNvSpPr txBox="1"/>
          <p:nvPr/>
        </p:nvSpPr>
        <p:spPr>
          <a:xfrm>
            <a:off x="4546669" y="2279246"/>
            <a:ext cx="3291840" cy="365760"/>
          </a:xfrm>
          <a:prstGeom prst="rect">
            <a:avLst/>
          </a:prstGeom>
          <a:noFill/>
        </p:spPr>
        <p:txBody>
          <a:bodyPr wrap="square">
            <a:spAutoFit/>
          </a:bodyPr>
          <a:lstStyle/>
          <a:p>
            <a:pPr algn="l"/>
            <a:r>
              <a:rPr sz="1000" b="0" i="0" dirty="0">
                <a:solidFill>
                  <a:srgbClr val="404040"/>
                </a:solidFill>
              </a:rPr>
              <a:t>Phase 1 staging completed: Sept 29, 2025</a:t>
            </a:r>
          </a:p>
        </p:txBody>
      </p:sp>
      <p:sp>
        <p:nvSpPr>
          <p:cNvPr id="38" name="Rectangle 37"/>
          <p:cNvSpPr/>
          <p:nvPr/>
        </p:nvSpPr>
        <p:spPr>
          <a:xfrm>
            <a:off x="4272349" y="3073802"/>
            <a:ext cx="164592" cy="16459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39" name="TextBox 38"/>
          <p:cNvSpPr txBox="1"/>
          <p:nvPr/>
        </p:nvSpPr>
        <p:spPr>
          <a:xfrm>
            <a:off x="4546669" y="2658722"/>
            <a:ext cx="3291840" cy="365760"/>
          </a:xfrm>
          <a:prstGeom prst="rect">
            <a:avLst/>
          </a:prstGeom>
          <a:noFill/>
        </p:spPr>
        <p:txBody>
          <a:bodyPr wrap="square">
            <a:spAutoFit/>
          </a:bodyPr>
          <a:lstStyle/>
          <a:p>
            <a:pPr algn="l"/>
            <a:r>
              <a:rPr sz="1000" b="0" i="0" dirty="0">
                <a:solidFill>
                  <a:srgbClr val="404040"/>
                </a:solidFill>
              </a:rPr>
              <a:t>Nokia Phase 2 equipment delivered: Feb 19, 2026</a:t>
            </a:r>
          </a:p>
        </p:txBody>
      </p:sp>
      <p:sp>
        <p:nvSpPr>
          <p:cNvPr id="41" name="TextBox 40"/>
          <p:cNvSpPr txBox="1"/>
          <p:nvPr/>
        </p:nvSpPr>
        <p:spPr>
          <a:xfrm>
            <a:off x="4546669" y="3038198"/>
            <a:ext cx="3291840" cy="365760"/>
          </a:xfrm>
          <a:prstGeom prst="rect">
            <a:avLst/>
          </a:prstGeom>
          <a:noFill/>
        </p:spPr>
        <p:txBody>
          <a:bodyPr wrap="square">
            <a:spAutoFit/>
          </a:bodyPr>
          <a:lstStyle/>
          <a:p>
            <a:pPr algn="l"/>
            <a:r>
              <a:rPr sz="1000" b="0" i="0" dirty="0">
                <a:solidFill>
                  <a:srgbClr val="404040"/>
                </a:solidFill>
              </a:rPr>
              <a:t>Equipment safely stored at Hawkeye warehouse</a:t>
            </a:r>
          </a:p>
        </p:txBody>
      </p:sp>
      <p:sp>
        <p:nvSpPr>
          <p:cNvPr id="42" name="Rectangle 41"/>
          <p:cNvSpPr/>
          <p:nvPr/>
        </p:nvSpPr>
        <p:spPr>
          <a:xfrm>
            <a:off x="8094541" y="1377590"/>
            <a:ext cx="3749039" cy="438912"/>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185981" y="1369705"/>
            <a:ext cx="3665590" cy="276999"/>
          </a:xfrm>
          <a:prstGeom prst="rect">
            <a:avLst/>
          </a:prstGeom>
          <a:noFill/>
        </p:spPr>
        <p:txBody>
          <a:bodyPr wrap="square">
            <a:spAutoFit/>
          </a:bodyPr>
          <a:lstStyle/>
          <a:p>
            <a:pPr algn="l"/>
            <a:r>
              <a:rPr sz="1200" b="1" i="0">
                <a:solidFill>
                  <a:srgbClr val="FFFFFF"/>
                </a:solidFill>
              </a:rPr>
              <a:t>🏗  Construction &amp; Installation</a:t>
            </a:r>
          </a:p>
        </p:txBody>
      </p:sp>
      <p:sp>
        <p:nvSpPr>
          <p:cNvPr id="44" name="Rectangle 43"/>
          <p:cNvSpPr/>
          <p:nvPr/>
        </p:nvSpPr>
        <p:spPr>
          <a:xfrm>
            <a:off x="8102532" y="1830216"/>
            <a:ext cx="3749039" cy="3200400"/>
          </a:xfrm>
          <a:prstGeom prst="rect">
            <a:avLst/>
          </a:prstGeom>
          <a:solidFill>
            <a:srgbClr val="FFFFFF"/>
          </a:solidFill>
          <a:ln w="190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5" name="Rectangle 44"/>
          <p:cNvSpPr/>
          <p:nvPr/>
        </p:nvSpPr>
        <p:spPr>
          <a:xfrm>
            <a:off x="8204269" y="193537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6" name="TextBox 45"/>
          <p:cNvSpPr txBox="1"/>
          <p:nvPr/>
        </p:nvSpPr>
        <p:spPr>
          <a:xfrm>
            <a:off x="8460301" y="1880510"/>
            <a:ext cx="3291840" cy="365760"/>
          </a:xfrm>
          <a:prstGeom prst="rect">
            <a:avLst/>
          </a:prstGeom>
          <a:noFill/>
        </p:spPr>
        <p:txBody>
          <a:bodyPr wrap="square">
            <a:spAutoFit/>
          </a:bodyPr>
          <a:lstStyle/>
          <a:p>
            <a:pPr algn="l"/>
            <a:r>
              <a:rPr sz="1000" b="0" i="0">
                <a:solidFill>
                  <a:srgbClr val="404040"/>
                </a:solidFill>
              </a:rPr>
              <a:t>BMcD on-site coordination throughout Phase 1</a:t>
            </a:r>
          </a:p>
        </p:txBody>
      </p:sp>
      <p:sp>
        <p:nvSpPr>
          <p:cNvPr id="47" name="Rectangle 46"/>
          <p:cNvSpPr/>
          <p:nvPr/>
        </p:nvSpPr>
        <p:spPr>
          <a:xfrm>
            <a:off x="8204269" y="231485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a:solidFill>
                  <a:srgbClr val="008000"/>
                </a:solidFill>
              </a:rPr>
              <a:t>✅</a:t>
            </a:r>
            <a:endParaRPr/>
          </a:p>
        </p:txBody>
      </p:sp>
      <p:sp>
        <p:nvSpPr>
          <p:cNvPr id="49" name="Rectangle 48"/>
          <p:cNvSpPr/>
          <p:nvPr/>
        </p:nvSpPr>
        <p:spPr>
          <a:xfrm>
            <a:off x="8204269" y="269432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0" name="TextBox 49"/>
          <p:cNvSpPr txBox="1"/>
          <p:nvPr/>
        </p:nvSpPr>
        <p:spPr>
          <a:xfrm>
            <a:off x="8460301" y="2264558"/>
            <a:ext cx="3291840" cy="365760"/>
          </a:xfrm>
          <a:prstGeom prst="rect">
            <a:avLst/>
          </a:prstGeom>
          <a:noFill/>
        </p:spPr>
        <p:txBody>
          <a:bodyPr wrap="square">
            <a:spAutoFit/>
          </a:bodyPr>
          <a:lstStyle/>
          <a:p>
            <a:pPr algn="l"/>
            <a:r>
              <a:rPr sz="1000" b="0" i="0">
                <a:solidFill>
                  <a:srgbClr val="404040"/>
                </a:solidFill>
              </a:rPr>
              <a:t>31/31 Phase 1 sites installed &amp; commissioned</a:t>
            </a:r>
          </a:p>
        </p:txBody>
      </p:sp>
      <p:sp>
        <p:nvSpPr>
          <p:cNvPr id="52" name="TextBox 51"/>
          <p:cNvSpPr txBox="1"/>
          <p:nvPr/>
        </p:nvSpPr>
        <p:spPr>
          <a:xfrm>
            <a:off x="8460301" y="2644034"/>
            <a:ext cx="3291840" cy="365760"/>
          </a:xfrm>
          <a:prstGeom prst="rect">
            <a:avLst/>
          </a:prstGeom>
          <a:noFill/>
        </p:spPr>
        <p:txBody>
          <a:bodyPr wrap="square">
            <a:spAutoFit/>
          </a:bodyPr>
          <a:lstStyle/>
          <a:p>
            <a:pPr algn="l"/>
            <a:r>
              <a:rPr sz="1000" b="0" i="0">
                <a:solidFill>
                  <a:srgbClr val="404040"/>
                </a:solidFill>
              </a:rPr>
              <a:t>SSP documentation: Submitted &amp; approved</a:t>
            </a:r>
          </a:p>
        </p:txBody>
      </p:sp>
      <p:sp>
        <p:nvSpPr>
          <p:cNvPr id="54" name="TextBox 53"/>
          <p:cNvSpPr txBox="1"/>
          <p:nvPr/>
        </p:nvSpPr>
        <p:spPr>
          <a:xfrm>
            <a:off x="8506021" y="3508140"/>
            <a:ext cx="3291840" cy="365760"/>
          </a:xfrm>
          <a:prstGeom prst="rect">
            <a:avLst/>
          </a:prstGeom>
          <a:noFill/>
        </p:spPr>
        <p:txBody>
          <a:bodyPr wrap="square">
            <a:spAutoFit/>
          </a:bodyPr>
          <a:lstStyle/>
          <a:p>
            <a:pPr algn="l"/>
            <a:r>
              <a:rPr sz="1000" b="0" i="0" dirty="0">
                <a:solidFill>
                  <a:srgbClr val="404040"/>
                </a:solidFill>
              </a:rPr>
              <a:t>Remote connectivity to nodes: In progress</a:t>
            </a:r>
          </a:p>
        </p:txBody>
      </p:sp>
      <p:sp>
        <p:nvSpPr>
          <p:cNvPr id="55" name="Rectangle 54"/>
          <p:cNvSpPr/>
          <p:nvPr/>
        </p:nvSpPr>
        <p:spPr>
          <a:xfrm>
            <a:off x="8222557" y="31084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p:cNvSpPr/>
          <p:nvPr/>
        </p:nvSpPr>
        <p:spPr>
          <a:xfrm>
            <a:off x="230700" y="5067192"/>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84981" y="5085533"/>
            <a:ext cx="3657600" cy="230832"/>
          </a:xfrm>
          <a:prstGeom prst="rect">
            <a:avLst/>
          </a:prstGeom>
          <a:noFill/>
        </p:spPr>
        <p:txBody>
          <a:bodyPr wrap="square">
            <a:spAutoFit/>
          </a:bodyPr>
          <a:lstStyle/>
          <a:p>
            <a:pPr algn="l"/>
            <a:r>
              <a:rPr sz="900" b="1" i="0" dirty="0">
                <a:solidFill>
                  <a:srgbClr val="FFFFFF"/>
                </a:solidFill>
              </a:rPr>
              <a:t>PROGRAM SCOPE SUMMARY</a:t>
            </a:r>
          </a:p>
        </p:txBody>
      </p:sp>
      <p:sp>
        <p:nvSpPr>
          <p:cNvPr id="60" name="TextBox 59"/>
          <p:cNvSpPr txBox="1"/>
          <p:nvPr/>
        </p:nvSpPr>
        <p:spPr>
          <a:xfrm>
            <a:off x="1785181" y="5094624"/>
            <a:ext cx="2011680" cy="274320"/>
          </a:xfrm>
          <a:prstGeom prst="rect">
            <a:avLst/>
          </a:prstGeom>
          <a:noFill/>
        </p:spPr>
        <p:txBody>
          <a:bodyPr wrap="square">
            <a:spAutoFit/>
          </a:bodyPr>
          <a:lstStyle/>
          <a:p>
            <a:pPr algn="ctr"/>
            <a:r>
              <a:rPr sz="900" b="1" i="0" dirty="0">
                <a:solidFill>
                  <a:srgbClr val="FFFFFF"/>
                </a:solidFill>
              </a:rPr>
              <a:t>Total Substations</a:t>
            </a:r>
          </a:p>
        </p:txBody>
      </p:sp>
      <p:sp>
        <p:nvSpPr>
          <p:cNvPr id="61" name="TextBox 60"/>
          <p:cNvSpPr txBox="1"/>
          <p:nvPr/>
        </p:nvSpPr>
        <p:spPr>
          <a:xfrm>
            <a:off x="3659700" y="5094624"/>
            <a:ext cx="1737360" cy="274320"/>
          </a:xfrm>
          <a:prstGeom prst="rect">
            <a:avLst/>
          </a:prstGeom>
          <a:noFill/>
        </p:spPr>
        <p:txBody>
          <a:bodyPr wrap="square">
            <a:spAutoFit/>
          </a:bodyPr>
          <a:lstStyle/>
          <a:p>
            <a:pPr algn="ctr"/>
            <a:r>
              <a:rPr sz="900" b="1" i="0">
                <a:solidFill>
                  <a:srgbClr val="FFFFFF"/>
                </a:solidFill>
              </a:rPr>
              <a:t>MPLS Sites</a:t>
            </a:r>
          </a:p>
        </p:txBody>
      </p:sp>
      <p:sp>
        <p:nvSpPr>
          <p:cNvPr id="62" name="TextBox 61"/>
          <p:cNvSpPr txBox="1"/>
          <p:nvPr/>
        </p:nvSpPr>
        <p:spPr>
          <a:xfrm>
            <a:off x="5397060" y="5094624"/>
            <a:ext cx="1737360" cy="274320"/>
          </a:xfrm>
          <a:prstGeom prst="rect">
            <a:avLst/>
          </a:prstGeom>
          <a:noFill/>
        </p:spPr>
        <p:txBody>
          <a:bodyPr wrap="square">
            <a:spAutoFit/>
          </a:bodyPr>
          <a:lstStyle/>
          <a:p>
            <a:pPr algn="ctr"/>
            <a:r>
              <a:rPr sz="900" b="1" i="0">
                <a:solidFill>
                  <a:srgbClr val="FFFFFF"/>
                </a:solidFill>
              </a:rPr>
              <a:t>DF RTU Sites</a:t>
            </a:r>
          </a:p>
        </p:txBody>
      </p:sp>
      <p:sp>
        <p:nvSpPr>
          <p:cNvPr id="63" name="TextBox 62"/>
          <p:cNvSpPr txBox="1"/>
          <p:nvPr/>
        </p:nvSpPr>
        <p:spPr>
          <a:xfrm>
            <a:off x="7134420" y="5094624"/>
            <a:ext cx="2103120" cy="274320"/>
          </a:xfrm>
          <a:prstGeom prst="rect">
            <a:avLst/>
          </a:prstGeom>
          <a:noFill/>
        </p:spPr>
        <p:txBody>
          <a:bodyPr wrap="square">
            <a:spAutoFit/>
          </a:bodyPr>
          <a:lstStyle/>
          <a:p>
            <a:pPr algn="ctr"/>
            <a:r>
              <a:rPr sz="900" b="1" i="0">
                <a:solidFill>
                  <a:srgbClr val="FFFFFF"/>
                </a:solidFill>
              </a:rPr>
              <a:t>Radio Shelter Sites</a:t>
            </a:r>
          </a:p>
        </p:txBody>
      </p:sp>
      <p:sp>
        <p:nvSpPr>
          <p:cNvPr id="64" name="TextBox 63"/>
          <p:cNvSpPr txBox="1"/>
          <p:nvPr/>
        </p:nvSpPr>
        <p:spPr>
          <a:xfrm>
            <a:off x="9237540" y="5094624"/>
            <a:ext cx="2194560" cy="274320"/>
          </a:xfrm>
          <a:prstGeom prst="rect">
            <a:avLst/>
          </a:prstGeom>
          <a:noFill/>
        </p:spPr>
        <p:txBody>
          <a:bodyPr wrap="square">
            <a:spAutoFit/>
          </a:bodyPr>
          <a:lstStyle/>
          <a:p>
            <a:pPr algn="ctr"/>
            <a:r>
              <a:rPr sz="900" b="1" i="0" dirty="0">
                <a:solidFill>
                  <a:srgbClr val="FFFFFF"/>
                </a:solidFill>
              </a:rPr>
              <a:t>Nokia MPLS Nodes</a:t>
            </a:r>
          </a:p>
        </p:txBody>
      </p:sp>
      <p:sp>
        <p:nvSpPr>
          <p:cNvPr id="65" name="Rectangle 64"/>
          <p:cNvSpPr/>
          <p:nvPr/>
        </p:nvSpPr>
        <p:spPr>
          <a:xfrm>
            <a:off x="230700" y="545124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100" y="5486836"/>
            <a:ext cx="1371600" cy="246221"/>
          </a:xfrm>
          <a:prstGeom prst="rect">
            <a:avLst/>
          </a:prstGeom>
          <a:noFill/>
        </p:spPr>
        <p:txBody>
          <a:bodyPr wrap="square">
            <a:spAutoFit/>
          </a:bodyPr>
          <a:lstStyle/>
          <a:p>
            <a:pPr algn="ctr"/>
            <a:r>
              <a:rPr lang="en-US" sz="1000" dirty="0">
                <a:solidFill>
                  <a:srgbClr val="008000"/>
                </a:solidFill>
              </a:rPr>
              <a:t>✅        </a:t>
            </a:r>
            <a:r>
              <a:rPr lang="en-US" sz="1000" dirty="0"/>
              <a:t>Phase 1</a:t>
            </a:r>
            <a:endParaRPr sz="1000" b="0" i="0" dirty="0"/>
          </a:p>
        </p:txBody>
      </p:sp>
      <p:sp>
        <p:nvSpPr>
          <p:cNvPr id="67" name="TextBox 66"/>
          <p:cNvSpPr txBox="1"/>
          <p:nvPr/>
        </p:nvSpPr>
        <p:spPr>
          <a:xfrm>
            <a:off x="1648020" y="5487816"/>
            <a:ext cx="2011680" cy="237744"/>
          </a:xfrm>
          <a:prstGeom prst="rect">
            <a:avLst/>
          </a:prstGeom>
          <a:noFill/>
        </p:spPr>
        <p:txBody>
          <a:bodyPr wrap="square">
            <a:spAutoFit/>
          </a:bodyPr>
          <a:lstStyle/>
          <a:p>
            <a:pPr algn="ctr"/>
            <a:r>
              <a:rPr sz="1000" b="0" i="0" dirty="0">
                <a:solidFill>
                  <a:srgbClr val="404040"/>
                </a:solidFill>
              </a:rPr>
              <a:t>49</a:t>
            </a:r>
          </a:p>
        </p:txBody>
      </p:sp>
      <p:sp>
        <p:nvSpPr>
          <p:cNvPr id="68" name="TextBox 67"/>
          <p:cNvSpPr txBox="1"/>
          <p:nvPr/>
        </p:nvSpPr>
        <p:spPr>
          <a:xfrm>
            <a:off x="3659700" y="5487816"/>
            <a:ext cx="1737360" cy="237744"/>
          </a:xfrm>
          <a:prstGeom prst="rect">
            <a:avLst/>
          </a:prstGeom>
          <a:noFill/>
        </p:spPr>
        <p:txBody>
          <a:bodyPr wrap="square">
            <a:spAutoFit/>
          </a:bodyPr>
          <a:lstStyle/>
          <a:p>
            <a:pPr algn="ctr"/>
            <a:r>
              <a:rPr sz="1000" b="0" i="0">
                <a:solidFill>
                  <a:srgbClr val="404040"/>
                </a:solidFill>
              </a:rPr>
              <a:t>26</a:t>
            </a:r>
          </a:p>
        </p:txBody>
      </p:sp>
      <p:sp>
        <p:nvSpPr>
          <p:cNvPr id="69" name="TextBox 68"/>
          <p:cNvSpPr txBox="1"/>
          <p:nvPr/>
        </p:nvSpPr>
        <p:spPr>
          <a:xfrm>
            <a:off x="5397060" y="5487816"/>
            <a:ext cx="1737360" cy="237744"/>
          </a:xfrm>
          <a:prstGeom prst="rect">
            <a:avLst/>
          </a:prstGeom>
          <a:noFill/>
        </p:spPr>
        <p:txBody>
          <a:bodyPr wrap="square">
            <a:spAutoFit/>
          </a:bodyPr>
          <a:lstStyle/>
          <a:p>
            <a:pPr algn="ctr"/>
            <a:r>
              <a:rPr sz="1000" b="0" i="0">
                <a:solidFill>
                  <a:srgbClr val="404040"/>
                </a:solidFill>
              </a:rPr>
              <a:t>17</a:t>
            </a:r>
          </a:p>
        </p:txBody>
      </p:sp>
      <p:sp>
        <p:nvSpPr>
          <p:cNvPr id="70" name="TextBox 69"/>
          <p:cNvSpPr txBox="1"/>
          <p:nvPr/>
        </p:nvSpPr>
        <p:spPr>
          <a:xfrm>
            <a:off x="7134420" y="5487816"/>
            <a:ext cx="2103120" cy="237744"/>
          </a:xfrm>
          <a:prstGeom prst="rect">
            <a:avLst/>
          </a:prstGeom>
          <a:noFill/>
        </p:spPr>
        <p:txBody>
          <a:bodyPr wrap="square">
            <a:spAutoFit/>
          </a:bodyPr>
          <a:lstStyle/>
          <a:p>
            <a:pPr algn="ctr"/>
            <a:r>
              <a:rPr sz="1000" b="0" i="0">
                <a:solidFill>
                  <a:srgbClr val="404040"/>
                </a:solidFill>
              </a:rPr>
              <a:t>6</a:t>
            </a:r>
          </a:p>
        </p:txBody>
      </p:sp>
      <p:sp>
        <p:nvSpPr>
          <p:cNvPr id="71" name="TextBox 70"/>
          <p:cNvSpPr txBox="1"/>
          <p:nvPr/>
        </p:nvSpPr>
        <p:spPr>
          <a:xfrm>
            <a:off x="9237540" y="5487816"/>
            <a:ext cx="2194560" cy="237744"/>
          </a:xfrm>
          <a:prstGeom prst="rect">
            <a:avLst/>
          </a:prstGeom>
          <a:noFill/>
        </p:spPr>
        <p:txBody>
          <a:bodyPr wrap="square">
            <a:spAutoFit/>
          </a:bodyPr>
          <a:lstStyle/>
          <a:p>
            <a:pPr algn="ctr"/>
            <a:r>
              <a:rPr sz="1000" b="0" i="0">
                <a:solidFill>
                  <a:srgbClr val="404040"/>
                </a:solidFill>
              </a:rPr>
              <a:t>31</a:t>
            </a:r>
          </a:p>
        </p:txBody>
      </p:sp>
      <p:sp>
        <p:nvSpPr>
          <p:cNvPr id="72" name="Rectangle 71"/>
          <p:cNvSpPr/>
          <p:nvPr/>
        </p:nvSpPr>
        <p:spPr>
          <a:xfrm>
            <a:off x="230700" y="5771280"/>
            <a:ext cx="11612880" cy="3017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74320" y="5843016"/>
            <a:ext cx="1371600" cy="237744"/>
          </a:xfrm>
          <a:prstGeom prst="rect">
            <a:avLst/>
          </a:prstGeom>
          <a:noFill/>
        </p:spPr>
        <p:txBody>
          <a:bodyPr wrap="square">
            <a:spAutoFit/>
          </a:bodyPr>
          <a:lstStyle/>
          <a:p>
            <a:pPr algn="ctr"/>
            <a:r>
              <a:rPr sz="1000" b="0" i="0">
                <a:solidFill>
                  <a:srgbClr val="404040"/>
                </a:solidFill>
              </a:rPr>
              <a:t>Phase 2</a:t>
            </a:r>
          </a:p>
        </p:txBody>
      </p:sp>
      <p:sp>
        <p:nvSpPr>
          <p:cNvPr id="74" name="TextBox 73"/>
          <p:cNvSpPr txBox="1"/>
          <p:nvPr/>
        </p:nvSpPr>
        <p:spPr>
          <a:xfrm>
            <a:off x="1648020" y="5807856"/>
            <a:ext cx="2011680" cy="237744"/>
          </a:xfrm>
          <a:prstGeom prst="rect">
            <a:avLst/>
          </a:prstGeom>
          <a:noFill/>
        </p:spPr>
        <p:txBody>
          <a:bodyPr wrap="square">
            <a:spAutoFit/>
          </a:bodyPr>
          <a:lstStyle/>
          <a:p>
            <a:pPr algn="ctr"/>
            <a:r>
              <a:rPr sz="1000" b="0" i="0">
                <a:solidFill>
                  <a:srgbClr val="404040"/>
                </a:solidFill>
              </a:rPr>
              <a:t>45</a:t>
            </a:r>
          </a:p>
        </p:txBody>
      </p:sp>
      <p:sp>
        <p:nvSpPr>
          <p:cNvPr id="75" name="TextBox 74"/>
          <p:cNvSpPr txBox="1"/>
          <p:nvPr/>
        </p:nvSpPr>
        <p:spPr>
          <a:xfrm>
            <a:off x="3659700" y="5807856"/>
            <a:ext cx="1737360" cy="237744"/>
          </a:xfrm>
          <a:prstGeom prst="rect">
            <a:avLst/>
          </a:prstGeom>
          <a:noFill/>
        </p:spPr>
        <p:txBody>
          <a:bodyPr wrap="square">
            <a:spAutoFit/>
          </a:bodyPr>
          <a:lstStyle/>
          <a:p>
            <a:pPr algn="ctr"/>
            <a:r>
              <a:rPr sz="1000" b="0" i="0">
                <a:solidFill>
                  <a:srgbClr val="404040"/>
                </a:solidFill>
              </a:rPr>
              <a:t>26</a:t>
            </a:r>
          </a:p>
        </p:txBody>
      </p:sp>
      <p:sp>
        <p:nvSpPr>
          <p:cNvPr id="76" name="TextBox 75"/>
          <p:cNvSpPr txBox="1"/>
          <p:nvPr/>
        </p:nvSpPr>
        <p:spPr>
          <a:xfrm>
            <a:off x="5397060" y="5807856"/>
            <a:ext cx="1737360" cy="237744"/>
          </a:xfrm>
          <a:prstGeom prst="rect">
            <a:avLst/>
          </a:prstGeom>
          <a:noFill/>
        </p:spPr>
        <p:txBody>
          <a:bodyPr wrap="square">
            <a:spAutoFit/>
          </a:bodyPr>
          <a:lstStyle/>
          <a:p>
            <a:pPr algn="ctr"/>
            <a:r>
              <a:rPr sz="1000" b="0" i="0">
                <a:solidFill>
                  <a:srgbClr val="404040"/>
                </a:solidFill>
              </a:rPr>
              <a:t>12</a:t>
            </a:r>
          </a:p>
        </p:txBody>
      </p:sp>
      <p:sp>
        <p:nvSpPr>
          <p:cNvPr id="77" name="TextBox 76"/>
          <p:cNvSpPr txBox="1"/>
          <p:nvPr/>
        </p:nvSpPr>
        <p:spPr>
          <a:xfrm>
            <a:off x="7134420" y="5807856"/>
            <a:ext cx="2103120" cy="237744"/>
          </a:xfrm>
          <a:prstGeom prst="rect">
            <a:avLst/>
          </a:prstGeom>
          <a:noFill/>
        </p:spPr>
        <p:txBody>
          <a:bodyPr wrap="square">
            <a:spAutoFit/>
          </a:bodyPr>
          <a:lstStyle/>
          <a:p>
            <a:pPr algn="ctr"/>
            <a:r>
              <a:rPr sz="1000" b="0" i="0">
                <a:solidFill>
                  <a:srgbClr val="404040"/>
                </a:solidFill>
              </a:rPr>
              <a:t>7</a:t>
            </a:r>
          </a:p>
        </p:txBody>
      </p:sp>
      <p:sp>
        <p:nvSpPr>
          <p:cNvPr id="78" name="TextBox 77"/>
          <p:cNvSpPr txBox="1"/>
          <p:nvPr/>
        </p:nvSpPr>
        <p:spPr>
          <a:xfrm>
            <a:off x="9237540" y="5807856"/>
            <a:ext cx="2194560" cy="237744"/>
          </a:xfrm>
          <a:prstGeom prst="rect">
            <a:avLst/>
          </a:prstGeom>
          <a:noFill/>
        </p:spPr>
        <p:txBody>
          <a:bodyPr wrap="square">
            <a:spAutoFit/>
          </a:bodyPr>
          <a:lstStyle/>
          <a:p>
            <a:pPr algn="ctr"/>
            <a:r>
              <a:rPr sz="1000" b="0" i="0">
                <a:solidFill>
                  <a:srgbClr val="404040"/>
                </a:solidFill>
              </a:rPr>
              <a:t>26</a:t>
            </a:r>
          </a:p>
        </p:txBody>
      </p:sp>
      <p:sp>
        <p:nvSpPr>
          <p:cNvPr id="79" name="Rectangle 78"/>
          <p:cNvSpPr/>
          <p:nvPr/>
        </p:nvSpPr>
        <p:spPr>
          <a:xfrm>
            <a:off x="230700" y="6091320"/>
            <a:ext cx="11612880" cy="30175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76420" y="6127896"/>
            <a:ext cx="1371600" cy="237744"/>
          </a:xfrm>
          <a:prstGeom prst="rect">
            <a:avLst/>
          </a:prstGeom>
          <a:noFill/>
        </p:spPr>
        <p:txBody>
          <a:bodyPr wrap="square">
            <a:spAutoFit/>
          </a:bodyPr>
          <a:lstStyle/>
          <a:p>
            <a:pPr algn="ctr"/>
            <a:r>
              <a:rPr sz="1000" b="0" i="0">
                <a:solidFill>
                  <a:srgbClr val="404040"/>
                </a:solidFill>
              </a:rPr>
              <a:t>Phase 3</a:t>
            </a:r>
          </a:p>
        </p:txBody>
      </p:sp>
      <p:sp>
        <p:nvSpPr>
          <p:cNvPr id="81" name="TextBox 80"/>
          <p:cNvSpPr txBox="1"/>
          <p:nvPr/>
        </p:nvSpPr>
        <p:spPr>
          <a:xfrm>
            <a:off x="1648020" y="6190488"/>
            <a:ext cx="2011680" cy="237744"/>
          </a:xfrm>
          <a:prstGeom prst="rect">
            <a:avLst/>
          </a:prstGeom>
          <a:noFill/>
        </p:spPr>
        <p:txBody>
          <a:bodyPr wrap="square">
            <a:spAutoFit/>
          </a:bodyPr>
          <a:lstStyle/>
          <a:p>
            <a:pPr algn="ctr"/>
            <a:r>
              <a:rPr sz="1000" b="0" i="0">
                <a:solidFill>
                  <a:srgbClr val="404040"/>
                </a:solidFill>
              </a:rPr>
              <a:t>35</a:t>
            </a:r>
          </a:p>
        </p:txBody>
      </p:sp>
      <p:sp>
        <p:nvSpPr>
          <p:cNvPr id="82" name="TextBox 81"/>
          <p:cNvSpPr txBox="1"/>
          <p:nvPr/>
        </p:nvSpPr>
        <p:spPr>
          <a:xfrm>
            <a:off x="3659700" y="6127896"/>
            <a:ext cx="1737360" cy="237744"/>
          </a:xfrm>
          <a:prstGeom prst="rect">
            <a:avLst/>
          </a:prstGeom>
          <a:noFill/>
        </p:spPr>
        <p:txBody>
          <a:bodyPr wrap="square">
            <a:spAutoFit/>
          </a:bodyPr>
          <a:lstStyle/>
          <a:p>
            <a:pPr algn="ctr"/>
            <a:r>
              <a:rPr sz="1000" b="0" i="0">
                <a:solidFill>
                  <a:srgbClr val="404040"/>
                </a:solidFill>
              </a:rPr>
              <a:t>22</a:t>
            </a:r>
          </a:p>
        </p:txBody>
      </p:sp>
      <p:sp>
        <p:nvSpPr>
          <p:cNvPr id="83" name="TextBox 82"/>
          <p:cNvSpPr txBox="1"/>
          <p:nvPr/>
        </p:nvSpPr>
        <p:spPr>
          <a:xfrm>
            <a:off x="5397060" y="6127896"/>
            <a:ext cx="1737360" cy="237744"/>
          </a:xfrm>
          <a:prstGeom prst="rect">
            <a:avLst/>
          </a:prstGeom>
          <a:noFill/>
        </p:spPr>
        <p:txBody>
          <a:bodyPr wrap="square">
            <a:spAutoFit/>
          </a:bodyPr>
          <a:lstStyle/>
          <a:p>
            <a:pPr algn="ctr"/>
            <a:r>
              <a:rPr sz="1000" b="0" i="0">
                <a:solidFill>
                  <a:srgbClr val="404040"/>
                </a:solidFill>
              </a:rPr>
              <a:t>7</a:t>
            </a:r>
          </a:p>
        </p:txBody>
      </p:sp>
      <p:sp>
        <p:nvSpPr>
          <p:cNvPr id="84" name="TextBox 83"/>
          <p:cNvSpPr txBox="1"/>
          <p:nvPr/>
        </p:nvSpPr>
        <p:spPr>
          <a:xfrm>
            <a:off x="7134420" y="6127896"/>
            <a:ext cx="2103120" cy="237744"/>
          </a:xfrm>
          <a:prstGeom prst="rect">
            <a:avLst/>
          </a:prstGeom>
          <a:noFill/>
        </p:spPr>
        <p:txBody>
          <a:bodyPr wrap="square">
            <a:spAutoFit/>
          </a:bodyPr>
          <a:lstStyle/>
          <a:p>
            <a:pPr algn="ctr"/>
            <a:r>
              <a:rPr sz="1000" b="0" i="0">
                <a:solidFill>
                  <a:srgbClr val="404040"/>
                </a:solidFill>
              </a:rPr>
              <a:t>6</a:t>
            </a:r>
          </a:p>
        </p:txBody>
      </p:sp>
      <p:sp>
        <p:nvSpPr>
          <p:cNvPr id="85" name="TextBox 84"/>
          <p:cNvSpPr txBox="1"/>
          <p:nvPr/>
        </p:nvSpPr>
        <p:spPr>
          <a:xfrm>
            <a:off x="9237540" y="6127896"/>
            <a:ext cx="2194560" cy="237744"/>
          </a:xfrm>
          <a:prstGeom prst="rect">
            <a:avLst/>
          </a:prstGeom>
          <a:noFill/>
        </p:spPr>
        <p:txBody>
          <a:bodyPr wrap="square">
            <a:spAutoFit/>
          </a:bodyPr>
          <a:lstStyle/>
          <a:p>
            <a:pPr algn="ctr"/>
            <a:r>
              <a:rPr sz="1000" b="0" i="0">
                <a:solidFill>
                  <a:srgbClr val="404040"/>
                </a:solidFill>
              </a:rPr>
              <a:t>22</a:t>
            </a:r>
          </a:p>
        </p:txBody>
      </p:sp>
      <p:sp>
        <p:nvSpPr>
          <p:cNvPr id="86" name="Rectangle 85"/>
          <p:cNvSpPr/>
          <p:nvPr/>
        </p:nvSpPr>
        <p:spPr>
          <a:xfrm>
            <a:off x="230700" y="6411360"/>
            <a:ext cx="11612880" cy="301752"/>
          </a:xfrm>
          <a:prstGeom prst="rect">
            <a:avLst/>
          </a:prstGeom>
          <a:solidFill>
            <a:srgbClr val="D6E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276420" y="6447936"/>
            <a:ext cx="1371600" cy="237744"/>
          </a:xfrm>
          <a:prstGeom prst="rect">
            <a:avLst/>
          </a:prstGeom>
          <a:noFill/>
        </p:spPr>
        <p:txBody>
          <a:bodyPr wrap="square">
            <a:spAutoFit/>
          </a:bodyPr>
          <a:lstStyle/>
          <a:p>
            <a:pPr algn="ctr"/>
            <a:r>
              <a:rPr sz="1000" b="1" i="0">
                <a:solidFill>
                  <a:srgbClr val="003387"/>
                </a:solidFill>
              </a:rPr>
              <a:t>TOTAL</a:t>
            </a:r>
          </a:p>
        </p:txBody>
      </p:sp>
      <p:sp>
        <p:nvSpPr>
          <p:cNvPr id="88" name="TextBox 87"/>
          <p:cNvSpPr txBox="1"/>
          <p:nvPr/>
        </p:nvSpPr>
        <p:spPr>
          <a:xfrm>
            <a:off x="1648020" y="6447936"/>
            <a:ext cx="2011680" cy="237744"/>
          </a:xfrm>
          <a:prstGeom prst="rect">
            <a:avLst/>
          </a:prstGeom>
          <a:noFill/>
        </p:spPr>
        <p:txBody>
          <a:bodyPr wrap="square">
            <a:spAutoFit/>
          </a:bodyPr>
          <a:lstStyle/>
          <a:p>
            <a:pPr algn="ctr"/>
            <a:r>
              <a:rPr sz="1000" b="1" i="0">
                <a:solidFill>
                  <a:srgbClr val="003387"/>
                </a:solidFill>
              </a:rPr>
              <a:t>129</a:t>
            </a:r>
          </a:p>
        </p:txBody>
      </p:sp>
      <p:sp>
        <p:nvSpPr>
          <p:cNvPr id="89" name="TextBox 88"/>
          <p:cNvSpPr txBox="1"/>
          <p:nvPr/>
        </p:nvSpPr>
        <p:spPr>
          <a:xfrm>
            <a:off x="3659700" y="6447936"/>
            <a:ext cx="1737360" cy="237744"/>
          </a:xfrm>
          <a:prstGeom prst="rect">
            <a:avLst/>
          </a:prstGeom>
          <a:noFill/>
        </p:spPr>
        <p:txBody>
          <a:bodyPr wrap="square">
            <a:spAutoFit/>
          </a:bodyPr>
          <a:lstStyle/>
          <a:p>
            <a:pPr algn="ctr"/>
            <a:r>
              <a:rPr sz="1000" b="1" i="0">
                <a:solidFill>
                  <a:srgbClr val="003387"/>
                </a:solidFill>
              </a:rPr>
              <a:t>74</a:t>
            </a:r>
          </a:p>
        </p:txBody>
      </p:sp>
      <p:sp>
        <p:nvSpPr>
          <p:cNvPr id="90" name="TextBox 89"/>
          <p:cNvSpPr txBox="1"/>
          <p:nvPr/>
        </p:nvSpPr>
        <p:spPr>
          <a:xfrm>
            <a:off x="5397060" y="6447936"/>
            <a:ext cx="1737360" cy="237744"/>
          </a:xfrm>
          <a:prstGeom prst="rect">
            <a:avLst/>
          </a:prstGeom>
          <a:noFill/>
        </p:spPr>
        <p:txBody>
          <a:bodyPr wrap="square">
            <a:spAutoFit/>
          </a:bodyPr>
          <a:lstStyle/>
          <a:p>
            <a:pPr algn="ctr"/>
            <a:r>
              <a:rPr sz="1000" b="1" i="0">
                <a:solidFill>
                  <a:srgbClr val="003387"/>
                </a:solidFill>
              </a:rPr>
              <a:t>36</a:t>
            </a:r>
          </a:p>
        </p:txBody>
      </p:sp>
      <p:sp>
        <p:nvSpPr>
          <p:cNvPr id="91" name="TextBox 90"/>
          <p:cNvSpPr txBox="1"/>
          <p:nvPr/>
        </p:nvSpPr>
        <p:spPr>
          <a:xfrm>
            <a:off x="7134420" y="6447936"/>
            <a:ext cx="2103120" cy="237744"/>
          </a:xfrm>
          <a:prstGeom prst="rect">
            <a:avLst/>
          </a:prstGeom>
          <a:noFill/>
        </p:spPr>
        <p:txBody>
          <a:bodyPr wrap="square">
            <a:spAutoFit/>
          </a:bodyPr>
          <a:lstStyle/>
          <a:p>
            <a:pPr algn="ctr"/>
            <a:r>
              <a:rPr sz="1000" b="1" i="0">
                <a:solidFill>
                  <a:srgbClr val="003387"/>
                </a:solidFill>
              </a:rPr>
              <a:t>19</a:t>
            </a:r>
          </a:p>
        </p:txBody>
      </p:sp>
      <p:sp>
        <p:nvSpPr>
          <p:cNvPr id="92" name="TextBox 91"/>
          <p:cNvSpPr txBox="1"/>
          <p:nvPr/>
        </p:nvSpPr>
        <p:spPr>
          <a:xfrm>
            <a:off x="9237540" y="6447936"/>
            <a:ext cx="2194560" cy="237744"/>
          </a:xfrm>
          <a:prstGeom prst="rect">
            <a:avLst/>
          </a:prstGeom>
          <a:noFill/>
        </p:spPr>
        <p:txBody>
          <a:bodyPr wrap="square">
            <a:spAutoFit/>
          </a:bodyPr>
          <a:lstStyle/>
          <a:p>
            <a:pPr algn="ctr"/>
            <a:r>
              <a:rPr sz="1000" b="1" i="0">
                <a:solidFill>
                  <a:srgbClr val="003387"/>
                </a:solidFill>
              </a:rPr>
              <a:t>79</a:t>
            </a:r>
          </a:p>
        </p:txBody>
      </p:sp>
      <p:sp>
        <p:nvSpPr>
          <p:cNvPr id="95" name="TextBox 94">
            <a:extLst>
              <a:ext uri="{FF2B5EF4-FFF2-40B4-BE49-F238E27FC236}">
                <a16:creationId xmlns:a16="http://schemas.microsoft.com/office/drawing/2014/main" id="{3B15B81E-CC47-D1BB-FB05-95EBF0371DE3}"/>
              </a:ext>
            </a:extLst>
          </p:cNvPr>
          <p:cNvSpPr txBox="1"/>
          <p:nvPr/>
        </p:nvSpPr>
        <p:spPr>
          <a:xfrm>
            <a:off x="8478589" y="3054482"/>
            <a:ext cx="3025697" cy="246221"/>
          </a:xfrm>
          <a:prstGeom prst="rect">
            <a:avLst/>
          </a:prstGeom>
          <a:noFill/>
        </p:spPr>
        <p:txBody>
          <a:bodyPr wrap="square" rtlCol="0">
            <a:spAutoFit/>
          </a:bodyPr>
          <a:lstStyle/>
          <a:p>
            <a:r>
              <a:rPr lang="en-US" sz="1000" dirty="0"/>
              <a:t>OTDR testing from Hicksville to Syosset</a:t>
            </a:r>
            <a:endParaRPr lang="en-US" dirty="0"/>
          </a:p>
        </p:txBody>
      </p:sp>
      <p:sp>
        <p:nvSpPr>
          <p:cNvPr id="98" name="TextBox 97">
            <a:extLst>
              <a:ext uri="{FF2B5EF4-FFF2-40B4-BE49-F238E27FC236}">
                <a16:creationId xmlns:a16="http://schemas.microsoft.com/office/drawing/2014/main" id="{28B3DF57-4DE9-EAAC-C619-67704B496FAA}"/>
              </a:ext>
            </a:extLst>
          </p:cNvPr>
          <p:cNvSpPr txBox="1"/>
          <p:nvPr/>
        </p:nvSpPr>
        <p:spPr>
          <a:xfrm>
            <a:off x="8185980" y="3848273"/>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99" name="TextBox 98">
            <a:extLst>
              <a:ext uri="{FF2B5EF4-FFF2-40B4-BE49-F238E27FC236}">
                <a16:creationId xmlns:a16="http://schemas.microsoft.com/office/drawing/2014/main" id="{79A606F6-3D1B-BCE5-572C-CDB01FA5D973}"/>
              </a:ext>
            </a:extLst>
          </p:cNvPr>
          <p:cNvSpPr txBox="1"/>
          <p:nvPr/>
        </p:nvSpPr>
        <p:spPr>
          <a:xfrm>
            <a:off x="8181038" y="3463421"/>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0" name="TextBox 99">
            <a:extLst>
              <a:ext uri="{FF2B5EF4-FFF2-40B4-BE49-F238E27FC236}">
                <a16:creationId xmlns:a16="http://schemas.microsoft.com/office/drawing/2014/main" id="{55ADC1A2-EFF1-D285-C45D-C04AC2133770}"/>
              </a:ext>
            </a:extLst>
          </p:cNvPr>
          <p:cNvSpPr txBox="1"/>
          <p:nvPr/>
        </p:nvSpPr>
        <p:spPr>
          <a:xfrm>
            <a:off x="266913" y="3403958"/>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
        <p:nvSpPr>
          <p:cNvPr id="101" name="TextBox 100">
            <a:extLst>
              <a:ext uri="{FF2B5EF4-FFF2-40B4-BE49-F238E27FC236}">
                <a16:creationId xmlns:a16="http://schemas.microsoft.com/office/drawing/2014/main" id="{8B3832DE-8459-0230-A772-DA2CE09602C7}"/>
              </a:ext>
            </a:extLst>
          </p:cNvPr>
          <p:cNvSpPr txBox="1"/>
          <p:nvPr/>
        </p:nvSpPr>
        <p:spPr>
          <a:xfrm>
            <a:off x="277546" y="3757869"/>
            <a:ext cx="314537" cy="369332"/>
          </a:xfrm>
          <a:prstGeom prst="rect">
            <a:avLst/>
          </a:prstGeom>
          <a:noFill/>
        </p:spPr>
        <p:txBody>
          <a:bodyPr wrap="square" rtlCol="0">
            <a:spAutoFit/>
          </a:bodyPr>
          <a:lstStyle/>
          <a:p>
            <a:pPr algn="ctr"/>
            <a:r>
              <a:rPr lang="en-US" dirty="0">
                <a:solidFill>
                  <a:srgbClr val="FFC000"/>
                </a:solidFill>
              </a:rPr>
              <a: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1 Accomplishments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31 Substations | Complete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28599" y="1069848"/>
            <a:ext cx="7498079"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955279" y="1005840"/>
            <a:ext cx="39319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05840"/>
            <a:ext cx="7498079"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42415"/>
            <a:ext cx="7315200" cy="347472"/>
          </a:xfrm>
          <a:prstGeom prst="rect">
            <a:avLst/>
          </a:prstGeom>
          <a:noFill/>
        </p:spPr>
        <p:txBody>
          <a:bodyPr wrap="square">
            <a:spAutoFit/>
          </a:bodyPr>
          <a:lstStyle/>
          <a:p>
            <a:pPr algn="l"/>
            <a:r>
              <a:rPr sz="1200" b="1" i="0">
                <a:solidFill>
                  <a:srgbClr val="FFFFFF"/>
                </a:solidFill>
              </a:rPr>
              <a:t>KEY ACCOMPLISHMENTS</a:t>
            </a:r>
          </a:p>
        </p:txBody>
      </p:sp>
      <p:sp>
        <p:nvSpPr>
          <p:cNvPr id="13" name="TextBox 12"/>
          <p:cNvSpPr txBox="1"/>
          <p:nvPr/>
        </p:nvSpPr>
        <p:spPr>
          <a:xfrm>
            <a:off x="640080" y="1490472"/>
            <a:ext cx="6949440" cy="261610"/>
          </a:xfrm>
          <a:prstGeom prst="rect">
            <a:avLst/>
          </a:prstGeom>
          <a:noFill/>
        </p:spPr>
        <p:txBody>
          <a:bodyPr wrap="square">
            <a:spAutoFit/>
          </a:bodyPr>
          <a:lstStyle/>
          <a:p>
            <a:pPr algn="l"/>
            <a:r>
              <a:rPr lang="en-US" sz="1100" b="0" i="0" dirty="0">
                <a:solidFill>
                  <a:srgbClr val="404040"/>
                </a:solidFill>
              </a:rPr>
              <a:t>Staging completed at Hawkeye Warehouse  - Work Completed - 9/29/2025</a:t>
            </a:r>
          </a:p>
        </p:txBody>
      </p:sp>
      <p:sp>
        <p:nvSpPr>
          <p:cNvPr id="15" name="TextBox 14"/>
          <p:cNvSpPr txBox="1"/>
          <p:nvPr/>
        </p:nvSpPr>
        <p:spPr>
          <a:xfrm>
            <a:off x="640080" y="1929384"/>
            <a:ext cx="6949440" cy="261610"/>
          </a:xfrm>
          <a:prstGeom prst="rect">
            <a:avLst/>
          </a:prstGeom>
          <a:noFill/>
        </p:spPr>
        <p:txBody>
          <a:bodyPr wrap="square">
            <a:spAutoFit/>
          </a:bodyPr>
          <a:lstStyle/>
          <a:p>
            <a:pPr algn="l"/>
            <a:r>
              <a:rPr lang="en-US" sz="1100" b="0" i="0" dirty="0">
                <a:solidFill>
                  <a:srgbClr val="404040"/>
                </a:solidFill>
              </a:rPr>
              <a:t>Nokia equipment for Phase 2 has been delivered – Work Completed - 2/19/2026</a:t>
            </a:r>
          </a:p>
        </p:txBody>
      </p:sp>
      <p:sp>
        <p:nvSpPr>
          <p:cNvPr id="17" name="TextBox 16"/>
          <p:cNvSpPr txBox="1"/>
          <p:nvPr/>
        </p:nvSpPr>
        <p:spPr>
          <a:xfrm>
            <a:off x="640080" y="2368296"/>
            <a:ext cx="6949440" cy="261610"/>
          </a:xfrm>
          <a:prstGeom prst="rect">
            <a:avLst/>
          </a:prstGeom>
          <a:noFill/>
        </p:spPr>
        <p:txBody>
          <a:bodyPr wrap="square">
            <a:spAutoFit/>
          </a:bodyPr>
          <a:lstStyle/>
          <a:p>
            <a:pPr algn="l"/>
            <a:r>
              <a:rPr lang="en-US" sz="1100" b="0" i="0" dirty="0">
                <a:solidFill>
                  <a:srgbClr val="404040"/>
                </a:solidFill>
              </a:rPr>
              <a:t>Complete CWDM cutover at Hicksville and ACC -  Work completed </a:t>
            </a:r>
          </a:p>
        </p:txBody>
      </p:sp>
      <p:sp>
        <p:nvSpPr>
          <p:cNvPr id="19" name="TextBox 18"/>
          <p:cNvSpPr txBox="1"/>
          <p:nvPr/>
        </p:nvSpPr>
        <p:spPr>
          <a:xfrm>
            <a:off x="640080" y="2807208"/>
            <a:ext cx="6949440" cy="261610"/>
          </a:xfrm>
          <a:prstGeom prst="rect">
            <a:avLst/>
          </a:prstGeom>
          <a:noFill/>
        </p:spPr>
        <p:txBody>
          <a:bodyPr wrap="square">
            <a:spAutoFit/>
          </a:bodyPr>
          <a:lstStyle/>
          <a:p>
            <a:pPr algn="l"/>
            <a:r>
              <a:rPr lang="en-US" sz="1100" b="0" i="0" dirty="0">
                <a:solidFill>
                  <a:srgbClr val="404040"/>
                </a:solidFill>
              </a:rPr>
              <a:t>Install routers in the primary &amp; secondary cabinet – Work Completed </a:t>
            </a:r>
          </a:p>
        </p:txBody>
      </p:sp>
      <p:sp>
        <p:nvSpPr>
          <p:cNvPr id="21" name="TextBox 20"/>
          <p:cNvSpPr txBox="1"/>
          <p:nvPr/>
        </p:nvSpPr>
        <p:spPr>
          <a:xfrm>
            <a:off x="640080" y="4557277"/>
            <a:ext cx="6949440" cy="261610"/>
          </a:xfrm>
          <a:prstGeom prst="rect">
            <a:avLst/>
          </a:prstGeom>
          <a:noFill/>
        </p:spPr>
        <p:txBody>
          <a:bodyPr wrap="square">
            <a:spAutoFit/>
          </a:bodyPr>
          <a:lstStyle/>
          <a:p>
            <a:pPr algn="l"/>
            <a:r>
              <a:rPr lang="en-US" sz="1100" b="0" i="0" dirty="0">
                <a:solidFill>
                  <a:srgbClr val="404040"/>
                </a:solidFill>
              </a:rPr>
              <a:t>NSP installed racked &amp; powered up in Melville and Hicksville – Work Completed </a:t>
            </a:r>
          </a:p>
        </p:txBody>
      </p:sp>
      <p:sp>
        <p:nvSpPr>
          <p:cNvPr id="23" name="TextBox 22"/>
          <p:cNvSpPr txBox="1"/>
          <p:nvPr/>
        </p:nvSpPr>
        <p:spPr>
          <a:xfrm>
            <a:off x="640080" y="4996189"/>
            <a:ext cx="6949440" cy="261610"/>
          </a:xfrm>
          <a:prstGeom prst="rect">
            <a:avLst/>
          </a:prstGeom>
          <a:noFill/>
        </p:spPr>
        <p:txBody>
          <a:bodyPr wrap="square">
            <a:spAutoFit/>
          </a:bodyPr>
          <a:lstStyle/>
          <a:p>
            <a:pPr algn="l"/>
            <a:r>
              <a:rPr sz="1100" b="0" i="0" dirty="0">
                <a:solidFill>
                  <a:srgbClr val="404040"/>
                </a:solidFill>
              </a:rPr>
              <a:t>Staging </a:t>
            </a:r>
            <a:r>
              <a:rPr lang="en-US" sz="1100" b="0" i="0" dirty="0">
                <a:solidFill>
                  <a:srgbClr val="404040"/>
                </a:solidFill>
              </a:rPr>
              <a:t>CMDB document updated and added to CMDB database – Work Completed </a:t>
            </a:r>
          </a:p>
        </p:txBody>
      </p:sp>
      <p:sp>
        <p:nvSpPr>
          <p:cNvPr id="25" name="TextBox 24"/>
          <p:cNvSpPr txBox="1"/>
          <p:nvPr/>
        </p:nvSpPr>
        <p:spPr>
          <a:xfrm>
            <a:off x="640080" y="5435101"/>
            <a:ext cx="6949440" cy="261610"/>
          </a:xfrm>
          <a:prstGeom prst="rect">
            <a:avLst/>
          </a:prstGeom>
          <a:noFill/>
        </p:spPr>
        <p:txBody>
          <a:bodyPr wrap="square">
            <a:spAutoFit/>
          </a:bodyPr>
          <a:lstStyle/>
          <a:p>
            <a:pPr algn="l"/>
            <a:r>
              <a:rPr lang="en-US" sz="1100" b="0" i="0" dirty="0">
                <a:solidFill>
                  <a:srgbClr val="404040"/>
                </a:solidFill>
              </a:rPr>
              <a:t>OTDR testing from Hicksville to Syosset – Work Completed </a:t>
            </a:r>
          </a:p>
        </p:txBody>
      </p:sp>
      <p:sp>
        <p:nvSpPr>
          <p:cNvPr id="32" name="Rectangle 31"/>
          <p:cNvSpPr/>
          <p:nvPr/>
        </p:nvSpPr>
        <p:spPr>
          <a:xfrm>
            <a:off x="7955279" y="1005840"/>
            <a:ext cx="3931920" cy="411480"/>
          </a:xfrm>
          <a:prstGeom prst="rect">
            <a:avLst/>
          </a:prstGeom>
          <a:solidFill>
            <a:schemeClr val="accent5">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46720" y="1042415"/>
            <a:ext cx="3749039" cy="276999"/>
          </a:xfrm>
          <a:prstGeom prst="rect">
            <a:avLst/>
          </a:prstGeom>
          <a:noFill/>
        </p:spPr>
        <p:txBody>
          <a:bodyPr wrap="square">
            <a:spAutoFit/>
          </a:bodyPr>
          <a:lstStyle/>
          <a:p>
            <a:pPr algn="l"/>
            <a:r>
              <a:rPr sz="1200" b="1" i="0" dirty="0">
                <a:solidFill>
                  <a:srgbClr val="FFFFFF"/>
                </a:solidFill>
              </a:rPr>
              <a:t>PHASE 1 AT A GLANCE</a:t>
            </a:r>
            <a:r>
              <a:rPr lang="en-US" sz="1200" b="1" i="0" dirty="0">
                <a:solidFill>
                  <a:srgbClr val="FFFFFF"/>
                </a:solidFill>
              </a:rPr>
              <a:t> - Completion</a:t>
            </a:r>
            <a:endParaRPr sz="1200" b="1" i="0" dirty="0">
              <a:solidFill>
                <a:srgbClr val="FFFFFF"/>
              </a:solidFill>
            </a:endParaRPr>
          </a:p>
        </p:txBody>
      </p:sp>
      <p:sp>
        <p:nvSpPr>
          <p:cNvPr id="34" name="Rectangle 33"/>
          <p:cNvSpPr/>
          <p:nvPr/>
        </p:nvSpPr>
        <p:spPr>
          <a:xfrm>
            <a:off x="8001000" y="15087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046720" y="1527048"/>
            <a:ext cx="3749039" cy="347472"/>
          </a:xfrm>
          <a:prstGeom prst="rect">
            <a:avLst/>
          </a:prstGeom>
          <a:noFill/>
        </p:spPr>
        <p:txBody>
          <a:bodyPr wrap="square">
            <a:spAutoFit/>
          </a:bodyPr>
          <a:lstStyle/>
          <a:p>
            <a:pPr algn="ctr"/>
            <a:r>
              <a:rPr sz="1800" b="1" i="0">
                <a:solidFill>
                  <a:srgbClr val="003387"/>
                </a:solidFill>
              </a:rPr>
              <a:t>31 / 31</a:t>
            </a:r>
          </a:p>
        </p:txBody>
      </p:sp>
      <p:sp>
        <p:nvSpPr>
          <p:cNvPr id="36" name="TextBox 35"/>
          <p:cNvSpPr txBox="1"/>
          <p:nvPr/>
        </p:nvSpPr>
        <p:spPr>
          <a:xfrm>
            <a:off x="8046720" y="1856231"/>
            <a:ext cx="3749039" cy="274320"/>
          </a:xfrm>
          <a:prstGeom prst="rect">
            <a:avLst/>
          </a:prstGeom>
          <a:noFill/>
        </p:spPr>
        <p:txBody>
          <a:bodyPr wrap="square">
            <a:spAutoFit/>
          </a:bodyPr>
          <a:lstStyle/>
          <a:p>
            <a:pPr algn="ctr"/>
            <a:r>
              <a:rPr sz="1000" b="0" i="0">
                <a:solidFill>
                  <a:srgbClr val="404040"/>
                </a:solidFill>
              </a:rPr>
              <a:t>Sites Complete</a:t>
            </a:r>
          </a:p>
        </p:txBody>
      </p:sp>
      <p:sp>
        <p:nvSpPr>
          <p:cNvPr id="37" name="Rectangle 36"/>
          <p:cNvSpPr/>
          <p:nvPr/>
        </p:nvSpPr>
        <p:spPr>
          <a:xfrm>
            <a:off x="8001000" y="228600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46720" y="2304288"/>
            <a:ext cx="3749039" cy="347472"/>
          </a:xfrm>
          <a:prstGeom prst="rect">
            <a:avLst/>
          </a:prstGeom>
          <a:noFill/>
        </p:spPr>
        <p:txBody>
          <a:bodyPr wrap="square">
            <a:spAutoFit/>
          </a:bodyPr>
          <a:lstStyle/>
          <a:p>
            <a:pPr algn="ctr"/>
            <a:r>
              <a:rPr sz="1800" b="1" i="0">
                <a:solidFill>
                  <a:srgbClr val="003387"/>
                </a:solidFill>
              </a:rPr>
              <a:t>100%</a:t>
            </a:r>
          </a:p>
        </p:txBody>
      </p:sp>
      <p:sp>
        <p:nvSpPr>
          <p:cNvPr id="39" name="TextBox 38"/>
          <p:cNvSpPr txBox="1"/>
          <p:nvPr/>
        </p:nvSpPr>
        <p:spPr>
          <a:xfrm>
            <a:off x="8046720" y="2633472"/>
            <a:ext cx="3749039" cy="274320"/>
          </a:xfrm>
          <a:prstGeom prst="rect">
            <a:avLst/>
          </a:prstGeom>
          <a:noFill/>
        </p:spPr>
        <p:txBody>
          <a:bodyPr wrap="square">
            <a:spAutoFit/>
          </a:bodyPr>
          <a:lstStyle/>
          <a:p>
            <a:pPr algn="ctr"/>
            <a:r>
              <a:rPr sz="1000" b="0" i="0">
                <a:solidFill>
                  <a:srgbClr val="404040"/>
                </a:solidFill>
              </a:rPr>
              <a:t>Cutover Done</a:t>
            </a:r>
          </a:p>
        </p:txBody>
      </p:sp>
      <p:sp>
        <p:nvSpPr>
          <p:cNvPr id="40" name="Rectangle 39"/>
          <p:cNvSpPr/>
          <p:nvPr/>
        </p:nvSpPr>
        <p:spPr>
          <a:xfrm>
            <a:off x="8001000" y="306323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46720" y="3081527"/>
            <a:ext cx="3749039" cy="347472"/>
          </a:xfrm>
          <a:prstGeom prst="rect">
            <a:avLst/>
          </a:prstGeom>
          <a:noFill/>
        </p:spPr>
        <p:txBody>
          <a:bodyPr wrap="square">
            <a:spAutoFit/>
          </a:bodyPr>
          <a:lstStyle/>
          <a:p>
            <a:pPr algn="ctr"/>
            <a:r>
              <a:rPr sz="1800" b="1" i="0">
                <a:solidFill>
                  <a:srgbClr val="003387"/>
                </a:solidFill>
              </a:rPr>
              <a:t>2</a:t>
            </a:r>
          </a:p>
        </p:txBody>
      </p:sp>
      <p:sp>
        <p:nvSpPr>
          <p:cNvPr id="42" name="TextBox 41"/>
          <p:cNvSpPr txBox="1"/>
          <p:nvPr/>
        </p:nvSpPr>
        <p:spPr>
          <a:xfrm>
            <a:off x="8046720" y="3410711"/>
            <a:ext cx="3749039" cy="246221"/>
          </a:xfrm>
          <a:prstGeom prst="rect">
            <a:avLst/>
          </a:prstGeom>
          <a:noFill/>
        </p:spPr>
        <p:txBody>
          <a:bodyPr wrap="square">
            <a:spAutoFit/>
          </a:bodyPr>
          <a:lstStyle/>
          <a:p>
            <a:pPr algn="ctr"/>
            <a:r>
              <a:rPr lang="en-US" sz="1000" b="0" i="0" dirty="0">
                <a:solidFill>
                  <a:srgbClr val="404040"/>
                </a:solidFill>
              </a:rPr>
              <a:t>Network Ring - 1 &amp; 6</a:t>
            </a:r>
            <a:endParaRPr sz="1000" b="0" i="0" dirty="0">
              <a:solidFill>
                <a:srgbClr val="404040"/>
              </a:solidFill>
            </a:endParaRPr>
          </a:p>
        </p:txBody>
      </p:sp>
      <p:sp>
        <p:nvSpPr>
          <p:cNvPr id="43" name="Rectangle 42"/>
          <p:cNvSpPr/>
          <p:nvPr/>
        </p:nvSpPr>
        <p:spPr>
          <a:xfrm>
            <a:off x="8001000" y="3840479"/>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046720" y="3858767"/>
            <a:ext cx="3749039" cy="369332"/>
          </a:xfrm>
          <a:prstGeom prst="rect">
            <a:avLst/>
          </a:prstGeom>
          <a:noFill/>
        </p:spPr>
        <p:txBody>
          <a:bodyPr wrap="square">
            <a:spAutoFit/>
          </a:bodyPr>
          <a:lstStyle/>
          <a:p>
            <a:pPr algn="ctr"/>
            <a:r>
              <a:rPr lang="en-US" sz="1800" b="1" i="0" dirty="0">
                <a:solidFill>
                  <a:srgbClr val="003387"/>
                </a:solidFill>
              </a:rPr>
              <a:t>Deployment &amp; Cutover</a:t>
            </a:r>
            <a:endParaRPr sz="1800" b="1" i="0" dirty="0">
              <a:solidFill>
                <a:srgbClr val="003387"/>
              </a:solidFill>
            </a:endParaRPr>
          </a:p>
        </p:txBody>
      </p:sp>
      <p:sp>
        <p:nvSpPr>
          <p:cNvPr id="45" name="TextBox 44"/>
          <p:cNvSpPr txBox="1"/>
          <p:nvPr/>
        </p:nvSpPr>
        <p:spPr>
          <a:xfrm>
            <a:off x="8046720" y="4187951"/>
            <a:ext cx="3749039" cy="246221"/>
          </a:xfrm>
          <a:prstGeom prst="rect">
            <a:avLst/>
          </a:prstGeom>
          <a:noFill/>
        </p:spPr>
        <p:txBody>
          <a:bodyPr wrap="square">
            <a:spAutoFit/>
          </a:bodyPr>
          <a:lstStyle/>
          <a:p>
            <a:pPr algn="ctr"/>
            <a:r>
              <a:rPr lang="en-US" sz="1000" dirty="0">
                <a:solidFill>
                  <a:srgbClr val="404040"/>
                </a:solidFill>
              </a:rPr>
              <a:t>non-tie and tie sites</a:t>
            </a:r>
            <a:endParaRPr sz="1000" b="0" i="0" dirty="0">
              <a:solidFill>
                <a:srgbClr val="404040"/>
              </a:solidFill>
            </a:endParaRPr>
          </a:p>
        </p:txBody>
      </p:sp>
      <p:sp>
        <p:nvSpPr>
          <p:cNvPr id="46" name="Rectangle 45"/>
          <p:cNvSpPr/>
          <p:nvPr/>
        </p:nvSpPr>
        <p:spPr>
          <a:xfrm>
            <a:off x="8001000" y="461772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046720" y="4636007"/>
            <a:ext cx="3749039" cy="347472"/>
          </a:xfrm>
          <a:prstGeom prst="rect">
            <a:avLst/>
          </a:prstGeom>
          <a:noFill/>
        </p:spPr>
        <p:txBody>
          <a:bodyPr wrap="square">
            <a:spAutoFit/>
          </a:bodyPr>
          <a:lstStyle/>
          <a:p>
            <a:pPr algn="ctr"/>
            <a:r>
              <a:rPr sz="1800" b="1" i="0">
                <a:solidFill>
                  <a:srgbClr val="003387"/>
                </a:solidFill>
              </a:rPr>
              <a:t>Jan 2026</a:t>
            </a:r>
          </a:p>
        </p:txBody>
      </p:sp>
      <p:sp>
        <p:nvSpPr>
          <p:cNvPr id="48" name="TextBox 47"/>
          <p:cNvSpPr txBox="1"/>
          <p:nvPr/>
        </p:nvSpPr>
        <p:spPr>
          <a:xfrm>
            <a:off x="8046720" y="4965192"/>
            <a:ext cx="3749039" cy="246221"/>
          </a:xfrm>
          <a:prstGeom prst="rect">
            <a:avLst/>
          </a:prstGeom>
          <a:noFill/>
        </p:spPr>
        <p:txBody>
          <a:bodyPr wrap="square">
            <a:spAutoFit/>
          </a:bodyPr>
          <a:lstStyle/>
          <a:p>
            <a:pPr algn="ctr"/>
            <a:r>
              <a:rPr sz="1000" b="0" i="0" dirty="0">
                <a:solidFill>
                  <a:srgbClr val="404040"/>
                </a:solidFill>
              </a:rPr>
              <a:t>Final </a:t>
            </a:r>
            <a:r>
              <a:rPr lang="en-US" sz="1000" b="0" i="0" dirty="0">
                <a:solidFill>
                  <a:srgbClr val="404040"/>
                </a:solidFill>
              </a:rPr>
              <a:t>Phase 1 Cutover</a:t>
            </a:r>
            <a:endParaRPr sz="1000" b="0" i="0" dirty="0">
              <a:solidFill>
                <a:srgbClr val="404040"/>
              </a:solidFill>
            </a:endParaRPr>
          </a:p>
        </p:txBody>
      </p:sp>
      <p:sp>
        <p:nvSpPr>
          <p:cNvPr id="49" name="Rectangle 48"/>
          <p:cNvSpPr/>
          <p:nvPr/>
        </p:nvSpPr>
        <p:spPr>
          <a:xfrm>
            <a:off x="8001000" y="5394960"/>
            <a:ext cx="3840480" cy="685800"/>
          </a:xfrm>
          <a:prstGeom prst="rect">
            <a:avLst/>
          </a:prstGeom>
          <a:solidFill>
            <a:srgbClr val="FFFFFF"/>
          </a:solidFill>
          <a:ln w="1270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046720" y="5413248"/>
            <a:ext cx="3749039" cy="347472"/>
          </a:xfrm>
          <a:prstGeom prst="rect">
            <a:avLst/>
          </a:prstGeom>
          <a:noFill/>
        </p:spPr>
        <p:txBody>
          <a:bodyPr wrap="square">
            <a:spAutoFit/>
          </a:bodyPr>
          <a:lstStyle/>
          <a:p>
            <a:pPr algn="ctr"/>
            <a:r>
              <a:rPr sz="1800" b="1" i="0">
                <a:solidFill>
                  <a:srgbClr val="003387"/>
                </a:solidFill>
              </a:rPr>
              <a:t>$4.44M</a:t>
            </a:r>
          </a:p>
        </p:txBody>
      </p:sp>
      <p:sp>
        <p:nvSpPr>
          <p:cNvPr id="51" name="TextBox 50"/>
          <p:cNvSpPr txBox="1"/>
          <p:nvPr/>
        </p:nvSpPr>
        <p:spPr>
          <a:xfrm>
            <a:off x="8046720" y="5742432"/>
            <a:ext cx="3749039" cy="274320"/>
          </a:xfrm>
          <a:prstGeom prst="rect">
            <a:avLst/>
          </a:prstGeom>
          <a:noFill/>
        </p:spPr>
        <p:txBody>
          <a:bodyPr wrap="square">
            <a:spAutoFit/>
          </a:bodyPr>
          <a:lstStyle/>
          <a:p>
            <a:pPr algn="ctr"/>
            <a:r>
              <a:rPr sz="1000" b="0" i="0">
                <a:solidFill>
                  <a:srgbClr val="404040"/>
                </a:solidFill>
              </a:rPr>
              <a:t>Spent to Date</a:t>
            </a:r>
          </a:p>
        </p:txBody>
      </p:sp>
      <p:sp>
        <p:nvSpPr>
          <p:cNvPr id="27" name="Rectangle 26">
            <a:extLst>
              <a:ext uri="{FF2B5EF4-FFF2-40B4-BE49-F238E27FC236}">
                <a16:creationId xmlns:a16="http://schemas.microsoft.com/office/drawing/2014/main" id="{2E6ECA06-86F9-227F-68F6-C7B15F17688D}"/>
              </a:ext>
            </a:extLst>
          </p:cNvPr>
          <p:cNvSpPr/>
          <p:nvPr/>
        </p:nvSpPr>
        <p:spPr>
          <a:xfrm>
            <a:off x="396241" y="1517904"/>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29" name="Rectangle 28">
            <a:extLst>
              <a:ext uri="{FF2B5EF4-FFF2-40B4-BE49-F238E27FC236}">
                <a16:creationId xmlns:a16="http://schemas.microsoft.com/office/drawing/2014/main" id="{1001BEDE-AAB7-09B2-A8A6-6C07194DB742}"/>
              </a:ext>
            </a:extLst>
          </p:cNvPr>
          <p:cNvSpPr/>
          <p:nvPr/>
        </p:nvSpPr>
        <p:spPr>
          <a:xfrm>
            <a:off x="396241" y="196595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31" name="Rectangle 30">
            <a:extLst>
              <a:ext uri="{FF2B5EF4-FFF2-40B4-BE49-F238E27FC236}">
                <a16:creationId xmlns:a16="http://schemas.microsoft.com/office/drawing/2014/main" id="{D2738422-3D3E-8214-9370-0B3001D41C79}"/>
              </a:ext>
            </a:extLst>
          </p:cNvPr>
          <p:cNvSpPr/>
          <p:nvPr/>
        </p:nvSpPr>
        <p:spPr>
          <a:xfrm>
            <a:off x="396241" y="242770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2" name="Rectangle 51">
            <a:extLst>
              <a:ext uri="{FF2B5EF4-FFF2-40B4-BE49-F238E27FC236}">
                <a16:creationId xmlns:a16="http://schemas.microsoft.com/office/drawing/2014/main" id="{0BDA7391-2DE8-1321-6C96-AB9A4734A0D7}"/>
              </a:ext>
            </a:extLst>
          </p:cNvPr>
          <p:cNvSpPr/>
          <p:nvPr/>
        </p:nvSpPr>
        <p:spPr>
          <a:xfrm>
            <a:off x="396241" y="286666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3" name="Rectangle 52">
            <a:extLst>
              <a:ext uri="{FF2B5EF4-FFF2-40B4-BE49-F238E27FC236}">
                <a16:creationId xmlns:a16="http://schemas.microsoft.com/office/drawing/2014/main" id="{E63F1B6F-7F67-A85F-3725-647E2E66A9CB}"/>
              </a:ext>
            </a:extLst>
          </p:cNvPr>
          <p:cNvSpPr/>
          <p:nvPr/>
        </p:nvSpPr>
        <p:spPr>
          <a:xfrm>
            <a:off x="384048" y="462817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4" name="Rectangle 53">
            <a:extLst>
              <a:ext uri="{FF2B5EF4-FFF2-40B4-BE49-F238E27FC236}">
                <a16:creationId xmlns:a16="http://schemas.microsoft.com/office/drawing/2014/main" id="{A685FAD6-CFA7-FD48-1B9E-B72276E6242A}"/>
              </a:ext>
            </a:extLst>
          </p:cNvPr>
          <p:cNvSpPr/>
          <p:nvPr/>
        </p:nvSpPr>
        <p:spPr>
          <a:xfrm>
            <a:off x="399996" y="504953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5" name="Rectangle 54">
            <a:extLst>
              <a:ext uri="{FF2B5EF4-FFF2-40B4-BE49-F238E27FC236}">
                <a16:creationId xmlns:a16="http://schemas.microsoft.com/office/drawing/2014/main" id="{4742FC2C-6BAF-6EF6-2279-5EC326DAF97E}"/>
              </a:ext>
            </a:extLst>
          </p:cNvPr>
          <p:cNvSpPr/>
          <p:nvPr/>
        </p:nvSpPr>
        <p:spPr>
          <a:xfrm>
            <a:off x="399996" y="5511278"/>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6" name="Rectangle 55">
            <a:extLst>
              <a:ext uri="{FF2B5EF4-FFF2-40B4-BE49-F238E27FC236}">
                <a16:creationId xmlns:a16="http://schemas.microsoft.com/office/drawing/2014/main" id="{BED1DCA2-8A19-34F3-11E0-C1D8E0BB862E}"/>
              </a:ext>
            </a:extLst>
          </p:cNvPr>
          <p:cNvSpPr/>
          <p:nvPr/>
        </p:nvSpPr>
        <p:spPr>
          <a:xfrm>
            <a:off x="396241" y="3241905"/>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7" name="Rectangle 56">
            <a:extLst>
              <a:ext uri="{FF2B5EF4-FFF2-40B4-BE49-F238E27FC236}">
                <a16:creationId xmlns:a16="http://schemas.microsoft.com/office/drawing/2014/main" id="{8FB1C231-EA10-006E-FB9D-519D15DBE688}"/>
              </a:ext>
            </a:extLst>
          </p:cNvPr>
          <p:cNvSpPr/>
          <p:nvPr/>
        </p:nvSpPr>
        <p:spPr>
          <a:xfrm>
            <a:off x="384048" y="361477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58" name="TextBox 57">
            <a:extLst>
              <a:ext uri="{FF2B5EF4-FFF2-40B4-BE49-F238E27FC236}">
                <a16:creationId xmlns:a16="http://schemas.microsoft.com/office/drawing/2014/main" id="{8277783C-1A81-A45E-3A31-B82A4A6B712B}"/>
              </a:ext>
            </a:extLst>
          </p:cNvPr>
          <p:cNvSpPr txBox="1"/>
          <p:nvPr/>
        </p:nvSpPr>
        <p:spPr>
          <a:xfrm>
            <a:off x="640080" y="3193396"/>
            <a:ext cx="6949440" cy="261610"/>
          </a:xfrm>
          <a:prstGeom prst="rect">
            <a:avLst/>
          </a:prstGeom>
          <a:noFill/>
        </p:spPr>
        <p:txBody>
          <a:bodyPr wrap="square">
            <a:spAutoFit/>
          </a:bodyPr>
          <a:lstStyle/>
          <a:p>
            <a:pPr algn="l"/>
            <a:r>
              <a:rPr lang="en-US" sz="1100" b="0" i="0" dirty="0">
                <a:solidFill>
                  <a:srgbClr val="404040"/>
                </a:solidFill>
              </a:rPr>
              <a:t>Wave 1 – non-tie sites – Ring 6 </a:t>
            </a:r>
          </a:p>
        </p:txBody>
      </p:sp>
      <p:sp>
        <p:nvSpPr>
          <p:cNvPr id="59" name="TextBox 58">
            <a:extLst>
              <a:ext uri="{FF2B5EF4-FFF2-40B4-BE49-F238E27FC236}">
                <a16:creationId xmlns:a16="http://schemas.microsoft.com/office/drawing/2014/main" id="{67289DA8-387A-32C1-9483-518790BB8B09}"/>
              </a:ext>
            </a:extLst>
          </p:cNvPr>
          <p:cNvSpPr txBox="1"/>
          <p:nvPr/>
        </p:nvSpPr>
        <p:spPr>
          <a:xfrm>
            <a:off x="640080" y="3563191"/>
            <a:ext cx="6949440" cy="261610"/>
          </a:xfrm>
          <a:prstGeom prst="rect">
            <a:avLst/>
          </a:prstGeom>
          <a:noFill/>
        </p:spPr>
        <p:txBody>
          <a:bodyPr wrap="square">
            <a:spAutoFit/>
          </a:bodyPr>
          <a:lstStyle/>
          <a:p>
            <a:pPr algn="l"/>
            <a:r>
              <a:rPr lang="en-US" sz="1100" b="0" i="0" dirty="0">
                <a:solidFill>
                  <a:srgbClr val="404040"/>
                </a:solidFill>
              </a:rPr>
              <a:t>Wave 2 – non-tie sites – Ring 1</a:t>
            </a:r>
          </a:p>
        </p:txBody>
      </p:sp>
      <p:sp>
        <p:nvSpPr>
          <p:cNvPr id="60" name="TextBox 59"/>
          <p:cNvSpPr txBox="1"/>
          <p:nvPr/>
        </p:nvSpPr>
        <p:spPr>
          <a:xfrm>
            <a:off x="228600" y="3017520"/>
            <a:ext cx="5486400" cy="228600"/>
          </a:xfrm>
          <a:prstGeom prst="rect">
            <a:avLst/>
          </a:prstGeom>
          <a:noFill/>
        </p:spPr>
        <p:txBody>
          <a:bodyPr wrap="none">
            <a:spAutoFit/>
          </a:bodyPr>
          <a:lstStyle/>
          <a:p>
            <a:r>
              <a:rPr b="1" sz="800">
                <a:solidFill>
                  <a:srgbClr val="003387"/>
                </a:solidFill>
              </a:rPr>
              <a:t>PHASE 1 — MICRO-PHASE BREAKDOWN  (Vik Vohra directive, Mar 16 2026)</a:t>
            </a:r>
          </a:p>
        </p:txBody>
      </p:sp>
      <p:graphicFrame>
        <p:nvGraphicFramePr>
          <p:cNvPr id="61" name="Table 60"/>
          <p:cNvGraphicFramePr>
            <a:graphicFrameLocks noGrp="1"/>
          </p:cNvGraphicFramePr>
          <p:nvPr/>
        </p:nvGraphicFramePr>
        <p:xfrm>
          <a:off x="228600" y="3246120"/>
          <a:ext cx="5577840" cy="2834640"/>
        </p:xfrm>
        <a:graphic>
          <a:graphicData uri="http://schemas.openxmlformats.org/drawingml/2006/table">
            <a:tbl>
              <a:tblPr firstRow="1" bandRow="1">
                <a:tableStyleId>{5C22544A-7EE6-4342-B048-85BDC9FD1C3A}</a:tableStyleId>
              </a:tblPr>
              <a:tblGrid>
                <a:gridCol w="228600"/>
                <a:gridCol w="1920240"/>
                <a:gridCol w="914400"/>
                <a:gridCol w="2514600"/>
              </a:tblGrid>
              <a:tr h="314960">
                <a:tc>
                  <a:txBody>
                    <a:bodyPr wrap="square"/>
                    <a:lstStyle/>
                    <a:p>
                      <a:pPr algn="ctr"/>
                      <a:r>
                        <a:rPr b="1" sz="800">
                          <a:solidFill>
                            <a:srgbClr val="FFFFFF"/>
                          </a:solidFill>
                        </a:rPr>
                        <a:t>#</a:t>
                      </a:r>
                    </a:p>
                  </a:txBody>
                  <a:tcPr>
                    <a:solidFill>
                      <a:srgbClr val="003387"/>
                    </a:solidFill>
                  </a:tcPr>
                </a:tc>
                <a:tc>
                  <a:txBody>
                    <a:bodyPr wrap="square"/>
                    <a:lstStyle/>
                    <a:p>
                      <a:pPr algn="ctr"/>
                      <a:r>
                        <a:rPr b="1" sz="800">
                          <a:solidFill>
                            <a:srgbClr val="FFFFFF"/>
                          </a:solidFill>
                        </a:rPr>
                        <a:t>MICRO-PHASE</a:t>
                      </a:r>
                    </a:p>
                  </a:txBody>
                  <a:tcPr>
                    <a:solidFill>
                      <a:srgbClr val="003387"/>
                    </a:solidFill>
                  </a:tcPr>
                </a:tc>
                <a:tc>
                  <a:txBody>
                    <a:bodyPr wrap="square"/>
                    <a:lstStyle/>
                    <a:p>
                      <a:pPr algn="ctr"/>
                      <a:r>
                        <a:rPr b="1" sz="800">
                          <a:solidFill>
                            <a:srgbClr val="FFFFFF"/>
                          </a:solidFill>
                        </a:rPr>
                        <a:t>%  STATUS</a:t>
                      </a:r>
                    </a:p>
                  </a:txBody>
                  <a:tcPr>
                    <a:solidFill>
                      <a:srgbClr val="003387"/>
                    </a:solidFill>
                  </a:tcPr>
                </a:tc>
                <a:tc>
                  <a:txBody>
                    <a:bodyPr wrap="square"/>
                    <a:lstStyle/>
                    <a:p>
                      <a:pPr algn="ctr"/>
                      <a:r>
                        <a:rPr b="1" sz="800">
                          <a:solidFill>
                            <a:srgbClr val="FFFFFF"/>
                          </a:solidFill>
                        </a:rPr>
                        <a:t>DETAIL / NOTES</a:t>
                      </a:r>
                    </a:p>
                  </a:txBody>
                  <a:tcPr>
                    <a:solidFill>
                      <a:srgbClr val="003387"/>
                    </a:solidFill>
                  </a:tcPr>
                </a:tc>
              </a:tr>
              <a:tr h="314960">
                <a:tc>
                  <a:txBody>
                    <a:bodyPr wrap="square"/>
                    <a:lstStyle/>
                    <a:p>
                      <a:pPr algn="ctr"/>
                      <a:r>
                        <a:rPr b="1" sz="800">
                          <a:solidFill>
                            <a:srgbClr val="155724"/>
                          </a:solidFill>
                        </a:rPr>
                        <a:t>1</a:t>
                      </a:r>
                    </a:p>
                  </a:txBody>
                  <a:tcPr>
                    <a:solidFill>
                      <a:srgbClr val="D4EDDA"/>
                    </a:solidFill>
                  </a:tcPr>
                </a:tc>
                <a:tc>
                  <a:txBody>
                    <a:bodyPr wrap="square"/>
                    <a:lstStyle/>
                    <a:p>
                      <a:pPr algn="l"/>
                      <a:r>
                        <a:rPr b="1" sz="800">
                          <a:solidFill>
                            <a:srgbClr val="155724"/>
                          </a:solidFill>
                        </a:rPr>
                        <a:t>Engineering &amp; Design</a:t>
                      </a:r>
                    </a:p>
                  </a:txBody>
                  <a:tcPr>
                    <a:solidFill>
                      <a:srgbClr val="D4EDDA"/>
                    </a:solidFill>
                  </a:tcPr>
                </a:tc>
                <a:tc>
                  <a:txBody>
                    <a:bodyPr wrap="square"/>
                    <a:lstStyle/>
                    <a:p>
                      <a:pPr algn="ctr"/>
                      <a:r>
                        <a:rPr b="1" sz="800">
                          <a:solidFill>
                            <a:srgbClr val="155724"/>
                          </a:solidFill>
                        </a:rPr>
                        <a:t>✅ 100%</a:t>
                      </a:r>
                    </a:p>
                  </a:txBody>
                  <a:tcPr>
                    <a:solidFill>
                      <a:srgbClr val="D4EDDA"/>
                    </a:solidFill>
                  </a:tcPr>
                </a:tc>
                <a:tc>
                  <a:txBody>
                    <a:bodyPr wrap="square"/>
                    <a:lstStyle/>
                    <a:p>
                      <a:pPr algn="l"/>
                      <a:r>
                        <a:rPr b="0" sz="700">
                          <a:solidFill>
                            <a:srgbClr val="222222"/>
                          </a:solidFill>
                        </a:rPr>
                        <a:t>Surveys, IFRs, IFCs, HLD all complete — 31 sites</a:t>
                      </a:r>
                    </a:p>
                  </a:txBody>
                  <a:tcPr>
                    <a:solidFill>
                      <a:srgbClr val="FFFFFF"/>
                    </a:solidFill>
                  </a:tcPr>
                </a:tc>
              </a:tr>
              <a:tr h="314960">
                <a:tc>
                  <a:txBody>
                    <a:bodyPr wrap="square"/>
                    <a:lstStyle/>
                    <a:p>
                      <a:pPr algn="ctr"/>
                      <a:r>
                        <a:rPr b="1" sz="800">
                          <a:solidFill>
                            <a:srgbClr val="155724"/>
                          </a:solidFill>
                        </a:rPr>
                        <a:t>2</a:t>
                      </a:r>
                    </a:p>
                  </a:txBody>
                  <a:tcPr>
                    <a:solidFill>
                      <a:srgbClr val="D4EDDA"/>
                    </a:solidFill>
                  </a:tcPr>
                </a:tc>
                <a:tc>
                  <a:txBody>
                    <a:bodyPr wrap="square"/>
                    <a:lstStyle/>
                    <a:p>
                      <a:pPr algn="l"/>
                      <a:r>
                        <a:rPr b="1" sz="800">
                          <a:solidFill>
                            <a:srgbClr val="155724"/>
                          </a:solidFill>
                        </a:rPr>
                        <a:t>Procurement &amp; Staging</a:t>
                      </a:r>
                    </a:p>
                  </a:txBody>
                  <a:tcPr>
                    <a:solidFill>
                      <a:srgbClr val="D4EDDA"/>
                    </a:solidFill>
                  </a:tcPr>
                </a:tc>
                <a:tc>
                  <a:txBody>
                    <a:bodyPr wrap="square"/>
                    <a:lstStyle/>
                    <a:p>
                      <a:pPr algn="ctr"/>
                      <a:r>
                        <a:rPr b="1" sz="800">
                          <a:solidFill>
                            <a:srgbClr val="155724"/>
                          </a:solidFill>
                        </a:rPr>
                        <a:t>✅ 100%</a:t>
                      </a:r>
                    </a:p>
                  </a:txBody>
                  <a:tcPr>
                    <a:solidFill>
                      <a:srgbClr val="D4EDDA"/>
                    </a:solidFill>
                  </a:tcPr>
                </a:tc>
                <a:tc>
                  <a:txBody>
                    <a:bodyPr wrap="square"/>
                    <a:lstStyle/>
                    <a:p>
                      <a:pPr algn="l"/>
                      <a:r>
                        <a:rPr b="0" sz="700">
                          <a:solidFill>
                            <a:srgbClr val="222222"/>
                          </a:solidFill>
                        </a:rPr>
                        <a:t>Equipment delivered &amp; staged (9/29/25). Phase 2 equip. rcvd 2/19/26</a:t>
                      </a:r>
                    </a:p>
                  </a:txBody>
                  <a:tcPr>
                    <a:solidFill>
                      <a:srgbClr val="FFFFFF"/>
                    </a:solidFill>
                  </a:tcPr>
                </a:tc>
              </a:tr>
              <a:tr h="314960">
                <a:tc>
                  <a:txBody>
                    <a:bodyPr wrap="square"/>
                    <a:lstStyle/>
                    <a:p>
                      <a:pPr algn="ctr"/>
                      <a:r>
                        <a:rPr b="1" sz="800">
                          <a:solidFill>
                            <a:srgbClr val="155724"/>
                          </a:solidFill>
                        </a:rPr>
                        <a:t>3</a:t>
                      </a:r>
                    </a:p>
                  </a:txBody>
                  <a:tcPr>
                    <a:solidFill>
                      <a:srgbClr val="D4EDDA"/>
                    </a:solidFill>
                  </a:tcPr>
                </a:tc>
                <a:tc>
                  <a:txBody>
                    <a:bodyPr wrap="square"/>
                    <a:lstStyle/>
                    <a:p>
                      <a:pPr algn="l"/>
                      <a:r>
                        <a:rPr b="1" sz="800">
                          <a:solidFill>
                            <a:srgbClr val="155724"/>
                          </a:solidFill>
                        </a:rPr>
                        <a:t>Construction &amp; Installation</a:t>
                      </a:r>
                    </a:p>
                  </a:txBody>
                  <a:tcPr>
                    <a:solidFill>
                      <a:srgbClr val="D4EDDA"/>
                    </a:solidFill>
                  </a:tcPr>
                </a:tc>
                <a:tc>
                  <a:txBody>
                    <a:bodyPr wrap="square"/>
                    <a:lstStyle/>
                    <a:p>
                      <a:pPr algn="ctr"/>
                      <a:r>
                        <a:rPr b="1" sz="800">
                          <a:solidFill>
                            <a:srgbClr val="155724"/>
                          </a:solidFill>
                        </a:rPr>
                        <a:t>✅ 100%</a:t>
                      </a:r>
                    </a:p>
                  </a:txBody>
                  <a:tcPr>
                    <a:solidFill>
                      <a:srgbClr val="D4EDDA"/>
                    </a:solidFill>
                  </a:tcPr>
                </a:tc>
                <a:tc>
                  <a:txBody>
                    <a:bodyPr wrap="square"/>
                    <a:lstStyle/>
                    <a:p>
                      <a:pPr algn="l"/>
                      <a:r>
                        <a:rPr b="0" sz="700">
                          <a:solidFill>
                            <a:srgbClr val="222222"/>
                          </a:solidFill>
                        </a:rPr>
                        <a:t>31/31 sites installed. CWDM cutovers done Oct–Jan. Cat6 complete.</a:t>
                      </a:r>
                    </a:p>
                  </a:txBody>
                  <a:tcPr>
                    <a:solidFill>
                      <a:srgbClr val="FFFFFF"/>
                    </a:solidFill>
                  </a:tcPr>
                </a:tc>
              </a:tr>
              <a:tr h="314960">
                <a:tc>
                  <a:txBody>
                    <a:bodyPr wrap="square"/>
                    <a:lstStyle/>
                    <a:p>
                      <a:pPr algn="ctr"/>
                      <a:r>
                        <a:rPr b="1" sz="800">
                          <a:solidFill>
                            <a:srgbClr val="721C24"/>
                          </a:solidFill>
                        </a:rPr>
                        <a:t>4</a:t>
                      </a:r>
                    </a:p>
                  </a:txBody>
                  <a:tcPr>
                    <a:solidFill>
                      <a:srgbClr val="F8D7DA"/>
                    </a:solidFill>
                  </a:tcPr>
                </a:tc>
                <a:tc>
                  <a:txBody>
                    <a:bodyPr wrap="square"/>
                    <a:lstStyle/>
                    <a:p>
                      <a:pPr algn="l"/>
                      <a:r>
                        <a:rPr b="1" sz="800">
                          <a:solidFill>
                            <a:srgbClr val="721C24"/>
                          </a:solidFill>
                        </a:rPr>
                        <a:t>Deployment / Pre-Cutover</a:t>
                      </a:r>
                    </a:p>
                  </a:txBody>
                  <a:tcPr>
                    <a:solidFill>
                      <a:srgbClr val="F8D7DA"/>
                    </a:solidFill>
                  </a:tcPr>
                </a:tc>
                <a:tc>
                  <a:txBody>
                    <a:bodyPr wrap="square"/>
                    <a:lstStyle/>
                    <a:p>
                      <a:pPr algn="ctr"/>
                      <a:r>
                        <a:rPr b="1" sz="800">
                          <a:solidFill>
                            <a:srgbClr val="721C24"/>
                          </a:solidFill>
                        </a:rPr>
                        <a:t>🔴 ~5%</a:t>
                      </a:r>
                    </a:p>
                  </a:txBody>
                  <a:tcPr>
                    <a:solidFill>
                      <a:srgbClr val="F8D7DA"/>
                    </a:solidFill>
                  </a:tcPr>
                </a:tc>
                <a:tc>
                  <a:txBody>
                    <a:bodyPr wrap="square"/>
                    <a:lstStyle/>
                    <a:p>
                      <a:pPr algn="l"/>
                      <a:r>
                        <a:rPr b="0" sz="700">
                          <a:solidFill>
                            <a:srgbClr val="222222"/>
                          </a:solidFill>
                        </a:rPr>
                        <a:t>BGP approved ✅ 3/16. BLOCKED on NSP software install (Critical Path)</a:t>
                      </a:r>
                    </a:p>
                  </a:txBody>
                  <a:tcPr>
                    <a:solidFill>
                      <a:srgbClr val="FFFFFF"/>
                    </a:solidFill>
                  </a:tcPr>
                </a:tc>
              </a:tr>
              <a:tr h="314960">
                <a:tc>
                  <a:txBody>
                    <a:bodyPr wrap="square"/>
                    <a:lstStyle/>
                    <a:p>
                      <a:pPr algn="ctr"/>
                      <a:r>
                        <a:rPr b="1" sz="800">
                          <a:solidFill>
                            <a:srgbClr val="721C24"/>
                          </a:solidFill>
                        </a:rPr>
                        <a:t>5</a:t>
                      </a:r>
                    </a:p>
                  </a:txBody>
                  <a:tcPr>
                    <a:solidFill>
                      <a:srgbClr val="F8D7DA"/>
                    </a:solidFill>
                  </a:tcPr>
                </a:tc>
                <a:tc>
                  <a:txBody>
                    <a:bodyPr wrap="square"/>
                    <a:lstStyle/>
                    <a:p>
                      <a:pPr algn="l"/>
                      <a:r>
                        <a:rPr b="1" sz="800">
                          <a:solidFill>
                            <a:srgbClr val="721C24"/>
                          </a:solidFill>
                        </a:rPr>
                        <a:t>Application Layer 3 Cutover</a:t>
                      </a:r>
                    </a:p>
                  </a:txBody>
                  <a:tcPr>
                    <a:solidFill>
                      <a:srgbClr val="F8D7DA"/>
                    </a:solidFill>
                  </a:tcPr>
                </a:tc>
                <a:tc>
                  <a:txBody>
                    <a:bodyPr wrap="square"/>
                    <a:lstStyle/>
                    <a:p>
                      <a:pPr algn="ctr"/>
                      <a:r>
                        <a:rPr b="1" sz="800">
                          <a:solidFill>
                            <a:srgbClr val="721C24"/>
                          </a:solidFill>
                        </a:rPr>
                        <a:t>🔴 0%</a:t>
                      </a:r>
                    </a:p>
                  </a:txBody>
                  <a:tcPr>
                    <a:solidFill>
                      <a:srgbClr val="F8D7DA"/>
                    </a:solidFill>
                  </a:tcPr>
                </a:tc>
                <a:tc>
                  <a:txBody>
                    <a:bodyPr wrap="square"/>
                    <a:lstStyle/>
                    <a:p>
                      <a:pPr algn="l"/>
                      <a:r>
                        <a:rPr b="0" sz="700">
                          <a:solidFill>
                            <a:srgbClr val="222222"/>
                          </a:solidFill>
                        </a:rPr>
                        <a:t>5 apps pending. Blocked on BGP/NSP. Target: Jun 2026</a:t>
                      </a:r>
                    </a:p>
                  </a:txBody>
                  <a:tcPr>
                    <a:solidFill>
                      <a:srgbClr val="FFFFFF"/>
                    </a:solidFill>
                  </a:tcPr>
                </a:tc>
              </a:tr>
              <a:tr h="314960">
                <a:tc>
                  <a:txBody>
                    <a:bodyPr wrap="square"/>
                    <a:lstStyle/>
                    <a:p>
                      <a:pPr algn="ctr"/>
                      <a:r>
                        <a:rPr b="1" sz="800">
                          <a:solidFill>
                            <a:srgbClr val="721C24"/>
                          </a:solidFill>
                        </a:rPr>
                        <a:t>6</a:t>
                      </a:r>
                    </a:p>
                  </a:txBody>
                  <a:tcPr>
                    <a:solidFill>
                      <a:srgbClr val="F8D7DA"/>
                    </a:solidFill>
                  </a:tcPr>
                </a:tc>
                <a:tc>
                  <a:txBody>
                    <a:bodyPr wrap="square"/>
                    <a:lstStyle/>
                    <a:p>
                      <a:pPr algn="l"/>
                      <a:r>
                        <a:rPr b="1" sz="800">
                          <a:solidFill>
                            <a:srgbClr val="721C24"/>
                          </a:solidFill>
                        </a:rPr>
                        <a:t>RTU / Layer 2 Cutover</a:t>
                      </a:r>
                    </a:p>
                  </a:txBody>
                  <a:tcPr>
                    <a:solidFill>
                      <a:srgbClr val="F8D7DA"/>
                    </a:solidFill>
                  </a:tcPr>
                </a:tc>
                <a:tc>
                  <a:txBody>
                    <a:bodyPr wrap="square"/>
                    <a:lstStyle/>
                    <a:p>
                      <a:pPr algn="ctr"/>
                      <a:r>
                        <a:rPr b="1" sz="800">
                          <a:solidFill>
                            <a:srgbClr val="721C24"/>
                          </a:solidFill>
                        </a:rPr>
                        <a:t>🔴 0%</a:t>
                      </a:r>
                    </a:p>
                  </a:txBody>
                  <a:tcPr>
                    <a:solidFill>
                      <a:srgbClr val="F8D7DA"/>
                    </a:solidFill>
                  </a:tcPr>
                </a:tc>
                <a:tc>
                  <a:txBody>
                    <a:bodyPr wrap="square"/>
                    <a:lstStyle/>
                    <a:p>
                      <a:pPr algn="l"/>
                      <a:r>
                        <a:rPr b="0" sz="700">
                          <a:solidFill>
                            <a:srgbClr val="222222"/>
                          </a:solidFill>
                        </a:rPr>
                        <a:t>On-site only. Sequential dependency on Layer 3 completion</a:t>
                      </a:r>
                    </a:p>
                  </a:txBody>
                  <a:tcPr>
                    <a:solidFill>
                      <a:srgbClr val="FFFFFF"/>
                    </a:solidFill>
                  </a:tcPr>
                </a:tc>
              </a:tr>
              <a:tr h="314960">
                <a:tc>
                  <a:txBody>
                    <a:bodyPr wrap="square"/>
                    <a:lstStyle/>
                    <a:p>
                      <a:pPr algn="ctr"/>
                      <a:r>
                        <a:rPr b="1" sz="800">
                          <a:solidFill>
                            <a:srgbClr val="856404"/>
                          </a:solidFill>
                        </a:rPr>
                        <a:t>7</a:t>
                      </a:r>
                    </a:p>
                  </a:txBody>
                  <a:tcPr>
                    <a:solidFill>
                      <a:srgbClr val="FFF3CD"/>
                    </a:solidFill>
                  </a:tcPr>
                </a:tc>
                <a:tc>
                  <a:txBody>
                    <a:bodyPr wrap="square"/>
                    <a:lstStyle/>
                    <a:p>
                      <a:pPr algn="l"/>
                      <a:r>
                        <a:rPr b="1" sz="800">
                          <a:solidFill>
                            <a:srgbClr val="856404"/>
                          </a:solidFill>
                        </a:rPr>
                        <a:t>As-Builts &amp; Decommission</a:t>
                      </a:r>
                    </a:p>
                  </a:txBody>
                  <a:tcPr>
                    <a:solidFill>
                      <a:srgbClr val="FFF3CD"/>
                    </a:solidFill>
                  </a:tcPr>
                </a:tc>
                <a:tc>
                  <a:txBody>
                    <a:bodyPr wrap="square"/>
                    <a:lstStyle/>
                    <a:p>
                      <a:pPr algn="ctr"/>
                      <a:r>
                        <a:rPr b="1" sz="800">
                          <a:solidFill>
                            <a:srgbClr val="856404"/>
                          </a:solidFill>
                        </a:rPr>
                        <a:t>⏳ 2027</a:t>
                      </a:r>
                    </a:p>
                  </a:txBody>
                  <a:tcPr>
                    <a:solidFill>
                      <a:srgbClr val="FFF3CD"/>
                    </a:solidFill>
                  </a:tcPr>
                </a:tc>
                <a:tc>
                  <a:txBody>
                    <a:bodyPr wrap="square"/>
                    <a:lstStyle/>
                    <a:p>
                      <a:pPr algn="l"/>
                      <a:r>
                        <a:rPr b="0" sz="700">
                          <a:solidFill>
                            <a:srgbClr val="222222"/>
                          </a:solidFill>
                        </a:rPr>
                        <a:t>Funding in 2027. JMUX decommission post-Phase 3 only.</a:t>
                      </a:r>
                    </a:p>
                  </a:txBody>
                  <a:tcPr>
                    <a:solidFill>
                      <a:srgbClr val="FFFFFF"/>
                    </a:solidFill>
                  </a:tcPr>
                </a:tc>
              </a:tr>
              <a:tr h="314960">
                <a:tc>
                  <a:txBody>
                    <a:bodyPr wrap="square"/>
                    <a:lstStyle/>
                    <a:p>
                      <a:pPr algn="l"/>
                      <a:r>
                        <a:rPr b="0" sz="800">
                          <a:solidFill>
                            <a:srgbClr val="FFFFFF"/>
                          </a:solidFill>
                        </a:rPr>
                        <a:t/>
                      </a:r>
                    </a:p>
                  </a:txBody>
                  <a:tcPr>
                    <a:solidFill>
                      <a:srgbClr val="003387"/>
                    </a:solidFill>
                  </a:tcPr>
                </a:tc>
                <a:tc>
                  <a:txBody>
                    <a:bodyPr wrap="square"/>
                    <a:lstStyle/>
                    <a:p>
                      <a:pPr algn="l"/>
                      <a:r>
                        <a:rPr b="1" sz="800">
                          <a:solidFill>
                            <a:srgbClr val="FFFFFF"/>
                          </a:solidFill>
                        </a:rPr>
                        <a:t>PHASE 1 OVERALL</a:t>
                      </a:r>
                    </a:p>
                  </a:txBody>
                  <a:tcPr>
                    <a:solidFill>
                      <a:srgbClr val="003387"/>
                    </a:solidFill>
                  </a:tcPr>
                </a:tc>
                <a:tc>
                  <a:txBody>
                    <a:bodyPr wrap="square"/>
                    <a:lstStyle/>
                    <a:p>
                      <a:pPr algn="ctr"/>
                      <a:r>
                        <a:rPr b="1" sz="800">
                          <a:solidFill>
                            <a:srgbClr val="F7941D"/>
                          </a:solidFill>
                        </a:rPr>
                        <a:t>🟡 ~65%</a:t>
                      </a:r>
                    </a:p>
                  </a:txBody>
                  <a:tcPr>
                    <a:solidFill>
                      <a:srgbClr val="003387"/>
                    </a:solidFill>
                  </a:tcPr>
                </a:tc>
                <a:tc>
                  <a:txBody>
                    <a:bodyPr wrap="square"/>
                    <a:lstStyle/>
                    <a:p>
                      <a:pPr algn="l"/>
                      <a:r>
                        <a:rPr b="1" sz="800">
                          <a:solidFill>
                            <a:srgbClr val="F7941D"/>
                          </a:solidFill>
                        </a:rPr>
                        <a:t>Target: June 2026  |  Critical path: NSP installation (Nokia)</a:t>
                      </a:r>
                    </a:p>
                  </a:txBody>
                  <a:tcPr>
                    <a:solidFill>
                      <a:srgbClr val="003387"/>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Phase 2 Status</a:t>
            </a:r>
          </a:p>
        </p:txBody>
      </p:sp>
      <p:sp>
        <p:nvSpPr>
          <p:cNvPr id="5" name="TextBox 4"/>
          <p:cNvSpPr txBox="1"/>
          <p:nvPr/>
        </p:nvSpPr>
        <p:spPr>
          <a:xfrm>
            <a:off x="274320" y="548640"/>
            <a:ext cx="9144000" cy="276999"/>
          </a:xfrm>
          <a:prstGeom prst="rect">
            <a:avLst/>
          </a:prstGeom>
          <a:noFill/>
        </p:spPr>
        <p:txBody>
          <a:bodyPr wrap="square">
            <a:spAutoFit/>
          </a:bodyPr>
          <a:lstStyle/>
          <a:p>
            <a:pPr algn="l"/>
            <a:r>
              <a:rPr sz="1200" b="0" i="0" dirty="0">
                <a:solidFill>
                  <a:srgbClr val="F7941D"/>
                </a:solidFill>
              </a:rPr>
              <a:t>3</a:t>
            </a:r>
            <a:r>
              <a:rPr lang="en-US" sz="1200" dirty="0">
                <a:solidFill>
                  <a:srgbClr val="F7941D"/>
                </a:solidFill>
              </a:rPr>
              <a:t>4</a:t>
            </a:r>
            <a:r>
              <a:rPr sz="1200" b="0" i="0" dirty="0">
                <a:solidFill>
                  <a:srgbClr val="F7941D"/>
                </a:solidFill>
              </a:rPr>
              <a:t> Sites | Engineering Design Underway | Burns &amp; McDonnell SOW: $1.37M</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20040" y="1060704"/>
            <a:ext cx="1737360" cy="256032"/>
          </a:xfrm>
          <a:prstGeom prst="rect">
            <a:avLst/>
          </a:prstGeom>
          <a:noFill/>
        </p:spPr>
        <p:txBody>
          <a:bodyPr wrap="square">
            <a:spAutoFit/>
          </a:bodyPr>
          <a:lstStyle/>
          <a:p>
            <a:pPr algn="ctr"/>
            <a:r>
              <a:rPr sz="900" b="1" i="0">
                <a:solidFill>
                  <a:srgbClr val="FFFFFF"/>
                </a:solidFill>
              </a:rPr>
              <a:t>Site Surveys</a:t>
            </a:r>
          </a:p>
        </p:txBody>
      </p:sp>
      <p:sp>
        <p:nvSpPr>
          <p:cNvPr id="10" name="TextBox 9"/>
          <p:cNvSpPr txBox="1"/>
          <p:nvPr/>
        </p:nvSpPr>
        <p:spPr>
          <a:xfrm>
            <a:off x="320040"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1" name="Rectangle 10"/>
          <p:cNvSpPr/>
          <p:nvPr/>
        </p:nvSpPr>
        <p:spPr>
          <a:xfrm>
            <a:off x="2240279" y="1051560"/>
            <a:ext cx="1828800" cy="502920"/>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85999" y="1060704"/>
            <a:ext cx="1737360" cy="256032"/>
          </a:xfrm>
          <a:prstGeom prst="rect">
            <a:avLst/>
          </a:prstGeom>
          <a:noFill/>
        </p:spPr>
        <p:txBody>
          <a:bodyPr wrap="square">
            <a:spAutoFit/>
          </a:bodyPr>
          <a:lstStyle/>
          <a:p>
            <a:pPr algn="ctr"/>
            <a:r>
              <a:rPr sz="900" b="1" i="0">
                <a:solidFill>
                  <a:srgbClr val="FFFFFF"/>
                </a:solidFill>
              </a:rPr>
              <a:t>Nokia Equip. Delivery</a:t>
            </a:r>
          </a:p>
        </p:txBody>
      </p:sp>
      <p:sp>
        <p:nvSpPr>
          <p:cNvPr id="13" name="TextBox 12"/>
          <p:cNvSpPr txBox="1"/>
          <p:nvPr/>
        </p:nvSpPr>
        <p:spPr>
          <a:xfrm>
            <a:off x="2285999" y="1298448"/>
            <a:ext cx="1737360" cy="228600"/>
          </a:xfrm>
          <a:prstGeom prst="rect">
            <a:avLst/>
          </a:prstGeom>
          <a:noFill/>
        </p:spPr>
        <p:txBody>
          <a:bodyPr wrap="square">
            <a:spAutoFit/>
          </a:bodyPr>
          <a:lstStyle/>
          <a:p>
            <a:pPr algn="ctr"/>
            <a:r>
              <a:rPr sz="800" b="0" i="0">
                <a:solidFill>
                  <a:srgbClr val="FFFFFF"/>
                </a:solidFill>
              </a:rPr>
              <a:t>COMPLETE</a:t>
            </a:r>
          </a:p>
        </p:txBody>
      </p:sp>
      <p:sp>
        <p:nvSpPr>
          <p:cNvPr id="14" name="Rectangle 13"/>
          <p:cNvSpPr/>
          <p:nvPr/>
        </p:nvSpPr>
        <p:spPr>
          <a:xfrm>
            <a:off x="4206240"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51959" y="1060704"/>
            <a:ext cx="1737360" cy="256032"/>
          </a:xfrm>
          <a:prstGeom prst="rect">
            <a:avLst/>
          </a:prstGeom>
          <a:noFill/>
        </p:spPr>
        <p:txBody>
          <a:bodyPr wrap="square">
            <a:spAutoFit/>
          </a:bodyPr>
          <a:lstStyle/>
          <a:p>
            <a:pPr algn="ctr"/>
            <a:r>
              <a:rPr sz="900" b="1" i="0">
                <a:solidFill>
                  <a:srgbClr val="FFFFFF"/>
                </a:solidFill>
              </a:rPr>
              <a:t>IFR Design (B&amp;McD)</a:t>
            </a:r>
          </a:p>
        </p:txBody>
      </p:sp>
      <p:sp>
        <p:nvSpPr>
          <p:cNvPr id="16" name="TextBox 15"/>
          <p:cNvSpPr txBox="1"/>
          <p:nvPr/>
        </p:nvSpPr>
        <p:spPr>
          <a:xfrm>
            <a:off x="425195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17" name="Rectangle 16"/>
          <p:cNvSpPr/>
          <p:nvPr/>
        </p:nvSpPr>
        <p:spPr>
          <a:xfrm>
            <a:off x="6172199" y="1051560"/>
            <a:ext cx="1828800" cy="50292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17919" y="1060704"/>
            <a:ext cx="1737360" cy="256032"/>
          </a:xfrm>
          <a:prstGeom prst="rect">
            <a:avLst/>
          </a:prstGeom>
          <a:noFill/>
        </p:spPr>
        <p:txBody>
          <a:bodyPr wrap="square">
            <a:spAutoFit/>
          </a:bodyPr>
          <a:lstStyle/>
          <a:p>
            <a:pPr algn="ctr"/>
            <a:r>
              <a:rPr sz="900" b="1" i="0">
                <a:solidFill>
                  <a:srgbClr val="FFFFFF"/>
                </a:solidFill>
              </a:rPr>
              <a:t>IFC Design</a:t>
            </a:r>
          </a:p>
        </p:txBody>
      </p:sp>
      <p:sp>
        <p:nvSpPr>
          <p:cNvPr id="19" name="TextBox 18"/>
          <p:cNvSpPr txBox="1"/>
          <p:nvPr/>
        </p:nvSpPr>
        <p:spPr>
          <a:xfrm>
            <a:off x="6217919" y="1298448"/>
            <a:ext cx="1737360" cy="228600"/>
          </a:xfrm>
          <a:prstGeom prst="rect">
            <a:avLst/>
          </a:prstGeom>
          <a:noFill/>
        </p:spPr>
        <p:txBody>
          <a:bodyPr wrap="square">
            <a:spAutoFit/>
          </a:bodyPr>
          <a:lstStyle/>
          <a:p>
            <a:pPr algn="ctr"/>
            <a:r>
              <a:rPr sz="800" b="0" i="0">
                <a:solidFill>
                  <a:srgbClr val="FFFFFF"/>
                </a:solidFill>
              </a:rPr>
              <a:t>IN PROGRESS</a:t>
            </a:r>
          </a:p>
        </p:txBody>
      </p:sp>
      <p:sp>
        <p:nvSpPr>
          <p:cNvPr id="20" name="Rectangle 19"/>
          <p:cNvSpPr/>
          <p:nvPr/>
        </p:nvSpPr>
        <p:spPr>
          <a:xfrm>
            <a:off x="813816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83880" y="1060704"/>
            <a:ext cx="1737360" cy="256032"/>
          </a:xfrm>
          <a:prstGeom prst="rect">
            <a:avLst/>
          </a:prstGeom>
          <a:noFill/>
        </p:spPr>
        <p:txBody>
          <a:bodyPr wrap="square">
            <a:spAutoFit/>
          </a:bodyPr>
          <a:lstStyle/>
          <a:p>
            <a:pPr algn="ctr"/>
            <a:r>
              <a:rPr sz="900" b="1" i="0">
                <a:solidFill>
                  <a:srgbClr val="FFFFFF"/>
                </a:solidFill>
              </a:rPr>
              <a:t>Construction</a:t>
            </a:r>
          </a:p>
        </p:txBody>
      </p:sp>
      <p:sp>
        <p:nvSpPr>
          <p:cNvPr id="22" name="TextBox 21"/>
          <p:cNvSpPr txBox="1"/>
          <p:nvPr/>
        </p:nvSpPr>
        <p:spPr>
          <a:xfrm>
            <a:off x="818388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3" name="Rectangle 22"/>
          <p:cNvSpPr/>
          <p:nvPr/>
        </p:nvSpPr>
        <p:spPr>
          <a:xfrm>
            <a:off x="10104120" y="1051560"/>
            <a:ext cx="1828800" cy="502920"/>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149840" y="1060704"/>
            <a:ext cx="1737360" cy="256032"/>
          </a:xfrm>
          <a:prstGeom prst="rect">
            <a:avLst/>
          </a:prstGeom>
          <a:noFill/>
        </p:spPr>
        <p:txBody>
          <a:bodyPr wrap="square">
            <a:spAutoFit/>
          </a:bodyPr>
          <a:lstStyle/>
          <a:p>
            <a:pPr algn="ctr"/>
            <a:r>
              <a:rPr sz="900" b="1" i="0">
                <a:solidFill>
                  <a:srgbClr val="FFFFFF"/>
                </a:solidFill>
              </a:rPr>
              <a:t>Cutover</a:t>
            </a:r>
          </a:p>
        </p:txBody>
      </p:sp>
      <p:sp>
        <p:nvSpPr>
          <p:cNvPr id="25" name="TextBox 24"/>
          <p:cNvSpPr txBox="1"/>
          <p:nvPr/>
        </p:nvSpPr>
        <p:spPr>
          <a:xfrm>
            <a:off x="10149840" y="1298448"/>
            <a:ext cx="1737360" cy="228600"/>
          </a:xfrm>
          <a:prstGeom prst="rect">
            <a:avLst/>
          </a:prstGeom>
          <a:noFill/>
        </p:spPr>
        <p:txBody>
          <a:bodyPr wrap="square">
            <a:spAutoFit/>
          </a:bodyPr>
          <a:lstStyle/>
          <a:p>
            <a:pPr algn="ctr"/>
            <a:r>
              <a:rPr sz="800" b="0" i="0">
                <a:solidFill>
                  <a:srgbClr val="FFFFFF"/>
                </a:solidFill>
              </a:rPr>
              <a:t>NOT STARTED</a:t>
            </a:r>
          </a:p>
        </p:txBody>
      </p:sp>
      <p:sp>
        <p:nvSpPr>
          <p:cNvPr id="26" name="Rectangle 25"/>
          <p:cNvSpPr/>
          <p:nvPr/>
        </p:nvSpPr>
        <p:spPr>
          <a:xfrm>
            <a:off x="274320" y="1691640"/>
            <a:ext cx="1161288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1709928"/>
            <a:ext cx="3657600" cy="292608"/>
          </a:xfrm>
          <a:prstGeom prst="rect">
            <a:avLst/>
          </a:prstGeom>
          <a:noFill/>
        </p:spPr>
        <p:txBody>
          <a:bodyPr wrap="square">
            <a:spAutoFit/>
          </a:bodyPr>
          <a:lstStyle/>
          <a:p>
            <a:pPr algn="l"/>
            <a:r>
              <a:rPr sz="1100" b="1" i="0">
                <a:solidFill>
                  <a:srgbClr val="FFFFFF"/>
                </a:solidFill>
              </a:rPr>
              <a:t>Milestone</a:t>
            </a:r>
          </a:p>
        </p:txBody>
      </p:sp>
      <p:sp>
        <p:nvSpPr>
          <p:cNvPr id="28" name="TextBox 27"/>
          <p:cNvSpPr txBox="1"/>
          <p:nvPr/>
        </p:nvSpPr>
        <p:spPr>
          <a:xfrm>
            <a:off x="3977639" y="1709928"/>
            <a:ext cx="2011680" cy="292608"/>
          </a:xfrm>
          <a:prstGeom prst="rect">
            <a:avLst/>
          </a:prstGeom>
          <a:noFill/>
        </p:spPr>
        <p:txBody>
          <a:bodyPr wrap="square">
            <a:spAutoFit/>
          </a:bodyPr>
          <a:lstStyle/>
          <a:p>
            <a:pPr algn="l"/>
            <a:r>
              <a:rPr sz="1100" b="1" i="0">
                <a:solidFill>
                  <a:srgbClr val="FFFFFF"/>
                </a:solidFill>
              </a:rPr>
              <a:t>Contract Date</a:t>
            </a:r>
          </a:p>
        </p:txBody>
      </p:sp>
      <p:sp>
        <p:nvSpPr>
          <p:cNvPr id="29" name="TextBox 28"/>
          <p:cNvSpPr txBox="1"/>
          <p:nvPr/>
        </p:nvSpPr>
        <p:spPr>
          <a:xfrm>
            <a:off x="5989320" y="1709928"/>
            <a:ext cx="1828800" cy="292608"/>
          </a:xfrm>
          <a:prstGeom prst="rect">
            <a:avLst/>
          </a:prstGeom>
          <a:noFill/>
        </p:spPr>
        <p:txBody>
          <a:bodyPr wrap="square">
            <a:spAutoFit/>
          </a:bodyPr>
          <a:lstStyle/>
          <a:p>
            <a:pPr algn="l"/>
            <a:r>
              <a:rPr sz="1100" b="1" i="0">
                <a:solidFill>
                  <a:srgbClr val="FFFFFF"/>
                </a:solidFill>
              </a:rPr>
              <a:t>Status</a:t>
            </a:r>
          </a:p>
        </p:txBody>
      </p:sp>
      <p:sp>
        <p:nvSpPr>
          <p:cNvPr id="30" name="TextBox 29"/>
          <p:cNvSpPr txBox="1"/>
          <p:nvPr/>
        </p:nvSpPr>
        <p:spPr>
          <a:xfrm>
            <a:off x="7818120" y="1709928"/>
            <a:ext cx="4114800" cy="292608"/>
          </a:xfrm>
          <a:prstGeom prst="rect">
            <a:avLst/>
          </a:prstGeom>
          <a:noFill/>
        </p:spPr>
        <p:txBody>
          <a:bodyPr wrap="square">
            <a:spAutoFit/>
          </a:bodyPr>
          <a:lstStyle/>
          <a:p>
            <a:pPr algn="l"/>
            <a:r>
              <a:rPr sz="1100" b="1" i="0">
                <a:solidFill>
                  <a:srgbClr val="FFFFFF"/>
                </a:solidFill>
              </a:rPr>
              <a:t>Notes</a:t>
            </a:r>
          </a:p>
        </p:txBody>
      </p:sp>
      <p:sp>
        <p:nvSpPr>
          <p:cNvPr id="31" name="Rectangle 30"/>
          <p:cNvSpPr/>
          <p:nvPr/>
        </p:nvSpPr>
        <p:spPr>
          <a:xfrm>
            <a:off x="274320" y="2103120"/>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274320" y="2761487"/>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274320" y="3419856"/>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2907792"/>
            <a:ext cx="3566160" cy="530352"/>
          </a:xfrm>
          <a:prstGeom prst="rect">
            <a:avLst/>
          </a:prstGeom>
          <a:noFill/>
        </p:spPr>
        <p:txBody>
          <a:bodyPr wrap="square">
            <a:spAutoFit/>
          </a:bodyPr>
          <a:lstStyle/>
          <a:p>
            <a:pPr algn="l"/>
            <a:r>
              <a:rPr sz="1000" b="0" i="0" dirty="0">
                <a:solidFill>
                  <a:srgbClr val="404040"/>
                </a:solidFill>
              </a:rPr>
              <a:t>Substation Site Surveys (Phase 2)</a:t>
            </a:r>
          </a:p>
        </p:txBody>
      </p:sp>
      <p:sp>
        <p:nvSpPr>
          <p:cNvPr id="43" name="TextBox 42"/>
          <p:cNvSpPr txBox="1"/>
          <p:nvPr/>
        </p:nvSpPr>
        <p:spPr>
          <a:xfrm>
            <a:off x="3931919" y="2907792"/>
            <a:ext cx="1920240" cy="530352"/>
          </a:xfrm>
          <a:prstGeom prst="rect">
            <a:avLst/>
          </a:prstGeom>
          <a:noFill/>
        </p:spPr>
        <p:txBody>
          <a:bodyPr wrap="square">
            <a:spAutoFit/>
          </a:bodyPr>
          <a:lstStyle/>
          <a:p>
            <a:pPr algn="l"/>
            <a:r>
              <a:rPr sz="1000" b="0" i="0">
                <a:solidFill>
                  <a:srgbClr val="404040"/>
                </a:solidFill>
              </a:rPr>
              <a:t>2/27/2026</a:t>
            </a:r>
          </a:p>
        </p:txBody>
      </p:sp>
      <p:sp>
        <p:nvSpPr>
          <p:cNvPr id="44" name="TextBox 43"/>
          <p:cNvSpPr txBox="1"/>
          <p:nvPr/>
        </p:nvSpPr>
        <p:spPr>
          <a:xfrm>
            <a:off x="5943600" y="2907792"/>
            <a:ext cx="1737360" cy="530352"/>
          </a:xfrm>
          <a:prstGeom prst="rect">
            <a:avLst/>
          </a:prstGeom>
          <a:noFill/>
        </p:spPr>
        <p:txBody>
          <a:bodyPr wrap="square">
            <a:spAutoFit/>
          </a:bodyPr>
          <a:lstStyle/>
          <a:p>
            <a:pPr algn="l"/>
            <a:r>
              <a:rPr sz="1000" b="0" i="0" dirty="0">
                <a:solidFill>
                  <a:srgbClr val="008000"/>
                </a:solidFill>
              </a:rPr>
              <a:t>✅ Complete</a:t>
            </a:r>
          </a:p>
        </p:txBody>
      </p:sp>
      <p:sp>
        <p:nvSpPr>
          <p:cNvPr id="45" name="TextBox 44"/>
          <p:cNvSpPr txBox="1"/>
          <p:nvPr/>
        </p:nvSpPr>
        <p:spPr>
          <a:xfrm>
            <a:off x="7772400" y="2907792"/>
            <a:ext cx="4023360" cy="530352"/>
          </a:xfrm>
          <a:prstGeom prst="rect">
            <a:avLst/>
          </a:prstGeom>
          <a:noFill/>
        </p:spPr>
        <p:txBody>
          <a:bodyPr wrap="square">
            <a:spAutoFit/>
          </a:bodyPr>
          <a:lstStyle/>
          <a:p>
            <a:pPr algn="l"/>
            <a:r>
              <a:rPr sz="1000" b="0" i="0">
                <a:solidFill>
                  <a:srgbClr val="404040"/>
                </a:solidFill>
              </a:rPr>
              <a:t>Completed during Phase 1 — ahead of schedule</a:t>
            </a:r>
          </a:p>
        </p:txBody>
      </p:sp>
      <p:sp>
        <p:nvSpPr>
          <p:cNvPr id="46" name="Rectangle 45"/>
          <p:cNvSpPr/>
          <p:nvPr/>
        </p:nvSpPr>
        <p:spPr>
          <a:xfrm>
            <a:off x="274320" y="4078224"/>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320" y="3566161"/>
            <a:ext cx="3566160" cy="530352"/>
          </a:xfrm>
          <a:prstGeom prst="rect">
            <a:avLst/>
          </a:prstGeom>
          <a:noFill/>
        </p:spPr>
        <p:txBody>
          <a:bodyPr wrap="square">
            <a:spAutoFit/>
          </a:bodyPr>
          <a:lstStyle/>
          <a:p>
            <a:pPr algn="l"/>
            <a:r>
              <a:rPr sz="1000" b="0" i="0" dirty="0">
                <a:solidFill>
                  <a:srgbClr val="404040"/>
                </a:solidFill>
              </a:rPr>
              <a:t>MPLS Network Node Design — IFR</a:t>
            </a:r>
          </a:p>
        </p:txBody>
      </p:sp>
      <p:sp>
        <p:nvSpPr>
          <p:cNvPr id="48" name="TextBox 47"/>
          <p:cNvSpPr txBox="1"/>
          <p:nvPr/>
        </p:nvSpPr>
        <p:spPr>
          <a:xfrm>
            <a:off x="3931919" y="3566161"/>
            <a:ext cx="1920240" cy="530352"/>
          </a:xfrm>
          <a:prstGeom prst="rect">
            <a:avLst/>
          </a:prstGeom>
          <a:noFill/>
        </p:spPr>
        <p:txBody>
          <a:bodyPr wrap="square">
            <a:spAutoFit/>
          </a:bodyPr>
          <a:lstStyle/>
          <a:p>
            <a:pPr algn="l"/>
            <a:r>
              <a:rPr sz="1000" b="0" i="0">
                <a:solidFill>
                  <a:srgbClr val="404040"/>
                </a:solidFill>
              </a:rPr>
              <a:t>Wave 1: 2/23/26</a:t>
            </a:r>
          </a:p>
        </p:txBody>
      </p:sp>
      <p:sp>
        <p:nvSpPr>
          <p:cNvPr id="49" name="TextBox 48"/>
          <p:cNvSpPr txBox="1"/>
          <p:nvPr/>
        </p:nvSpPr>
        <p:spPr>
          <a:xfrm>
            <a:off x="5943600" y="3566161"/>
            <a:ext cx="1737360" cy="530352"/>
          </a:xfrm>
          <a:prstGeom prst="rect">
            <a:avLst/>
          </a:prstGeom>
          <a:noFill/>
        </p:spPr>
        <p:txBody>
          <a:bodyPr wrap="square">
            <a:spAutoFit/>
          </a:bodyPr>
          <a:lstStyle/>
          <a:p>
            <a:pPr algn="l"/>
            <a:r>
              <a:rPr sz="1000" b="0" i="0" dirty="0">
                <a:solidFill>
                  <a:srgbClr val="FFC000"/>
                </a:solidFill>
              </a:rPr>
              <a:t>🟡 In Progress</a:t>
            </a:r>
          </a:p>
        </p:txBody>
      </p:sp>
      <p:sp>
        <p:nvSpPr>
          <p:cNvPr id="50" name="TextBox 49"/>
          <p:cNvSpPr txBox="1"/>
          <p:nvPr/>
        </p:nvSpPr>
        <p:spPr>
          <a:xfrm>
            <a:off x="7772400" y="3566161"/>
            <a:ext cx="4023360" cy="530352"/>
          </a:xfrm>
          <a:prstGeom prst="rect">
            <a:avLst/>
          </a:prstGeom>
          <a:noFill/>
        </p:spPr>
        <p:txBody>
          <a:bodyPr wrap="square">
            <a:spAutoFit/>
          </a:bodyPr>
          <a:lstStyle/>
          <a:p>
            <a:pPr algn="l"/>
            <a:r>
              <a:rPr sz="1000" b="0" i="0">
                <a:solidFill>
                  <a:srgbClr val="404040"/>
                </a:solidFill>
              </a:rPr>
              <a:t>Wave 1 (3 sites) ✅ Approved &amp; IFC uploaded. Wave 2 in progress.</a:t>
            </a:r>
          </a:p>
        </p:txBody>
      </p:sp>
      <p:sp>
        <p:nvSpPr>
          <p:cNvPr id="51" name="Rectangle 50"/>
          <p:cNvSpPr/>
          <p:nvPr/>
        </p:nvSpPr>
        <p:spPr>
          <a:xfrm>
            <a:off x="274320" y="4736592"/>
            <a:ext cx="11612880" cy="62179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4320" y="4224529"/>
            <a:ext cx="3566160" cy="530352"/>
          </a:xfrm>
          <a:prstGeom prst="rect">
            <a:avLst/>
          </a:prstGeom>
          <a:noFill/>
        </p:spPr>
        <p:txBody>
          <a:bodyPr wrap="square">
            <a:spAutoFit/>
          </a:bodyPr>
          <a:lstStyle/>
          <a:p>
            <a:pPr algn="l"/>
            <a:r>
              <a:rPr sz="1000" b="0" i="0">
                <a:solidFill>
                  <a:srgbClr val="404040"/>
                </a:solidFill>
              </a:rPr>
              <a:t>MPLS Network Node Design — IFC</a:t>
            </a:r>
          </a:p>
        </p:txBody>
      </p:sp>
      <p:sp>
        <p:nvSpPr>
          <p:cNvPr id="53" name="TextBox 52"/>
          <p:cNvSpPr txBox="1"/>
          <p:nvPr/>
        </p:nvSpPr>
        <p:spPr>
          <a:xfrm>
            <a:off x="3931919" y="4224529"/>
            <a:ext cx="1920240" cy="530352"/>
          </a:xfrm>
          <a:prstGeom prst="rect">
            <a:avLst/>
          </a:prstGeom>
          <a:noFill/>
        </p:spPr>
        <p:txBody>
          <a:bodyPr wrap="square">
            <a:spAutoFit/>
          </a:bodyPr>
          <a:lstStyle/>
          <a:p>
            <a:pPr algn="l"/>
            <a:r>
              <a:rPr sz="1000" b="0" i="0">
                <a:solidFill>
                  <a:srgbClr val="404040"/>
                </a:solidFill>
              </a:rPr>
              <a:t>Wave 1: 3/23/26</a:t>
            </a:r>
          </a:p>
        </p:txBody>
      </p:sp>
      <p:sp>
        <p:nvSpPr>
          <p:cNvPr id="55" name="TextBox 54"/>
          <p:cNvSpPr txBox="1"/>
          <p:nvPr/>
        </p:nvSpPr>
        <p:spPr>
          <a:xfrm>
            <a:off x="7772400" y="4224529"/>
            <a:ext cx="4023360" cy="530352"/>
          </a:xfrm>
          <a:prstGeom prst="rect">
            <a:avLst/>
          </a:prstGeom>
          <a:noFill/>
        </p:spPr>
        <p:txBody>
          <a:bodyPr wrap="square">
            <a:spAutoFit/>
          </a:bodyPr>
          <a:lstStyle/>
          <a:p>
            <a:pPr algn="l"/>
            <a:r>
              <a:rPr sz="1000" b="0" i="0">
                <a:solidFill>
                  <a:srgbClr val="00B050"/>
                </a:solidFill>
              </a:rPr>
              <a:t>Wave 1 IFC COMPLETE ✅ — Far Rockaway, Valley Stream, Cedarhurst uploaded to shared drive</a:t>
            </a:r>
          </a:p>
        </p:txBody>
      </p:sp>
      <p:sp>
        <p:nvSpPr>
          <p:cNvPr id="56" name="Rectangle 55"/>
          <p:cNvSpPr/>
          <p:nvPr/>
        </p:nvSpPr>
        <p:spPr>
          <a:xfrm>
            <a:off x="274320" y="5394959"/>
            <a:ext cx="1161288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320" y="4882896"/>
            <a:ext cx="3566160" cy="530352"/>
          </a:xfrm>
          <a:prstGeom prst="rect">
            <a:avLst/>
          </a:prstGeom>
          <a:noFill/>
        </p:spPr>
        <p:txBody>
          <a:bodyPr wrap="square">
            <a:spAutoFit/>
          </a:bodyPr>
          <a:lstStyle/>
          <a:p>
            <a:pPr algn="l"/>
            <a:r>
              <a:rPr sz="1000" b="0" i="0">
                <a:solidFill>
                  <a:srgbClr val="404040"/>
                </a:solidFill>
              </a:rPr>
              <a:t>Construction &amp; Installation</a:t>
            </a:r>
          </a:p>
        </p:txBody>
      </p:sp>
      <p:sp>
        <p:nvSpPr>
          <p:cNvPr id="58" name="TextBox 57"/>
          <p:cNvSpPr txBox="1"/>
          <p:nvPr/>
        </p:nvSpPr>
        <p:spPr>
          <a:xfrm>
            <a:off x="3931919" y="4882896"/>
            <a:ext cx="1920240" cy="530352"/>
          </a:xfrm>
          <a:prstGeom prst="rect">
            <a:avLst/>
          </a:prstGeom>
          <a:noFill/>
        </p:spPr>
        <p:txBody>
          <a:bodyPr wrap="square">
            <a:spAutoFit/>
          </a:bodyPr>
          <a:lstStyle/>
          <a:p>
            <a:pPr algn="l"/>
            <a:r>
              <a:rPr sz="1000" b="0" i="0">
                <a:solidFill>
                  <a:srgbClr val="404040"/>
                </a:solidFill>
              </a:rPr>
              <a:t>Aug–Dec 2026</a:t>
            </a:r>
          </a:p>
        </p:txBody>
      </p:sp>
      <p:sp>
        <p:nvSpPr>
          <p:cNvPr id="59" name="TextBox 58"/>
          <p:cNvSpPr txBox="1"/>
          <p:nvPr/>
        </p:nvSpPr>
        <p:spPr>
          <a:xfrm>
            <a:off x="5943600" y="4882896"/>
            <a:ext cx="1737360" cy="530352"/>
          </a:xfrm>
          <a:prstGeom prst="rect">
            <a:avLst/>
          </a:prstGeom>
          <a:noFill/>
        </p:spPr>
        <p:txBody>
          <a:bodyPr wrap="square">
            <a:spAutoFit/>
          </a:bodyPr>
          <a:lstStyle/>
          <a:p>
            <a:pPr algn="l"/>
            <a:r>
              <a:rPr sz="1000" b="0" i="0">
                <a:solidFill>
                  <a:srgbClr val="404040"/>
                </a:solidFill>
              </a:rPr>
              <a:t>⏳ Not Started</a:t>
            </a:r>
          </a:p>
        </p:txBody>
      </p:sp>
      <p:sp>
        <p:nvSpPr>
          <p:cNvPr id="60" name="TextBox 59"/>
          <p:cNvSpPr txBox="1"/>
          <p:nvPr/>
        </p:nvSpPr>
        <p:spPr>
          <a:xfrm>
            <a:off x="7772400" y="4882896"/>
            <a:ext cx="4023360" cy="530352"/>
          </a:xfrm>
          <a:prstGeom prst="rect">
            <a:avLst/>
          </a:prstGeom>
          <a:noFill/>
        </p:spPr>
        <p:txBody>
          <a:bodyPr wrap="square">
            <a:spAutoFit/>
          </a:bodyPr>
          <a:lstStyle/>
          <a:p>
            <a:pPr algn="l"/>
            <a:r>
              <a:rPr sz="1000" b="0" i="0">
                <a:solidFill>
                  <a:srgbClr val="404040"/>
                </a:solidFill>
              </a:rPr>
              <a:t>Pending IFC completion</a:t>
            </a:r>
          </a:p>
        </p:txBody>
      </p:sp>
      <p:sp>
        <p:nvSpPr>
          <p:cNvPr id="61" name="TextBox 60">
            <a:extLst>
              <a:ext uri="{FF2B5EF4-FFF2-40B4-BE49-F238E27FC236}">
                <a16:creationId xmlns:a16="http://schemas.microsoft.com/office/drawing/2014/main" id="{2263C558-1343-251C-9BD8-E1E433828654}"/>
              </a:ext>
            </a:extLst>
          </p:cNvPr>
          <p:cNvSpPr txBox="1"/>
          <p:nvPr/>
        </p:nvSpPr>
        <p:spPr>
          <a:xfrm>
            <a:off x="320040" y="2258568"/>
            <a:ext cx="3566160" cy="400110"/>
          </a:xfrm>
          <a:prstGeom prst="rect">
            <a:avLst/>
          </a:prstGeom>
          <a:noFill/>
        </p:spPr>
        <p:txBody>
          <a:bodyPr wrap="square">
            <a:spAutoFit/>
          </a:bodyPr>
          <a:lstStyle/>
          <a:p>
            <a:r>
              <a:rPr lang="en-US" sz="1000" dirty="0">
                <a:solidFill>
                  <a:srgbClr val="404040"/>
                </a:solidFill>
              </a:rPr>
              <a:t>Nokia equipment for Phase 2 has been delivered – Work Completed - 2/19/2026</a:t>
            </a:r>
          </a:p>
        </p:txBody>
      </p:sp>
      <p:sp>
        <p:nvSpPr>
          <p:cNvPr id="63" name="TextBox 62">
            <a:extLst>
              <a:ext uri="{FF2B5EF4-FFF2-40B4-BE49-F238E27FC236}">
                <a16:creationId xmlns:a16="http://schemas.microsoft.com/office/drawing/2014/main" id="{BB8BC7D2-0DD4-D28C-B992-202E71C28A13}"/>
              </a:ext>
            </a:extLst>
          </p:cNvPr>
          <p:cNvSpPr txBox="1"/>
          <p:nvPr/>
        </p:nvSpPr>
        <p:spPr>
          <a:xfrm>
            <a:off x="3886200" y="2231801"/>
            <a:ext cx="931057" cy="246221"/>
          </a:xfrm>
          <a:prstGeom prst="rect">
            <a:avLst/>
          </a:prstGeom>
          <a:noFill/>
        </p:spPr>
        <p:txBody>
          <a:bodyPr wrap="square">
            <a:spAutoFit/>
          </a:bodyPr>
          <a:lstStyle/>
          <a:p>
            <a:r>
              <a:rPr lang="en-US" sz="1000" dirty="0">
                <a:solidFill>
                  <a:srgbClr val="404040"/>
                </a:solidFill>
              </a:rPr>
              <a:t> 2/19/2026</a:t>
            </a:r>
          </a:p>
        </p:txBody>
      </p:sp>
      <p:sp>
        <p:nvSpPr>
          <p:cNvPr id="65" name="TextBox 64">
            <a:extLst>
              <a:ext uri="{FF2B5EF4-FFF2-40B4-BE49-F238E27FC236}">
                <a16:creationId xmlns:a16="http://schemas.microsoft.com/office/drawing/2014/main" id="{9D76885D-1CCF-5D63-AB03-03E827C7C174}"/>
              </a:ext>
            </a:extLst>
          </p:cNvPr>
          <p:cNvSpPr txBox="1"/>
          <p:nvPr/>
        </p:nvSpPr>
        <p:spPr>
          <a:xfrm>
            <a:off x="5943600" y="2231135"/>
            <a:ext cx="1737360" cy="530352"/>
          </a:xfrm>
          <a:prstGeom prst="rect">
            <a:avLst/>
          </a:prstGeom>
          <a:noFill/>
        </p:spPr>
        <p:txBody>
          <a:bodyPr wrap="square">
            <a:spAutoFit/>
          </a:bodyPr>
          <a:lstStyle/>
          <a:p>
            <a:pPr algn="l"/>
            <a:r>
              <a:rPr sz="1000" b="0" i="0" dirty="0">
                <a:solidFill>
                  <a:srgbClr val="008000"/>
                </a:solidFill>
              </a:rPr>
              <a:t>✅ Complete</a:t>
            </a:r>
          </a:p>
        </p:txBody>
      </p:sp>
      <p:sp>
        <p:nvSpPr>
          <p:cNvPr id="66" name="TextBox 65">
            <a:extLst>
              <a:ext uri="{FF2B5EF4-FFF2-40B4-BE49-F238E27FC236}">
                <a16:creationId xmlns:a16="http://schemas.microsoft.com/office/drawing/2014/main" id="{DB240B93-4719-2197-34B9-A76497E1B436}"/>
              </a:ext>
            </a:extLst>
          </p:cNvPr>
          <p:cNvSpPr txBox="1"/>
          <p:nvPr/>
        </p:nvSpPr>
        <p:spPr>
          <a:xfrm>
            <a:off x="5943600" y="4251959"/>
            <a:ext cx="1737360" cy="530352"/>
          </a:xfrm>
          <a:prstGeom prst="rect">
            <a:avLst/>
          </a:prstGeom>
          <a:noFill/>
        </p:spPr>
        <p:txBody>
          <a:bodyPr wrap="square">
            <a:spAutoFit/>
          </a:bodyPr>
          <a:lstStyle/>
          <a:p>
            <a:pPr algn="l"/>
            <a:r>
              <a:rPr sz="1000" b="0" i="0" dirty="0">
                <a:solidFill>
                  <a:srgbClr val="FFC000"/>
                </a:solidFill>
              </a:rPr>
              <a:t>🟡 In Progress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Schedule Status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Overall: 🟡 Yellow | Recovery Plan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304800" y="982777"/>
            <a:ext cx="530352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005840"/>
            <a:ext cx="612648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2880360"/>
            <a:ext cx="4937760" cy="320040"/>
          </a:xfrm>
          <a:prstGeom prst="rect">
            <a:avLst/>
          </a:prstGeom>
          <a:noFill/>
        </p:spPr>
        <p:txBody>
          <a:bodyPr wrap="square">
            <a:spAutoFit/>
          </a:bodyPr>
          <a:lstStyle/>
          <a:p>
            <a:pPr algn="l"/>
            <a:r>
              <a:rPr sz="1200" b="1" i="0">
                <a:solidFill>
                  <a:srgbClr val="404040"/>
                </a:solidFill>
              </a:rPr>
              <a:t>Root Causes:</a:t>
            </a:r>
          </a:p>
        </p:txBody>
      </p:sp>
      <p:sp>
        <p:nvSpPr>
          <p:cNvPr id="15" name="TextBox 14"/>
          <p:cNvSpPr txBox="1"/>
          <p:nvPr/>
        </p:nvSpPr>
        <p:spPr>
          <a:xfrm>
            <a:off x="457200" y="3246120"/>
            <a:ext cx="4937760" cy="384048"/>
          </a:xfrm>
          <a:prstGeom prst="rect">
            <a:avLst/>
          </a:prstGeom>
          <a:noFill/>
        </p:spPr>
        <p:txBody>
          <a:bodyPr wrap="square">
            <a:spAutoFit/>
          </a:bodyPr>
          <a:lstStyle/>
          <a:p>
            <a:pPr algn="l"/>
            <a:r>
              <a:rPr sz="1000" b="0" i="0">
                <a:solidFill>
                  <a:srgbClr val="404040"/>
                </a:solidFill>
              </a:rPr>
              <a:t>• SSP documentation delays (security review queue)</a:t>
            </a:r>
          </a:p>
        </p:txBody>
      </p:sp>
      <p:sp>
        <p:nvSpPr>
          <p:cNvPr id="16" name="TextBox 15"/>
          <p:cNvSpPr txBox="1"/>
          <p:nvPr/>
        </p:nvSpPr>
        <p:spPr>
          <a:xfrm>
            <a:off x="457200" y="3657600"/>
            <a:ext cx="4937760" cy="384048"/>
          </a:xfrm>
          <a:prstGeom prst="rect">
            <a:avLst/>
          </a:prstGeom>
          <a:noFill/>
        </p:spPr>
        <p:txBody>
          <a:bodyPr wrap="square">
            <a:spAutoFit/>
          </a:bodyPr>
          <a:lstStyle/>
          <a:p>
            <a:pPr algn="l"/>
            <a:r>
              <a:rPr sz="1000" b="0" i="0">
                <a:solidFill>
                  <a:srgbClr val="404040"/>
                </a:solidFill>
              </a:rPr>
              <a:t>• CMDB update coordination time</a:t>
            </a:r>
          </a:p>
        </p:txBody>
      </p:sp>
      <p:sp>
        <p:nvSpPr>
          <p:cNvPr id="17" name="TextBox 16"/>
          <p:cNvSpPr txBox="1"/>
          <p:nvPr/>
        </p:nvSpPr>
        <p:spPr>
          <a:xfrm>
            <a:off x="457200" y="4069080"/>
            <a:ext cx="4937760" cy="384048"/>
          </a:xfrm>
          <a:prstGeom prst="rect">
            <a:avLst/>
          </a:prstGeom>
          <a:noFill/>
        </p:spPr>
        <p:txBody>
          <a:bodyPr wrap="square">
            <a:spAutoFit/>
          </a:bodyPr>
          <a:lstStyle/>
          <a:p>
            <a:pPr algn="l"/>
            <a:r>
              <a:rPr sz="1000" b="0" i="0">
                <a:solidFill>
                  <a:srgbClr val="404040"/>
                </a:solidFill>
              </a:rPr>
              <a:t>• Inclement weather affecting field work</a:t>
            </a:r>
          </a:p>
        </p:txBody>
      </p:sp>
      <p:sp>
        <p:nvSpPr>
          <p:cNvPr id="18" name="TextBox 17"/>
          <p:cNvSpPr txBox="1"/>
          <p:nvPr/>
        </p:nvSpPr>
        <p:spPr>
          <a:xfrm>
            <a:off x="457200" y="4480560"/>
            <a:ext cx="4937760" cy="384048"/>
          </a:xfrm>
          <a:prstGeom prst="rect">
            <a:avLst/>
          </a:prstGeom>
          <a:noFill/>
        </p:spPr>
        <p:txBody>
          <a:bodyPr wrap="square">
            <a:spAutoFit/>
          </a:bodyPr>
          <a:lstStyle/>
          <a:p>
            <a:pPr algn="l"/>
            <a:r>
              <a:rPr sz="1000" b="0" i="0">
                <a:solidFill>
                  <a:srgbClr val="404040"/>
                </a:solidFill>
              </a:rPr>
              <a:t>• Crown Castle fiber issue at Hicksville (OTDR testing pending)</a:t>
            </a:r>
          </a:p>
        </p:txBody>
      </p:sp>
      <p:sp>
        <p:nvSpPr>
          <p:cNvPr id="19" name="TextBox 18"/>
          <p:cNvSpPr txBox="1"/>
          <p:nvPr/>
        </p:nvSpPr>
        <p:spPr>
          <a:xfrm>
            <a:off x="457200" y="5074920"/>
            <a:ext cx="4937760" cy="320040"/>
          </a:xfrm>
          <a:prstGeom prst="rect">
            <a:avLst/>
          </a:prstGeom>
          <a:noFill/>
        </p:spPr>
        <p:txBody>
          <a:bodyPr wrap="square">
            <a:spAutoFit/>
          </a:bodyPr>
          <a:lstStyle/>
          <a:p>
            <a:pPr algn="l"/>
            <a:r>
              <a:rPr sz="1200" b="1" i="0" dirty="0">
                <a:solidFill>
                  <a:srgbClr val="003387"/>
                </a:solidFill>
              </a:rPr>
              <a:t>Recovery Actions:</a:t>
            </a:r>
          </a:p>
        </p:txBody>
      </p:sp>
      <p:sp>
        <p:nvSpPr>
          <p:cNvPr id="20" name="TextBox 19"/>
          <p:cNvSpPr txBox="1"/>
          <p:nvPr/>
        </p:nvSpPr>
        <p:spPr>
          <a:xfrm>
            <a:off x="274320" y="5324729"/>
            <a:ext cx="4937760" cy="707886"/>
          </a:xfrm>
          <a:prstGeom prst="rect">
            <a:avLst/>
          </a:prstGeom>
          <a:noFill/>
        </p:spPr>
        <p:txBody>
          <a:bodyPr wrap="square">
            <a:spAutoFit/>
          </a:bodyPr>
          <a:lstStyle/>
          <a:p>
            <a:pPr marL="171450" indent="-171450" algn="l">
              <a:buFont typeface="Arial" panose="020B0604020202020204" pitchFamily="34" charset="0"/>
              <a:buChar char="•"/>
            </a:pPr>
            <a:r>
              <a:rPr lang="en-US" sz="800" b="0" i="0" dirty="0">
                <a:solidFill>
                  <a:srgbClr val="404040"/>
                </a:solidFill>
              </a:rPr>
              <a:t>BGP design approved 3/16 ✅ → Change docs in progress → NSP install (critical path, Nokia) → Remote BGP config all 31 sites → Phase 1 close Jun 2026</a:t>
            </a:r>
          </a:p>
          <a:p>
            <a:pPr marL="171450" indent="-171450" algn="l">
              <a:buFont typeface="Arial" panose="020B0604020202020204" pitchFamily="34" charset="0"/>
              <a:buChar char="•"/>
            </a:pPr>
            <a:r>
              <a:rPr sz="1000" b="0" i="0" dirty="0">
                <a:solidFill>
                  <a:srgbClr val="404040"/>
                </a:solidFill>
              </a:rPr>
              <a:t>All approvals received. Remaining Phase 1 close-out is remote configuration — no physical site access needed. </a:t>
            </a:r>
            <a:endParaRPr lang="en-US" sz="1000" b="0" i="0" dirty="0">
              <a:solidFill>
                <a:srgbClr val="404040"/>
              </a:solidFill>
            </a:endParaRPr>
          </a:p>
          <a:p>
            <a:pPr marL="171450" indent="-171450" algn="l">
              <a:buFont typeface="Arial" panose="020B0604020202020204" pitchFamily="34" charset="0"/>
              <a:buChar char="•"/>
            </a:pPr>
            <a:r>
              <a:rPr sz="1000" b="0" i="0" dirty="0">
                <a:solidFill>
                  <a:srgbClr val="404040"/>
                </a:solidFill>
              </a:rPr>
              <a:t>Phase 2 IFR/IFC design on track.</a:t>
            </a:r>
          </a:p>
        </p:txBody>
      </p:sp>
      <p:sp>
        <p:nvSpPr>
          <p:cNvPr id="21" name="Rectangle 20"/>
          <p:cNvSpPr/>
          <p:nvPr/>
        </p:nvSpPr>
        <p:spPr>
          <a:xfrm>
            <a:off x="5760720" y="1005840"/>
            <a:ext cx="6126480" cy="41148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60" y="1033271"/>
            <a:ext cx="5943600" cy="347472"/>
          </a:xfrm>
          <a:prstGeom prst="rect">
            <a:avLst/>
          </a:prstGeom>
          <a:noFill/>
        </p:spPr>
        <p:txBody>
          <a:bodyPr wrap="square">
            <a:spAutoFit/>
          </a:bodyPr>
          <a:lstStyle/>
          <a:p>
            <a:pPr algn="l"/>
            <a:r>
              <a:rPr sz="1100" b="1" i="0">
                <a:solidFill>
                  <a:srgbClr val="FFFFFF"/>
                </a:solidFill>
              </a:rPr>
              <a:t>PROGRAM TIMELINE</a:t>
            </a:r>
          </a:p>
        </p:txBody>
      </p:sp>
      <p:sp>
        <p:nvSpPr>
          <p:cNvPr id="24" name="TextBox 23"/>
          <p:cNvSpPr txBox="1"/>
          <p:nvPr/>
        </p:nvSpPr>
        <p:spPr>
          <a:xfrm>
            <a:off x="6080760" y="1490472"/>
            <a:ext cx="5669280" cy="347472"/>
          </a:xfrm>
          <a:prstGeom prst="rect">
            <a:avLst/>
          </a:prstGeom>
          <a:noFill/>
        </p:spPr>
        <p:txBody>
          <a:bodyPr wrap="square">
            <a:spAutoFit/>
          </a:bodyPr>
          <a:lstStyle/>
          <a:p>
            <a:pPr algn="l"/>
            <a:r>
              <a:rPr sz="1000" b="0" i="0">
                <a:solidFill>
                  <a:srgbClr val="404040"/>
                </a:solidFill>
              </a:rPr>
              <a:t>Apr 2024  —  Project Start</a:t>
            </a:r>
          </a:p>
        </p:txBody>
      </p:sp>
      <p:sp>
        <p:nvSpPr>
          <p:cNvPr id="26" name="TextBox 25"/>
          <p:cNvSpPr txBox="1"/>
          <p:nvPr/>
        </p:nvSpPr>
        <p:spPr>
          <a:xfrm>
            <a:off x="6080760" y="1947672"/>
            <a:ext cx="5669280" cy="347472"/>
          </a:xfrm>
          <a:prstGeom prst="rect">
            <a:avLst/>
          </a:prstGeom>
          <a:noFill/>
        </p:spPr>
        <p:txBody>
          <a:bodyPr wrap="square">
            <a:spAutoFit/>
          </a:bodyPr>
          <a:lstStyle/>
          <a:p>
            <a:pPr algn="l"/>
            <a:r>
              <a:rPr sz="1000" b="0" i="0">
                <a:solidFill>
                  <a:srgbClr val="404040"/>
                </a:solidFill>
              </a:rPr>
              <a:t>Oct 2024  —  RFP Award &amp; SOW Executed</a:t>
            </a:r>
          </a:p>
        </p:txBody>
      </p:sp>
      <p:sp>
        <p:nvSpPr>
          <p:cNvPr id="28" name="TextBox 27"/>
          <p:cNvSpPr txBox="1"/>
          <p:nvPr/>
        </p:nvSpPr>
        <p:spPr>
          <a:xfrm>
            <a:off x="6080760" y="2404872"/>
            <a:ext cx="5669280" cy="347472"/>
          </a:xfrm>
          <a:prstGeom prst="rect">
            <a:avLst/>
          </a:prstGeom>
          <a:noFill/>
        </p:spPr>
        <p:txBody>
          <a:bodyPr wrap="square">
            <a:spAutoFit/>
          </a:bodyPr>
          <a:lstStyle/>
          <a:p>
            <a:pPr algn="l"/>
            <a:r>
              <a:rPr sz="1000" b="0" i="0">
                <a:solidFill>
                  <a:srgbClr val="404040"/>
                </a:solidFill>
              </a:rPr>
              <a:t>Jan 2025  —  Phase 1 Detailed Design Start</a:t>
            </a:r>
          </a:p>
        </p:txBody>
      </p:sp>
      <p:sp>
        <p:nvSpPr>
          <p:cNvPr id="30" name="TextBox 29"/>
          <p:cNvSpPr txBox="1"/>
          <p:nvPr/>
        </p:nvSpPr>
        <p:spPr>
          <a:xfrm>
            <a:off x="6080760" y="2862072"/>
            <a:ext cx="5669280" cy="347472"/>
          </a:xfrm>
          <a:prstGeom prst="rect">
            <a:avLst/>
          </a:prstGeom>
          <a:noFill/>
        </p:spPr>
        <p:txBody>
          <a:bodyPr wrap="square">
            <a:spAutoFit/>
          </a:bodyPr>
          <a:lstStyle/>
          <a:p>
            <a:pPr algn="l"/>
            <a:r>
              <a:rPr sz="1000" b="0" i="0">
                <a:solidFill>
                  <a:srgbClr val="404040"/>
                </a:solidFill>
              </a:rPr>
              <a:t>Sep 2025  —  Staging Complete (Hawkeye)</a:t>
            </a:r>
          </a:p>
        </p:txBody>
      </p:sp>
      <p:sp>
        <p:nvSpPr>
          <p:cNvPr id="32" name="TextBox 31"/>
          <p:cNvSpPr txBox="1"/>
          <p:nvPr/>
        </p:nvSpPr>
        <p:spPr>
          <a:xfrm>
            <a:off x="6080760" y="3319272"/>
            <a:ext cx="5669280" cy="347472"/>
          </a:xfrm>
          <a:prstGeom prst="rect">
            <a:avLst/>
          </a:prstGeom>
          <a:noFill/>
        </p:spPr>
        <p:txBody>
          <a:bodyPr wrap="square">
            <a:spAutoFit/>
          </a:bodyPr>
          <a:lstStyle/>
          <a:p>
            <a:pPr algn="l"/>
            <a:r>
              <a:rPr sz="1000" b="0" i="0">
                <a:solidFill>
                  <a:srgbClr val="404040"/>
                </a:solidFill>
              </a:rPr>
              <a:t>Oct 2025  —  Phase 1 Construction Start</a:t>
            </a:r>
          </a:p>
        </p:txBody>
      </p:sp>
      <p:sp>
        <p:nvSpPr>
          <p:cNvPr id="34" name="TextBox 33"/>
          <p:cNvSpPr txBox="1"/>
          <p:nvPr/>
        </p:nvSpPr>
        <p:spPr>
          <a:xfrm>
            <a:off x="6080760" y="3776472"/>
            <a:ext cx="5669280" cy="347472"/>
          </a:xfrm>
          <a:prstGeom prst="rect">
            <a:avLst/>
          </a:prstGeom>
          <a:noFill/>
        </p:spPr>
        <p:txBody>
          <a:bodyPr wrap="square">
            <a:spAutoFit/>
          </a:bodyPr>
          <a:lstStyle/>
          <a:p>
            <a:pPr algn="l"/>
            <a:r>
              <a:rPr sz="1000" b="0" i="0" dirty="0">
                <a:solidFill>
                  <a:srgbClr val="404040"/>
                </a:solidFill>
              </a:rPr>
              <a:t>Dec 2025 – Jan 2026  —  Wave 1 &amp; 2 Cutovers Complete</a:t>
            </a:r>
          </a:p>
        </p:txBody>
      </p:sp>
      <p:sp>
        <p:nvSpPr>
          <p:cNvPr id="36" name="TextBox 35"/>
          <p:cNvSpPr txBox="1"/>
          <p:nvPr/>
        </p:nvSpPr>
        <p:spPr>
          <a:xfrm>
            <a:off x="6080760" y="4233672"/>
            <a:ext cx="5669280" cy="347472"/>
          </a:xfrm>
          <a:prstGeom prst="rect">
            <a:avLst/>
          </a:prstGeom>
          <a:noFill/>
        </p:spPr>
        <p:txBody>
          <a:bodyPr wrap="square">
            <a:spAutoFit/>
          </a:bodyPr>
          <a:lstStyle/>
          <a:p>
            <a:pPr algn="l"/>
            <a:r>
              <a:rPr sz="1000" b="0" i="0" dirty="0">
                <a:solidFill>
                  <a:srgbClr val="404040"/>
                </a:solidFill>
              </a:rPr>
              <a:t>Feb 2026  —  Nokia Phase 2 Equipment Delivered</a:t>
            </a:r>
          </a:p>
        </p:txBody>
      </p:sp>
      <p:sp>
        <p:nvSpPr>
          <p:cNvPr id="37" name="Rectangle 36"/>
          <p:cNvSpPr/>
          <p:nvPr/>
        </p:nvSpPr>
        <p:spPr>
          <a:xfrm>
            <a:off x="5806440" y="4709160"/>
            <a:ext cx="182880" cy="25603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080760" y="4690872"/>
            <a:ext cx="5669280" cy="347472"/>
          </a:xfrm>
          <a:prstGeom prst="rect">
            <a:avLst/>
          </a:prstGeom>
          <a:noFill/>
        </p:spPr>
        <p:txBody>
          <a:bodyPr wrap="square">
            <a:spAutoFit/>
          </a:bodyPr>
          <a:lstStyle/>
          <a:p>
            <a:pPr algn="l"/>
            <a:r>
              <a:rPr sz="1000" b="1" i="0" dirty="0">
                <a:solidFill>
                  <a:srgbClr val="F7941D"/>
                </a:solidFill>
              </a:rPr>
              <a:t>Mar 2026  —  Phase 2 IFR Design in Progress  ◀ NOW</a:t>
            </a:r>
          </a:p>
        </p:txBody>
      </p:sp>
      <p:sp>
        <p:nvSpPr>
          <p:cNvPr id="39" name="Rectangle 38"/>
          <p:cNvSpPr/>
          <p:nvPr/>
        </p:nvSpPr>
        <p:spPr>
          <a:xfrm>
            <a:off x="5806440" y="51663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080760" y="5148072"/>
            <a:ext cx="5669280" cy="347472"/>
          </a:xfrm>
          <a:prstGeom prst="rect">
            <a:avLst/>
          </a:prstGeom>
          <a:noFill/>
        </p:spPr>
        <p:txBody>
          <a:bodyPr wrap="square">
            <a:spAutoFit/>
          </a:bodyPr>
          <a:lstStyle/>
          <a:p>
            <a:pPr algn="l"/>
            <a:r>
              <a:rPr sz="1000" b="1" i="0">
                <a:solidFill>
                  <a:srgbClr val="404040"/>
                </a:solidFill>
              </a:rPr>
              <a:t>Mar–Jul 2026  —  Phase 2 IFC Design &amp; Review</a:t>
            </a:r>
          </a:p>
        </p:txBody>
      </p:sp>
      <p:sp>
        <p:nvSpPr>
          <p:cNvPr id="41" name="Rectangle 40"/>
          <p:cNvSpPr/>
          <p:nvPr/>
        </p:nvSpPr>
        <p:spPr>
          <a:xfrm>
            <a:off x="5806440" y="56235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080760" y="5605272"/>
            <a:ext cx="5669280" cy="347472"/>
          </a:xfrm>
          <a:prstGeom prst="rect">
            <a:avLst/>
          </a:prstGeom>
          <a:noFill/>
        </p:spPr>
        <p:txBody>
          <a:bodyPr wrap="square">
            <a:spAutoFit/>
          </a:bodyPr>
          <a:lstStyle/>
          <a:p>
            <a:pPr algn="l"/>
            <a:r>
              <a:rPr sz="1000" b="1" i="0">
                <a:solidFill>
                  <a:srgbClr val="404040"/>
                </a:solidFill>
              </a:rPr>
              <a:t>Aug–Dec 2026  —  Phase 2 Construction</a:t>
            </a:r>
          </a:p>
        </p:txBody>
      </p:sp>
      <p:sp>
        <p:nvSpPr>
          <p:cNvPr id="43" name="Rectangle 42"/>
          <p:cNvSpPr/>
          <p:nvPr/>
        </p:nvSpPr>
        <p:spPr>
          <a:xfrm>
            <a:off x="5806440" y="6080760"/>
            <a:ext cx="182880" cy="25603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80760" y="6062472"/>
            <a:ext cx="5669280" cy="347472"/>
          </a:xfrm>
          <a:prstGeom prst="rect">
            <a:avLst/>
          </a:prstGeom>
          <a:noFill/>
        </p:spPr>
        <p:txBody>
          <a:bodyPr wrap="square">
            <a:spAutoFit/>
          </a:bodyPr>
          <a:lstStyle/>
          <a:p>
            <a:pPr algn="l"/>
            <a:r>
              <a:rPr sz="1000" b="1" i="0">
                <a:solidFill>
                  <a:srgbClr val="404040"/>
                </a:solidFill>
              </a:rPr>
              <a:t>Jul 2027  —  Program Completion (Target)</a:t>
            </a:r>
          </a:p>
        </p:txBody>
      </p:sp>
      <p:sp>
        <p:nvSpPr>
          <p:cNvPr id="45" name="Rectangle 44"/>
          <p:cNvSpPr/>
          <p:nvPr/>
        </p:nvSpPr>
        <p:spPr>
          <a:xfrm>
            <a:off x="274320" y="1143000"/>
            <a:ext cx="5212080" cy="396745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92608" y="1154857"/>
            <a:ext cx="5212080" cy="36576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4800" y="1184523"/>
            <a:ext cx="5029200" cy="310896"/>
          </a:xfrm>
          <a:prstGeom prst="rect">
            <a:avLst/>
          </a:prstGeom>
          <a:noFill/>
        </p:spPr>
        <p:txBody>
          <a:bodyPr wrap="square">
            <a:spAutoFit/>
          </a:bodyPr>
          <a:lstStyle/>
          <a:p>
            <a:pPr algn="l"/>
            <a:r>
              <a:rPr sz="1100" b="1" i="0">
                <a:solidFill>
                  <a:srgbClr val="FFFFFF"/>
                </a:solidFill>
              </a:rPr>
              <a:t>SCHEDULE PERFORMANCE INDEX (SPI)</a:t>
            </a:r>
          </a:p>
        </p:txBody>
      </p:sp>
      <p:sp>
        <p:nvSpPr>
          <p:cNvPr id="48" name="Oval 47"/>
          <p:cNvSpPr/>
          <p:nvPr/>
        </p:nvSpPr>
        <p:spPr>
          <a:xfrm>
            <a:off x="2385935" y="24630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2369330" y="24304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2352725" y="239786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2336120" y="2365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2319515" y="23326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2302910" y="230009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2286304" y="226750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2333847" y="249140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2315476" y="245978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2297105" y="24281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2278734" y="23965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Oval 58"/>
          <p:cNvSpPr/>
          <p:nvPr/>
        </p:nvSpPr>
        <p:spPr>
          <a:xfrm>
            <a:off x="2260364" y="23648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2241993" y="2333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Oval 60"/>
          <p:cNvSpPr/>
          <p:nvPr/>
        </p:nvSpPr>
        <p:spPr>
          <a:xfrm>
            <a:off x="2223622" y="23016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2283396" y="25225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Oval 62"/>
          <p:cNvSpPr/>
          <p:nvPr/>
        </p:nvSpPr>
        <p:spPr>
          <a:xfrm>
            <a:off x="2263315" y="24920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2243234" y="24614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2223153" y="24308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Oval 65"/>
          <p:cNvSpPr/>
          <p:nvPr/>
        </p:nvSpPr>
        <p:spPr>
          <a:xfrm>
            <a:off x="2203072" y="24003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Oval 66"/>
          <p:cNvSpPr/>
          <p:nvPr/>
        </p:nvSpPr>
        <p:spPr>
          <a:xfrm>
            <a:off x="2182991" y="236974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2162910" y="23391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Oval 68"/>
          <p:cNvSpPr/>
          <p:nvPr/>
        </p:nvSpPr>
        <p:spPr>
          <a:xfrm>
            <a:off x="2234736" y="255651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Oval 69"/>
          <p:cNvSpPr/>
          <p:nvPr/>
        </p:nvSpPr>
        <p:spPr>
          <a:xfrm>
            <a:off x="2213005" y="252709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2191274" y="24976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2169544" y="2468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Oval 72"/>
          <p:cNvSpPr/>
          <p:nvPr/>
        </p:nvSpPr>
        <p:spPr>
          <a:xfrm>
            <a:off x="2147813" y="243882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2126083" y="240940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Oval 74"/>
          <p:cNvSpPr/>
          <p:nvPr/>
        </p:nvSpPr>
        <p:spPr>
          <a:xfrm>
            <a:off x="2104352" y="23799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Oval 75"/>
          <p:cNvSpPr/>
          <p:nvPr/>
        </p:nvSpPr>
        <p:spPr>
          <a:xfrm>
            <a:off x="2188012" y="25930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2164698" y="2564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Oval 77"/>
          <p:cNvSpPr/>
          <p:nvPr/>
        </p:nvSpPr>
        <p:spPr>
          <a:xfrm>
            <a:off x="2141383" y="2536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Oval 78"/>
          <p:cNvSpPr/>
          <p:nvPr/>
        </p:nvSpPr>
        <p:spPr>
          <a:xfrm>
            <a:off x="2118069" y="250850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Oval 79"/>
          <p:cNvSpPr/>
          <p:nvPr/>
        </p:nvSpPr>
        <p:spPr>
          <a:xfrm>
            <a:off x="2094754" y="24803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Oval 80"/>
          <p:cNvSpPr/>
          <p:nvPr/>
        </p:nvSpPr>
        <p:spPr>
          <a:xfrm>
            <a:off x="2071440" y="24521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Oval 81"/>
          <p:cNvSpPr/>
          <p:nvPr/>
        </p:nvSpPr>
        <p:spPr>
          <a:xfrm>
            <a:off x="2048126" y="2423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Oval 82"/>
          <p:cNvSpPr/>
          <p:nvPr/>
        </p:nvSpPr>
        <p:spPr>
          <a:xfrm>
            <a:off x="2143367" y="263209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Oval 83"/>
          <p:cNvSpPr/>
          <p:nvPr/>
        </p:nvSpPr>
        <p:spPr>
          <a:xfrm>
            <a:off x="2118539" y="260524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Oval 84"/>
          <p:cNvSpPr/>
          <p:nvPr/>
        </p:nvSpPr>
        <p:spPr>
          <a:xfrm>
            <a:off x="2093711" y="25783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Oval 85"/>
          <p:cNvSpPr/>
          <p:nvPr/>
        </p:nvSpPr>
        <p:spPr>
          <a:xfrm>
            <a:off x="2068883" y="25515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Oval 86"/>
          <p:cNvSpPr/>
          <p:nvPr/>
        </p:nvSpPr>
        <p:spPr>
          <a:xfrm>
            <a:off x="2044056" y="252466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2019228" y="24978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Oval 88"/>
          <p:cNvSpPr/>
          <p:nvPr/>
        </p:nvSpPr>
        <p:spPr>
          <a:xfrm>
            <a:off x="1994400" y="247094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Oval 89"/>
          <p:cNvSpPr/>
          <p:nvPr/>
        </p:nvSpPr>
        <p:spPr>
          <a:xfrm>
            <a:off x="2100935" y="26735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Oval 90"/>
          <p:cNvSpPr/>
          <p:nvPr/>
        </p:nvSpPr>
        <p:spPr>
          <a:xfrm>
            <a:off x="2074669" y="26480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Oval 91"/>
          <p:cNvSpPr/>
          <p:nvPr/>
        </p:nvSpPr>
        <p:spPr>
          <a:xfrm>
            <a:off x="2048403" y="262263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2022136" y="259718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Oval 93"/>
          <p:cNvSpPr/>
          <p:nvPr/>
        </p:nvSpPr>
        <p:spPr>
          <a:xfrm>
            <a:off x="1995870" y="25717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Oval 94"/>
          <p:cNvSpPr/>
          <p:nvPr/>
        </p:nvSpPr>
        <p:spPr>
          <a:xfrm>
            <a:off x="1969604" y="25462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Oval 95"/>
          <p:cNvSpPr/>
          <p:nvPr/>
        </p:nvSpPr>
        <p:spPr>
          <a:xfrm>
            <a:off x="1943338" y="252082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Oval 96"/>
          <p:cNvSpPr/>
          <p:nvPr/>
        </p:nvSpPr>
        <p:spPr>
          <a:xfrm>
            <a:off x="2060844" y="27172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Oval 97"/>
          <p:cNvSpPr/>
          <p:nvPr/>
        </p:nvSpPr>
        <p:spPr>
          <a:xfrm>
            <a:off x="2033219" y="26932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Oval 98"/>
          <p:cNvSpPr/>
          <p:nvPr/>
        </p:nvSpPr>
        <p:spPr>
          <a:xfrm>
            <a:off x="2005594" y="26693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Oval 99"/>
          <p:cNvSpPr/>
          <p:nvPr/>
        </p:nvSpPr>
        <p:spPr>
          <a:xfrm>
            <a:off x="1977969" y="264534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Oval 100"/>
          <p:cNvSpPr/>
          <p:nvPr/>
        </p:nvSpPr>
        <p:spPr>
          <a:xfrm>
            <a:off x="1950344" y="26213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Oval 101"/>
          <p:cNvSpPr/>
          <p:nvPr/>
        </p:nvSpPr>
        <p:spPr>
          <a:xfrm>
            <a:off x="1922719" y="259739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1895093" y="257342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2023217" y="276310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1994316" y="27406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1965415" y="27182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936514" y="26958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907614" y="267343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Oval 108"/>
          <p:cNvSpPr/>
          <p:nvPr/>
        </p:nvSpPr>
        <p:spPr>
          <a:xfrm>
            <a:off x="1878713" y="26510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1849812" y="262860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1988165" y="281095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1958076" y="279015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1927987" y="276936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1897898" y="274856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1867809" y="27277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1837720" y="27069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1807632" y="2686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1955796" y="28606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1924609" y="284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1893423" y="282243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1862237" y="28033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1831051" y="278421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1799865" y="27651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1768679" y="274599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1926206" y="29120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1894017" y="289469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1861828" y="28773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1829639" y="285995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797449" y="284258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765260" y="282522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733071" y="280785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899486" y="296501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866391" y="294944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833296" y="293386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Oval 134"/>
          <p:cNvSpPr/>
          <p:nvPr/>
        </p:nvSpPr>
        <p:spPr>
          <a:xfrm>
            <a:off x="1800201" y="29182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6" name="Oval 135"/>
          <p:cNvSpPr/>
          <p:nvPr/>
        </p:nvSpPr>
        <p:spPr>
          <a:xfrm>
            <a:off x="1767107" y="290272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Oval 136"/>
          <p:cNvSpPr/>
          <p:nvPr/>
        </p:nvSpPr>
        <p:spPr>
          <a:xfrm>
            <a:off x="1734012" y="288714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Oval 137"/>
          <p:cNvSpPr/>
          <p:nvPr/>
        </p:nvSpPr>
        <p:spPr>
          <a:xfrm>
            <a:off x="1700917" y="287157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Oval 138"/>
          <p:cNvSpPr/>
          <p:nvPr/>
        </p:nvSpPr>
        <p:spPr>
          <a:xfrm>
            <a:off x="1875717" y="30193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Oval 139"/>
          <p:cNvSpPr/>
          <p:nvPr/>
        </p:nvSpPr>
        <p:spPr>
          <a:xfrm>
            <a:off x="1841816" y="300562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Oval 140"/>
          <p:cNvSpPr/>
          <p:nvPr/>
        </p:nvSpPr>
        <p:spPr>
          <a:xfrm>
            <a:off x="1807915" y="29918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2" name="Oval 141"/>
          <p:cNvSpPr/>
          <p:nvPr/>
        </p:nvSpPr>
        <p:spPr>
          <a:xfrm>
            <a:off x="1774015" y="297816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Oval 142"/>
          <p:cNvSpPr/>
          <p:nvPr/>
        </p:nvSpPr>
        <p:spPr>
          <a:xfrm>
            <a:off x="1740114" y="2964432"/>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4" name="Oval 143"/>
          <p:cNvSpPr/>
          <p:nvPr/>
        </p:nvSpPr>
        <p:spPr>
          <a:xfrm>
            <a:off x="1706213" y="295070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Oval 144"/>
          <p:cNvSpPr/>
          <p:nvPr/>
        </p:nvSpPr>
        <p:spPr>
          <a:xfrm>
            <a:off x="1672312" y="2936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6" name="Oval 145"/>
          <p:cNvSpPr/>
          <p:nvPr/>
        </p:nvSpPr>
        <p:spPr>
          <a:xfrm>
            <a:off x="1854969" y="307492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Oval 146"/>
          <p:cNvSpPr/>
          <p:nvPr/>
        </p:nvSpPr>
        <p:spPr>
          <a:xfrm>
            <a:off x="1820365" y="30630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8" name="Oval 147"/>
          <p:cNvSpPr/>
          <p:nvPr/>
        </p:nvSpPr>
        <p:spPr>
          <a:xfrm>
            <a:off x="1785761" y="305122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Oval 148"/>
          <p:cNvSpPr/>
          <p:nvPr/>
        </p:nvSpPr>
        <p:spPr>
          <a:xfrm>
            <a:off x="1751157" y="30393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0" name="Oval 149"/>
          <p:cNvSpPr/>
          <p:nvPr/>
        </p:nvSpPr>
        <p:spPr>
          <a:xfrm>
            <a:off x="1716553" y="30275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Oval 150"/>
          <p:cNvSpPr/>
          <p:nvPr/>
        </p:nvSpPr>
        <p:spPr>
          <a:xfrm>
            <a:off x="1681949" y="301568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2" name="Oval 151"/>
          <p:cNvSpPr/>
          <p:nvPr/>
        </p:nvSpPr>
        <p:spPr>
          <a:xfrm>
            <a:off x="1647345" y="300383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Oval 152"/>
          <p:cNvSpPr/>
          <p:nvPr/>
        </p:nvSpPr>
        <p:spPr>
          <a:xfrm>
            <a:off x="1837306" y="31315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4" name="Oval 153"/>
          <p:cNvSpPr/>
          <p:nvPr/>
        </p:nvSpPr>
        <p:spPr>
          <a:xfrm>
            <a:off x="1802103" y="31216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Oval 154"/>
          <p:cNvSpPr/>
          <p:nvPr/>
        </p:nvSpPr>
        <p:spPr>
          <a:xfrm>
            <a:off x="1766900" y="311168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6" name="Oval 155"/>
          <p:cNvSpPr/>
          <p:nvPr/>
        </p:nvSpPr>
        <p:spPr>
          <a:xfrm>
            <a:off x="1731698" y="31017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Oval 156"/>
          <p:cNvSpPr/>
          <p:nvPr/>
        </p:nvSpPr>
        <p:spPr>
          <a:xfrm>
            <a:off x="1696495" y="309183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8" name="Oval 157"/>
          <p:cNvSpPr/>
          <p:nvPr/>
        </p:nvSpPr>
        <p:spPr>
          <a:xfrm>
            <a:off x="1661292" y="308190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Oval 158"/>
          <p:cNvSpPr/>
          <p:nvPr/>
        </p:nvSpPr>
        <p:spPr>
          <a:xfrm>
            <a:off x="1626089" y="307197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Oval 159"/>
          <p:cNvSpPr/>
          <p:nvPr/>
        </p:nvSpPr>
        <p:spPr>
          <a:xfrm>
            <a:off x="1822781" y="318905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Oval 160"/>
          <p:cNvSpPr/>
          <p:nvPr/>
        </p:nvSpPr>
        <p:spPr>
          <a:xfrm>
            <a:off x="1787086" y="318107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2" name="Oval 161"/>
          <p:cNvSpPr/>
          <p:nvPr/>
        </p:nvSpPr>
        <p:spPr>
          <a:xfrm>
            <a:off x="1751391" y="317309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Oval 162"/>
          <p:cNvSpPr/>
          <p:nvPr/>
        </p:nvSpPr>
        <p:spPr>
          <a:xfrm>
            <a:off x="1715696" y="316511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4" name="Oval 163"/>
          <p:cNvSpPr/>
          <p:nvPr/>
        </p:nvSpPr>
        <p:spPr>
          <a:xfrm>
            <a:off x="1680001" y="3157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Oval 164"/>
          <p:cNvSpPr/>
          <p:nvPr/>
        </p:nvSpPr>
        <p:spPr>
          <a:xfrm>
            <a:off x="1644305" y="314915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6" name="Oval 165"/>
          <p:cNvSpPr/>
          <p:nvPr/>
        </p:nvSpPr>
        <p:spPr>
          <a:xfrm>
            <a:off x="1608610" y="314118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Oval 166"/>
          <p:cNvSpPr/>
          <p:nvPr/>
        </p:nvSpPr>
        <p:spPr>
          <a:xfrm>
            <a:off x="1811438" y="324727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8" name="Oval 167"/>
          <p:cNvSpPr/>
          <p:nvPr/>
        </p:nvSpPr>
        <p:spPr>
          <a:xfrm>
            <a:off x="1775359" y="3241266"/>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Oval 168"/>
          <p:cNvSpPr/>
          <p:nvPr/>
        </p:nvSpPr>
        <p:spPr>
          <a:xfrm>
            <a:off x="1739279" y="323526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0" name="Oval 169"/>
          <p:cNvSpPr/>
          <p:nvPr/>
        </p:nvSpPr>
        <p:spPr>
          <a:xfrm>
            <a:off x="1703199" y="322925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Oval 170"/>
          <p:cNvSpPr/>
          <p:nvPr/>
        </p:nvSpPr>
        <p:spPr>
          <a:xfrm>
            <a:off x="1667120" y="322325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2" name="Oval 171"/>
          <p:cNvSpPr/>
          <p:nvPr/>
        </p:nvSpPr>
        <p:spPr>
          <a:xfrm>
            <a:off x="1631040" y="321724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Oval 172"/>
          <p:cNvSpPr/>
          <p:nvPr/>
        </p:nvSpPr>
        <p:spPr>
          <a:xfrm>
            <a:off x="1594960" y="3211239"/>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 name="Oval 173"/>
          <p:cNvSpPr/>
          <p:nvPr/>
        </p:nvSpPr>
        <p:spPr>
          <a:xfrm>
            <a:off x="1803312" y="3306025"/>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Oval 174"/>
          <p:cNvSpPr/>
          <p:nvPr/>
        </p:nvSpPr>
        <p:spPr>
          <a:xfrm>
            <a:off x="1766956" y="3302011"/>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6" name="Oval 175"/>
          <p:cNvSpPr/>
          <p:nvPr/>
        </p:nvSpPr>
        <p:spPr>
          <a:xfrm>
            <a:off x="1730601" y="329799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Oval 176"/>
          <p:cNvSpPr/>
          <p:nvPr/>
        </p:nvSpPr>
        <p:spPr>
          <a:xfrm>
            <a:off x="1694246" y="3293984"/>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8" name="Oval 177"/>
          <p:cNvSpPr/>
          <p:nvPr/>
        </p:nvSpPr>
        <p:spPr>
          <a:xfrm>
            <a:off x="1657891" y="3289970"/>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9" name="Oval 178"/>
          <p:cNvSpPr/>
          <p:nvPr/>
        </p:nvSpPr>
        <p:spPr>
          <a:xfrm>
            <a:off x="1621536" y="328595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Oval 179"/>
          <p:cNvSpPr/>
          <p:nvPr/>
        </p:nvSpPr>
        <p:spPr>
          <a:xfrm>
            <a:off x="1585181" y="3281943"/>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Oval 180"/>
          <p:cNvSpPr/>
          <p:nvPr/>
        </p:nvSpPr>
        <p:spPr>
          <a:xfrm>
            <a:off x="1798426" y="336513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Oval 181"/>
          <p:cNvSpPr/>
          <p:nvPr/>
        </p:nvSpPr>
        <p:spPr>
          <a:xfrm>
            <a:off x="1761905" y="33631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3" name="Oval 182"/>
          <p:cNvSpPr/>
          <p:nvPr/>
        </p:nvSpPr>
        <p:spPr>
          <a:xfrm>
            <a:off x="1725384" y="336111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Oval 183"/>
          <p:cNvSpPr/>
          <p:nvPr/>
        </p:nvSpPr>
        <p:spPr>
          <a:xfrm>
            <a:off x="1688864" y="335910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5" name="Oval 184"/>
          <p:cNvSpPr/>
          <p:nvPr/>
        </p:nvSpPr>
        <p:spPr>
          <a:xfrm>
            <a:off x="1652343" y="335709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Oval 185"/>
          <p:cNvSpPr/>
          <p:nvPr/>
        </p:nvSpPr>
        <p:spPr>
          <a:xfrm>
            <a:off x="1615822" y="335508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7" name="Oval 186"/>
          <p:cNvSpPr/>
          <p:nvPr/>
        </p:nvSpPr>
        <p:spPr>
          <a:xfrm>
            <a:off x="1579301" y="3353078"/>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Oval 187"/>
          <p:cNvSpPr/>
          <p:nvPr/>
        </p:nvSpPr>
        <p:spPr>
          <a:xfrm>
            <a:off x="179679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9" name="Oval 188"/>
          <p:cNvSpPr/>
          <p:nvPr/>
        </p:nvSpPr>
        <p:spPr>
          <a:xfrm>
            <a:off x="176022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Oval 189"/>
          <p:cNvSpPr/>
          <p:nvPr/>
        </p:nvSpPr>
        <p:spPr>
          <a:xfrm>
            <a:off x="1723644"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1" name="Oval 190"/>
          <p:cNvSpPr/>
          <p:nvPr/>
        </p:nvSpPr>
        <p:spPr>
          <a:xfrm>
            <a:off x="1687068"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Oval 191"/>
          <p:cNvSpPr/>
          <p:nvPr/>
        </p:nvSpPr>
        <p:spPr>
          <a:xfrm>
            <a:off x="1650492"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3" name="Oval 192"/>
          <p:cNvSpPr/>
          <p:nvPr/>
        </p:nvSpPr>
        <p:spPr>
          <a:xfrm>
            <a:off x="1613916"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Oval 193"/>
          <p:cNvSpPr/>
          <p:nvPr/>
        </p:nvSpPr>
        <p:spPr>
          <a:xfrm>
            <a:off x="1577340" y="3424427"/>
            <a:ext cx="100584" cy="100584"/>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5" name="Oval 194"/>
          <p:cNvSpPr/>
          <p:nvPr/>
        </p:nvSpPr>
        <p:spPr>
          <a:xfrm>
            <a:off x="2706996" y="235872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Oval 195"/>
          <p:cNvSpPr/>
          <p:nvPr/>
        </p:nvSpPr>
        <p:spPr>
          <a:xfrm>
            <a:off x="2701274" y="232259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Oval 196"/>
          <p:cNvSpPr/>
          <p:nvPr/>
        </p:nvSpPr>
        <p:spPr>
          <a:xfrm>
            <a:off x="2695552" y="228646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Oval 197"/>
          <p:cNvSpPr/>
          <p:nvPr/>
        </p:nvSpPr>
        <p:spPr>
          <a:xfrm>
            <a:off x="2689831" y="22503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9" name="Oval 198"/>
          <p:cNvSpPr/>
          <p:nvPr/>
        </p:nvSpPr>
        <p:spPr>
          <a:xfrm>
            <a:off x="2684109" y="221421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Oval 199"/>
          <p:cNvSpPr/>
          <p:nvPr/>
        </p:nvSpPr>
        <p:spPr>
          <a:xfrm>
            <a:off x="2678387" y="2178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1" name="Oval 200"/>
          <p:cNvSpPr/>
          <p:nvPr/>
        </p:nvSpPr>
        <p:spPr>
          <a:xfrm>
            <a:off x="2672665" y="214196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Oval 201"/>
          <p:cNvSpPr/>
          <p:nvPr/>
        </p:nvSpPr>
        <p:spPr>
          <a:xfrm>
            <a:off x="2640413" y="237142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3" name="Oval 202"/>
          <p:cNvSpPr/>
          <p:nvPr/>
        </p:nvSpPr>
        <p:spPr>
          <a:xfrm>
            <a:off x="2632434" y="233572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Oval 203"/>
          <p:cNvSpPr/>
          <p:nvPr/>
        </p:nvSpPr>
        <p:spPr>
          <a:xfrm>
            <a:off x="2624455" y="2300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 name="Oval 204"/>
          <p:cNvSpPr/>
          <p:nvPr/>
        </p:nvSpPr>
        <p:spPr>
          <a:xfrm>
            <a:off x="2616476" y="22643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Oval 205"/>
          <p:cNvSpPr/>
          <p:nvPr/>
        </p:nvSpPr>
        <p:spPr>
          <a:xfrm>
            <a:off x="2608497" y="222864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7" name="Oval 206"/>
          <p:cNvSpPr/>
          <p:nvPr/>
        </p:nvSpPr>
        <p:spPr>
          <a:xfrm>
            <a:off x="2600519" y="219294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Oval 207"/>
          <p:cNvSpPr/>
          <p:nvPr/>
        </p:nvSpPr>
        <p:spPr>
          <a:xfrm>
            <a:off x="2592540" y="215725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9" name="Oval 208"/>
          <p:cNvSpPr/>
          <p:nvPr/>
        </p:nvSpPr>
        <p:spPr>
          <a:xfrm>
            <a:off x="2574758" y="23882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Oval 209"/>
          <p:cNvSpPr/>
          <p:nvPr/>
        </p:nvSpPr>
        <p:spPr>
          <a:xfrm>
            <a:off x="2564554" y="235315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1" name="Oval 210"/>
          <p:cNvSpPr/>
          <p:nvPr/>
        </p:nvSpPr>
        <p:spPr>
          <a:xfrm>
            <a:off x="2554350" y="231803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Oval 211"/>
          <p:cNvSpPr/>
          <p:nvPr/>
        </p:nvSpPr>
        <p:spPr>
          <a:xfrm>
            <a:off x="2544145" y="228290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3" name="Oval 212"/>
          <p:cNvSpPr/>
          <p:nvPr/>
        </p:nvSpPr>
        <p:spPr>
          <a:xfrm>
            <a:off x="2533941" y="224778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Oval 213"/>
          <p:cNvSpPr/>
          <p:nvPr/>
        </p:nvSpPr>
        <p:spPr>
          <a:xfrm>
            <a:off x="2523736" y="22126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5" name="Oval 214"/>
          <p:cNvSpPr/>
          <p:nvPr/>
        </p:nvSpPr>
        <p:spPr>
          <a:xfrm>
            <a:off x="2513532" y="217753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Oval 215"/>
          <p:cNvSpPr/>
          <p:nvPr/>
        </p:nvSpPr>
        <p:spPr>
          <a:xfrm>
            <a:off x="2510292" y="2409225"/>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7" name="Oval 216"/>
          <p:cNvSpPr/>
          <p:nvPr/>
        </p:nvSpPr>
        <p:spPr>
          <a:xfrm>
            <a:off x="2497902" y="237481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Oval 217"/>
          <p:cNvSpPr/>
          <p:nvPr/>
        </p:nvSpPr>
        <p:spPr>
          <a:xfrm>
            <a:off x="2485513" y="2340397"/>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9" name="Oval 218"/>
          <p:cNvSpPr/>
          <p:nvPr/>
        </p:nvSpPr>
        <p:spPr>
          <a:xfrm>
            <a:off x="2473123" y="230598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Oval 219"/>
          <p:cNvSpPr/>
          <p:nvPr/>
        </p:nvSpPr>
        <p:spPr>
          <a:xfrm>
            <a:off x="2460733" y="22715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1" name="Oval 220"/>
          <p:cNvSpPr/>
          <p:nvPr/>
        </p:nvSpPr>
        <p:spPr>
          <a:xfrm>
            <a:off x="2448344" y="223715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Oval 221"/>
          <p:cNvSpPr/>
          <p:nvPr/>
        </p:nvSpPr>
        <p:spPr>
          <a:xfrm>
            <a:off x="2435954" y="2202743"/>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3" name="Oval 222"/>
          <p:cNvSpPr/>
          <p:nvPr/>
        </p:nvSpPr>
        <p:spPr>
          <a:xfrm>
            <a:off x="2447268" y="2434178"/>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Oval 223"/>
          <p:cNvSpPr/>
          <p:nvPr/>
        </p:nvSpPr>
        <p:spPr>
          <a:xfrm>
            <a:off x="2432742" y="240061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5" name="Oval 224"/>
          <p:cNvSpPr/>
          <p:nvPr/>
        </p:nvSpPr>
        <p:spPr>
          <a:xfrm>
            <a:off x="2418216" y="236704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Oval 225"/>
          <p:cNvSpPr/>
          <p:nvPr/>
        </p:nvSpPr>
        <p:spPr>
          <a:xfrm>
            <a:off x="2403690" y="2333474"/>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7" name="Oval 226"/>
          <p:cNvSpPr/>
          <p:nvPr/>
        </p:nvSpPr>
        <p:spPr>
          <a:xfrm>
            <a:off x="2389164" y="2299906"/>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Oval 227"/>
          <p:cNvSpPr/>
          <p:nvPr/>
        </p:nvSpPr>
        <p:spPr>
          <a:xfrm>
            <a:off x="2374638" y="22663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9" name="Oval 228"/>
          <p:cNvSpPr/>
          <p:nvPr/>
        </p:nvSpPr>
        <p:spPr>
          <a:xfrm>
            <a:off x="2360112" y="223277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Oval 229"/>
          <p:cNvSpPr/>
          <p:nvPr/>
        </p:nvSpPr>
        <p:spPr>
          <a:xfrm>
            <a:off x="2385935" y="246303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1" name="Oval 230"/>
          <p:cNvSpPr/>
          <p:nvPr/>
        </p:nvSpPr>
        <p:spPr>
          <a:xfrm>
            <a:off x="2369330" y="2430449"/>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Oval 231"/>
          <p:cNvSpPr/>
          <p:nvPr/>
        </p:nvSpPr>
        <p:spPr>
          <a:xfrm>
            <a:off x="2352725" y="239786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3" name="Oval 232"/>
          <p:cNvSpPr/>
          <p:nvPr/>
        </p:nvSpPr>
        <p:spPr>
          <a:xfrm>
            <a:off x="2336120" y="2365270"/>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Oval 233"/>
          <p:cNvSpPr/>
          <p:nvPr/>
        </p:nvSpPr>
        <p:spPr>
          <a:xfrm>
            <a:off x="2319515" y="233268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5" name="Oval 234"/>
          <p:cNvSpPr/>
          <p:nvPr/>
        </p:nvSpPr>
        <p:spPr>
          <a:xfrm>
            <a:off x="2302910" y="2300091"/>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Oval 235"/>
          <p:cNvSpPr/>
          <p:nvPr/>
        </p:nvSpPr>
        <p:spPr>
          <a:xfrm>
            <a:off x="2286304" y="2267502"/>
            <a:ext cx="100584" cy="100584"/>
          </a:xfrm>
          <a:prstGeom prst="ellipse">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7" name="Oval 236"/>
          <p:cNvSpPr/>
          <p:nvPr/>
        </p:nvSpPr>
        <p:spPr>
          <a:xfrm>
            <a:off x="3044579"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Oval 237"/>
          <p:cNvSpPr/>
          <p:nvPr/>
        </p:nvSpPr>
        <p:spPr>
          <a:xfrm>
            <a:off x="3050301"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9" name="Oval 238"/>
          <p:cNvSpPr/>
          <p:nvPr/>
        </p:nvSpPr>
        <p:spPr>
          <a:xfrm>
            <a:off x="3056023"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Oval 239"/>
          <p:cNvSpPr/>
          <p:nvPr/>
        </p:nvSpPr>
        <p:spPr>
          <a:xfrm>
            <a:off x="3061744"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1" name="Oval 240"/>
          <p:cNvSpPr/>
          <p:nvPr/>
        </p:nvSpPr>
        <p:spPr>
          <a:xfrm>
            <a:off x="3067466"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Oval 241"/>
          <p:cNvSpPr/>
          <p:nvPr/>
        </p:nvSpPr>
        <p:spPr>
          <a:xfrm>
            <a:off x="3073188"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3" name="Oval 242"/>
          <p:cNvSpPr/>
          <p:nvPr/>
        </p:nvSpPr>
        <p:spPr>
          <a:xfrm>
            <a:off x="3078910"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Oval 243"/>
          <p:cNvSpPr/>
          <p:nvPr/>
        </p:nvSpPr>
        <p:spPr>
          <a:xfrm>
            <a:off x="2988573"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5" name="Oval 244"/>
          <p:cNvSpPr/>
          <p:nvPr/>
        </p:nvSpPr>
        <p:spPr>
          <a:xfrm>
            <a:off x="2992396"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Oval 245"/>
          <p:cNvSpPr/>
          <p:nvPr/>
        </p:nvSpPr>
        <p:spPr>
          <a:xfrm>
            <a:off x="2996219"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7" name="Oval 246"/>
          <p:cNvSpPr/>
          <p:nvPr/>
        </p:nvSpPr>
        <p:spPr>
          <a:xfrm>
            <a:off x="3000043"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Oval 247"/>
          <p:cNvSpPr/>
          <p:nvPr/>
        </p:nvSpPr>
        <p:spPr>
          <a:xfrm>
            <a:off x="3003866"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Oval 248"/>
          <p:cNvSpPr/>
          <p:nvPr/>
        </p:nvSpPr>
        <p:spPr>
          <a:xfrm>
            <a:off x="3007689"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Oval 249"/>
          <p:cNvSpPr/>
          <p:nvPr/>
        </p:nvSpPr>
        <p:spPr>
          <a:xfrm>
            <a:off x="3011512"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1" name="Oval 250"/>
          <p:cNvSpPr/>
          <p:nvPr/>
        </p:nvSpPr>
        <p:spPr>
          <a:xfrm>
            <a:off x="2932258"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Oval 251"/>
          <p:cNvSpPr/>
          <p:nvPr/>
        </p:nvSpPr>
        <p:spPr>
          <a:xfrm>
            <a:off x="2934172"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3" name="Oval 252"/>
          <p:cNvSpPr/>
          <p:nvPr/>
        </p:nvSpPr>
        <p:spPr>
          <a:xfrm>
            <a:off x="2936086"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4" name="Oval 253"/>
          <p:cNvSpPr/>
          <p:nvPr/>
        </p:nvSpPr>
        <p:spPr>
          <a:xfrm>
            <a:off x="2938000"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5" name="Oval 254"/>
          <p:cNvSpPr/>
          <p:nvPr/>
        </p:nvSpPr>
        <p:spPr>
          <a:xfrm>
            <a:off x="2939915"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6" name="Oval 255"/>
          <p:cNvSpPr/>
          <p:nvPr/>
        </p:nvSpPr>
        <p:spPr>
          <a:xfrm>
            <a:off x="2941829"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7" name="Oval 256"/>
          <p:cNvSpPr/>
          <p:nvPr/>
        </p:nvSpPr>
        <p:spPr>
          <a:xfrm>
            <a:off x="2943743"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8" name="Oval 257"/>
          <p:cNvSpPr/>
          <p:nvPr/>
        </p:nvSpPr>
        <p:spPr>
          <a:xfrm>
            <a:off x="2875788" y="234543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9" name="Oval 258"/>
          <p:cNvSpPr/>
          <p:nvPr/>
        </p:nvSpPr>
        <p:spPr>
          <a:xfrm>
            <a:off x="2875788" y="230886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0" name="Oval 259"/>
          <p:cNvSpPr/>
          <p:nvPr/>
        </p:nvSpPr>
        <p:spPr>
          <a:xfrm>
            <a:off x="2875788" y="227228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1" name="Oval 260"/>
          <p:cNvSpPr/>
          <p:nvPr/>
        </p:nvSpPr>
        <p:spPr>
          <a:xfrm>
            <a:off x="2875788" y="223570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Oval 261"/>
          <p:cNvSpPr/>
          <p:nvPr/>
        </p:nvSpPr>
        <p:spPr>
          <a:xfrm>
            <a:off x="2875788" y="219913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Oval 262"/>
          <p:cNvSpPr/>
          <p:nvPr/>
        </p:nvSpPr>
        <p:spPr>
          <a:xfrm>
            <a:off x="2875788" y="216255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Oval 263"/>
          <p:cNvSpPr/>
          <p:nvPr/>
        </p:nvSpPr>
        <p:spPr>
          <a:xfrm>
            <a:off x="2875788" y="212597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Oval 264"/>
          <p:cNvSpPr/>
          <p:nvPr/>
        </p:nvSpPr>
        <p:spPr>
          <a:xfrm>
            <a:off x="2819317" y="234691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Oval 265"/>
          <p:cNvSpPr/>
          <p:nvPr/>
        </p:nvSpPr>
        <p:spPr>
          <a:xfrm>
            <a:off x="2817403" y="231038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Oval 266"/>
          <p:cNvSpPr/>
          <p:nvPr/>
        </p:nvSpPr>
        <p:spPr>
          <a:xfrm>
            <a:off x="2815489" y="2273862"/>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Oval 267"/>
          <p:cNvSpPr/>
          <p:nvPr/>
        </p:nvSpPr>
        <p:spPr>
          <a:xfrm>
            <a:off x="2813575" y="223733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Oval 268"/>
          <p:cNvSpPr/>
          <p:nvPr/>
        </p:nvSpPr>
        <p:spPr>
          <a:xfrm>
            <a:off x="2811660" y="220081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Oval 269"/>
          <p:cNvSpPr/>
          <p:nvPr/>
        </p:nvSpPr>
        <p:spPr>
          <a:xfrm>
            <a:off x="2809746" y="216428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Oval 270"/>
          <p:cNvSpPr/>
          <p:nvPr/>
        </p:nvSpPr>
        <p:spPr>
          <a:xfrm>
            <a:off x="2807832" y="212775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Oval 271"/>
          <p:cNvSpPr/>
          <p:nvPr/>
        </p:nvSpPr>
        <p:spPr>
          <a:xfrm>
            <a:off x="2763002" y="235134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Oval 272"/>
          <p:cNvSpPr/>
          <p:nvPr/>
        </p:nvSpPr>
        <p:spPr>
          <a:xfrm>
            <a:off x="2759179" y="231497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Oval 273"/>
          <p:cNvSpPr/>
          <p:nvPr/>
        </p:nvSpPr>
        <p:spPr>
          <a:xfrm>
            <a:off x="2755356" y="2278595"/>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Oval 274"/>
          <p:cNvSpPr/>
          <p:nvPr/>
        </p:nvSpPr>
        <p:spPr>
          <a:xfrm>
            <a:off x="2751532" y="2242219"/>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Oval 275"/>
          <p:cNvSpPr/>
          <p:nvPr/>
        </p:nvSpPr>
        <p:spPr>
          <a:xfrm>
            <a:off x="2747709" y="220584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Oval 276"/>
          <p:cNvSpPr/>
          <p:nvPr/>
        </p:nvSpPr>
        <p:spPr>
          <a:xfrm>
            <a:off x="2743886" y="2169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Oval 277"/>
          <p:cNvSpPr/>
          <p:nvPr/>
        </p:nvSpPr>
        <p:spPr>
          <a:xfrm>
            <a:off x="2740063" y="213309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Oval 278"/>
          <p:cNvSpPr/>
          <p:nvPr/>
        </p:nvSpPr>
        <p:spPr>
          <a:xfrm>
            <a:off x="2706996" y="2358720"/>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Oval 279"/>
          <p:cNvSpPr/>
          <p:nvPr/>
        </p:nvSpPr>
        <p:spPr>
          <a:xfrm>
            <a:off x="2701274" y="2322594"/>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1" name="Oval 280"/>
          <p:cNvSpPr/>
          <p:nvPr/>
        </p:nvSpPr>
        <p:spPr>
          <a:xfrm>
            <a:off x="2695552" y="2286468"/>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2" name="Oval 281"/>
          <p:cNvSpPr/>
          <p:nvPr/>
        </p:nvSpPr>
        <p:spPr>
          <a:xfrm>
            <a:off x="2689831" y="2250343"/>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3" name="Oval 282"/>
          <p:cNvSpPr/>
          <p:nvPr/>
        </p:nvSpPr>
        <p:spPr>
          <a:xfrm>
            <a:off x="2684109" y="2214217"/>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4" name="Oval 283"/>
          <p:cNvSpPr/>
          <p:nvPr/>
        </p:nvSpPr>
        <p:spPr>
          <a:xfrm>
            <a:off x="2678387" y="2178091"/>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Oval 284"/>
          <p:cNvSpPr/>
          <p:nvPr/>
        </p:nvSpPr>
        <p:spPr>
          <a:xfrm>
            <a:off x="2672665" y="2141966"/>
            <a:ext cx="100584" cy="100584"/>
          </a:xfrm>
          <a:prstGeom prst="ellipse">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Oval 285"/>
          <p:cNvSpPr/>
          <p:nvPr/>
        </p:nvSpPr>
        <p:spPr>
          <a:xfrm>
            <a:off x="395478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7" name="Oval 286"/>
          <p:cNvSpPr/>
          <p:nvPr/>
        </p:nvSpPr>
        <p:spPr>
          <a:xfrm>
            <a:off x="399135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8" name="Oval 287"/>
          <p:cNvSpPr/>
          <p:nvPr/>
        </p:nvSpPr>
        <p:spPr>
          <a:xfrm>
            <a:off x="4027932"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9" name="Oval 288"/>
          <p:cNvSpPr/>
          <p:nvPr/>
        </p:nvSpPr>
        <p:spPr>
          <a:xfrm>
            <a:off x="4064508"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0" name="Oval 289"/>
          <p:cNvSpPr/>
          <p:nvPr/>
        </p:nvSpPr>
        <p:spPr>
          <a:xfrm>
            <a:off x="4101084"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1" name="Oval 290"/>
          <p:cNvSpPr/>
          <p:nvPr/>
        </p:nvSpPr>
        <p:spPr>
          <a:xfrm>
            <a:off x="4137660"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2" name="Oval 291"/>
          <p:cNvSpPr/>
          <p:nvPr/>
        </p:nvSpPr>
        <p:spPr>
          <a:xfrm>
            <a:off x="4174236" y="34244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3" name="Oval 292"/>
          <p:cNvSpPr/>
          <p:nvPr/>
        </p:nvSpPr>
        <p:spPr>
          <a:xfrm>
            <a:off x="3953185" y="33657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4" name="Oval 293"/>
          <p:cNvSpPr/>
          <p:nvPr/>
        </p:nvSpPr>
        <p:spPr>
          <a:xfrm>
            <a:off x="3989707" y="33638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5" name="Oval 294"/>
          <p:cNvSpPr/>
          <p:nvPr/>
        </p:nvSpPr>
        <p:spPr>
          <a:xfrm>
            <a:off x="4026229" y="33618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6" name="Oval 295"/>
          <p:cNvSpPr/>
          <p:nvPr/>
        </p:nvSpPr>
        <p:spPr>
          <a:xfrm>
            <a:off x="4062751" y="33598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7" name="Oval 296"/>
          <p:cNvSpPr/>
          <p:nvPr/>
        </p:nvSpPr>
        <p:spPr>
          <a:xfrm>
            <a:off x="4099273" y="33578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8" name="Oval 297"/>
          <p:cNvSpPr/>
          <p:nvPr/>
        </p:nvSpPr>
        <p:spPr>
          <a:xfrm>
            <a:off x="4135795" y="33558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9" name="Oval 298"/>
          <p:cNvSpPr/>
          <p:nvPr/>
        </p:nvSpPr>
        <p:spPr>
          <a:xfrm>
            <a:off x="4172317" y="3353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Oval 299"/>
          <p:cNvSpPr/>
          <p:nvPr/>
        </p:nvSpPr>
        <p:spPr>
          <a:xfrm>
            <a:off x="3948406" y="330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1" name="Oval 300"/>
          <p:cNvSpPr/>
          <p:nvPr/>
        </p:nvSpPr>
        <p:spPr>
          <a:xfrm>
            <a:off x="3984766" y="330335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2" name="Oval 301"/>
          <p:cNvSpPr/>
          <p:nvPr/>
        </p:nvSpPr>
        <p:spPr>
          <a:xfrm>
            <a:off x="4021126" y="32993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Oval 302"/>
          <p:cNvSpPr/>
          <p:nvPr/>
        </p:nvSpPr>
        <p:spPr>
          <a:xfrm>
            <a:off x="4057486" y="329541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4" name="Oval 303"/>
          <p:cNvSpPr/>
          <p:nvPr/>
        </p:nvSpPr>
        <p:spPr>
          <a:xfrm>
            <a:off x="4093845" y="32914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5" name="Oval 304"/>
          <p:cNvSpPr/>
          <p:nvPr/>
        </p:nvSpPr>
        <p:spPr>
          <a:xfrm>
            <a:off x="4130205" y="32874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Oval 305"/>
          <p:cNvSpPr/>
          <p:nvPr/>
        </p:nvSpPr>
        <p:spPr>
          <a:xfrm>
            <a:off x="4166565" y="32835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7" name="Oval 306"/>
          <p:cNvSpPr/>
          <p:nvPr/>
        </p:nvSpPr>
        <p:spPr>
          <a:xfrm>
            <a:off x="3940456" y="324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8" name="Oval 307"/>
          <p:cNvSpPr/>
          <p:nvPr/>
        </p:nvSpPr>
        <p:spPr>
          <a:xfrm>
            <a:off x="3976547" y="32432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Oval 308"/>
          <p:cNvSpPr/>
          <p:nvPr/>
        </p:nvSpPr>
        <p:spPr>
          <a:xfrm>
            <a:off x="4012637" y="32373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0" name="Oval 309"/>
          <p:cNvSpPr/>
          <p:nvPr/>
        </p:nvSpPr>
        <p:spPr>
          <a:xfrm>
            <a:off x="4048728" y="32313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1" name="Oval 310"/>
          <p:cNvSpPr/>
          <p:nvPr/>
        </p:nvSpPr>
        <p:spPr>
          <a:xfrm>
            <a:off x="4084818" y="32254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Oval 311"/>
          <p:cNvSpPr/>
          <p:nvPr/>
        </p:nvSpPr>
        <p:spPr>
          <a:xfrm>
            <a:off x="4120908" y="32195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3" name="Oval 312"/>
          <p:cNvSpPr/>
          <p:nvPr/>
        </p:nvSpPr>
        <p:spPr>
          <a:xfrm>
            <a:off x="4156999" y="3213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4" name="Oval 313"/>
          <p:cNvSpPr/>
          <p:nvPr/>
        </p:nvSpPr>
        <p:spPr>
          <a:xfrm>
            <a:off x="3929360" y="319159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Oval 314"/>
          <p:cNvSpPr/>
          <p:nvPr/>
        </p:nvSpPr>
        <p:spPr>
          <a:xfrm>
            <a:off x="3965074" y="318370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6" name="Oval 315"/>
          <p:cNvSpPr/>
          <p:nvPr/>
        </p:nvSpPr>
        <p:spPr>
          <a:xfrm>
            <a:off x="4000788" y="31758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7" name="Oval 316"/>
          <p:cNvSpPr/>
          <p:nvPr/>
        </p:nvSpPr>
        <p:spPr>
          <a:xfrm>
            <a:off x="4036503" y="316792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8" name="Oval 317"/>
          <p:cNvSpPr/>
          <p:nvPr/>
        </p:nvSpPr>
        <p:spPr>
          <a:xfrm>
            <a:off x="4072217" y="3160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9" name="Oval 318"/>
          <p:cNvSpPr/>
          <p:nvPr/>
        </p:nvSpPr>
        <p:spPr>
          <a:xfrm>
            <a:off x="4107931" y="315213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0" name="Oval 319"/>
          <p:cNvSpPr/>
          <p:nvPr/>
        </p:nvSpPr>
        <p:spPr>
          <a:xfrm>
            <a:off x="4143645" y="31442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1" name="Oval 320"/>
          <p:cNvSpPr/>
          <p:nvPr/>
        </p:nvSpPr>
        <p:spPr>
          <a:xfrm>
            <a:off x="3915149" y="31346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2" name="Oval 321"/>
          <p:cNvSpPr/>
          <p:nvPr/>
        </p:nvSpPr>
        <p:spPr>
          <a:xfrm>
            <a:off x="3950382" y="31248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3" name="Oval 322"/>
          <p:cNvSpPr/>
          <p:nvPr/>
        </p:nvSpPr>
        <p:spPr>
          <a:xfrm>
            <a:off x="3985614" y="31150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4" name="Oval 323"/>
          <p:cNvSpPr/>
          <p:nvPr/>
        </p:nvSpPr>
        <p:spPr>
          <a:xfrm>
            <a:off x="4020847" y="310521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5" name="Oval 324"/>
          <p:cNvSpPr/>
          <p:nvPr/>
        </p:nvSpPr>
        <p:spPr>
          <a:xfrm>
            <a:off x="4056079" y="30953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6" name="Oval 325"/>
          <p:cNvSpPr/>
          <p:nvPr/>
        </p:nvSpPr>
        <p:spPr>
          <a:xfrm>
            <a:off x="4091312" y="308557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7" name="Oval 326"/>
          <p:cNvSpPr/>
          <p:nvPr/>
        </p:nvSpPr>
        <p:spPr>
          <a:xfrm>
            <a:off x="4126545" y="30757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8" name="Oval 327"/>
          <p:cNvSpPr/>
          <p:nvPr/>
        </p:nvSpPr>
        <p:spPr>
          <a:xfrm>
            <a:off x="3897866" y="30786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9" name="Oval 328"/>
          <p:cNvSpPr/>
          <p:nvPr/>
        </p:nvSpPr>
        <p:spPr>
          <a:xfrm>
            <a:off x="3932513" y="30669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0" name="Oval 329"/>
          <p:cNvSpPr/>
          <p:nvPr/>
        </p:nvSpPr>
        <p:spPr>
          <a:xfrm>
            <a:off x="3967160" y="30551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1" name="Oval 330"/>
          <p:cNvSpPr/>
          <p:nvPr/>
        </p:nvSpPr>
        <p:spPr>
          <a:xfrm>
            <a:off x="4001806" y="3043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2" name="Oval 331"/>
          <p:cNvSpPr/>
          <p:nvPr/>
        </p:nvSpPr>
        <p:spPr>
          <a:xfrm>
            <a:off x="4036453" y="303173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3" name="Oval 332"/>
          <p:cNvSpPr/>
          <p:nvPr/>
        </p:nvSpPr>
        <p:spPr>
          <a:xfrm>
            <a:off x="4071100" y="30200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4" name="Oval 333"/>
          <p:cNvSpPr/>
          <p:nvPr/>
        </p:nvSpPr>
        <p:spPr>
          <a:xfrm>
            <a:off x="4105747" y="30082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5" name="Oval 334"/>
          <p:cNvSpPr/>
          <p:nvPr/>
        </p:nvSpPr>
        <p:spPr>
          <a:xfrm>
            <a:off x="3877562" y="30235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6" name="Oval 335"/>
          <p:cNvSpPr/>
          <p:nvPr/>
        </p:nvSpPr>
        <p:spPr>
          <a:xfrm>
            <a:off x="3911521" y="30100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7" name="Oval 336"/>
          <p:cNvSpPr/>
          <p:nvPr/>
        </p:nvSpPr>
        <p:spPr>
          <a:xfrm>
            <a:off x="3945479" y="29964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8" name="Oval 337"/>
          <p:cNvSpPr/>
          <p:nvPr/>
        </p:nvSpPr>
        <p:spPr>
          <a:xfrm>
            <a:off x="3979438" y="29828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9" name="Oval 338"/>
          <p:cNvSpPr/>
          <p:nvPr/>
        </p:nvSpPr>
        <p:spPr>
          <a:xfrm>
            <a:off x="4013396" y="2969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0" name="Oval 339"/>
          <p:cNvSpPr/>
          <p:nvPr/>
        </p:nvSpPr>
        <p:spPr>
          <a:xfrm>
            <a:off x="4047355" y="29556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1" name="Oval 340"/>
          <p:cNvSpPr/>
          <p:nvPr/>
        </p:nvSpPr>
        <p:spPr>
          <a:xfrm>
            <a:off x="4081313" y="294206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2" name="Oval 341"/>
          <p:cNvSpPr/>
          <p:nvPr/>
        </p:nvSpPr>
        <p:spPr>
          <a:xfrm>
            <a:off x="3854298" y="29697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3" name="Oval 342"/>
          <p:cNvSpPr/>
          <p:nvPr/>
        </p:nvSpPr>
        <p:spPr>
          <a:xfrm>
            <a:off x="3887468" y="29543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4" name="Oval 343"/>
          <p:cNvSpPr/>
          <p:nvPr/>
        </p:nvSpPr>
        <p:spPr>
          <a:xfrm>
            <a:off x="3920637" y="29389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5" name="Oval 344"/>
          <p:cNvSpPr/>
          <p:nvPr/>
        </p:nvSpPr>
        <p:spPr>
          <a:xfrm>
            <a:off x="3953807" y="29235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6" name="Oval 345"/>
          <p:cNvSpPr/>
          <p:nvPr/>
        </p:nvSpPr>
        <p:spPr>
          <a:xfrm>
            <a:off x="3986977" y="290808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7" name="Oval 346"/>
          <p:cNvSpPr/>
          <p:nvPr/>
        </p:nvSpPr>
        <p:spPr>
          <a:xfrm>
            <a:off x="4020147" y="289267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8" name="Oval 347"/>
          <p:cNvSpPr/>
          <p:nvPr/>
        </p:nvSpPr>
        <p:spPr>
          <a:xfrm>
            <a:off x="4053317" y="28772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9" name="Oval 348"/>
          <p:cNvSpPr/>
          <p:nvPr/>
        </p:nvSpPr>
        <p:spPr>
          <a:xfrm>
            <a:off x="3828141" y="29172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0" name="Oval 349"/>
          <p:cNvSpPr/>
          <p:nvPr/>
        </p:nvSpPr>
        <p:spPr>
          <a:xfrm>
            <a:off x="3860424" y="29000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1" name="Oval 350"/>
          <p:cNvSpPr/>
          <p:nvPr/>
        </p:nvSpPr>
        <p:spPr>
          <a:xfrm>
            <a:off x="3892707" y="28828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2" name="Oval 351"/>
          <p:cNvSpPr/>
          <p:nvPr/>
        </p:nvSpPr>
        <p:spPr>
          <a:xfrm>
            <a:off x="3924990" y="28656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3" name="Oval 352"/>
          <p:cNvSpPr/>
          <p:nvPr/>
        </p:nvSpPr>
        <p:spPr>
          <a:xfrm>
            <a:off x="3957273" y="284846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4" name="Oval 353"/>
          <p:cNvSpPr/>
          <p:nvPr/>
        </p:nvSpPr>
        <p:spPr>
          <a:xfrm>
            <a:off x="3989556" y="283126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5" name="Oval 354"/>
          <p:cNvSpPr/>
          <p:nvPr/>
        </p:nvSpPr>
        <p:spPr>
          <a:xfrm>
            <a:off x="4021840" y="28140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6" name="Oval 355"/>
          <p:cNvSpPr/>
          <p:nvPr/>
        </p:nvSpPr>
        <p:spPr>
          <a:xfrm>
            <a:off x="3799169" y="28662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7" name="Oval 356"/>
          <p:cNvSpPr/>
          <p:nvPr/>
        </p:nvSpPr>
        <p:spPr>
          <a:xfrm>
            <a:off x="3830470" y="28473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8" name="Oval 357"/>
          <p:cNvSpPr/>
          <p:nvPr/>
        </p:nvSpPr>
        <p:spPr>
          <a:xfrm>
            <a:off x="3861771" y="28283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9" name="Oval 358"/>
          <p:cNvSpPr/>
          <p:nvPr/>
        </p:nvSpPr>
        <p:spPr>
          <a:xfrm>
            <a:off x="3893072" y="28094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0" name="Oval 359"/>
          <p:cNvSpPr/>
          <p:nvPr/>
        </p:nvSpPr>
        <p:spPr>
          <a:xfrm>
            <a:off x="3924373" y="279053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1" name="Oval 360"/>
          <p:cNvSpPr/>
          <p:nvPr/>
        </p:nvSpPr>
        <p:spPr>
          <a:xfrm>
            <a:off x="3955674" y="277161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2" name="Oval 361"/>
          <p:cNvSpPr/>
          <p:nvPr/>
        </p:nvSpPr>
        <p:spPr>
          <a:xfrm>
            <a:off x="3986975" y="2752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3" name="Oval 362"/>
          <p:cNvSpPr/>
          <p:nvPr/>
        </p:nvSpPr>
        <p:spPr>
          <a:xfrm>
            <a:off x="3767467" y="28168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4" name="Oval 363"/>
          <p:cNvSpPr/>
          <p:nvPr/>
        </p:nvSpPr>
        <p:spPr>
          <a:xfrm>
            <a:off x="3797694" y="27962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5" name="Oval 364"/>
          <p:cNvSpPr/>
          <p:nvPr/>
        </p:nvSpPr>
        <p:spPr>
          <a:xfrm>
            <a:off x="3827920" y="27756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6" name="Oval 365"/>
          <p:cNvSpPr/>
          <p:nvPr/>
        </p:nvSpPr>
        <p:spPr>
          <a:xfrm>
            <a:off x="3858147" y="275508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7" name="Oval 366"/>
          <p:cNvSpPr/>
          <p:nvPr/>
        </p:nvSpPr>
        <p:spPr>
          <a:xfrm>
            <a:off x="3888373" y="273448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8" name="Oval 367"/>
          <p:cNvSpPr/>
          <p:nvPr/>
        </p:nvSpPr>
        <p:spPr>
          <a:xfrm>
            <a:off x="3918600" y="271389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9" name="Oval 368"/>
          <p:cNvSpPr/>
          <p:nvPr/>
        </p:nvSpPr>
        <p:spPr>
          <a:xfrm>
            <a:off x="3948826" y="26932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0" name="Oval 369"/>
          <p:cNvSpPr/>
          <p:nvPr/>
        </p:nvSpPr>
        <p:spPr>
          <a:xfrm>
            <a:off x="3733130" y="27693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1" name="Oval 370"/>
          <p:cNvSpPr/>
          <p:nvPr/>
        </p:nvSpPr>
        <p:spPr>
          <a:xfrm>
            <a:off x="3762193" y="274709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2" name="Oval 371"/>
          <p:cNvSpPr/>
          <p:nvPr/>
        </p:nvSpPr>
        <p:spPr>
          <a:xfrm>
            <a:off x="3791255" y="27248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3" name="Oval 372"/>
          <p:cNvSpPr/>
          <p:nvPr/>
        </p:nvSpPr>
        <p:spPr>
          <a:xfrm>
            <a:off x="3820318" y="27026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4" name="Oval 373"/>
          <p:cNvSpPr/>
          <p:nvPr/>
        </p:nvSpPr>
        <p:spPr>
          <a:xfrm>
            <a:off x="3849380" y="26804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5" name="Oval 374"/>
          <p:cNvSpPr/>
          <p:nvPr/>
        </p:nvSpPr>
        <p:spPr>
          <a:xfrm>
            <a:off x="3878443" y="26582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6" name="Oval 375"/>
          <p:cNvSpPr/>
          <p:nvPr/>
        </p:nvSpPr>
        <p:spPr>
          <a:xfrm>
            <a:off x="3907505" y="26360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7" name="Oval 376"/>
          <p:cNvSpPr/>
          <p:nvPr/>
        </p:nvSpPr>
        <p:spPr>
          <a:xfrm>
            <a:off x="3696259" y="27236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8" name="Oval 377"/>
          <p:cNvSpPr/>
          <p:nvPr/>
        </p:nvSpPr>
        <p:spPr>
          <a:xfrm>
            <a:off x="3724072" y="26999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9" name="Oval 378"/>
          <p:cNvSpPr/>
          <p:nvPr/>
        </p:nvSpPr>
        <p:spPr>
          <a:xfrm>
            <a:off x="3751885" y="26761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0" name="Oval 379"/>
          <p:cNvSpPr/>
          <p:nvPr/>
        </p:nvSpPr>
        <p:spPr>
          <a:xfrm>
            <a:off x="3779697" y="265241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1" name="Oval 380"/>
          <p:cNvSpPr/>
          <p:nvPr/>
        </p:nvSpPr>
        <p:spPr>
          <a:xfrm>
            <a:off x="3807510" y="2628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2" name="Oval 381"/>
          <p:cNvSpPr/>
          <p:nvPr/>
        </p:nvSpPr>
        <p:spPr>
          <a:xfrm>
            <a:off x="3835322" y="26049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3" name="Oval 382"/>
          <p:cNvSpPr/>
          <p:nvPr/>
        </p:nvSpPr>
        <p:spPr>
          <a:xfrm>
            <a:off x="3863135" y="258115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4" name="Oval 383"/>
          <p:cNvSpPr/>
          <p:nvPr/>
        </p:nvSpPr>
        <p:spPr>
          <a:xfrm>
            <a:off x="3656963" y="268012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5" name="Oval 384"/>
          <p:cNvSpPr/>
          <p:nvPr/>
        </p:nvSpPr>
        <p:spPr>
          <a:xfrm>
            <a:off x="3683444" y="26548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6" name="Oval 385"/>
          <p:cNvSpPr/>
          <p:nvPr/>
        </p:nvSpPr>
        <p:spPr>
          <a:xfrm>
            <a:off x="3709924" y="26296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7" name="Oval 386"/>
          <p:cNvSpPr/>
          <p:nvPr/>
        </p:nvSpPr>
        <p:spPr>
          <a:xfrm>
            <a:off x="3736405" y="26044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8" name="Oval 387"/>
          <p:cNvSpPr/>
          <p:nvPr/>
        </p:nvSpPr>
        <p:spPr>
          <a:xfrm>
            <a:off x="3762885" y="25792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9" name="Oval 388"/>
          <p:cNvSpPr/>
          <p:nvPr/>
        </p:nvSpPr>
        <p:spPr>
          <a:xfrm>
            <a:off x="3789366" y="255397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0" name="Oval 389"/>
          <p:cNvSpPr/>
          <p:nvPr/>
        </p:nvSpPr>
        <p:spPr>
          <a:xfrm>
            <a:off x="3815847" y="252874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1" name="Oval 390"/>
          <p:cNvSpPr/>
          <p:nvPr/>
        </p:nvSpPr>
        <p:spPr>
          <a:xfrm>
            <a:off x="3615358" y="26387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2" name="Oval 391"/>
          <p:cNvSpPr/>
          <p:nvPr/>
        </p:nvSpPr>
        <p:spPr>
          <a:xfrm>
            <a:off x="3640428" y="26121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3" name="Oval 392"/>
          <p:cNvSpPr/>
          <p:nvPr/>
        </p:nvSpPr>
        <p:spPr>
          <a:xfrm>
            <a:off x="3665499" y="258550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4" name="Oval 393"/>
          <p:cNvSpPr/>
          <p:nvPr/>
        </p:nvSpPr>
        <p:spPr>
          <a:xfrm>
            <a:off x="3690569" y="255887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5" name="Oval 394"/>
          <p:cNvSpPr/>
          <p:nvPr/>
        </p:nvSpPr>
        <p:spPr>
          <a:xfrm>
            <a:off x="3715639" y="25322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Oval 395"/>
          <p:cNvSpPr/>
          <p:nvPr/>
        </p:nvSpPr>
        <p:spPr>
          <a:xfrm>
            <a:off x="3740709" y="25056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7" name="Oval 396"/>
          <p:cNvSpPr/>
          <p:nvPr/>
        </p:nvSpPr>
        <p:spPr>
          <a:xfrm>
            <a:off x="3765779" y="247897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Oval 397"/>
          <p:cNvSpPr/>
          <p:nvPr/>
        </p:nvSpPr>
        <p:spPr>
          <a:xfrm>
            <a:off x="3571567" y="259973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9" name="Oval 398"/>
          <p:cNvSpPr/>
          <p:nvPr/>
        </p:nvSpPr>
        <p:spPr>
          <a:xfrm>
            <a:off x="3595153" y="257178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Oval 399"/>
          <p:cNvSpPr/>
          <p:nvPr/>
        </p:nvSpPr>
        <p:spPr>
          <a:xfrm>
            <a:off x="3618739" y="25438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1" name="Oval 400"/>
          <p:cNvSpPr/>
          <p:nvPr/>
        </p:nvSpPr>
        <p:spPr>
          <a:xfrm>
            <a:off x="3642324" y="251587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Oval 401"/>
          <p:cNvSpPr/>
          <p:nvPr/>
        </p:nvSpPr>
        <p:spPr>
          <a:xfrm>
            <a:off x="3665910" y="248791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3" name="Oval 402"/>
          <p:cNvSpPr/>
          <p:nvPr/>
        </p:nvSpPr>
        <p:spPr>
          <a:xfrm>
            <a:off x="3689496" y="245995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Oval 403"/>
          <p:cNvSpPr/>
          <p:nvPr/>
        </p:nvSpPr>
        <p:spPr>
          <a:xfrm>
            <a:off x="3713082" y="243200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5" name="Oval 404"/>
          <p:cNvSpPr/>
          <p:nvPr/>
        </p:nvSpPr>
        <p:spPr>
          <a:xfrm>
            <a:off x="3525719" y="25631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6" name="Oval 405"/>
          <p:cNvSpPr/>
          <p:nvPr/>
        </p:nvSpPr>
        <p:spPr>
          <a:xfrm>
            <a:off x="3547751" y="25339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7" name="Oval 406"/>
          <p:cNvSpPr/>
          <p:nvPr/>
        </p:nvSpPr>
        <p:spPr>
          <a:xfrm>
            <a:off x="3569783" y="250475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Oval 407"/>
          <p:cNvSpPr/>
          <p:nvPr/>
        </p:nvSpPr>
        <p:spPr>
          <a:xfrm>
            <a:off x="3591814" y="247555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9" name="Oval 408"/>
          <p:cNvSpPr/>
          <p:nvPr/>
        </p:nvSpPr>
        <p:spPr>
          <a:xfrm>
            <a:off x="3613846" y="244635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0" name="Oval 409"/>
          <p:cNvSpPr/>
          <p:nvPr/>
        </p:nvSpPr>
        <p:spPr>
          <a:xfrm>
            <a:off x="3635877" y="241716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1" name="Oval 410"/>
          <p:cNvSpPr/>
          <p:nvPr/>
        </p:nvSpPr>
        <p:spPr>
          <a:xfrm>
            <a:off x="3657909" y="2387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Oval 411"/>
          <p:cNvSpPr/>
          <p:nvPr/>
        </p:nvSpPr>
        <p:spPr>
          <a:xfrm>
            <a:off x="3477951" y="25290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3" name="Oval 412"/>
          <p:cNvSpPr/>
          <p:nvPr/>
        </p:nvSpPr>
        <p:spPr>
          <a:xfrm>
            <a:off x="3498363" y="24987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4" name="Oval 413"/>
          <p:cNvSpPr/>
          <p:nvPr/>
        </p:nvSpPr>
        <p:spPr>
          <a:xfrm>
            <a:off x="3518775" y="246839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5" name="Oval 414"/>
          <p:cNvSpPr/>
          <p:nvPr/>
        </p:nvSpPr>
        <p:spPr>
          <a:xfrm>
            <a:off x="3539188" y="24380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6" name="Oval 415"/>
          <p:cNvSpPr/>
          <p:nvPr/>
        </p:nvSpPr>
        <p:spPr>
          <a:xfrm>
            <a:off x="3559600" y="240769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7" name="Oval 416"/>
          <p:cNvSpPr/>
          <p:nvPr/>
        </p:nvSpPr>
        <p:spPr>
          <a:xfrm>
            <a:off x="3580012" y="237734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Oval 417"/>
          <p:cNvSpPr/>
          <p:nvPr/>
        </p:nvSpPr>
        <p:spPr>
          <a:xfrm>
            <a:off x="3600425" y="23469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9" name="Oval 418"/>
          <p:cNvSpPr/>
          <p:nvPr/>
        </p:nvSpPr>
        <p:spPr>
          <a:xfrm>
            <a:off x="3428402" y="24976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0" name="Oval 419"/>
          <p:cNvSpPr/>
          <p:nvPr/>
        </p:nvSpPr>
        <p:spPr>
          <a:xfrm>
            <a:off x="3447135" y="24662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1" name="Oval 420"/>
          <p:cNvSpPr/>
          <p:nvPr/>
        </p:nvSpPr>
        <p:spPr>
          <a:xfrm>
            <a:off x="3465867" y="24348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Oval 421"/>
          <p:cNvSpPr/>
          <p:nvPr/>
        </p:nvSpPr>
        <p:spPr>
          <a:xfrm>
            <a:off x="3484600" y="240344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3" name="Oval 422"/>
          <p:cNvSpPr/>
          <p:nvPr/>
        </p:nvSpPr>
        <p:spPr>
          <a:xfrm>
            <a:off x="3503333" y="237203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4" name="Oval 423"/>
          <p:cNvSpPr/>
          <p:nvPr/>
        </p:nvSpPr>
        <p:spPr>
          <a:xfrm>
            <a:off x="3522066" y="23406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5" name="Oval 424"/>
          <p:cNvSpPr/>
          <p:nvPr/>
        </p:nvSpPr>
        <p:spPr>
          <a:xfrm>
            <a:off x="3540798" y="230920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Oval 425"/>
          <p:cNvSpPr/>
          <p:nvPr/>
        </p:nvSpPr>
        <p:spPr>
          <a:xfrm>
            <a:off x="3377220" y="246902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7" name="Oval 426"/>
          <p:cNvSpPr/>
          <p:nvPr/>
        </p:nvSpPr>
        <p:spPr>
          <a:xfrm>
            <a:off x="3394218" y="243664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8" name="Oval 427"/>
          <p:cNvSpPr/>
          <p:nvPr/>
        </p:nvSpPr>
        <p:spPr>
          <a:xfrm>
            <a:off x="3411216" y="240425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9" name="Oval 428"/>
          <p:cNvSpPr/>
          <p:nvPr/>
        </p:nvSpPr>
        <p:spPr>
          <a:xfrm>
            <a:off x="3428213" y="23718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0" name="Oval 429"/>
          <p:cNvSpPr/>
          <p:nvPr/>
        </p:nvSpPr>
        <p:spPr>
          <a:xfrm>
            <a:off x="3445211" y="233948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1" name="Oval 430"/>
          <p:cNvSpPr/>
          <p:nvPr/>
        </p:nvSpPr>
        <p:spPr>
          <a:xfrm>
            <a:off x="3462209" y="230709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Oval 431"/>
          <p:cNvSpPr/>
          <p:nvPr/>
        </p:nvSpPr>
        <p:spPr>
          <a:xfrm>
            <a:off x="3479206" y="22747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3" name="Oval 432"/>
          <p:cNvSpPr/>
          <p:nvPr/>
        </p:nvSpPr>
        <p:spPr>
          <a:xfrm>
            <a:off x="3324556" y="244318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4" name="Oval 433"/>
          <p:cNvSpPr/>
          <p:nvPr/>
        </p:nvSpPr>
        <p:spPr>
          <a:xfrm>
            <a:off x="3339768" y="240992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5" name="Oval 434"/>
          <p:cNvSpPr/>
          <p:nvPr/>
        </p:nvSpPr>
        <p:spPr>
          <a:xfrm>
            <a:off x="3354981" y="237666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Oval 435"/>
          <p:cNvSpPr/>
          <p:nvPr/>
        </p:nvSpPr>
        <p:spPr>
          <a:xfrm>
            <a:off x="3370193" y="234340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7" name="Oval 436"/>
          <p:cNvSpPr/>
          <p:nvPr/>
        </p:nvSpPr>
        <p:spPr>
          <a:xfrm>
            <a:off x="3385406" y="231013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8" name="Oval 437"/>
          <p:cNvSpPr/>
          <p:nvPr/>
        </p:nvSpPr>
        <p:spPr>
          <a:xfrm>
            <a:off x="3400618" y="227687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9" name="Oval 438"/>
          <p:cNvSpPr/>
          <p:nvPr/>
        </p:nvSpPr>
        <p:spPr>
          <a:xfrm>
            <a:off x="3415831" y="224361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0" name="Oval 439"/>
          <p:cNvSpPr/>
          <p:nvPr/>
        </p:nvSpPr>
        <p:spPr>
          <a:xfrm>
            <a:off x="3270565" y="24202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1" name="Oval 440"/>
          <p:cNvSpPr/>
          <p:nvPr/>
        </p:nvSpPr>
        <p:spPr>
          <a:xfrm>
            <a:off x="3283948" y="23862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Oval 441"/>
          <p:cNvSpPr/>
          <p:nvPr/>
        </p:nvSpPr>
        <p:spPr>
          <a:xfrm>
            <a:off x="3297330" y="235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3" name="Oval 442"/>
          <p:cNvSpPr/>
          <p:nvPr/>
        </p:nvSpPr>
        <p:spPr>
          <a:xfrm>
            <a:off x="3310712" y="231812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4" name="Oval 443"/>
          <p:cNvSpPr/>
          <p:nvPr/>
        </p:nvSpPr>
        <p:spPr>
          <a:xfrm>
            <a:off x="3324095" y="228408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5" name="Oval 444"/>
          <p:cNvSpPr/>
          <p:nvPr/>
        </p:nvSpPr>
        <p:spPr>
          <a:xfrm>
            <a:off x="3337477" y="225004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Oval 445"/>
          <p:cNvSpPr/>
          <p:nvPr/>
        </p:nvSpPr>
        <p:spPr>
          <a:xfrm>
            <a:off x="3350859" y="221600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7" name="Oval 446"/>
          <p:cNvSpPr/>
          <p:nvPr/>
        </p:nvSpPr>
        <p:spPr>
          <a:xfrm>
            <a:off x="3215408" y="24002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8" name="Oval 447"/>
          <p:cNvSpPr/>
          <p:nvPr/>
        </p:nvSpPr>
        <p:spPr>
          <a:xfrm>
            <a:off x="3226921" y="23655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9" name="Oval 448"/>
          <p:cNvSpPr/>
          <p:nvPr/>
        </p:nvSpPr>
        <p:spPr>
          <a:xfrm>
            <a:off x="3238433" y="233084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Oval 449"/>
          <p:cNvSpPr/>
          <p:nvPr/>
        </p:nvSpPr>
        <p:spPr>
          <a:xfrm>
            <a:off x="3249946" y="229612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1" name="Oval 450"/>
          <p:cNvSpPr/>
          <p:nvPr/>
        </p:nvSpPr>
        <p:spPr>
          <a:xfrm>
            <a:off x="3261458" y="226141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2" name="Oval 451"/>
          <p:cNvSpPr/>
          <p:nvPr/>
        </p:nvSpPr>
        <p:spPr>
          <a:xfrm>
            <a:off x="3272971" y="22266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3" name="Oval 452"/>
          <p:cNvSpPr/>
          <p:nvPr/>
        </p:nvSpPr>
        <p:spPr>
          <a:xfrm>
            <a:off x="3284483" y="219197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4" name="Oval 453"/>
          <p:cNvSpPr/>
          <p:nvPr/>
        </p:nvSpPr>
        <p:spPr>
          <a:xfrm>
            <a:off x="3159247" y="238333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5" name="Oval 454"/>
          <p:cNvSpPr/>
          <p:nvPr/>
        </p:nvSpPr>
        <p:spPr>
          <a:xfrm>
            <a:off x="3168855" y="23480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Oval 455"/>
          <p:cNvSpPr/>
          <p:nvPr/>
        </p:nvSpPr>
        <p:spPr>
          <a:xfrm>
            <a:off x="3178464" y="2312752"/>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7" name="Oval 456"/>
          <p:cNvSpPr/>
          <p:nvPr/>
        </p:nvSpPr>
        <p:spPr>
          <a:xfrm>
            <a:off x="3188073" y="22774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8" name="Oval 457"/>
          <p:cNvSpPr/>
          <p:nvPr/>
        </p:nvSpPr>
        <p:spPr>
          <a:xfrm>
            <a:off x="3197682" y="2242169"/>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9" name="Oval 458"/>
          <p:cNvSpPr/>
          <p:nvPr/>
        </p:nvSpPr>
        <p:spPr>
          <a:xfrm>
            <a:off x="3207291" y="220687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Oval 459"/>
          <p:cNvSpPr/>
          <p:nvPr/>
        </p:nvSpPr>
        <p:spPr>
          <a:xfrm>
            <a:off x="3216899" y="217158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1" name="Oval 460"/>
          <p:cNvSpPr/>
          <p:nvPr/>
        </p:nvSpPr>
        <p:spPr>
          <a:xfrm>
            <a:off x="3102248" y="2369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2" name="Oval 461"/>
          <p:cNvSpPr/>
          <p:nvPr/>
        </p:nvSpPr>
        <p:spPr>
          <a:xfrm>
            <a:off x="3109924" y="233370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3" name="Oval 462"/>
          <p:cNvSpPr/>
          <p:nvPr/>
        </p:nvSpPr>
        <p:spPr>
          <a:xfrm>
            <a:off x="3117601" y="2297945"/>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Oval 463"/>
          <p:cNvSpPr/>
          <p:nvPr/>
        </p:nvSpPr>
        <p:spPr>
          <a:xfrm>
            <a:off x="3125277" y="226218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5" name="Oval 464"/>
          <p:cNvSpPr/>
          <p:nvPr/>
        </p:nvSpPr>
        <p:spPr>
          <a:xfrm>
            <a:off x="3132954" y="222642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6" name="Oval 465"/>
          <p:cNvSpPr/>
          <p:nvPr/>
        </p:nvSpPr>
        <p:spPr>
          <a:xfrm>
            <a:off x="3140631" y="219066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7" name="Oval 466"/>
          <p:cNvSpPr/>
          <p:nvPr/>
        </p:nvSpPr>
        <p:spPr>
          <a:xfrm>
            <a:off x="3148307" y="215490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8" name="Oval 467"/>
          <p:cNvSpPr/>
          <p:nvPr/>
        </p:nvSpPr>
        <p:spPr>
          <a:xfrm>
            <a:off x="3044579" y="2358720"/>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9" name="Oval 468"/>
          <p:cNvSpPr/>
          <p:nvPr/>
        </p:nvSpPr>
        <p:spPr>
          <a:xfrm>
            <a:off x="3050301" y="2322594"/>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Oval 469"/>
          <p:cNvSpPr/>
          <p:nvPr/>
        </p:nvSpPr>
        <p:spPr>
          <a:xfrm>
            <a:off x="3056023" y="2286468"/>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1" name="Oval 470"/>
          <p:cNvSpPr/>
          <p:nvPr/>
        </p:nvSpPr>
        <p:spPr>
          <a:xfrm>
            <a:off x="3061744" y="2250343"/>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2" name="Oval 471"/>
          <p:cNvSpPr/>
          <p:nvPr/>
        </p:nvSpPr>
        <p:spPr>
          <a:xfrm>
            <a:off x="3067466" y="2214217"/>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3" name="Oval 472"/>
          <p:cNvSpPr/>
          <p:nvPr/>
        </p:nvSpPr>
        <p:spPr>
          <a:xfrm>
            <a:off x="3073188" y="2178091"/>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Oval 473"/>
          <p:cNvSpPr/>
          <p:nvPr/>
        </p:nvSpPr>
        <p:spPr>
          <a:xfrm>
            <a:off x="3078910" y="2141966"/>
            <a:ext cx="100584" cy="100584"/>
          </a:xfrm>
          <a:prstGeom prst="ellipse">
            <a:avLst/>
          </a:prstGeom>
          <a:solidFill>
            <a:srgbClr val="0033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5" name="Oval 474"/>
          <p:cNvSpPr/>
          <p:nvPr/>
        </p:nvSpPr>
        <p:spPr>
          <a:xfrm>
            <a:off x="191566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6" name="Oval 475"/>
          <p:cNvSpPr/>
          <p:nvPr/>
        </p:nvSpPr>
        <p:spPr>
          <a:xfrm>
            <a:off x="186537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7" name="Oval 476"/>
          <p:cNvSpPr/>
          <p:nvPr/>
        </p:nvSpPr>
        <p:spPr>
          <a:xfrm>
            <a:off x="181508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Oval 477"/>
          <p:cNvSpPr/>
          <p:nvPr/>
        </p:nvSpPr>
        <p:spPr>
          <a:xfrm>
            <a:off x="176479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9" name="Oval 478"/>
          <p:cNvSpPr/>
          <p:nvPr/>
        </p:nvSpPr>
        <p:spPr>
          <a:xfrm>
            <a:off x="1714500"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0" name="Oval 479"/>
          <p:cNvSpPr/>
          <p:nvPr/>
        </p:nvSpPr>
        <p:spPr>
          <a:xfrm>
            <a:off x="16642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1" name="Oval 480"/>
          <p:cNvSpPr/>
          <p:nvPr/>
        </p:nvSpPr>
        <p:spPr>
          <a:xfrm>
            <a:off x="16139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2" name="Oval 481"/>
          <p:cNvSpPr/>
          <p:nvPr/>
        </p:nvSpPr>
        <p:spPr>
          <a:xfrm>
            <a:off x="15636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3" name="Oval 482"/>
          <p:cNvSpPr/>
          <p:nvPr/>
        </p:nvSpPr>
        <p:spPr>
          <a:xfrm>
            <a:off x="15133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TextBox 483"/>
          <p:cNvSpPr txBox="1"/>
          <p:nvPr/>
        </p:nvSpPr>
        <p:spPr>
          <a:xfrm>
            <a:off x="1170432" y="3364991"/>
            <a:ext cx="365760" cy="219456"/>
          </a:xfrm>
          <a:prstGeom prst="rect">
            <a:avLst/>
          </a:prstGeom>
          <a:noFill/>
        </p:spPr>
        <p:txBody>
          <a:bodyPr wrap="square">
            <a:spAutoFit/>
          </a:bodyPr>
          <a:lstStyle/>
          <a:p>
            <a:pPr algn="ctr"/>
            <a:r>
              <a:rPr sz="800" b="0" i="0">
                <a:solidFill>
                  <a:srgbClr val="404040"/>
                </a:solidFill>
              </a:rPr>
              <a:t>0.00</a:t>
            </a:r>
          </a:p>
        </p:txBody>
      </p:sp>
      <p:sp>
        <p:nvSpPr>
          <p:cNvPr id="485" name="Oval 484"/>
          <p:cNvSpPr/>
          <p:nvPr/>
        </p:nvSpPr>
        <p:spPr>
          <a:xfrm>
            <a:off x="2204915"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6" name="Oval 485"/>
          <p:cNvSpPr/>
          <p:nvPr/>
        </p:nvSpPr>
        <p:spPr>
          <a:xfrm>
            <a:off x="2169353"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7" name="Oval 486"/>
          <p:cNvSpPr/>
          <p:nvPr/>
        </p:nvSpPr>
        <p:spPr>
          <a:xfrm>
            <a:off x="2133791"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Oval 487"/>
          <p:cNvSpPr/>
          <p:nvPr/>
        </p:nvSpPr>
        <p:spPr>
          <a:xfrm>
            <a:off x="2098229"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9" name="Oval 488"/>
          <p:cNvSpPr/>
          <p:nvPr/>
        </p:nvSpPr>
        <p:spPr>
          <a:xfrm>
            <a:off x="2062668"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0" name="Oval 489"/>
          <p:cNvSpPr/>
          <p:nvPr/>
        </p:nvSpPr>
        <p:spPr>
          <a:xfrm>
            <a:off x="2027106"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1" name="Oval 490"/>
          <p:cNvSpPr/>
          <p:nvPr/>
        </p:nvSpPr>
        <p:spPr>
          <a:xfrm>
            <a:off x="1991544"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Oval 491"/>
          <p:cNvSpPr/>
          <p:nvPr/>
        </p:nvSpPr>
        <p:spPr>
          <a:xfrm>
            <a:off x="1955982"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3" name="Oval 492"/>
          <p:cNvSpPr/>
          <p:nvPr/>
        </p:nvSpPr>
        <p:spPr>
          <a:xfrm>
            <a:off x="1920420"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1631085" y="2252877"/>
            <a:ext cx="365760" cy="219456"/>
          </a:xfrm>
          <a:prstGeom prst="rect">
            <a:avLst/>
          </a:prstGeom>
          <a:noFill/>
        </p:spPr>
        <p:txBody>
          <a:bodyPr wrap="square">
            <a:spAutoFit/>
          </a:bodyPr>
          <a:lstStyle/>
          <a:p>
            <a:pPr algn="ctr"/>
            <a:r>
              <a:rPr sz="800" b="0" i="0">
                <a:solidFill>
                  <a:srgbClr val="404040"/>
                </a:solidFill>
              </a:rPr>
              <a:t>0.50</a:t>
            </a:r>
          </a:p>
        </p:txBody>
      </p:sp>
      <p:sp>
        <p:nvSpPr>
          <p:cNvPr id="495" name="Oval 494"/>
          <p:cNvSpPr/>
          <p:nvPr/>
        </p:nvSpPr>
        <p:spPr>
          <a:xfrm>
            <a:off x="2525300"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Oval 495"/>
          <p:cNvSpPr/>
          <p:nvPr/>
        </p:nvSpPr>
        <p:spPr>
          <a:xfrm>
            <a:off x="2506054"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7" name="Oval 496"/>
          <p:cNvSpPr/>
          <p:nvPr/>
        </p:nvSpPr>
        <p:spPr>
          <a:xfrm>
            <a:off x="2486808"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8" name="Oval 497"/>
          <p:cNvSpPr/>
          <p:nvPr/>
        </p:nvSpPr>
        <p:spPr>
          <a:xfrm>
            <a:off x="2467562"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9" name="Oval 498"/>
          <p:cNvSpPr/>
          <p:nvPr/>
        </p:nvSpPr>
        <p:spPr>
          <a:xfrm>
            <a:off x="2448316"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Oval 499"/>
          <p:cNvSpPr/>
          <p:nvPr/>
        </p:nvSpPr>
        <p:spPr>
          <a:xfrm>
            <a:off x="2429070"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1" name="Oval 500"/>
          <p:cNvSpPr/>
          <p:nvPr/>
        </p:nvSpPr>
        <p:spPr>
          <a:xfrm>
            <a:off x="2409824"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2" name="Oval 501"/>
          <p:cNvSpPr/>
          <p:nvPr/>
        </p:nvSpPr>
        <p:spPr>
          <a:xfrm>
            <a:off x="2390578"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3" name="Oval 502"/>
          <p:cNvSpPr/>
          <p:nvPr/>
        </p:nvSpPr>
        <p:spPr>
          <a:xfrm>
            <a:off x="2371332"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TextBox 503"/>
          <p:cNvSpPr txBox="1"/>
          <p:nvPr/>
        </p:nvSpPr>
        <p:spPr>
          <a:xfrm>
            <a:off x="2141327" y="1911943"/>
            <a:ext cx="365760" cy="219456"/>
          </a:xfrm>
          <a:prstGeom prst="rect">
            <a:avLst/>
          </a:prstGeom>
          <a:noFill/>
        </p:spPr>
        <p:txBody>
          <a:bodyPr wrap="square">
            <a:spAutoFit/>
          </a:bodyPr>
          <a:lstStyle/>
          <a:p>
            <a:pPr algn="ctr"/>
            <a:r>
              <a:rPr sz="800" b="1" i="0">
                <a:solidFill>
                  <a:srgbClr val="404040"/>
                </a:solidFill>
              </a:rPr>
              <a:t>0.75</a:t>
            </a:r>
          </a:p>
        </p:txBody>
      </p:sp>
      <p:sp>
        <p:nvSpPr>
          <p:cNvPr id="505" name="Oval 504"/>
          <p:cNvSpPr/>
          <p:nvPr/>
        </p:nvSpPr>
        <p:spPr>
          <a:xfrm>
            <a:off x="2903220" y="2464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6" name="Oval 505"/>
          <p:cNvSpPr/>
          <p:nvPr/>
        </p:nvSpPr>
        <p:spPr>
          <a:xfrm>
            <a:off x="2903220" y="241401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7" name="Oval 506"/>
          <p:cNvSpPr/>
          <p:nvPr/>
        </p:nvSpPr>
        <p:spPr>
          <a:xfrm>
            <a:off x="2903220" y="236372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Oval 507"/>
          <p:cNvSpPr/>
          <p:nvPr/>
        </p:nvSpPr>
        <p:spPr>
          <a:xfrm>
            <a:off x="2903220" y="231343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9" name="Oval 508"/>
          <p:cNvSpPr/>
          <p:nvPr/>
        </p:nvSpPr>
        <p:spPr>
          <a:xfrm>
            <a:off x="2903220" y="226314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0" name="Oval 509"/>
          <p:cNvSpPr/>
          <p:nvPr/>
        </p:nvSpPr>
        <p:spPr>
          <a:xfrm>
            <a:off x="2903220" y="221284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1" name="Oval 510"/>
          <p:cNvSpPr/>
          <p:nvPr/>
        </p:nvSpPr>
        <p:spPr>
          <a:xfrm>
            <a:off x="2903220" y="216255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Oval 511"/>
          <p:cNvSpPr/>
          <p:nvPr/>
        </p:nvSpPr>
        <p:spPr>
          <a:xfrm>
            <a:off x="2903220" y="211226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3" name="Oval 512"/>
          <p:cNvSpPr/>
          <p:nvPr/>
        </p:nvSpPr>
        <p:spPr>
          <a:xfrm>
            <a:off x="2903220" y="206197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4" name="TextBox 513"/>
          <p:cNvSpPr txBox="1"/>
          <p:nvPr/>
        </p:nvSpPr>
        <p:spPr>
          <a:xfrm>
            <a:off x="2743200" y="1792224"/>
            <a:ext cx="365760" cy="219456"/>
          </a:xfrm>
          <a:prstGeom prst="rect">
            <a:avLst/>
          </a:prstGeom>
          <a:noFill/>
        </p:spPr>
        <p:txBody>
          <a:bodyPr wrap="square">
            <a:spAutoFit/>
          </a:bodyPr>
          <a:lstStyle/>
          <a:p>
            <a:pPr algn="ctr"/>
            <a:r>
              <a:rPr sz="800" b="1" i="0">
                <a:solidFill>
                  <a:srgbClr val="404040"/>
                </a:solidFill>
              </a:rPr>
              <a:t>1.00</a:t>
            </a:r>
          </a:p>
        </p:txBody>
      </p:sp>
      <p:sp>
        <p:nvSpPr>
          <p:cNvPr id="515" name="Oval 514"/>
          <p:cNvSpPr/>
          <p:nvPr/>
        </p:nvSpPr>
        <p:spPr>
          <a:xfrm>
            <a:off x="3281139" y="253948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Oval 515"/>
          <p:cNvSpPr/>
          <p:nvPr/>
        </p:nvSpPr>
        <p:spPr>
          <a:xfrm>
            <a:off x="3300385" y="2493017"/>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7" name="Oval 516"/>
          <p:cNvSpPr/>
          <p:nvPr/>
        </p:nvSpPr>
        <p:spPr>
          <a:xfrm>
            <a:off x="3319631" y="244655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8" name="Oval 517"/>
          <p:cNvSpPr/>
          <p:nvPr/>
        </p:nvSpPr>
        <p:spPr>
          <a:xfrm>
            <a:off x="3338877" y="240008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9" name="Oval 518"/>
          <p:cNvSpPr/>
          <p:nvPr/>
        </p:nvSpPr>
        <p:spPr>
          <a:xfrm>
            <a:off x="3358123" y="235362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Oval 519"/>
          <p:cNvSpPr/>
          <p:nvPr/>
        </p:nvSpPr>
        <p:spPr>
          <a:xfrm>
            <a:off x="3377369" y="230716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1" name="Oval 520"/>
          <p:cNvSpPr/>
          <p:nvPr/>
        </p:nvSpPr>
        <p:spPr>
          <a:xfrm>
            <a:off x="3396615" y="226069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2" name="Oval 521"/>
          <p:cNvSpPr/>
          <p:nvPr/>
        </p:nvSpPr>
        <p:spPr>
          <a:xfrm>
            <a:off x="3415861" y="221423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3" name="Oval 522"/>
          <p:cNvSpPr/>
          <p:nvPr/>
        </p:nvSpPr>
        <p:spPr>
          <a:xfrm>
            <a:off x="3435107" y="216777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TextBox 523"/>
          <p:cNvSpPr txBox="1"/>
          <p:nvPr/>
        </p:nvSpPr>
        <p:spPr>
          <a:xfrm>
            <a:off x="3345072" y="1911943"/>
            <a:ext cx="365760" cy="219456"/>
          </a:xfrm>
          <a:prstGeom prst="rect">
            <a:avLst/>
          </a:prstGeom>
          <a:noFill/>
        </p:spPr>
        <p:txBody>
          <a:bodyPr wrap="square">
            <a:spAutoFit/>
          </a:bodyPr>
          <a:lstStyle/>
          <a:p>
            <a:pPr algn="ctr"/>
            <a:r>
              <a:rPr sz="800" b="0" i="0">
                <a:solidFill>
                  <a:srgbClr val="404040"/>
                </a:solidFill>
              </a:rPr>
              <a:t>1.25</a:t>
            </a:r>
          </a:p>
        </p:txBody>
      </p:sp>
      <p:sp>
        <p:nvSpPr>
          <p:cNvPr id="525" name="Oval 524"/>
          <p:cNvSpPr/>
          <p:nvPr/>
        </p:nvSpPr>
        <p:spPr>
          <a:xfrm>
            <a:off x="3601524" y="2753555"/>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6" name="Oval 525"/>
          <p:cNvSpPr/>
          <p:nvPr/>
        </p:nvSpPr>
        <p:spPr>
          <a:xfrm>
            <a:off x="3637086" y="2717993"/>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7" name="Oval 526"/>
          <p:cNvSpPr/>
          <p:nvPr/>
        </p:nvSpPr>
        <p:spPr>
          <a:xfrm>
            <a:off x="3672648" y="2682431"/>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8" name="Oval 527"/>
          <p:cNvSpPr/>
          <p:nvPr/>
        </p:nvSpPr>
        <p:spPr>
          <a:xfrm>
            <a:off x="3708210" y="2646869"/>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9" name="Oval 528"/>
          <p:cNvSpPr/>
          <p:nvPr/>
        </p:nvSpPr>
        <p:spPr>
          <a:xfrm>
            <a:off x="3743771" y="2611308"/>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0" name="Oval 529"/>
          <p:cNvSpPr/>
          <p:nvPr/>
        </p:nvSpPr>
        <p:spPr>
          <a:xfrm>
            <a:off x="3779333" y="2575746"/>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1" name="Oval 530"/>
          <p:cNvSpPr/>
          <p:nvPr/>
        </p:nvSpPr>
        <p:spPr>
          <a:xfrm>
            <a:off x="3814895" y="2540184"/>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2" name="Oval 531"/>
          <p:cNvSpPr/>
          <p:nvPr/>
        </p:nvSpPr>
        <p:spPr>
          <a:xfrm>
            <a:off x="3850457" y="2504622"/>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3" name="Oval 532"/>
          <p:cNvSpPr/>
          <p:nvPr/>
        </p:nvSpPr>
        <p:spPr>
          <a:xfrm>
            <a:off x="3886019" y="24690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4" name="TextBox 533"/>
          <p:cNvSpPr txBox="1"/>
          <p:nvPr/>
        </p:nvSpPr>
        <p:spPr>
          <a:xfrm>
            <a:off x="3855314" y="2252877"/>
            <a:ext cx="365760" cy="219456"/>
          </a:xfrm>
          <a:prstGeom prst="rect">
            <a:avLst/>
          </a:prstGeom>
          <a:noFill/>
        </p:spPr>
        <p:txBody>
          <a:bodyPr wrap="square">
            <a:spAutoFit/>
          </a:bodyPr>
          <a:lstStyle/>
          <a:p>
            <a:pPr algn="ctr"/>
            <a:r>
              <a:rPr sz="800" b="0" i="0">
                <a:solidFill>
                  <a:srgbClr val="404040"/>
                </a:solidFill>
              </a:rPr>
              <a:t>1.50</a:t>
            </a:r>
          </a:p>
        </p:txBody>
      </p:sp>
      <p:sp>
        <p:nvSpPr>
          <p:cNvPr id="535" name="Oval 534"/>
          <p:cNvSpPr/>
          <p:nvPr/>
        </p:nvSpPr>
        <p:spPr>
          <a:xfrm>
            <a:off x="389077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6" name="Oval 535"/>
          <p:cNvSpPr/>
          <p:nvPr/>
        </p:nvSpPr>
        <p:spPr>
          <a:xfrm>
            <a:off x="3941063"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7" name="Oval 536"/>
          <p:cNvSpPr/>
          <p:nvPr/>
        </p:nvSpPr>
        <p:spPr>
          <a:xfrm>
            <a:off x="399135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8" name="Oval 537"/>
          <p:cNvSpPr/>
          <p:nvPr/>
        </p:nvSpPr>
        <p:spPr>
          <a:xfrm>
            <a:off x="404164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9" name="Oval 538"/>
          <p:cNvSpPr/>
          <p:nvPr/>
        </p:nvSpPr>
        <p:spPr>
          <a:xfrm>
            <a:off x="4091939"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0" name="Oval 539"/>
          <p:cNvSpPr/>
          <p:nvPr/>
        </p:nvSpPr>
        <p:spPr>
          <a:xfrm>
            <a:off x="4142232"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1" name="Oval 540"/>
          <p:cNvSpPr/>
          <p:nvPr/>
        </p:nvSpPr>
        <p:spPr>
          <a:xfrm>
            <a:off x="4192524"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2" name="Oval 541"/>
          <p:cNvSpPr/>
          <p:nvPr/>
        </p:nvSpPr>
        <p:spPr>
          <a:xfrm>
            <a:off x="4242816"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3" name="Oval 542"/>
          <p:cNvSpPr/>
          <p:nvPr/>
        </p:nvSpPr>
        <p:spPr>
          <a:xfrm>
            <a:off x="4293108" y="3451860"/>
            <a:ext cx="45720" cy="4572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4" name="TextBox 543"/>
          <p:cNvSpPr txBox="1"/>
          <p:nvPr/>
        </p:nvSpPr>
        <p:spPr>
          <a:xfrm>
            <a:off x="4315968" y="3364991"/>
            <a:ext cx="365760" cy="219456"/>
          </a:xfrm>
          <a:prstGeom prst="rect">
            <a:avLst/>
          </a:prstGeom>
          <a:noFill/>
        </p:spPr>
        <p:txBody>
          <a:bodyPr wrap="square">
            <a:spAutoFit/>
          </a:bodyPr>
          <a:lstStyle/>
          <a:p>
            <a:pPr algn="ctr"/>
            <a:r>
              <a:rPr sz="800" b="0" i="0">
                <a:solidFill>
                  <a:srgbClr val="404040"/>
                </a:solidFill>
              </a:rPr>
              <a:t>2.00</a:t>
            </a:r>
          </a:p>
        </p:txBody>
      </p:sp>
      <p:sp>
        <p:nvSpPr>
          <p:cNvPr id="545" name="Oval 544"/>
          <p:cNvSpPr/>
          <p:nvPr/>
        </p:nvSpPr>
        <p:spPr>
          <a:xfrm>
            <a:off x="2889504" y="343814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6" name="Oval 545"/>
          <p:cNvSpPr/>
          <p:nvPr/>
        </p:nvSpPr>
        <p:spPr>
          <a:xfrm>
            <a:off x="2874807" y="340266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Oval 546"/>
          <p:cNvSpPr/>
          <p:nvPr/>
        </p:nvSpPr>
        <p:spPr>
          <a:xfrm>
            <a:off x="2860110" y="336718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8" name="Oval 547"/>
          <p:cNvSpPr/>
          <p:nvPr/>
        </p:nvSpPr>
        <p:spPr>
          <a:xfrm>
            <a:off x="2845413" y="333169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Oval 548"/>
          <p:cNvSpPr/>
          <p:nvPr/>
        </p:nvSpPr>
        <p:spPr>
          <a:xfrm>
            <a:off x="2830716" y="329621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0" name="Oval 549"/>
          <p:cNvSpPr/>
          <p:nvPr/>
        </p:nvSpPr>
        <p:spPr>
          <a:xfrm>
            <a:off x="2816019" y="3260736"/>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1" name="Oval 550"/>
          <p:cNvSpPr/>
          <p:nvPr/>
        </p:nvSpPr>
        <p:spPr>
          <a:xfrm>
            <a:off x="2801322" y="322525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2" name="Oval 551"/>
          <p:cNvSpPr/>
          <p:nvPr/>
        </p:nvSpPr>
        <p:spPr>
          <a:xfrm>
            <a:off x="2786625" y="318977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3" name="Oval 552"/>
          <p:cNvSpPr/>
          <p:nvPr/>
        </p:nvSpPr>
        <p:spPr>
          <a:xfrm>
            <a:off x="2771928" y="315429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4" name="Oval 553"/>
          <p:cNvSpPr/>
          <p:nvPr/>
        </p:nvSpPr>
        <p:spPr>
          <a:xfrm>
            <a:off x="2757232" y="311881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5" name="Oval 554"/>
          <p:cNvSpPr/>
          <p:nvPr/>
        </p:nvSpPr>
        <p:spPr>
          <a:xfrm>
            <a:off x="2742535" y="3083329"/>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6" name="Oval 555"/>
          <p:cNvSpPr/>
          <p:nvPr/>
        </p:nvSpPr>
        <p:spPr>
          <a:xfrm>
            <a:off x="2727838" y="304784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7" name="Oval 556"/>
          <p:cNvSpPr/>
          <p:nvPr/>
        </p:nvSpPr>
        <p:spPr>
          <a:xfrm>
            <a:off x="2713141" y="301236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8" name="Oval 557"/>
          <p:cNvSpPr/>
          <p:nvPr/>
        </p:nvSpPr>
        <p:spPr>
          <a:xfrm>
            <a:off x="2698444" y="297688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9" name="Oval 558"/>
          <p:cNvSpPr/>
          <p:nvPr/>
        </p:nvSpPr>
        <p:spPr>
          <a:xfrm>
            <a:off x="2683747" y="294140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0" name="Oval 559"/>
          <p:cNvSpPr/>
          <p:nvPr/>
        </p:nvSpPr>
        <p:spPr>
          <a:xfrm>
            <a:off x="2669050" y="2905922"/>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1" name="Oval 560"/>
          <p:cNvSpPr/>
          <p:nvPr/>
        </p:nvSpPr>
        <p:spPr>
          <a:xfrm>
            <a:off x="2654353" y="2870441"/>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2" name="Oval 561"/>
          <p:cNvSpPr/>
          <p:nvPr/>
        </p:nvSpPr>
        <p:spPr>
          <a:xfrm>
            <a:off x="2639657" y="2834960"/>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3" name="Oval 562"/>
          <p:cNvSpPr/>
          <p:nvPr/>
        </p:nvSpPr>
        <p:spPr>
          <a:xfrm>
            <a:off x="2624960" y="2799478"/>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4" name="Oval 563"/>
          <p:cNvSpPr/>
          <p:nvPr/>
        </p:nvSpPr>
        <p:spPr>
          <a:xfrm>
            <a:off x="2610263" y="2763997"/>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5" name="Oval 564"/>
          <p:cNvSpPr/>
          <p:nvPr/>
        </p:nvSpPr>
        <p:spPr>
          <a:xfrm>
            <a:off x="2595566" y="2728515"/>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6" name="Oval 565"/>
          <p:cNvSpPr/>
          <p:nvPr/>
        </p:nvSpPr>
        <p:spPr>
          <a:xfrm>
            <a:off x="2580869" y="2693034"/>
            <a:ext cx="73152" cy="73152"/>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7" name="Oval 566"/>
          <p:cNvSpPr/>
          <p:nvPr/>
        </p:nvSpPr>
        <p:spPr>
          <a:xfrm>
            <a:off x="2579888" y="2671269"/>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8" name="Oval 567"/>
          <p:cNvSpPr/>
          <p:nvPr/>
        </p:nvSpPr>
        <p:spPr>
          <a:xfrm>
            <a:off x="2565191" y="2635787"/>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9" name="Oval 568"/>
          <p:cNvSpPr/>
          <p:nvPr/>
        </p:nvSpPr>
        <p:spPr>
          <a:xfrm>
            <a:off x="2550494" y="2600306"/>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Oval 569"/>
          <p:cNvSpPr/>
          <p:nvPr/>
        </p:nvSpPr>
        <p:spPr>
          <a:xfrm>
            <a:off x="2535797" y="2564824"/>
            <a:ext cx="45720" cy="45720"/>
          </a:xfrm>
          <a:prstGeom prst="ellipse">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Oval 570"/>
          <p:cNvSpPr/>
          <p:nvPr/>
        </p:nvSpPr>
        <p:spPr>
          <a:xfrm>
            <a:off x="2898648" y="3408883"/>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2" name="Oval 571"/>
          <p:cNvSpPr/>
          <p:nvPr/>
        </p:nvSpPr>
        <p:spPr>
          <a:xfrm>
            <a:off x="2898648" y="337047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3" name="Oval 572"/>
          <p:cNvSpPr/>
          <p:nvPr/>
        </p:nvSpPr>
        <p:spPr>
          <a:xfrm>
            <a:off x="2898648" y="32936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4" name="Oval 573"/>
          <p:cNvSpPr/>
          <p:nvPr/>
        </p:nvSpPr>
        <p:spPr>
          <a:xfrm>
            <a:off x="2898648" y="325526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5" name="Oval 574"/>
          <p:cNvSpPr/>
          <p:nvPr/>
        </p:nvSpPr>
        <p:spPr>
          <a:xfrm>
            <a:off x="2898648" y="3178454"/>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6" name="Oval 575"/>
          <p:cNvSpPr/>
          <p:nvPr/>
        </p:nvSpPr>
        <p:spPr>
          <a:xfrm>
            <a:off x="2898648" y="3140049"/>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7" name="Oval 576"/>
          <p:cNvSpPr/>
          <p:nvPr/>
        </p:nvSpPr>
        <p:spPr>
          <a:xfrm>
            <a:off x="2898648" y="306324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8" name="Oval 577"/>
          <p:cNvSpPr/>
          <p:nvPr/>
        </p:nvSpPr>
        <p:spPr>
          <a:xfrm>
            <a:off x="2898648" y="302483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9" name="Oval 578"/>
          <p:cNvSpPr/>
          <p:nvPr/>
        </p:nvSpPr>
        <p:spPr>
          <a:xfrm>
            <a:off x="2898648" y="2948025"/>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0" name="Oval 579"/>
          <p:cNvSpPr/>
          <p:nvPr/>
        </p:nvSpPr>
        <p:spPr>
          <a:xfrm>
            <a:off x="2898648" y="2909620"/>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1" name="Oval 580"/>
          <p:cNvSpPr/>
          <p:nvPr/>
        </p:nvSpPr>
        <p:spPr>
          <a:xfrm>
            <a:off x="2898648" y="2832811"/>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2" name="Oval 581"/>
          <p:cNvSpPr/>
          <p:nvPr/>
        </p:nvSpPr>
        <p:spPr>
          <a:xfrm>
            <a:off x="2898648" y="279440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3" name="Oval 582"/>
          <p:cNvSpPr/>
          <p:nvPr/>
        </p:nvSpPr>
        <p:spPr>
          <a:xfrm>
            <a:off x="2898648" y="2717596"/>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4" name="Oval 583"/>
          <p:cNvSpPr/>
          <p:nvPr/>
        </p:nvSpPr>
        <p:spPr>
          <a:xfrm>
            <a:off x="2898648" y="267919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Oval 584"/>
          <p:cNvSpPr/>
          <p:nvPr/>
        </p:nvSpPr>
        <p:spPr>
          <a:xfrm>
            <a:off x="2898648" y="2602382"/>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6" name="Oval 585"/>
          <p:cNvSpPr/>
          <p:nvPr/>
        </p:nvSpPr>
        <p:spPr>
          <a:xfrm>
            <a:off x="2898648" y="2563977"/>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7" name="Oval 586"/>
          <p:cNvSpPr/>
          <p:nvPr/>
        </p:nvSpPr>
        <p:spPr>
          <a:xfrm>
            <a:off x="2898648" y="2487168"/>
            <a:ext cx="54864" cy="54864"/>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8" name="Oval 587"/>
          <p:cNvSpPr/>
          <p:nvPr/>
        </p:nvSpPr>
        <p:spPr>
          <a:xfrm>
            <a:off x="2834640" y="3383279"/>
            <a:ext cx="182880" cy="182880"/>
          </a:xfrm>
          <a:prstGeom prst="ellipse">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3" name="TextBox 592"/>
          <p:cNvSpPr txBox="1"/>
          <p:nvPr/>
        </p:nvSpPr>
        <p:spPr>
          <a:xfrm>
            <a:off x="434517" y="4206240"/>
            <a:ext cx="182880" cy="182880"/>
          </a:xfrm>
          <a:prstGeom prst="rect">
            <a:avLst/>
          </a:prstGeom>
          <a:noFill/>
        </p:spPr>
        <p:txBody>
          <a:bodyPr wrap="square">
            <a:spAutoFit/>
          </a:bodyPr>
          <a:lstStyle/>
          <a:p>
            <a:pPr algn="l"/>
            <a:r>
              <a:rPr sz="1000" b="0" i="0" dirty="0">
                <a:solidFill>
                  <a:srgbClr val="C00000"/>
                </a:solidFill>
              </a:rPr>
              <a:t>●</a:t>
            </a:r>
          </a:p>
        </p:txBody>
      </p:sp>
      <p:sp>
        <p:nvSpPr>
          <p:cNvPr id="594" name="TextBox 593"/>
          <p:cNvSpPr txBox="1"/>
          <p:nvPr/>
        </p:nvSpPr>
        <p:spPr>
          <a:xfrm>
            <a:off x="594572" y="4215384"/>
            <a:ext cx="2560320" cy="182880"/>
          </a:xfrm>
          <a:prstGeom prst="rect">
            <a:avLst/>
          </a:prstGeom>
          <a:noFill/>
        </p:spPr>
        <p:txBody>
          <a:bodyPr wrap="square">
            <a:spAutoFit/>
          </a:bodyPr>
          <a:lstStyle/>
          <a:p>
            <a:pPr algn="l"/>
            <a:r>
              <a:rPr sz="900" b="0" i="0" dirty="0">
                <a:solidFill>
                  <a:srgbClr val="404040"/>
                </a:solidFill>
              </a:rPr>
              <a:t>Below 0.70 — Critical</a:t>
            </a:r>
          </a:p>
        </p:txBody>
      </p:sp>
      <p:sp>
        <p:nvSpPr>
          <p:cNvPr id="595" name="TextBox 594"/>
          <p:cNvSpPr txBox="1"/>
          <p:nvPr/>
        </p:nvSpPr>
        <p:spPr>
          <a:xfrm>
            <a:off x="441960" y="4398264"/>
            <a:ext cx="182880" cy="182880"/>
          </a:xfrm>
          <a:prstGeom prst="rect">
            <a:avLst/>
          </a:prstGeom>
          <a:noFill/>
        </p:spPr>
        <p:txBody>
          <a:bodyPr wrap="square">
            <a:spAutoFit/>
          </a:bodyPr>
          <a:lstStyle/>
          <a:p>
            <a:pPr algn="l"/>
            <a:r>
              <a:rPr sz="1000" b="0" i="0" dirty="0">
                <a:solidFill>
                  <a:srgbClr val="FFC000"/>
                </a:solidFill>
              </a:rPr>
              <a:t>●</a:t>
            </a:r>
          </a:p>
        </p:txBody>
      </p:sp>
      <p:sp>
        <p:nvSpPr>
          <p:cNvPr id="596" name="TextBox 595"/>
          <p:cNvSpPr txBox="1"/>
          <p:nvPr/>
        </p:nvSpPr>
        <p:spPr>
          <a:xfrm>
            <a:off x="594573" y="4389120"/>
            <a:ext cx="2560320" cy="182880"/>
          </a:xfrm>
          <a:prstGeom prst="rect">
            <a:avLst/>
          </a:prstGeom>
          <a:noFill/>
        </p:spPr>
        <p:txBody>
          <a:bodyPr wrap="square">
            <a:spAutoFit/>
          </a:bodyPr>
          <a:lstStyle/>
          <a:p>
            <a:pPr algn="l"/>
            <a:r>
              <a:rPr sz="900" b="0" i="0" dirty="0">
                <a:solidFill>
                  <a:srgbClr val="404040"/>
                </a:solidFill>
              </a:rPr>
              <a:t>0.70–0.90 — Yellow</a:t>
            </a:r>
          </a:p>
        </p:txBody>
      </p:sp>
      <p:sp>
        <p:nvSpPr>
          <p:cNvPr id="597" name="TextBox 596"/>
          <p:cNvSpPr txBox="1"/>
          <p:nvPr/>
        </p:nvSpPr>
        <p:spPr>
          <a:xfrm>
            <a:off x="441960" y="4580506"/>
            <a:ext cx="182880" cy="182880"/>
          </a:xfrm>
          <a:prstGeom prst="rect">
            <a:avLst/>
          </a:prstGeom>
          <a:noFill/>
        </p:spPr>
        <p:txBody>
          <a:bodyPr wrap="square">
            <a:spAutoFit/>
          </a:bodyPr>
          <a:lstStyle/>
          <a:p>
            <a:pPr algn="l"/>
            <a:r>
              <a:rPr sz="1000" b="0" i="0" dirty="0">
                <a:solidFill>
                  <a:srgbClr val="008000"/>
                </a:solidFill>
              </a:rPr>
              <a:t>●</a:t>
            </a:r>
          </a:p>
        </p:txBody>
      </p:sp>
      <p:sp>
        <p:nvSpPr>
          <p:cNvPr id="598" name="TextBox 597"/>
          <p:cNvSpPr txBox="1"/>
          <p:nvPr/>
        </p:nvSpPr>
        <p:spPr>
          <a:xfrm>
            <a:off x="615838" y="4562830"/>
            <a:ext cx="2560320" cy="182880"/>
          </a:xfrm>
          <a:prstGeom prst="rect">
            <a:avLst/>
          </a:prstGeom>
          <a:noFill/>
        </p:spPr>
        <p:txBody>
          <a:bodyPr wrap="square">
            <a:spAutoFit/>
          </a:bodyPr>
          <a:lstStyle/>
          <a:p>
            <a:pPr algn="l"/>
            <a:r>
              <a:rPr sz="900" b="0" i="0" dirty="0">
                <a:solidFill>
                  <a:srgbClr val="404040"/>
                </a:solidFill>
              </a:rPr>
              <a:t>0.90–1.10 — On Track</a:t>
            </a:r>
          </a:p>
        </p:txBody>
      </p:sp>
      <p:sp>
        <p:nvSpPr>
          <p:cNvPr id="599" name="TextBox 598"/>
          <p:cNvSpPr txBox="1"/>
          <p:nvPr/>
        </p:nvSpPr>
        <p:spPr>
          <a:xfrm>
            <a:off x="442314" y="4745736"/>
            <a:ext cx="182880" cy="182880"/>
          </a:xfrm>
          <a:prstGeom prst="rect">
            <a:avLst/>
          </a:prstGeom>
          <a:noFill/>
        </p:spPr>
        <p:txBody>
          <a:bodyPr wrap="square">
            <a:spAutoFit/>
          </a:bodyPr>
          <a:lstStyle/>
          <a:p>
            <a:pPr algn="l"/>
            <a:r>
              <a:rPr sz="1000" b="0" i="0" dirty="0">
                <a:solidFill>
                  <a:srgbClr val="0033CC"/>
                </a:solidFill>
              </a:rPr>
              <a:t>●</a:t>
            </a:r>
          </a:p>
        </p:txBody>
      </p:sp>
      <p:sp>
        <p:nvSpPr>
          <p:cNvPr id="600" name="TextBox 599"/>
          <p:cNvSpPr txBox="1"/>
          <p:nvPr/>
        </p:nvSpPr>
        <p:spPr>
          <a:xfrm>
            <a:off x="614562" y="4712988"/>
            <a:ext cx="2560320" cy="182880"/>
          </a:xfrm>
          <a:prstGeom prst="rect">
            <a:avLst/>
          </a:prstGeom>
          <a:noFill/>
        </p:spPr>
        <p:txBody>
          <a:bodyPr wrap="square">
            <a:spAutoFit/>
          </a:bodyPr>
          <a:lstStyle/>
          <a:p>
            <a:pPr algn="l"/>
            <a:r>
              <a:rPr sz="900" b="0" i="0" dirty="0">
                <a:solidFill>
                  <a:srgbClr val="404040"/>
                </a:solidFill>
              </a:rPr>
              <a:t>Above 1.10 — Ahead</a:t>
            </a:r>
          </a:p>
        </p:txBody>
      </p:sp>
      <p:sp>
        <p:nvSpPr>
          <p:cNvPr id="601" name="TextBox 600"/>
          <p:cNvSpPr txBox="1"/>
          <p:nvPr/>
        </p:nvSpPr>
        <p:spPr>
          <a:xfrm>
            <a:off x="2486519" y="4226868"/>
            <a:ext cx="2908441" cy="230832"/>
          </a:xfrm>
          <a:prstGeom prst="rect">
            <a:avLst/>
          </a:prstGeom>
          <a:noFill/>
        </p:spPr>
        <p:txBody>
          <a:bodyPr wrap="square">
            <a:spAutoFit/>
          </a:bodyPr>
          <a:lstStyle/>
          <a:p>
            <a:pPr algn="l"/>
            <a:r>
              <a:rPr lang="en-US" sz="900" b="1" dirty="0">
                <a:solidFill>
                  <a:srgbClr val="F7941D"/>
                </a:solidFill>
              </a:rPr>
              <a:t>     --- </a:t>
            </a:r>
            <a:r>
              <a:rPr sz="900" b="1" i="0" dirty="0">
                <a:solidFill>
                  <a:srgbClr val="F7941D"/>
                </a:solidFill>
              </a:rPr>
              <a:t> </a:t>
            </a:r>
            <a:r>
              <a:rPr lang="en-US" sz="900" b="1" i="0" dirty="0">
                <a:solidFill>
                  <a:srgbClr val="F7941D"/>
                </a:solidFill>
              </a:rPr>
              <a:t>February 2026 </a:t>
            </a:r>
            <a:r>
              <a:rPr sz="900" b="1" i="0" dirty="0">
                <a:solidFill>
                  <a:srgbClr val="F7941D"/>
                </a:solidFill>
              </a:rPr>
              <a:t>: 0.75  (Orange)</a:t>
            </a:r>
          </a:p>
        </p:txBody>
      </p:sp>
      <p:sp>
        <p:nvSpPr>
          <p:cNvPr id="602" name="TextBox 601"/>
          <p:cNvSpPr txBox="1"/>
          <p:nvPr/>
        </p:nvSpPr>
        <p:spPr>
          <a:xfrm>
            <a:off x="2608167" y="4437264"/>
            <a:ext cx="2603913" cy="230832"/>
          </a:xfrm>
          <a:prstGeom prst="rect">
            <a:avLst/>
          </a:prstGeom>
          <a:noFill/>
        </p:spPr>
        <p:txBody>
          <a:bodyPr wrap="square">
            <a:spAutoFit/>
          </a:bodyPr>
          <a:lstStyle/>
          <a:p>
            <a:pPr algn="l"/>
            <a:r>
              <a:rPr sz="900" b="0" i="0" dirty="0">
                <a:solidFill>
                  <a:srgbClr val="404040"/>
                </a:solidFill>
              </a:rPr>
              <a:t>╌╌</a:t>
            </a:r>
            <a:r>
              <a:rPr lang="en-US" sz="900" b="0" i="0" dirty="0">
                <a:solidFill>
                  <a:srgbClr val="404040"/>
                </a:solidFill>
              </a:rPr>
              <a:t> </a:t>
            </a:r>
            <a:r>
              <a:rPr sz="900" b="0" i="0" dirty="0">
                <a:solidFill>
                  <a:srgbClr val="404040"/>
                </a:solidFill>
              </a:rPr>
              <a:t> </a:t>
            </a:r>
            <a:r>
              <a:rPr lang="en-US" sz="900" b="0" i="0" dirty="0">
                <a:solidFill>
                  <a:srgbClr val="404040"/>
                </a:solidFill>
              </a:rPr>
              <a:t>January 2026    : </a:t>
            </a:r>
            <a:r>
              <a:rPr sz="900" b="0" i="0" dirty="0">
                <a:solidFill>
                  <a:srgbClr val="404040"/>
                </a:solidFill>
              </a:rPr>
              <a:t> 1.00  (Gray)</a:t>
            </a:r>
          </a:p>
        </p:txBody>
      </p:sp>
      <p:sp>
        <p:nvSpPr>
          <p:cNvPr id="11" name="TextBox 10">
            <a:extLst>
              <a:ext uri="{FF2B5EF4-FFF2-40B4-BE49-F238E27FC236}">
                <a16:creationId xmlns:a16="http://schemas.microsoft.com/office/drawing/2014/main" id="{D8DCC11B-AE40-024F-BFC9-B0646C4365B0}"/>
              </a:ext>
            </a:extLst>
          </p:cNvPr>
          <p:cNvSpPr txBox="1"/>
          <p:nvPr/>
        </p:nvSpPr>
        <p:spPr>
          <a:xfrm>
            <a:off x="2486519" y="4039416"/>
            <a:ext cx="5029200" cy="230832"/>
          </a:xfrm>
          <a:prstGeom prst="rect">
            <a:avLst/>
          </a:prstGeom>
          <a:noFill/>
        </p:spPr>
        <p:txBody>
          <a:bodyPr wrap="square">
            <a:spAutoFit/>
          </a:bodyPr>
          <a:lstStyle/>
          <a:p>
            <a:pPr algn="l"/>
            <a:r>
              <a:rPr lang="en-US" sz="900" b="1" dirty="0">
                <a:solidFill>
                  <a:srgbClr val="F7941D"/>
                </a:solidFill>
              </a:rPr>
              <a:t>     ---</a:t>
            </a:r>
            <a:r>
              <a:rPr sz="900" b="1" i="0" dirty="0">
                <a:solidFill>
                  <a:srgbClr val="F7941D"/>
                </a:solidFill>
              </a:rPr>
              <a:t> </a:t>
            </a:r>
            <a:r>
              <a:rPr lang="en-US" sz="900" b="1" i="0" dirty="0">
                <a:solidFill>
                  <a:srgbClr val="F7941D"/>
                </a:solidFill>
              </a:rPr>
              <a:t> </a:t>
            </a:r>
            <a:r>
              <a:rPr lang="en-US" sz="900" b="1" i="0" dirty="0">
                <a:solidFill>
                  <a:schemeClr val="bg2">
                    <a:lumMod val="10000"/>
                  </a:schemeClr>
                </a:solidFill>
              </a:rPr>
              <a:t>March  2026 </a:t>
            </a:r>
            <a:r>
              <a:rPr sz="900" b="1" i="0" dirty="0">
                <a:solidFill>
                  <a:schemeClr val="bg2">
                    <a:lumMod val="10000"/>
                  </a:schemeClr>
                </a:solidFill>
              </a:rPr>
              <a:t>: </a:t>
            </a:r>
            <a:r>
              <a:rPr lang="en-US" sz="900" b="1" i="0" dirty="0">
                <a:solidFill>
                  <a:srgbClr val="F7941D"/>
                </a:solidFill>
              </a:rPr>
              <a:t>0.76  (Yellow ↓)</a:t>
            </a:r>
            <a:endParaRPr sz="900" b="1" i="0" dirty="0">
              <a:solidFill>
                <a:schemeClr val="bg2">
                  <a:lumMod val="10000"/>
                </a:schemeClr>
              </a:solidFill>
            </a:endParaRPr>
          </a:p>
        </p:txBody>
      </p:sp>
      <p:sp>
        <p:nvSpPr>
          <p:cNvPr id="12" name="Rectangle 11">
            <a:extLst>
              <a:ext uri="{FF2B5EF4-FFF2-40B4-BE49-F238E27FC236}">
                <a16:creationId xmlns:a16="http://schemas.microsoft.com/office/drawing/2014/main" id="{83FAF528-BF5F-D1AE-33B7-2DF81CAD24BF}"/>
              </a:ext>
            </a:extLst>
          </p:cNvPr>
          <p:cNvSpPr/>
          <p:nvPr/>
        </p:nvSpPr>
        <p:spPr>
          <a:xfrm>
            <a:off x="5792618" y="1965960"/>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13" name="Rectangle 12">
            <a:extLst>
              <a:ext uri="{FF2B5EF4-FFF2-40B4-BE49-F238E27FC236}">
                <a16:creationId xmlns:a16="http://schemas.microsoft.com/office/drawing/2014/main" id="{68FC4F1C-0CBA-CB69-81D6-A688C4A7B97E}"/>
              </a:ext>
            </a:extLst>
          </p:cNvPr>
          <p:cNvSpPr/>
          <p:nvPr/>
        </p:nvSpPr>
        <p:spPr>
          <a:xfrm>
            <a:off x="5806440" y="1554479"/>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3" name="Rectangle 602">
            <a:extLst>
              <a:ext uri="{FF2B5EF4-FFF2-40B4-BE49-F238E27FC236}">
                <a16:creationId xmlns:a16="http://schemas.microsoft.com/office/drawing/2014/main" id="{BB74F8E3-F713-87B9-2C3D-D86AA35EFF5A}"/>
              </a:ext>
            </a:extLst>
          </p:cNvPr>
          <p:cNvSpPr/>
          <p:nvPr/>
        </p:nvSpPr>
        <p:spPr>
          <a:xfrm>
            <a:off x="5824728" y="2875682"/>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4" name="Rectangle 603">
            <a:extLst>
              <a:ext uri="{FF2B5EF4-FFF2-40B4-BE49-F238E27FC236}">
                <a16:creationId xmlns:a16="http://schemas.microsoft.com/office/drawing/2014/main" id="{2DC5CD6E-D2D7-5CA5-1145-6646B952DE5E}"/>
              </a:ext>
            </a:extLst>
          </p:cNvPr>
          <p:cNvSpPr/>
          <p:nvPr/>
        </p:nvSpPr>
        <p:spPr>
          <a:xfrm>
            <a:off x="5806440" y="241718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5" name="Rectangle 604">
            <a:extLst>
              <a:ext uri="{FF2B5EF4-FFF2-40B4-BE49-F238E27FC236}">
                <a16:creationId xmlns:a16="http://schemas.microsoft.com/office/drawing/2014/main" id="{4728407C-F0AA-A939-D1A8-46F9600057F8}"/>
              </a:ext>
            </a:extLst>
          </p:cNvPr>
          <p:cNvSpPr/>
          <p:nvPr/>
        </p:nvSpPr>
        <p:spPr>
          <a:xfrm>
            <a:off x="5829194" y="3321186"/>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6" name="Rectangle 605">
            <a:extLst>
              <a:ext uri="{FF2B5EF4-FFF2-40B4-BE49-F238E27FC236}">
                <a16:creationId xmlns:a16="http://schemas.microsoft.com/office/drawing/2014/main" id="{220B252F-A1ED-BDA9-CB99-7D58E1575E94}"/>
              </a:ext>
            </a:extLst>
          </p:cNvPr>
          <p:cNvSpPr/>
          <p:nvPr/>
        </p:nvSpPr>
        <p:spPr>
          <a:xfrm>
            <a:off x="5806440" y="4265157"/>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
        <p:nvSpPr>
          <p:cNvPr id="607" name="Rectangle 606">
            <a:extLst>
              <a:ext uri="{FF2B5EF4-FFF2-40B4-BE49-F238E27FC236}">
                <a16:creationId xmlns:a16="http://schemas.microsoft.com/office/drawing/2014/main" id="{826A6865-4EBD-4E0C-7F6B-51010379E6F5}"/>
              </a:ext>
            </a:extLst>
          </p:cNvPr>
          <p:cNvSpPr/>
          <p:nvPr/>
        </p:nvSpPr>
        <p:spPr>
          <a:xfrm>
            <a:off x="5815584" y="3784553"/>
            <a:ext cx="164592" cy="16459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8000"/>
                </a:solidFill>
              </a:rPr>
              <a: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146080"/>
            <a:ext cx="10049622" cy="9310241"/>
          </a:xfrm>
          <a:prstGeom prst="rect">
            <a:avLst/>
          </a:prstGeom>
          <a:noFill/>
        </p:spPr>
        <p:txBody>
          <a:bodyPr wrap="square" rtlCol="0">
            <a:spAutoFit/>
          </a:bodyPr>
          <a:lstStyle/>
          <a:p>
            <a:pPr marL="285750" indent="-285750">
              <a:spcBef>
                <a:spcPts val="600"/>
              </a:spcBef>
              <a:spcAft>
                <a:spcPts val="600"/>
              </a:spcAft>
              <a:buFont typeface="Wingdings" panose="05000000000000000000" pitchFamily="2" charset="2"/>
              <a:buChar char="Ø"/>
            </a:pPr>
            <a:endParaRPr lang="en-US" sz="1400" dirty="0"/>
          </a:p>
          <a:p>
            <a:pPr marL="285750" indent="-285750">
              <a:spcBef>
                <a:spcPts val="600"/>
              </a:spcBef>
              <a:spcAft>
                <a:spcPts val="600"/>
              </a:spcAft>
              <a:buFont typeface="Wingdings" panose="05000000000000000000" pitchFamily="2" charset="2"/>
              <a:buChar char="Ø"/>
            </a:pPr>
            <a:endParaRPr lang="en-US" sz="1400" b="1" dirty="0"/>
          </a:p>
          <a:p>
            <a:pPr>
              <a:spcBef>
                <a:spcPts val="600"/>
              </a:spcBef>
              <a:spcAft>
                <a:spcPts val="600"/>
              </a:spcAft>
            </a:pPr>
            <a:endParaRPr lang="en-US" sz="1400" b="1" dirty="0"/>
          </a:p>
          <a:p>
            <a:pPr marL="285750" indent="-285750">
              <a:spcBef>
                <a:spcPts val="600"/>
              </a:spcBef>
              <a:spcAft>
                <a:spcPts val="600"/>
              </a:spcAft>
              <a:buFont typeface="Wingdings" panose="05000000000000000000" pitchFamily="2" charset="2"/>
              <a:buChar char="Ø"/>
            </a:pPr>
            <a:r>
              <a:rPr lang="en-US" sz="1400" b="1" dirty="0"/>
              <a:t>Phase-1 </a:t>
            </a:r>
          </a:p>
          <a:p>
            <a:pPr marL="285750" indent="-285750">
              <a:spcBef>
                <a:spcPts val="600"/>
              </a:spcBef>
              <a:spcAft>
                <a:spcPts val="600"/>
              </a:spcAft>
              <a:buFont typeface="Wingdings" panose="05000000000000000000" pitchFamily="2" charset="2"/>
              <a:buChar char="§"/>
            </a:pPr>
            <a:r>
              <a:rPr lang="en-US" sz="1400" b="1" dirty="0"/>
              <a:t>Engineering Services</a:t>
            </a:r>
          </a:p>
          <a:p>
            <a:endParaRPr lang="en-US" sz="1100" b="1" dirty="0">
              <a:solidFill>
                <a:schemeClr val="accent2"/>
              </a:solidFill>
            </a:endParaRPr>
          </a:p>
          <a:p>
            <a:endParaRPr lang="en-US" sz="1100" b="1" dirty="0">
              <a:solidFill>
                <a:schemeClr val="accent2"/>
              </a:solidFill>
            </a:endParaRPr>
          </a:p>
          <a:p>
            <a:endParaRPr lang="en-US" sz="1100" b="1" dirty="0">
              <a:solidFill>
                <a:schemeClr val="accent2"/>
              </a:solidFill>
            </a:endParaRPr>
          </a:p>
          <a:p>
            <a:pPr lvl="1" fontAlgn="ctr"/>
            <a:endParaRPr lang="en-US" sz="1100" dirty="0"/>
          </a:p>
          <a:p>
            <a:pPr marL="285750" indent="-285750" fontAlgn="ctr">
              <a:buFont typeface="Arial" panose="020B0604020202020204" pitchFamily="34" charset="0"/>
              <a:buChar char="•"/>
            </a:pPr>
            <a:r>
              <a:rPr lang="en-US" sz="1400" b="1" dirty="0"/>
              <a:t>Procurement and Staging </a:t>
            </a:r>
            <a:endParaRPr lang="en-US" sz="1400" dirty="0"/>
          </a:p>
          <a:p>
            <a:pPr marL="742950" lvl="1" indent="-285750" fontAlgn="ctr">
              <a:buFont typeface="Arial" panose="020B0604020202020204" pitchFamily="34" charset="0"/>
              <a:buChar char="•"/>
            </a:pPr>
            <a:r>
              <a:rPr lang="en-US" sz="1400" dirty="0"/>
              <a:t>Staging completed at Hawkeye Warehouse  - </a:t>
            </a:r>
            <a:r>
              <a:rPr lang="en-US" sz="1400" dirty="0">
                <a:solidFill>
                  <a:srgbClr val="00B050"/>
                </a:solidFill>
              </a:rPr>
              <a:t>Work Completed - 9/29/2025</a:t>
            </a:r>
          </a:p>
          <a:p>
            <a:pPr marL="742950" lvl="1" indent="-285750" fontAlgn="ctr">
              <a:buFont typeface="Arial" panose="020B0604020202020204" pitchFamily="34" charset="0"/>
              <a:buChar char="•"/>
            </a:pPr>
            <a:r>
              <a:rPr lang="en-US" sz="1400" dirty="0"/>
              <a:t>Nokia equipment for Phase 2 has been delivered – </a:t>
            </a:r>
            <a:r>
              <a:rPr lang="en-US" sz="1400" dirty="0">
                <a:solidFill>
                  <a:srgbClr val="00B050"/>
                </a:solidFill>
              </a:rPr>
              <a:t>Work Completed - 2/19/2026</a:t>
            </a:r>
          </a:p>
          <a:p>
            <a:pPr marL="285750" indent="-285750" fontAlgn="ctr">
              <a:buFont typeface="Arial" panose="020B0604020202020204" pitchFamily="34" charset="0"/>
              <a:buChar char="•"/>
            </a:pPr>
            <a:r>
              <a:rPr lang="en-US" sz="1400" b="1" dirty="0"/>
              <a:t>Construction and Installation Support</a:t>
            </a:r>
            <a:endParaRPr lang="en-US" sz="1400" dirty="0"/>
          </a:p>
          <a:p>
            <a:pPr marL="742950" lvl="1" indent="-285750" fontAlgn="ctr">
              <a:buFont typeface="Arial" panose="020B0604020202020204" pitchFamily="34" charset="0"/>
              <a:buChar char="•"/>
            </a:pPr>
            <a:r>
              <a:rPr lang="en-US" sz="1400" dirty="0"/>
              <a:t>Installing equipment at substations. – 31/31 sites completed </a:t>
            </a:r>
          </a:p>
          <a:p>
            <a:pPr marL="742950" lvl="1" indent="-285750" fontAlgn="ctr">
              <a:buFont typeface="Arial" panose="020B0604020202020204" pitchFamily="34" charset="0"/>
              <a:buChar char="•"/>
            </a:pPr>
            <a:r>
              <a:rPr lang="en-US" sz="1400" dirty="0"/>
              <a:t>ACC cabling and fiber panel installed – 1/7/26</a:t>
            </a:r>
          </a:p>
          <a:p>
            <a:pPr marL="742950" lvl="1" indent="-285750" fontAlgn="ctr">
              <a:buFont typeface="Arial" panose="020B0604020202020204" pitchFamily="34" charset="0"/>
              <a:buChar char="•"/>
            </a:pPr>
            <a:r>
              <a:rPr lang="en-US" sz="1400" dirty="0"/>
              <a:t>Throwover from Hicksville to ACC will happen - 1/13/2026</a:t>
            </a:r>
          </a:p>
          <a:p>
            <a:pPr marL="1200150" lvl="2" indent="-285750" fontAlgn="ctr">
              <a:buFont typeface="Arial" panose="020B0604020202020204" pitchFamily="34" charset="0"/>
              <a:buChar char="•"/>
            </a:pPr>
            <a:r>
              <a:rPr lang="en-US" sz="1400" dirty="0"/>
              <a:t>J-mux  eqpt. Will be moved on the primary &amp; secondary cabinet to </a:t>
            </a:r>
          </a:p>
          <a:p>
            <a:pPr lvl="2" fontAlgn="ctr"/>
            <a:r>
              <a:rPr lang="en-US" sz="1400" dirty="0"/>
              <a:t>       make room for the MPLS routers. – 1/13/26 -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Complete CWDM cutover at Hicksville and ACC </a:t>
            </a:r>
            <a:r>
              <a:rPr lang="en-US" sz="1400" b="1" i="1" dirty="0"/>
              <a:t>-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Install routers in the primary &amp; secondary cabinet – </a:t>
            </a:r>
            <a:r>
              <a:rPr lang="en-US" sz="1400" i="1" dirty="0">
                <a:solidFill>
                  <a:srgbClr val="00B050"/>
                </a:solidFill>
              </a:rPr>
              <a:t>Work Completed </a:t>
            </a:r>
          </a:p>
          <a:p>
            <a:pPr marL="1200150" lvl="2" indent="-285750" fontAlgn="ctr">
              <a:buFont typeface="Arial" panose="020B0604020202020204" pitchFamily="34" charset="0"/>
              <a:buChar char="•"/>
            </a:pPr>
            <a:r>
              <a:rPr lang="en-US" sz="1400" i="1" dirty="0"/>
              <a:t>NSP installed racked &amp; powered up in Melville and Hicksville –</a:t>
            </a:r>
            <a:r>
              <a:rPr lang="en-US" sz="1400" b="1" i="1" dirty="0"/>
              <a:t> </a:t>
            </a:r>
            <a:r>
              <a:rPr lang="en-US" sz="1400" b="1" i="1" dirty="0">
                <a:solidFill>
                  <a:srgbClr val="00B050"/>
                </a:solidFill>
              </a:rPr>
              <a:t>Work Completed </a:t>
            </a:r>
          </a:p>
          <a:p>
            <a:pPr marL="1200150" lvl="2" indent="-285750" fontAlgn="ctr">
              <a:buFont typeface="Arial" panose="020B0604020202020204" pitchFamily="34" charset="0"/>
              <a:buChar char="•"/>
            </a:pPr>
            <a:r>
              <a:rPr lang="en-US" sz="1400" i="1" dirty="0"/>
              <a:t>CMDB document updated and added to CMDB database </a:t>
            </a:r>
            <a:r>
              <a:rPr lang="en-US" sz="1400" b="1" i="1" dirty="0">
                <a:solidFill>
                  <a:srgbClr val="00B050"/>
                </a:solidFill>
              </a:rPr>
              <a:t>– Work Completed </a:t>
            </a:r>
          </a:p>
          <a:p>
            <a:pPr marL="1200150" lvl="2" indent="-285750" fontAlgn="ctr">
              <a:buFont typeface="Arial" panose="020B0604020202020204" pitchFamily="34" charset="0"/>
              <a:buChar char="•"/>
            </a:pPr>
            <a:r>
              <a:rPr lang="en-US" sz="1400" b="1" i="1" dirty="0"/>
              <a:t>Cat 6 cables needs to be run to NSP in Hicksville </a:t>
            </a:r>
            <a:r>
              <a:rPr lang="en-US" sz="1400" b="1" i="1" dirty="0">
                <a:solidFill>
                  <a:srgbClr val="00B050"/>
                </a:solidFill>
              </a:rPr>
              <a:t>– Work Completed</a:t>
            </a:r>
          </a:p>
          <a:p>
            <a:pPr marL="1200150" lvl="2" indent="-285750" fontAlgn="ctr">
              <a:buFont typeface="Arial" panose="020B0604020202020204" pitchFamily="34" charset="0"/>
              <a:buChar char="•"/>
            </a:pPr>
            <a:r>
              <a:rPr lang="en-US" sz="1400" b="1" i="1" dirty="0"/>
              <a:t>OTDR testing from Hicksville to Syosset </a:t>
            </a:r>
            <a:r>
              <a:rPr lang="en-US" sz="1400" b="1" i="1" dirty="0">
                <a:solidFill>
                  <a:srgbClr val="00B050"/>
                </a:solidFill>
              </a:rPr>
              <a:t>– Work Completed </a:t>
            </a:r>
          </a:p>
          <a:p>
            <a:pPr marL="1200150" lvl="2" indent="-285750" fontAlgn="ctr">
              <a:buFont typeface="Wingdings" panose="05000000000000000000" pitchFamily="2" charset="2"/>
              <a:buChar char="q"/>
            </a:pPr>
            <a:endParaRPr lang="en-US" sz="1400" dirty="0"/>
          </a:p>
          <a:p>
            <a:pPr lvl="1" fontAlgn="ctr"/>
            <a:endParaRPr lang="en-US" sz="1400" dirty="0"/>
          </a:p>
          <a:p>
            <a:pPr marL="285750" indent="-285750" fontAlgn="ctr">
              <a:buFont typeface="Arial" panose="020B0604020202020204" pitchFamily="34" charset="0"/>
              <a:buChar char="•"/>
            </a:pPr>
            <a:r>
              <a:rPr lang="en-US" sz="1400" b="1" dirty="0"/>
              <a:t>Deployment &amp; Cutover</a:t>
            </a:r>
          </a:p>
          <a:p>
            <a:pPr marL="742950" lvl="1" indent="-285750" fontAlgn="ctr">
              <a:buFont typeface="Arial" panose="020B0604020202020204" pitchFamily="34" charset="0"/>
              <a:buChar char="•"/>
            </a:pPr>
            <a:r>
              <a:rPr lang="en-US" sz="1400" dirty="0"/>
              <a:t>Cutover of CWDM started at Bagatelle, Melville, Pilgrim -11/19- 11/20/2025 – </a:t>
            </a:r>
            <a:r>
              <a:rPr lang="en-US" sz="1200" b="1" i="1" dirty="0"/>
              <a:t>we ran into fiber panel issues.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1 - 12/8/2025 – 12/18/2025 (</a:t>
            </a:r>
            <a:r>
              <a:rPr lang="en-US" sz="1400" dirty="0">
                <a:solidFill>
                  <a:srgbClr val="FF0000"/>
                </a:solidFill>
              </a:rPr>
              <a:t>non-tie sites</a:t>
            </a:r>
            <a:r>
              <a:rPr lang="en-US" sz="1400" dirty="0"/>
              <a:t>) – </a:t>
            </a:r>
            <a:r>
              <a:rPr lang="en-US" sz="1200" b="1" i="1" dirty="0"/>
              <a:t>Decided to start with the no tie sites. – </a:t>
            </a:r>
            <a:r>
              <a:rPr lang="en-US" sz="1200" b="1" i="1" dirty="0">
                <a:solidFill>
                  <a:srgbClr val="00B050"/>
                </a:solidFill>
              </a:rPr>
              <a:t>Work Completed </a:t>
            </a:r>
          </a:p>
          <a:p>
            <a:pPr marL="742950" lvl="1" indent="-285750" fontAlgn="ctr">
              <a:buFont typeface="Arial" panose="020B0604020202020204" pitchFamily="34" charset="0"/>
              <a:buChar char="•"/>
            </a:pPr>
            <a:r>
              <a:rPr lang="en-US" sz="1400" dirty="0"/>
              <a:t>WAVE 2 - 01/06/2026 – 1/08/2026 (</a:t>
            </a:r>
            <a:r>
              <a:rPr lang="en-US" sz="1400" dirty="0">
                <a:solidFill>
                  <a:srgbClr val="FF0000"/>
                </a:solidFill>
              </a:rPr>
              <a:t>tie-in-sites</a:t>
            </a:r>
            <a:r>
              <a:rPr lang="en-US" sz="1400" dirty="0"/>
              <a:t>) – </a:t>
            </a:r>
            <a:r>
              <a:rPr lang="en-US" sz="1200" b="1" i="1" dirty="0"/>
              <a:t>with experience cutting over the tie sites, we felt comfortable to complete the tie sites. – </a:t>
            </a:r>
            <a:r>
              <a:rPr lang="en-US" sz="1200" b="1" i="1" dirty="0">
                <a:solidFill>
                  <a:srgbClr val="00B050"/>
                </a:solidFill>
              </a:rPr>
              <a:t>Work Completed  </a:t>
            </a:r>
          </a:p>
          <a:p>
            <a:pPr marL="742950" lvl="1" indent="-285750" fontAlgn="ctr">
              <a:buFont typeface="Arial" panose="020B0604020202020204" pitchFamily="34" charset="0"/>
              <a:buChar char="•"/>
            </a:pPr>
            <a:endParaRPr lang="en-US" sz="1400" dirty="0"/>
          </a:p>
          <a:p>
            <a:pPr lvl="1" fontAlgn="ctr"/>
            <a:endParaRPr lang="en-US" sz="1400" dirty="0"/>
          </a:p>
          <a:p>
            <a:pPr marL="742950" lvl="1" indent="-285750" fontAlgn="ctr">
              <a:buFont typeface="Arial" panose="020B0604020202020204" pitchFamily="34" charset="0"/>
              <a:buChar char="•"/>
            </a:pPr>
            <a:endParaRPr lang="en-US" sz="1400" dirty="0"/>
          </a:p>
          <a:p>
            <a:pPr lvl="1" fontAlgn="ct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a:t>
            </a:r>
            <a:r>
              <a:rPr lang="en-US" sz="1400" dirty="0"/>
              <a:t>. </a:t>
            </a:r>
          </a:p>
          <a:p>
            <a:pPr marL="800100" lvl="1" indent="-342900">
              <a:spcBef>
                <a:spcPts val="600"/>
              </a:spcBef>
              <a:spcAft>
                <a:spcPts val="600"/>
              </a:spcAft>
              <a:buFont typeface="+mj-lt"/>
              <a:buAutoNum type="arabicPeriod"/>
            </a:pPr>
            <a:endParaRPr lang="en-US" sz="1400" dirty="0"/>
          </a:p>
          <a:p>
            <a:pPr marL="800100" lvl="1" indent="-342900">
              <a:spcBef>
                <a:spcPts val="600"/>
              </a:spcBef>
              <a:spcAft>
                <a:spcPts val="600"/>
              </a:spcAft>
              <a:buFont typeface="+mj-lt"/>
              <a:buAutoNum type="arabicPeriod"/>
            </a:pPr>
            <a:endParaRPr lang="en-US" sz="1400" dirty="0"/>
          </a:p>
          <a:p>
            <a:pPr lvl="2">
              <a:spcBef>
                <a:spcPts val="600"/>
              </a:spcBef>
              <a:spcAft>
                <a:spcPts val="600"/>
              </a:spcAft>
            </a:pPr>
            <a:endParaRPr lang="en-US" sz="1400" dirty="0"/>
          </a:p>
        </p:txBody>
      </p:sp>
      <p:graphicFrame>
        <p:nvGraphicFramePr>
          <p:cNvPr id="8" name="Table 7"/>
          <p:cNvGraphicFramePr>
            <a:graphicFrameLocks noGrp="1"/>
          </p:cNvGraphicFramePr>
          <p:nvPr/>
        </p:nvGraphicFramePr>
        <p:xfrm>
          <a:off x="1556426" y="1567369"/>
          <a:ext cx="4941651" cy="567690"/>
        </p:xfrm>
        <a:graphic>
          <a:graphicData uri="http://schemas.openxmlformats.org/drawingml/2006/table">
            <a:tbl>
              <a:tblPr>
                <a:tableStyleId>{5C22544A-7EE6-4342-B048-85BDC9FD1C3A}</a:tableStyleId>
              </a:tblPr>
              <a:tblGrid>
                <a:gridCol w="2573448">
                  <a:extLst>
                    <a:ext uri="{9D8B030D-6E8A-4147-A177-3AD203B41FA5}">
                      <a16:colId xmlns:a16="http://schemas.microsoft.com/office/drawing/2014/main" val="1279083359"/>
                    </a:ext>
                  </a:extLst>
                </a:gridCol>
                <a:gridCol w="1152526">
                  <a:extLst>
                    <a:ext uri="{9D8B030D-6E8A-4147-A177-3AD203B41FA5}">
                      <a16:colId xmlns:a16="http://schemas.microsoft.com/office/drawing/2014/main" val="1105639966"/>
                    </a:ext>
                  </a:extLst>
                </a:gridCol>
                <a:gridCol w="1215677">
                  <a:extLst>
                    <a:ext uri="{9D8B030D-6E8A-4147-A177-3AD203B41FA5}">
                      <a16:colId xmlns:a16="http://schemas.microsoft.com/office/drawing/2014/main" val="2657568295"/>
                    </a:ext>
                  </a:extLst>
                </a:gridCol>
              </a:tblGrid>
              <a:tr h="189230">
                <a:tc>
                  <a:txBody>
                    <a:bodyPr/>
                    <a:lstStyle/>
                    <a:p>
                      <a:pPr algn="ctr" fontAlgn="b"/>
                      <a:r>
                        <a:rPr lang="en-US" sz="1100" u="none" strike="noStrike">
                          <a:effectLst/>
                        </a:rPr>
                        <a:t>Burns &amp; Mac - Phase 1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Total </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Completed</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3699450358"/>
                  </a:ext>
                </a:extLst>
              </a:tr>
              <a:tr h="189230">
                <a:tc>
                  <a:txBody>
                    <a:bodyPr/>
                    <a:lstStyle/>
                    <a:p>
                      <a:pPr algn="ctr" fontAlgn="b"/>
                      <a:r>
                        <a:rPr lang="en-US" sz="1100" u="none" strike="noStrike">
                          <a:effectLst/>
                        </a:rPr>
                        <a:t>IFR - Issued for review design</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dirty="0">
                          <a:effectLst/>
                        </a:rPr>
                        <a:t>31</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extLst>
                  <a:ext uri="{0D108BD9-81ED-4DB2-BD59-A6C34878D82A}">
                    <a16:rowId xmlns:a16="http://schemas.microsoft.com/office/drawing/2014/main" val="657657533"/>
                  </a:ext>
                </a:extLst>
              </a:tr>
              <a:tr h="189230">
                <a:tc>
                  <a:txBody>
                    <a:bodyPr/>
                    <a:lstStyle/>
                    <a:p>
                      <a:pPr algn="ctr" fontAlgn="b"/>
                      <a:r>
                        <a:rPr lang="en-US" sz="1100" u="none" strike="noStrike" dirty="0">
                          <a:effectLst/>
                        </a:rPr>
                        <a:t>IFC - Issued for construction </a:t>
                      </a:r>
                      <a:endParaRPr lang="en-US"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u="none" strike="noStrike">
                          <a:effectLst/>
                        </a:rPr>
                        <a:t>31</a:t>
                      </a:r>
                      <a:endParaRPr lang="en-US" sz="1100" b="0" i="0" u="none" strike="noStrike">
                        <a:solidFill>
                          <a:srgbClr val="000000"/>
                        </a:solidFill>
                        <a:effectLst/>
                        <a:latin typeface="Calibri" panose="020F0502020204030204" pitchFamily="34" charset="0"/>
                      </a:endParaRPr>
                    </a:p>
                  </a:txBody>
                  <a:tcPr marL="7620" marR="7620" marT="7620" marB="0" anchor="b">
                    <a:solidFill>
                      <a:schemeClr val="accent1">
                        <a:lumMod val="40000"/>
                        <a:lumOff val="60000"/>
                      </a:schemeClr>
                    </a:solidFill>
                  </a:tcPr>
                </a:tc>
                <a:tc>
                  <a:txBody>
                    <a:bodyPr/>
                    <a:lstStyle/>
                    <a:p>
                      <a:pPr algn="ctr" fontAlgn="b"/>
                      <a:r>
                        <a:rPr lang="en-US" sz="1100" b="0" i="0" u="none" strike="noStrike" dirty="0">
                          <a:solidFill>
                            <a:srgbClr val="000000"/>
                          </a:solidFill>
                          <a:effectLst/>
                          <a:latin typeface="Calibri" panose="020F0502020204030204" pitchFamily="34" charset="0"/>
                        </a:rPr>
                        <a:t>31</a:t>
                      </a:r>
                    </a:p>
                  </a:txBody>
                  <a:tcPr marL="7620" marR="7620" marT="7620" marB="0" anchor="b">
                    <a:solidFill>
                      <a:schemeClr val="accent1">
                        <a:lumMod val="40000"/>
                        <a:lumOff val="60000"/>
                      </a:schemeClr>
                    </a:solidFill>
                  </a:tcPr>
                </a:tc>
                <a:extLst>
                  <a:ext uri="{0D108BD9-81ED-4DB2-BD59-A6C34878D82A}">
                    <a16:rowId xmlns:a16="http://schemas.microsoft.com/office/drawing/2014/main" val="2772479479"/>
                  </a:ext>
                </a:extLst>
              </a:tr>
            </a:tbl>
          </a:graphicData>
        </a:graphic>
      </p:graphicFrame>
      <p:sp>
        <p:nvSpPr>
          <p:cNvPr id="10" name="Title 3"/>
          <p:cNvSpPr txBox="1">
            <a:spLocks/>
          </p:cNvSpPr>
          <p:nvPr/>
        </p:nvSpPr>
        <p:spPr bwMode="auto">
          <a:xfrm>
            <a:off x="971442" y="231090"/>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t>Highlight Project Accomplishments  </a:t>
            </a:r>
          </a:p>
        </p:txBody>
      </p:sp>
      <p:graphicFrame>
        <p:nvGraphicFramePr>
          <p:cNvPr id="5" name="Table 4">
            <a:extLst>
              <a:ext uri="{FF2B5EF4-FFF2-40B4-BE49-F238E27FC236}">
                <a16:creationId xmlns:a16="http://schemas.microsoft.com/office/drawing/2014/main" id="{ACF7F624-CA47-9A8B-BEB6-C52CFB6231C0}"/>
              </a:ext>
            </a:extLst>
          </p:cNvPr>
          <p:cNvGraphicFramePr>
            <a:graphicFrameLocks noGrp="1"/>
          </p:cNvGraphicFramePr>
          <p:nvPr>
            <p:extLst>
              <p:ext uri="{D42A27DB-BD31-4B8C-83A1-F6EECF244321}">
                <p14:modId xmlns:p14="http://schemas.microsoft.com/office/powerpoint/2010/main" val="3192296392"/>
              </p:ext>
            </p:extLst>
          </p:nvPr>
        </p:nvGraphicFramePr>
        <p:xfrm>
          <a:off x="7185502" y="1112388"/>
          <a:ext cx="2933069" cy="3598393"/>
        </p:xfrm>
        <a:graphic>
          <a:graphicData uri="http://schemas.openxmlformats.org/drawingml/2006/table">
            <a:tbl>
              <a:tblPr>
                <a:tableStyleId>{5C22544A-7EE6-4342-B048-85BDC9FD1C3A}</a:tableStyleId>
              </a:tblPr>
              <a:tblGrid>
                <a:gridCol w="2259660">
                  <a:extLst>
                    <a:ext uri="{9D8B030D-6E8A-4147-A177-3AD203B41FA5}">
                      <a16:colId xmlns:a16="http://schemas.microsoft.com/office/drawing/2014/main" val="911109585"/>
                    </a:ext>
                  </a:extLst>
                </a:gridCol>
                <a:gridCol w="673409">
                  <a:extLst>
                    <a:ext uri="{9D8B030D-6E8A-4147-A177-3AD203B41FA5}">
                      <a16:colId xmlns:a16="http://schemas.microsoft.com/office/drawing/2014/main" val="679552774"/>
                    </a:ext>
                  </a:extLst>
                </a:gridCol>
              </a:tblGrid>
              <a:tr h="219414">
                <a:tc gridSpan="2">
                  <a:txBody>
                    <a:bodyPr/>
                    <a:lstStyle/>
                    <a:p>
                      <a:pPr algn="ctr" rtl="0" fontAlgn="b">
                        <a:buNone/>
                      </a:pPr>
                      <a:r>
                        <a:rPr lang="en-US" sz="1000" u="none" strike="noStrike">
                          <a:effectLst/>
                        </a:rPr>
                        <a:t>Total Phase 1 scope </a:t>
                      </a:r>
                      <a:endParaRPr lang="en-US" sz="1000" b="0" i="0" u="none" strike="noStrike">
                        <a:solidFill>
                          <a:srgbClr val="000000"/>
                        </a:solidFill>
                        <a:effectLst/>
                        <a:latin typeface="Calibri" panose="020F0502020204030204" pitchFamily="34" charset="0"/>
                      </a:endParaRPr>
                    </a:p>
                  </a:txBody>
                  <a:tcPr marL="6350" marR="6350" marT="6350" marB="0" anchor="b"/>
                </a:tc>
                <a:tc hMerge="1">
                  <a:txBody>
                    <a:bodyPr/>
                    <a:lstStyle/>
                    <a:p>
                      <a:endParaRPr lang="en-US"/>
                    </a:p>
                  </a:txBody>
                  <a:tcPr/>
                </a:tc>
                <a:extLst>
                  <a:ext uri="{0D108BD9-81ED-4DB2-BD59-A6C34878D82A}">
                    <a16:rowId xmlns:a16="http://schemas.microsoft.com/office/drawing/2014/main" val="1979291364"/>
                  </a:ext>
                </a:extLst>
              </a:tr>
              <a:tr h="585105">
                <a:tc>
                  <a:txBody>
                    <a:bodyPr/>
                    <a:lstStyle/>
                    <a:p>
                      <a:pPr algn="l" rtl="0" fontAlgn="b">
                        <a:buNone/>
                      </a:pPr>
                      <a:r>
                        <a:rPr lang="en-US" sz="1000" u="none" strike="noStrike">
                          <a:effectLst/>
                        </a:rPr>
                        <a:t>Initiation &amp; Planning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138191846"/>
                  </a:ext>
                </a:extLst>
              </a:tr>
              <a:tr h="394946">
                <a:tc>
                  <a:txBody>
                    <a:bodyPr/>
                    <a:lstStyle/>
                    <a:p>
                      <a:pPr algn="l" rtl="0" fontAlgn="b">
                        <a:buNone/>
                      </a:pPr>
                      <a:r>
                        <a:rPr lang="en-US" sz="1000" u="none" strike="noStrike" dirty="0">
                          <a:effectLst/>
                        </a:rPr>
                        <a:t>Site Surveys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5055005"/>
                  </a:ext>
                </a:extLst>
              </a:tr>
              <a:tr h="219414">
                <a:tc>
                  <a:txBody>
                    <a:bodyPr/>
                    <a:lstStyle/>
                    <a:p>
                      <a:pPr algn="l" rtl="0" fontAlgn="b">
                        <a:buNone/>
                      </a:pPr>
                      <a:r>
                        <a:rPr lang="en-US" sz="1000" u="none" strike="noStrike">
                          <a:effectLst/>
                        </a:rPr>
                        <a:t>Test Plan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34250441"/>
                  </a:ext>
                </a:extLst>
              </a:tr>
              <a:tr h="219414">
                <a:tc>
                  <a:txBody>
                    <a:bodyPr/>
                    <a:lstStyle/>
                    <a:p>
                      <a:pPr algn="l" rtl="0" fontAlgn="b">
                        <a:buNone/>
                      </a:pPr>
                      <a:r>
                        <a:rPr lang="en-US" sz="1000" u="none" strike="noStrike">
                          <a:effectLst/>
                        </a:rPr>
                        <a:t>HLD</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862946182"/>
                  </a:ext>
                </a:extLst>
              </a:tr>
              <a:tr h="219414">
                <a:tc>
                  <a:txBody>
                    <a:bodyPr/>
                    <a:lstStyle/>
                    <a:p>
                      <a:pPr algn="l" rtl="0" fontAlgn="b">
                        <a:buNone/>
                      </a:pPr>
                      <a:r>
                        <a:rPr lang="en-US" sz="1000" u="none" strike="noStrike">
                          <a:effectLst/>
                        </a:rPr>
                        <a:t>IFR/IFC</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04545583"/>
                  </a:ext>
                </a:extLst>
              </a:tr>
              <a:tr h="394946">
                <a:tc>
                  <a:txBody>
                    <a:bodyPr/>
                    <a:lstStyle/>
                    <a:p>
                      <a:pPr algn="l" rtl="0" fontAlgn="b">
                        <a:buNone/>
                      </a:pPr>
                      <a:r>
                        <a:rPr lang="en-US" sz="1000" u="none" strike="noStrike">
                          <a:effectLst/>
                        </a:rPr>
                        <a:t>Procurement</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215060852"/>
                  </a:ext>
                </a:extLst>
              </a:tr>
              <a:tr h="219414">
                <a:tc>
                  <a:txBody>
                    <a:bodyPr/>
                    <a:lstStyle/>
                    <a:p>
                      <a:pPr algn="l" rtl="0" fontAlgn="b">
                        <a:buNone/>
                      </a:pPr>
                      <a:r>
                        <a:rPr lang="en-US" sz="1000" u="none" strike="noStrike" dirty="0">
                          <a:effectLst/>
                        </a:rPr>
                        <a:t>Staging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a:effectLst/>
                        </a:rPr>
                        <a:t>100%</a:t>
                      </a:r>
                      <a:endParaRPr lang="en-US" sz="10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03479597"/>
                  </a:ext>
                </a:extLst>
              </a:tr>
              <a:tr h="219414">
                <a:tc>
                  <a:txBody>
                    <a:bodyPr/>
                    <a:lstStyle/>
                    <a:p>
                      <a:pPr algn="l" rtl="0" fontAlgn="b">
                        <a:buNone/>
                      </a:pPr>
                      <a:r>
                        <a:rPr lang="en-US" sz="1000" u="none" strike="noStrike">
                          <a:effectLst/>
                        </a:rPr>
                        <a:t>Field Installation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028702971"/>
                  </a:ext>
                </a:extLst>
              </a:tr>
              <a:tr h="219414">
                <a:tc>
                  <a:txBody>
                    <a:bodyPr/>
                    <a:lstStyle/>
                    <a:p>
                      <a:pPr algn="l" rtl="0" fontAlgn="b">
                        <a:buNone/>
                      </a:pPr>
                      <a:r>
                        <a:rPr lang="en-US" sz="1000" u="none" strike="noStrike" dirty="0">
                          <a:effectLst/>
                        </a:rPr>
                        <a:t>Deployment - CWDM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rtl="0" fontAlgn="b">
                        <a:buNone/>
                      </a:pPr>
                      <a:r>
                        <a:rPr lang="en-US" sz="1000" u="none" strike="noStrike" dirty="0">
                          <a:effectLst/>
                        </a:rPr>
                        <a:t>100%</a:t>
                      </a:r>
                      <a:endParaRPr lang="en-US" sz="1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534456911"/>
                  </a:ext>
                </a:extLst>
              </a:tr>
              <a:tr h="343749">
                <a:tc>
                  <a:txBody>
                    <a:bodyPr/>
                    <a:lstStyle/>
                    <a:p>
                      <a:pPr algn="l" rtl="0" fontAlgn="b">
                        <a:buNone/>
                      </a:pPr>
                      <a:r>
                        <a:rPr lang="en-US" sz="1000" u="none" strike="noStrike" dirty="0">
                          <a:effectLst/>
                        </a:rPr>
                        <a:t>Pre-Deployment Deployment -          Security &amp; Radio  </a:t>
                      </a:r>
                      <a:endParaRPr lang="en-US" sz="1000" b="0" i="0" u="none" strike="noStrike" dirty="0">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5%</a:t>
                      </a:r>
                      <a:endParaRPr lang="en-US" sz="1100" u="none" strike="noStrike" kern="1200" dirty="0">
                        <a:solidFill>
                          <a:schemeClr val="dk1"/>
                        </a:solidFill>
                        <a:effectLst/>
                        <a:latin typeface="+mn-lt"/>
                        <a:ea typeface="+mn-ea"/>
                        <a:cs typeface="+mn-cs"/>
                      </a:endParaRPr>
                    </a:p>
                  </a:txBody>
                  <a:tcPr marL="6350" marR="6350" marT="6350" marB="0" anchor="b"/>
                </a:tc>
                <a:extLst>
                  <a:ext uri="{0D108BD9-81ED-4DB2-BD59-A6C34878D82A}">
                    <a16:rowId xmlns:a16="http://schemas.microsoft.com/office/drawing/2014/main" val="763113042"/>
                  </a:ext>
                </a:extLst>
              </a:tr>
              <a:tr h="343749">
                <a:tc>
                  <a:txBody>
                    <a:bodyPr/>
                    <a:lstStyle/>
                    <a:p>
                      <a:pPr algn="l" rtl="0" fontAlgn="b">
                        <a:buNone/>
                      </a:pPr>
                      <a:r>
                        <a:rPr lang="en-US" sz="1000" u="none" strike="noStrike">
                          <a:effectLst/>
                        </a:rPr>
                        <a:t>Deployment - Relay/RTU Cutover </a:t>
                      </a:r>
                      <a:endParaRPr lang="en-US" sz="10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buNone/>
                      </a:pPr>
                      <a:r>
                        <a:rPr lang="en-US" sz="1100" u="none" strike="noStrike" dirty="0">
                          <a:effectLst/>
                        </a:rPr>
                        <a:t>not started</a:t>
                      </a:r>
                    </a:p>
                  </a:txBody>
                  <a:tcPr marL="6350" marR="6350" marT="6350" marB="0" anchor="b"/>
                </a:tc>
                <a:extLst>
                  <a:ext uri="{0D108BD9-81ED-4DB2-BD59-A6C34878D82A}">
                    <a16:rowId xmlns:a16="http://schemas.microsoft.com/office/drawing/2014/main" val="4102666781"/>
                  </a:ext>
                </a:extLst>
              </a:tr>
            </a:tbl>
          </a:graphicData>
        </a:graphic>
      </p:graphicFrame>
    </p:spTree>
    <p:extLst>
      <p:ext uri="{BB962C8B-B14F-4D97-AF65-F5344CB8AC3E}">
        <p14:creationId xmlns:p14="http://schemas.microsoft.com/office/powerpoint/2010/main" val="1417963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204FD2-C527-D8B9-A788-0D242A78DE3D}"/>
              </a:ext>
            </a:extLst>
          </p:cNvPr>
          <p:cNvSpPr txBox="1"/>
          <p:nvPr/>
        </p:nvSpPr>
        <p:spPr>
          <a:xfrm>
            <a:off x="643467" y="651752"/>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kern="1200" dirty="0">
                <a:solidFill>
                  <a:schemeClr val="bg1"/>
                </a:solidFill>
                <a:latin typeface="+mj-lt"/>
                <a:ea typeface="+mj-ea"/>
                <a:cs typeface="+mj-cs"/>
              </a:rPr>
              <a:t>Phase 1 – Layer 1-3 configuration – Next steps  </a:t>
            </a:r>
          </a:p>
        </p:txBody>
      </p:sp>
      <p:graphicFrame>
        <p:nvGraphicFramePr>
          <p:cNvPr id="8" name="Table 7">
            <a:extLst>
              <a:ext uri="{FF2B5EF4-FFF2-40B4-BE49-F238E27FC236}">
                <a16:creationId xmlns:a16="http://schemas.microsoft.com/office/drawing/2014/main" id="{4EE937DA-E63A-38EB-953F-746B2D530FFB}"/>
              </a:ext>
            </a:extLst>
          </p:cNvPr>
          <p:cNvGraphicFramePr>
            <a:graphicFrameLocks noGrp="1"/>
          </p:cNvGraphicFramePr>
          <p:nvPr>
            <p:extLst>
              <p:ext uri="{D42A27DB-BD31-4B8C-83A1-F6EECF244321}">
                <p14:modId xmlns:p14="http://schemas.microsoft.com/office/powerpoint/2010/main" val="1690904527"/>
              </p:ext>
            </p:extLst>
          </p:nvPr>
        </p:nvGraphicFramePr>
        <p:xfrm>
          <a:off x="643467" y="1873958"/>
          <a:ext cx="11060853" cy="4087929"/>
        </p:xfrm>
        <a:graphic>
          <a:graphicData uri="http://schemas.openxmlformats.org/drawingml/2006/table">
            <a:tbl>
              <a:tblPr/>
              <a:tblGrid>
                <a:gridCol w="2034979">
                  <a:extLst>
                    <a:ext uri="{9D8B030D-6E8A-4147-A177-3AD203B41FA5}">
                      <a16:colId xmlns:a16="http://schemas.microsoft.com/office/drawing/2014/main" val="639203627"/>
                    </a:ext>
                  </a:extLst>
                </a:gridCol>
                <a:gridCol w="5498432">
                  <a:extLst>
                    <a:ext uri="{9D8B030D-6E8A-4147-A177-3AD203B41FA5}">
                      <a16:colId xmlns:a16="http://schemas.microsoft.com/office/drawing/2014/main" val="2492720301"/>
                    </a:ext>
                  </a:extLst>
                </a:gridCol>
                <a:gridCol w="1070103">
                  <a:extLst>
                    <a:ext uri="{9D8B030D-6E8A-4147-A177-3AD203B41FA5}">
                      <a16:colId xmlns:a16="http://schemas.microsoft.com/office/drawing/2014/main" val="1030227231"/>
                    </a:ext>
                  </a:extLst>
                </a:gridCol>
                <a:gridCol w="1216223">
                  <a:extLst>
                    <a:ext uri="{9D8B030D-6E8A-4147-A177-3AD203B41FA5}">
                      <a16:colId xmlns:a16="http://schemas.microsoft.com/office/drawing/2014/main" val="585339364"/>
                    </a:ext>
                  </a:extLst>
                </a:gridCol>
                <a:gridCol w="1241116">
                  <a:extLst>
                    <a:ext uri="{9D8B030D-6E8A-4147-A177-3AD203B41FA5}">
                      <a16:colId xmlns:a16="http://schemas.microsoft.com/office/drawing/2014/main" val="1405953580"/>
                    </a:ext>
                  </a:extLst>
                </a:gridCol>
              </a:tblGrid>
              <a:tr h="433388">
                <a:tc>
                  <a:txBody>
                    <a:bodyPr/>
                    <a:lstStyle/>
                    <a:p>
                      <a:pPr algn="ctr" fontAlgn="t">
                        <a:buNone/>
                      </a:pPr>
                      <a:r>
                        <a:rPr lang="en-US" sz="1200" b="0" i="0" u="none" strike="noStrike" dirty="0">
                          <a:solidFill>
                            <a:srgbClr val="FFFFFF"/>
                          </a:solidFill>
                          <a:effectLst/>
                          <a:latin typeface="Aptos Narrow" panose="020B0004020202020204" pitchFamily="34" charset="0"/>
                        </a:rPr>
                        <a:t>Mobilization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ptos Narrow" panose="020B0004020202020204" pitchFamily="34" charset="0"/>
                          <a:ea typeface="+mn-ea"/>
                          <a:cs typeface="+mn-cs"/>
                        </a:rPr>
                        <a:t>Description</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Responsible Stakeholder</a:t>
                      </a:r>
                      <a:endParaRPr lang="en-US" sz="2000" b="0" i="0" u="none" strike="noStrike">
                        <a:effectLst/>
                        <a:latin typeface="Arial" panose="020B0604020202020204" pitchFamily="34" charset="0"/>
                      </a:endParaRPr>
                    </a:p>
                  </a:txBody>
                  <a:tcPr marL="7114" marR="7114" marT="7114" marB="0" anchor="b">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ctr">
                        <a:buNone/>
                      </a:pPr>
                      <a:r>
                        <a:rPr lang="en-US" sz="1200" b="0" i="0" u="none" strike="noStrike">
                          <a:solidFill>
                            <a:srgbClr val="FFFFFF"/>
                          </a:solidFill>
                          <a:effectLst/>
                          <a:latin typeface="Aptos Narrow" panose="020B0004020202020204" pitchFamily="34" charset="0"/>
                        </a:rPr>
                        <a:t>Present On Site </a:t>
                      </a:r>
                      <a:endParaRPr lang="en-US" sz="2000" b="0" i="0" u="none" strike="noStrike">
                        <a:effectLst/>
                        <a:latin typeface="Arial" panose="020B0604020202020204" pitchFamily="34" charset="0"/>
                      </a:endParaRPr>
                    </a:p>
                  </a:txBody>
                  <a:tcPr marL="7114" marR="7114" marT="7114" marB="0" anchor="ctr">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ADADAD"/>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tc>
                  <a:txBody>
                    <a:bodyPr/>
                    <a:lstStyle/>
                    <a:p>
                      <a:pPr algn="ctr" fontAlgn="b">
                        <a:buNone/>
                      </a:pPr>
                      <a:r>
                        <a:rPr lang="en-US" sz="1200" b="0" i="0" u="none" strike="noStrike">
                          <a:solidFill>
                            <a:srgbClr val="FFFFFF"/>
                          </a:solidFill>
                          <a:effectLst/>
                          <a:latin typeface="Aptos Narrow" panose="020B0004020202020204" pitchFamily="34" charset="0"/>
                        </a:rPr>
                        <a:t>Estimated Duration/Site</a:t>
                      </a:r>
                      <a:endParaRPr lang="en-US" sz="2000" b="0" i="0" u="none" strike="noStrike">
                        <a:effectLst/>
                        <a:latin typeface="Arial" panose="020B0604020202020204" pitchFamily="34" charset="0"/>
                      </a:endParaRPr>
                    </a:p>
                  </a:txBody>
                  <a:tcPr marL="7114" marR="7114" marT="7114" marB="0" anchor="b">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D93D9"/>
                    </a:solidFill>
                  </a:tcPr>
                </a:tc>
                <a:extLst>
                  <a:ext uri="{0D108BD9-81ED-4DB2-BD59-A6C34878D82A}">
                    <a16:rowId xmlns:a16="http://schemas.microsoft.com/office/drawing/2014/main" val="3674121576"/>
                  </a:ext>
                </a:extLst>
              </a:tr>
              <a:tr h="1009684">
                <a:tc>
                  <a:txBody>
                    <a:bodyPr/>
                    <a:lstStyle/>
                    <a:p>
                      <a:pPr algn="l" fontAlgn="ctr">
                        <a:buNone/>
                      </a:pPr>
                      <a:r>
                        <a:rPr lang="en-US" sz="1200" b="0" i="0" u="none" strike="noStrike">
                          <a:solidFill>
                            <a:srgbClr val="000000"/>
                          </a:solidFill>
                          <a:effectLst/>
                          <a:latin typeface="Aptos Narrow" panose="020B0004020202020204" pitchFamily="34" charset="0"/>
                        </a:rPr>
                        <a:t>Initial Installation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Clr>
                          <a:srgbClr val="000000"/>
                        </a:buClr>
                        <a:buSzPts val="1100"/>
                        <a:buFont typeface="Aptos Narrow" panose="020B0004020202020204" pitchFamily="34" charset="0"/>
                        <a:buNone/>
                      </a:pP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power feeds - </a:t>
                      </a:r>
                      <a:r>
                        <a:rPr lang="en-US" sz="1200" b="0" i="0" u="none" strike="noStrike" dirty="0">
                          <a:solidFill>
                            <a:srgbClr val="00B050"/>
                          </a:solidFill>
                          <a:effectLst/>
                          <a:latin typeface="Aptos Narrow" panose="020B0004020202020204" pitchFamily="34" charset="0"/>
                        </a:rPr>
                        <a:t>Completed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Power MPLS router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r>
                        <a:rPr lang="en-US" sz="1200" b="0" i="0" u="none" strike="noStrike" dirty="0">
                          <a:solidFill>
                            <a:srgbClr val="000000"/>
                          </a:solidFill>
                          <a:effectLst/>
                          <a:latin typeface="Aptos Narrow" panose="020B0004020202020204" pitchFamily="34" charset="0"/>
                        </a:rPr>
                        <a:t> •    Install new communication cables - </a:t>
                      </a:r>
                      <a:r>
                        <a:rPr lang="en-US" sz="1200" b="0" i="0" u="none" strike="noStrike" dirty="0">
                          <a:solidFill>
                            <a:srgbClr val="00B050"/>
                          </a:solidFill>
                          <a:effectLst/>
                          <a:latin typeface="Aptos Narrow" panose="020B0004020202020204" pitchFamily="34" charset="0"/>
                        </a:rPr>
                        <a:t>Completed</a:t>
                      </a:r>
                      <a:r>
                        <a:rPr lang="en-US" sz="1200" b="0" i="0" u="none" strike="noStrike" dirty="0">
                          <a:solidFill>
                            <a:srgbClr val="000000"/>
                          </a:solidFill>
                          <a:effectLst/>
                          <a:latin typeface="Aptos Narrow" panose="020B0004020202020204" pitchFamily="34" charset="0"/>
                        </a:rPr>
                        <a:t> </a:t>
                      </a:r>
                      <a:br>
                        <a:rPr lang="en-US" sz="1200" b="0" i="0" u="none" strike="noStrike" dirty="0">
                          <a:solidFill>
                            <a:srgbClr val="000000"/>
                          </a:solidFill>
                          <a:effectLst/>
                          <a:latin typeface="Aptos Narrow" panose="020B0004020202020204" pitchFamily="34" charset="0"/>
                        </a:rPr>
                      </a:br>
                      <a:endParaRPr lang="en-US" sz="1200" b="0" i="0" u="none" strike="noStrike" dirty="0">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Hawkeye, BMcD,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24325104"/>
                  </a:ext>
                </a:extLst>
              </a:tr>
              <a:tr h="625487">
                <a:tc>
                  <a:txBody>
                    <a:bodyPr/>
                    <a:lstStyle/>
                    <a:p>
                      <a:pPr algn="l" fontAlgn="ctr">
                        <a:buNone/>
                      </a:pPr>
                      <a:r>
                        <a:rPr lang="en-US" sz="1200" b="0" i="0" u="none" strike="noStrike">
                          <a:solidFill>
                            <a:srgbClr val="000000"/>
                          </a:solidFill>
                          <a:effectLst/>
                          <a:latin typeface="Aptos Narrow" panose="020B0004020202020204" pitchFamily="34" charset="0"/>
                        </a:rPr>
                        <a:t>Fiber Integration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JMUX OC-48 Circuits &amp; Nokia MPLS over CWDM filters  - </a:t>
                      </a:r>
                      <a:r>
                        <a:rPr lang="en-US" sz="1200" b="0" i="0" u="none" strike="noStrike">
                          <a:solidFill>
                            <a:srgbClr val="00B050"/>
                          </a:solidFill>
                          <a:effectLst/>
                          <a:latin typeface="Aptos Narrow" panose="020B0004020202020204" pitchFamily="34" charset="0"/>
                        </a:rPr>
                        <a:t>Completed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new MPLS parallel links  -</a:t>
                      </a:r>
                      <a:r>
                        <a:rPr lang="en-US" sz="1200" b="0" i="0" u="none" strike="noStrike">
                          <a:solidFill>
                            <a:srgbClr val="00B050"/>
                          </a:solidFill>
                          <a:effectLst/>
                          <a:latin typeface="Aptos Narrow" panose="020B0004020202020204" pitchFamily="34" charset="0"/>
                        </a:rPr>
                        <a:t> Completed</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Establish Nokia parallel network &amp; connectivity - </a:t>
                      </a:r>
                      <a:r>
                        <a:rPr lang="en-US" sz="1200" b="0" i="0" u="none" strike="noStrike">
                          <a:solidFill>
                            <a:srgbClr val="00B050"/>
                          </a:solidFill>
                          <a:effectLst/>
                          <a:latin typeface="Aptos Narrow" panose="020B0004020202020204" pitchFamily="34" charset="0"/>
                        </a:rPr>
                        <a:t>Completed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1 Week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1288650"/>
                  </a:ext>
                </a:extLst>
              </a:tr>
              <a:tr h="1393883">
                <a:tc>
                  <a:txBody>
                    <a:bodyPr/>
                    <a:lstStyle/>
                    <a:p>
                      <a:pPr algn="l" fontAlgn="ctr">
                        <a:buNone/>
                      </a:pPr>
                      <a:r>
                        <a:rPr lang="en-US" sz="1200" b="0" i="0" u="none" strike="noStrike">
                          <a:solidFill>
                            <a:srgbClr val="000000"/>
                          </a:solidFill>
                          <a:effectLst/>
                          <a:latin typeface="Aptos Narrow" panose="020B0004020202020204" pitchFamily="34" charset="0"/>
                        </a:rPr>
                        <a:t>Layer 3 Connect </a:t>
                      </a:r>
                      <a:endParaRPr lang="en-US" sz="2000" b="0" i="0" u="none" strike="noStrike">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    Establish Ethernet circuits with Nokia MPLS in paralled with JMUX where possible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Security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FEMA 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Two-way Radio</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DSCADA</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     MicroPAQ</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5 days </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51813853"/>
                  </a:ext>
                </a:extLst>
              </a:tr>
              <a:tr h="625487">
                <a:tc>
                  <a:txBody>
                    <a:bodyPr/>
                    <a:lstStyle/>
                    <a:p>
                      <a:pPr algn="l" fontAlgn="ctr">
                        <a:buNone/>
                      </a:pPr>
                      <a:r>
                        <a:rPr lang="en-US" sz="1200" b="0" i="0" u="none" strike="noStrike" dirty="0">
                          <a:solidFill>
                            <a:srgbClr val="000000"/>
                          </a:solidFill>
                          <a:effectLst/>
                          <a:latin typeface="Aptos Narrow" panose="020B0004020202020204" pitchFamily="34" charset="0"/>
                        </a:rPr>
                        <a:t> Layer 1 </a:t>
                      </a:r>
                      <a:endParaRPr lang="en-US" sz="2000" b="0" i="0" u="none" strike="noStrike" dirty="0">
                        <a:effectLst/>
                        <a:latin typeface="Arial" panose="020B0604020202020204" pitchFamily="34" charset="0"/>
                      </a:endParaRPr>
                    </a:p>
                  </a:txBody>
                  <a:tcPr marL="7114" marR="7114" marT="7114" marB="0" anchor="ctr">
                    <a:lnL w="6350" cap="flat" cmpd="sng" algn="ctr">
                      <a:solidFill>
                        <a:srgbClr val="ADADAD"/>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   Cutover of relay and RTU circuits from JMUX to MPLS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Cutover any other circuits (PAR, DRD, etc.) as possble </a:t>
                      </a:r>
                      <a:br>
                        <a:rPr lang="en-US" sz="1200" b="0" i="0" u="none" strike="noStrike">
                          <a:solidFill>
                            <a:srgbClr val="000000"/>
                          </a:solidFill>
                          <a:effectLst/>
                          <a:latin typeface="Aptos Narrow" panose="020B0004020202020204" pitchFamily="34" charset="0"/>
                        </a:rPr>
                      </a:br>
                      <a:r>
                        <a:rPr lang="en-US" sz="1200" b="0" i="0" u="none" strike="noStrike">
                          <a:solidFill>
                            <a:srgbClr val="000000"/>
                          </a:solidFill>
                          <a:effectLst/>
                          <a:latin typeface="Aptos Narrow" panose="020B0004020202020204" pitchFamily="34" charset="0"/>
                        </a:rPr>
                        <a:t>•   Only RTUs/Circuits with no dependency on other JMUX rings</a:t>
                      </a:r>
                      <a:endParaRPr lang="en-US" sz="2000" b="0" i="0" u="none" strike="noStrike">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PSEGLI (Relay)</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a:solidFill>
                            <a:srgbClr val="000000"/>
                          </a:solidFill>
                          <a:effectLst/>
                          <a:latin typeface="Aptos Narrow" panose="020B0004020202020204" pitchFamily="34" charset="0"/>
                        </a:rPr>
                        <a:t>BMcD, PSEGLI</a:t>
                      </a:r>
                      <a:endParaRPr lang="en-US" sz="2000" b="0" i="0" u="none" strike="noStrike">
                        <a:effectLst/>
                        <a:latin typeface="Arial" panose="020B0604020202020204" pitchFamily="34" charset="0"/>
                      </a:endParaRPr>
                    </a:p>
                  </a:txBody>
                  <a:tcPr marL="7114" marR="7114" marT="7114" marB="0">
                    <a:lnL w="6350" cap="flat" cmpd="sng" algn="ctr">
                      <a:solidFill>
                        <a:srgbClr val="BFBFBF"/>
                      </a:solidFill>
                      <a:prstDash val="solid"/>
                      <a:round/>
                      <a:headEnd type="none" w="med" len="med"/>
                      <a:tailEnd type="none" w="med" len="med"/>
                    </a:lnL>
                    <a:lnR w="6350" cap="flat" cmpd="sng" algn="ctr">
                      <a:solidFill>
                        <a:srgbClr val="ADADAD"/>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ADADAD"/>
                      </a:solidFill>
                      <a:prstDash val="solid"/>
                      <a:round/>
                      <a:headEnd type="none" w="med" len="med"/>
                      <a:tailEnd type="none" w="med" len="med"/>
                    </a:lnB>
                    <a:noFill/>
                  </a:tcPr>
                </a:tc>
                <a:tc>
                  <a:txBody>
                    <a:bodyPr/>
                    <a:lstStyle/>
                    <a:p>
                      <a:pPr algn="l" fontAlgn="t">
                        <a:buNone/>
                      </a:pPr>
                      <a:r>
                        <a:rPr lang="en-US" sz="1200" b="0" i="0" u="none" strike="noStrike" dirty="0">
                          <a:solidFill>
                            <a:srgbClr val="000000"/>
                          </a:solidFill>
                          <a:effectLst/>
                          <a:latin typeface="Aptos Narrow" panose="020B0004020202020204" pitchFamily="34" charset="0"/>
                        </a:rPr>
                        <a:t>5 days </a:t>
                      </a:r>
                      <a:endParaRPr lang="en-US" sz="2000" b="0" i="0" u="none" strike="noStrike" dirty="0">
                        <a:effectLst/>
                        <a:latin typeface="Arial" panose="020B0604020202020204" pitchFamily="34" charset="0"/>
                      </a:endParaRPr>
                    </a:p>
                  </a:txBody>
                  <a:tcPr marL="7114" marR="7114" marT="7114" marB="0">
                    <a:lnL w="6350" cap="flat" cmpd="sng" algn="ctr">
                      <a:solidFill>
                        <a:srgbClr val="ADADAD"/>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630843798"/>
                  </a:ext>
                </a:extLst>
              </a:tr>
            </a:tbl>
          </a:graphicData>
        </a:graphic>
      </p:graphicFrame>
    </p:spTree>
    <p:extLst>
      <p:ext uri="{BB962C8B-B14F-4D97-AF65-F5344CB8AC3E}">
        <p14:creationId xmlns:p14="http://schemas.microsoft.com/office/powerpoint/2010/main" val="314420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8111D16C-0D70-4DF7-A884-2B965BBE9EE0}"/>
              </a:ext>
            </a:extLst>
          </p:cNvPr>
          <p:cNvSpPr/>
          <p:nvPr/>
        </p:nvSpPr>
        <p:spPr>
          <a:xfrm>
            <a:off x="0" y="6183086"/>
            <a:ext cx="12192000" cy="6688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Box 43">
            <a:extLst>
              <a:ext uri="{FF2B5EF4-FFF2-40B4-BE49-F238E27FC236}">
                <a16:creationId xmlns:a16="http://schemas.microsoft.com/office/drawing/2014/main" id="{F46A4095-A75E-441B-8801-2005C3DACEC8}"/>
              </a:ext>
            </a:extLst>
          </p:cNvPr>
          <p:cNvSpPr txBox="1"/>
          <p:nvPr/>
        </p:nvSpPr>
        <p:spPr>
          <a:xfrm>
            <a:off x="1" y="4037992"/>
            <a:ext cx="6254880" cy="1366317"/>
          </a:xfrm>
          <a:prstGeom prst="rect">
            <a:avLst/>
          </a:prstGeom>
          <a:solidFill>
            <a:schemeClr val="accent1">
              <a:lumMod val="10000"/>
              <a:lumOff val="90000"/>
            </a:schemeClr>
          </a:solidFill>
          <a:ln w="19050">
            <a:solidFill>
              <a:schemeClr val="accent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en-GB" sz="1000" b="1" u="sng" dirty="0">
                <a:solidFill>
                  <a:schemeClr val="tx1"/>
                </a:solidFill>
                <a:latin typeface="Arial" panose="020B0604020202020204" pitchFamily="34" charset="0"/>
                <a:ea typeface="Times New Roman" panose="02020603050405020304" pitchFamily="18" charset="0"/>
              </a:rPr>
              <a:t>Progress Current Period (past 2 weeks)- Milestones/Key Deliverables with Dates</a:t>
            </a: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CAT6 cable run completed by Hawkeye 				03/04/2026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OTDR testing completed from Hicksville to Syosset , found bad filter 		                                03/09/2026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First batch of IFR(3) have been converted to IFC and uploaded to shared drive	                                03/09/2026</a:t>
            </a:r>
          </a:p>
          <a:p>
            <a:r>
              <a:rPr lang="en-US" sz="800" dirty="0">
                <a:ea typeface="Times New Roman" panose="02020603050405020304" pitchFamily="18" charset="0"/>
              </a:rPr>
              <a:t>	</a:t>
            </a:r>
          </a:p>
        </p:txBody>
      </p:sp>
      <p:sp>
        <p:nvSpPr>
          <p:cNvPr id="34" name="Title 5">
            <a:extLst>
              <a:ext uri="{FF2B5EF4-FFF2-40B4-BE49-F238E27FC236}">
                <a16:creationId xmlns:a16="http://schemas.microsoft.com/office/drawing/2014/main" id="{750A431B-B608-496E-9DA5-C69F700B2284}"/>
              </a:ext>
            </a:extLst>
          </p:cNvPr>
          <p:cNvSpPr>
            <a:spLocks noGrp="1"/>
          </p:cNvSpPr>
          <p:nvPr>
            <p:ph type="title"/>
          </p:nvPr>
        </p:nvSpPr>
        <p:spPr>
          <a:xfrm>
            <a:off x="0" y="-32"/>
            <a:ext cx="12192000" cy="811732"/>
          </a:xfrm>
          <a:solidFill>
            <a:schemeClr val="bg1">
              <a:lumMod val="85000"/>
            </a:schemeClr>
          </a:solidFill>
          <a:ln w="12700">
            <a:solidFill>
              <a:prstClr val="black"/>
            </a:solidFill>
          </a:ln>
        </p:spPr>
        <p:txBody>
          <a:bodyPr anchor="ctr"/>
          <a:lstStyle/>
          <a:p>
            <a:pPr algn="ctr"/>
            <a:r>
              <a:rPr lang="en-US" altLang="en-US" sz="2400" dirty="0"/>
              <a:t>JMUX Replacement</a:t>
            </a:r>
            <a:endParaRPr lang="en-US" sz="1000" b="0" dirty="0">
              <a:solidFill>
                <a:schemeClr val="tx1"/>
              </a:solidFill>
              <a:latin typeface="+mn-lt"/>
            </a:endParaRPr>
          </a:p>
        </p:txBody>
      </p:sp>
      <p:graphicFrame>
        <p:nvGraphicFramePr>
          <p:cNvPr id="35" name="Table 34">
            <a:extLst>
              <a:ext uri="{FF2B5EF4-FFF2-40B4-BE49-F238E27FC236}">
                <a16:creationId xmlns:a16="http://schemas.microsoft.com/office/drawing/2014/main" id="{059ECB7F-20E3-4CCE-ACDC-23A88D3722C0}"/>
              </a:ext>
            </a:extLst>
          </p:cNvPr>
          <p:cNvGraphicFramePr>
            <a:graphicFrameLocks noGrp="1"/>
          </p:cNvGraphicFramePr>
          <p:nvPr/>
        </p:nvGraphicFramePr>
        <p:xfrm>
          <a:off x="3960666" y="812584"/>
          <a:ext cx="2321027" cy="2082214"/>
        </p:xfrm>
        <a:graphic>
          <a:graphicData uri="http://schemas.openxmlformats.org/drawingml/2006/table">
            <a:tbl>
              <a:tblPr firstRow="1" firstCol="1" bandRow="1">
                <a:tableStyleId>{5C22544A-7EE6-4342-B048-85BDC9FD1C3A}</a:tableStyleId>
              </a:tblPr>
              <a:tblGrid>
                <a:gridCol w="1023425">
                  <a:extLst>
                    <a:ext uri="{9D8B030D-6E8A-4147-A177-3AD203B41FA5}">
                      <a16:colId xmlns:a16="http://schemas.microsoft.com/office/drawing/2014/main" val="20000"/>
                    </a:ext>
                  </a:extLst>
                </a:gridCol>
                <a:gridCol w="651516">
                  <a:extLst>
                    <a:ext uri="{9D8B030D-6E8A-4147-A177-3AD203B41FA5}">
                      <a16:colId xmlns:a16="http://schemas.microsoft.com/office/drawing/2014/main" val="20001"/>
                    </a:ext>
                  </a:extLst>
                </a:gridCol>
                <a:gridCol w="646086">
                  <a:extLst>
                    <a:ext uri="{9D8B030D-6E8A-4147-A177-3AD203B41FA5}">
                      <a16:colId xmlns:a16="http://schemas.microsoft.com/office/drawing/2014/main" val="20002"/>
                    </a:ext>
                  </a:extLst>
                </a:gridCol>
              </a:tblGrid>
              <a:tr h="173199">
                <a:tc>
                  <a:txBody>
                    <a:bodyPr/>
                    <a:lstStyle/>
                    <a:p>
                      <a:pPr marL="0" marR="0" algn="l">
                        <a:spcBef>
                          <a:spcPts val="600"/>
                        </a:spcBef>
                        <a:spcAft>
                          <a:spcPts val="0"/>
                        </a:spcAft>
                      </a:pPr>
                      <a:r>
                        <a:rPr lang="en-GB" sz="1000" dirty="0">
                          <a:solidFill>
                            <a:schemeClr val="tx1"/>
                          </a:solidFill>
                          <a:effectLst/>
                        </a:rPr>
                        <a:t> </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600"/>
                        </a:spcBef>
                        <a:spcAft>
                          <a:spcPts val="0"/>
                        </a:spcAft>
                      </a:pPr>
                      <a:r>
                        <a:rPr lang="en-GB" sz="1000" b="1" dirty="0">
                          <a:solidFill>
                            <a:schemeClr val="tx1"/>
                          </a:solidFill>
                          <a:effectLst/>
                        </a:rPr>
                        <a:t>Status*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algn="l">
                        <a:spcBef>
                          <a:spcPts val="600"/>
                        </a:spcBef>
                        <a:spcAft>
                          <a:spcPts val="0"/>
                        </a:spcAft>
                      </a:pPr>
                      <a:r>
                        <a:rPr lang="en-GB" sz="1000" b="1" dirty="0">
                          <a:solidFill>
                            <a:schemeClr val="tx1"/>
                          </a:solidFill>
                          <a:effectLst/>
                        </a:rPr>
                        <a:t>Trends*</a:t>
                      </a:r>
                      <a:endParaRPr lang="en-US" sz="1000" b="1"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0"/>
                  </a:ext>
                </a:extLst>
              </a:tr>
              <a:tr h="381803">
                <a:tc>
                  <a:txBody>
                    <a:bodyPr/>
                    <a:lstStyle/>
                    <a:p>
                      <a:pPr marL="0" marR="0" algn="ctr">
                        <a:spcBef>
                          <a:spcPts val="300"/>
                        </a:spcBef>
                        <a:spcAft>
                          <a:spcPts val="300"/>
                        </a:spcAft>
                      </a:pPr>
                      <a:r>
                        <a:rPr lang="en-GB" sz="1000" dirty="0">
                          <a:solidFill>
                            <a:schemeClr val="tx1"/>
                          </a:solidFill>
                          <a:effectLst/>
                        </a:rPr>
                        <a:t>Schedule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Yellow</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2"/>
                  </a:ext>
                </a:extLst>
              </a:tr>
              <a:tr h="381803">
                <a:tc>
                  <a:txBody>
                    <a:bodyPr/>
                    <a:lstStyle/>
                    <a:p>
                      <a:pPr marL="0" marR="0" algn="ctr">
                        <a:spcBef>
                          <a:spcPts val="300"/>
                        </a:spcBef>
                        <a:spcAft>
                          <a:spcPts val="300"/>
                        </a:spcAft>
                      </a:pPr>
                      <a:r>
                        <a:rPr lang="en-GB" sz="1000" dirty="0">
                          <a:solidFill>
                            <a:schemeClr val="tx1"/>
                          </a:solidFill>
                          <a:effectLst/>
                        </a:rPr>
                        <a:t>Financial</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3"/>
                  </a:ext>
                </a:extLst>
              </a:tr>
              <a:tr h="381803">
                <a:tc>
                  <a:txBody>
                    <a:bodyPr/>
                    <a:lstStyle/>
                    <a:p>
                      <a:pPr marL="0" marR="0" algn="ctr">
                        <a:spcBef>
                          <a:spcPts val="300"/>
                        </a:spcBef>
                        <a:spcAft>
                          <a:spcPts val="300"/>
                        </a:spcAft>
                      </a:pPr>
                      <a:r>
                        <a:rPr lang="en-GB" sz="1000" dirty="0">
                          <a:solidFill>
                            <a:schemeClr val="tx1"/>
                          </a:solidFill>
                          <a:effectLst/>
                        </a:rPr>
                        <a:t>Scope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4"/>
                  </a:ext>
                </a:extLst>
              </a:tr>
              <a:tr h="381803">
                <a:tc>
                  <a:txBody>
                    <a:bodyPr/>
                    <a:lstStyle/>
                    <a:p>
                      <a:pPr marL="0" marR="0" algn="ctr">
                        <a:spcBef>
                          <a:spcPts val="300"/>
                        </a:spcBef>
                        <a:spcAft>
                          <a:spcPts val="300"/>
                        </a:spcAft>
                      </a:pPr>
                      <a:r>
                        <a:rPr lang="en-GB" sz="1000" dirty="0">
                          <a:solidFill>
                            <a:schemeClr val="tx1"/>
                          </a:solidFill>
                          <a:effectLst/>
                        </a:rPr>
                        <a:t>Risk </a:t>
                      </a:r>
                      <a:br>
                        <a:rPr lang="en-GB" sz="1000" dirty="0">
                          <a:solidFill>
                            <a:schemeClr val="tx1"/>
                          </a:solidFill>
                          <a:effectLst/>
                        </a:rPr>
                      </a:br>
                      <a:r>
                        <a:rPr lang="en-GB" sz="1000" dirty="0">
                          <a:solidFill>
                            <a:schemeClr val="tx1"/>
                          </a:solidFill>
                          <a:effectLst/>
                        </a:rPr>
                        <a:t>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5"/>
                  </a:ext>
                </a:extLst>
              </a:tr>
              <a:tr h="381803">
                <a:tc>
                  <a:txBody>
                    <a:bodyPr/>
                    <a:lstStyle/>
                    <a:p>
                      <a:pPr marL="0" marR="0" algn="ctr">
                        <a:spcBef>
                          <a:spcPts val="300"/>
                        </a:spcBef>
                        <a:spcAft>
                          <a:spcPts val="300"/>
                        </a:spcAft>
                      </a:pPr>
                      <a:r>
                        <a:rPr lang="en-GB" sz="1000" dirty="0">
                          <a:solidFill>
                            <a:schemeClr val="tx1"/>
                          </a:solidFill>
                          <a:effectLst/>
                        </a:rPr>
                        <a:t> Resource Health</a:t>
                      </a: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tc>
                  <a:txBody>
                    <a:bodyPr/>
                    <a:lstStyle/>
                    <a:p>
                      <a:pPr marL="0" marR="0" indent="57150" algn="ctr">
                        <a:spcBef>
                          <a:spcPts val="0"/>
                        </a:spcBef>
                        <a:spcAft>
                          <a:spcPts val="0"/>
                        </a:spcAft>
                      </a:pPr>
                      <a:r>
                        <a:rPr lang="en-US" sz="1000" b="1" dirty="0">
                          <a:solidFill>
                            <a:schemeClr val="tx1"/>
                          </a:solidFill>
                          <a:effectLst/>
                          <a:latin typeface="Arial" panose="020B0604020202020204" pitchFamily="34" charset="0"/>
                          <a:ea typeface="Times New Roman" panose="02020603050405020304" pitchFamily="18" charset="0"/>
                        </a:rPr>
                        <a:t>Green</a:t>
                      </a: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l">
                        <a:spcBef>
                          <a:spcPts val="0"/>
                        </a:spcBef>
                        <a:spcAft>
                          <a:spcPts val="0"/>
                        </a:spcAft>
                      </a:pPr>
                      <a:endParaRPr lang="en-US" sz="1000" dirty="0">
                        <a:solidFill>
                          <a:schemeClr val="tx1"/>
                        </a:solidFill>
                        <a:effectLst/>
                        <a:latin typeface="Arial" panose="020B0604020202020204" pitchFamily="34" charset="0"/>
                        <a:ea typeface="Times New Roman" panose="02020603050405020304" pitchFamily="18" charset="0"/>
                      </a:endParaRPr>
                    </a:p>
                  </a:txBody>
                  <a:tcPr marL="73025" marR="730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10000"/>
                        <a:lumOff val="90000"/>
                      </a:schemeClr>
                    </a:solidFill>
                  </a:tcPr>
                </a:tc>
                <a:extLst>
                  <a:ext uri="{0D108BD9-81ED-4DB2-BD59-A6C34878D82A}">
                    <a16:rowId xmlns:a16="http://schemas.microsoft.com/office/drawing/2014/main" val="10006"/>
                  </a:ext>
                </a:extLst>
              </a:tr>
            </a:tbl>
          </a:graphicData>
        </a:graphic>
      </p:graphicFrame>
      <p:sp>
        <p:nvSpPr>
          <p:cNvPr id="36" name="Text Box 6">
            <a:extLst>
              <a:ext uri="{FF2B5EF4-FFF2-40B4-BE49-F238E27FC236}">
                <a16:creationId xmlns:a16="http://schemas.microsoft.com/office/drawing/2014/main" id="{01308F76-0B61-47B3-9C87-8083E00E34E4}"/>
              </a:ext>
            </a:extLst>
          </p:cNvPr>
          <p:cNvSpPr txBox="1"/>
          <p:nvPr/>
        </p:nvSpPr>
        <p:spPr>
          <a:xfrm>
            <a:off x="0" y="-17595"/>
            <a:ext cx="2906763" cy="83269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Status Date:</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03/13/2026</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IT/Cyber:</a:t>
            </a:r>
            <a:r>
              <a:rPr lang="en-GB" sz="1000" dirty="0">
                <a:solidFill>
                  <a:schemeClr val="tx1"/>
                </a:solidFill>
                <a:latin typeface="Arial" panose="020B0604020202020204" pitchFamily="34" charset="0"/>
                <a:ea typeface="Times New Roman" panose="02020603050405020304" pitchFamily="18" charset="0"/>
              </a:rPr>
              <a:t>	</a:t>
            </a:r>
            <a:r>
              <a:rPr lang="en-US" sz="1000" dirty="0">
                <a:solidFill>
                  <a:schemeClr val="tx1"/>
                </a:solidFill>
                <a:latin typeface="Arial" panose="020B0604020202020204" pitchFamily="34" charset="0"/>
                <a:ea typeface="Times New Roman" panose="02020603050405020304" pitchFamily="18" charset="0"/>
              </a:rPr>
              <a:t>IT </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Director:</a:t>
            </a:r>
            <a:r>
              <a:rPr lang="en-GB" sz="1000" dirty="0">
                <a:solidFill>
                  <a:schemeClr val="tx1"/>
                </a:solidFill>
                <a:latin typeface="Arial" panose="020B0604020202020204" pitchFamily="34" charset="0"/>
                <a:ea typeface="Times New Roman" panose="02020603050405020304" pitchFamily="18" charset="0"/>
              </a:rPr>
              <a:t>	Irving Landesbaum</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GPM:</a:t>
            </a:r>
            <a:r>
              <a:rPr lang="en-GB" sz="1000" dirty="0">
                <a:solidFill>
                  <a:schemeClr val="tx1"/>
                </a:solidFill>
                <a:latin typeface="Arial" panose="020B0604020202020204" pitchFamily="34" charset="0"/>
                <a:ea typeface="Times New Roman" panose="02020603050405020304" pitchFamily="18" charset="0"/>
              </a:rPr>
              <a:t>	Vikas Vohra</a:t>
            </a:r>
          </a:p>
          <a:p>
            <a:pPr>
              <a:tabLst>
                <a:tab pos="1261872" algn="l"/>
              </a:tabLst>
            </a:pPr>
            <a:r>
              <a:rPr lang="en-GB" sz="1000" b="1" dirty="0">
                <a:solidFill>
                  <a:schemeClr val="tx1"/>
                </a:solidFill>
                <a:latin typeface="Arial" panose="020B0604020202020204" pitchFamily="34" charset="0"/>
                <a:ea typeface="Times New Roman" panose="02020603050405020304" pitchFamily="18" charset="0"/>
              </a:rPr>
              <a:t>Program Manager</a:t>
            </a:r>
            <a:r>
              <a:rPr lang="en-GB" sz="1000" dirty="0">
                <a:solidFill>
                  <a:schemeClr val="tx1"/>
                </a:solidFill>
                <a:latin typeface="Arial" panose="020B0604020202020204" pitchFamily="34" charset="0"/>
                <a:ea typeface="Times New Roman" panose="02020603050405020304" pitchFamily="18" charset="0"/>
              </a:rPr>
              <a:t>	Jay Gunaratne</a:t>
            </a:r>
            <a:endParaRPr lang="en-US" sz="1000" dirty="0">
              <a:solidFill>
                <a:schemeClr val="tx1"/>
              </a:solidFill>
              <a:latin typeface="Arial" panose="020B0604020202020204" pitchFamily="34" charset="0"/>
              <a:ea typeface="Times New Roman" panose="02020603050405020304" pitchFamily="18" charset="0"/>
            </a:endParaRPr>
          </a:p>
        </p:txBody>
      </p:sp>
      <p:sp>
        <p:nvSpPr>
          <p:cNvPr id="37" name="Text Box 49">
            <a:extLst>
              <a:ext uri="{FF2B5EF4-FFF2-40B4-BE49-F238E27FC236}">
                <a16:creationId xmlns:a16="http://schemas.microsoft.com/office/drawing/2014/main" id="{D4DA2A4F-BC50-4ABE-8BF1-B0E6B4CC4157}"/>
              </a:ext>
            </a:extLst>
          </p:cNvPr>
          <p:cNvSpPr txBox="1"/>
          <p:nvPr/>
        </p:nvSpPr>
        <p:spPr>
          <a:xfrm>
            <a:off x="1" y="2902834"/>
            <a:ext cx="3194778" cy="1130582"/>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Time Management</a:t>
            </a:r>
            <a:endParaRPr lang="en-US" sz="10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Start 		</a:t>
            </a:r>
            <a:r>
              <a:rPr lang="en-US" sz="800" dirty="0">
                <a:solidFill>
                  <a:schemeClr val="tx1"/>
                </a:solidFill>
                <a:latin typeface="Arial" panose="020B0604020202020204" pitchFamily="34" charset="0"/>
                <a:ea typeface="Times New Roman" panose="02020603050405020304" pitchFamily="18" charset="0"/>
              </a:rPr>
              <a:t>03-01-2024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Start 		</a:t>
            </a:r>
            <a:r>
              <a:rPr lang="en-US" sz="800" dirty="0">
                <a:solidFill>
                  <a:schemeClr val="tx1"/>
                </a:solidFill>
                <a:latin typeface="Arial" panose="020B0604020202020204" pitchFamily="34" charset="0"/>
                <a:ea typeface="Times New Roman" panose="02020603050405020304" pitchFamily="18" charset="0"/>
              </a:rPr>
              <a:t>04-18-2024</a:t>
            </a:r>
          </a:p>
          <a:p>
            <a:pPr>
              <a:tabLst>
                <a:tab pos="1260475" algn="l"/>
                <a:tab pos="2457450" algn="l"/>
              </a:tabLst>
            </a:pPr>
            <a:r>
              <a:rPr lang="en-GB" sz="800" dirty="0">
                <a:solidFill>
                  <a:schemeClr val="tx1"/>
                </a:solidFill>
                <a:latin typeface="Arial" panose="020B0604020202020204" pitchFamily="34" charset="0"/>
                <a:ea typeface="Times New Roman" panose="02020603050405020304" pitchFamily="18" charset="0"/>
              </a:rPr>
              <a:t>Go-Live/In Service/Next Sprint Release	</a:t>
            </a:r>
            <a:r>
              <a:rPr lang="en-US" sz="800" dirty="0">
                <a:solidFill>
                  <a:schemeClr val="tx1"/>
                </a:solidFill>
                <a:latin typeface="Arial" panose="020B0604020202020204" pitchFamily="34" charset="0"/>
                <a:ea typeface="Times New Roman" panose="02020603050405020304" pitchFamily="18" charset="0"/>
              </a:rPr>
              <a:t>01-01-2024</a:t>
            </a: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Plan (Baseline) End 		</a:t>
            </a:r>
            <a:r>
              <a:rPr lang="en-US" sz="800" dirty="0">
                <a:solidFill>
                  <a:schemeClr val="tx1"/>
                </a:solidFill>
                <a:latin typeface="Arial" panose="020B0604020202020204" pitchFamily="34" charset="0"/>
                <a:ea typeface="Times New Roman" panose="02020603050405020304" pitchFamily="18" charset="0"/>
              </a:rPr>
              <a:t>04-08-2027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r>
              <a:rPr lang="en-GB" sz="800" dirty="0" err="1">
                <a:solidFill>
                  <a:schemeClr val="tx1"/>
                </a:solidFill>
                <a:latin typeface="Arial" panose="020B0604020202020204" pitchFamily="34" charset="0"/>
                <a:ea typeface="Times New Roman" panose="02020603050405020304" pitchFamily="18" charset="0"/>
              </a:rPr>
              <a:t>Proj</a:t>
            </a:r>
            <a:r>
              <a:rPr lang="en-GB" sz="800" dirty="0">
                <a:solidFill>
                  <a:schemeClr val="tx1"/>
                </a:solidFill>
                <a:latin typeface="Arial" panose="020B0604020202020204" pitchFamily="34" charset="0"/>
                <a:ea typeface="Times New Roman" panose="02020603050405020304" pitchFamily="18" charset="0"/>
              </a:rPr>
              <a:t> Actual Target End 		</a:t>
            </a:r>
            <a:r>
              <a:rPr lang="en-US" sz="800" dirty="0">
                <a:solidFill>
                  <a:schemeClr val="tx1"/>
                </a:solidFill>
                <a:latin typeface="Arial" panose="020B0604020202020204" pitchFamily="34" charset="0"/>
                <a:ea typeface="Times New Roman" panose="02020603050405020304" pitchFamily="18" charset="0"/>
              </a:rPr>
              <a:t>07-08-2027</a:t>
            </a:r>
            <a:endParaRPr lang="en-GB" sz="800" dirty="0">
              <a:solidFill>
                <a:schemeClr val="tx1"/>
              </a:solidFill>
              <a:latin typeface="Arial" panose="020B0604020202020204" pitchFamily="34" charset="0"/>
              <a:ea typeface="Times New Roman" panose="02020603050405020304" pitchFamily="18" charset="0"/>
            </a:endParaRPr>
          </a:p>
          <a:p>
            <a:pPr>
              <a:tabLst>
                <a:tab pos="1260475" algn="l"/>
                <a:tab pos="2457450" algn="l"/>
              </a:tabLst>
            </a:pPr>
            <a:endParaRPr lang="en-GB" sz="800" dirty="0">
              <a:solidFill>
                <a:schemeClr val="tx1"/>
              </a:solidFill>
              <a:latin typeface="Arial" panose="020B0604020202020204" pitchFamily="34" charset="0"/>
              <a:ea typeface="Times New Roman" panose="02020603050405020304" pitchFamily="18" charset="0"/>
            </a:endParaRPr>
          </a:p>
        </p:txBody>
      </p:sp>
      <p:sp>
        <p:nvSpPr>
          <p:cNvPr id="38" name="Right Arrow 15">
            <a:extLst>
              <a:ext uri="{FF2B5EF4-FFF2-40B4-BE49-F238E27FC236}">
                <a16:creationId xmlns:a16="http://schemas.microsoft.com/office/drawing/2014/main" id="{DF3D39DB-8948-4A91-AD85-640DD2CC862F}"/>
              </a:ext>
            </a:extLst>
          </p:cNvPr>
          <p:cNvSpPr/>
          <p:nvPr/>
        </p:nvSpPr>
        <p:spPr>
          <a:xfrm rot="16200000">
            <a:off x="5667924" y="253968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9" name="Text Box 50">
            <a:extLst>
              <a:ext uri="{FF2B5EF4-FFF2-40B4-BE49-F238E27FC236}">
                <a16:creationId xmlns:a16="http://schemas.microsoft.com/office/drawing/2014/main" id="{B213B5BC-8D69-4471-9CAE-BA4912EAD2F2}"/>
              </a:ext>
            </a:extLst>
          </p:cNvPr>
          <p:cNvSpPr txBox="1"/>
          <p:nvPr/>
        </p:nvSpPr>
        <p:spPr>
          <a:xfrm>
            <a:off x="3194779" y="2901950"/>
            <a:ext cx="3080579" cy="112511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Project Financials / Budget</a:t>
            </a:r>
            <a:endParaRPr lang="en-US" sz="1000" dirty="0">
              <a:solidFill>
                <a:schemeClr val="tx1"/>
              </a:solidFill>
              <a:latin typeface="Arial" panose="020B0604020202020204" pitchFamily="34" charset="0"/>
              <a:ea typeface="Times New Roman" panose="02020603050405020304" pitchFamily="18" charset="0"/>
            </a:endParaRP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WBS Code:                                                             I.39424.1.x</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LIPA approved total project budget: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URB approved funding to date:	 $6,600,000.00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Spend to date:	 $4,437,070.00 </a:t>
            </a:r>
          </a:p>
          <a:p>
            <a:pPr>
              <a:tabLst>
                <a:tab pos="2800350" algn="dec"/>
              </a:tabLst>
            </a:pPr>
            <a:r>
              <a:rPr lang="en-GB" sz="800" dirty="0">
                <a:solidFill>
                  <a:schemeClr val="tx1"/>
                </a:solidFill>
                <a:latin typeface="Arial" panose="020B0604020202020204" pitchFamily="34" charset="0"/>
                <a:ea typeface="Times New Roman" panose="02020603050405020304" pitchFamily="18" charset="0"/>
              </a:rPr>
              <a:t>Estimate to complete:	$2,162,930.00</a:t>
            </a:r>
          </a:p>
          <a:p>
            <a:pPr lvl="0">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Estimate at completion:	 $6,600,000.00 </a:t>
            </a:r>
          </a:p>
          <a:p>
            <a:pPr>
              <a:tabLst>
                <a:tab pos="2800350" algn="dec"/>
              </a:tabLst>
              <a:defRPr/>
            </a:pPr>
            <a:r>
              <a:rPr lang="en-GB" sz="800" dirty="0">
                <a:solidFill>
                  <a:schemeClr val="tx1"/>
                </a:solidFill>
                <a:latin typeface="Arial" panose="020B0604020202020204" pitchFamily="34" charset="0"/>
                <a:ea typeface="Times New Roman" panose="02020603050405020304" pitchFamily="18" charset="0"/>
              </a:rPr>
              <a:t>Over (+) / Under (-) LIPA approved budget:	+/- $00.00</a:t>
            </a:r>
          </a:p>
          <a:p>
            <a:pPr lvl="0">
              <a:tabLst>
                <a:tab pos="2800350" algn="dec"/>
              </a:tabLst>
              <a:defRPr/>
            </a:pPr>
            <a:endParaRPr lang="en-US" sz="900" b="1" dirty="0">
              <a:solidFill>
                <a:schemeClr val="tx1"/>
              </a:solidFill>
              <a:latin typeface="Arial" panose="020B0604020202020204" pitchFamily="34" charset="0"/>
              <a:ea typeface="Times New Roman" panose="02020603050405020304" pitchFamily="18" charset="0"/>
              <a:cs typeface="Arial" panose="020B0604020202020204" pitchFamily="34" charset="0"/>
            </a:endParaRPr>
          </a:p>
        </p:txBody>
      </p:sp>
      <p:sp>
        <p:nvSpPr>
          <p:cNvPr id="40" name="Text Box 1">
            <a:extLst>
              <a:ext uri="{FF2B5EF4-FFF2-40B4-BE49-F238E27FC236}">
                <a16:creationId xmlns:a16="http://schemas.microsoft.com/office/drawing/2014/main" id="{CEF097BC-791C-42C4-B22F-75102FACFBBF}"/>
              </a:ext>
            </a:extLst>
          </p:cNvPr>
          <p:cNvSpPr txBox="1"/>
          <p:nvPr/>
        </p:nvSpPr>
        <p:spPr>
          <a:xfrm>
            <a:off x="6270720" y="1705230"/>
            <a:ext cx="5921280" cy="819368"/>
          </a:xfrm>
          <a:prstGeom prst="rect">
            <a:avLst/>
          </a:prstGeom>
          <a:solidFill>
            <a:schemeClr val="accent3">
              <a:lumMod val="20000"/>
              <a:lumOff val="80000"/>
            </a:schemeClr>
          </a:solidFill>
          <a:ln w="1270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Benefit</a:t>
            </a:r>
            <a:endParaRPr lang="en-US" dirty="0"/>
          </a:p>
          <a:p>
            <a:pPr>
              <a:defRPr/>
            </a:pPr>
            <a:r>
              <a:rPr lang="en-US" sz="800" dirty="0">
                <a:latin typeface="Arial" panose="020B0604020202020204" pitchFamily="34" charset="0"/>
                <a:cs typeface="Arial" panose="020B0604020202020204" pitchFamily="34" charset="0"/>
              </a:rPr>
              <a:t>Due to GE announcing End of Life for the GE Jungle Mux system as of EOY 2025, the benefits for project is to allow the Systems Integrator to select the most appropriate ‘Equipment Vendor’ via the RFP process to replace the GE JMUX equipment.  </a:t>
            </a:r>
          </a:p>
          <a:p>
            <a:r>
              <a:rPr lang="en-GB" sz="800" dirty="0">
                <a:latin typeface="Arial" panose="020B0604020202020204" pitchFamily="34" charset="0"/>
                <a:ea typeface="Times New Roman" panose="02020603050405020304" pitchFamily="18" charset="0"/>
              </a:rPr>
              <a:t> </a:t>
            </a:r>
            <a:endParaRPr lang="en-US" sz="800" dirty="0">
              <a:latin typeface="Arial" panose="020B0604020202020204" pitchFamily="34" charset="0"/>
              <a:ea typeface="Times New Roman" panose="02020603050405020304" pitchFamily="18" charset="0"/>
            </a:endParaRPr>
          </a:p>
        </p:txBody>
      </p:sp>
      <p:sp>
        <p:nvSpPr>
          <p:cNvPr id="41" name="Text Box 2">
            <a:extLst>
              <a:ext uri="{FF2B5EF4-FFF2-40B4-BE49-F238E27FC236}">
                <a16:creationId xmlns:a16="http://schemas.microsoft.com/office/drawing/2014/main" id="{3692495C-C8E2-4AB1-BF84-0E6A5EEB7EB0}"/>
              </a:ext>
            </a:extLst>
          </p:cNvPr>
          <p:cNvSpPr txBox="1"/>
          <p:nvPr/>
        </p:nvSpPr>
        <p:spPr>
          <a:xfrm>
            <a:off x="6270720" y="2524598"/>
            <a:ext cx="5921280" cy="743465"/>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rgbClr val="F7941D"/>
                </a:solidFill>
                <a:latin typeface="Arial" panose="020B0604020202020204" pitchFamily="34" charset="0"/>
                <a:cs typeface="Arial" panose="020B0604020202020204" pitchFamily="34" charset="0"/>
              </a:rPr>
              <a:t>Scope (65%-Complete) </a:t>
            </a:r>
            <a:endParaRPr lang="en-US" sz="1000" b="1" u="sng" dirty="0">
              <a:solidFill>
                <a:schemeClr val="tx1"/>
              </a:solidFill>
              <a:latin typeface="Arial" panose="020B0604020202020204" pitchFamily="34" charset="0"/>
              <a:cs typeface="Arial" panose="020B0604020202020204" pitchFamily="34" charset="0"/>
            </a:endParaRPr>
          </a:p>
          <a:p>
            <a:pPr>
              <a:spcAft>
                <a:spcPts val="300"/>
              </a:spcAft>
            </a:pPr>
            <a:r>
              <a:rPr lang="en-US" sz="800" dirty="0"/>
              <a:t>The purpose of this project is to install new Multiprotocol Label Switching (MPLS) nodes, remove existing GE Jungle MUX (JMUX) equipment, and design new circuits from the existing substation .</a:t>
            </a:r>
            <a:endParaRPr lang="en-US" sz="800" dirty="0">
              <a:solidFill>
                <a:schemeClr val="tx1"/>
              </a:solidFill>
              <a:latin typeface="Arial" panose="020B0604020202020204" pitchFamily="34" charset="0"/>
              <a:cs typeface="Arial" panose="020B0604020202020204" pitchFamily="34" charset="0"/>
            </a:endParaRPr>
          </a:p>
        </p:txBody>
      </p:sp>
      <p:sp>
        <p:nvSpPr>
          <p:cNvPr id="42" name="Text Box 44">
            <a:extLst>
              <a:ext uri="{FF2B5EF4-FFF2-40B4-BE49-F238E27FC236}">
                <a16:creationId xmlns:a16="http://schemas.microsoft.com/office/drawing/2014/main" id="{742DE467-4541-4411-A18E-7A2EB3246BE3}"/>
              </a:ext>
            </a:extLst>
          </p:cNvPr>
          <p:cNvSpPr txBox="1"/>
          <p:nvPr/>
        </p:nvSpPr>
        <p:spPr>
          <a:xfrm>
            <a:off x="0" y="5404311"/>
            <a:ext cx="6270063" cy="1447586"/>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ea typeface="Times New Roman" panose="02020603050405020304" pitchFamily="18" charset="0"/>
              </a:rPr>
              <a:t>Major Steps (next 2 weeks): Milestones/Key Deliverables with Dates</a:t>
            </a:r>
            <a:endParaRPr lang="en-US" sz="10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endParaRPr lang="en-US" sz="800" dirty="0">
              <a:solidFill>
                <a:schemeClr val="tx1"/>
              </a:solidFill>
              <a:latin typeface="Arial" panose="020B0604020202020204" pitchFamily="34" charset="0"/>
              <a:ea typeface="Times New Roman" panose="02020603050405020304" pitchFamily="18" charset="0"/>
            </a:endParaRP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BGP design for corporate connectivity designed by Lee and will go over it with Corporate team.		 03/10/2026</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Receiving new set of IFRs on 03/13		                           		                                 03/13/2026 </a:t>
            </a:r>
          </a:p>
          <a:p>
            <a:pPr marL="171450" indent="-171450">
              <a:buFont typeface="Arial" panose="020B0604020202020204" pitchFamily="34" charset="0"/>
              <a:buChar char="•"/>
            </a:pPr>
            <a:r>
              <a:rPr lang="en-US" sz="800" dirty="0">
                <a:solidFill>
                  <a:schemeClr val="tx1"/>
                </a:solidFill>
                <a:latin typeface="Arial" panose="020B0604020202020204" pitchFamily="34" charset="0"/>
                <a:ea typeface="Times New Roman" panose="02020603050405020304" pitchFamily="18" charset="0"/>
              </a:rPr>
              <a:t>Fiber termination to the NSP will be completed by 3/13 by Hawkeye.		                                 03/13/2026</a:t>
            </a:r>
          </a:p>
          <a:p>
            <a:pPr marL="171450" indent="-171450">
              <a:buFont typeface="Arial" panose="020B0604020202020204" pitchFamily="34" charset="0"/>
              <a:buChar char="•"/>
            </a:pPr>
            <a:r>
              <a:rPr lang="en-US" sz="800" dirty="0">
                <a:solidFill>
                  <a:srgbClr val="DC3545"/>
                </a:solidFill>
                <a:latin typeface="Arial" panose="020B0604020202020204" pitchFamily="34" charset="0"/>
                <a:ea typeface="Times New Roman" panose="02020603050405020304" pitchFamily="18" charset="0"/>
              </a:rPr>
              <a:t>🔴 NSP software installation &amp; remote access — confirm Nokia delivery date. CRITICAL PATH — Jun 2026 Phase 1 target at risk without this.</a:t>
            </a:r>
          </a:p>
          <a:p>
            <a:r>
              <a:rPr lang="en-US" sz="800" dirty="0">
                <a:solidFill>
                  <a:schemeClr val="tx1"/>
                </a:solidFill>
                <a:latin typeface="Arial" panose="020B0604020202020204" pitchFamily="34" charset="0"/>
                <a:ea typeface="Times New Roman" panose="02020603050405020304" pitchFamily="18" charset="0"/>
              </a:rPr>
              <a:t>      corporate directly into the managed servers)		                                                                 03/16/2026</a:t>
            </a:r>
          </a:p>
        </p:txBody>
      </p:sp>
      <p:sp>
        <p:nvSpPr>
          <p:cNvPr id="43" name="Text Box 48">
            <a:extLst>
              <a:ext uri="{FF2B5EF4-FFF2-40B4-BE49-F238E27FC236}">
                <a16:creationId xmlns:a16="http://schemas.microsoft.com/office/drawing/2014/main" id="{F58AB777-D75A-4987-A0B9-DC4DA02EF15F}"/>
              </a:ext>
            </a:extLst>
          </p:cNvPr>
          <p:cNvSpPr txBox="1"/>
          <p:nvPr/>
        </p:nvSpPr>
        <p:spPr>
          <a:xfrm>
            <a:off x="6258911" y="5397961"/>
            <a:ext cx="5921937" cy="69804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Risk Management- Top 3 (in descending order of possible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Vendor installation delays – inclement weather</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Legacy JMUX equipment old and need to be very careful when doing cutovers. </a:t>
            </a:r>
          </a:p>
          <a:p>
            <a:pPr marL="171450" indent="-171450">
              <a:buFont typeface="Arial" panose="020B0604020202020204" pitchFamily="34" charset="0"/>
              <a:buChar char="•"/>
              <a:tabLst>
                <a:tab pos="4857750" algn="r"/>
              </a:tabLst>
            </a:pPr>
            <a:r>
              <a:rPr lang="en-US" sz="800" dirty="0">
                <a:latin typeface="Arial" panose="020B0604020202020204" pitchFamily="34" charset="0"/>
                <a:cs typeface="Arial" panose="020B0604020202020204" pitchFamily="34" charset="0"/>
              </a:rPr>
              <a:t>Other projects and work being done at the substation simultaneously </a:t>
            </a:r>
          </a:p>
          <a:p>
            <a:pPr marL="171450" indent="-171450">
              <a:buFont typeface="Arial" panose="020B0604020202020204" pitchFamily="34" charset="0"/>
              <a:buChar char="•"/>
              <a:tabLst>
                <a:tab pos="4857750" algn="r"/>
              </a:tabLst>
            </a:pPr>
            <a:endParaRPr lang="en-US" sz="800" dirty="0">
              <a:latin typeface="Arial" panose="020B0604020202020204" pitchFamily="34" charset="0"/>
              <a:cs typeface="Arial" panose="020B0604020202020204" pitchFamily="34" charset="0"/>
            </a:endParaRPr>
          </a:p>
        </p:txBody>
      </p:sp>
      <p:sp>
        <p:nvSpPr>
          <p:cNvPr id="44" name="Text Box 47">
            <a:extLst>
              <a:ext uri="{FF2B5EF4-FFF2-40B4-BE49-F238E27FC236}">
                <a16:creationId xmlns:a16="http://schemas.microsoft.com/office/drawing/2014/main" id="{BBA6DA4A-2903-4034-B47F-A4721929DA70}"/>
              </a:ext>
            </a:extLst>
          </p:cNvPr>
          <p:cNvSpPr txBox="1"/>
          <p:nvPr/>
        </p:nvSpPr>
        <p:spPr>
          <a:xfrm>
            <a:off x="6258912" y="6096000"/>
            <a:ext cx="5921936" cy="755897"/>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Issue Management- Top 3 (in descending order of actual impact)</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Accelerating phase 2 site surveys by getting them completed in Phase 1. </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Working closely with vendors and tracking installation.</a:t>
            </a: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Equipment procurement and delays in SCM.</a:t>
            </a:r>
            <a:endParaRPr lang="en-US" sz="1000" dirty="0">
              <a:latin typeface="Arial" panose="020B0604020202020204" pitchFamily="34" charset="0"/>
              <a:ea typeface="Times New Roman" panose="02020603050405020304" pitchFamily="18" charset="0"/>
            </a:endParaRPr>
          </a:p>
          <a:p>
            <a:pPr marL="342900" indent="-342900">
              <a:buFont typeface="Symbol" panose="05050102010706020507" pitchFamily="18" charset="2"/>
              <a:buChar char=""/>
              <a:tabLst>
                <a:tab pos="4857750" algn="r"/>
              </a:tabLst>
            </a:pP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5" name="Text Box 45">
            <a:extLst>
              <a:ext uri="{FF2B5EF4-FFF2-40B4-BE49-F238E27FC236}">
                <a16:creationId xmlns:a16="http://schemas.microsoft.com/office/drawing/2014/main" id="{A15D1C75-5401-4D07-A51A-9CE2CDD522CF}"/>
              </a:ext>
            </a:extLst>
          </p:cNvPr>
          <p:cNvSpPr txBox="1"/>
          <p:nvPr/>
        </p:nvSpPr>
        <p:spPr>
          <a:xfrm>
            <a:off x="6254881" y="4406680"/>
            <a:ext cx="5921939" cy="997630"/>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1000" b="1" u="sng" dirty="0">
                <a:solidFill>
                  <a:schemeClr val="tx1"/>
                </a:solidFill>
                <a:latin typeface="Arial" panose="020B0604020202020204" pitchFamily="34" charset="0"/>
                <a:cs typeface="Arial" panose="020B0604020202020204" pitchFamily="34" charset="0"/>
              </a:rPr>
              <a:t>Scope/Change Management (most recent approved)</a:t>
            </a:r>
            <a:endParaRPr lang="en-US" sz="1000" b="1" u="sng"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tabLst>
                <a:tab pos="4402138" algn="r"/>
                <a:tab pos="4857750" algn="r"/>
              </a:tabLst>
            </a:pPr>
            <a:r>
              <a:rPr lang="en-US" sz="800" dirty="0">
                <a:solidFill>
                  <a:schemeClr val="tx1"/>
                </a:solidFill>
                <a:latin typeface="Arial" panose="020B0604020202020204" pitchFamily="34" charset="0"/>
                <a:cs typeface="Arial" panose="020B0604020202020204" pitchFamily="34" charset="0"/>
              </a:rPr>
              <a:t>Adding 7 additional nodes to the original 25 Phase 1 nodes. The additional 7 nodes completes both ring 1 and ring 2 in this Phase 1 effort.</a:t>
            </a:r>
          </a:p>
          <a:p>
            <a:pPr marL="171450" indent="-171450">
              <a:buFont typeface="Arial" panose="020B0604020202020204" pitchFamily="34" charset="0"/>
              <a:buChar char="•"/>
              <a:tabLst>
                <a:tab pos="4402138" algn="r"/>
                <a:tab pos="4857750" algn="r"/>
              </a:tabLst>
            </a:pPr>
            <a:endParaRPr lang="en-US" sz="800" dirty="0">
              <a:solidFill>
                <a:schemeClr val="tx1"/>
              </a:solidFill>
              <a:latin typeface="Arial" panose="020B0604020202020204" pitchFamily="34" charset="0"/>
              <a:cs typeface="Arial" panose="020B0604020202020204" pitchFamily="34" charset="0"/>
            </a:endParaRPr>
          </a:p>
          <a:p>
            <a:pPr>
              <a:tabLst>
                <a:tab pos="4402138" algn="r"/>
                <a:tab pos="4857750" algn="r"/>
              </a:tabLst>
            </a:pPr>
            <a:r>
              <a:rPr lang="en-US" sz="1000" dirty="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a:p>
            <a:pPr>
              <a:tabLst>
                <a:tab pos="4857750" algn="r"/>
              </a:tabLst>
            </a:pPr>
            <a:r>
              <a:rPr lang="en-GB" sz="1000" dirty="0">
                <a:latin typeface="Arial" panose="020B0604020202020204" pitchFamily="34" charset="0"/>
                <a:ea typeface="Times New Roman" panose="02020603050405020304" pitchFamily="18" charset="0"/>
              </a:rPr>
              <a:t> </a:t>
            </a:r>
            <a:endParaRPr lang="en-US" sz="1000" dirty="0">
              <a:latin typeface="Arial" panose="020B0604020202020204" pitchFamily="34" charset="0"/>
              <a:ea typeface="Times New Roman" panose="02020603050405020304" pitchFamily="18" charset="0"/>
            </a:endParaRPr>
          </a:p>
        </p:txBody>
      </p:sp>
      <p:sp>
        <p:nvSpPr>
          <p:cNvPr id="46" name="Right Arrow 24">
            <a:extLst>
              <a:ext uri="{FF2B5EF4-FFF2-40B4-BE49-F238E27FC236}">
                <a16:creationId xmlns:a16="http://schemas.microsoft.com/office/drawing/2014/main" id="{2088CA12-63D4-4C65-8EA3-5E585AFD96E5}"/>
              </a:ext>
            </a:extLst>
          </p:cNvPr>
          <p:cNvSpPr/>
          <p:nvPr/>
        </p:nvSpPr>
        <p:spPr>
          <a:xfrm>
            <a:off x="5677629" y="2895600"/>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7" name="Right Arrow 25">
            <a:extLst>
              <a:ext uri="{FF2B5EF4-FFF2-40B4-BE49-F238E27FC236}">
                <a16:creationId xmlns:a16="http://schemas.microsoft.com/office/drawing/2014/main" id="{99A0F9B8-3D51-4C3A-91A7-906152F6A2DC}"/>
              </a:ext>
            </a:extLst>
          </p:cNvPr>
          <p:cNvSpPr/>
          <p:nvPr/>
        </p:nvSpPr>
        <p:spPr>
          <a:xfrm>
            <a:off x="5677629" y="3272135"/>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8" name="Right Arrow 26">
            <a:extLst>
              <a:ext uri="{FF2B5EF4-FFF2-40B4-BE49-F238E27FC236}">
                <a16:creationId xmlns:a16="http://schemas.microsoft.com/office/drawing/2014/main" id="{ADFEBA27-D38F-49AE-B09C-A461C0E1C624}"/>
              </a:ext>
            </a:extLst>
          </p:cNvPr>
          <p:cNvSpPr/>
          <p:nvPr/>
        </p:nvSpPr>
        <p:spPr>
          <a:xfrm>
            <a:off x="5667923" y="3655064"/>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49" name="Right Arrow 27">
            <a:extLst>
              <a:ext uri="{FF2B5EF4-FFF2-40B4-BE49-F238E27FC236}">
                <a16:creationId xmlns:a16="http://schemas.microsoft.com/office/drawing/2014/main" id="{17243CF0-21F8-40EB-A66E-731F988B439A}"/>
              </a:ext>
            </a:extLst>
          </p:cNvPr>
          <p:cNvSpPr/>
          <p:nvPr/>
        </p:nvSpPr>
        <p:spPr>
          <a:xfrm rot="16200000">
            <a:off x="5667922" y="4012551"/>
            <a:ext cx="258763" cy="228600"/>
          </a:xfrm>
          <a:prstGeom prst="rightArrow">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0" name="Text Box 6">
            <a:extLst>
              <a:ext uri="{FF2B5EF4-FFF2-40B4-BE49-F238E27FC236}">
                <a16:creationId xmlns:a16="http://schemas.microsoft.com/office/drawing/2014/main" id="{CA880BDC-D1B0-437D-9414-965F284C1198}"/>
              </a:ext>
            </a:extLst>
          </p:cNvPr>
          <p:cNvSpPr txBox="1"/>
          <p:nvPr/>
        </p:nvSpPr>
        <p:spPr>
          <a:xfrm>
            <a:off x="9249937" y="-1302"/>
            <a:ext cx="2935564" cy="39264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US" sz="1000" b="1" dirty="0">
                <a:latin typeface="Arial" panose="020B0604020202020204" pitchFamily="34" charset="0"/>
                <a:ea typeface="Times New Roman" panose="02020603050405020304" pitchFamily="18" charset="0"/>
              </a:rPr>
              <a:t>PRJ (ServiceNow</a:t>
            </a:r>
            <a:r>
              <a:rPr lang="en-US" sz="900" dirty="0">
                <a:latin typeface="Arial" panose="020B0604020202020204" pitchFamily="34" charset="0"/>
                <a:ea typeface="Times New Roman" panose="02020603050405020304" pitchFamily="18" charset="0"/>
              </a:rPr>
              <a:t>)</a:t>
            </a:r>
            <a:r>
              <a:rPr lang="en-US" sz="1000" b="1" dirty="0">
                <a:latin typeface="Arial" panose="020B0604020202020204" pitchFamily="34" charset="0"/>
                <a:ea typeface="Times New Roman" panose="02020603050405020304" pitchFamily="18" charset="0"/>
              </a:rPr>
              <a:t>:  PRJ13797</a:t>
            </a:r>
          </a:p>
          <a:p>
            <a:pPr>
              <a:tabLst>
                <a:tab pos="1261872" algn="l"/>
              </a:tabLst>
            </a:pPr>
            <a:r>
              <a:rPr lang="en-US" sz="1000" b="1" dirty="0">
                <a:latin typeface="Arial" panose="020B0604020202020204" pitchFamily="34" charset="0"/>
                <a:ea typeface="Times New Roman" panose="02020603050405020304" pitchFamily="18" charset="0"/>
              </a:rPr>
              <a:t>Repository Link   : </a:t>
            </a:r>
            <a:r>
              <a:rPr lang="en-US" sz="1000" dirty="0">
                <a:hlinkClick r:id="rId2"/>
              </a:rPr>
              <a:t>JMUX Repository</a:t>
            </a:r>
            <a:endParaRPr lang="en-US" sz="1000" dirty="0">
              <a:latin typeface="Arial" panose="020B0604020202020204" pitchFamily="34" charset="0"/>
              <a:ea typeface="Times New Roman" panose="02020603050405020304" pitchFamily="18" charset="0"/>
            </a:endParaRPr>
          </a:p>
        </p:txBody>
      </p:sp>
      <p:sp>
        <p:nvSpPr>
          <p:cNvPr id="51" name="Text Box 51">
            <a:extLst>
              <a:ext uri="{FF2B5EF4-FFF2-40B4-BE49-F238E27FC236}">
                <a16:creationId xmlns:a16="http://schemas.microsoft.com/office/drawing/2014/main" id="{B497CBAA-FEFB-4E96-B9AE-23EABC83D589}"/>
              </a:ext>
            </a:extLst>
          </p:cNvPr>
          <p:cNvSpPr txBox="1"/>
          <p:nvPr/>
        </p:nvSpPr>
        <p:spPr>
          <a:xfrm>
            <a:off x="0" y="807860"/>
            <a:ext cx="3971461" cy="2086938"/>
          </a:xfrm>
          <a:prstGeom prst="rect">
            <a:avLst/>
          </a:prstGeom>
          <a:solidFill>
            <a:schemeClr val="accent1">
              <a:lumMod val="10000"/>
              <a:lumOff val="9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Lifecycle Phase</a:t>
            </a:r>
            <a:r>
              <a:rPr lang="en-GB" sz="1000" b="1" dirty="0">
                <a:solidFill>
                  <a:schemeClr val="tx1"/>
                </a:solidFill>
                <a:latin typeface="Arial" panose="020B0604020202020204" pitchFamily="34" charset="0"/>
                <a:ea typeface="Times New Roman" panose="02020603050405020304" pitchFamily="18" charset="0"/>
              </a:rPr>
              <a:t>: </a:t>
            </a:r>
          </a:p>
          <a:p>
            <a:pPr>
              <a:spcAft>
                <a:spcPts val="300"/>
              </a:spcAft>
              <a:tabLst>
                <a:tab pos="2057400" algn="r"/>
              </a:tabLst>
            </a:pPr>
            <a:r>
              <a:rPr lang="en-GB" sz="800" dirty="0">
                <a:solidFill>
                  <a:schemeClr val="tx1"/>
                </a:solidFill>
                <a:latin typeface="Arial" panose="020B0604020202020204" pitchFamily="34" charset="0"/>
                <a:ea typeface="Times New Roman" panose="02020603050405020304" pitchFamily="18" charset="0"/>
              </a:rPr>
              <a:t>Execution</a:t>
            </a:r>
            <a:endParaRPr lang="en-GB" sz="800" dirty="0">
              <a:solidFill>
                <a:schemeClr val="tx1"/>
              </a:solidFill>
              <a:latin typeface="Arial" panose="020B0604020202020204" pitchFamily="34" charset="0"/>
            </a:endParaRPr>
          </a:p>
          <a:p>
            <a:pPr>
              <a:spcAft>
                <a:spcPts val="300"/>
              </a:spcAft>
              <a:tabLst>
                <a:tab pos="2057400" algn="r"/>
              </a:tabLst>
            </a:pPr>
            <a:r>
              <a:rPr lang="en-GB" sz="1000" b="1" u="sng" dirty="0">
                <a:solidFill>
                  <a:schemeClr val="tx1"/>
                </a:solidFill>
                <a:latin typeface="Arial" panose="020B0604020202020204" pitchFamily="34" charset="0"/>
                <a:ea typeface="Times New Roman" panose="02020603050405020304" pitchFamily="18" charset="0"/>
              </a:rPr>
              <a:t>Current Period (past 2 weeks) Status Narrative:</a:t>
            </a:r>
            <a:endParaRPr lang="en-US" sz="1000" b="1" u="sng" dirty="0">
              <a:solidFill>
                <a:schemeClr val="tx1"/>
              </a:solidFill>
              <a:latin typeface="Arial" panose="020B0604020202020204" pitchFamily="34" charset="0"/>
              <a:ea typeface="Times New Roman" panose="02020603050405020304" pitchFamily="18" charset="0"/>
            </a:endParaRP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CAT6 cable run completed on 03/04</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Fiber termination to the NSP will be completed by 3/13 by Hawkeye.</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rgbClr val="28A745"/>
                </a:solidFill>
                <a:latin typeface="Arial" panose="020B0604020202020204" pitchFamily="34" charset="0"/>
                <a:ea typeface="Times New Roman" panose="02020603050405020304" pitchFamily="18" charset="0"/>
              </a:rPr>
              <a:t>✅ BGP design approved Mar 16, 2026. Lee Blackman to begin change documentation for Melville &amp; Hicksville Nokia integration.</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 Hawkeye is meeting with relay tech to complete the DC issue at Northport, since the fuse keeps tripping. </a:t>
            </a:r>
          </a:p>
          <a:p>
            <a:pPr marL="171450" indent="-171450" algn="l" defTabSz="914400" rtl="0" eaLnBrk="1" latinLnBrk="0" hangingPunct="1">
              <a:spcAft>
                <a:spcPts val="300"/>
              </a:spcAft>
              <a:buFont typeface="Arial" panose="020B0604020202020204" pitchFamily="34" charset="0"/>
              <a:buChar char="•"/>
              <a:tabLst>
                <a:tab pos="2057400" algn="r"/>
              </a:tabLst>
            </a:pPr>
            <a:r>
              <a:rPr lang="en-US" sz="800" kern="1200" dirty="0">
                <a:solidFill>
                  <a:schemeClr val="tx1"/>
                </a:solidFill>
                <a:latin typeface="Arial" panose="020B0604020202020204" pitchFamily="34" charset="0"/>
                <a:ea typeface="Times New Roman" panose="02020603050405020304" pitchFamily="18" charset="0"/>
              </a:rPr>
              <a:t>Receiving new set of IFRs on 03/13</a:t>
            </a:r>
            <a:endParaRPr lang="en-US" sz="800" dirty="0">
              <a:solidFill>
                <a:schemeClr val="tx1"/>
              </a:solidFill>
            </a:endParaRPr>
          </a:p>
          <a:p>
            <a:pPr>
              <a:spcAft>
                <a:spcPts val="300"/>
              </a:spcAft>
              <a:tabLst>
                <a:tab pos="2057400" algn="r"/>
              </a:tabLst>
            </a:pPr>
            <a:r>
              <a:rPr lang="en-US" sz="1000" b="1" u="sng" dirty="0">
                <a:solidFill>
                  <a:schemeClr val="tx1"/>
                </a:solidFill>
                <a:latin typeface="Arial" panose="020B0604020202020204" pitchFamily="34" charset="0"/>
                <a:ea typeface="Times New Roman" panose="02020603050405020304" pitchFamily="18" charset="0"/>
              </a:rPr>
              <a:t>Remediation (For Non-Green Statuses)</a:t>
            </a:r>
          </a:p>
          <a:p>
            <a:pPr>
              <a:spcAft>
                <a:spcPts val="300"/>
              </a:spcAft>
              <a:tabLst>
                <a:tab pos="4857750" algn="r"/>
              </a:tabLst>
            </a:pPr>
            <a:r>
              <a:rPr lang="en-US" sz="800" dirty="0">
                <a:solidFill>
                  <a:schemeClr val="tx1"/>
                </a:solidFill>
                <a:latin typeface="Arial" panose="020B0604020202020204" pitchFamily="34" charset="0"/>
                <a:ea typeface="Times New Roman" panose="02020603050405020304" pitchFamily="18" charset="0"/>
                <a:cs typeface="Arial" panose="020B0604020202020204" pitchFamily="34" charset="0"/>
              </a:rPr>
              <a:t>Schedule : Plan to complete all the remote configuration of the routers and complete testing to bring the schedule back to green</a:t>
            </a:r>
            <a:endParaRPr lang="en-US" sz="800" dirty="0">
              <a:solidFill>
                <a:schemeClr val="tx1"/>
              </a:solidFill>
              <a:latin typeface="Arial" panose="020B0604020202020204" pitchFamily="34" charset="0"/>
              <a:ea typeface="Times New Roman" panose="02020603050405020304" pitchFamily="18" charset="0"/>
            </a:endParaRPr>
          </a:p>
        </p:txBody>
      </p:sp>
      <p:sp>
        <p:nvSpPr>
          <p:cNvPr id="52" name="Text Box 7">
            <a:extLst>
              <a:ext uri="{FF2B5EF4-FFF2-40B4-BE49-F238E27FC236}">
                <a16:creationId xmlns:a16="http://schemas.microsoft.com/office/drawing/2014/main" id="{50A5D7AB-3185-409B-9CFD-A028BA5B0763}"/>
              </a:ext>
            </a:extLst>
          </p:cNvPr>
          <p:cNvSpPr txBox="1"/>
          <p:nvPr/>
        </p:nvSpPr>
        <p:spPr>
          <a:xfrm>
            <a:off x="6270720" y="812878"/>
            <a:ext cx="5921280" cy="892351"/>
          </a:xfrm>
          <a:prstGeom prst="rect">
            <a:avLst/>
          </a:prstGeom>
          <a:solidFill>
            <a:schemeClr val="accent3">
              <a:lumMod val="20000"/>
              <a:lumOff val="80000"/>
            </a:schemeClr>
          </a:solidFill>
          <a:ln w="1270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300"/>
              </a:spcAft>
            </a:pPr>
            <a:r>
              <a:rPr lang="en-GB" sz="900" b="1" u="sng" dirty="0">
                <a:latin typeface="Arial" panose="020B0604020202020204" pitchFamily="34" charset="0"/>
                <a:ea typeface="Times New Roman" panose="02020603050405020304" pitchFamily="18" charset="0"/>
              </a:rPr>
              <a:t>Project Description</a:t>
            </a:r>
            <a:endParaRPr lang="en-US" sz="900" dirty="0">
              <a:latin typeface="Arial" panose="020B0604020202020204" pitchFamily="34" charset="0"/>
              <a:ea typeface="Times New Roman" panose="02020603050405020304" pitchFamily="18" charset="0"/>
            </a:endParaRPr>
          </a:p>
          <a:p>
            <a:r>
              <a:rPr lang="en-US" sz="800" i="1" dirty="0">
                <a:solidFill>
                  <a:schemeClr val="tx1"/>
                </a:solidFill>
                <a:latin typeface="Arial" panose="020B0604020202020204" pitchFamily="34" charset="0"/>
                <a:cs typeface="Arial" panose="020B0604020202020204" pitchFamily="34" charset="0"/>
              </a:rPr>
              <a:t>The Systems Integrator will create, facilitate, and execute the process for generating an RFP to select an ‘Equipment Vendor’ to replace the existing Private Network vendor – GE Jungle MUX. In parallel, the Systems Integrator will conduct ‘high-level’ design activities for the MPLS Private Network, including site surveys at 88 COMPANY substations to assess specific structural and infrastructure modifications required for the new equipment.</a:t>
            </a:r>
          </a:p>
        </p:txBody>
      </p:sp>
      <p:sp>
        <p:nvSpPr>
          <p:cNvPr id="53" name="Right Arrow 31">
            <a:extLst>
              <a:ext uri="{FF2B5EF4-FFF2-40B4-BE49-F238E27FC236}">
                <a16:creationId xmlns:a16="http://schemas.microsoft.com/office/drawing/2014/main" id="{61241709-E113-4D6C-BED2-F4AE13EC92F0}"/>
              </a:ext>
            </a:extLst>
          </p:cNvPr>
          <p:cNvSpPr/>
          <p:nvPr/>
        </p:nvSpPr>
        <p:spPr>
          <a:xfrm rot="16200000">
            <a:off x="5783087" y="1055060"/>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Arrow 32">
            <a:extLst>
              <a:ext uri="{FF2B5EF4-FFF2-40B4-BE49-F238E27FC236}">
                <a16:creationId xmlns:a16="http://schemas.microsoft.com/office/drawing/2014/main" id="{EF284793-0805-4741-B700-69540AFAF81F}"/>
              </a:ext>
            </a:extLst>
          </p:cNvPr>
          <p:cNvSpPr/>
          <p:nvPr/>
        </p:nvSpPr>
        <p:spPr>
          <a:xfrm>
            <a:off x="5783087" y="1442431"/>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ight Arrow 33">
            <a:extLst>
              <a:ext uri="{FF2B5EF4-FFF2-40B4-BE49-F238E27FC236}">
                <a16:creationId xmlns:a16="http://schemas.microsoft.com/office/drawing/2014/main" id="{7F53E16B-81D2-402C-AC8B-0F8C350C64E7}"/>
              </a:ext>
            </a:extLst>
          </p:cNvPr>
          <p:cNvSpPr/>
          <p:nvPr/>
        </p:nvSpPr>
        <p:spPr>
          <a:xfrm rot="5400000">
            <a:off x="5783087" y="1824899"/>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ight Arrow 34">
            <a:extLst>
              <a:ext uri="{FF2B5EF4-FFF2-40B4-BE49-F238E27FC236}">
                <a16:creationId xmlns:a16="http://schemas.microsoft.com/office/drawing/2014/main" id="{46E48AAE-A8FE-4897-BAA4-3660A5660953}"/>
              </a:ext>
            </a:extLst>
          </p:cNvPr>
          <p:cNvSpPr/>
          <p:nvPr/>
        </p:nvSpPr>
        <p:spPr>
          <a:xfrm>
            <a:off x="5783087" y="2194654"/>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35">
            <a:extLst>
              <a:ext uri="{FF2B5EF4-FFF2-40B4-BE49-F238E27FC236}">
                <a16:creationId xmlns:a16="http://schemas.microsoft.com/office/drawing/2014/main" id="{F8AC5779-D0B0-40F6-8295-DAE648BA2579}"/>
              </a:ext>
            </a:extLst>
          </p:cNvPr>
          <p:cNvSpPr/>
          <p:nvPr/>
        </p:nvSpPr>
        <p:spPr>
          <a:xfrm>
            <a:off x="5783087" y="2586488"/>
            <a:ext cx="304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0" name="Table 59">
            <a:extLst>
              <a:ext uri="{FF2B5EF4-FFF2-40B4-BE49-F238E27FC236}">
                <a16:creationId xmlns:a16="http://schemas.microsoft.com/office/drawing/2014/main" id="{2DFF6007-A3FB-4869-99A4-2DF9E8D268F3}"/>
              </a:ext>
            </a:extLst>
          </p:cNvPr>
          <p:cNvGraphicFramePr>
            <a:graphicFrameLocks noGrp="1"/>
          </p:cNvGraphicFramePr>
          <p:nvPr/>
        </p:nvGraphicFramePr>
        <p:xfrm>
          <a:off x="6264484" y="3303048"/>
          <a:ext cx="5921940" cy="1132063"/>
        </p:xfrm>
        <a:graphic>
          <a:graphicData uri="http://schemas.openxmlformats.org/drawingml/2006/table">
            <a:tbl>
              <a:tblPr firstRow="1" bandRow="1">
                <a:tableStyleId>{5C22544A-7EE6-4342-B048-85BDC9FD1C3A}</a:tableStyleId>
              </a:tblPr>
              <a:tblGrid>
                <a:gridCol w="1885640">
                  <a:extLst>
                    <a:ext uri="{9D8B030D-6E8A-4147-A177-3AD203B41FA5}">
                      <a16:colId xmlns:a16="http://schemas.microsoft.com/office/drawing/2014/main" val="20000"/>
                    </a:ext>
                  </a:extLst>
                </a:gridCol>
                <a:gridCol w="3056738">
                  <a:extLst>
                    <a:ext uri="{9D8B030D-6E8A-4147-A177-3AD203B41FA5}">
                      <a16:colId xmlns:a16="http://schemas.microsoft.com/office/drawing/2014/main" val="20001"/>
                    </a:ext>
                  </a:extLst>
                </a:gridCol>
                <a:gridCol w="979562">
                  <a:extLst>
                    <a:ext uri="{9D8B030D-6E8A-4147-A177-3AD203B41FA5}">
                      <a16:colId xmlns:a16="http://schemas.microsoft.com/office/drawing/2014/main" val="20002"/>
                    </a:ext>
                  </a:extLst>
                </a:gridCol>
              </a:tblGrid>
              <a:tr h="278623">
                <a:tc gridSpan="3">
                  <a:txBody>
                    <a:bodyPr/>
                    <a:lstStyle/>
                    <a:p>
                      <a:pPr algn="ctr"/>
                      <a:r>
                        <a:rPr lang="en-US" sz="1000" b="1" u="sng" dirty="0">
                          <a:solidFill>
                            <a:schemeClr val="tx1"/>
                          </a:solidFill>
                        </a:rPr>
                        <a:t>Dependency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20000"/>
                        <a:lumOff val="80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170925">
                <a:tc>
                  <a:txBody>
                    <a:bodyPr/>
                    <a:lstStyle/>
                    <a:p>
                      <a:pPr algn="ctr"/>
                      <a:r>
                        <a:rPr lang="en-US" sz="800" b="1" dirty="0"/>
                        <a:t>Project</a:t>
                      </a:r>
                    </a:p>
                  </a:txBody>
                  <a:tcPr>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pPr algn="ctr"/>
                      <a:r>
                        <a:rPr lang="en-US" sz="800" b="1" dirty="0"/>
                        <a:t>Deliverable</a:t>
                      </a:r>
                    </a:p>
                  </a:txBody>
                  <a:tcPr>
                    <a:solidFill>
                      <a:schemeClr val="accent3">
                        <a:lumMod val="60000"/>
                        <a:lumOff val="40000"/>
                      </a:schemeClr>
                    </a:solidFill>
                  </a:tcPr>
                </a:tc>
                <a:tc>
                  <a:txBody>
                    <a:bodyPr/>
                    <a:lstStyle/>
                    <a:p>
                      <a:pPr algn="ctr"/>
                      <a:r>
                        <a:rPr lang="en-US" sz="800" b="1" dirty="0"/>
                        <a:t>Date</a:t>
                      </a:r>
                    </a:p>
                  </a:txBody>
                  <a:tcPr>
                    <a:lnR w="12700" cap="flat" cmpd="sng" algn="ctr">
                      <a:solidFill>
                        <a:schemeClr val="tx1"/>
                      </a:solidFill>
                      <a:prstDash val="solid"/>
                      <a:round/>
                      <a:headEnd type="none" w="med" len="med"/>
                      <a:tailEnd type="none" w="med" len="med"/>
                    </a:lnR>
                    <a:solidFill>
                      <a:schemeClr val="accent3">
                        <a:lumMod val="60000"/>
                        <a:lumOff val="40000"/>
                      </a:schemeClr>
                    </a:solidFill>
                  </a:tcPr>
                </a:tc>
                <a:extLst>
                  <a:ext uri="{0D108BD9-81ED-4DB2-BD59-A6C34878D82A}">
                    <a16:rowId xmlns:a16="http://schemas.microsoft.com/office/drawing/2014/main" val="10001"/>
                  </a:ext>
                </a:extLst>
              </a:tr>
              <a:tr h="170925">
                <a:tc>
                  <a:txBody>
                    <a:bodyPr/>
                    <a:lstStyle/>
                    <a:p>
                      <a:r>
                        <a:rPr lang="en-US" sz="800" dirty="0">
                          <a:latin typeface="Arial" panose="020B0604020202020204" pitchFamily="34" charset="0"/>
                          <a:cs typeface="Arial" panose="020B0604020202020204" pitchFamily="34" charset="0"/>
                        </a:rPr>
                        <a:t>NA</a:t>
                      </a: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2"/>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0003"/>
                  </a:ext>
                </a:extLst>
              </a:tr>
              <a:tr h="170925">
                <a:tc>
                  <a:txBody>
                    <a:bodyPr/>
                    <a:lstStyle/>
                    <a:p>
                      <a:endParaRPr lang="en-US" sz="800"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solidFill>
                      <a:schemeClr val="accent3">
                        <a:lumMod val="20000"/>
                        <a:lumOff val="80000"/>
                      </a:schemeClr>
                    </a:solidFill>
                  </a:tcPr>
                </a:tc>
                <a:tc>
                  <a:txBody>
                    <a:bodyPr/>
                    <a:lstStyle/>
                    <a:p>
                      <a:endParaRPr lang="en-US" sz="800" dirty="0">
                        <a:latin typeface="Arial" panose="020B0604020202020204" pitchFamily="34" charset="0"/>
                        <a:cs typeface="Arial" panose="020B0604020202020204" pitchFamily="34" charset="0"/>
                      </a:endParaRPr>
                    </a:p>
                  </a:txBody>
                  <a:tcPr>
                    <a:lnR w="12700" cap="flat" cmpd="sng" algn="ctr">
                      <a:solidFill>
                        <a:schemeClr val="tx1"/>
                      </a:solidFill>
                      <a:prstDash val="solid"/>
                      <a:round/>
                      <a:headEnd type="none" w="med" len="med"/>
                      <a:tailEnd type="none" w="med" len="med"/>
                    </a:lnR>
                    <a:solidFill>
                      <a:schemeClr val="accent3">
                        <a:lumMod val="20000"/>
                        <a:lumOff val="80000"/>
                      </a:schemeClr>
                    </a:solidFill>
                  </a:tcPr>
                </a:tc>
                <a:extLst>
                  <a:ext uri="{0D108BD9-81ED-4DB2-BD59-A6C34878D82A}">
                    <a16:rowId xmlns:a16="http://schemas.microsoft.com/office/drawing/2014/main" val="1421505031"/>
                  </a:ext>
                </a:extLst>
              </a:tr>
            </a:tbl>
          </a:graphicData>
        </a:graphic>
      </p:graphicFrame>
      <p:sp>
        <p:nvSpPr>
          <p:cNvPr id="30" name="Text Box 6">
            <a:extLst>
              <a:ext uri="{FF2B5EF4-FFF2-40B4-BE49-F238E27FC236}">
                <a16:creationId xmlns:a16="http://schemas.microsoft.com/office/drawing/2014/main" id="{01308F76-0B61-47B3-9C87-8083E00E34E4}"/>
              </a:ext>
            </a:extLst>
          </p:cNvPr>
          <p:cNvSpPr txBox="1"/>
          <p:nvPr/>
        </p:nvSpPr>
        <p:spPr>
          <a:xfrm>
            <a:off x="9249794" y="596549"/>
            <a:ext cx="2935083" cy="211048"/>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r>
              <a:rPr lang="en-GB" sz="800" b="1" u="sng" dirty="0">
                <a:solidFill>
                  <a:schemeClr val="tx1"/>
                </a:solidFill>
                <a:latin typeface="Arial" panose="020B0604020202020204" pitchFamily="34" charset="0"/>
                <a:ea typeface="Times New Roman" panose="02020603050405020304" pitchFamily="18" charset="0"/>
              </a:rPr>
              <a:t>Overall Health</a:t>
            </a:r>
            <a:r>
              <a:rPr lang="en-GB" sz="800" b="1" dirty="0">
                <a:solidFill>
                  <a:schemeClr val="tx1"/>
                </a:solidFill>
                <a:latin typeface="Arial" panose="020B0604020202020204" pitchFamily="34" charset="0"/>
                <a:ea typeface="Times New Roman" panose="02020603050405020304" pitchFamily="18" charset="0"/>
              </a:rPr>
              <a:t>    This Period   	Last Period</a:t>
            </a:r>
            <a:endParaRPr lang="en-US" sz="800" dirty="0">
              <a:solidFill>
                <a:schemeClr val="tx1"/>
              </a:solidFill>
              <a:latin typeface="Arial" panose="020B0604020202020204" pitchFamily="34" charset="0"/>
              <a:ea typeface="Times New Roman" panose="02020603050405020304" pitchFamily="18" charset="0"/>
            </a:endParaRPr>
          </a:p>
        </p:txBody>
      </p:sp>
      <p:sp>
        <p:nvSpPr>
          <p:cNvPr id="32" name="Rectangle 31"/>
          <p:cNvSpPr/>
          <p:nvPr/>
        </p:nvSpPr>
        <p:spPr>
          <a:xfrm>
            <a:off x="10756163" y="657235"/>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11768197" y="657912"/>
            <a:ext cx="247247" cy="93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Box 6">
            <a:extLst>
              <a:ext uri="{FF2B5EF4-FFF2-40B4-BE49-F238E27FC236}">
                <a16:creationId xmlns:a16="http://schemas.microsoft.com/office/drawing/2014/main" id="{01308F76-0B61-47B3-9C87-8083E00E34E4}"/>
              </a:ext>
            </a:extLst>
          </p:cNvPr>
          <p:cNvSpPr txBox="1"/>
          <p:nvPr/>
        </p:nvSpPr>
        <p:spPr>
          <a:xfrm>
            <a:off x="9251648" y="390567"/>
            <a:ext cx="2935083" cy="207894"/>
          </a:xfrm>
          <a:prstGeom prst="rect">
            <a:avLst/>
          </a:prstGeom>
          <a:no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tabLst>
                <a:tab pos="1261872" algn="l"/>
              </a:tabLst>
            </a:pPr>
            <a:endParaRPr lang="en-US" sz="800" dirty="0">
              <a:solidFill>
                <a:schemeClr val="tx1"/>
              </a:solidFill>
              <a:latin typeface="Arial" panose="020B0604020202020204" pitchFamily="34" charset="0"/>
              <a:ea typeface="Times New Roman" panose="02020603050405020304" pitchFamily="18" charset="0"/>
            </a:endParaRPr>
          </a:p>
        </p:txBody>
      </p:sp>
      <p:sp>
        <p:nvSpPr>
          <p:cNvPr id="2" name="TextBox 1"/>
          <p:cNvSpPr txBox="1"/>
          <p:nvPr/>
        </p:nvSpPr>
        <p:spPr>
          <a:xfrm>
            <a:off x="11482827" y="6642556"/>
            <a:ext cx="714749" cy="184666"/>
          </a:xfrm>
          <a:prstGeom prst="rect">
            <a:avLst/>
          </a:prstGeom>
          <a:noFill/>
        </p:spPr>
        <p:txBody>
          <a:bodyPr wrap="square" rtlCol="0">
            <a:spAutoFit/>
          </a:bodyPr>
          <a:lstStyle/>
          <a:p>
            <a:r>
              <a:rPr lang="en-US" sz="600" dirty="0"/>
              <a:t>Version 3.0</a:t>
            </a:r>
          </a:p>
        </p:txBody>
      </p:sp>
    </p:spTree>
    <p:extLst>
      <p:ext uri="{BB962C8B-B14F-4D97-AF65-F5344CB8AC3E}">
        <p14:creationId xmlns:p14="http://schemas.microsoft.com/office/powerpoint/2010/main" val="2138560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E634F-D3C6-E8CF-B607-CF78B911C7C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A5F56E4-0ED8-5D2F-169D-E4D7DDF16EB8}"/>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1C90B10A-82EC-4DB7-EC6D-7998FD54B4D7}"/>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C060AE65-F7A1-7CD4-D48C-2354999E0916}"/>
              </a:ext>
            </a:extLst>
          </p:cNvPr>
          <p:cNvGraphicFramePr>
            <a:graphicFrameLocks noGrp="1"/>
          </p:cNvGraphicFramePr>
          <p:nvPr>
            <p:extLst>
              <p:ext uri="{D42A27DB-BD31-4B8C-83A1-F6EECF244321}">
                <p14:modId xmlns:p14="http://schemas.microsoft.com/office/powerpoint/2010/main" val="126070919"/>
              </p:ext>
            </p:extLst>
          </p:nvPr>
        </p:nvGraphicFramePr>
        <p:xfrm>
          <a:off x="612648" y="691945"/>
          <a:ext cx="9615422" cy="5155308"/>
        </p:xfrm>
        <a:graphic>
          <a:graphicData uri="http://schemas.openxmlformats.org/drawingml/2006/table">
            <a:tbl>
              <a:tblPr firstRow="1" bandRow="1">
                <a:tableStyleId>{F5AB1C69-6EDB-4FF4-983F-18BD219EF322}</a:tableStyleId>
              </a:tblPr>
              <a:tblGrid>
                <a:gridCol w="546570">
                  <a:extLst>
                    <a:ext uri="{9D8B030D-6E8A-4147-A177-3AD203B41FA5}">
                      <a16:colId xmlns:a16="http://schemas.microsoft.com/office/drawing/2014/main" val="3586926317"/>
                    </a:ext>
                  </a:extLst>
                </a:gridCol>
                <a:gridCol w="1999503">
                  <a:extLst>
                    <a:ext uri="{9D8B030D-6E8A-4147-A177-3AD203B41FA5}">
                      <a16:colId xmlns:a16="http://schemas.microsoft.com/office/drawing/2014/main" val="3683718648"/>
                    </a:ext>
                  </a:extLst>
                </a:gridCol>
                <a:gridCol w="1078748">
                  <a:extLst>
                    <a:ext uri="{9D8B030D-6E8A-4147-A177-3AD203B41FA5}">
                      <a16:colId xmlns:a16="http://schemas.microsoft.com/office/drawing/2014/main" val="789135036"/>
                    </a:ext>
                  </a:extLst>
                </a:gridCol>
                <a:gridCol w="1112858">
                  <a:extLst>
                    <a:ext uri="{9D8B030D-6E8A-4147-A177-3AD203B41FA5}">
                      <a16:colId xmlns:a16="http://schemas.microsoft.com/office/drawing/2014/main" val="2765420810"/>
                    </a:ext>
                  </a:extLst>
                </a:gridCol>
                <a:gridCol w="1191691">
                  <a:extLst>
                    <a:ext uri="{9D8B030D-6E8A-4147-A177-3AD203B41FA5}">
                      <a16:colId xmlns:a16="http://schemas.microsoft.com/office/drawing/2014/main" val="3759070369"/>
                    </a:ext>
                  </a:extLst>
                </a:gridCol>
                <a:gridCol w="1697383">
                  <a:extLst>
                    <a:ext uri="{9D8B030D-6E8A-4147-A177-3AD203B41FA5}">
                      <a16:colId xmlns:a16="http://schemas.microsoft.com/office/drawing/2014/main" val="2034665736"/>
                    </a:ext>
                  </a:extLst>
                </a:gridCol>
                <a:gridCol w="1988669">
                  <a:extLst>
                    <a:ext uri="{9D8B030D-6E8A-4147-A177-3AD203B41FA5}">
                      <a16:colId xmlns:a16="http://schemas.microsoft.com/office/drawing/2014/main" val="4238625106"/>
                    </a:ext>
                  </a:extLst>
                </a:gridCol>
              </a:tblGrid>
              <a:tr h="450605">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t>IFR</a:t>
                      </a:r>
                    </a:p>
                    <a:p>
                      <a:pPr algn="ctr"/>
                      <a:endParaRPr lang="en-US" sz="1200" dirty="0"/>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62733">
                <a:tc>
                  <a:txBody>
                    <a:bodyPr/>
                    <a:lstStyle/>
                    <a:p>
                      <a:pPr marL="0" algn="ctr" defTabSz="914400" rtl="0" eaLnBrk="1" latinLnBrk="0" hangingPunct="1"/>
                      <a:r>
                        <a:rPr lang="en-US" sz="1200" kern="1200" dirty="0">
                          <a:solidFill>
                            <a:schemeClr val="dk1"/>
                          </a:solidFill>
                          <a:latin typeface="+mn-lt"/>
                          <a:ea typeface="+mn-ea"/>
                          <a:cs typeface="+mn-cs"/>
                        </a:rPr>
                        <a:t>1</a:t>
                      </a:r>
                    </a:p>
                  </a:txBody>
                  <a:tcPr anchor="ctr"/>
                </a:tc>
                <a:tc>
                  <a:txBody>
                    <a:bodyPr/>
                    <a:lstStyle/>
                    <a:p>
                      <a:pPr algn="l" fontAlgn="b">
                        <a:buNone/>
                      </a:pPr>
                      <a:r>
                        <a:rPr lang="en-US" sz="1200" u="none" strike="noStrike" dirty="0">
                          <a:effectLst/>
                        </a:rPr>
                        <a:t>7RM Bayport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1370786517"/>
                  </a:ext>
                </a:extLst>
              </a:tr>
              <a:tr h="2754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2</a:t>
                      </a:r>
                    </a:p>
                  </a:txBody>
                  <a:tcPr anchor="ctr"/>
                </a:tc>
                <a:tc>
                  <a:txBody>
                    <a:bodyPr/>
                    <a:lstStyle/>
                    <a:p>
                      <a:pPr algn="l" fontAlgn="b">
                        <a:buNone/>
                      </a:pPr>
                      <a:r>
                        <a:rPr lang="en-US" sz="1200" u="none" strike="noStrike" dirty="0">
                          <a:effectLst/>
                        </a:rPr>
                        <a:t>7R Sayville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64850426"/>
                  </a:ext>
                </a:extLst>
              </a:tr>
              <a:tr h="3054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a:t>
                      </a:r>
                    </a:p>
                  </a:txBody>
                  <a:tcPr anchor="ctr"/>
                </a:tc>
                <a:tc>
                  <a:txBody>
                    <a:bodyPr/>
                    <a:lstStyle/>
                    <a:p>
                      <a:pPr algn="l" fontAlgn="b">
                        <a:buNone/>
                      </a:pPr>
                      <a:r>
                        <a:rPr lang="en-US" sz="1200" u="none" strike="noStrike" dirty="0">
                          <a:effectLst/>
                        </a:rPr>
                        <a:t>7XM Great River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4</a:t>
                      </a:r>
                    </a:p>
                  </a:txBody>
                  <a:tcPr anchor="ctr"/>
                </a:tc>
                <a:tc>
                  <a:txBody>
                    <a:bodyPr/>
                    <a:lstStyle/>
                    <a:p>
                      <a:pPr algn="l" fontAlgn="b">
                        <a:buNone/>
                      </a:pPr>
                      <a:r>
                        <a:rPr lang="en-US" sz="1200" u="none" strike="noStrike" dirty="0">
                          <a:effectLst/>
                        </a:rPr>
                        <a:t>7XM Great River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3444944646"/>
                  </a:ext>
                </a:extLst>
              </a:tr>
              <a:tr h="313191">
                <a:tc>
                  <a:txBody>
                    <a:bodyPr/>
                    <a:lstStyle/>
                    <a:p>
                      <a:pPr marL="0" algn="ctr" defTabSz="914400" rtl="0" eaLnBrk="1" latinLnBrk="0" hangingPunct="1"/>
                      <a:r>
                        <a:rPr lang="en-US" sz="1200" kern="1200" dirty="0">
                          <a:solidFill>
                            <a:schemeClr val="dk1"/>
                          </a:solidFill>
                          <a:latin typeface="+mn-lt"/>
                          <a:ea typeface="+mn-ea"/>
                          <a:cs typeface="+mn-cs"/>
                        </a:rPr>
                        <a:t>5</a:t>
                      </a:r>
                    </a:p>
                  </a:txBody>
                  <a:tcPr anchor="ctr"/>
                </a:tc>
                <a:tc>
                  <a:txBody>
                    <a:bodyPr/>
                    <a:lstStyle/>
                    <a:p>
                      <a:pPr algn="l" fontAlgn="b">
                        <a:buNone/>
                      </a:pPr>
                      <a:r>
                        <a:rPr lang="en-US" sz="1200" u="none" strike="noStrike" dirty="0">
                          <a:effectLst/>
                        </a:rPr>
                        <a:t>6H Hauppauge</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029141390"/>
                  </a:ext>
                </a:extLst>
              </a:tr>
              <a:tr h="265569">
                <a:tc>
                  <a:txBody>
                    <a:bodyPr/>
                    <a:lstStyle/>
                    <a:p>
                      <a:pPr marL="0" algn="ctr" defTabSz="914400" rtl="0" eaLnBrk="1" latinLnBrk="0" hangingPunct="1"/>
                      <a:r>
                        <a:rPr lang="en-US" sz="1200" kern="1200" dirty="0">
                          <a:solidFill>
                            <a:schemeClr val="dk1"/>
                          </a:solidFill>
                          <a:latin typeface="+mn-lt"/>
                          <a:ea typeface="+mn-ea"/>
                          <a:cs typeface="+mn-cs"/>
                        </a:rPr>
                        <a:t>6</a:t>
                      </a:r>
                    </a:p>
                  </a:txBody>
                  <a:tcPr anchor="ctr"/>
                </a:tc>
                <a:tc>
                  <a:txBody>
                    <a:bodyPr/>
                    <a:lstStyle/>
                    <a:p>
                      <a:pPr algn="l" fontAlgn="b">
                        <a:buNone/>
                      </a:pPr>
                      <a:r>
                        <a:rPr lang="en-US" sz="1200" u="none" strike="noStrike" dirty="0">
                          <a:effectLst/>
                        </a:rPr>
                        <a:t>6H Hauppauge Tower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05421">
                <a:tc>
                  <a:txBody>
                    <a:bodyPr/>
                    <a:lstStyle/>
                    <a:p>
                      <a:pPr marL="0" algn="ctr" defTabSz="914400" rtl="0" eaLnBrk="1" latinLnBrk="0" hangingPunct="1"/>
                      <a:r>
                        <a:rPr lang="en-US" sz="1200" kern="1200" dirty="0">
                          <a:solidFill>
                            <a:schemeClr val="dk1"/>
                          </a:solidFill>
                          <a:latin typeface="+mn-lt"/>
                          <a:ea typeface="+mn-ea"/>
                          <a:cs typeface="+mn-cs"/>
                        </a:rPr>
                        <a:t>7</a:t>
                      </a:r>
                    </a:p>
                  </a:txBody>
                  <a:tcPr anchor="ctr"/>
                </a:tc>
                <a:tc>
                  <a:txBody>
                    <a:bodyPr/>
                    <a:lstStyle/>
                    <a:p>
                      <a:pPr algn="l" fontAlgn="b">
                        <a:buNone/>
                      </a:pPr>
                      <a:r>
                        <a:rPr lang="en-US" sz="1200" u="none" strike="noStrike" dirty="0">
                          <a:effectLst/>
                        </a:rPr>
                        <a:t>6S Kings Hwy</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1355104002"/>
                  </a:ext>
                </a:extLst>
              </a:tr>
              <a:tr h="230059">
                <a:tc>
                  <a:txBody>
                    <a:bodyPr/>
                    <a:lstStyle/>
                    <a:p>
                      <a:pPr marL="0" algn="ctr" defTabSz="914400" rtl="0" eaLnBrk="1" latinLnBrk="0" hangingPunct="1"/>
                      <a:r>
                        <a:rPr lang="en-US" sz="1200" kern="1200" dirty="0">
                          <a:solidFill>
                            <a:schemeClr val="dk1"/>
                          </a:solidFill>
                          <a:latin typeface="+mn-lt"/>
                          <a:ea typeface="+mn-ea"/>
                          <a:cs typeface="+mn-cs"/>
                        </a:rPr>
                        <a:t>8</a:t>
                      </a:r>
                    </a:p>
                  </a:txBody>
                  <a:tcPr anchor="ctr"/>
                </a:tc>
                <a:tc>
                  <a:txBody>
                    <a:bodyPr/>
                    <a:lstStyle/>
                    <a:p>
                      <a:pPr algn="l" fontAlgn="b">
                        <a:buNone/>
                      </a:pPr>
                      <a:r>
                        <a:rPr lang="en-US" sz="1200" u="none" strike="noStrike" dirty="0">
                          <a:effectLst/>
                        </a:rPr>
                        <a:t>Brentwood DO</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2781583672"/>
                  </a:ext>
                </a:extLst>
              </a:tr>
              <a:tr h="385985">
                <a:tc>
                  <a:txBody>
                    <a:bodyPr/>
                    <a:lstStyle/>
                    <a:p>
                      <a:pPr marL="0" algn="ctr" defTabSz="914400" rtl="0" eaLnBrk="1" latinLnBrk="0" hangingPunct="1"/>
                      <a:r>
                        <a:rPr lang="en-US" sz="1200" kern="1200" dirty="0">
                          <a:solidFill>
                            <a:schemeClr val="dk1"/>
                          </a:solidFill>
                          <a:latin typeface="+mn-lt"/>
                          <a:ea typeface="+mn-ea"/>
                          <a:cs typeface="+mn-cs"/>
                        </a:rPr>
                        <a:t>9</a:t>
                      </a:r>
                    </a:p>
                  </a:txBody>
                  <a:tcPr anchor="ctr"/>
                </a:tc>
                <a:tc>
                  <a:txBody>
                    <a:bodyPr/>
                    <a:lstStyle/>
                    <a:p>
                      <a:pPr algn="l" fontAlgn="b">
                        <a:buNone/>
                      </a:pPr>
                      <a:r>
                        <a:rPr lang="en-US" sz="1200" u="none" strike="noStrike" dirty="0">
                          <a:effectLst/>
                        </a:rPr>
                        <a:t>7H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3319541799"/>
                  </a:ext>
                </a:extLst>
              </a:tr>
              <a:tr h="305421">
                <a:tc>
                  <a:txBody>
                    <a:bodyPr/>
                    <a:lstStyle/>
                    <a:p>
                      <a:pPr marL="0" algn="ctr" defTabSz="914400" rtl="0" eaLnBrk="1" latinLnBrk="0" hangingPunct="1"/>
                      <a:r>
                        <a:rPr lang="en-US" sz="1200" kern="1200" dirty="0">
                          <a:solidFill>
                            <a:schemeClr val="dk1"/>
                          </a:solidFill>
                          <a:latin typeface="+mn-lt"/>
                          <a:ea typeface="+mn-ea"/>
                          <a:cs typeface="+mn-cs"/>
                        </a:rPr>
                        <a:t>10</a:t>
                      </a:r>
                    </a:p>
                  </a:txBody>
                  <a:tcPr anchor="ctr"/>
                </a:tc>
                <a:tc>
                  <a:txBody>
                    <a:bodyPr/>
                    <a:lstStyle/>
                    <a:p>
                      <a:pPr algn="l" fontAlgn="b">
                        <a:buNone/>
                      </a:pPr>
                      <a:r>
                        <a:rPr lang="en-US" sz="1200" u="none" strike="noStrike" dirty="0">
                          <a:effectLst/>
                        </a:rPr>
                        <a:t>7H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9/22/26</a:t>
                      </a:r>
                    </a:p>
                  </a:txBody>
                  <a:tcPr anchor="ctr"/>
                </a:tc>
                <a:extLst>
                  <a:ext uri="{0D108BD9-81ED-4DB2-BD59-A6C34878D82A}">
                    <a16:rowId xmlns:a16="http://schemas.microsoft.com/office/drawing/2014/main" val="1288149223"/>
                  </a:ext>
                </a:extLst>
              </a:tr>
              <a:tr h="305421">
                <a:tc>
                  <a:txBody>
                    <a:bodyPr/>
                    <a:lstStyle/>
                    <a:p>
                      <a:pPr marL="0" algn="ctr" defTabSz="914400" rtl="0" eaLnBrk="1" latinLnBrk="0" hangingPunct="1"/>
                      <a:r>
                        <a:rPr lang="en-US" sz="1200" kern="1200" dirty="0">
                          <a:solidFill>
                            <a:schemeClr val="dk1"/>
                          </a:solidFill>
                          <a:latin typeface="+mn-lt"/>
                          <a:ea typeface="+mn-ea"/>
                          <a:cs typeface="+mn-cs"/>
                        </a:rPr>
                        <a:t>11</a:t>
                      </a:r>
                    </a:p>
                  </a:txBody>
                  <a:tcPr anchor="ctr"/>
                </a:tc>
                <a:tc>
                  <a:txBody>
                    <a:bodyPr/>
                    <a:lstStyle/>
                    <a:p>
                      <a:pPr algn="l" fontAlgn="b">
                        <a:buNone/>
                      </a:pPr>
                      <a:r>
                        <a:rPr lang="en-US" sz="1200" u="none" strike="noStrike" dirty="0">
                          <a:effectLst/>
                        </a:rPr>
                        <a:t>7D West Babylon</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438867382"/>
                  </a:ext>
                </a:extLst>
              </a:tr>
              <a:tr h="305421">
                <a:tc>
                  <a:txBody>
                    <a:bodyPr/>
                    <a:lstStyle/>
                    <a:p>
                      <a:pPr marL="0" algn="ctr" defTabSz="914400" rtl="0" eaLnBrk="1" latinLnBrk="0" hangingPunct="1"/>
                      <a:r>
                        <a:rPr lang="en-US" sz="1200" kern="1200" dirty="0">
                          <a:solidFill>
                            <a:schemeClr val="dk1"/>
                          </a:solidFill>
                          <a:latin typeface="+mn-lt"/>
                          <a:ea typeface="+mn-ea"/>
                          <a:cs typeface="+mn-cs"/>
                        </a:rPr>
                        <a:t>12</a:t>
                      </a:r>
                    </a:p>
                  </a:txBody>
                  <a:tcPr anchor="ctr"/>
                </a:tc>
                <a:tc>
                  <a:txBody>
                    <a:bodyPr/>
                    <a:lstStyle/>
                    <a:p>
                      <a:pPr algn="l" fontAlgn="b">
                        <a:buNone/>
                      </a:pPr>
                      <a:r>
                        <a:rPr lang="en-US" sz="1200" u="none" strike="noStrike" dirty="0">
                          <a:effectLst/>
                        </a:rPr>
                        <a:t>7D West Babylon Radio Shelter</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9/21/26</a:t>
                      </a:r>
                    </a:p>
                  </a:txBody>
                  <a:tcPr anchor="ctr"/>
                </a:tc>
                <a:extLst>
                  <a:ext uri="{0D108BD9-81ED-4DB2-BD59-A6C34878D82A}">
                    <a16:rowId xmlns:a16="http://schemas.microsoft.com/office/drawing/2014/main" val="1765565004"/>
                  </a:ext>
                </a:extLst>
              </a:tr>
              <a:tr h="305421">
                <a:tc>
                  <a:txBody>
                    <a:bodyPr/>
                    <a:lstStyle/>
                    <a:p>
                      <a:pPr marL="0" algn="ctr" defTabSz="914400" rtl="0" eaLnBrk="1" latinLnBrk="0" hangingPunct="1"/>
                      <a:r>
                        <a:rPr lang="en-US" sz="1200" kern="1200" dirty="0">
                          <a:solidFill>
                            <a:schemeClr val="dk1"/>
                          </a:solidFill>
                          <a:latin typeface="+mn-lt"/>
                          <a:ea typeface="+mn-ea"/>
                          <a:cs typeface="+mn-cs"/>
                        </a:rPr>
                        <a:t>13</a:t>
                      </a:r>
                    </a:p>
                  </a:txBody>
                  <a:tcPr anchor="ctr"/>
                </a:tc>
                <a:tc>
                  <a:txBody>
                    <a:bodyPr/>
                    <a:lstStyle/>
                    <a:p>
                      <a:pPr algn="l" fontAlgn="b">
                        <a:buNone/>
                      </a:pPr>
                      <a:r>
                        <a:rPr lang="en-US" sz="1200" u="none" strike="noStrike" dirty="0">
                          <a:effectLst/>
                        </a:rPr>
                        <a:t>7W Berry St</a:t>
                      </a:r>
                      <a:endParaRPr lang="en-US" sz="1200" b="0" i="0" u="none" strike="noStrike" dirty="0">
                        <a:solidFill>
                          <a:srgbClr val="000000"/>
                        </a:solidFill>
                        <a:effectLst/>
                        <a:latin typeface="Arial" panose="020B0604020202020204" pitchFamily="34" charset="0"/>
                      </a:endParaRP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569704205"/>
                  </a:ext>
                </a:extLst>
              </a:tr>
              <a:tr h="305421">
                <a:tc>
                  <a:txBody>
                    <a:bodyPr/>
                    <a:lstStyle/>
                    <a:p>
                      <a:pPr marL="0" algn="ctr" defTabSz="914400" rtl="0" eaLnBrk="1" latinLnBrk="0" hangingPunct="1"/>
                      <a:r>
                        <a:rPr lang="en-US" sz="1200" kern="1200" dirty="0">
                          <a:solidFill>
                            <a:schemeClr val="dk1"/>
                          </a:solidFill>
                          <a:latin typeface="+mn-lt"/>
                          <a:ea typeface="+mn-ea"/>
                          <a:cs typeface="+mn-cs"/>
                        </a:rPr>
                        <a:t>14</a:t>
                      </a:r>
                    </a:p>
                  </a:txBody>
                  <a:tcPr/>
                </a:tc>
                <a:tc>
                  <a:txBody>
                    <a:bodyPr/>
                    <a:lstStyle/>
                    <a:p>
                      <a:pPr algn="l" fontAlgn="b">
                        <a:buNone/>
                      </a:pPr>
                      <a:r>
                        <a:rPr lang="en-US" sz="1200" b="0" i="0" u="none" strike="noStrike" dirty="0">
                          <a:solidFill>
                            <a:srgbClr val="000000"/>
                          </a:solidFill>
                          <a:effectLst/>
                          <a:latin typeface="+mn-lt"/>
                        </a:rPr>
                        <a:t>3J Whiteside</a:t>
                      </a:r>
                    </a:p>
                  </a:txBody>
                  <a:tcPr marL="0" marR="0" marT="0" marB="0" anchor="b"/>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5/4/26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26685270"/>
                  </a:ext>
                </a:extLst>
              </a:tr>
              <a:tr h="442614">
                <a:tc>
                  <a:txBody>
                    <a:bodyPr/>
                    <a:lstStyle/>
                    <a:p>
                      <a:pPr marL="0" algn="ctr" defTabSz="914400" rtl="0" eaLnBrk="1" latinLnBrk="0" hangingPunct="1"/>
                      <a:r>
                        <a:rPr lang="en-US" sz="1200" kern="1200" dirty="0">
                          <a:solidFill>
                            <a:schemeClr val="dk1"/>
                          </a:solidFill>
                          <a:latin typeface="+mn-lt"/>
                          <a:ea typeface="+mn-ea"/>
                          <a:cs typeface="+mn-cs"/>
                        </a:rPr>
                        <a:t>15</a:t>
                      </a:r>
                    </a:p>
                  </a:txBody>
                  <a:tcPr/>
                </a:tc>
                <a:tc>
                  <a:txBody>
                    <a:bodyPr/>
                    <a:lstStyle/>
                    <a:p>
                      <a:pPr algn="l" fontAlgn="b">
                        <a:buNone/>
                      </a:pPr>
                      <a:r>
                        <a:rPr lang="en-US" sz="1200" b="0" i="0" u="none" strike="noStrike" dirty="0">
                          <a:solidFill>
                            <a:srgbClr val="000000"/>
                          </a:solidFill>
                          <a:effectLst/>
                          <a:latin typeface="+mn-lt"/>
                        </a:rPr>
                        <a:t>2K Valley Stream</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3561936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8D28-4191-64D8-9095-9DCC2D6CB87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4E76EF5-4EA1-C9EA-5073-1FA6B9B25905}"/>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40B7BEC1-9D05-8207-851E-F9A504C9BE5F}"/>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644D24B7-14F5-6B82-C5BA-2BEA991C8AFA}"/>
              </a:ext>
            </a:extLst>
          </p:cNvPr>
          <p:cNvGraphicFramePr>
            <a:graphicFrameLocks noGrp="1"/>
          </p:cNvGraphicFramePr>
          <p:nvPr>
            <p:extLst>
              <p:ext uri="{D42A27DB-BD31-4B8C-83A1-F6EECF244321}">
                <p14:modId xmlns:p14="http://schemas.microsoft.com/office/powerpoint/2010/main" val="4276176840"/>
              </p:ext>
            </p:extLst>
          </p:nvPr>
        </p:nvGraphicFramePr>
        <p:xfrm>
          <a:off x="676405" y="805737"/>
          <a:ext cx="9615676" cy="4839736"/>
        </p:xfrm>
        <a:graphic>
          <a:graphicData uri="http://schemas.openxmlformats.org/drawingml/2006/table">
            <a:tbl>
              <a:tblPr firstRow="1" bandRow="1">
                <a:tableStyleId>{F5AB1C69-6EDB-4FF4-983F-18BD219EF322}</a:tableStyleId>
              </a:tblPr>
              <a:tblGrid>
                <a:gridCol w="541072">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161419">
                  <a:extLst>
                    <a:ext uri="{9D8B030D-6E8A-4147-A177-3AD203B41FA5}">
                      <a16:colId xmlns:a16="http://schemas.microsoft.com/office/drawing/2014/main" val="3759070369"/>
                    </a:ext>
                  </a:extLst>
                </a:gridCol>
                <a:gridCol w="1064712">
                  <a:extLst>
                    <a:ext uri="{9D8B030D-6E8A-4147-A177-3AD203B41FA5}">
                      <a16:colId xmlns:a16="http://schemas.microsoft.com/office/drawing/2014/main" val="2431206455"/>
                    </a:ext>
                  </a:extLst>
                </a:gridCol>
                <a:gridCol w="1400310">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344249">
                <a:tc>
                  <a:txBody>
                    <a:bodyPr/>
                    <a:lstStyle/>
                    <a:p>
                      <a:pPr marL="0" algn="ctr" defTabSz="914400" rtl="0" eaLnBrk="1" latinLnBrk="0" hangingPunct="1"/>
                      <a:r>
                        <a:rPr lang="en-US" sz="1200" kern="1200" dirty="0">
                          <a:solidFill>
                            <a:schemeClr val="dk1"/>
                          </a:solidFill>
                          <a:latin typeface="+mn-lt"/>
                          <a:ea typeface="+mn-ea"/>
                          <a:cs typeface="+mn-cs"/>
                        </a:rPr>
                        <a:t>16</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2RB Green Acres</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70786517"/>
                  </a:ext>
                </a:extLst>
              </a:tr>
              <a:tr h="2844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17</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Hewlett DO</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3154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18</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2ZB EF Barrett PS Inside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020739305"/>
                  </a:ext>
                </a:extLst>
              </a:tr>
              <a:tr h="315486">
                <a:tc>
                  <a:txBody>
                    <a:bodyPr/>
                    <a:lstStyle/>
                    <a:p>
                      <a:pPr marL="0" algn="ctr" defTabSz="914400" rtl="0" eaLnBrk="1" latinLnBrk="0" hangingPunct="1"/>
                      <a:r>
                        <a:rPr lang="en-US" sz="1200" kern="1200" dirty="0">
                          <a:solidFill>
                            <a:schemeClr val="dk1"/>
                          </a:solidFill>
                          <a:latin typeface="+mn-lt"/>
                          <a:ea typeface="+mn-ea"/>
                          <a:cs typeface="+mn-cs"/>
                        </a:rPr>
                        <a:t>19</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2WB Barrett Outside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444944646"/>
                  </a:ext>
                </a:extLst>
              </a:tr>
              <a:tr h="0">
                <a:tc>
                  <a:txBody>
                    <a:bodyPr/>
                    <a:lstStyle/>
                    <a:p>
                      <a:pPr marL="0" algn="ctr" defTabSz="914400" rtl="0" eaLnBrk="1" latinLnBrk="0" hangingPunct="1"/>
                      <a:r>
                        <a:rPr lang="en-US" sz="1200" kern="1200" dirty="0">
                          <a:solidFill>
                            <a:schemeClr val="dk1"/>
                          </a:solidFill>
                          <a:latin typeface="+mn-lt"/>
                          <a:ea typeface="+mn-ea"/>
                          <a:cs typeface="+mn-cs"/>
                        </a:rPr>
                        <a:t>20</a:t>
                      </a:r>
                    </a:p>
                  </a:txBody>
                  <a:tcPr anchor="ctr"/>
                </a:tc>
                <a:tc>
                  <a:txBody>
                    <a:bodyPr/>
                    <a:lstStyle/>
                    <a:p>
                      <a:pPr marL="0" marR="0">
                        <a:buNone/>
                      </a:pPr>
                      <a:r>
                        <a:rPr lang="en-US" sz="1200">
                          <a:effectLst/>
                          <a:latin typeface="+mn-lt"/>
                          <a:ea typeface="Aptos" panose="020B0004020202020204" pitchFamily="34" charset="0"/>
                          <a:cs typeface="Aptos" panose="020B0004020202020204" pitchFamily="34" charset="0"/>
                        </a:rPr>
                        <a:t>5HK Hicksville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3029141390"/>
                  </a:ext>
                </a:extLst>
              </a:tr>
              <a:tr h="251922">
                <a:tc>
                  <a:txBody>
                    <a:bodyPr/>
                    <a:lstStyle/>
                    <a:p>
                      <a:pPr marL="0" algn="ctr" defTabSz="914400" rtl="0" eaLnBrk="1" latinLnBrk="0" hangingPunct="1"/>
                      <a:r>
                        <a:rPr lang="en-US" sz="1200" kern="1200" dirty="0">
                          <a:solidFill>
                            <a:schemeClr val="dk1"/>
                          </a:solidFill>
                          <a:latin typeface="+mn-lt"/>
                          <a:ea typeface="+mn-ea"/>
                          <a:cs typeface="+mn-cs"/>
                        </a:rPr>
                        <a:t>21</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2H Far Rockaway</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0640628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22</a:t>
                      </a:r>
                    </a:p>
                  </a:txBody>
                  <a:tcPr anchor="ctr"/>
                </a:tc>
                <a:tc>
                  <a:txBody>
                    <a:bodyPr/>
                    <a:lstStyle/>
                    <a:p>
                      <a:pPr marL="0" marR="0">
                        <a:buNone/>
                      </a:pPr>
                      <a:r>
                        <a:rPr lang="en-US" sz="1200">
                          <a:solidFill>
                            <a:srgbClr val="000000"/>
                          </a:solidFill>
                          <a:effectLst/>
                          <a:latin typeface="+mn-lt"/>
                          <a:ea typeface="Aptos" panose="020B0004020202020204" pitchFamily="34" charset="0"/>
                          <a:cs typeface="Aptos" panose="020B0004020202020204" pitchFamily="34" charset="0"/>
                        </a:rPr>
                        <a:t>2KB Cedarhurst</a:t>
                      </a:r>
                      <a:endParaRPr lang="en-US" sz="120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Tue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B050"/>
                          </a:solidFill>
                          <a:effectLst/>
                          <a:uLnTx/>
                          <a:uFillTx/>
                          <a:latin typeface="Arial"/>
                          <a:ea typeface="+mn-ea"/>
                          <a:cs typeface="+mn-cs"/>
                        </a:rPr>
                        <a:t>Mon 3/9/26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23</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2781583672"/>
                  </a:ext>
                </a:extLst>
              </a:tr>
              <a:tr h="398705">
                <a:tc>
                  <a:txBody>
                    <a:bodyPr/>
                    <a:lstStyle/>
                    <a:p>
                      <a:pPr marL="0" algn="ctr" defTabSz="914400" rtl="0" eaLnBrk="1" latinLnBrk="0" hangingPunct="1"/>
                      <a:r>
                        <a:rPr lang="en-US" sz="1200" kern="1200" dirty="0">
                          <a:solidFill>
                            <a:schemeClr val="dk1"/>
                          </a:solidFill>
                          <a:latin typeface="+mn-lt"/>
                          <a:ea typeface="+mn-ea"/>
                          <a:cs typeface="+mn-cs"/>
                        </a:rPr>
                        <a:t>24</a:t>
                      </a:r>
                    </a:p>
                  </a:txBody>
                  <a:tcPr anchor="ctr"/>
                </a:tc>
                <a:tc>
                  <a:txBody>
                    <a:bodyPr/>
                    <a:lstStyle/>
                    <a:p>
                      <a:pPr marL="0" marR="0">
                        <a:buNone/>
                      </a:pPr>
                      <a:r>
                        <a:rPr lang="en-US" sz="1200" dirty="0">
                          <a:solidFill>
                            <a:srgbClr val="000000"/>
                          </a:solidFill>
                          <a:effectLst/>
                          <a:latin typeface="+mn-lt"/>
                          <a:ea typeface="Aptos" panose="020B0004020202020204" pitchFamily="34" charset="0"/>
                          <a:cs typeface="Aptos" panose="020B0004020202020204" pitchFamily="34" charset="0"/>
                        </a:rPr>
                        <a:t>2R Hewlett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2/23/26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3/23/26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8/5/26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3319541799"/>
                  </a:ext>
                </a:extLst>
              </a:tr>
              <a:tr h="315486">
                <a:tc>
                  <a:txBody>
                    <a:bodyPr/>
                    <a:lstStyle/>
                    <a:p>
                      <a:pPr marL="0" algn="ctr" defTabSz="914400" rtl="0" eaLnBrk="1" latinLnBrk="0" hangingPunct="1"/>
                      <a:r>
                        <a:rPr lang="en-US" sz="1200" kern="1200" dirty="0">
                          <a:solidFill>
                            <a:schemeClr val="dk1"/>
                          </a:solidFill>
                          <a:latin typeface="+mn-lt"/>
                          <a:ea typeface="+mn-ea"/>
                          <a:cs typeface="+mn-cs"/>
                        </a:rPr>
                        <a:t>25</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 Baldwin </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1288149223"/>
                  </a:ext>
                </a:extLst>
              </a:tr>
              <a:tr h="315486">
                <a:tc>
                  <a:txBody>
                    <a:bodyPr/>
                    <a:lstStyle/>
                    <a:p>
                      <a:pPr marL="0" algn="ctr" defTabSz="914400" rtl="0" eaLnBrk="1" latinLnBrk="0" hangingPunct="1"/>
                      <a:r>
                        <a:rPr lang="en-US" sz="1200" kern="1200" dirty="0">
                          <a:solidFill>
                            <a:schemeClr val="dk1"/>
                          </a:solidFill>
                          <a:latin typeface="+mn-lt"/>
                          <a:ea typeface="+mn-ea"/>
                          <a:cs typeface="+mn-cs"/>
                        </a:rPr>
                        <a:t>26</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4M1 Baldwin Shelter</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4/13/26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9/14/26</a:t>
                      </a:r>
                    </a:p>
                  </a:txBody>
                  <a:tcPr anchor="ctr"/>
                </a:tc>
                <a:extLst>
                  <a:ext uri="{0D108BD9-81ED-4DB2-BD59-A6C34878D82A}">
                    <a16:rowId xmlns:a16="http://schemas.microsoft.com/office/drawing/2014/main" val="438867382"/>
                  </a:ext>
                </a:extLst>
              </a:tr>
              <a:tr h="315486">
                <a:tc>
                  <a:txBody>
                    <a:bodyPr/>
                    <a:lstStyle/>
                    <a:p>
                      <a:pPr marL="0" algn="ctr" defTabSz="914400" rtl="0" eaLnBrk="1" latinLnBrk="0" hangingPunct="1"/>
                      <a:r>
                        <a:rPr lang="en-US" sz="1200" kern="1200" dirty="0">
                          <a:solidFill>
                            <a:schemeClr val="dk1"/>
                          </a:solidFill>
                          <a:latin typeface="+mn-lt"/>
                          <a:ea typeface="+mn-ea"/>
                          <a:cs typeface="+mn-cs"/>
                        </a:rPr>
                        <a:t>27</a:t>
                      </a:r>
                    </a:p>
                  </a:txBody>
                  <a:tcPr anchor="ctr"/>
                </a:tc>
                <a:tc>
                  <a:txBody>
                    <a:bodyPr/>
                    <a:lstStyle/>
                    <a:p>
                      <a:pPr marL="0" marR="0">
                        <a:buNone/>
                      </a:pPr>
                      <a:r>
                        <a:rPr lang="en-US" sz="1200" dirty="0">
                          <a:effectLst/>
                          <a:latin typeface="+mn-lt"/>
                          <a:ea typeface="Aptos" panose="020B0004020202020204" pitchFamily="34" charset="0"/>
                          <a:cs typeface="Aptos" panose="020B0004020202020204" pitchFamily="34" charset="0"/>
                        </a:rPr>
                        <a:t>6K State School</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9/17/26</a:t>
                      </a:r>
                    </a:p>
                  </a:txBody>
                  <a:tcPr anchor="ctr"/>
                </a:tc>
                <a:extLst>
                  <a:ext uri="{0D108BD9-81ED-4DB2-BD59-A6C34878D82A}">
                    <a16:rowId xmlns:a16="http://schemas.microsoft.com/office/drawing/2014/main" val="1765565004"/>
                  </a:ext>
                </a:extLst>
              </a:tr>
              <a:tr h="315486">
                <a:tc>
                  <a:txBody>
                    <a:bodyPr/>
                    <a:lstStyle/>
                    <a:p>
                      <a:pPr marL="0" algn="ctr" defTabSz="914400" rtl="0" eaLnBrk="1" latinLnBrk="0" hangingPunct="1"/>
                      <a:r>
                        <a:rPr lang="en-US" sz="1200" kern="1200" dirty="0">
                          <a:solidFill>
                            <a:schemeClr val="dk1"/>
                          </a:solidFill>
                          <a:latin typeface="+mn-lt"/>
                          <a:ea typeface="+mn-ea"/>
                          <a:cs typeface="+mn-cs"/>
                        </a:rPr>
                        <a:t>28</a:t>
                      </a:r>
                    </a:p>
                  </a:txBody>
                  <a:tcPr anchor="ctr"/>
                </a:tc>
                <a:tc>
                  <a:txBody>
                    <a:bodyPr/>
                    <a:lstStyle/>
                    <a:p>
                      <a:pPr algn="l" fontAlgn="b">
                        <a:buNone/>
                      </a:pPr>
                      <a:r>
                        <a:rPr lang="en-US" sz="1200" b="0" i="0" u="none" strike="noStrike" dirty="0">
                          <a:solidFill>
                            <a:srgbClr val="000000"/>
                          </a:solidFill>
                          <a:effectLst/>
                          <a:latin typeface="Arial" panose="020B0604020202020204" pitchFamily="34" charset="0"/>
                        </a:rPr>
                        <a:t> 7BH Bohemia </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4/27/26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8/12/26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9/18/26</a:t>
                      </a:r>
                    </a:p>
                  </a:txBody>
                  <a:tcPr anchor="ctr"/>
                </a:tc>
                <a:extLst>
                  <a:ext uri="{0D108BD9-81ED-4DB2-BD59-A6C34878D82A}">
                    <a16:rowId xmlns:a16="http://schemas.microsoft.com/office/drawing/2014/main" val="569704205"/>
                  </a:ext>
                </a:extLst>
              </a:tr>
              <a:tr h="0">
                <a:tc>
                  <a:txBody>
                    <a:bodyPr/>
                    <a:lstStyle/>
                    <a:p>
                      <a:pPr marL="0" algn="ctr" defTabSz="914400" rtl="0" eaLnBrk="1" latinLnBrk="0" hangingPunct="1"/>
                      <a:r>
                        <a:rPr lang="en-US" sz="1200" kern="1200" dirty="0">
                          <a:solidFill>
                            <a:schemeClr val="dk1"/>
                          </a:solidFill>
                          <a:latin typeface="+mn-lt"/>
                          <a:ea typeface="+mn-ea"/>
                          <a:cs typeface="+mn-cs"/>
                        </a:rPr>
                        <a:t>29</a:t>
                      </a:r>
                    </a:p>
                  </a:txBody>
                  <a:tcPr anchor="ctr"/>
                </a:tc>
                <a:tc>
                  <a:txBody>
                    <a:bodyPr/>
                    <a:lstStyle/>
                    <a:p>
                      <a:pPr algn="l" fontAlgn="b">
                        <a:buNone/>
                      </a:pPr>
                      <a:r>
                        <a:rPr lang="en-US" sz="1200" b="0" i="0" u="none" strike="noStrike" dirty="0">
                          <a:solidFill>
                            <a:srgbClr val="000000"/>
                          </a:solidFill>
                          <a:effectLst/>
                          <a:latin typeface="+mn-lt"/>
                        </a:rPr>
                        <a:t>7M MacArthur</a:t>
                      </a:r>
                    </a:p>
                  </a:txBody>
                  <a:tcPr marL="0" marR="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6/16/26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38851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41EE5-E7C1-A9CC-A23C-1D0A056DCEA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29A1BE-788C-CF89-3841-0B87433FA531}"/>
              </a:ext>
            </a:extLst>
          </p:cNvPr>
          <p:cNvSpPr txBox="1"/>
          <p:nvPr/>
        </p:nvSpPr>
        <p:spPr>
          <a:xfrm>
            <a:off x="2766922" y="820684"/>
            <a:ext cx="9714035" cy="307777"/>
          </a:xfrm>
          <a:prstGeom prst="rect">
            <a:avLst/>
          </a:prstGeom>
          <a:noFill/>
        </p:spPr>
        <p:txBody>
          <a:bodyPr wrap="square" rtlCol="0">
            <a:spAutoFit/>
          </a:bodyPr>
          <a:lstStyle/>
          <a:p>
            <a:pPr>
              <a:spcBef>
                <a:spcPts val="600"/>
              </a:spcBef>
              <a:spcAft>
                <a:spcPts val="600"/>
              </a:spcAft>
            </a:pPr>
            <a:r>
              <a:rPr lang="en-US" sz="1400" dirty="0"/>
              <a:t>2025 Phase-1 Substation Schedule 31 Sites (2 of 2) </a:t>
            </a:r>
          </a:p>
        </p:txBody>
      </p:sp>
      <p:sp>
        <p:nvSpPr>
          <p:cNvPr id="10" name="Title 3">
            <a:extLst>
              <a:ext uri="{FF2B5EF4-FFF2-40B4-BE49-F238E27FC236}">
                <a16:creationId xmlns:a16="http://schemas.microsoft.com/office/drawing/2014/main" id="{89014D30-3AE4-81FD-F51A-09DD07C3CA2B}"/>
              </a:ext>
            </a:extLst>
          </p:cNvPr>
          <p:cNvSpPr txBox="1">
            <a:spLocks/>
          </p:cNvSpPr>
          <p:nvPr/>
        </p:nvSpPr>
        <p:spPr bwMode="auto">
          <a:xfrm>
            <a:off x="959085" y="218733"/>
            <a:ext cx="8229600" cy="457200"/>
          </a:xfrm>
          <a:prstGeom prst="roundRect">
            <a:avLst/>
          </a:prstGeom>
          <a:gradFill rotWithShape="1">
            <a:gsLst>
              <a:gs pos="0">
                <a:srgbClr val="E5E8E8">
                  <a:tint val="50000"/>
                  <a:satMod val="300000"/>
                </a:srgbClr>
              </a:gs>
              <a:gs pos="35000">
                <a:srgbClr val="E5E8E8">
                  <a:tint val="37000"/>
                  <a:satMod val="300000"/>
                </a:srgbClr>
              </a:gs>
              <a:gs pos="100000">
                <a:srgbClr val="E5E8E8">
                  <a:tint val="15000"/>
                  <a:satMod val="350000"/>
                </a:srgbClr>
              </a:gs>
            </a:gsLst>
            <a:lin ang="16200000" scaled="1"/>
          </a:gradFill>
          <a:ln w="9525" cap="flat" cmpd="sng" algn="ctr">
            <a:solidFill>
              <a:srgbClr val="E5E8E8">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vert="horz" wrap="none" lIns="0" tIns="45720" rIns="91440" bIns="45720" rtlCol="0" anchor="ctr" anchorCtr="0">
            <a:normAutofit/>
          </a:bodyPr>
          <a:lstStyle>
            <a:lvl1pPr algn="l" defTabSz="914400" rtl="0" eaLnBrk="1" latinLnBrk="0" hangingPunct="1">
              <a:lnSpc>
                <a:spcPct val="90000"/>
              </a:lnSpc>
              <a:spcBef>
                <a:spcPct val="0"/>
              </a:spcBef>
              <a:buNone/>
              <a:defRPr sz="4000" b="1" i="0" kern="1200">
                <a:solidFill>
                  <a:srgbClr val="142C41"/>
                </a:solidFill>
                <a:latin typeface="Outfit SemiBold" pitchFamily="2" charset="0"/>
                <a:ea typeface="+mj-ea"/>
                <a:cs typeface="Arial" panose="020B0604020202020204" pitchFamily="34" charset="0"/>
              </a:defRPr>
            </a:lvl1pPr>
          </a:lstStyle>
          <a:p>
            <a:pPr algn="ctr">
              <a:spcBef>
                <a:spcPts val="600"/>
              </a:spcBef>
              <a:spcAft>
                <a:spcPts val="600"/>
              </a:spcAft>
            </a:pPr>
            <a:r>
              <a:rPr lang="en-US" sz="1400" dirty="0">
                <a:solidFill>
                  <a:srgbClr val="00B050"/>
                </a:solidFill>
              </a:rPr>
              <a:t>Phase 2 Site Surveys: ✅ Complete </a:t>
            </a:r>
          </a:p>
        </p:txBody>
      </p:sp>
      <p:graphicFrame>
        <p:nvGraphicFramePr>
          <p:cNvPr id="7" name="Table 6">
            <a:extLst>
              <a:ext uri="{FF2B5EF4-FFF2-40B4-BE49-F238E27FC236}">
                <a16:creationId xmlns:a16="http://schemas.microsoft.com/office/drawing/2014/main" id="{47EA892D-C687-A0E8-474D-83B918A34730}"/>
              </a:ext>
            </a:extLst>
          </p:cNvPr>
          <p:cNvGraphicFramePr>
            <a:graphicFrameLocks noGrp="1"/>
          </p:cNvGraphicFramePr>
          <p:nvPr/>
        </p:nvGraphicFramePr>
        <p:xfrm>
          <a:off x="670560" y="805737"/>
          <a:ext cx="9621521" cy="5108128"/>
        </p:xfrm>
        <a:graphic>
          <a:graphicData uri="http://schemas.openxmlformats.org/drawingml/2006/table">
            <a:tbl>
              <a:tblPr firstRow="1" bandRow="1">
                <a:tableStyleId>{F5AB1C69-6EDB-4FF4-983F-18BD219EF322}</a:tableStyleId>
              </a:tblPr>
              <a:tblGrid>
                <a:gridCol w="546917">
                  <a:extLst>
                    <a:ext uri="{9D8B030D-6E8A-4147-A177-3AD203B41FA5}">
                      <a16:colId xmlns:a16="http://schemas.microsoft.com/office/drawing/2014/main" val="3586926317"/>
                    </a:ext>
                  </a:extLst>
                </a:gridCol>
                <a:gridCol w="2000771">
                  <a:extLst>
                    <a:ext uri="{9D8B030D-6E8A-4147-A177-3AD203B41FA5}">
                      <a16:colId xmlns:a16="http://schemas.microsoft.com/office/drawing/2014/main" val="3683718648"/>
                    </a:ext>
                  </a:extLst>
                </a:gridCol>
                <a:gridCol w="1457462">
                  <a:extLst>
                    <a:ext uri="{9D8B030D-6E8A-4147-A177-3AD203B41FA5}">
                      <a16:colId xmlns:a16="http://schemas.microsoft.com/office/drawing/2014/main" val="789135036"/>
                    </a:ext>
                  </a:extLst>
                </a:gridCol>
                <a:gridCol w="1085010">
                  <a:extLst>
                    <a:ext uri="{9D8B030D-6E8A-4147-A177-3AD203B41FA5}">
                      <a16:colId xmlns:a16="http://schemas.microsoft.com/office/drawing/2014/main" val="3759070369"/>
                    </a:ext>
                  </a:extLst>
                </a:gridCol>
                <a:gridCol w="1028387">
                  <a:extLst>
                    <a:ext uri="{9D8B030D-6E8A-4147-A177-3AD203B41FA5}">
                      <a16:colId xmlns:a16="http://schemas.microsoft.com/office/drawing/2014/main" val="2431206455"/>
                    </a:ext>
                  </a:extLst>
                </a:gridCol>
                <a:gridCol w="1513044">
                  <a:extLst>
                    <a:ext uri="{9D8B030D-6E8A-4147-A177-3AD203B41FA5}">
                      <a16:colId xmlns:a16="http://schemas.microsoft.com/office/drawing/2014/main" val="2034665736"/>
                    </a:ext>
                  </a:extLst>
                </a:gridCol>
                <a:gridCol w="1989930">
                  <a:extLst>
                    <a:ext uri="{9D8B030D-6E8A-4147-A177-3AD203B41FA5}">
                      <a16:colId xmlns:a16="http://schemas.microsoft.com/office/drawing/2014/main" val="4238625106"/>
                    </a:ext>
                  </a:extLst>
                </a:gridCol>
              </a:tblGrid>
              <a:tr h="465454">
                <a:tc>
                  <a:txBody>
                    <a:bodyPr/>
                    <a:lstStyle/>
                    <a:p>
                      <a:pPr algn="ctr"/>
                      <a:r>
                        <a:rPr lang="en-US" sz="1200" dirty="0"/>
                        <a:t>#</a:t>
                      </a:r>
                    </a:p>
                  </a:txBody>
                  <a:tcPr anchor="ctr"/>
                </a:tc>
                <a:tc>
                  <a:txBody>
                    <a:bodyPr/>
                    <a:lstStyle/>
                    <a:p>
                      <a:r>
                        <a:rPr lang="en-US" sz="1200" dirty="0"/>
                        <a:t>Substation</a:t>
                      </a:r>
                    </a:p>
                  </a:txBody>
                  <a:tcPr anchor="ctr"/>
                </a:tc>
                <a:tc>
                  <a:txBody>
                    <a:bodyPr/>
                    <a:lstStyle/>
                    <a:p>
                      <a:pPr algn="ctr"/>
                      <a:r>
                        <a:rPr lang="en-US" sz="1200" dirty="0"/>
                        <a:t>Site Surveys</a:t>
                      </a:r>
                    </a:p>
                  </a:txBody>
                  <a:tcPr anchor="ctr"/>
                </a:tc>
                <a:tc>
                  <a:txBody>
                    <a:bodyPr/>
                    <a:lstStyle/>
                    <a:p>
                      <a:pPr algn="ctr"/>
                      <a:r>
                        <a:rPr lang="en-US" sz="1200" dirty="0"/>
                        <a:t>IFR</a:t>
                      </a:r>
                    </a:p>
                  </a:txBody>
                  <a:tcPr anchor="ctr"/>
                </a:tc>
                <a:tc>
                  <a:txBody>
                    <a:bodyPr/>
                    <a:lstStyle/>
                    <a:p>
                      <a:pPr algn="ctr"/>
                      <a:r>
                        <a:rPr lang="en-US" sz="1200" dirty="0"/>
                        <a:t>IFC</a:t>
                      </a:r>
                    </a:p>
                  </a:txBody>
                  <a:tcPr anchor="ctr"/>
                </a:tc>
                <a:tc>
                  <a:txBody>
                    <a:bodyPr/>
                    <a:lstStyle/>
                    <a:p>
                      <a:pPr algn="ctr"/>
                      <a:r>
                        <a:rPr lang="en-US" sz="1200" dirty="0"/>
                        <a:t>Construction </a:t>
                      </a:r>
                    </a:p>
                  </a:txBody>
                  <a:tcPr anchor="ctr"/>
                </a:tc>
                <a:tc>
                  <a:txBody>
                    <a:bodyPr/>
                    <a:lstStyle/>
                    <a:p>
                      <a:pPr algn="ctr"/>
                      <a:r>
                        <a:rPr lang="en-US" sz="1200" dirty="0"/>
                        <a:t>Deployment </a:t>
                      </a:r>
                    </a:p>
                  </a:txBody>
                  <a:tcPr anchor="ctr"/>
                </a:tc>
                <a:extLst>
                  <a:ext uri="{0D108BD9-81ED-4DB2-BD59-A6C34878D82A}">
                    <a16:rowId xmlns:a16="http://schemas.microsoft.com/office/drawing/2014/main" val="1673272263"/>
                  </a:ext>
                </a:extLst>
              </a:tr>
              <a:tr h="246713">
                <a:tc>
                  <a:txBody>
                    <a:bodyPr/>
                    <a:lstStyle/>
                    <a:p>
                      <a:pPr marL="0" algn="ctr" defTabSz="914400" rtl="0" eaLnBrk="1" latinLnBrk="0" hangingPunct="1"/>
                      <a:r>
                        <a:rPr lang="en-US" sz="1200" kern="1200" dirty="0">
                          <a:solidFill>
                            <a:schemeClr val="dk1"/>
                          </a:solidFill>
                          <a:latin typeface="+mn-lt"/>
                          <a:ea typeface="+mn-ea"/>
                          <a:cs typeface="+mn-cs"/>
                        </a:rPr>
                        <a:t>30</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strike="noStrike"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1370786517"/>
                  </a:ext>
                </a:extLst>
              </a:tr>
              <a:tr h="2467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31</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8AX Patchogue Shelter</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Fri 9/25/26</a:t>
                      </a:r>
                    </a:p>
                  </a:txBody>
                  <a:tcPr anchor="ctr"/>
                </a:tc>
                <a:extLst>
                  <a:ext uri="{0D108BD9-81ED-4DB2-BD59-A6C34878D82A}">
                    <a16:rowId xmlns:a16="http://schemas.microsoft.com/office/drawing/2014/main" val="3064850426"/>
                  </a:ext>
                </a:extLst>
              </a:tr>
              <a:tr h="21013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latin typeface="+mn-lt"/>
                          <a:ea typeface="+mn-ea"/>
                          <a:cs typeface="+mn-cs"/>
                        </a:rPr>
                        <a:t>32</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7Z Lindenhurst</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9/2/26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Thu 9/24/26</a:t>
                      </a:r>
                    </a:p>
                  </a:txBody>
                  <a:tcPr anchor="ctr"/>
                </a:tc>
                <a:extLst>
                  <a:ext uri="{0D108BD9-81ED-4DB2-BD59-A6C34878D82A}">
                    <a16:rowId xmlns:a16="http://schemas.microsoft.com/office/drawing/2014/main" val="2020739305"/>
                  </a:ext>
                </a:extLst>
              </a:tr>
              <a:tr h="182705">
                <a:tc>
                  <a:txBody>
                    <a:bodyPr/>
                    <a:lstStyle/>
                    <a:p>
                      <a:pPr marL="0" algn="ctr" defTabSz="914400" rtl="0" eaLnBrk="1" latinLnBrk="0" hangingPunct="1"/>
                      <a:r>
                        <a:rPr lang="en-US" sz="1200" kern="1200" dirty="0">
                          <a:solidFill>
                            <a:schemeClr val="dk1"/>
                          </a:solidFill>
                          <a:latin typeface="+mn-lt"/>
                          <a:ea typeface="+mn-ea"/>
                          <a:cs typeface="+mn-cs"/>
                        </a:rPr>
                        <a:t>33</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7J Sterling</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Mon 5/11/26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9/22/26</a:t>
                      </a:r>
                    </a:p>
                  </a:txBody>
                  <a:tcPr anchor="ctr"/>
                </a:tc>
                <a:extLst>
                  <a:ext uri="{0D108BD9-81ED-4DB2-BD59-A6C34878D82A}">
                    <a16:rowId xmlns:a16="http://schemas.microsoft.com/office/drawing/2014/main" val="3444944646"/>
                  </a:ext>
                </a:extLst>
              </a:tr>
              <a:tr h="173561">
                <a:tc>
                  <a:txBody>
                    <a:bodyPr/>
                    <a:lstStyle/>
                    <a:p>
                      <a:pPr marL="0" algn="ctr" defTabSz="914400" rtl="0" eaLnBrk="1" latinLnBrk="0" hangingPunct="1"/>
                      <a:r>
                        <a:rPr lang="en-US" sz="1200" kern="1200" dirty="0">
                          <a:solidFill>
                            <a:schemeClr val="dk1"/>
                          </a:solidFill>
                          <a:latin typeface="+mn-lt"/>
                          <a:ea typeface="+mn-ea"/>
                          <a:cs typeface="+mn-cs"/>
                        </a:rPr>
                        <a:t>34</a:t>
                      </a:r>
                    </a:p>
                  </a:txBody>
                  <a:tcPr anchor="ctr"/>
                </a:tc>
                <a:tc>
                  <a:txBody>
                    <a:bodyPr/>
                    <a:lstStyle/>
                    <a:p>
                      <a:pPr marL="0" marR="0" algn="l">
                        <a:buNone/>
                      </a:pPr>
                      <a:r>
                        <a:rPr lang="en-US" sz="1200" dirty="0">
                          <a:effectLst/>
                          <a:latin typeface="+mn-lt"/>
                          <a:ea typeface="Aptos" panose="020B0004020202020204" pitchFamily="34" charset="0"/>
                          <a:cs typeface="Aptos" panose="020B0004020202020204" pitchFamily="34" charset="0"/>
                        </a:rPr>
                        <a:t>7UM South Farmingdale</a:t>
                      </a: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5/26/26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6/23/26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Wed 8/26/26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9/23/26</a:t>
                      </a:r>
                    </a:p>
                  </a:txBody>
                  <a:tcPr anchor="ctr"/>
                </a:tc>
                <a:extLst>
                  <a:ext uri="{0D108BD9-81ED-4DB2-BD59-A6C34878D82A}">
                    <a16:rowId xmlns:a16="http://schemas.microsoft.com/office/drawing/2014/main" val="3029141390"/>
                  </a:ext>
                </a:extLst>
              </a:tr>
              <a:tr h="0">
                <a:tc>
                  <a:txBody>
                    <a:bodyPr/>
                    <a:lstStyle/>
                    <a:p>
                      <a:pPr marL="0" algn="ctr" defTabSz="914400" rtl="0" eaLnBrk="1" latinLnBrk="0" hangingPunct="1"/>
                      <a:r>
                        <a:rPr lang="en-US" sz="1200" kern="1200" dirty="0">
                          <a:solidFill>
                            <a:schemeClr val="dk1"/>
                          </a:solidFill>
                          <a:latin typeface="+mn-lt"/>
                          <a:ea typeface="+mn-ea"/>
                          <a:cs typeface="+mn-cs"/>
                        </a:rPr>
                        <a:t>35</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ACC</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6/9/26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Wed 7/8/26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206406284"/>
                  </a:ext>
                </a:extLst>
              </a:tr>
              <a:tr h="0">
                <a:tc>
                  <a:txBody>
                    <a:bodyPr/>
                    <a:lstStyle/>
                    <a:p>
                      <a:pPr marL="0" algn="ctr" defTabSz="914400" rtl="0" eaLnBrk="1" latinLnBrk="0" hangingPunct="1"/>
                      <a:r>
                        <a:rPr lang="en-US" sz="1200" kern="1200" dirty="0">
                          <a:solidFill>
                            <a:schemeClr val="dk1"/>
                          </a:solidFill>
                          <a:latin typeface="+mn-lt"/>
                          <a:ea typeface="+mn-ea"/>
                          <a:cs typeface="+mn-cs"/>
                        </a:rPr>
                        <a:t>36</a:t>
                      </a:r>
                    </a:p>
                  </a:txBody>
                  <a:tcPr anchor="ctr"/>
                </a:tc>
                <a:tc>
                  <a:txBody>
                    <a:bodyPr/>
                    <a:lstStyle/>
                    <a:p>
                      <a:pPr marL="0" marR="0" algn="l">
                        <a:buNone/>
                      </a:pPr>
                      <a:r>
                        <a:rPr lang="en-US" sz="1200" dirty="0">
                          <a:solidFill>
                            <a:srgbClr val="000000"/>
                          </a:solidFill>
                          <a:effectLst/>
                          <a:latin typeface="+mn-lt"/>
                          <a:ea typeface="Aptos" panose="020B0004020202020204" pitchFamily="34" charset="0"/>
                          <a:cs typeface="Aptos" panose="020B0004020202020204" pitchFamily="34" charset="0"/>
                        </a:rPr>
                        <a:t>6U Ruland</a:t>
                      </a:r>
                      <a:endParaRPr lang="en-US" sz="1200" dirty="0">
                        <a:effectLst/>
                        <a:latin typeface="+mn-lt"/>
                        <a:ea typeface="Aptos" panose="020B0004020202020204" pitchFamily="34" charset="0"/>
                        <a:cs typeface="Aptos" panose="020B0004020202020204" pitchFamily="34" charset="0"/>
                      </a:endParaRPr>
                    </a:p>
                  </a:txBody>
                  <a:tcPr marL="68580" marR="68580" marT="0" marB="0" anchor="ctr"/>
                </a:tc>
                <a:tc>
                  <a:txBody>
                    <a:bodyPr/>
                    <a:lstStyle/>
                    <a:p>
                      <a:pPr algn="ctr">
                        <a:spcBef>
                          <a:spcPts val="0"/>
                        </a:spcBef>
                        <a:spcAft>
                          <a:spcPts val="0"/>
                        </a:spcAft>
                      </a:pPr>
                      <a:r>
                        <a:rPr lang="en-US" sz="900" b="1" dirty="0">
                          <a:solidFill>
                            <a:srgbClr val="FFFFFF"/>
                          </a:solidFill>
                        </a:rPr>
                        <a:t>Complete</a:t>
                      </a:r>
                    </a:p>
                  </a:txBody>
                  <a:tcPr anchor="ctr">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6/2/26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a:ea typeface="+mn-ea"/>
                          <a:cs typeface="+mn-cs"/>
                        </a:rPr>
                        <a:t>Tue 6/30/26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Tue 9/8/26</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Mon 9/28/26</a:t>
                      </a:r>
                    </a:p>
                  </a:txBody>
                  <a:tcPr anchor="ctr"/>
                </a:tc>
                <a:extLst>
                  <a:ext uri="{0D108BD9-81ED-4DB2-BD59-A6C34878D82A}">
                    <a16:rowId xmlns:a16="http://schemas.microsoft.com/office/drawing/2014/main" val="135510400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tc>
                <a:extLst>
                  <a:ext uri="{0D108BD9-81ED-4DB2-BD59-A6C34878D82A}">
                    <a16:rowId xmlns:a16="http://schemas.microsoft.com/office/drawing/2014/main" val="2781583672"/>
                  </a:ext>
                </a:extLst>
              </a:tr>
              <a:tr h="398705">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3319541799"/>
                  </a:ext>
                </a:extLst>
              </a:tr>
              <a:tr h="430813">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sng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88149223"/>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438867382"/>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marL="0" marR="0">
                        <a:buNone/>
                      </a:pPr>
                      <a:endParaRPr lang="en-US" sz="1200" dirty="0">
                        <a:effectLst/>
                        <a:latin typeface="+mn-lt"/>
                        <a:ea typeface="Aptos" panose="020B0004020202020204" pitchFamily="34" charset="0"/>
                        <a:cs typeface="Aptos" panose="020B0004020202020204" pitchFamily="34"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765565004"/>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Arial" panose="020B0604020202020204" pitchFamily="34" charset="0"/>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569704205"/>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26685270"/>
                  </a:ext>
                </a:extLst>
              </a:tr>
              <a:tr h="315486">
                <a:tc>
                  <a:txBody>
                    <a:bodyPr/>
                    <a:lstStyle/>
                    <a:p>
                      <a:pPr marL="0" algn="ctr" defTabSz="914400" rtl="0" eaLnBrk="1" latinLnBrk="0" hangingPunct="1"/>
                      <a:endParaRPr lang="en-US" sz="1200" kern="1200" dirty="0">
                        <a:solidFill>
                          <a:schemeClr val="dk1"/>
                        </a:solidFill>
                        <a:latin typeface="+mn-lt"/>
                        <a:ea typeface="+mn-ea"/>
                        <a:cs typeface="+mn-cs"/>
                      </a:endParaRPr>
                    </a:p>
                  </a:txBody>
                  <a:tcPr/>
                </a:tc>
                <a:tc>
                  <a:txBody>
                    <a:bodyPr/>
                    <a:lstStyle/>
                    <a:p>
                      <a:pPr algn="l" fontAlgn="b">
                        <a:buNone/>
                      </a:pPr>
                      <a:endParaRPr lang="en-US" sz="1200" b="0" i="0" u="none" strike="noStrike" dirty="0">
                        <a:solidFill>
                          <a:srgbClr val="000000"/>
                        </a:solidFill>
                        <a:effectLst/>
                        <a:latin typeface="+mn-lt"/>
                      </a:endParaRPr>
                    </a:p>
                  </a:txBody>
                  <a:tcPr marL="0" marR="0" marT="0" marB="0" anchor="b"/>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B050"/>
                        </a:solidFill>
                        <a:effectLst/>
                        <a:uLnTx/>
                        <a:uFillTx/>
                        <a:latin typeface="Arial"/>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dirty="0"/>
                    </a:p>
                  </a:txBody>
                  <a:tcPr/>
                </a:tc>
                <a:extLst>
                  <a:ext uri="{0D108BD9-81ED-4DB2-BD59-A6C34878D82A}">
                    <a16:rowId xmlns:a16="http://schemas.microsoft.com/office/drawing/2014/main" val="1264950233"/>
                  </a:ext>
                </a:extLst>
              </a:tr>
            </a:tbl>
          </a:graphicData>
        </a:graphic>
      </p:graphicFrame>
    </p:spTree>
    <p:extLst>
      <p:ext uri="{BB962C8B-B14F-4D97-AF65-F5344CB8AC3E}">
        <p14:creationId xmlns:p14="http://schemas.microsoft.com/office/powerpoint/2010/main" val="2482033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4DC2193-B7FE-D8BE-DE47-7FE1525029A6}"/>
              </a:ext>
            </a:extLst>
          </p:cNvPr>
          <p:cNvSpPr txBox="1"/>
          <p:nvPr/>
        </p:nvSpPr>
        <p:spPr>
          <a:xfrm>
            <a:off x="557505" y="3303840"/>
            <a:ext cx="8511850" cy="3077766"/>
          </a:xfrm>
          <a:prstGeom prst="rect">
            <a:avLst/>
          </a:prstGeom>
          <a:noFill/>
        </p:spPr>
        <p:txBody>
          <a:bodyPr wrap="square">
            <a:spAutoFit/>
          </a:bodyPr>
          <a:lstStyle/>
          <a:p>
            <a:pPr marL="228600" indent="-228600">
              <a:spcBef>
                <a:spcPts val="600"/>
              </a:spcBef>
              <a:spcAft>
                <a:spcPts val="600"/>
              </a:spcAft>
              <a:buFont typeface="Wingdings" panose="05000000000000000000" pitchFamily="2" charset="2"/>
              <a:buChar char="Ø"/>
            </a:pPr>
            <a:r>
              <a:rPr lang="en-US" b="1" dirty="0"/>
              <a:t>Current Risk</a:t>
            </a:r>
          </a:p>
          <a:p>
            <a:pPr marL="800100" lvl="1" indent="-342900">
              <a:spcBef>
                <a:spcPts val="600"/>
              </a:spcBef>
              <a:spcAft>
                <a:spcPts val="600"/>
              </a:spcAft>
              <a:buFont typeface="+mj-lt"/>
              <a:buAutoNum type="arabicPeriod"/>
            </a:pPr>
            <a:r>
              <a:rPr lang="en-US" dirty="0"/>
              <a:t>Legacy JMUX equipment old and delicate. Potential for Outage. </a:t>
            </a:r>
          </a:p>
          <a:p>
            <a:pPr marL="1714500" lvl="3" indent="-342900">
              <a:spcBef>
                <a:spcPts val="600"/>
              </a:spcBef>
              <a:spcAft>
                <a:spcPts val="600"/>
              </a:spcAft>
              <a:buFont typeface="Arial" panose="020B0604020202020204" pitchFamily="34" charset="0"/>
              <a:buChar char="•"/>
            </a:pPr>
            <a:r>
              <a:rPr lang="en-US" dirty="0"/>
              <a:t>Ran into faulty connectors that are over25 years old and not readily available with vendors.</a:t>
            </a:r>
          </a:p>
          <a:p>
            <a:pPr marL="1714500" lvl="3" indent="-342900">
              <a:spcBef>
                <a:spcPts val="600"/>
              </a:spcBef>
              <a:spcAft>
                <a:spcPts val="600"/>
              </a:spcAft>
              <a:buFont typeface="Arial" panose="020B0604020202020204" pitchFamily="34" charset="0"/>
              <a:buChar char="•"/>
            </a:pPr>
            <a:r>
              <a:rPr lang="en-US" dirty="0"/>
              <a:t>Potential brittle fiber patch panels, Face plates, connectors and cables.</a:t>
            </a:r>
          </a:p>
          <a:p>
            <a:pPr marL="800100" lvl="1" indent="-342900">
              <a:spcBef>
                <a:spcPts val="600"/>
              </a:spcBef>
              <a:spcAft>
                <a:spcPts val="600"/>
              </a:spcAft>
              <a:buFont typeface="+mj-lt"/>
              <a:buAutoNum type="arabicPeriod"/>
            </a:pPr>
            <a:r>
              <a:rPr lang="en-US" dirty="0"/>
              <a:t>Weather delay and delay in installing the equipment at sub-station (tracking weekly).</a:t>
            </a:r>
          </a:p>
          <a:p>
            <a:pPr marL="800100" lvl="1" indent="-342900">
              <a:spcBef>
                <a:spcPts val="600"/>
              </a:spcBef>
              <a:spcAft>
                <a:spcPts val="600"/>
              </a:spcAft>
              <a:buFont typeface="+mj-lt"/>
              <a:buAutoNum type="arabicPeriod"/>
            </a:pPr>
            <a:r>
              <a:rPr lang="en-US" dirty="0"/>
              <a:t>Other major substation project conflicts. </a:t>
            </a:r>
          </a:p>
        </p:txBody>
      </p:sp>
      <p:sp>
        <p:nvSpPr>
          <p:cNvPr id="8" name="TextBox 7">
            <a:extLst>
              <a:ext uri="{FF2B5EF4-FFF2-40B4-BE49-F238E27FC236}">
                <a16:creationId xmlns:a16="http://schemas.microsoft.com/office/drawing/2014/main" id="{A2C3A67E-29DB-19F7-057D-329C6D37C7B4}"/>
              </a:ext>
            </a:extLst>
          </p:cNvPr>
          <p:cNvSpPr txBox="1"/>
          <p:nvPr/>
        </p:nvSpPr>
        <p:spPr>
          <a:xfrm>
            <a:off x="429489" y="170709"/>
            <a:ext cx="9199984" cy="2939266"/>
          </a:xfrm>
          <a:prstGeom prst="rect">
            <a:avLst/>
          </a:prstGeom>
          <a:noFill/>
        </p:spPr>
        <p:txBody>
          <a:bodyPr wrap="square" rtlCol="0">
            <a:spAutoFit/>
          </a:bodyPr>
          <a:lstStyle/>
          <a:p>
            <a:pPr marL="228600" indent="-228600">
              <a:spcBef>
                <a:spcPts val="600"/>
              </a:spcBef>
              <a:spcAft>
                <a:spcPts val="600"/>
              </a:spcAft>
              <a:buFont typeface="Wingdings" panose="05000000000000000000" pitchFamily="2" charset="2"/>
              <a:buChar char="Ø"/>
            </a:pPr>
            <a:r>
              <a:rPr lang="en-US" b="1" dirty="0"/>
              <a:t>Next Steps</a:t>
            </a:r>
            <a:endParaRPr lang="en-US" dirty="0"/>
          </a:p>
          <a:p>
            <a:pPr marL="342900" lvl="0" indent="-342900">
              <a:buFont typeface="+mj-lt"/>
              <a:buAutoNum type="arabicPeriod"/>
              <a:tabLst>
                <a:tab pos="457200" algn="l"/>
              </a:tabLst>
            </a:pPr>
            <a:r>
              <a:rPr lang="en-US" dirty="0">
                <a:solidFill>
                  <a:srgbClr val="28A745"/>
                </a:solidFill>
                <a:latin typeface="Aptos" panose="020B0004020202020204" pitchFamily="34" charset="0"/>
                <a:cs typeface="Aptos" panose="020B0004020202020204" pitchFamily="34" charset="0"/>
              </a:rPr>
              <a:t>✅ Cat6 COMPLETE (03/04) | ✅ OTDR COMPLETE (03/09) | ✅ BGP APPROVED (03/16) — Lee to start change docs for Melville &amp; Hicksville</a:t>
            </a:r>
            <a:r>
              <a:rPr lang="en-US" dirty="0">
                <a:solidFill>
                  <a:srgbClr val="00B050"/>
                </a:solidFill>
              </a:rPr>
              <a:t> (change ticket planned </a:t>
            </a:r>
            <a:r>
              <a:rPr lang="en-US" dirty="0">
                <a:solidFill>
                  <a:srgbClr val="00B050"/>
                </a:solidFill>
                <a:latin typeface="Aptos" panose="020B0004020202020204" pitchFamily="34" charset="0"/>
                <a:cs typeface="Aptos" panose="020B0004020202020204" pitchFamily="34" charset="0"/>
              </a:rPr>
              <a:t>03/03</a:t>
            </a:r>
            <a:r>
              <a:rPr lang="en-US" dirty="0">
                <a:solidFill>
                  <a:srgbClr val="00B050"/>
                </a:solidFill>
              </a:rPr>
              <a:t>).</a:t>
            </a:r>
          </a:p>
          <a:p>
            <a:pPr marL="342900" lvl="0" indent="-342900">
              <a:buFont typeface="+mj-lt"/>
              <a:buAutoNum type="arabicPeriod"/>
              <a:tabLst>
                <a:tab pos="457200" algn="l"/>
              </a:tabLst>
            </a:pPr>
            <a:r>
              <a:rPr lang="en-US" dirty="0">
                <a:solidFill>
                  <a:srgbClr val="00B050"/>
                </a:solidFill>
                <a:latin typeface="Aptos" panose="020B0004020202020204" pitchFamily="34" charset="0"/>
                <a:cs typeface="Aptos" panose="020B0004020202020204" pitchFamily="34" charset="0"/>
              </a:rPr>
              <a:t>OTDR testing at Hicksville</a:t>
            </a:r>
            <a:r>
              <a:rPr lang="en-US" dirty="0">
                <a:solidFill>
                  <a:srgbClr val="00B050"/>
                </a:solidFill>
              </a:rPr>
              <a:t> (planned </a:t>
            </a:r>
            <a:r>
              <a:rPr lang="en-US" dirty="0">
                <a:solidFill>
                  <a:srgbClr val="00B050"/>
                </a:solidFill>
                <a:latin typeface="Aptos" panose="020B0004020202020204" pitchFamily="34" charset="0"/>
                <a:cs typeface="Aptos" panose="020B0004020202020204" pitchFamily="34" charset="0"/>
              </a:rPr>
              <a:t>03/04</a:t>
            </a:r>
            <a:r>
              <a:rPr lang="en-US" dirty="0">
                <a:solidFill>
                  <a:srgbClr val="00B050"/>
                </a:solidFill>
              </a:rPr>
              <a:t>) to confirm whether the low DB level is internal vs </a:t>
            </a:r>
            <a:r>
              <a:rPr lang="en-US" dirty="0">
                <a:solidFill>
                  <a:srgbClr val="00B050"/>
                </a:solidFill>
                <a:latin typeface="Aptos" panose="020B0004020202020204" pitchFamily="34" charset="0"/>
                <a:cs typeface="Aptos" panose="020B0004020202020204" pitchFamily="34" charset="0"/>
              </a:rPr>
              <a:t>carrier-side (Crown Castle)</a:t>
            </a:r>
            <a:r>
              <a:rPr lang="en-US" dirty="0">
                <a:solidFill>
                  <a:srgbClr val="00B050"/>
                </a:solidFill>
              </a:rPr>
              <a:t>; validate filter/wavelength behavior.</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Confirm stable remote access</a:t>
            </a:r>
            <a:r>
              <a:rPr lang="en-US" dirty="0"/>
              <a:t> after cabling/OTDR so we can shift to “remote-first” execution.</a:t>
            </a:r>
          </a:p>
          <a:p>
            <a:pPr marL="342900" lvl="0" indent="-342900">
              <a:buFont typeface="+mj-lt"/>
              <a:buAutoNum type="arabicPeriod"/>
              <a:tabLst>
                <a:tab pos="457200" algn="l"/>
              </a:tabLst>
            </a:pPr>
            <a:r>
              <a:rPr lang="en-US" dirty="0">
                <a:latin typeface="Aptos" panose="020B0004020202020204" pitchFamily="34" charset="0"/>
                <a:cs typeface="Aptos" panose="020B0004020202020204" pitchFamily="34" charset="0"/>
              </a:rPr>
              <a:t>Start router configuration</a:t>
            </a:r>
            <a:r>
              <a:rPr lang="en-US" dirty="0"/>
              <a:t> on the powered routers for </a:t>
            </a:r>
            <a:r>
              <a:rPr lang="en-US" dirty="0">
                <a:latin typeface="Aptos" panose="020B0004020202020204" pitchFamily="34" charset="0"/>
                <a:cs typeface="Aptos" panose="020B0004020202020204" pitchFamily="34" charset="0"/>
              </a:rPr>
              <a:t>Ring 1 and Ring 6</a:t>
            </a:r>
            <a:r>
              <a:rPr lang="en-US" dirty="0"/>
              <a:t> (remote workstream), with standard config + validation.</a:t>
            </a:r>
          </a:p>
          <a:p>
            <a:pPr marL="342900" indent="-342900">
              <a:buAutoNum type="arabicPeriod"/>
            </a:pPr>
            <a:endParaRPr lang="en-US" dirty="0"/>
          </a:p>
          <a:p>
            <a:endParaRPr lang="en-US" dirty="0"/>
          </a:p>
        </p:txBody>
      </p:sp>
    </p:spTree>
    <p:extLst>
      <p:ext uri="{BB962C8B-B14F-4D97-AF65-F5344CB8AC3E}">
        <p14:creationId xmlns:p14="http://schemas.microsoft.com/office/powerpoint/2010/main" val="1198083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Risks &amp; Issues</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Active Risks | Mitigations in Place</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05840"/>
            <a:ext cx="5486400" cy="36576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033271"/>
            <a:ext cx="5303520" cy="292608"/>
          </a:xfrm>
          <a:prstGeom prst="rect">
            <a:avLst/>
          </a:prstGeom>
          <a:noFill/>
        </p:spPr>
        <p:txBody>
          <a:bodyPr wrap="square">
            <a:spAutoFit/>
          </a:bodyPr>
          <a:lstStyle/>
          <a:p>
            <a:pPr algn="l"/>
            <a:r>
              <a:rPr sz="1200" b="1" i="0">
                <a:solidFill>
                  <a:srgbClr val="FFFFFF"/>
                </a:solidFill>
              </a:rPr>
              <a:t>⚠  ACTIVE RISKS</a:t>
            </a:r>
          </a:p>
        </p:txBody>
      </p:sp>
      <p:sp>
        <p:nvSpPr>
          <p:cNvPr id="10" name="Rectangle 9"/>
          <p:cNvSpPr/>
          <p:nvPr/>
        </p:nvSpPr>
        <p:spPr>
          <a:xfrm>
            <a:off x="5943600" y="1005840"/>
            <a:ext cx="5943600" cy="365760"/>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35040" y="1033271"/>
            <a:ext cx="5760720" cy="292608"/>
          </a:xfrm>
          <a:prstGeom prst="rect">
            <a:avLst/>
          </a:prstGeom>
          <a:noFill/>
        </p:spPr>
        <p:txBody>
          <a:bodyPr wrap="square">
            <a:spAutoFit/>
          </a:bodyPr>
          <a:lstStyle/>
          <a:p>
            <a:pPr algn="l"/>
            <a:r>
              <a:rPr sz="1200" b="1" i="0">
                <a:solidFill>
                  <a:srgbClr val="FFFFFF"/>
                </a:solidFill>
              </a:rPr>
              <a:t>🔧  ACTIVE ISSUES / IN RESOLUTION</a:t>
            </a:r>
          </a:p>
        </p:txBody>
      </p:sp>
      <p:sp>
        <p:nvSpPr>
          <p:cNvPr id="12" name="Rectangle 11"/>
          <p:cNvSpPr/>
          <p:nvPr/>
        </p:nvSpPr>
        <p:spPr>
          <a:xfrm>
            <a:off x="274320" y="1463040"/>
            <a:ext cx="5486400" cy="1143000"/>
          </a:xfrm>
          <a:prstGeom prst="rect">
            <a:avLst/>
          </a:prstGeom>
          <a:solidFill>
            <a:srgbClr val="FFFFFF"/>
          </a:solidFill>
          <a:ln w="2540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1463040"/>
            <a:ext cx="1005840" cy="34747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2608" y="1499616"/>
            <a:ext cx="914400" cy="274320"/>
          </a:xfrm>
          <a:prstGeom prst="rect">
            <a:avLst/>
          </a:prstGeom>
          <a:noFill/>
        </p:spPr>
        <p:txBody>
          <a:bodyPr wrap="square">
            <a:spAutoFit/>
          </a:bodyPr>
          <a:lstStyle/>
          <a:p>
            <a:pPr algn="ctr"/>
            <a:r>
              <a:rPr sz="1000" b="1" i="0">
                <a:solidFill>
                  <a:srgbClr val="FFFFFF"/>
                </a:solidFill>
              </a:rPr>
              <a:t>HIGH</a:t>
            </a:r>
          </a:p>
        </p:txBody>
      </p:sp>
      <p:sp>
        <p:nvSpPr>
          <p:cNvPr id="15" name="TextBox 14"/>
          <p:cNvSpPr txBox="1"/>
          <p:nvPr/>
        </p:nvSpPr>
        <p:spPr>
          <a:xfrm>
            <a:off x="1325880" y="1499616"/>
            <a:ext cx="4297680" cy="292608"/>
          </a:xfrm>
          <a:prstGeom prst="rect">
            <a:avLst/>
          </a:prstGeom>
          <a:noFill/>
        </p:spPr>
        <p:txBody>
          <a:bodyPr wrap="square">
            <a:spAutoFit/>
          </a:bodyPr>
          <a:lstStyle/>
          <a:p>
            <a:pPr algn="l"/>
            <a:r>
              <a:rPr sz="1100" b="1" i="0">
                <a:solidFill>
                  <a:srgbClr val="404040"/>
                </a:solidFill>
              </a:rPr>
              <a:t>Legacy Equipment Fragility</a:t>
            </a:r>
          </a:p>
        </p:txBody>
      </p:sp>
      <p:sp>
        <p:nvSpPr>
          <p:cNvPr id="16" name="TextBox 15"/>
          <p:cNvSpPr txBox="1"/>
          <p:nvPr/>
        </p:nvSpPr>
        <p:spPr>
          <a:xfrm>
            <a:off x="365760" y="1847088"/>
            <a:ext cx="5212080" cy="384048"/>
          </a:xfrm>
          <a:prstGeom prst="rect">
            <a:avLst/>
          </a:prstGeom>
          <a:noFill/>
        </p:spPr>
        <p:txBody>
          <a:bodyPr wrap="square">
            <a:spAutoFit/>
          </a:bodyPr>
          <a:lstStyle/>
          <a:p>
            <a:pPr algn="l"/>
            <a:r>
              <a:rPr sz="900" b="0" i="0">
                <a:solidFill>
                  <a:srgbClr val="404040"/>
                </a:solidFill>
              </a:rPr>
              <a:t>JMUX equipment 25+ yrs old. Faulty connectors, brittle fiber panels. Potential for unplanned outage during cutover.</a:t>
            </a:r>
          </a:p>
        </p:txBody>
      </p:sp>
      <p:sp>
        <p:nvSpPr>
          <p:cNvPr id="17" name="TextBox 16"/>
          <p:cNvSpPr txBox="1"/>
          <p:nvPr/>
        </p:nvSpPr>
        <p:spPr>
          <a:xfrm>
            <a:off x="365760" y="2212848"/>
            <a:ext cx="5212080" cy="347472"/>
          </a:xfrm>
          <a:prstGeom prst="rect">
            <a:avLst/>
          </a:prstGeom>
          <a:noFill/>
        </p:spPr>
        <p:txBody>
          <a:bodyPr wrap="square">
            <a:spAutoFit/>
          </a:bodyPr>
          <a:lstStyle/>
          <a:p>
            <a:pPr algn="l"/>
            <a:r>
              <a:rPr sz="900" b="0" i="1">
                <a:solidFill>
                  <a:srgbClr val="003387"/>
                </a:solidFill>
              </a:rPr>
              <a:t>Mitigation: Careful cutover planning; dedicated B&amp;McD on-site support. Phase 1 complete — risk reduced going into Ph2.</a:t>
            </a:r>
          </a:p>
        </p:txBody>
      </p:sp>
      <p:sp>
        <p:nvSpPr>
          <p:cNvPr id="18" name="Rectangle 17"/>
          <p:cNvSpPr/>
          <p:nvPr/>
        </p:nvSpPr>
        <p:spPr>
          <a:xfrm>
            <a:off x="274320" y="269748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269748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 y="2734056"/>
            <a:ext cx="914400" cy="274320"/>
          </a:xfrm>
          <a:prstGeom prst="rect">
            <a:avLst/>
          </a:prstGeom>
          <a:noFill/>
        </p:spPr>
        <p:txBody>
          <a:bodyPr wrap="square">
            <a:spAutoFit/>
          </a:bodyPr>
          <a:lstStyle/>
          <a:p>
            <a:pPr algn="ctr"/>
            <a:r>
              <a:rPr sz="1000" b="1" i="0">
                <a:solidFill>
                  <a:srgbClr val="FFFFFF"/>
                </a:solidFill>
              </a:rPr>
              <a:t>MEDIUM</a:t>
            </a:r>
          </a:p>
        </p:txBody>
      </p:sp>
      <p:sp>
        <p:nvSpPr>
          <p:cNvPr id="21" name="TextBox 20"/>
          <p:cNvSpPr txBox="1"/>
          <p:nvPr/>
        </p:nvSpPr>
        <p:spPr>
          <a:xfrm>
            <a:off x="1325880" y="2734056"/>
            <a:ext cx="4297680" cy="292608"/>
          </a:xfrm>
          <a:prstGeom prst="rect">
            <a:avLst/>
          </a:prstGeom>
          <a:noFill/>
        </p:spPr>
        <p:txBody>
          <a:bodyPr wrap="square">
            <a:spAutoFit/>
          </a:bodyPr>
          <a:lstStyle/>
          <a:p>
            <a:pPr algn="l"/>
            <a:r>
              <a:rPr sz="1100" b="1" i="0">
                <a:solidFill>
                  <a:srgbClr val="404040"/>
                </a:solidFill>
              </a:rPr>
              <a:t>Substation Access Delays</a:t>
            </a:r>
          </a:p>
        </p:txBody>
      </p:sp>
      <p:sp>
        <p:nvSpPr>
          <p:cNvPr id="22" name="TextBox 21"/>
          <p:cNvSpPr txBox="1"/>
          <p:nvPr/>
        </p:nvSpPr>
        <p:spPr>
          <a:xfrm>
            <a:off x="365760" y="3081528"/>
            <a:ext cx="5212080" cy="384048"/>
          </a:xfrm>
          <a:prstGeom prst="rect">
            <a:avLst/>
          </a:prstGeom>
          <a:noFill/>
        </p:spPr>
        <p:txBody>
          <a:bodyPr wrap="square">
            <a:spAutoFit/>
          </a:bodyPr>
          <a:lstStyle/>
          <a:p>
            <a:pPr algn="l"/>
            <a:r>
              <a:rPr sz="900" b="0" i="0">
                <a:solidFill>
                  <a:srgbClr val="404040"/>
                </a:solidFill>
              </a:rPr>
              <a:t>Weather, scheduling conflicts, or escort availability can delay field work.</a:t>
            </a:r>
          </a:p>
        </p:txBody>
      </p:sp>
      <p:sp>
        <p:nvSpPr>
          <p:cNvPr id="23" name="TextBox 22"/>
          <p:cNvSpPr txBox="1"/>
          <p:nvPr/>
        </p:nvSpPr>
        <p:spPr>
          <a:xfrm>
            <a:off x="365760" y="3447288"/>
            <a:ext cx="5212080" cy="347472"/>
          </a:xfrm>
          <a:prstGeom prst="rect">
            <a:avLst/>
          </a:prstGeom>
          <a:noFill/>
        </p:spPr>
        <p:txBody>
          <a:bodyPr wrap="square">
            <a:spAutoFit/>
          </a:bodyPr>
          <a:lstStyle/>
          <a:p>
            <a:pPr algn="l"/>
            <a:r>
              <a:rPr sz="900" b="0" i="1">
                <a:solidFill>
                  <a:srgbClr val="003387"/>
                </a:solidFill>
              </a:rPr>
              <a:t>Mitigation: Verify weekly before mobilizing. Adjust site plan if specific sites inaccessible.</a:t>
            </a:r>
          </a:p>
        </p:txBody>
      </p:sp>
      <p:sp>
        <p:nvSpPr>
          <p:cNvPr id="24" name="Rectangle 23"/>
          <p:cNvSpPr/>
          <p:nvPr/>
        </p:nvSpPr>
        <p:spPr>
          <a:xfrm>
            <a:off x="274320" y="3931920"/>
            <a:ext cx="54864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3931920"/>
            <a:ext cx="100584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92608" y="3968496"/>
            <a:ext cx="914400" cy="274320"/>
          </a:xfrm>
          <a:prstGeom prst="rect">
            <a:avLst/>
          </a:prstGeom>
          <a:noFill/>
        </p:spPr>
        <p:txBody>
          <a:bodyPr wrap="square">
            <a:spAutoFit/>
          </a:bodyPr>
          <a:lstStyle/>
          <a:p>
            <a:pPr algn="ctr"/>
            <a:r>
              <a:rPr sz="1000" b="1" i="0">
                <a:solidFill>
                  <a:srgbClr val="FFFFFF"/>
                </a:solidFill>
              </a:rPr>
              <a:t>MEDIUM</a:t>
            </a:r>
          </a:p>
        </p:txBody>
      </p:sp>
      <p:sp>
        <p:nvSpPr>
          <p:cNvPr id="27" name="TextBox 26"/>
          <p:cNvSpPr txBox="1"/>
          <p:nvPr/>
        </p:nvSpPr>
        <p:spPr>
          <a:xfrm>
            <a:off x="1325880" y="3968496"/>
            <a:ext cx="4297680" cy="292608"/>
          </a:xfrm>
          <a:prstGeom prst="rect">
            <a:avLst/>
          </a:prstGeom>
          <a:noFill/>
        </p:spPr>
        <p:txBody>
          <a:bodyPr wrap="square">
            <a:spAutoFit/>
          </a:bodyPr>
          <a:lstStyle/>
          <a:p>
            <a:pPr algn="l"/>
            <a:r>
              <a:rPr sz="1100" b="1" i="0">
                <a:solidFill>
                  <a:srgbClr val="404040"/>
                </a:solidFill>
              </a:rPr>
              <a:t>Phase 2 Schedule Slippage</a:t>
            </a:r>
          </a:p>
        </p:txBody>
      </p:sp>
      <p:sp>
        <p:nvSpPr>
          <p:cNvPr id="28" name="TextBox 27"/>
          <p:cNvSpPr txBox="1"/>
          <p:nvPr/>
        </p:nvSpPr>
        <p:spPr>
          <a:xfrm>
            <a:off x="365760" y="4315968"/>
            <a:ext cx="5212080" cy="384048"/>
          </a:xfrm>
          <a:prstGeom prst="rect">
            <a:avLst/>
          </a:prstGeom>
          <a:noFill/>
        </p:spPr>
        <p:txBody>
          <a:bodyPr wrap="square">
            <a:spAutoFit/>
          </a:bodyPr>
          <a:lstStyle/>
          <a:p>
            <a:pPr algn="l"/>
            <a:r>
              <a:rPr sz="900" b="0" i="0">
                <a:solidFill>
                  <a:srgbClr val="404040"/>
                </a:solidFill>
              </a:rPr>
              <a:t>IFR/IFC design cycle (4-wk IFR + 2-wk review + 2-wk IFC) leaves limited buffer.</a:t>
            </a:r>
          </a:p>
        </p:txBody>
      </p:sp>
      <p:sp>
        <p:nvSpPr>
          <p:cNvPr id="29" name="TextBox 28"/>
          <p:cNvSpPr txBox="1"/>
          <p:nvPr/>
        </p:nvSpPr>
        <p:spPr>
          <a:xfrm>
            <a:off x="365760" y="4681728"/>
            <a:ext cx="5212080" cy="347472"/>
          </a:xfrm>
          <a:prstGeom prst="rect">
            <a:avLst/>
          </a:prstGeom>
          <a:noFill/>
        </p:spPr>
        <p:txBody>
          <a:bodyPr wrap="square">
            <a:spAutoFit/>
          </a:bodyPr>
          <a:lstStyle/>
          <a:p>
            <a:pPr algn="l"/>
            <a:r>
              <a:rPr sz="900" b="0" i="1">
                <a:solidFill>
                  <a:srgbClr val="003387"/>
                </a:solidFill>
              </a:rPr>
              <a:t>Mitigation: Phase 2 surveys done early. B&amp;McD running concurrent site designs. Weekly status calls tracking.</a:t>
            </a:r>
          </a:p>
        </p:txBody>
      </p:sp>
      <p:sp>
        <p:nvSpPr>
          <p:cNvPr id="30" name="Rectangle 29"/>
          <p:cNvSpPr/>
          <p:nvPr/>
        </p:nvSpPr>
        <p:spPr>
          <a:xfrm>
            <a:off x="274320" y="5166360"/>
            <a:ext cx="54864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74320" y="5166360"/>
            <a:ext cx="100584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92608" y="5202936"/>
            <a:ext cx="914400" cy="274320"/>
          </a:xfrm>
          <a:prstGeom prst="rect">
            <a:avLst/>
          </a:prstGeom>
          <a:noFill/>
        </p:spPr>
        <p:txBody>
          <a:bodyPr wrap="square">
            <a:spAutoFit/>
          </a:bodyPr>
          <a:lstStyle/>
          <a:p>
            <a:pPr algn="ctr"/>
            <a:r>
              <a:rPr sz="1000" b="1" i="0">
                <a:solidFill>
                  <a:srgbClr val="00B050"/>
                </a:solidFill>
              </a:rPr>
              <a:t>RESOLVED</a:t>
            </a:r>
          </a:p>
        </p:txBody>
      </p:sp>
      <p:sp>
        <p:nvSpPr>
          <p:cNvPr id="33" name="TextBox 32"/>
          <p:cNvSpPr txBox="1"/>
          <p:nvPr/>
        </p:nvSpPr>
        <p:spPr>
          <a:xfrm>
            <a:off x="1325880" y="5202936"/>
            <a:ext cx="4297680" cy="292608"/>
          </a:xfrm>
          <a:prstGeom prst="rect">
            <a:avLst/>
          </a:prstGeom>
          <a:noFill/>
        </p:spPr>
        <p:txBody>
          <a:bodyPr wrap="square">
            <a:spAutoFit/>
          </a:bodyPr>
          <a:lstStyle/>
          <a:p>
            <a:pPr algn="l"/>
            <a:r>
              <a:rPr sz="1100" b="1" i="0">
                <a:solidFill>
                  <a:srgbClr val="404040"/>
                </a:solidFill>
              </a:rPr>
              <a:t>Crown Castle Fiber Issue (Hicksville)</a:t>
            </a:r>
          </a:p>
        </p:txBody>
      </p:sp>
      <p:sp>
        <p:nvSpPr>
          <p:cNvPr id="34" name="TextBox 33"/>
          <p:cNvSpPr txBox="1"/>
          <p:nvPr/>
        </p:nvSpPr>
        <p:spPr>
          <a:xfrm>
            <a:off x="365760" y="5550408"/>
            <a:ext cx="5212080" cy="384048"/>
          </a:xfrm>
          <a:prstGeom prst="rect">
            <a:avLst/>
          </a:prstGeom>
          <a:noFill/>
        </p:spPr>
        <p:txBody>
          <a:bodyPr wrap="square">
            <a:spAutoFit/>
          </a:bodyPr>
          <a:lstStyle/>
          <a:p>
            <a:pPr algn="l"/>
            <a:r>
              <a:rPr sz="900" b="0" i="0">
                <a:solidFill>
                  <a:srgbClr val="404040"/>
                </a:solidFill>
              </a:rPr>
              <a:t>Low dB levels on fiber — may be Crown Castle's network, not PSEG LI.</a:t>
            </a:r>
          </a:p>
        </p:txBody>
      </p:sp>
      <p:sp>
        <p:nvSpPr>
          <p:cNvPr id="35" name="TextBox 34"/>
          <p:cNvSpPr txBox="1"/>
          <p:nvPr/>
        </p:nvSpPr>
        <p:spPr>
          <a:xfrm>
            <a:off x="365760" y="5916168"/>
            <a:ext cx="5212080" cy="347472"/>
          </a:xfrm>
          <a:prstGeom prst="rect">
            <a:avLst/>
          </a:prstGeom>
          <a:noFill/>
        </p:spPr>
        <p:txBody>
          <a:bodyPr wrap="square">
            <a:spAutoFit/>
          </a:bodyPr>
          <a:lstStyle/>
          <a:p>
            <a:pPr algn="l"/>
            <a:r>
              <a:rPr sz="900" b="0" i="1">
                <a:solidFill>
                  <a:srgbClr val="00B050"/>
                </a:solidFill>
              </a:rPr>
              <a:t>RESOLVED ✅ — OTDR confirmed bad filter 03/09/2026. Issue cleared, no Crown Castle escalation needed.</a:t>
            </a:r>
          </a:p>
        </p:txBody>
      </p:sp>
      <p:sp>
        <p:nvSpPr>
          <p:cNvPr id="36" name="Rectangle 35"/>
          <p:cNvSpPr/>
          <p:nvPr/>
        </p:nvSpPr>
        <p:spPr>
          <a:xfrm>
            <a:off x="5943600" y="146304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5943600" y="146304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61888" y="1499616"/>
            <a:ext cx="1554480" cy="274320"/>
          </a:xfrm>
          <a:prstGeom prst="rect">
            <a:avLst/>
          </a:prstGeom>
          <a:noFill/>
        </p:spPr>
        <p:txBody>
          <a:bodyPr wrap="square">
            <a:spAutoFit/>
          </a:bodyPr>
          <a:lstStyle/>
          <a:p>
            <a:pPr algn="ctr"/>
            <a:r>
              <a:rPr sz="900" b="1" i="0">
                <a:solidFill>
                  <a:srgbClr val="00B050"/>
                </a:solidFill>
              </a:rPr>
              <a:t>COMPLETE ✅</a:t>
            </a:r>
          </a:p>
        </p:txBody>
      </p:sp>
      <p:sp>
        <p:nvSpPr>
          <p:cNvPr id="39" name="TextBox 38"/>
          <p:cNvSpPr txBox="1"/>
          <p:nvPr/>
        </p:nvSpPr>
        <p:spPr>
          <a:xfrm>
            <a:off x="7680960" y="1499616"/>
            <a:ext cx="4023360" cy="292608"/>
          </a:xfrm>
          <a:prstGeom prst="rect">
            <a:avLst/>
          </a:prstGeom>
          <a:noFill/>
        </p:spPr>
        <p:txBody>
          <a:bodyPr wrap="square">
            <a:spAutoFit/>
          </a:bodyPr>
          <a:lstStyle/>
          <a:p>
            <a:pPr algn="l"/>
            <a:r>
              <a:rPr sz="1100" b="1" i="0">
                <a:solidFill>
                  <a:srgbClr val="404040"/>
                </a:solidFill>
              </a:rPr>
              <a:t>Cat 6 Cabling — Hicksville NSP</a:t>
            </a:r>
          </a:p>
        </p:txBody>
      </p:sp>
      <p:sp>
        <p:nvSpPr>
          <p:cNvPr id="40" name="TextBox 39"/>
          <p:cNvSpPr txBox="1"/>
          <p:nvPr/>
        </p:nvSpPr>
        <p:spPr>
          <a:xfrm>
            <a:off x="6035040" y="1901952"/>
            <a:ext cx="5669280" cy="640080"/>
          </a:xfrm>
          <a:prstGeom prst="rect">
            <a:avLst/>
          </a:prstGeom>
          <a:noFill/>
        </p:spPr>
        <p:txBody>
          <a:bodyPr wrap="square">
            <a:spAutoFit/>
          </a:bodyPr>
          <a:lstStyle/>
          <a:p>
            <a:pPr algn="l"/>
            <a:r>
              <a:rPr sz="1000" b="0" i="0">
                <a:solidFill>
                  <a:srgbClr val="00B050"/>
                </a:solidFill>
              </a:rPr>
              <a:t>COMPLETE ✅ — Confirmed by Vinny (Hawkeye) 03/13/2026.</a:t>
            </a:r>
          </a:p>
        </p:txBody>
      </p:sp>
      <p:sp>
        <p:nvSpPr>
          <p:cNvPr id="41" name="Rectangle 40"/>
          <p:cNvSpPr/>
          <p:nvPr/>
        </p:nvSpPr>
        <p:spPr>
          <a:xfrm>
            <a:off x="5943600" y="2697480"/>
            <a:ext cx="5943600" cy="1143000"/>
          </a:xfrm>
          <a:prstGeom prst="rect">
            <a:avLst/>
          </a:prstGeom>
          <a:solidFill>
            <a:srgbClr val="FFFFFF"/>
          </a:solidFill>
          <a:ln w="2540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943600" y="2697480"/>
            <a:ext cx="1645920" cy="347472"/>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61888" y="2734056"/>
            <a:ext cx="1554480" cy="274320"/>
          </a:xfrm>
          <a:prstGeom prst="rect">
            <a:avLst/>
          </a:prstGeom>
          <a:noFill/>
        </p:spPr>
        <p:txBody>
          <a:bodyPr wrap="square">
            <a:spAutoFit/>
          </a:bodyPr>
          <a:lstStyle/>
          <a:p>
            <a:pPr algn="ctr"/>
            <a:r>
              <a:rPr sz="900" b="1" i="0" dirty="0">
                <a:solidFill>
                  <a:srgbClr val="00B050"/>
                </a:solidFill>
              </a:rPr>
              <a:t>COMPLETE ✅</a:t>
            </a:r>
          </a:p>
        </p:txBody>
      </p:sp>
      <p:sp>
        <p:nvSpPr>
          <p:cNvPr id="44" name="TextBox 43"/>
          <p:cNvSpPr txBox="1"/>
          <p:nvPr/>
        </p:nvSpPr>
        <p:spPr>
          <a:xfrm>
            <a:off x="7680960" y="2734056"/>
            <a:ext cx="4023360" cy="292608"/>
          </a:xfrm>
          <a:prstGeom prst="rect">
            <a:avLst/>
          </a:prstGeom>
          <a:noFill/>
        </p:spPr>
        <p:txBody>
          <a:bodyPr wrap="square">
            <a:spAutoFit/>
          </a:bodyPr>
          <a:lstStyle/>
          <a:p>
            <a:pPr algn="l"/>
            <a:r>
              <a:rPr sz="1100" b="1" i="0">
                <a:solidFill>
                  <a:srgbClr val="404040"/>
                </a:solidFill>
              </a:rPr>
              <a:t>OTDR Testing — Hicksville</a:t>
            </a:r>
          </a:p>
        </p:txBody>
      </p:sp>
      <p:sp>
        <p:nvSpPr>
          <p:cNvPr id="45" name="TextBox 44"/>
          <p:cNvSpPr txBox="1"/>
          <p:nvPr/>
        </p:nvSpPr>
        <p:spPr>
          <a:xfrm>
            <a:off x="6035040" y="3136392"/>
            <a:ext cx="5669280" cy="640080"/>
          </a:xfrm>
          <a:prstGeom prst="rect">
            <a:avLst/>
          </a:prstGeom>
          <a:noFill/>
        </p:spPr>
        <p:txBody>
          <a:bodyPr wrap="square">
            <a:spAutoFit/>
          </a:bodyPr>
          <a:lstStyle/>
          <a:p>
            <a:pPr algn="l"/>
            <a:r>
              <a:rPr sz="1000" b="0" i="0">
                <a:solidFill>
                  <a:srgbClr val="00B050"/>
                </a:solidFill>
              </a:rPr>
              <a:t>COMPLETE ✅ — 03/09/2026. Bad filter identified and resolved. Crown Castle fiber issue cleared.</a:t>
            </a:r>
          </a:p>
        </p:txBody>
      </p:sp>
      <p:sp>
        <p:nvSpPr>
          <p:cNvPr id="46" name="Rectangle 45"/>
          <p:cNvSpPr/>
          <p:nvPr/>
        </p:nvSpPr>
        <p:spPr>
          <a:xfrm>
            <a:off x="5943600" y="3931920"/>
            <a:ext cx="5943600" cy="1143000"/>
          </a:xfrm>
          <a:prstGeom prst="rect">
            <a:avLst/>
          </a:prstGeom>
          <a:solidFill>
            <a:srgbClr val="FFFFFF"/>
          </a:solidFill>
          <a:ln w="254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5943600" y="3931920"/>
            <a:ext cx="1645920" cy="347472"/>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61888" y="3968496"/>
            <a:ext cx="1554480" cy="274320"/>
          </a:xfrm>
          <a:prstGeom prst="rect">
            <a:avLst/>
          </a:prstGeom>
          <a:noFill/>
        </p:spPr>
        <p:txBody>
          <a:bodyPr wrap="square">
            <a:spAutoFit/>
          </a:bodyPr>
          <a:lstStyle/>
          <a:p>
            <a:pPr algn="ctr"/>
            <a:r>
              <a:rPr sz="900" b="1" i="0">
                <a:solidFill>
                  <a:srgbClr val="FFFFFF"/>
                </a:solidFill>
              </a:rPr>
              <a:t>IN PROGRESS</a:t>
            </a:r>
          </a:p>
        </p:txBody>
      </p:sp>
      <p:sp>
        <p:nvSpPr>
          <p:cNvPr id="49" name="TextBox 48"/>
          <p:cNvSpPr txBox="1"/>
          <p:nvPr/>
        </p:nvSpPr>
        <p:spPr>
          <a:xfrm>
            <a:off x="7680960" y="3968496"/>
            <a:ext cx="4023360" cy="292608"/>
          </a:xfrm>
          <a:prstGeom prst="rect">
            <a:avLst/>
          </a:prstGeom>
          <a:noFill/>
        </p:spPr>
        <p:txBody>
          <a:bodyPr wrap="square">
            <a:spAutoFit/>
          </a:bodyPr>
          <a:lstStyle/>
          <a:p>
            <a:pPr algn="l"/>
            <a:r>
              <a:rPr sz="1100" b="1" i="0">
                <a:solidFill>
                  <a:srgbClr val="404040"/>
                </a:solidFill>
              </a:rPr>
              <a:t>Remote Access — Phase 2 Nodes</a:t>
            </a:r>
          </a:p>
        </p:txBody>
      </p:sp>
      <p:sp>
        <p:nvSpPr>
          <p:cNvPr id="50" name="TextBox 49"/>
          <p:cNvSpPr txBox="1"/>
          <p:nvPr/>
        </p:nvSpPr>
        <p:spPr>
          <a:xfrm>
            <a:off x="6035040" y="4370832"/>
            <a:ext cx="5669280" cy="640080"/>
          </a:xfrm>
          <a:prstGeom prst="rect">
            <a:avLst/>
          </a:prstGeom>
          <a:noFill/>
        </p:spPr>
        <p:txBody>
          <a:bodyPr wrap="square">
            <a:spAutoFit/>
          </a:bodyPr>
          <a:lstStyle/>
          <a:p>
            <a:pPr algn="l"/>
            <a:r>
              <a:rPr sz="800" b="0" i="0">
                <a:solidFill>
                  <a:srgbClr val="F7941D"/>
                </a:solidFill>
              </a:rPr>
              <a:t>✅ BGP design APPROVED 03/16/2026. Lee Blackman to begin change documentation. 🔴 NSP software install is now critical path blocker — Nokia delivery timeline TBD. Phase 1 target: Jun 2026.</a:t>
            </a:r>
          </a:p>
        </p:txBody>
      </p:sp>
      <p:sp>
        <p:nvSpPr>
          <p:cNvPr id="51" name="Rectangle 50"/>
          <p:cNvSpPr/>
          <p:nvPr/>
        </p:nvSpPr>
        <p:spPr>
          <a:xfrm>
            <a:off x="5943600" y="5166360"/>
            <a:ext cx="5943600" cy="1143000"/>
          </a:xfrm>
          <a:prstGeom prst="rect">
            <a:avLst/>
          </a:prstGeom>
          <a:solidFill>
            <a:srgbClr val="FFFFFF"/>
          </a:solidFill>
          <a:ln w="2540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943600" y="5166360"/>
            <a:ext cx="1645920" cy="347472"/>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61888" y="5202936"/>
            <a:ext cx="1554480" cy="274320"/>
          </a:xfrm>
          <a:prstGeom prst="rect">
            <a:avLst/>
          </a:prstGeom>
          <a:noFill/>
        </p:spPr>
        <p:txBody>
          <a:bodyPr wrap="square">
            <a:spAutoFit/>
          </a:bodyPr>
          <a:lstStyle/>
          <a:p>
            <a:pPr algn="ctr"/>
            <a:r>
              <a:rPr sz="900" b="1" i="0">
                <a:solidFill>
                  <a:srgbClr val="FFFFFF"/>
                </a:solidFill>
              </a:rPr>
              <a:t>COMPLETE</a:t>
            </a:r>
          </a:p>
        </p:txBody>
      </p:sp>
      <p:sp>
        <p:nvSpPr>
          <p:cNvPr id="54" name="TextBox 53"/>
          <p:cNvSpPr txBox="1"/>
          <p:nvPr/>
        </p:nvSpPr>
        <p:spPr>
          <a:xfrm>
            <a:off x="7680960" y="5202936"/>
            <a:ext cx="4023360" cy="292608"/>
          </a:xfrm>
          <a:prstGeom prst="rect">
            <a:avLst/>
          </a:prstGeom>
          <a:noFill/>
        </p:spPr>
        <p:txBody>
          <a:bodyPr wrap="square">
            <a:spAutoFit/>
          </a:bodyPr>
          <a:lstStyle/>
          <a:p>
            <a:pPr algn="l"/>
            <a:r>
              <a:rPr sz="1100" b="1" i="0">
                <a:solidFill>
                  <a:srgbClr val="404040"/>
                </a:solidFill>
              </a:rPr>
              <a:t>Phase 2 SSP / Security Reviews</a:t>
            </a:r>
          </a:p>
        </p:txBody>
      </p:sp>
      <p:sp>
        <p:nvSpPr>
          <p:cNvPr id="55" name="TextBox 54"/>
          <p:cNvSpPr txBox="1"/>
          <p:nvPr/>
        </p:nvSpPr>
        <p:spPr>
          <a:xfrm>
            <a:off x="6035040" y="5605272"/>
            <a:ext cx="5669280" cy="640080"/>
          </a:xfrm>
          <a:prstGeom prst="rect">
            <a:avLst/>
          </a:prstGeom>
          <a:noFill/>
        </p:spPr>
        <p:txBody>
          <a:bodyPr wrap="square">
            <a:spAutoFit/>
          </a:bodyPr>
          <a:lstStyle/>
          <a:p>
            <a:pPr algn="l"/>
            <a:r>
              <a:rPr sz="1000" b="0" i="0">
                <a:solidFill>
                  <a:srgbClr val="404040"/>
                </a:solidFill>
              </a:rPr>
              <a:t>Architecture review, security assessment, compliance readiness all approved 2/10/2026.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1440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777240"/>
            <a:ext cx="12191695" cy="1097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109728"/>
            <a:ext cx="9144000" cy="594360"/>
          </a:xfrm>
          <a:prstGeom prst="rect">
            <a:avLst/>
          </a:prstGeom>
          <a:noFill/>
        </p:spPr>
        <p:txBody>
          <a:bodyPr wrap="square">
            <a:spAutoFit/>
          </a:bodyPr>
          <a:lstStyle/>
          <a:p>
            <a:pPr algn="l"/>
            <a:r>
              <a:rPr sz="2400" b="1" i="0">
                <a:solidFill>
                  <a:srgbClr val="FFFFFF"/>
                </a:solidFill>
              </a:rPr>
              <a:t>Next Steps &amp; Path to Completion</a:t>
            </a:r>
          </a:p>
        </p:txBody>
      </p:sp>
      <p:sp>
        <p:nvSpPr>
          <p:cNvPr id="5" name="TextBox 4"/>
          <p:cNvSpPr txBox="1"/>
          <p:nvPr/>
        </p:nvSpPr>
        <p:spPr>
          <a:xfrm>
            <a:off x="274320" y="548640"/>
            <a:ext cx="9144000" cy="320040"/>
          </a:xfrm>
          <a:prstGeom prst="rect">
            <a:avLst/>
          </a:prstGeom>
          <a:noFill/>
        </p:spPr>
        <p:txBody>
          <a:bodyPr wrap="square">
            <a:spAutoFit/>
          </a:bodyPr>
          <a:lstStyle/>
          <a:p>
            <a:pPr algn="l"/>
            <a:r>
              <a:rPr sz="1200" b="0" i="0">
                <a:solidFill>
                  <a:srgbClr val="F7941D"/>
                </a:solidFill>
              </a:rPr>
              <a:t>March 2026 — July 2027</a:t>
            </a:r>
          </a:p>
        </p:txBody>
      </p:sp>
      <p:sp>
        <p:nvSpPr>
          <p:cNvPr id="6" name="Rectangle 5"/>
          <p:cNvSpPr/>
          <p:nvPr/>
        </p:nvSpPr>
        <p:spPr>
          <a:xfrm>
            <a:off x="0" y="6583680"/>
            <a:ext cx="12191695" cy="274320"/>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6601968"/>
            <a:ext cx="10972800" cy="228600"/>
          </a:xfrm>
          <a:prstGeom prst="rect">
            <a:avLst/>
          </a:prstGeom>
          <a:noFill/>
        </p:spPr>
        <p:txBody>
          <a:bodyPr wrap="square">
            <a:spAutoFit/>
          </a:bodyPr>
          <a:lstStyle/>
          <a:p>
            <a:pPr algn="l"/>
            <a:r>
              <a:rPr sz="800" b="0" i="0">
                <a:solidFill>
                  <a:srgbClr val="FFFFFF"/>
                </a:solidFill>
              </a:rPr>
              <a:t>PSEG Long Island | JMUX Replacement Program | Confidential | March 2026</a:t>
            </a:r>
          </a:p>
        </p:txBody>
      </p:sp>
      <p:sp>
        <p:nvSpPr>
          <p:cNvPr id="8" name="Rectangle 7"/>
          <p:cNvSpPr/>
          <p:nvPr/>
        </p:nvSpPr>
        <p:spPr>
          <a:xfrm>
            <a:off x="274320" y="1051560"/>
            <a:ext cx="539496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52160" y="1051560"/>
            <a:ext cx="6035040" cy="5394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74320" y="1051560"/>
            <a:ext cx="539496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078992"/>
            <a:ext cx="5212080" cy="320040"/>
          </a:xfrm>
          <a:prstGeom prst="rect">
            <a:avLst/>
          </a:prstGeom>
          <a:noFill/>
        </p:spPr>
        <p:txBody>
          <a:bodyPr wrap="square">
            <a:spAutoFit/>
          </a:bodyPr>
          <a:lstStyle/>
          <a:p>
            <a:pPr algn="l"/>
            <a:r>
              <a:rPr sz="1200" b="1" i="0">
                <a:solidFill>
                  <a:srgbClr val="FFFFFF"/>
                </a:solidFill>
              </a:rPr>
              <a:t>IMMEDIATE (Next 30 Days)</a:t>
            </a:r>
          </a:p>
        </p:txBody>
      </p:sp>
      <p:sp>
        <p:nvSpPr>
          <p:cNvPr id="12" name="Rectangle 11"/>
          <p:cNvSpPr/>
          <p:nvPr/>
        </p:nvSpPr>
        <p:spPr>
          <a:xfrm>
            <a:off x="320040" y="153619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8328" y="1591056"/>
            <a:ext cx="960120" cy="320040"/>
          </a:xfrm>
          <a:prstGeom prst="rect">
            <a:avLst/>
          </a:prstGeom>
          <a:noFill/>
        </p:spPr>
        <p:txBody>
          <a:bodyPr wrap="square">
            <a:spAutoFit/>
          </a:bodyPr>
          <a:lstStyle/>
          <a:p>
            <a:pPr algn="ctr"/>
            <a:r>
              <a:rPr sz="900" b="1" i="0">
                <a:solidFill>
                  <a:srgbClr val="FFFFFF"/>
                </a:solidFill>
              </a:rPr>
              <a:t>Mar 16</a:t>
            </a:r>
          </a:p>
        </p:txBody>
      </p:sp>
      <p:sp>
        <p:nvSpPr>
          <p:cNvPr id="14" name="TextBox 13"/>
          <p:cNvSpPr txBox="1"/>
          <p:nvPr/>
        </p:nvSpPr>
        <p:spPr>
          <a:xfrm>
            <a:off x="1417320" y="1591056"/>
            <a:ext cx="4114800" cy="246221"/>
          </a:xfrm>
          <a:prstGeom prst="rect">
            <a:avLst/>
          </a:prstGeom>
          <a:noFill/>
        </p:spPr>
        <p:txBody>
          <a:bodyPr wrap="square">
            <a:spAutoFit/>
          </a:bodyPr>
          <a:lstStyle/>
          <a:p>
            <a:pPr algn="l"/>
            <a:r>
              <a:rPr lang="en-US" sz="1000" b="0" i="0" dirty="0">
                <a:solidFill>
                  <a:srgbClr val="28A745"/>
                </a:solidFill>
              </a:rPr>
              <a:t>✅ BGP design approved 3/16 — Lee Blackman to proceed with Melville &amp; Hicksville change documentation</a:t>
            </a:r>
            <a:endParaRPr sz="1000" b="0" i="0" dirty="0">
              <a:solidFill>
                <a:srgbClr val="404040"/>
              </a:solidFill>
            </a:endParaRPr>
          </a:p>
        </p:txBody>
      </p:sp>
      <p:sp>
        <p:nvSpPr>
          <p:cNvPr id="15" name="Rectangle 14"/>
          <p:cNvSpPr/>
          <p:nvPr/>
        </p:nvSpPr>
        <p:spPr>
          <a:xfrm>
            <a:off x="320040" y="2103120"/>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2157984"/>
            <a:ext cx="960120" cy="320040"/>
          </a:xfrm>
          <a:prstGeom prst="rect">
            <a:avLst/>
          </a:prstGeom>
          <a:noFill/>
        </p:spPr>
        <p:txBody>
          <a:bodyPr wrap="square">
            <a:spAutoFit/>
          </a:bodyPr>
          <a:lstStyle/>
          <a:p>
            <a:pPr algn="ctr"/>
            <a:r>
              <a:rPr sz="900" b="1" i="0">
                <a:solidFill>
                  <a:srgbClr val="FFFFFF"/>
                </a:solidFill>
              </a:rPr>
              <a:t>Mar 16</a:t>
            </a:r>
          </a:p>
        </p:txBody>
      </p:sp>
      <p:sp>
        <p:nvSpPr>
          <p:cNvPr id="18" name="Rectangle 17"/>
          <p:cNvSpPr/>
          <p:nvPr/>
        </p:nvSpPr>
        <p:spPr>
          <a:xfrm>
            <a:off x="320040" y="2670048"/>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8328" y="2724912"/>
            <a:ext cx="960120" cy="320040"/>
          </a:xfrm>
          <a:prstGeom prst="rect">
            <a:avLst/>
          </a:prstGeom>
          <a:noFill/>
        </p:spPr>
        <p:txBody>
          <a:bodyPr wrap="square">
            <a:spAutoFit/>
          </a:bodyPr>
          <a:lstStyle/>
          <a:p>
            <a:pPr algn="ctr"/>
            <a:r>
              <a:rPr sz="900" b="1" i="0">
                <a:solidFill>
                  <a:srgbClr val="FFFFFF"/>
                </a:solidFill>
              </a:rPr>
              <a:t>Mar 2026</a:t>
            </a:r>
          </a:p>
        </p:txBody>
      </p:sp>
      <p:sp>
        <p:nvSpPr>
          <p:cNvPr id="20" name="TextBox 19"/>
          <p:cNvSpPr txBox="1"/>
          <p:nvPr/>
        </p:nvSpPr>
        <p:spPr>
          <a:xfrm>
            <a:off x="1431036" y="2157984"/>
            <a:ext cx="4114800" cy="384048"/>
          </a:xfrm>
          <a:prstGeom prst="rect">
            <a:avLst/>
          </a:prstGeom>
          <a:noFill/>
        </p:spPr>
        <p:txBody>
          <a:bodyPr wrap="square">
            <a:spAutoFit/>
          </a:bodyPr>
          <a:lstStyle/>
          <a:p>
            <a:pPr algn="l"/>
            <a:r>
              <a:rPr sz="1000" b="0" i="0">
                <a:solidFill>
                  <a:srgbClr val="F7941D"/>
                </a:solidFill>
              </a:rPr>
              <a:t>BGP approved ✅ → Change docs → NSP install (critical path) → Remote BGP config 31 sites → App cutovers → RTU cutovers</a:t>
            </a:r>
          </a:p>
        </p:txBody>
      </p:sp>
      <p:sp>
        <p:nvSpPr>
          <p:cNvPr id="21" name="Rectangle 20"/>
          <p:cNvSpPr/>
          <p:nvPr/>
        </p:nvSpPr>
        <p:spPr>
          <a:xfrm>
            <a:off x="320040" y="3236976"/>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38328" y="3291840"/>
            <a:ext cx="960120" cy="320040"/>
          </a:xfrm>
          <a:prstGeom prst="rect">
            <a:avLst/>
          </a:prstGeom>
          <a:noFill/>
        </p:spPr>
        <p:txBody>
          <a:bodyPr wrap="square">
            <a:spAutoFit/>
          </a:bodyPr>
          <a:lstStyle/>
          <a:p>
            <a:pPr algn="ctr"/>
            <a:r>
              <a:rPr sz="900" b="1" i="0">
                <a:solidFill>
                  <a:srgbClr val="FFFFFF"/>
                </a:solidFill>
              </a:rPr>
              <a:t>Mar 2026</a:t>
            </a:r>
          </a:p>
        </p:txBody>
      </p:sp>
      <p:sp>
        <p:nvSpPr>
          <p:cNvPr id="23" name="TextBox 22"/>
          <p:cNvSpPr txBox="1"/>
          <p:nvPr/>
        </p:nvSpPr>
        <p:spPr>
          <a:xfrm>
            <a:off x="1431036" y="2724912"/>
            <a:ext cx="4114800" cy="384048"/>
          </a:xfrm>
          <a:prstGeom prst="rect">
            <a:avLst/>
          </a:prstGeom>
          <a:noFill/>
        </p:spPr>
        <p:txBody>
          <a:bodyPr wrap="square">
            <a:spAutoFit/>
          </a:bodyPr>
          <a:lstStyle/>
          <a:p>
            <a:pPr algn="l"/>
            <a:r>
              <a:rPr sz="1000" b="0" i="0">
                <a:solidFill>
                  <a:srgbClr val="00B050"/>
                </a:solidFill>
              </a:rPr>
              <a:t>Wave 1 IFRs (Far Rockaway, Valley Stream, Cedarhurst) — COMPLETE ✅ Converted to IFC &amp; uploaded to shared drive</a:t>
            </a:r>
          </a:p>
        </p:txBody>
      </p:sp>
      <p:sp>
        <p:nvSpPr>
          <p:cNvPr id="24" name="Rectangle 23"/>
          <p:cNvSpPr/>
          <p:nvPr/>
        </p:nvSpPr>
        <p:spPr>
          <a:xfrm>
            <a:off x="320040" y="3803904"/>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8328" y="3858768"/>
            <a:ext cx="960120" cy="320040"/>
          </a:xfrm>
          <a:prstGeom prst="rect">
            <a:avLst/>
          </a:prstGeom>
          <a:noFill/>
        </p:spPr>
        <p:txBody>
          <a:bodyPr wrap="square">
            <a:spAutoFit/>
          </a:bodyPr>
          <a:lstStyle/>
          <a:p>
            <a:pPr algn="ctr"/>
            <a:r>
              <a:rPr sz="900" b="1" i="0">
                <a:solidFill>
                  <a:srgbClr val="FFFFFF"/>
                </a:solidFill>
              </a:rPr>
              <a:t>Mar 9</a:t>
            </a:r>
          </a:p>
        </p:txBody>
      </p:sp>
      <p:sp>
        <p:nvSpPr>
          <p:cNvPr id="26" name="TextBox 25"/>
          <p:cNvSpPr txBox="1"/>
          <p:nvPr/>
        </p:nvSpPr>
        <p:spPr>
          <a:xfrm>
            <a:off x="1431036" y="3291840"/>
            <a:ext cx="4114800" cy="384048"/>
          </a:xfrm>
          <a:prstGeom prst="rect">
            <a:avLst/>
          </a:prstGeom>
          <a:noFill/>
        </p:spPr>
        <p:txBody>
          <a:bodyPr wrap="square">
            <a:spAutoFit/>
          </a:bodyPr>
          <a:lstStyle/>
          <a:p>
            <a:pPr algn="l"/>
            <a:r>
              <a:rPr sz="1000" b="0" i="0">
                <a:solidFill>
                  <a:srgbClr val="00B050"/>
                </a:solidFill>
              </a:rPr>
              <a:t>Wave 1 IFC approved by PSEG LI ✅ — Wave 2 IFR packages in progress</a:t>
            </a:r>
          </a:p>
        </p:txBody>
      </p:sp>
      <p:sp>
        <p:nvSpPr>
          <p:cNvPr id="27" name="Rectangle 26"/>
          <p:cNvSpPr/>
          <p:nvPr/>
        </p:nvSpPr>
        <p:spPr>
          <a:xfrm>
            <a:off x="320040" y="4370832"/>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38328" y="4425696"/>
            <a:ext cx="960120" cy="320040"/>
          </a:xfrm>
          <a:prstGeom prst="rect">
            <a:avLst/>
          </a:prstGeom>
          <a:noFill/>
        </p:spPr>
        <p:txBody>
          <a:bodyPr wrap="square">
            <a:spAutoFit/>
          </a:bodyPr>
          <a:lstStyle/>
          <a:p>
            <a:pPr algn="ctr"/>
            <a:r>
              <a:rPr sz="900" b="1" i="0">
                <a:solidFill>
                  <a:srgbClr val="FFFFFF"/>
                </a:solidFill>
              </a:rPr>
              <a:t>Mar 23</a:t>
            </a:r>
          </a:p>
        </p:txBody>
      </p:sp>
      <p:sp>
        <p:nvSpPr>
          <p:cNvPr id="29" name="TextBox 28"/>
          <p:cNvSpPr txBox="1"/>
          <p:nvPr/>
        </p:nvSpPr>
        <p:spPr>
          <a:xfrm>
            <a:off x="1431036" y="3858768"/>
            <a:ext cx="4114800" cy="384048"/>
          </a:xfrm>
          <a:prstGeom prst="rect">
            <a:avLst/>
          </a:prstGeom>
          <a:noFill/>
        </p:spPr>
        <p:txBody>
          <a:bodyPr wrap="square">
            <a:spAutoFit/>
          </a:bodyPr>
          <a:lstStyle/>
          <a:p>
            <a:pPr algn="l"/>
            <a:r>
              <a:rPr sz="1000" b="0" i="0">
                <a:solidFill>
                  <a:srgbClr val="00B050"/>
                </a:solidFill>
              </a:rPr>
              <a:t>✅ Wave 1 IFC complete — Far Rockaway, Valley Stream, Cedarhurst approved &amp; uploaded</a:t>
            </a:r>
          </a:p>
        </p:txBody>
      </p:sp>
      <p:sp>
        <p:nvSpPr>
          <p:cNvPr id="30" name="Rectangle 29"/>
          <p:cNvSpPr/>
          <p:nvPr/>
        </p:nvSpPr>
        <p:spPr>
          <a:xfrm>
            <a:off x="320040" y="4937759"/>
            <a:ext cx="1005840" cy="438912"/>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38328" y="4992623"/>
            <a:ext cx="960120" cy="320040"/>
          </a:xfrm>
          <a:prstGeom prst="rect">
            <a:avLst/>
          </a:prstGeom>
          <a:noFill/>
        </p:spPr>
        <p:txBody>
          <a:bodyPr wrap="square">
            <a:spAutoFit/>
          </a:bodyPr>
          <a:lstStyle/>
          <a:p>
            <a:pPr algn="ctr"/>
            <a:r>
              <a:rPr sz="900" b="1" i="0">
                <a:solidFill>
                  <a:srgbClr val="FFFFFF"/>
                </a:solidFill>
              </a:rPr>
              <a:t>Ongoing</a:t>
            </a:r>
          </a:p>
        </p:txBody>
      </p:sp>
      <p:sp>
        <p:nvSpPr>
          <p:cNvPr id="32" name="TextBox 31"/>
          <p:cNvSpPr txBox="1"/>
          <p:nvPr/>
        </p:nvSpPr>
        <p:spPr>
          <a:xfrm>
            <a:off x="1431036" y="4425695"/>
            <a:ext cx="4114800" cy="384048"/>
          </a:xfrm>
          <a:prstGeom prst="rect">
            <a:avLst/>
          </a:prstGeom>
          <a:noFill/>
        </p:spPr>
        <p:txBody>
          <a:bodyPr wrap="square">
            <a:spAutoFit/>
          </a:bodyPr>
          <a:lstStyle/>
          <a:p>
            <a:pPr algn="l"/>
            <a:r>
              <a:rPr sz="1000" b="0" i="0">
                <a:solidFill>
                  <a:srgbClr val="404040"/>
                </a:solidFill>
              </a:rPr>
              <a:t>Weekly status calls with B&amp;McD; monthly schedule updates</a:t>
            </a:r>
          </a:p>
        </p:txBody>
      </p:sp>
      <p:sp>
        <p:nvSpPr>
          <p:cNvPr id="33" name="Rectangle 32"/>
          <p:cNvSpPr/>
          <p:nvPr/>
        </p:nvSpPr>
        <p:spPr>
          <a:xfrm>
            <a:off x="5852160" y="1051560"/>
            <a:ext cx="6035040" cy="38404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43600" y="1078992"/>
            <a:ext cx="5852160" cy="320040"/>
          </a:xfrm>
          <a:prstGeom prst="rect">
            <a:avLst/>
          </a:prstGeom>
          <a:noFill/>
        </p:spPr>
        <p:txBody>
          <a:bodyPr wrap="square">
            <a:spAutoFit/>
          </a:bodyPr>
          <a:lstStyle/>
          <a:p>
            <a:pPr algn="l"/>
            <a:r>
              <a:rPr sz="1200" b="1" i="0">
                <a:solidFill>
                  <a:srgbClr val="FFFFFF"/>
                </a:solidFill>
              </a:rPr>
              <a:t>PATH TO COMPLETION</a:t>
            </a:r>
          </a:p>
        </p:txBody>
      </p:sp>
      <p:sp>
        <p:nvSpPr>
          <p:cNvPr id="35" name="Rectangle 34"/>
          <p:cNvSpPr/>
          <p:nvPr/>
        </p:nvSpPr>
        <p:spPr>
          <a:xfrm>
            <a:off x="5897880" y="1536192"/>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897880" y="1536192"/>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916168" y="1645919"/>
            <a:ext cx="1325880" cy="347472"/>
          </a:xfrm>
          <a:prstGeom prst="rect">
            <a:avLst/>
          </a:prstGeom>
          <a:noFill/>
        </p:spPr>
        <p:txBody>
          <a:bodyPr wrap="square">
            <a:spAutoFit/>
          </a:bodyPr>
          <a:lstStyle/>
          <a:p>
            <a:pPr algn="ctr"/>
            <a:r>
              <a:rPr sz="1000" b="1" i="0">
                <a:solidFill>
                  <a:srgbClr val="FFFFFF"/>
                </a:solidFill>
              </a:rPr>
              <a:t>Q1 2026</a:t>
            </a:r>
          </a:p>
        </p:txBody>
      </p:sp>
      <p:sp>
        <p:nvSpPr>
          <p:cNvPr id="38" name="TextBox 37"/>
          <p:cNvSpPr txBox="1"/>
          <p:nvPr/>
        </p:nvSpPr>
        <p:spPr>
          <a:xfrm>
            <a:off x="7360920" y="1645919"/>
            <a:ext cx="4343400" cy="347472"/>
          </a:xfrm>
          <a:prstGeom prst="rect">
            <a:avLst/>
          </a:prstGeom>
          <a:noFill/>
        </p:spPr>
        <p:txBody>
          <a:bodyPr wrap="square">
            <a:spAutoFit/>
          </a:bodyPr>
          <a:lstStyle/>
          <a:p>
            <a:pPr algn="l"/>
            <a:r>
              <a:rPr sz="1100" b="0" i="0">
                <a:solidFill>
                  <a:srgbClr val="F7941D"/>
                </a:solidFill>
              </a:rPr>
              <a:t>Phase 1 Operational (Jun 2026)* | Phase 2 IFR/IFC design underway</a:t>
            </a:r>
          </a:p>
        </p:txBody>
      </p:sp>
      <p:sp>
        <p:nvSpPr>
          <p:cNvPr id="39" name="Rectangle 38"/>
          <p:cNvSpPr/>
          <p:nvPr/>
        </p:nvSpPr>
        <p:spPr>
          <a:xfrm>
            <a:off x="5897880" y="2194560"/>
            <a:ext cx="5897880" cy="566928"/>
          </a:xfrm>
          <a:prstGeom prst="rect">
            <a:avLst/>
          </a:prstGeom>
          <a:solidFill>
            <a:srgbClr val="FFFFFF"/>
          </a:solidFill>
          <a:ln w="19050">
            <a:solidFill>
              <a:srgbClr val="F7941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5897880" y="2194560"/>
            <a:ext cx="1371600" cy="566928"/>
          </a:xfrm>
          <a:prstGeom prst="rect">
            <a:avLst/>
          </a:prstGeom>
          <a:solidFill>
            <a:srgbClr val="F79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16168" y="2304288"/>
            <a:ext cx="1325880" cy="347472"/>
          </a:xfrm>
          <a:prstGeom prst="rect">
            <a:avLst/>
          </a:prstGeom>
          <a:noFill/>
        </p:spPr>
        <p:txBody>
          <a:bodyPr wrap="square">
            <a:spAutoFit/>
          </a:bodyPr>
          <a:lstStyle/>
          <a:p>
            <a:pPr algn="ctr"/>
            <a:r>
              <a:rPr sz="1000" b="1" i="0">
                <a:solidFill>
                  <a:srgbClr val="FFFFFF"/>
                </a:solidFill>
              </a:rPr>
              <a:t>Q2 2026</a:t>
            </a:r>
          </a:p>
        </p:txBody>
      </p:sp>
      <p:sp>
        <p:nvSpPr>
          <p:cNvPr id="42" name="TextBox 41"/>
          <p:cNvSpPr txBox="1"/>
          <p:nvPr/>
        </p:nvSpPr>
        <p:spPr>
          <a:xfrm>
            <a:off x="7360920" y="2304288"/>
            <a:ext cx="4343400" cy="347472"/>
          </a:xfrm>
          <a:prstGeom prst="rect">
            <a:avLst/>
          </a:prstGeom>
          <a:noFill/>
        </p:spPr>
        <p:txBody>
          <a:bodyPr wrap="square">
            <a:spAutoFit/>
          </a:bodyPr>
          <a:lstStyle/>
          <a:p>
            <a:pPr algn="l"/>
            <a:r>
              <a:rPr sz="1100" b="0" i="0">
                <a:solidFill>
                  <a:srgbClr val="404040"/>
                </a:solidFill>
              </a:rPr>
              <a:t>Phase 2 IFC completion (all 36 sites)</a:t>
            </a:r>
          </a:p>
        </p:txBody>
      </p:sp>
      <p:sp>
        <p:nvSpPr>
          <p:cNvPr id="43" name="Rectangle 42"/>
          <p:cNvSpPr/>
          <p:nvPr/>
        </p:nvSpPr>
        <p:spPr>
          <a:xfrm>
            <a:off x="5897880" y="2852928"/>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5897880" y="2852928"/>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916168" y="2962656"/>
            <a:ext cx="1325880" cy="347472"/>
          </a:xfrm>
          <a:prstGeom prst="rect">
            <a:avLst/>
          </a:prstGeom>
          <a:noFill/>
        </p:spPr>
        <p:txBody>
          <a:bodyPr wrap="square">
            <a:spAutoFit/>
          </a:bodyPr>
          <a:lstStyle/>
          <a:p>
            <a:pPr algn="ctr"/>
            <a:r>
              <a:rPr sz="1000" b="1" i="0">
                <a:solidFill>
                  <a:srgbClr val="FFFFFF"/>
                </a:solidFill>
              </a:rPr>
              <a:t>Q2–Q3 2026</a:t>
            </a:r>
          </a:p>
        </p:txBody>
      </p:sp>
      <p:sp>
        <p:nvSpPr>
          <p:cNvPr id="46" name="TextBox 45"/>
          <p:cNvSpPr txBox="1"/>
          <p:nvPr/>
        </p:nvSpPr>
        <p:spPr>
          <a:xfrm>
            <a:off x="7360920" y="2962656"/>
            <a:ext cx="4343400" cy="347472"/>
          </a:xfrm>
          <a:prstGeom prst="rect">
            <a:avLst/>
          </a:prstGeom>
          <a:noFill/>
        </p:spPr>
        <p:txBody>
          <a:bodyPr wrap="square">
            <a:spAutoFit/>
          </a:bodyPr>
          <a:lstStyle/>
          <a:p>
            <a:pPr algn="l"/>
            <a:r>
              <a:rPr sz="1100" b="0" i="0">
                <a:solidFill>
                  <a:srgbClr val="404040"/>
                </a:solidFill>
              </a:rPr>
              <a:t>Phase 2 construction mobilization</a:t>
            </a:r>
          </a:p>
        </p:txBody>
      </p:sp>
      <p:sp>
        <p:nvSpPr>
          <p:cNvPr id="47" name="Rectangle 46"/>
          <p:cNvSpPr/>
          <p:nvPr/>
        </p:nvSpPr>
        <p:spPr>
          <a:xfrm>
            <a:off x="5897880" y="3511296"/>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897880" y="3511296"/>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916168" y="3621024"/>
            <a:ext cx="1325880" cy="347472"/>
          </a:xfrm>
          <a:prstGeom prst="rect">
            <a:avLst/>
          </a:prstGeom>
          <a:noFill/>
        </p:spPr>
        <p:txBody>
          <a:bodyPr wrap="square">
            <a:spAutoFit/>
          </a:bodyPr>
          <a:lstStyle/>
          <a:p>
            <a:pPr algn="ctr"/>
            <a:r>
              <a:rPr sz="1000" b="1" i="0">
                <a:solidFill>
                  <a:srgbClr val="FFFFFF"/>
                </a:solidFill>
              </a:rPr>
              <a:t>Q3–Q4 2026</a:t>
            </a:r>
          </a:p>
        </p:txBody>
      </p:sp>
      <p:sp>
        <p:nvSpPr>
          <p:cNvPr id="50" name="TextBox 49"/>
          <p:cNvSpPr txBox="1"/>
          <p:nvPr/>
        </p:nvSpPr>
        <p:spPr>
          <a:xfrm>
            <a:off x="7360920" y="3621024"/>
            <a:ext cx="4343400" cy="347472"/>
          </a:xfrm>
          <a:prstGeom prst="rect">
            <a:avLst/>
          </a:prstGeom>
          <a:noFill/>
        </p:spPr>
        <p:txBody>
          <a:bodyPr wrap="square">
            <a:spAutoFit/>
          </a:bodyPr>
          <a:lstStyle/>
          <a:p>
            <a:pPr algn="l"/>
            <a:r>
              <a:rPr sz="1100" b="0" i="0">
                <a:solidFill>
                  <a:srgbClr val="404040"/>
                </a:solidFill>
              </a:rPr>
              <a:t>Phase 2 installations at all 36 sites</a:t>
            </a:r>
          </a:p>
        </p:txBody>
      </p:sp>
      <p:sp>
        <p:nvSpPr>
          <p:cNvPr id="51" name="Rectangle 50"/>
          <p:cNvSpPr/>
          <p:nvPr/>
        </p:nvSpPr>
        <p:spPr>
          <a:xfrm>
            <a:off x="5897880" y="4169663"/>
            <a:ext cx="5897880" cy="566928"/>
          </a:xfrm>
          <a:prstGeom prst="rect">
            <a:avLst/>
          </a:prstGeom>
          <a:solidFill>
            <a:srgbClr val="FFFFFF"/>
          </a:solidFill>
          <a:ln w="19050">
            <a:solidFill>
              <a:srgbClr val="0033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97880" y="4169663"/>
            <a:ext cx="1371600" cy="566928"/>
          </a:xfrm>
          <a:prstGeom prst="rect">
            <a:avLst/>
          </a:prstGeom>
          <a:solidFill>
            <a:srgbClr val="0033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16168" y="4279392"/>
            <a:ext cx="1325880" cy="347472"/>
          </a:xfrm>
          <a:prstGeom prst="rect">
            <a:avLst/>
          </a:prstGeom>
          <a:noFill/>
        </p:spPr>
        <p:txBody>
          <a:bodyPr wrap="square">
            <a:spAutoFit/>
          </a:bodyPr>
          <a:lstStyle/>
          <a:p>
            <a:pPr algn="ctr"/>
            <a:r>
              <a:rPr sz="1000" b="1" i="0">
                <a:solidFill>
                  <a:srgbClr val="FFFFFF"/>
                </a:solidFill>
              </a:rPr>
              <a:t>Q4 2026</a:t>
            </a:r>
          </a:p>
        </p:txBody>
      </p:sp>
      <p:sp>
        <p:nvSpPr>
          <p:cNvPr id="54" name="TextBox 53"/>
          <p:cNvSpPr txBox="1"/>
          <p:nvPr/>
        </p:nvSpPr>
        <p:spPr>
          <a:xfrm>
            <a:off x="7360920" y="4279392"/>
            <a:ext cx="4343400" cy="347472"/>
          </a:xfrm>
          <a:prstGeom prst="rect">
            <a:avLst/>
          </a:prstGeom>
          <a:noFill/>
        </p:spPr>
        <p:txBody>
          <a:bodyPr wrap="square">
            <a:spAutoFit/>
          </a:bodyPr>
          <a:lstStyle/>
          <a:p>
            <a:pPr algn="l"/>
            <a:r>
              <a:rPr sz="1100" b="0" i="0">
                <a:solidFill>
                  <a:srgbClr val="404040"/>
                </a:solidFill>
              </a:rPr>
              <a:t>Phase 2 cutovers — Waves 3 &amp; 4</a:t>
            </a:r>
          </a:p>
        </p:txBody>
      </p:sp>
      <p:sp>
        <p:nvSpPr>
          <p:cNvPr id="55" name="Rectangle 54"/>
          <p:cNvSpPr/>
          <p:nvPr/>
        </p:nvSpPr>
        <p:spPr>
          <a:xfrm>
            <a:off x="5897880" y="4828031"/>
            <a:ext cx="5897880" cy="566928"/>
          </a:xfrm>
          <a:prstGeom prst="rect">
            <a:avLst/>
          </a:prstGeom>
          <a:solidFill>
            <a:srgbClr val="FFFFFF"/>
          </a:solid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5897880" y="4828031"/>
            <a:ext cx="1371600" cy="5669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16168" y="4937759"/>
            <a:ext cx="1325880" cy="347472"/>
          </a:xfrm>
          <a:prstGeom prst="rect">
            <a:avLst/>
          </a:prstGeom>
          <a:noFill/>
        </p:spPr>
        <p:txBody>
          <a:bodyPr wrap="square">
            <a:spAutoFit/>
          </a:bodyPr>
          <a:lstStyle/>
          <a:p>
            <a:pPr algn="ctr"/>
            <a:r>
              <a:rPr sz="1000" b="1" i="0">
                <a:solidFill>
                  <a:srgbClr val="FFFFFF"/>
                </a:solidFill>
              </a:rPr>
              <a:t>Q1 2027</a:t>
            </a:r>
          </a:p>
        </p:txBody>
      </p:sp>
      <p:sp>
        <p:nvSpPr>
          <p:cNvPr id="58" name="TextBox 57"/>
          <p:cNvSpPr txBox="1"/>
          <p:nvPr/>
        </p:nvSpPr>
        <p:spPr>
          <a:xfrm>
            <a:off x="7360920" y="4937759"/>
            <a:ext cx="4343400" cy="347472"/>
          </a:xfrm>
          <a:prstGeom prst="rect">
            <a:avLst/>
          </a:prstGeom>
          <a:noFill/>
        </p:spPr>
        <p:txBody>
          <a:bodyPr wrap="square">
            <a:spAutoFit/>
          </a:bodyPr>
          <a:lstStyle/>
          <a:p>
            <a:pPr algn="l"/>
            <a:r>
              <a:rPr sz="1100" b="0" i="0">
                <a:solidFill>
                  <a:srgbClr val="404040"/>
                </a:solidFill>
              </a:rPr>
              <a:t>As-built documentation complete</a:t>
            </a:r>
          </a:p>
        </p:txBody>
      </p:sp>
      <p:sp>
        <p:nvSpPr>
          <p:cNvPr id="59" name="Rectangle 58"/>
          <p:cNvSpPr/>
          <p:nvPr/>
        </p:nvSpPr>
        <p:spPr>
          <a:xfrm>
            <a:off x="5897880" y="5486400"/>
            <a:ext cx="5897880" cy="566928"/>
          </a:xfrm>
          <a:prstGeom prst="rect">
            <a:avLst/>
          </a:prstGeom>
          <a:solidFill>
            <a:srgbClr val="FFFFFF"/>
          </a:solidFill>
          <a:ln w="19050">
            <a:solidFill>
              <a:srgbClr val="008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5897880" y="5486400"/>
            <a:ext cx="1371600" cy="56692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916168" y="5596128"/>
            <a:ext cx="1325880" cy="347472"/>
          </a:xfrm>
          <a:prstGeom prst="rect">
            <a:avLst/>
          </a:prstGeom>
          <a:noFill/>
        </p:spPr>
        <p:txBody>
          <a:bodyPr wrap="square">
            <a:spAutoFit/>
          </a:bodyPr>
          <a:lstStyle/>
          <a:p>
            <a:pPr algn="ctr"/>
            <a:r>
              <a:rPr sz="1000" b="1" i="0">
                <a:solidFill>
                  <a:srgbClr val="FFFFFF"/>
                </a:solidFill>
              </a:rPr>
              <a:t>Jul 2027</a:t>
            </a:r>
          </a:p>
        </p:txBody>
      </p:sp>
      <p:sp>
        <p:nvSpPr>
          <p:cNvPr id="62" name="TextBox 61"/>
          <p:cNvSpPr txBox="1"/>
          <p:nvPr/>
        </p:nvSpPr>
        <p:spPr>
          <a:xfrm>
            <a:off x="7360920" y="5596128"/>
            <a:ext cx="4343400" cy="347472"/>
          </a:xfrm>
          <a:prstGeom prst="rect">
            <a:avLst/>
          </a:prstGeom>
          <a:noFill/>
        </p:spPr>
        <p:txBody>
          <a:bodyPr wrap="square">
            <a:spAutoFit/>
          </a:bodyPr>
          <a:lstStyle/>
          <a:p>
            <a:pPr algn="l"/>
            <a:r>
              <a:rPr sz="1100" b="0" i="0">
                <a:solidFill>
                  <a:srgbClr val="404040"/>
                </a:solidFill>
              </a:rPr>
              <a:t>🏁  Program Complete</a:t>
            </a:r>
          </a:p>
        </p:txBody>
      </p:sp>
      <p:sp>
        <p:nvSpPr>
          <p:cNvPr id="63" name="TextBox 62"/>
          <p:cNvSpPr txBox="1"/>
          <p:nvPr/>
        </p:nvSpPr>
        <p:spPr>
          <a:xfrm>
            <a:off x="274320" y="5897880"/>
            <a:ext cx="8321040" cy="320040"/>
          </a:xfrm>
          <a:prstGeom prst="rect">
            <a:avLst/>
          </a:prstGeom>
          <a:noFill/>
        </p:spPr>
        <p:txBody>
          <a:bodyPr wrap="none">
            <a:spAutoFit/>
          </a:bodyPr>
          <a:lstStyle/>
          <a:p>
            <a:r>
              <a:rPr sz="700" i="1">
                <a:solidFill>
                  <a:srgbClr val="F7941D"/>
                </a:solidFill>
              </a:rPr>
              <a:t>* Phase 1 micro-phase status per Vik Vohra (Mar 16, 2026): Engineering ✅ | Procurement ✅ | Construction ✅ | Deployment 🔴 ~5% | App Cutover 🔴 0% | RTU Cutover 🔴 0% | As-Builts/Decommission ⏳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081532C56BF694BBE06D977BB2FEE3A" ma:contentTypeVersion="4" ma:contentTypeDescription="Create a new document." ma:contentTypeScope="" ma:versionID="c0c5d99beca51eeef3e41ac89a733b71">
  <xsd:schema xmlns:xsd="http://www.w3.org/2001/XMLSchema" xmlns:xs="http://www.w3.org/2001/XMLSchema" xmlns:p="http://schemas.microsoft.com/office/2006/metadata/properties" xmlns:ns3="135ef2dc-24a0-47df-8b8a-1312283ed4bf" targetNamespace="http://schemas.microsoft.com/office/2006/metadata/properties" ma:root="true" ma:fieldsID="29e57b184215963e8167a7683ccc328b" ns3:_="">
    <xsd:import namespace="135ef2dc-24a0-47df-8b8a-1312283ed4b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5ef2dc-24a0-47df-8b8a-1312283ed4b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D0F57A-06E6-4442-B032-86B4EDB177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5ef2dc-24a0-47df-8b8a-1312283ed4b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6EB495-10DB-45A6-8E6D-929653572431}">
  <ds:schemaRefs>
    <ds:schemaRef ds:uri="http://schemas.microsoft.com/office/2006/documentManagement/types"/>
    <ds:schemaRef ds:uri="http://purl.org/dc/terms/"/>
    <ds:schemaRef ds:uri="135ef2dc-24a0-47df-8b8a-1312283ed4bf"/>
    <ds:schemaRef ds:uri="http://purl.org/dc/dcmitype/"/>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712CF8B8-4325-4F4D-A7DB-9D2B054C8A6D}">
  <ds:schemaRefs>
    <ds:schemaRef ds:uri="http://schemas.microsoft.com/sharepoint/v3/contenttype/forms"/>
  </ds:schemaRefs>
</ds:datastoreItem>
</file>

<file path=docMetadata/LabelInfo.xml><?xml version="1.0" encoding="utf-8"?>
<clbl:labelList xmlns:clbl="http://schemas.microsoft.com/office/2020/mipLabelMetadata">
  <clbl:label id="{cf90b97b-be46-4a00-9700-81ce4ff1b7f6}" enabled="0" method="" siteId="{cf90b97b-be46-4a00-9700-81ce4ff1b7f6}" removed="1"/>
</clbl:labelList>
</file>

<file path=docProps/app.xml><?xml version="1.0" encoding="utf-8"?>
<Properties xmlns="http://schemas.openxmlformats.org/officeDocument/2006/extended-properties" xmlns:vt="http://schemas.openxmlformats.org/officeDocument/2006/docPropsVTypes">
  <Template/>
  <TotalTime>128081</TotalTime>
  <Words>3196</Words>
  <Application>Microsoft Office PowerPoint</Application>
  <PresentationFormat>Widescreen</PresentationFormat>
  <Paragraphs>734</Paragraphs>
  <Slides>14</Slides>
  <Notes>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Aptos</vt:lpstr>
      <vt:lpstr>Aptos Narrow</vt:lpstr>
      <vt:lpstr>Arial</vt:lpstr>
      <vt:lpstr>Calibri</vt:lpstr>
      <vt:lpstr>Calibri Light</vt:lpstr>
      <vt:lpstr>DM Serif Display</vt:lpstr>
      <vt:lpstr>Outfit Light</vt:lpstr>
      <vt:lpstr>Outfit SemiBold</vt:lpstr>
      <vt:lpstr>Symbol</vt:lpstr>
      <vt:lpstr>Times New Roman</vt:lpstr>
      <vt:lpstr>Wingdings</vt:lpstr>
      <vt:lpstr>Office Theme</vt:lpstr>
      <vt:lpstr>PRJ13797: JMUX Replacement Update Project Manager : Dhananjaya Gunaratne   </vt:lpstr>
      <vt:lpstr>PowerPoint Presentation</vt:lpstr>
      <vt:lpstr>PowerPoint Presentation</vt:lpstr>
      <vt:lpstr>PowerPoint Presentation</vt:lpstr>
      <vt:lpstr>PowerPoint Presentation</vt:lpstr>
      <vt:lpstr>PowerPoint Presentation</vt:lpstr>
      <vt:lpstr>PowerPoint Presentation</vt:lpstr>
      <vt:lpstr>JMUX Replacement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Outfit SemiBold Bold 46 Dark Steel Gray</dc:title>
  <dc:creator>Cleeve, Karen</dc:creator>
  <cp:lastModifiedBy>GUNARATNE, DHANANJAYA</cp:lastModifiedBy>
  <cp:revision>888</cp:revision>
  <dcterms:modified xsi:type="dcterms:W3CDTF">2026-03-13T14:39:24Z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0x0101006081532C56BF694BBE06D977BB2FEE3A</vt:lpwstr>
  </property>
</Properties>
</file>