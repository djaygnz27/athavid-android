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0" r:id="rId10"/>
    <p:sldId id="2147477445" r:id="rId11"/>
    <p:sldId id="2147477344" r:id="rId12"/>
    <p:sldId id="2147477433" r:id="rId13"/>
    <p:sldId id="2147477434" r:id="rId14"/>
    <p:sldId id="2147477435" r:id="rId15"/>
    <p:sldId id="2147477438"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003387"/>
                </a:solidFill>
              </a:rPr>
              <a:t>100%</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Cutover Done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B&amp;McD issuing IFRs; PSEG LI review 2-wk window</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404040"/>
                </a:solidFill>
              </a:rPr>
              <a:t>IFC follows PSEG LI review &amp; comment</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1000" b="0" i="0" dirty="0">
                <a:solidFill>
                  <a:srgbClr val="404040"/>
                </a:solidFill>
              </a:rPr>
              <a:t>BGP Design sign off to configure LAN Routers at Melville to Hicksville </a:t>
            </a:r>
          </a:p>
          <a:p>
            <a:pPr marL="171450" indent="-171450" algn="l">
              <a:buFont typeface="Arial" panose="020B0604020202020204" pitchFamily="34" charset="0"/>
              <a:buChar char="•"/>
            </a:pPr>
            <a:r>
              <a:rPr sz="1000" b="0" i="0" dirty="0">
                <a:solidFill>
                  <a:srgbClr val="404040"/>
                </a:solidFill>
              </a:rPr>
              <a:t>All approvals received. Remaining Phase 1 close-out is remote configuration — no physical site access needed. </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chemeClr val="bg2">
                    <a:lumMod val="10000"/>
                  </a:schemeClr>
                </a:solidFill>
              </a:rPr>
              <a:t>??</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Tree>
    <p:extLst>
      <p:ext uri="{BB962C8B-B14F-4D97-AF65-F5344CB8AC3E}">
        <p14:creationId xmlns:p14="http://schemas.microsoft.com/office/powerpoint/2010/main" val="14179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 (95%-Complete)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design for corporate connectivity designed by Lee and will go over it with Corporate team.		 03/10/2026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ILO Connection needed in Melville; Brianna will handle Hicksville (Allows remote connectivity from</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BGP design for corporate connectivity designed by Lee and will go over it with team on - 3/10</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Hawkeye is meeting with relay tech to complete the DC issue at Northport, since the fuse keeps tripping.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u="none" strike="noStrike" dirty="0">
                          <a:solidFill>
                            <a:srgbClr val="00B050"/>
                          </a:solidFill>
                          <a:effectLst/>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Phase 2 surveys being done during Phase 1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Complete</a:t>
                      </a: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mn-lt"/>
                          <a:ea typeface="+mn-ea"/>
                          <a:cs typeface="+mn-cs"/>
                        </a:rPr>
                        <a:t>Complete </a:t>
                      </a: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Hicksville Cat6 cabling completion for NSP</a:t>
            </a:r>
            <a:r>
              <a:rPr lang="en-US" dirty="0"/>
              <a:t> (change ticket planned </a:t>
            </a:r>
            <a:r>
              <a:rPr lang="en-US" dirty="0">
                <a:latin typeface="Aptos" panose="020B0004020202020204" pitchFamily="34" charset="0"/>
                <a:cs typeface="Aptos" panose="020B0004020202020204" pitchFamily="34" charset="0"/>
              </a:rPr>
              <a:t>03/03</a:t>
            </a:r>
            <a:r>
              <a:rPr lang="en-US" dirty="0"/>
              <a:t>).</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OTDR testing at Hicksville</a:t>
            </a:r>
            <a:r>
              <a:rPr lang="en-US" dirty="0"/>
              <a:t> (planned </a:t>
            </a:r>
            <a:r>
              <a:rPr lang="en-US" dirty="0">
                <a:latin typeface="Aptos" panose="020B0004020202020204" pitchFamily="34" charset="0"/>
                <a:cs typeface="Aptos" panose="020B0004020202020204" pitchFamily="34" charset="0"/>
              </a:rPr>
              <a:t>03/04</a:t>
            </a:r>
            <a:r>
              <a:rPr lang="en-US" dirty="0"/>
              <a:t>) to confirm whether the low DB level is internal vs </a:t>
            </a:r>
            <a:r>
              <a:rPr lang="en-US" dirty="0">
                <a:latin typeface="Aptos" panose="020B0004020202020204" pitchFamily="34" charset="0"/>
                <a:cs typeface="Aptos" panose="020B0004020202020204" pitchFamily="34" charset="0"/>
              </a:rPr>
              <a:t>carrier-side (Crown Castle)</a:t>
            </a:r>
            <a:r>
              <a:rPr lang="en-US" dirty="0"/>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Confirm stable remote access</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Start router configuration</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FFFFFF"/>
                </a:solidFill>
              </a:rPr>
              <a:t>LOW</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3387"/>
                </a:solidFill>
              </a:rPr>
              <a:t>Mitigation: OTDR testing planned 3/3. If Crown Castle issue confirmed, escalate to vendor.</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FFFFFF"/>
                </a:solidFill>
              </a:rPr>
              <a:t>IN PROGRESS</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404040"/>
                </a:solidFill>
              </a:rPr>
              <a:t>Cables ordered; Hawkeye scheduled to complete 3/3/2026.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FFFFFF"/>
                </a:solidFill>
              </a:rPr>
              <a:t>SCHEDULED</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404040"/>
                </a:solidFill>
              </a:rPr>
              <a:t>Low dB levels. OTDR test set confirmed for 1550 &amp; 1310nm. Site visit 3/3–3/4/2026.</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1000" b="0" i="0">
                <a:solidFill>
                  <a:srgbClr val="404040"/>
                </a:solidFill>
              </a:rPr>
              <a:t>NSP at Hicksville &amp; Melville. Remote access needed before router configuration can begin.</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3</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404040"/>
                </a:solidFill>
              </a:rPr>
              <a:t>BGP design needs to be approved</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3–4</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404040"/>
                </a:solidFill>
              </a:rPr>
              <a:t>Remote router configuration begins (Layer 1-3 setup)</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404040"/>
                </a:solidFill>
              </a:rPr>
              <a:t>B&amp;McD continues Wave 1 IFR submissions (Far Rockaway, Valley Stream, Cedarhurst)</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404040"/>
                </a:solidFill>
              </a:rPr>
              <a:t>PSEG LI review window opens for Wave 1 IFR packages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404040"/>
                </a:solidFill>
              </a:rPr>
              <a:t>Wave 1 IFC target completion</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404040"/>
                </a:solidFill>
              </a:rPr>
              <a:t>Phase 1 close-out &amp; Phase 2 IFR design</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