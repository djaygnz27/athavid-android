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4"/>
  </p:notesMasterIdLst>
  <p:sldIdLst>
    <p:sldId id="454" r:id="rId5"/>
    <p:sldId id="465" r:id="rId6"/>
    <p:sldId id="2147477449" r:id="rId7"/>
    <p:sldId id="2147477446" r:id="rId8"/>
    <p:sldId id="2147477433" r:id="rId9"/>
    <p:sldId id="2147477434" r:id="rId10"/>
    <p:sldId id="2147477435" r:id="rId11"/>
    <p:sldId id="2147477441" r:id="rId12"/>
    <p:sldId id="214747745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9"/>
            <p14:sldId id="2147477446"/>
            <p14:sldId id="2147477433"/>
            <p14:sldId id="2147477434"/>
            <p14:sldId id="2147477435"/>
            <p14:sldId id="2147477441"/>
            <p14:sldId id="2147477450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37" autoAdjust="0"/>
    <p:restoredTop sz="93690" autoAdjust="0"/>
  </p:normalViewPr>
  <p:slideViewPr>
    <p:cSldViewPr snapToGrid="0">
      <p:cViewPr varScale="1">
        <p:scale>
          <a:sx n="83" d="100"/>
          <a:sy n="83" d="100"/>
        </p:scale>
        <p:origin x="312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April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Materials creation, MPLS Equipment order, Power and ancillary equipment(Patch panels, Fiber cables, mounting kits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 and power during staging. Perform site surveys for construction support. Install all equipment per the approved IFC document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Run Fiber or copper cabling as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080588-586F-78ED-F721-1F671F4BB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760"/>
            <a:ext cx="10500812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C7ECF-867A-D10D-22BC-88BD7D209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046"/>
            <a:ext cx="12192000" cy="648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64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462980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6/15/26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5/04/26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5/04/26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5/04/26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5/04/26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926876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94154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19243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4/27/26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363038"/>
              </p:ext>
            </p:extLst>
          </p:nvPr>
        </p:nvGraphicFramePr>
        <p:xfrm>
          <a:off x="509288" y="2222524"/>
          <a:ext cx="9050866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2222524"/>
                        <a:ext cx="9050866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E9A7CBB-DBCA-0BB9-5D70-44E25DDFA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091485"/>
              </p:ext>
            </p:extLst>
          </p:nvPr>
        </p:nvGraphicFramePr>
        <p:xfrm>
          <a:off x="509288" y="538223"/>
          <a:ext cx="9050866" cy="1583911"/>
        </p:xfrm>
        <a:graphic>
          <a:graphicData uri="http://schemas.openxmlformats.org/drawingml/2006/table">
            <a:tbl>
              <a:tblPr firstRow="1" firstCol="1" bandRow="1"/>
              <a:tblGrid>
                <a:gridCol w="1779040">
                  <a:extLst>
                    <a:ext uri="{9D8B030D-6E8A-4147-A177-3AD203B41FA5}">
                      <a16:colId xmlns:a16="http://schemas.microsoft.com/office/drawing/2014/main" val="3836632793"/>
                    </a:ext>
                  </a:extLst>
                </a:gridCol>
                <a:gridCol w="1400994">
                  <a:extLst>
                    <a:ext uri="{9D8B030D-6E8A-4147-A177-3AD203B41FA5}">
                      <a16:colId xmlns:a16="http://schemas.microsoft.com/office/drawing/2014/main" val="3171916749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593578605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3917198631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2708731188"/>
                    </a:ext>
                  </a:extLst>
                </a:gridCol>
                <a:gridCol w="1067424">
                  <a:extLst>
                    <a:ext uri="{9D8B030D-6E8A-4147-A177-3AD203B41FA5}">
                      <a16:colId xmlns:a16="http://schemas.microsoft.com/office/drawing/2014/main" val="3598552592"/>
                    </a:ext>
                  </a:extLst>
                </a:gridCol>
              </a:tblGrid>
              <a:tr h="4044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Category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2024 Actuals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2025 Actuals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2026 Actuals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Program 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% of Program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853374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Internal Labor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$29,357.90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$181,290.67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$28,272.39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$238,920.96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~5%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254347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Materials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$601,379.80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$371,819.58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$46,040.04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$1,019,239.42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~25%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849723"/>
                  </a:ext>
                </a:extLst>
              </a:tr>
              <a:tr h="3049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Outside Services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$103,408.84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$2,482,742.20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$1,698,535.37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$4,284,686.41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~67%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811271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Assessments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$7,059.70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$94,267.21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$16,970.35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$118,297.26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~3%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82539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$741,206.24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$3,130,319.66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$1,789,818.15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$5,661,344.05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125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9144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0188" y="91441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Next Steps &amp; Current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188" y="621793"/>
            <a:ext cx="11430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188" y="1005840"/>
            <a:ext cx="11731752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0188" y="1005840"/>
            <a:ext cx="117317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  📋 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1335025"/>
            <a:ext cx="11731752" cy="2578215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4196" y="1371600"/>
            <a:ext cx="1159459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0772" y="14356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772" y="1435608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532" y="14173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F3964"/>
                </a:solidFill>
              </a:rPr>
              <a:t>Work with B&amp;M to test the RTU circuit that was run by CNI team.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637" y="1828800"/>
            <a:ext cx="11594592" cy="420624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/>
            </a:pPr>
            <a:r>
              <a:rPr lang="en-US" sz="1000" dirty="0">
                <a:solidFill>
                  <a:srgbClr val="1F3964"/>
                </a:solidFill>
                <a:latin typeface="Calibri"/>
              </a:rPr>
              <a:t>                                                                                                                                                                                               																																					Complete testing on test RTU and work with B&amp;M to go over MOP to move production RTU.</a:t>
            </a:r>
          </a:p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30772" y="1892807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0772" y="1892807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196" y="2286000"/>
            <a:ext cx="1159459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0772" y="23500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0772" y="2350008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532" y="23317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1F3964"/>
                </a:solidFill>
              </a:rPr>
              <a:t>Follow up with Hawkeye to make sure the site surveys are scheduled for Phase 2 sites. 9/36 IFCs sent to Hawkeye.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196" y="2743200"/>
            <a:ext cx="11594592" cy="420624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0772" y="28072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0772" y="2807208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532" y="27889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1F3964"/>
                </a:solidFill>
              </a:rPr>
              <a:t>Track PAR control design and equipment ordered for 6 sites.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196" y="3200400"/>
            <a:ext cx="1159459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0772" y="32644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0772" y="3264408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532" y="32461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1F3964"/>
                </a:solidFill>
              </a:rPr>
              <a:t>Keep tracking IFR/IFCs – 9/36 received to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0188" y="4251960"/>
            <a:ext cx="11731752" cy="3291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0188" y="4251960"/>
            <a:ext cx="117317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  ⚠️  Current Risks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0188" y="4581144"/>
            <a:ext cx="11731752" cy="1938528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4196" y="4617720"/>
            <a:ext cx="11594592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30772" y="4709159"/>
            <a:ext cx="292608" cy="2926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0772" y="4709159"/>
            <a:ext cx="2926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532" y="4690873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F3964"/>
                </a:solidFill>
              </a:rPr>
              <a:t>Legacy JMUX equipment is over 25 years old and brittle — faulty connectors, potential brittle fiber patch panels, face plates, connectors and cables. Potential for Outage.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4196" y="5230368"/>
            <a:ext cx="11594592" cy="5760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30772" y="5321807"/>
            <a:ext cx="292608" cy="2926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0772" y="5321807"/>
            <a:ext cx="2926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532" y="53035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1F3964"/>
                </a:solidFill>
              </a:rPr>
              <a:t>Weather </a:t>
            </a:r>
            <a:r>
              <a:rPr lang="en-US" sz="1000" dirty="0">
                <a:solidFill>
                  <a:srgbClr val="1F3964"/>
                </a:solidFill>
              </a:rPr>
              <a:t>(Heat)</a:t>
            </a:r>
            <a:endParaRPr sz="1000" dirty="0">
              <a:solidFill>
                <a:srgbClr val="1F3964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94196" y="5843016"/>
            <a:ext cx="11594592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0772" y="5934455"/>
            <a:ext cx="292608" cy="2926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0772" y="5934455"/>
            <a:ext cx="2926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532" y="5916169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1F3964"/>
                </a:solidFill>
              </a:rPr>
              <a:t>Potential Schedule delays due to other major substation project conflicts</a:t>
            </a:r>
            <a:r>
              <a:rPr lang="en-US" sz="1000" dirty="0">
                <a:solidFill>
                  <a:srgbClr val="1F3964"/>
                </a:solidFill>
              </a:rPr>
              <a:t>.</a:t>
            </a:r>
            <a:endParaRPr sz="1000" dirty="0">
              <a:solidFill>
                <a:srgbClr val="1F3964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84468" y="6583680"/>
            <a:ext cx="1188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159169</TotalTime>
  <Words>1094</Words>
  <Application>Microsoft Office PowerPoint</Application>
  <PresentationFormat>Widescreen</PresentationFormat>
  <Paragraphs>408</Paragraphs>
  <Slides>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965</cp:revision>
  <dcterms:modified xsi:type="dcterms:W3CDTF">2026-05-15T18:05:52Z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