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465" r:id="rId6"/>
    <p:sldId id="2147477440" r:id="rId7"/>
    <p:sldId id="2147477442" r:id="rId8"/>
    <p:sldId id="2147477445" r:id="rId9"/>
    <p:sldId id="498" r:id="rId10"/>
    <p:sldId id="497" r:id="rId11"/>
    <p:sldId id="2147477433" r:id="rId12"/>
    <p:sldId id="2147477434" r:id="rId13"/>
    <p:sldId id="2147477435" r:id="rId14"/>
    <p:sldId id="499" r:id="rId15"/>
    <p:sldId id="2147477441" r:id="rId16"/>
    <p:sldId id="2147477438" r:id="rId17"/>
    <p:sldId id="214747744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465"/>
            <p14:sldId id="2147477440"/>
            <p14:sldId id="2147477442"/>
            <p14:sldId id="2147477445"/>
            <p14:sldId id="498"/>
            <p14:sldId id="497"/>
            <p14:sldId id="2147477433"/>
            <p14:sldId id="2147477434"/>
            <p14:sldId id="2147477435"/>
            <p14:sldId id="499"/>
            <p14:sldId id="2147477441"/>
            <p14:sldId id="2147477438"/>
            <p14:sldId id="214747744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DF8"/>
    <a:srgbClr val="66FF33"/>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85846" autoAdjust="0"/>
  </p:normalViewPr>
  <p:slideViewPr>
    <p:cSldViewPr snapToGrid="0">
      <p:cViewPr>
        <p:scale>
          <a:sx n="70" d="100"/>
          <a:sy n="70" d="100"/>
        </p:scale>
        <p:origin x="468" y="-10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947920767716534"/>
          <c:y val="4.2187497404804541E-2"/>
          <c:w val="0.63229170767716536"/>
          <c:h val="0.94843750317190556"/>
        </c:manualLayout>
      </c:layout>
      <c:doughnutChart>
        <c:varyColors val="1"/>
        <c:ser>
          <c:idx val="0"/>
          <c:order val="0"/>
          <c:tx>
            <c:strRef>
              <c:f>Sheet1!$B$1</c:f>
              <c:strCache>
                <c:ptCount val="1"/>
                <c:pt idx="0">
                  <c:v>Project SPI Current</c:v>
                </c:pt>
              </c:strCache>
            </c:strRef>
          </c:tx>
          <c:spPr>
            <a:solidFill>
              <a:schemeClr val="tx2">
                <a:lumMod val="20000"/>
                <a:lumOff val="80000"/>
              </a:schemeClr>
            </a:solidFill>
          </c:spPr>
          <c:dPt>
            <c:idx val="0"/>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1-0B8B-4E88-80A3-15003FDC06D0}"/>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0B8B-4E88-80A3-15003FDC06D0}"/>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0B8B-4E88-80A3-15003FDC06D0}"/>
              </c:ext>
            </c:extLst>
          </c:dPt>
          <c:dPt>
            <c:idx val="3"/>
            <c:bubble3D val="0"/>
            <c:spPr>
              <a:solidFill>
                <a:schemeClr val="accent5"/>
              </a:solidFill>
              <a:ln w="19050">
                <a:solidFill>
                  <a:schemeClr val="lt1"/>
                </a:solidFill>
              </a:ln>
              <a:effectLst/>
            </c:spPr>
            <c:extLst>
              <c:ext xmlns:c16="http://schemas.microsoft.com/office/drawing/2014/chart" uri="{C3380CC4-5D6E-409C-BE32-E72D297353CC}">
                <c16:uniqueId val="{00000007-0B8B-4E88-80A3-15003FDC06D0}"/>
              </c:ext>
            </c:extLst>
          </c:dPt>
          <c:dPt>
            <c:idx val="4"/>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9-0B8B-4E88-80A3-15003FDC06D0}"/>
              </c:ext>
            </c:extLst>
          </c:dPt>
          <c:dPt>
            <c:idx val="5"/>
            <c:bubble3D val="0"/>
            <c:spPr>
              <a:solidFill>
                <a:schemeClr val="accent5"/>
              </a:solidFill>
              <a:ln w="19050">
                <a:solidFill>
                  <a:schemeClr val="lt1"/>
                </a:solidFill>
              </a:ln>
              <a:effectLst/>
            </c:spPr>
            <c:extLst>
              <c:ext xmlns:c16="http://schemas.microsoft.com/office/drawing/2014/chart" uri="{C3380CC4-5D6E-409C-BE32-E72D297353CC}">
                <c16:uniqueId val="{0000000B-0B8B-4E88-80A3-15003FDC06D0}"/>
              </c:ext>
            </c:extLst>
          </c:dPt>
          <c:dPt>
            <c:idx val="6"/>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D-0B8B-4E88-80A3-15003FDC06D0}"/>
              </c:ext>
            </c:extLst>
          </c:dPt>
          <c:dPt>
            <c:idx val="7"/>
            <c:bubble3D val="0"/>
            <c:spPr>
              <a:solidFill>
                <a:srgbClr val="0070C0"/>
              </a:solidFill>
              <a:ln w="19050">
                <a:solidFill>
                  <a:schemeClr val="lt1"/>
                </a:solidFill>
              </a:ln>
              <a:effectLst/>
            </c:spPr>
            <c:extLst>
              <c:ext xmlns:c16="http://schemas.microsoft.com/office/drawing/2014/chart" uri="{C3380CC4-5D6E-409C-BE32-E72D297353CC}">
                <c16:uniqueId val="{0000000F-0B8B-4E88-80A3-15003FDC06D0}"/>
              </c:ext>
            </c:extLst>
          </c:dPt>
          <c:dPt>
            <c:idx val="8"/>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11-0B8B-4E88-80A3-15003FDC06D0}"/>
              </c:ext>
            </c:extLst>
          </c:dPt>
          <c:dPt>
            <c:idx val="9"/>
            <c:bubble3D val="0"/>
            <c:spPr>
              <a:solidFill>
                <a:srgbClr val="0070C0"/>
              </a:solidFill>
              <a:ln w="19050">
                <a:solidFill>
                  <a:schemeClr val="lt1"/>
                </a:solidFill>
              </a:ln>
              <a:effectLst/>
            </c:spPr>
            <c:extLst>
              <c:ext xmlns:c16="http://schemas.microsoft.com/office/drawing/2014/chart" uri="{C3380CC4-5D6E-409C-BE32-E72D297353CC}">
                <c16:uniqueId val="{00000013-0B8B-4E88-80A3-15003FDC06D0}"/>
              </c:ext>
            </c:extLst>
          </c:dPt>
          <c:dPt>
            <c:idx val="10"/>
            <c:bubble3D val="0"/>
            <c:spPr>
              <a:noFill/>
              <a:ln w="19050">
                <a:noFill/>
              </a:ln>
              <a:effectLst/>
            </c:spPr>
            <c:extLst>
              <c:ext xmlns:c16="http://schemas.microsoft.com/office/drawing/2014/chart" uri="{C3380CC4-5D6E-409C-BE32-E72D297353CC}">
                <c16:uniqueId val="{00000015-0B8B-4E88-80A3-15003FDC06D0}"/>
              </c:ext>
            </c:extLst>
          </c:dPt>
          <c:cat>
            <c:strRef>
              <c:f>Sheet1!$A$2:$A$12</c:f>
              <c:strCache>
                <c:ptCount val="11"/>
                <c:pt idx="0">
                  <c:v>1st Qtr</c:v>
                </c:pt>
                <c:pt idx="1">
                  <c:v>2nd Qtr</c:v>
                </c:pt>
                <c:pt idx="2">
                  <c:v>3rd Qtr</c:v>
                </c:pt>
                <c:pt idx="3">
                  <c:v>4th Qtr</c:v>
                </c:pt>
                <c:pt idx="4">
                  <c:v>5</c:v>
                </c:pt>
                <c:pt idx="5">
                  <c:v>6</c:v>
                </c:pt>
                <c:pt idx="6">
                  <c:v>7</c:v>
                </c:pt>
                <c:pt idx="7">
                  <c:v>8</c:v>
                </c:pt>
                <c:pt idx="8">
                  <c:v>9</c:v>
                </c:pt>
                <c:pt idx="10">
                  <c:v>10</c:v>
                </c:pt>
              </c:strCache>
            </c:strRef>
          </c:cat>
          <c:val>
            <c:numRef>
              <c:f>Sheet1!$B$2:$B$12</c:f>
              <c:numCache>
                <c:formatCode>General</c:formatCode>
                <c:ptCount val="11"/>
                <c:pt idx="0">
                  <c:v>5</c:v>
                </c:pt>
                <c:pt idx="1">
                  <c:v>5</c:v>
                </c:pt>
                <c:pt idx="2">
                  <c:v>5</c:v>
                </c:pt>
                <c:pt idx="3">
                  <c:v>5</c:v>
                </c:pt>
                <c:pt idx="4">
                  <c:v>5</c:v>
                </c:pt>
                <c:pt idx="5">
                  <c:v>5</c:v>
                </c:pt>
                <c:pt idx="6">
                  <c:v>5</c:v>
                </c:pt>
                <c:pt idx="7">
                  <c:v>5</c:v>
                </c:pt>
                <c:pt idx="8">
                  <c:v>5</c:v>
                </c:pt>
                <c:pt idx="9">
                  <c:v>5</c:v>
                </c:pt>
                <c:pt idx="10">
                  <c:v>50</c:v>
                </c:pt>
              </c:numCache>
            </c:numRef>
          </c:val>
          <c:extLst>
            <c:ext xmlns:c16="http://schemas.microsoft.com/office/drawing/2014/chart" uri="{C3380CC4-5D6E-409C-BE32-E72D297353CC}">
              <c16:uniqueId val="{00000016-0B8B-4E88-80A3-15003FDC06D0}"/>
            </c:ext>
          </c:extLst>
        </c:ser>
        <c:dLbls>
          <c:showLegendKey val="0"/>
          <c:showVal val="0"/>
          <c:showCatName val="0"/>
          <c:showSerName val="0"/>
          <c:showPercent val="0"/>
          <c:showBubbleSize val="0"/>
          <c:showLeaderLines val="1"/>
        </c:dLbls>
        <c:firstSliceAng val="270"/>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0.26863</cdr:x>
      <cdr:y>0.31354</cdr:y>
    </cdr:from>
    <cdr:to>
      <cdr:x>0.30575</cdr:x>
      <cdr:y>0.36466</cdr:y>
    </cdr:to>
    <cdr:sp macro="" textlink="">
      <cdr:nvSpPr>
        <cdr:cNvPr id="2" name="TextBox 6">
          <a:extLst xmlns:a="http://schemas.openxmlformats.org/drawingml/2006/main">
            <a:ext uri="{FF2B5EF4-FFF2-40B4-BE49-F238E27FC236}">
              <a16:creationId xmlns:a16="http://schemas.microsoft.com/office/drawing/2014/main" id="{1A676B5A-A620-77DE-A26F-6389A573A100}"/>
            </a:ext>
          </a:extLst>
        </cdr:cNvPr>
        <cdr:cNvSpPr txBox="1"/>
      </cdr:nvSpPr>
      <cdr:spPr>
        <a:xfrm xmlns:a="http://schemas.openxmlformats.org/drawingml/2006/main">
          <a:off x="2183464" y="1698956"/>
          <a:ext cx="301711" cy="277002"/>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r>
            <a:rPr lang="en-US" sz="1200" dirty="0">
              <a:solidFill>
                <a:schemeClr val="bg1"/>
              </a:solidFill>
            </a:rPr>
            <a:t>.6</a:t>
          </a:r>
        </a:p>
      </cdr:txBody>
    </cdr:sp>
  </cdr:relSizeAnchor>
  <cdr:relSizeAnchor xmlns:cdr="http://schemas.openxmlformats.org/drawingml/2006/chartDrawing">
    <cdr:from>
      <cdr:x>0.31796</cdr:x>
      <cdr:y>0.22615</cdr:y>
    </cdr:from>
    <cdr:to>
      <cdr:x>0.35508</cdr:x>
      <cdr:y>0.27727</cdr:y>
    </cdr:to>
    <cdr:sp macro="" textlink="">
      <cdr:nvSpPr>
        <cdr:cNvPr id="3" name="TextBox 6">
          <a:extLst xmlns:a="http://schemas.openxmlformats.org/drawingml/2006/main">
            <a:ext uri="{FF2B5EF4-FFF2-40B4-BE49-F238E27FC236}">
              <a16:creationId xmlns:a16="http://schemas.microsoft.com/office/drawing/2014/main" id="{1A676B5A-A620-77DE-A26F-6389A573A100}"/>
            </a:ext>
          </a:extLst>
        </cdr:cNvPr>
        <cdr:cNvSpPr txBox="1"/>
      </cdr:nvSpPr>
      <cdr:spPr>
        <a:xfrm xmlns:a="http://schemas.openxmlformats.org/drawingml/2006/main">
          <a:off x="2584413" y="1225457"/>
          <a:ext cx="301711" cy="277002"/>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r>
            <a:rPr lang="en-US" sz="1200" dirty="0">
              <a:solidFill>
                <a:schemeClr val="bg1"/>
              </a:solidFill>
            </a:rPr>
            <a:t>.7</a:t>
          </a:r>
        </a:p>
      </cdr:txBody>
    </cdr:sp>
  </cdr:relSizeAnchor>
  <cdr:relSizeAnchor xmlns:cdr="http://schemas.openxmlformats.org/drawingml/2006/chartDrawing">
    <cdr:from>
      <cdr:x>0.30521</cdr:x>
      <cdr:y>0</cdr:y>
    </cdr:from>
    <cdr:to>
      <cdr:x>0.41928</cdr:x>
      <cdr:y>0.0852</cdr:y>
    </cdr:to>
    <cdr:sp macro="" textlink="">
      <cdr:nvSpPr>
        <cdr:cNvPr id="4" name="TextBox 3">
          <a:extLst xmlns:a="http://schemas.openxmlformats.org/drawingml/2006/main">
            <a:ext uri="{FF2B5EF4-FFF2-40B4-BE49-F238E27FC236}">
              <a16:creationId xmlns:a16="http://schemas.microsoft.com/office/drawing/2014/main" id="{46EA8E07-2789-480D-BD57-02E6A4DA6BF7}"/>
            </a:ext>
          </a:extLst>
        </cdr:cNvPr>
        <cdr:cNvSpPr txBox="1"/>
      </cdr:nvSpPr>
      <cdr:spPr>
        <a:xfrm xmlns:a="http://schemas.openxmlformats.org/drawingml/2006/main">
          <a:off x="2480751" y="-616047"/>
          <a:ext cx="927161" cy="461671"/>
        </a:xfrm>
        <a:prstGeom xmlns:a="http://schemas.openxmlformats.org/drawingml/2006/main" prst="rect">
          <a:avLst/>
        </a:prstGeom>
        <a:noFill xmlns:a="http://schemas.openxmlformats.org/drawingml/2006/main"/>
      </cdr:spPr>
      <cdr:txBody>
        <a:bodyPr xmlns:a="http://schemas.openxmlformats.org/drawingml/2006/main" vertOverflow="clip" wrap="square" rtlCol="0">
          <a:spAutoFit/>
        </a:bodyPr>
        <a:lstStyle xmlns:a="http://schemas.openxmlformats.org/drawingml/2006/main"/>
        <a:p xmlns:a="http://schemas.openxmlformats.org/drawingml/2006/main">
          <a:pPr algn="l"/>
          <a:endParaRPr lang="en-US" sz="2400" b="1" kern="1200" dirty="0">
            <a:solidFill>
              <a:schemeClr val="tx2"/>
            </a:solidFill>
          </a:endParaRPr>
        </a:p>
      </cdr:txBody>
    </cdr:sp>
  </cdr:relSizeAnchor>
  <cdr:relSizeAnchor xmlns:cdr="http://schemas.openxmlformats.org/drawingml/2006/chartDrawing">
    <cdr:from>
      <cdr:x>0.37424</cdr:x>
      <cdr:y>0.1334</cdr:y>
    </cdr:from>
    <cdr:to>
      <cdr:x>0.41136</cdr:x>
      <cdr:y>0.18452</cdr:y>
    </cdr:to>
    <cdr:sp macro="" textlink="">
      <cdr:nvSpPr>
        <cdr:cNvPr id="5" name="TextBox 29">
          <a:extLst xmlns:a="http://schemas.openxmlformats.org/drawingml/2006/main">
            <a:ext uri="{FF2B5EF4-FFF2-40B4-BE49-F238E27FC236}">
              <a16:creationId xmlns:a16="http://schemas.microsoft.com/office/drawing/2014/main" id="{351B4589-76D7-6081-2DD2-20DFCA3B9C02}"/>
            </a:ext>
          </a:extLst>
        </cdr:cNvPr>
        <cdr:cNvSpPr txBox="1"/>
      </cdr:nvSpPr>
      <cdr:spPr>
        <a:xfrm xmlns:a="http://schemas.openxmlformats.org/drawingml/2006/main">
          <a:off x="3041842" y="722837"/>
          <a:ext cx="301686" cy="276999"/>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r>
            <a:rPr lang="en-US" sz="1200" dirty="0">
              <a:solidFill>
                <a:schemeClr val="bg1"/>
              </a:solidFill>
            </a:rPr>
            <a:t>.8</a:t>
          </a:r>
        </a:p>
      </cdr:txBody>
    </cdr:sp>
  </cdr:relSizeAnchor>
  <cdr:relSizeAnchor xmlns:cdr="http://schemas.openxmlformats.org/drawingml/2006/chartDrawing">
    <cdr:from>
      <cdr:x>0.49533</cdr:x>
      <cdr:y>0.46262</cdr:y>
    </cdr:from>
    <cdr:to>
      <cdr:x>0.51872</cdr:x>
      <cdr:y>0.49839</cdr:y>
    </cdr:to>
    <cdr:sp macro="" textlink="">
      <cdr:nvSpPr>
        <cdr:cNvPr id="7" name="Oval 6">
          <a:extLst xmlns:a="http://schemas.openxmlformats.org/drawingml/2006/main">
            <a:ext uri="{FF2B5EF4-FFF2-40B4-BE49-F238E27FC236}">
              <a16:creationId xmlns:a16="http://schemas.microsoft.com/office/drawing/2014/main" id="{0D4D42FA-916B-DDDA-2BE3-97172D34982A}"/>
            </a:ext>
          </a:extLst>
        </cdr:cNvPr>
        <cdr:cNvSpPr/>
      </cdr:nvSpPr>
      <cdr:spPr>
        <a:xfrm xmlns:a="http://schemas.openxmlformats.org/drawingml/2006/main">
          <a:off x="4026065" y="2506757"/>
          <a:ext cx="190116" cy="193838"/>
        </a:xfrm>
        <a:prstGeom xmlns:a="http://schemas.openxmlformats.org/drawingml/2006/main" prst="ellipse">
          <a:avLst/>
        </a:prstGeom>
      </cdr:spPr>
      <cdr:style>
        <a:lnRef xmlns:a="http://schemas.openxmlformats.org/drawingml/2006/main" idx="2">
          <a:schemeClr val="dk1">
            <a:shade val="15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2/25/2026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2</a:t>
            </a:fld>
            <a:endParaRPr lang="en-US" dirty="0"/>
          </a:p>
        </p:txBody>
      </p:sp>
    </p:spTree>
    <p:extLst>
      <p:ext uri="{BB962C8B-B14F-4D97-AF65-F5344CB8AC3E}">
        <p14:creationId xmlns:p14="http://schemas.microsoft.com/office/powerpoint/2010/main" val="1125452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3</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4</a:t>
            </a:fld>
            <a:endParaRPr lang="en-US" dirty="0"/>
          </a:p>
        </p:txBody>
      </p:sp>
    </p:spTree>
    <p:extLst>
      <p:ext uri="{BB962C8B-B14F-4D97-AF65-F5344CB8AC3E}">
        <p14:creationId xmlns:p14="http://schemas.microsoft.com/office/powerpoint/2010/main" val="145043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9</a:t>
            </a:fld>
            <a:endParaRPr lang="en-US" dirty="0"/>
          </a:p>
        </p:txBody>
      </p:sp>
    </p:spTree>
    <p:extLst>
      <p:ext uri="{BB962C8B-B14F-4D97-AF65-F5344CB8AC3E}">
        <p14:creationId xmlns:p14="http://schemas.microsoft.com/office/powerpoint/2010/main" val="3138547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11</a:t>
            </a:fld>
            <a:endParaRPr lang="en-US" dirty="0"/>
          </a:p>
        </p:txBody>
      </p:sp>
    </p:spTree>
    <p:extLst>
      <p:ext uri="{BB962C8B-B14F-4D97-AF65-F5344CB8AC3E}">
        <p14:creationId xmlns:p14="http://schemas.microsoft.com/office/powerpoint/2010/main" val="3290024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Binary_Worksheet.xlsb"/><Relationship Id="rId1" Type="http://schemas.openxmlformats.org/officeDocument/2006/relationships/slideLayout" Target="../slideLayouts/slideLayout13.xml"/><Relationship Id="rId5" Type="http://schemas.openxmlformats.org/officeDocument/2006/relationships/image" Target="../media/image7.emf"/><Relationship Id="rId4" Type="http://schemas.openxmlformats.org/officeDocument/2006/relationships/package" Target="../embeddings/Microsoft_Excel_Binary_Worksheet1.xlsb"/></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February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14B7B69-59BD-4C6C-48EB-B42ACBCA5B21}"/>
              </a:ext>
            </a:extLst>
          </p:cNvPr>
          <p:cNvSpPr>
            <a:spLocks noGrp="1"/>
          </p:cNvSpPr>
          <p:nvPr>
            <p:ph type="title"/>
          </p:nvPr>
        </p:nvSpPr>
        <p:spPr>
          <a:xfrm>
            <a:off x="576725" y="337312"/>
            <a:ext cx="9009130" cy="377825"/>
          </a:xfrm>
        </p:spPr>
        <p:txBody>
          <a:bodyPr>
            <a:normAutofit fontScale="90000"/>
          </a:bodyPr>
          <a:lstStyle/>
          <a:p>
            <a:pPr algn="ctr"/>
            <a:r>
              <a:rPr lang="en-US" sz="2000" dirty="0"/>
              <a:t> </a:t>
            </a:r>
            <a:br>
              <a:rPr lang="en-US" sz="2000" dirty="0"/>
            </a:br>
            <a:endParaRPr lang="en-US" sz="2000" dirty="0"/>
          </a:p>
        </p:txBody>
      </p:sp>
      <p:sp>
        <p:nvSpPr>
          <p:cNvPr id="7" name="Content Placeholder 6"/>
          <p:cNvSpPr txBox="1">
            <a:spLocks noGrp="1"/>
          </p:cNvSpPr>
          <p:nvPr>
            <p:ph idx="1"/>
          </p:nvPr>
        </p:nvSpPr>
        <p:spPr>
          <a:xfrm>
            <a:off x="509288" y="938662"/>
            <a:ext cx="9009130" cy="1695849"/>
          </a:xfrm>
          <a:prstGeom prst="rect">
            <a:avLst/>
          </a:prstGeom>
          <a:noFill/>
        </p:spPr>
        <p:txBody>
          <a:bodyPr wrap="square" rtlCol="0">
            <a:spAutoFit/>
          </a:bodyPr>
          <a:lstStyle/>
          <a:p>
            <a:pPr marL="171450" indent="-171450">
              <a:buFont typeface="Arial" panose="020B0604020202020204" pitchFamily="34" charset="0"/>
              <a:buChar char="•"/>
            </a:pPr>
            <a:endParaRPr lang="en-US" sz="800" b="1" dirty="0"/>
          </a:p>
          <a:p>
            <a:pPr marL="342900" lvl="1"/>
            <a:endParaRPr lang="en-US" sz="1200" dirty="0"/>
          </a:p>
          <a:p>
            <a:pPr marL="458788" lvl="2"/>
            <a:endParaRPr lang="en-US" dirty="0"/>
          </a:p>
          <a:p>
            <a:endParaRPr lang="en-US" sz="1000" b="1" dirty="0"/>
          </a:p>
          <a:p>
            <a:pPr lvl="1"/>
            <a:r>
              <a:rPr lang="en-US" sz="1000" b="1" dirty="0"/>
              <a:t> </a:t>
            </a:r>
            <a:endParaRPr lang="en-US" sz="1000" dirty="0"/>
          </a:p>
          <a:p>
            <a:pPr marL="685800" lvl="1" indent="-228600">
              <a:buFont typeface="+mj-lt"/>
              <a:buAutoNum type="arabicPeriod"/>
            </a:pPr>
            <a:endParaRPr lang="en-US" sz="1000" b="1" u="sng" dirty="0"/>
          </a:p>
        </p:txBody>
      </p:sp>
      <p:sp>
        <p:nvSpPr>
          <p:cNvPr id="10" name="Content Placeholder 13">
            <a:extLst>
              <a:ext uri="{FF2B5EF4-FFF2-40B4-BE49-F238E27FC236}">
                <a16:creationId xmlns:a16="http://schemas.microsoft.com/office/drawing/2014/main" id="{A24EE83D-2178-F6B5-4EA8-D2E0604DF97B}"/>
              </a:ext>
            </a:extLst>
          </p:cNvPr>
          <p:cNvSpPr txBox="1">
            <a:spLocks noGrp="1"/>
          </p:cNvSpPr>
          <p:nvPr>
            <p:ph idx="11"/>
          </p:nvPr>
        </p:nvSpPr>
        <p:spPr>
          <a:xfrm>
            <a:off x="131975" y="102266"/>
            <a:ext cx="6352599" cy="278735"/>
          </a:xfrm>
          <a:prstGeom prst="rect">
            <a:avLst/>
          </a:prstGeom>
        </p:spPr>
        <p:txBody>
          <a:bodyPr vert="horz" lIns="0" tIns="45720" rIns="91440" bIns="45720" numCol="1" spcCol="0" rtlCol="0">
            <a:noAutofit/>
          </a:bodyPr>
          <a:lstStyle>
            <a:lvl1pPr marL="0" indent="0" algn="l" defTabSz="914400" rtl="0" eaLnBrk="1" latinLnBrk="0" hangingPunct="1">
              <a:lnSpc>
                <a:spcPct val="120000"/>
              </a:lnSpc>
              <a:spcBef>
                <a:spcPts val="300"/>
              </a:spcBef>
              <a:spcAft>
                <a:spcPts val="300"/>
              </a:spcAft>
              <a:buFont typeface="Arial" panose="020B0604020202020204" pitchFamily="34" charset="0"/>
              <a:buNone/>
              <a:defRPr sz="800" kern="1200">
                <a:solidFill>
                  <a:schemeClr val="accent3"/>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dirty="0">
                <a:solidFill>
                  <a:schemeClr val="tx1"/>
                </a:solidFill>
              </a:rPr>
              <a:t>JMUX Replacement: Private Field Area Network   </a:t>
            </a:r>
            <a:endParaRPr lang="en-US" dirty="0">
              <a:solidFill>
                <a:schemeClr val="tx1"/>
              </a:solidFill>
            </a:endParaRPr>
          </a:p>
        </p:txBody>
      </p:sp>
      <p:sp>
        <p:nvSpPr>
          <p:cNvPr id="3" name="TextBox 2"/>
          <p:cNvSpPr txBox="1"/>
          <p:nvPr/>
        </p:nvSpPr>
        <p:spPr>
          <a:xfrm>
            <a:off x="0" y="526224"/>
            <a:ext cx="10444585" cy="7263527"/>
          </a:xfrm>
          <a:prstGeom prst="rect">
            <a:avLst/>
          </a:prstGeom>
          <a:noFill/>
        </p:spPr>
        <p:txBody>
          <a:bodyPr wrap="square" rtlCol="0">
            <a:spAutoFit/>
          </a:bodyPr>
          <a:lstStyle/>
          <a:p>
            <a:pPr>
              <a:spcBef>
                <a:spcPts val="1200"/>
              </a:spcBef>
              <a:spcAft>
                <a:spcPts val="600"/>
              </a:spcAft>
            </a:pPr>
            <a:r>
              <a:rPr lang="en-US" b="1" dirty="0"/>
              <a:t>       </a:t>
            </a:r>
          </a:p>
          <a:p>
            <a:pPr>
              <a:spcBef>
                <a:spcPts val="1200"/>
              </a:spcBef>
              <a:spcAft>
                <a:spcPts val="600"/>
              </a:spcAft>
            </a:pPr>
            <a:r>
              <a:rPr lang="en-US" dirty="0"/>
              <a:t>Modernize PSEG LI’s substations communications by replacing legacy JMUX with MPLS nodes to deliver a reliable, scalable and future-ready network. </a:t>
            </a:r>
          </a:p>
          <a:p>
            <a:pPr lvl="1">
              <a:spcBef>
                <a:spcPts val="1200"/>
              </a:spcBef>
              <a:spcAft>
                <a:spcPts val="600"/>
              </a:spcAft>
            </a:pPr>
            <a:endParaRPr lang="en-US" b="1" dirty="0"/>
          </a:p>
          <a:p>
            <a:pPr>
              <a:spcBef>
                <a:spcPts val="1200"/>
              </a:spcBef>
              <a:spcAft>
                <a:spcPts val="600"/>
              </a:spcAft>
            </a:pPr>
            <a:r>
              <a:rPr lang="en-US" sz="1400" b="1" dirty="0"/>
              <a:t>   </a:t>
            </a:r>
            <a:r>
              <a:rPr lang="en-US" b="1" dirty="0"/>
              <a:t>Objectives </a:t>
            </a:r>
            <a:r>
              <a:rPr lang="en-US" sz="1400" dirty="0"/>
              <a:t>  </a:t>
            </a:r>
          </a:p>
          <a:p>
            <a:pPr lvl="1" fontAlgn="ctr"/>
            <a:endParaRPr lang="en-US" b="1" dirty="0"/>
          </a:p>
          <a:p>
            <a:pPr lvl="1" fontAlgn="ctr"/>
            <a:r>
              <a:rPr lang="en-US" b="1" dirty="0"/>
              <a:t>Engineering Services</a:t>
            </a:r>
            <a:endParaRPr lang="en-US" dirty="0"/>
          </a:p>
          <a:p>
            <a:pPr marL="1200150" lvl="2" indent="-285750" fontAlgn="ctr">
              <a:buFont typeface="Arial" panose="020B0604020202020204" pitchFamily="34" charset="0"/>
              <a:buChar char="•"/>
            </a:pPr>
            <a:r>
              <a:rPr lang="en-US" sz="1400" dirty="0"/>
              <a:t>Detailed site surveys, rack elevations, power design, supplemental documents and as-builts</a:t>
            </a:r>
          </a:p>
          <a:p>
            <a:pPr marL="1200150" lvl="2" indent="-285750" fontAlgn="ctr">
              <a:buFont typeface="Arial" panose="020B0604020202020204" pitchFamily="34" charset="0"/>
              <a:buChar char="•"/>
            </a:pPr>
            <a:r>
              <a:rPr lang="en-US" sz="1400" dirty="0"/>
              <a:t>Each of the substations are fully aligned with PSEG LI standards and stakeholder buy-off</a:t>
            </a:r>
          </a:p>
          <a:p>
            <a:pPr marL="1200150" lvl="2" indent="-285750" fontAlgn="ctr">
              <a:buFont typeface="Arial" panose="020B0604020202020204" pitchFamily="34" charset="0"/>
              <a:buChar char="•"/>
            </a:pPr>
            <a:r>
              <a:rPr lang="en-US" sz="1400" dirty="0"/>
              <a:t>Phase 1 – As- Built – </a:t>
            </a:r>
            <a:r>
              <a:rPr lang="en-US" sz="1400" dirty="0" err="1"/>
              <a:t>BMcD</a:t>
            </a:r>
            <a:r>
              <a:rPr lang="en-US" sz="1400" dirty="0"/>
              <a:t> is working on completing the As –Built for Phase 1</a:t>
            </a:r>
          </a:p>
          <a:p>
            <a:pPr marL="1200150" lvl="2" indent="-285750" fontAlgn="ctr">
              <a:buFont typeface="Arial" panose="020B0604020202020204" pitchFamily="34" charset="0"/>
              <a:buChar char="•"/>
            </a:pPr>
            <a:r>
              <a:rPr lang="en-US" sz="1400" b="1" dirty="0"/>
              <a:t>Phase 2 site surveys completed in Phase 1. </a:t>
            </a:r>
            <a:r>
              <a:rPr lang="en-US" sz="1400" b="1" dirty="0" err="1"/>
              <a:t>BMcD</a:t>
            </a:r>
            <a:r>
              <a:rPr lang="en-US" sz="1400" b="1" dirty="0"/>
              <a:t> is working on </a:t>
            </a:r>
            <a:endParaRPr lang="en-US" sz="1400" dirty="0"/>
          </a:p>
          <a:p>
            <a:pPr marL="1657350" lvl="3" indent="-285750" fontAlgn="ctr">
              <a:buFont typeface="Arial" panose="020B0604020202020204" pitchFamily="34" charset="0"/>
              <a:buChar char="•"/>
            </a:pPr>
            <a:r>
              <a:rPr lang="en-US" sz="1400" dirty="0"/>
              <a:t>Issuing (IFRs)</a:t>
            </a:r>
          </a:p>
          <a:p>
            <a:pPr marL="1657350" lvl="3" indent="-285750" fontAlgn="ctr">
              <a:buFont typeface="Arial" panose="020B0604020202020204" pitchFamily="34" charset="0"/>
              <a:buChar char="•"/>
            </a:pPr>
            <a:r>
              <a:rPr lang="en-US" sz="1400" dirty="0"/>
              <a:t>Issuing  for Construction (IFC) – </a:t>
            </a:r>
            <a:r>
              <a:rPr lang="en-US" sz="1400" dirty="0">
                <a:solidFill>
                  <a:srgbClr val="00B050"/>
                </a:solidFill>
              </a:rPr>
              <a:t>In Progress </a:t>
            </a:r>
          </a:p>
          <a:p>
            <a:pPr marL="1657350" lvl="3" indent="-285750" fontAlgn="ctr">
              <a:buFont typeface="Arial" panose="020B0604020202020204" pitchFamily="34" charset="0"/>
              <a:buChar char="•"/>
            </a:pPr>
            <a:endParaRPr lang="en-US" sz="1400" b="1" dirty="0"/>
          </a:p>
          <a:p>
            <a:pPr marL="342900" fontAlgn="ctr"/>
            <a:r>
              <a:rPr lang="en-US" b="1" dirty="0"/>
              <a:t>  Procurement &amp; Staging</a:t>
            </a:r>
            <a:endParaRPr lang="en-US" dirty="0"/>
          </a:p>
          <a:p>
            <a:pPr marL="1200150" lvl="2" indent="-285750" fontAlgn="ctr">
              <a:buFont typeface="Arial" panose="020B0604020202020204" pitchFamily="34" charset="0"/>
              <a:buChar char="•"/>
            </a:pPr>
            <a:r>
              <a:rPr lang="en-US" sz="1400" dirty="0"/>
              <a:t>All equipment purchased by PSEGLI and shipped to Hawkeye’s staging facility, date of delivery – </a:t>
            </a:r>
            <a:r>
              <a:rPr lang="en-US" sz="1400" dirty="0">
                <a:solidFill>
                  <a:srgbClr val="00B050"/>
                </a:solidFill>
              </a:rPr>
              <a:t>Delivered</a:t>
            </a:r>
          </a:p>
          <a:p>
            <a:pPr marL="742950" lvl="1" indent="-285750" fontAlgn="ctr">
              <a:buFont typeface="Arial" panose="020B0604020202020204" pitchFamily="34" charset="0"/>
              <a:buChar char="•"/>
            </a:pPr>
            <a:endParaRPr lang="en-US" sz="1400" dirty="0"/>
          </a:p>
          <a:p>
            <a:pPr marL="342900" fontAlgn="ctr"/>
            <a:r>
              <a:rPr lang="en-US" b="1" dirty="0"/>
              <a:t>  Construction and Installation Support</a:t>
            </a:r>
            <a:endParaRPr lang="en-US" dirty="0"/>
          </a:p>
          <a:p>
            <a:pPr marL="1200150" lvl="2" indent="-285750" fontAlgn="ctr">
              <a:buFont typeface="Arial" panose="020B0604020202020204" pitchFamily="34" charset="0"/>
              <a:buChar char="•"/>
            </a:pPr>
            <a:r>
              <a:rPr lang="en-US" sz="1400" dirty="0" err="1"/>
              <a:t>BMcD</a:t>
            </a:r>
            <a:r>
              <a:rPr lang="en-US" sz="1400" dirty="0"/>
              <a:t> to provide on-site coordination with engineering team, technical support and commissioning oversight.</a:t>
            </a:r>
          </a:p>
          <a:p>
            <a:pPr marL="1200150" lvl="2" indent="-285750" fontAlgn="ctr">
              <a:buFont typeface="Arial" panose="020B0604020202020204" pitchFamily="34" charset="0"/>
              <a:buChar char="•"/>
            </a:pPr>
            <a:r>
              <a:rPr lang="en-US" sz="1400" dirty="0"/>
              <a:t>SSP document gathering for Phase 2 needs to be filled out for SSP team </a:t>
            </a:r>
          </a:p>
          <a:p>
            <a:pPr marL="1200150" lvl="2" indent="-285750" fontAlgn="ctr">
              <a:buFont typeface="Arial" panose="020B0604020202020204" pitchFamily="34" charset="0"/>
              <a:buChar char="•"/>
            </a:pPr>
            <a:r>
              <a:rPr lang="en-US" sz="1400" dirty="0"/>
              <a:t>Working on remote connectivity to the nodes.</a:t>
            </a:r>
            <a:endParaRPr lang="en-US" dirty="0"/>
          </a:p>
          <a:p>
            <a:pPr lvl="1" fontAlgn="ctr"/>
            <a:endParaRPr lang="en-US" dirty="0">
              <a:latin typeface="Times New Roman" panose="02020603050405020304" pitchFamily="18" charset="0"/>
            </a:endParaRPr>
          </a:p>
          <a:p>
            <a:pPr lvl="1" fontAlgn="ctr"/>
            <a:r>
              <a:rPr lang="en-US" dirty="0">
                <a:latin typeface="Times New Roman" panose="02020603050405020304" pitchFamily="18" charset="0"/>
              </a:rPr>
              <a:t> </a:t>
            </a:r>
          </a:p>
          <a:p>
            <a:pPr marL="342900" marR="0">
              <a:spcBef>
                <a:spcPts val="0"/>
              </a:spcBef>
              <a:spcAft>
                <a:spcPts val="0"/>
              </a:spcAft>
            </a:pPr>
            <a:endParaRPr lang="en-US" b="1" dirty="0">
              <a:latin typeface="Times New Roman" panose="02020603050405020304" pitchFamily="18" charset="0"/>
            </a:endParaRPr>
          </a:p>
          <a:p>
            <a:pPr>
              <a:spcBef>
                <a:spcPts val="1200"/>
              </a:spcBef>
              <a:spcAft>
                <a:spcPts val="600"/>
              </a:spcAft>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920368833"/>
              </p:ext>
            </p:extLst>
          </p:nvPr>
        </p:nvGraphicFramePr>
        <p:xfrm>
          <a:off x="1788158" y="1621096"/>
          <a:ext cx="8417020" cy="1114425"/>
        </p:xfrm>
        <a:graphic>
          <a:graphicData uri="http://schemas.openxmlformats.org/drawingml/2006/table">
            <a:tbl>
              <a:tblPr/>
              <a:tblGrid>
                <a:gridCol w="1718096">
                  <a:extLst>
                    <a:ext uri="{9D8B030D-6E8A-4147-A177-3AD203B41FA5}">
                      <a16:colId xmlns:a16="http://schemas.microsoft.com/office/drawing/2014/main" val="1396795005"/>
                    </a:ext>
                  </a:extLst>
                </a:gridCol>
                <a:gridCol w="1172931">
                  <a:extLst>
                    <a:ext uri="{9D8B030D-6E8A-4147-A177-3AD203B41FA5}">
                      <a16:colId xmlns:a16="http://schemas.microsoft.com/office/drawing/2014/main" val="2948806097"/>
                    </a:ext>
                  </a:extLst>
                </a:gridCol>
                <a:gridCol w="978820">
                  <a:extLst>
                    <a:ext uri="{9D8B030D-6E8A-4147-A177-3AD203B41FA5}">
                      <a16:colId xmlns:a16="http://schemas.microsoft.com/office/drawing/2014/main" val="296996477"/>
                    </a:ext>
                  </a:extLst>
                </a:gridCol>
                <a:gridCol w="1177061">
                  <a:extLst>
                    <a:ext uri="{9D8B030D-6E8A-4147-A177-3AD203B41FA5}">
                      <a16:colId xmlns:a16="http://schemas.microsoft.com/office/drawing/2014/main" val="3553682138"/>
                    </a:ext>
                  </a:extLst>
                </a:gridCol>
                <a:gridCol w="1718096">
                  <a:extLst>
                    <a:ext uri="{9D8B030D-6E8A-4147-A177-3AD203B41FA5}">
                      <a16:colId xmlns:a16="http://schemas.microsoft.com/office/drawing/2014/main" val="2383358384"/>
                    </a:ext>
                  </a:extLst>
                </a:gridCol>
                <a:gridCol w="1652016">
                  <a:extLst>
                    <a:ext uri="{9D8B030D-6E8A-4147-A177-3AD203B41FA5}">
                      <a16:colId xmlns:a16="http://schemas.microsoft.com/office/drawing/2014/main" val="4008667415"/>
                    </a:ext>
                  </a:extLst>
                </a:gridCol>
              </a:tblGrid>
              <a:tr h="218433">
                <a:tc>
                  <a:txBody>
                    <a:bodyPr/>
                    <a:lstStyle/>
                    <a:p>
                      <a:pPr algn="l" fontAlgn="b"/>
                      <a:r>
                        <a:rPr lang="en-US" sz="1400" b="1" i="0" u="none" strike="noStrike">
                          <a:solidFill>
                            <a:srgbClr val="000000"/>
                          </a:solidFill>
                          <a:effectLst/>
                          <a:latin typeface="Calibri" panose="020F0502020204030204" pitchFamily="34" charset="0"/>
                        </a:rPr>
                        <a:t>SCOPE</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SUBSTATIONS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panose="020F0502020204030204" pitchFamily="34" charset="0"/>
                        </a:rPr>
                        <a:t>MPLS SITES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DF RTU SITES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RADIO SHELTER SITES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NOKIA MPLS NODES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7201796"/>
                  </a:ext>
                </a:extLst>
              </a:tr>
              <a:tr h="218433">
                <a:tc>
                  <a:txBody>
                    <a:bodyPr/>
                    <a:lstStyle/>
                    <a:p>
                      <a:pPr algn="l" fontAlgn="b"/>
                      <a:r>
                        <a:rPr lang="en-US" sz="1400" b="1" i="0" u="none" strike="noStrike">
                          <a:solidFill>
                            <a:srgbClr val="000000"/>
                          </a:solidFill>
                          <a:effectLst/>
                          <a:latin typeface="Calibri" panose="020F0502020204030204" pitchFamily="34" charset="0"/>
                        </a:rPr>
                        <a:t>PHASE 1</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31</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47795371"/>
                  </a:ext>
                </a:extLst>
              </a:tr>
              <a:tr h="218433">
                <a:tc>
                  <a:txBody>
                    <a:bodyPr/>
                    <a:lstStyle/>
                    <a:p>
                      <a:pPr algn="l" fontAlgn="b"/>
                      <a:r>
                        <a:rPr lang="en-US" sz="1400" b="1" i="0" u="none" strike="noStrike" dirty="0">
                          <a:solidFill>
                            <a:srgbClr val="000000"/>
                          </a:solidFill>
                          <a:effectLst/>
                          <a:latin typeface="Calibri" panose="020F0502020204030204" pitchFamily="34" charset="0"/>
                        </a:rPr>
                        <a:t>PHASE 2</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26</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82680919"/>
                  </a:ext>
                </a:extLst>
              </a:tr>
              <a:tr h="218433">
                <a:tc>
                  <a:txBody>
                    <a:bodyPr/>
                    <a:lstStyle/>
                    <a:p>
                      <a:pPr algn="l" fontAlgn="b"/>
                      <a:r>
                        <a:rPr lang="en-US" sz="1400" b="1" i="0" u="none" strike="noStrike">
                          <a:solidFill>
                            <a:srgbClr val="000000"/>
                          </a:solidFill>
                          <a:effectLst/>
                          <a:latin typeface="Calibri" panose="020F0502020204030204" pitchFamily="34" charset="0"/>
                        </a:rPr>
                        <a:t>PHASE 3</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22</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38628979"/>
                  </a:ext>
                </a:extLst>
              </a:tr>
              <a:tr h="218433">
                <a:tc>
                  <a:txBody>
                    <a:bodyPr/>
                    <a:lstStyle/>
                    <a:p>
                      <a:pPr algn="l" fontAlgn="b"/>
                      <a:r>
                        <a:rPr lang="en-US" sz="1400" b="1" i="0" u="none" strike="noStrike">
                          <a:solidFill>
                            <a:srgbClr val="000000"/>
                          </a:solidFill>
                          <a:effectLst/>
                          <a:latin typeface="Calibri" panose="020F0502020204030204" pitchFamily="34" charset="0"/>
                        </a:rPr>
                        <a:t>TOTAL SCOPE</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129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79</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111024114"/>
                  </a:ext>
                </a:extLst>
              </a:tr>
            </a:tbl>
          </a:graphicData>
        </a:graphic>
      </p:graphicFrame>
      <p:sp>
        <p:nvSpPr>
          <p:cNvPr id="11" name="Title 3"/>
          <p:cNvSpPr txBox="1">
            <a:spLocks/>
          </p:cNvSpPr>
          <p:nvPr/>
        </p:nvSpPr>
        <p:spPr bwMode="auto">
          <a:xfrm>
            <a:off x="752669" y="319469"/>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Goal &amp; Objectives   </a:t>
            </a:r>
          </a:p>
        </p:txBody>
      </p:sp>
    </p:spTree>
    <p:extLst>
      <p:ext uri="{BB962C8B-B14F-4D97-AF65-F5344CB8AC3E}">
        <p14:creationId xmlns:p14="http://schemas.microsoft.com/office/powerpoint/2010/main" val="135201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8879354"/>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- 9/29/2025</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 to be ordered and run to NSP in Hicksville </a:t>
            </a:r>
            <a:r>
              <a:rPr lang="en-US" sz="1400" b="1" i="1" dirty="0">
                <a:solidFill>
                  <a:srgbClr val="00B050"/>
                </a:solidFill>
              </a:rPr>
              <a:t>– Scheduled for 03/03</a:t>
            </a:r>
          </a:p>
          <a:p>
            <a:pPr lvl="1" fontAlgn="ctr"/>
            <a:endParaRPr lang="en-US" sz="1400" dirty="0"/>
          </a:p>
          <a:p>
            <a:pPr lvl="1" fontAlgn="ctr"/>
            <a:endParaRPr lang="en-US" sz="1400" dirty="0"/>
          </a:p>
          <a:p>
            <a:pPr marL="285750" indent="-285750" fontAlgn="ctr">
              <a:buFont typeface="Arial" panose="020B0604020202020204" pitchFamily="34" charset="0"/>
              <a:buChar char="•"/>
            </a:pPr>
            <a:r>
              <a:rPr lang="en-US" sz="1400" b="1" dirty="0"/>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Tree>
    <p:extLst>
      <p:ext uri="{BB962C8B-B14F-4D97-AF65-F5344CB8AC3E}">
        <p14:creationId xmlns:p14="http://schemas.microsoft.com/office/powerpoint/2010/main" val="1417963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5180" y="4404359"/>
            <a:ext cx="6254880" cy="1005456"/>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Nokia equipment for Phase 2 – delivered to Hawkeye warehouse			02/19/2026</a:t>
            </a:r>
          </a:p>
          <a:p>
            <a:pPr marL="171450" indent="-171450">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Nokia NSP equipment installed racked and powered up at Melville and Hicksville .       		02/11/2026</a:t>
            </a:r>
          </a:p>
          <a:p>
            <a:pPr marL="171450" indent="-171450">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SSP documents filled out and sent to SSP team 				02/10/2026</a:t>
            </a:r>
          </a:p>
          <a:p>
            <a:pPr marL="171450" indent="-171450">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CMDB inventory spreadsheet filled out and sent to added into database. 		02/06/2026</a:t>
            </a:r>
          </a:p>
          <a:p>
            <a:r>
              <a:rPr lang="en-US" sz="900" dirty="0">
                <a:solidFill>
                  <a:schemeClr val="tx1"/>
                </a:solidFill>
                <a:latin typeface="Arial" panose="020B0604020202020204" pitchFamily="34" charset="0"/>
                <a:ea typeface="Times New Roman" panose="02020603050405020304" pitchFamily="18" charset="0"/>
              </a:rPr>
              <a:t>	</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solidFill>
          <a:ln w="12700">
            <a:solidFill>
              <a:prstClr val="black"/>
            </a:solidFill>
          </a:ln>
        </p:spPr>
        <p:txBody>
          <a:bodyPr anchor="t"/>
          <a:lstStyle/>
          <a:p>
            <a:pPr algn="ct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07686" cy="2203699"/>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38175">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83304">
                <a:tc>
                  <a:txBody>
                    <a:bodyPr/>
                    <a:lstStyle/>
                    <a:p>
                      <a:pPr marL="0" marR="0" algn="l">
                        <a:spcBef>
                          <a:spcPts val="600"/>
                        </a:spcBef>
                        <a:spcAft>
                          <a:spcPts val="0"/>
                        </a:spcAft>
                      </a:pPr>
                      <a:r>
                        <a:rPr lang="en-GB" sz="1000" dirty="0">
                          <a:solidFill>
                            <a:schemeClr val="tx1"/>
                          </a:solidFill>
                          <a:effectLst/>
                        </a:rPr>
                        <a:t> Project Health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404079">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404079">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404079">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404079">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lvl="0" indent="5715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tx1"/>
                          </a:solidFill>
                          <a:effectLst/>
                          <a:latin typeface="Arial" panose="020B0604020202020204" pitchFamily="34" charset="0"/>
                          <a:ea typeface="Times New Roman" panose="02020603050405020304" pitchFamily="18" charset="0"/>
                        </a:rPr>
                        <a:t>Green</a:t>
                      </a:r>
                    </a:p>
                    <a:p>
                      <a:pPr marL="0" marR="0" indent="57150" algn="ctr">
                        <a:spcBef>
                          <a:spcPts val="0"/>
                        </a:spcBef>
                        <a:spcAft>
                          <a:spcPts val="0"/>
                        </a:spcAft>
                      </a:pP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404079">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661073" cy="832693"/>
          </a:xfrm>
          <a:prstGeom prst="rect">
            <a:avLst/>
          </a:prstGeom>
          <a:solidFill>
            <a:schemeClr val="bg1">
              <a:lumMod val="85000"/>
            </a:schemeClr>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02/25/2026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5576" y="3027543"/>
            <a:ext cx="3216854" cy="1379137"/>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US" sz="900" dirty="0" err="1">
                <a:solidFill>
                  <a:schemeClr val="tx1"/>
                </a:solidFill>
                <a:latin typeface="Arial" panose="020B0604020202020204" pitchFamily="34" charset="0"/>
                <a:ea typeface="Times New Roman" panose="02020603050405020304" pitchFamily="18" charset="0"/>
              </a:rPr>
              <a:t>Proj</a:t>
            </a:r>
            <a:r>
              <a:rPr lang="en-US" sz="900" dirty="0">
                <a:solidFill>
                  <a:schemeClr val="tx1"/>
                </a:solidFill>
                <a:latin typeface="Arial" panose="020B0604020202020204" pitchFamily="34" charset="0"/>
                <a:ea typeface="Times New Roman" panose="02020603050405020304" pitchFamily="18" charset="0"/>
              </a:rPr>
              <a:t> Actual Start	                              04-18-2024</a:t>
            </a:r>
          </a:p>
          <a:p>
            <a:pPr>
              <a:tabLst>
                <a:tab pos="1260475" algn="l"/>
                <a:tab pos="2457450" algn="l"/>
              </a:tabLst>
            </a:pPr>
            <a:r>
              <a:rPr lang="en-US" sz="900" dirty="0">
                <a:solidFill>
                  <a:schemeClr val="tx1"/>
                </a:solidFill>
                <a:latin typeface="Arial" panose="020B0604020202020204" pitchFamily="34" charset="0"/>
                <a:ea typeface="Times New Roman" panose="02020603050405020304" pitchFamily="18" charset="0"/>
              </a:rPr>
              <a:t>RFP Award and SOW	                              10-04-2024</a:t>
            </a:r>
          </a:p>
          <a:p>
            <a:pPr>
              <a:tabLst>
                <a:tab pos="1260475" algn="l"/>
                <a:tab pos="2457450" algn="l"/>
              </a:tabLst>
            </a:pPr>
            <a:r>
              <a:rPr lang="en-US" sz="900" dirty="0">
                <a:solidFill>
                  <a:schemeClr val="tx1"/>
                </a:solidFill>
                <a:latin typeface="Arial" panose="020B0604020202020204" pitchFamily="34" charset="0"/>
                <a:ea typeface="Times New Roman" panose="02020603050405020304" pitchFamily="18" charset="0"/>
              </a:rPr>
              <a:t>Phase 1 Detailed Design Start                      01-13-2025</a:t>
            </a:r>
          </a:p>
          <a:p>
            <a:pPr>
              <a:tabLst>
                <a:tab pos="1260475" algn="l"/>
                <a:tab pos="2457450" algn="l"/>
              </a:tabLst>
            </a:pPr>
            <a:r>
              <a:rPr lang="en-US" sz="900" dirty="0">
                <a:solidFill>
                  <a:schemeClr val="tx1"/>
                </a:solidFill>
                <a:latin typeface="Arial" panose="020B0604020202020204" pitchFamily="34" charset="0"/>
                <a:ea typeface="Times New Roman" panose="02020603050405020304" pitchFamily="18" charset="0"/>
              </a:rPr>
              <a:t>Construction Start	                              10-06-2025</a:t>
            </a:r>
          </a:p>
          <a:p>
            <a:pPr>
              <a:tabLst>
                <a:tab pos="1260475" algn="l"/>
                <a:tab pos="2457450" algn="l"/>
              </a:tabLst>
            </a:pPr>
            <a:r>
              <a:rPr lang="en-US" sz="900" dirty="0">
                <a:solidFill>
                  <a:schemeClr val="tx1"/>
                </a:solidFill>
                <a:latin typeface="Arial" panose="020B0604020202020204" pitchFamily="34" charset="0"/>
                <a:ea typeface="Times New Roman" panose="02020603050405020304" pitchFamily="18" charset="0"/>
              </a:rPr>
              <a:t>Project Plan (Baseline) End                          04-08-2027</a:t>
            </a:r>
          </a:p>
          <a:p>
            <a:pPr>
              <a:tabLst>
                <a:tab pos="1260475" algn="l"/>
                <a:tab pos="2457450" algn="l"/>
              </a:tabLst>
            </a:pPr>
            <a:r>
              <a:rPr lang="en-US" sz="900" dirty="0" err="1">
                <a:solidFill>
                  <a:schemeClr val="tx1"/>
                </a:solidFill>
                <a:latin typeface="Arial" panose="020B0604020202020204" pitchFamily="34" charset="0"/>
                <a:ea typeface="Times New Roman" panose="02020603050405020304" pitchFamily="18" charset="0"/>
              </a:rPr>
              <a:t>Proj</a:t>
            </a:r>
            <a:r>
              <a:rPr lang="en-US" sz="900" dirty="0">
                <a:solidFill>
                  <a:schemeClr val="tx1"/>
                </a:solidFill>
                <a:latin typeface="Arial" panose="020B0604020202020204" pitchFamily="34" charset="0"/>
                <a:ea typeface="Times New Roman" panose="02020603050405020304" pitchFamily="18" charset="0"/>
              </a:rPr>
              <a:t> Actual Target End 	                               07-08-2027</a:t>
            </a: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89645" y="3057818"/>
            <a:ext cx="3080579" cy="135845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Financials–Total URB Approved </a:t>
            </a:r>
            <a:r>
              <a:rPr lang="en-GB" sz="1000" b="1" u="sng" dirty="0" err="1">
                <a:solidFill>
                  <a:schemeClr val="tx1"/>
                </a:solidFill>
                <a:latin typeface="Arial" panose="020B0604020202020204" pitchFamily="34" charset="0"/>
                <a:ea typeface="Times New Roman" panose="02020603050405020304" pitchFamily="18" charset="0"/>
              </a:rPr>
              <a:t>Prgm</a:t>
            </a:r>
            <a:r>
              <a:rPr lang="en-GB" sz="1000" b="1" u="sng" dirty="0">
                <a:solidFill>
                  <a:schemeClr val="tx1"/>
                </a:solidFill>
                <a:latin typeface="Arial" panose="020B0604020202020204" pitchFamily="34" charset="0"/>
                <a:ea typeface="Times New Roman" panose="02020603050405020304" pitchFamily="18" charset="0"/>
              </a:rPr>
              <a:t>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Master WBS Code:                                                I.39424.1.x URB Approved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complete:	$6,600,000.00 </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budget:	$00.00</a:t>
            </a:r>
          </a:p>
          <a:p>
            <a:pPr lvl="0">
              <a:tabLst>
                <a:tab pos="2800350" algn="dec"/>
              </a:tabLst>
              <a:defRPr/>
            </a:pPr>
            <a:r>
              <a:rPr lang="en-GB" sz="800" b="1" dirty="0">
                <a:solidFill>
                  <a:schemeClr val="tx1"/>
                </a:solidFill>
                <a:latin typeface="Arial" panose="020B0604020202020204" pitchFamily="34" charset="0"/>
                <a:ea typeface="Times New Roman" panose="02020603050405020304" pitchFamily="18" charset="0"/>
                <a:cs typeface="Arial" panose="020B0604020202020204" pitchFamily="34" charset="0"/>
              </a:rPr>
              <a:t>Under budget</a:t>
            </a: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87084" y="1586184"/>
            <a:ext cx="5906100" cy="2111834"/>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i="1" u="sng" dirty="0">
                <a:solidFill>
                  <a:schemeClr val="tx1"/>
                </a:solidFill>
                <a:latin typeface="Arial" panose="020B0604020202020204" pitchFamily="34" charset="0"/>
                <a:cs typeface="Arial" panose="020B0604020202020204" pitchFamily="34" charset="0"/>
              </a:rPr>
              <a:t>Benefit</a:t>
            </a:r>
            <a:endParaRPr lang="en-US" sz="900" i="1" dirty="0"/>
          </a:p>
          <a:p>
            <a:pPr>
              <a:defRPr/>
            </a:pPr>
            <a:r>
              <a:rPr lang="en-US" sz="9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pPr>
              <a:defRPr/>
            </a:pPr>
            <a:endParaRPr lang="en-US" sz="800" dirty="0"/>
          </a:p>
          <a:p>
            <a:pPr>
              <a:defRPr/>
            </a:pPr>
            <a:r>
              <a:rPr lang="en-US" sz="900" dirty="0">
                <a:latin typeface="Arial" panose="020B0604020202020204" pitchFamily="34" charset="0"/>
                <a:cs typeface="Arial" panose="020B0604020202020204" pitchFamily="34" charset="0"/>
              </a:rPr>
              <a:t>Designing and implementing a private MPLS network to replace the aging Jungle Mux system enhances reliability, scalability, and security while ensuring seamless communication and future-proofing critical infrastructure. This upgrade reduces maintenance costs, simplifies network management, and mitigates risks associated with end-of-life equipment, ensuring long-term operational stability.</a:t>
            </a:r>
          </a:p>
          <a:p>
            <a:r>
              <a:rPr lang="en-GB" sz="900" dirty="0">
                <a:latin typeface="Arial" panose="020B0604020202020204" pitchFamily="34" charset="0"/>
                <a:ea typeface="Times New Roman" panose="02020603050405020304" pitchFamily="18" charset="0"/>
                <a:cs typeface="Arial" panose="020B0604020202020204" pitchFamily="34" charset="0"/>
              </a:rPr>
              <a:t> </a:t>
            </a:r>
            <a:endParaRPr lang="en-US" sz="900" dirty="0">
              <a:latin typeface="Arial" panose="020B0604020202020204" pitchFamily="34" charset="0"/>
              <a:ea typeface="Times New Roman" panose="02020603050405020304" pitchFamily="18" charset="0"/>
              <a:cs typeface="Arial" panose="020B0604020202020204" pitchFamily="34"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3683892"/>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 (95%-Complete)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900" i="1" dirty="0">
                <a:solidFill>
                  <a:schemeClr val="tx1"/>
                </a:solidFill>
                <a:latin typeface="Arial" panose="020B0604020202020204" pitchFamily="34" charset="0"/>
                <a:cs typeface="Arial" panose="020B0604020202020204" pitchFamily="34" charset="0"/>
              </a:rPr>
              <a:t>(Update the % above accordingly. </a:t>
            </a:r>
            <a:r>
              <a:rPr lang="en-US" sz="900" b="0" kern="1200" dirty="0">
                <a:solidFill>
                  <a:schemeClr val="tx1"/>
                </a:solidFill>
                <a:latin typeface="Arial" panose="020B0604020202020204" pitchFamily="34" charset="0"/>
                <a:ea typeface="+mn-ea"/>
                <a:cs typeface="Arial" panose="020B0604020202020204" pitchFamily="34" charset="0"/>
              </a:rPr>
              <a:t>The % of work that has been completed to deliver a product, service, or result with the specified features and functions. </a:t>
            </a:r>
            <a:r>
              <a:rPr lang="en-US" sz="900" dirty="0">
                <a:solidFill>
                  <a:schemeClr val="tx1"/>
                </a:solidFill>
                <a:latin typeface="Arial" panose="020B0604020202020204" pitchFamily="34" charset="0"/>
                <a:cs typeface="Arial" panose="020B0604020202020204" pitchFamily="34" charset="0"/>
              </a:rPr>
              <a:t>It is conceivable to leverage the description from each of the underlying project PJD’s</a:t>
            </a:r>
            <a:r>
              <a:rPr lang="en-US" sz="900" b="0" kern="1200" dirty="0">
                <a:solidFill>
                  <a:schemeClr val="tx1"/>
                </a:solidFill>
                <a:latin typeface="Arial" panose="020B0604020202020204" pitchFamily="34" charset="0"/>
                <a:ea typeface="+mn-ea"/>
                <a:cs typeface="Arial" panose="020B0604020202020204" pitchFamily="34" charset="0"/>
              </a:rPr>
              <a:t>)</a:t>
            </a:r>
          </a:p>
        </p:txBody>
      </p:sp>
      <p:sp>
        <p:nvSpPr>
          <p:cNvPr id="42" name="Text Box 44">
            <a:extLst>
              <a:ext uri="{FF2B5EF4-FFF2-40B4-BE49-F238E27FC236}">
                <a16:creationId xmlns:a16="http://schemas.microsoft.com/office/drawing/2014/main" id="{742DE467-4541-4411-A18E-7A2EB3246BE3}"/>
              </a:ext>
            </a:extLst>
          </p:cNvPr>
          <p:cNvSpPr txBox="1"/>
          <p:nvPr/>
        </p:nvSpPr>
        <p:spPr>
          <a:xfrm>
            <a:off x="-26334" y="5415569"/>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900" dirty="0">
              <a:solidFill>
                <a:schemeClr val="tx1"/>
              </a:solidFill>
              <a:latin typeface="Arial" panose="020B0604020202020204" pitchFamily="34" charset="0"/>
              <a:ea typeface="Times New Roman" panose="02020603050405020304" pitchFamily="18" charset="0"/>
            </a:endParaRPr>
          </a:p>
          <a:p>
            <a:pPr marL="135017" indent="-135017">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Cabling for NSP in Hicksville will be completed (Cables ordered)			03/03/2026</a:t>
            </a:r>
          </a:p>
          <a:p>
            <a:pPr marL="135017" indent="-135017">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OTDR testing at Hicksville since the DB level is low. 	 	                             03/03/2026</a:t>
            </a:r>
          </a:p>
          <a:p>
            <a:pPr marL="135017" indent="-135017">
              <a:buFont typeface="Arial" panose="020B0604020202020204" pitchFamily="34" charset="0"/>
              <a:buChar char="•"/>
            </a:pPr>
            <a:r>
              <a:rPr lang="en-US" sz="900" dirty="0">
                <a:solidFill>
                  <a:schemeClr val="tx1"/>
                </a:solidFill>
                <a:latin typeface="Arial" panose="020B0604020202020204" pitchFamily="34" charset="0"/>
                <a:ea typeface="Times New Roman" panose="02020603050405020304" pitchFamily="18" charset="0"/>
              </a:rPr>
              <a:t>Nokia Equipment for Phase 2 delivered all at once to Hawkeye warehouse. 		02/19/2026</a:t>
            </a: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p:txBody>
      </p:sp>
      <p:sp>
        <p:nvSpPr>
          <p:cNvPr id="43" name="Text Box 48">
            <a:extLst>
              <a:ext uri="{FF2B5EF4-FFF2-40B4-BE49-F238E27FC236}">
                <a16:creationId xmlns:a16="http://schemas.microsoft.com/office/drawing/2014/main" id="{F58AB777-D75A-4987-A0B9-DC4DA02EF15F}"/>
              </a:ext>
            </a:extLst>
          </p:cNvPr>
          <p:cNvSpPr txBox="1"/>
          <p:nvPr/>
        </p:nvSpPr>
        <p:spPr>
          <a:xfrm>
            <a:off x="6243730" y="5392110"/>
            <a:ext cx="5957872"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Safety delay at substation – Vendor not reporting safety issue.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p:txBody>
      </p:sp>
      <p:sp>
        <p:nvSpPr>
          <p:cNvPr id="44" name="Text Box 47">
            <a:extLst>
              <a:ext uri="{FF2B5EF4-FFF2-40B4-BE49-F238E27FC236}">
                <a16:creationId xmlns:a16="http://schemas.microsoft.com/office/drawing/2014/main" id="{BBA6DA4A-2903-4034-B47F-A4721929DA70}"/>
              </a:ext>
            </a:extLst>
          </p:cNvPr>
          <p:cNvSpPr txBox="1"/>
          <p:nvPr/>
        </p:nvSpPr>
        <p:spPr>
          <a:xfrm>
            <a:off x="6262802" y="6080669"/>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70390" y="4408272"/>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9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208424"/>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5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50" b="1" u="sng" dirty="0">
              <a:solidFill>
                <a:schemeClr val="tx1"/>
              </a:solidFill>
              <a:latin typeface="Arial" panose="020B0604020202020204" pitchFamily="34" charset="0"/>
              <a:ea typeface="Times New Roman" panose="02020603050405020304" pitchFamily="18" charset="0"/>
            </a:endParaRPr>
          </a:p>
          <a:p>
            <a:pPr marL="135017" indent="-135017">
              <a:buFont typeface="Arial" panose="020B0604020202020204" pitchFamily="34" charset="0"/>
              <a:buChar char="•"/>
            </a:pPr>
            <a:r>
              <a:rPr lang="en-US" sz="900" dirty="0">
                <a:latin typeface="Ariel"/>
                <a:cs typeface="Arial" panose="020B0604020202020204" pitchFamily="34" charset="0"/>
              </a:rPr>
              <a:t>CMDB inventory database updated and confirmed. – 2/24</a:t>
            </a:r>
          </a:p>
          <a:p>
            <a:pPr marL="135017" indent="-135017">
              <a:buFont typeface="Arial" panose="020B0604020202020204" pitchFamily="34" charset="0"/>
              <a:buChar char="•"/>
            </a:pPr>
            <a:r>
              <a:rPr lang="en-US" sz="900" dirty="0">
                <a:latin typeface="Ariel"/>
                <a:cs typeface="Arial" panose="020B0604020202020204" pitchFamily="34" charset="0"/>
              </a:rPr>
              <a:t>SSP documentation, security assessments, architecture reviews and compliance readiness for radio/security have been approved . </a:t>
            </a:r>
          </a:p>
          <a:p>
            <a:pPr marL="135017" indent="-135017">
              <a:buFont typeface="Arial" panose="020B0604020202020204" pitchFamily="34" charset="0"/>
              <a:buChar char="•"/>
            </a:pPr>
            <a:r>
              <a:rPr lang="en-US" sz="900" dirty="0">
                <a:latin typeface="Ariel"/>
                <a:cs typeface="Arial" panose="020B0604020202020204" pitchFamily="34" charset="0"/>
              </a:rPr>
              <a:t>Nokia NSP installed at Hicksville &amp; Melville. Setting up a change ticket for 03/03,  to revisit Hicksville to complete cabling that was ordered. </a:t>
            </a:r>
          </a:p>
          <a:p>
            <a:pPr marL="135017" indent="-135017">
              <a:buFont typeface="Arial" panose="020B0604020202020204" pitchFamily="34" charset="0"/>
              <a:buChar char="•"/>
            </a:pPr>
            <a:r>
              <a:rPr lang="en-US" sz="900" dirty="0">
                <a:latin typeface="Ariel"/>
                <a:cs typeface="Arial" panose="020B0604020202020204" pitchFamily="34" charset="0"/>
              </a:rPr>
              <a:t>Nokia equipment has been delivered to Hawkey warehouse and safely       stored – 02/19</a:t>
            </a:r>
          </a:p>
          <a:p>
            <a:pPr marL="135017" indent="-135017">
              <a:buFont typeface="Arial" panose="020B0604020202020204" pitchFamily="34" charset="0"/>
              <a:buChar char="•"/>
            </a:pPr>
            <a:r>
              <a:rPr lang="en-US" sz="900" dirty="0">
                <a:latin typeface="Ariel"/>
                <a:cs typeface="Arial" panose="020B0604020202020204" pitchFamily="34" charset="0"/>
              </a:rPr>
              <a:t>OTDR testing is planned for 03/04. Hawkeye will visit the Hicksville site to plan. The wavelength will be tested to make sure the filter is working properly. If the filter is working properly, it can be a Crown Castle issue.</a:t>
            </a:r>
          </a:p>
          <a:p>
            <a:pPr marL="135017" indent="-135017">
              <a:buFont typeface="Arial" panose="020B0604020202020204" pitchFamily="34" charset="0"/>
              <a:buChar char="•"/>
            </a:pPr>
            <a:r>
              <a:rPr lang="en-US" sz="900" dirty="0">
                <a:latin typeface="Ariel"/>
                <a:cs typeface="Arial" panose="020B0604020202020204" pitchFamily="34" charset="0"/>
              </a:rPr>
              <a:t>Verified with OTDR tester that their test set can test </a:t>
            </a:r>
            <a:r>
              <a:rPr lang="en-US" sz="900" dirty="0"/>
              <a:t>1550 and 1310 wavelengths. </a:t>
            </a:r>
            <a:endParaRPr lang="en-US" sz="900" dirty="0">
              <a:latin typeface="Ariel"/>
              <a:cs typeface="Arial" panose="020B0604020202020204" pitchFamily="34" charset="0"/>
            </a:endParaRPr>
          </a:p>
          <a:p>
            <a:pPr marL="171450" indent="-171450">
              <a:spcAft>
                <a:spcPts val="300"/>
              </a:spcAft>
              <a:buFont typeface="Arial" panose="020B0604020202020204" pitchFamily="34" charset="0"/>
              <a:buChar char="•"/>
              <a:tabLst>
                <a:tab pos="2057400" algn="r"/>
              </a:tabLst>
            </a:pPr>
            <a:endParaRPr lang="en-US" sz="900" dirty="0">
              <a:solidFill>
                <a:schemeClr val="tx1"/>
              </a:solidFill>
              <a:latin typeface="Arial" panose="020B0604020202020204" pitchFamily="34" charset="0"/>
              <a:ea typeface="Times New Roman" panose="02020603050405020304" pitchFamily="18" charset="0"/>
            </a:endParaRPr>
          </a:p>
          <a:p>
            <a:pPr marL="171450" indent="-171450">
              <a:spcAft>
                <a:spcPts val="300"/>
              </a:spcAft>
              <a:buFont typeface="Arial" panose="020B0604020202020204" pitchFamily="34" charset="0"/>
              <a:buChar char="•"/>
              <a:tabLst>
                <a:tab pos="2057400" algn="r"/>
              </a:tabLst>
            </a:pPr>
            <a:endParaRPr lang="en-US" sz="900" dirty="0">
              <a:solidFill>
                <a:schemeClr val="tx1"/>
              </a:solidFill>
              <a:latin typeface="Arial" panose="020B0604020202020204" pitchFamily="34" charset="0"/>
              <a:ea typeface="Times New Roman" panose="02020603050405020304" pitchFamily="18" charset="0"/>
            </a:endParaRPr>
          </a:p>
          <a:p>
            <a:pPr marL="171450" indent="-171450">
              <a:spcAft>
                <a:spcPts val="300"/>
              </a:spcAft>
              <a:buFont typeface="Arial" panose="020B0604020202020204" pitchFamily="34" charset="0"/>
              <a:buChar char="•"/>
              <a:tabLst>
                <a:tab pos="2057400" algn="r"/>
              </a:tabLst>
            </a:pPr>
            <a:endParaRPr lang="en-US" sz="900" dirty="0">
              <a:solidFill>
                <a:schemeClr val="tx1"/>
              </a:solidFill>
              <a:latin typeface="Arial" panose="020B0604020202020204" pitchFamily="34" charset="0"/>
              <a:ea typeface="Times New Roman" panose="02020603050405020304" pitchFamily="18" charset="0"/>
            </a:endParaRPr>
          </a:p>
          <a:p>
            <a:pPr marL="171450" indent="-171450">
              <a:spcAft>
                <a:spcPts val="300"/>
              </a:spcAft>
              <a:buFont typeface="Arial" panose="020B0604020202020204" pitchFamily="34" charset="0"/>
              <a:buChar char="•"/>
              <a:tabLst>
                <a:tab pos="2057400" algn="r"/>
              </a:tabLst>
            </a:pPr>
            <a:endParaRPr lang="en-US" sz="900" kern="1200" dirty="0">
              <a:solidFill>
                <a:schemeClr val="tx1"/>
              </a:solidFill>
              <a:latin typeface="Arial" panose="020B0604020202020204" pitchFamily="34" charset="0"/>
              <a:ea typeface="Times New Roman" panose="02020603050405020304" pitchFamily="18" charset="0"/>
              <a:cs typeface="+mn-cs"/>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1904" y="654869"/>
            <a:ext cx="5921280" cy="931316"/>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900" b="0" i="1" kern="1200"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21421668">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829957" y="422454"/>
            <a:ext cx="2355543" cy="392644"/>
          </a:xfrm>
          <a:prstGeom prst="rect">
            <a:avLst/>
          </a:prstGeom>
          <a:solidFill>
            <a:schemeClr val="bg1">
              <a:lumMod val="85000"/>
            </a:schemeClr>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a:t>
            </a:r>
            <a:r>
              <a:rPr lang="en-US" sz="1000" dirty="0">
                <a:hlinkClick r:id="rId3"/>
              </a:rPr>
              <a:t>JMUX Repository</a:t>
            </a:r>
            <a:endParaRPr lang="en-US" sz="1000" dirty="0"/>
          </a:p>
          <a:p>
            <a:pPr>
              <a:tabLst>
                <a:tab pos="1261872" algn="l"/>
              </a:tabLst>
            </a:pPr>
            <a:endParaRPr lang="en-US" sz="1000" dirty="0">
              <a:latin typeface="Arial" panose="020B0604020202020204" pitchFamily="34" charset="0"/>
              <a:ea typeface="Times New Roman" panose="02020603050405020304" pitchFamily="18" charset="0"/>
            </a:endParaRPr>
          </a:p>
        </p:txBody>
      </p:sp>
      <p:sp>
        <p:nvSpPr>
          <p:cNvPr id="58" name="Text Box 6">
            <a:extLst>
              <a:ext uri="{FF2B5EF4-FFF2-40B4-BE49-F238E27FC236}">
                <a16:creationId xmlns:a16="http://schemas.microsoft.com/office/drawing/2014/main" id="{01308F76-0B61-47B3-9C87-8083E00E34E4}"/>
              </a:ext>
            </a:extLst>
          </p:cNvPr>
          <p:cNvSpPr txBox="1"/>
          <p:nvPr/>
        </p:nvSpPr>
        <p:spPr>
          <a:xfrm>
            <a:off x="9829800" y="-12748"/>
            <a:ext cx="2349501" cy="434757"/>
          </a:xfrm>
          <a:prstGeom prst="rect">
            <a:avLst/>
          </a:prstGeom>
          <a:solidFill>
            <a:schemeClr val="bg1">
              <a:lumMod val="85000"/>
            </a:schemeClr>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p>
          <a:p>
            <a:pPr>
              <a:tabLst>
                <a:tab pos="1261872" algn="l"/>
              </a:tabLst>
            </a:pP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59" name="Rectangle 58"/>
          <p:cNvSpPr/>
          <p:nvPr/>
        </p:nvSpPr>
        <p:spPr>
          <a:xfrm>
            <a:off x="10326837" y="302635"/>
            <a:ext cx="404663" cy="8593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1316568" y="303312"/>
            <a:ext cx="404663" cy="8593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itle 5">
            <a:extLst>
              <a:ext uri="{FF2B5EF4-FFF2-40B4-BE49-F238E27FC236}">
                <a16:creationId xmlns:a16="http://schemas.microsoft.com/office/drawing/2014/main" id="{750A431B-B608-496E-9DA5-C69F700B2284}"/>
              </a:ext>
            </a:extLst>
          </p:cNvPr>
          <p:cNvSpPr txBox="1">
            <a:spLocks/>
          </p:cNvSpPr>
          <p:nvPr/>
        </p:nvSpPr>
        <p:spPr>
          <a:xfrm>
            <a:off x="2661073" y="-6550"/>
            <a:ext cx="7181426" cy="825217"/>
          </a:xfrm>
          <a:prstGeom prst="rect">
            <a:avLst/>
          </a:prstGeom>
          <a:solidFill>
            <a:schemeClr val="bg1">
              <a:lumMod val="85000"/>
            </a:schemeClr>
          </a:solidFill>
          <a:ln w="12700">
            <a:solidFill>
              <a:prstClr val="black"/>
            </a:solidFill>
          </a:ln>
        </p:spPr>
        <p:txBody>
          <a:bodyPr vert="horz" lIns="0" tIns="45720" rIns="91440" bIns="45720" rtlCol="0" anchor="ctr" anchorCtr="0">
            <a:normAutofit fontScale="97500"/>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lnSpc>
                <a:spcPct val="100000"/>
              </a:lnSpc>
            </a:pPr>
            <a:r>
              <a:rPr lang="en-US" sz="2000" b="0" dirty="0">
                <a:solidFill>
                  <a:schemeClr val="tx1"/>
                </a:solidFill>
              </a:rPr>
              <a:t>PROGRAM: </a:t>
            </a:r>
            <a:r>
              <a:rPr lang="en-US" altLang="en-US" sz="2000" dirty="0"/>
              <a:t>JMUX Replacement  </a:t>
            </a:r>
            <a:r>
              <a:rPr lang="en-US" altLang="en-US" sz="2000"/>
              <a:t>- Phase 1 </a:t>
            </a:r>
            <a:endParaRPr lang="en-US" sz="800" b="0" dirty="0">
              <a:solidFill>
                <a:schemeClr val="tx1"/>
              </a:solidFill>
              <a:latin typeface="+mn-lt"/>
            </a:endParaRPr>
          </a:p>
        </p:txBody>
      </p:sp>
      <p:sp>
        <p:nvSpPr>
          <p:cNvPr id="2" name="Right Arrow 32">
            <a:extLst>
              <a:ext uri="{FF2B5EF4-FFF2-40B4-BE49-F238E27FC236}">
                <a16:creationId xmlns:a16="http://schemas.microsoft.com/office/drawing/2014/main" id="{1364C06B-E8D5-D2E7-B5A3-7210A23FE4EF}"/>
              </a:ext>
            </a:extLst>
          </p:cNvPr>
          <p:cNvSpPr/>
          <p:nvPr/>
        </p:nvSpPr>
        <p:spPr>
          <a:xfrm>
            <a:off x="5798327" y="1832575"/>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699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403D6E-58FA-D779-81DB-70DD475A9AA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4" name="TextBox 2">
            <a:extLst>
              <a:ext uri="{FF2B5EF4-FFF2-40B4-BE49-F238E27FC236}">
                <a16:creationId xmlns:a16="http://schemas.microsoft.com/office/drawing/2014/main" id="{6205893A-C1F2-88FF-7A81-3529446EDD3B}"/>
              </a:ext>
            </a:extLst>
          </p:cNvPr>
          <p:cNvSpPr txBox="1">
            <a:spLocks noGrp="1" noRot="1" noMove="1" noResize="1" noEditPoints="1" noAdjustHandles="1" noChangeArrowheads="1" noChangeShapeType="1"/>
          </p:cNvSpPr>
          <p:nvPr/>
        </p:nvSpPr>
        <p:spPr>
          <a:xfrm>
            <a:off x="983945" y="778546"/>
            <a:ext cx="9869714" cy="398417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100"/>
          </a:p>
        </p:txBody>
      </p:sp>
      <p:pic>
        <p:nvPicPr>
          <p:cNvPr id="5" name="Picture 4">
            <a:extLst>
              <a:ext uri="{FF2B5EF4-FFF2-40B4-BE49-F238E27FC236}">
                <a16:creationId xmlns:a16="http://schemas.microsoft.com/office/drawing/2014/main" id="{A954A80D-0D31-4B2F-B57D-E5C11E008E6E}"/>
              </a:ext>
            </a:extLst>
          </p:cNvPr>
          <p:cNvPicPr>
            <a:picLocks noGrp="1" noRot="1" noChangeAspect="1" noMove="1" noResize="1" noEditPoints="1" noAdjustHandles="1" noChangeArrowheads="1" noChangeShapeType="1" noCrop="1"/>
          </p:cNvPicPr>
          <p:nvPr/>
        </p:nvPicPr>
        <p:blipFill rotWithShape="1">
          <a:blip r:embed="rId2"/>
          <a:srcRect r="283" b="18005"/>
          <a:stretch>
            <a:fillRect/>
          </a:stretch>
        </p:blipFill>
        <p:spPr>
          <a:xfrm>
            <a:off x="982132" y="1032546"/>
            <a:ext cx="9880263" cy="3708400"/>
          </a:xfrm>
          <a:prstGeom prst="rect">
            <a:avLst/>
          </a:prstGeom>
        </p:spPr>
      </p:pic>
      <p:sp>
        <p:nvSpPr>
          <p:cNvPr id="6" name="TextBox 5">
            <a:extLst>
              <a:ext uri="{FF2B5EF4-FFF2-40B4-BE49-F238E27FC236}">
                <a16:creationId xmlns:a16="http://schemas.microsoft.com/office/drawing/2014/main" id="{6F204FD2-C527-D8B9-A788-0D242A78DE3D}"/>
              </a:ext>
            </a:extLst>
          </p:cNvPr>
          <p:cNvSpPr txBox="1"/>
          <p:nvPr/>
        </p:nvSpPr>
        <p:spPr>
          <a:xfrm>
            <a:off x="2871564" y="282214"/>
            <a:ext cx="6094476" cy="369332"/>
          </a:xfrm>
          <a:prstGeom prst="rect">
            <a:avLst/>
          </a:prstGeom>
          <a:noFill/>
        </p:spPr>
        <p:txBody>
          <a:bodyPr wrap="square">
            <a:spAutoFit/>
          </a:bodyPr>
          <a:lstStyle/>
          <a:p>
            <a:r>
              <a:rPr lang="en-US" dirty="0">
                <a:solidFill>
                  <a:schemeClr val="accent3"/>
                </a:solidFill>
                <a:latin typeface="Aptos" panose="020B0004020202020204" pitchFamily="34" charset="0"/>
              </a:rPr>
              <a:t>Phase 1 – Layer 1-3 configuration – Next steps  </a:t>
            </a:r>
            <a:endParaRPr lang="en-US" sz="1800" dirty="0">
              <a:solidFill>
                <a:schemeClr val="accent1"/>
              </a:solidFill>
              <a:latin typeface="Aptos" panose="020B0004020202020204" pitchFamily="34" charset="0"/>
            </a:endParaRPr>
          </a:p>
        </p:txBody>
      </p:sp>
    </p:spTree>
    <p:extLst>
      <p:ext uri="{BB962C8B-B14F-4D97-AF65-F5344CB8AC3E}">
        <p14:creationId xmlns:p14="http://schemas.microsoft.com/office/powerpoint/2010/main" val="3144201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743772" y="651913"/>
            <a:ext cx="5844643" cy="307777"/>
          </a:xfrm>
          <a:prstGeom prst="rect">
            <a:avLst/>
          </a:prstGeom>
          <a:noFill/>
        </p:spPr>
        <p:txBody>
          <a:bodyPr wrap="square" rtlCol="0">
            <a:spAutoFit/>
          </a:bodyPr>
          <a:lstStyle/>
          <a:p>
            <a:pPr>
              <a:spcBef>
                <a:spcPts val="600"/>
              </a:spcBef>
              <a:spcAft>
                <a:spcPts val="600"/>
              </a:spcAft>
            </a:pPr>
            <a:r>
              <a:rPr lang="en-US" sz="1400" dirty="0"/>
              <a:t>2025 Phase-1 Substation Schedule 31 Sites (1 of 2) </a:t>
            </a:r>
          </a:p>
        </p:txBody>
      </p:sp>
      <p:sp>
        <p:nvSpPr>
          <p:cNvPr id="10" name="Title 3"/>
          <p:cNvSpPr txBox="1">
            <a:spLocks/>
          </p:cNvSpPr>
          <p:nvPr/>
        </p:nvSpPr>
        <p:spPr bwMode="auto">
          <a:xfrm>
            <a:off x="959085" y="14761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Project Accomplishments  </a:t>
            </a:r>
          </a:p>
        </p:txBody>
      </p:sp>
      <p:graphicFrame>
        <p:nvGraphicFramePr>
          <p:cNvPr id="7" name="Table 6"/>
          <p:cNvGraphicFramePr>
            <a:graphicFrameLocks noGrp="1"/>
          </p:cNvGraphicFramePr>
          <p:nvPr/>
        </p:nvGraphicFramePr>
        <p:xfrm>
          <a:off x="843279" y="879692"/>
          <a:ext cx="9469120" cy="4931828"/>
        </p:xfrm>
        <a:graphic>
          <a:graphicData uri="http://schemas.openxmlformats.org/drawingml/2006/table">
            <a:tbl>
              <a:tblPr firstRow="1" bandRow="1">
                <a:tableStyleId>{F5AB1C69-6EDB-4FF4-983F-18BD219EF322}</a:tableStyleId>
              </a:tblPr>
              <a:tblGrid>
                <a:gridCol w="591819">
                  <a:extLst>
                    <a:ext uri="{9D8B030D-6E8A-4147-A177-3AD203B41FA5}">
                      <a16:colId xmlns:a16="http://schemas.microsoft.com/office/drawing/2014/main" val="420910730"/>
                    </a:ext>
                  </a:extLst>
                </a:gridCol>
                <a:gridCol w="1846479">
                  <a:extLst>
                    <a:ext uri="{9D8B030D-6E8A-4147-A177-3AD203B41FA5}">
                      <a16:colId xmlns:a16="http://schemas.microsoft.com/office/drawing/2014/main" val="3683718648"/>
                    </a:ext>
                  </a:extLst>
                </a:gridCol>
                <a:gridCol w="1633423">
                  <a:extLst>
                    <a:ext uri="{9D8B030D-6E8A-4147-A177-3AD203B41FA5}">
                      <a16:colId xmlns:a16="http://schemas.microsoft.com/office/drawing/2014/main" val="789135036"/>
                    </a:ext>
                  </a:extLst>
                </a:gridCol>
                <a:gridCol w="1349350">
                  <a:extLst>
                    <a:ext uri="{9D8B030D-6E8A-4147-A177-3AD203B41FA5}">
                      <a16:colId xmlns:a16="http://schemas.microsoft.com/office/drawing/2014/main" val="3759070369"/>
                    </a:ext>
                  </a:extLst>
                </a:gridCol>
                <a:gridCol w="1917497">
                  <a:extLst>
                    <a:ext uri="{9D8B030D-6E8A-4147-A177-3AD203B41FA5}">
                      <a16:colId xmlns:a16="http://schemas.microsoft.com/office/drawing/2014/main" val="2034665736"/>
                    </a:ext>
                  </a:extLst>
                </a:gridCol>
                <a:gridCol w="2130552">
                  <a:extLst>
                    <a:ext uri="{9D8B030D-6E8A-4147-A177-3AD203B41FA5}">
                      <a16:colId xmlns:a16="http://schemas.microsoft.com/office/drawing/2014/main" val="1677947355"/>
                    </a:ext>
                  </a:extLst>
                </a:gridCol>
              </a:tblGrid>
              <a:tr h="234868">
                <a:tc>
                  <a:txBody>
                    <a:bodyPr/>
                    <a:lstStyle/>
                    <a:p>
                      <a:pPr algn="ctr"/>
                      <a:r>
                        <a:rPr lang="en-US" sz="1100" dirty="0"/>
                        <a:t>#</a:t>
                      </a:r>
                    </a:p>
                  </a:txBody>
                  <a:tcPr/>
                </a:tc>
                <a:tc>
                  <a:txBody>
                    <a:bodyPr/>
                    <a:lstStyle/>
                    <a:p>
                      <a:r>
                        <a:rPr lang="en-US" sz="1100" dirty="0"/>
                        <a:t>Substation</a:t>
                      </a:r>
                    </a:p>
                  </a:txBody>
                  <a:tcPr/>
                </a:tc>
                <a:tc>
                  <a:txBody>
                    <a:bodyPr/>
                    <a:lstStyle/>
                    <a:p>
                      <a:pPr algn="ctr"/>
                      <a:r>
                        <a:rPr lang="en-US" sz="1100" dirty="0"/>
                        <a:t>IFR</a:t>
                      </a:r>
                    </a:p>
                  </a:txBody>
                  <a:tcPr/>
                </a:tc>
                <a:tc>
                  <a:txBody>
                    <a:bodyPr/>
                    <a:lstStyle/>
                    <a:p>
                      <a:pPr algn="ctr"/>
                      <a:r>
                        <a:rPr lang="en-US" sz="1100" dirty="0"/>
                        <a:t>IFC</a:t>
                      </a:r>
                    </a:p>
                  </a:txBody>
                  <a:tcPr/>
                </a:tc>
                <a:tc>
                  <a:txBody>
                    <a:bodyPr/>
                    <a:lstStyle/>
                    <a:p>
                      <a:pPr algn="ctr"/>
                      <a:r>
                        <a:rPr lang="en-US" sz="1100" dirty="0"/>
                        <a:t>Construction </a:t>
                      </a:r>
                    </a:p>
                  </a:txBody>
                  <a:tcPr/>
                </a:tc>
                <a:tc>
                  <a:txBody>
                    <a:bodyPr/>
                    <a:lstStyle/>
                    <a:p>
                      <a:pPr algn="ctr"/>
                      <a:r>
                        <a:rPr lang="en-US" sz="1100" dirty="0"/>
                        <a:t>Deployment </a:t>
                      </a:r>
                    </a:p>
                  </a:txBody>
                  <a:tcPr/>
                </a:tc>
                <a:extLst>
                  <a:ext uri="{0D108BD9-81ED-4DB2-BD59-A6C34878D82A}">
                    <a16:rowId xmlns:a16="http://schemas.microsoft.com/office/drawing/2014/main" val="1673272263"/>
                  </a:ext>
                </a:extLst>
              </a:tr>
              <a:tr h="248684">
                <a:tc>
                  <a:txBody>
                    <a:bodyPr/>
                    <a:lstStyle/>
                    <a:p>
                      <a:pPr algn="ctr"/>
                      <a:r>
                        <a:rPr lang="en-US" sz="1200" dirty="0">
                          <a:latin typeface="+mn-lt"/>
                        </a:rPr>
                        <a:t>1</a:t>
                      </a:r>
                    </a:p>
                  </a:txBody>
                  <a:tcPr/>
                </a:tc>
                <a:tc>
                  <a:txBody>
                    <a:bodyPr/>
                    <a:lstStyle/>
                    <a:p>
                      <a:pPr algn="l"/>
                      <a:r>
                        <a:rPr lang="en-US" sz="1200" dirty="0">
                          <a:latin typeface="+mn-lt"/>
                        </a:rPr>
                        <a:t>6BR: Bagatelle</a:t>
                      </a:r>
                      <a:r>
                        <a:rPr lang="en-US" sz="1200" baseline="0" dirty="0">
                          <a:latin typeface="+mn-lt"/>
                        </a:rPr>
                        <a:t> Rd </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algn="ctr"/>
                      <a:r>
                        <a:rPr lang="en-US" sz="1200" strike="sngStrike" dirty="0">
                          <a:latin typeface="+mn-lt"/>
                        </a:rPr>
                        <a:t>Sept-9</a:t>
                      </a:r>
                      <a:r>
                        <a:rPr lang="en-US" sz="1200" strike="sngStrike" baseline="30000" dirty="0">
                          <a:latin typeface="+mn-lt"/>
                        </a:rPr>
                        <a:t>th</a:t>
                      </a:r>
                      <a:r>
                        <a:rPr lang="en-US" sz="1200" strike="sngStrike" baseline="0" dirty="0">
                          <a:latin typeface="+mn-lt"/>
                        </a:rPr>
                        <a:t> </a:t>
                      </a:r>
                      <a:r>
                        <a:rPr lang="en-US" sz="1200" strike="noStrike" baseline="0" dirty="0">
                          <a:latin typeface="+mn-lt"/>
                        </a:rPr>
                        <a:t>Oct 10th</a:t>
                      </a:r>
                      <a:endParaRPr lang="en-US" sz="1200" strike="sngStrike" dirty="0">
                        <a:latin typeface="+mn-lt"/>
                      </a:endParaRPr>
                    </a:p>
                  </a:txBody>
                  <a:tcPr/>
                </a:tc>
                <a:tc>
                  <a:txBody>
                    <a:bodyPr/>
                    <a:lstStyle/>
                    <a:p>
                      <a:pPr algn="ctr"/>
                      <a:r>
                        <a:rPr lang="en-US" sz="1200" strike="sngStrike" dirty="0">
                          <a:latin typeface="+mn-lt"/>
                        </a:rPr>
                        <a:t>Nov-19</a:t>
                      </a:r>
                      <a:r>
                        <a:rPr lang="en-US" sz="1200" strike="sngStrike" baseline="30000" dirty="0">
                          <a:latin typeface="+mn-lt"/>
                        </a:rPr>
                        <a:t>th</a:t>
                      </a:r>
                      <a:r>
                        <a:rPr lang="en-US" sz="1200" strike="sngStrike" baseline="0" dirty="0">
                          <a:latin typeface="+mn-lt"/>
                        </a:rPr>
                        <a:t> </a:t>
                      </a:r>
                      <a:r>
                        <a:rPr lang="en-US" sz="1200" strike="noStrike" dirty="0">
                          <a:latin typeface="+mn-lt"/>
                        </a:rPr>
                        <a:t>2/10/26</a:t>
                      </a:r>
                    </a:p>
                  </a:txBody>
                  <a:tcPr/>
                </a:tc>
                <a:extLst>
                  <a:ext uri="{0D108BD9-81ED-4DB2-BD59-A6C34878D82A}">
                    <a16:rowId xmlns:a16="http://schemas.microsoft.com/office/drawing/2014/main" val="3890363494"/>
                  </a:ext>
                </a:extLst>
              </a:tr>
              <a:tr h="248684">
                <a:tc>
                  <a:txBody>
                    <a:bodyPr/>
                    <a:lstStyle/>
                    <a:p>
                      <a:pPr marL="0" algn="ctr" defTabSz="914400" rtl="0" eaLnBrk="1" latinLnBrk="0" hangingPunct="1"/>
                      <a:r>
                        <a:rPr lang="en-US" sz="1200" kern="1200" dirty="0">
                          <a:solidFill>
                            <a:schemeClr val="dk1"/>
                          </a:solidFill>
                          <a:latin typeface="+mn-lt"/>
                          <a:ea typeface="+mn-ea"/>
                          <a:cs typeface="+mn-cs"/>
                        </a:rPr>
                        <a:t>2</a:t>
                      </a:r>
                    </a:p>
                  </a:txBody>
                  <a:tcPr/>
                </a:tc>
                <a:tc>
                  <a:txBody>
                    <a:bodyPr/>
                    <a:lstStyle/>
                    <a:p>
                      <a:pPr marL="0" algn="l" defTabSz="914400" rtl="0" eaLnBrk="1" latinLnBrk="0" hangingPunct="1"/>
                      <a:r>
                        <a:rPr lang="en-US" sz="1200" kern="1200" dirty="0">
                          <a:solidFill>
                            <a:schemeClr val="dk1"/>
                          </a:solidFill>
                          <a:latin typeface="+mn-lt"/>
                          <a:ea typeface="+mn-ea"/>
                          <a:cs typeface="+mn-cs"/>
                        </a:rPr>
                        <a:t>6P: Pulaski Rd.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algn="ctr"/>
                      <a:r>
                        <a:rPr lang="en-US" sz="1200" strike="sngStrike" dirty="0">
                          <a:latin typeface="+mn-lt"/>
                        </a:rPr>
                        <a:t>Sept-12</a:t>
                      </a:r>
                      <a:r>
                        <a:rPr lang="en-US" sz="1200" strike="sngStrike" baseline="30000" dirty="0">
                          <a:latin typeface="+mn-lt"/>
                        </a:rPr>
                        <a:t>th</a:t>
                      </a:r>
                      <a:r>
                        <a:rPr lang="en-US" sz="1200" baseline="0" dirty="0">
                          <a:latin typeface="+mn-lt"/>
                        </a:rPr>
                        <a:t> </a:t>
                      </a:r>
                      <a:r>
                        <a:rPr lang="en-US" sz="1200" strike="noStrike" baseline="0" dirty="0">
                          <a:latin typeface="+mn-lt"/>
                        </a:rPr>
                        <a:t>Oct 10th</a:t>
                      </a:r>
                      <a:endParaRPr lang="en-US" sz="1200" dirty="0">
                        <a:latin typeface="+mn-lt"/>
                      </a:endParaRPr>
                    </a:p>
                  </a:txBody>
                  <a:tcPr/>
                </a:tc>
                <a:tc>
                  <a:txBody>
                    <a:bodyPr/>
                    <a:lstStyle/>
                    <a:p>
                      <a:pPr algn="ctr"/>
                      <a:r>
                        <a:rPr lang="en-US" sz="1200" strike="sngStrike" dirty="0">
                          <a:latin typeface="+mn-lt"/>
                        </a:rPr>
                        <a:t>Dec-11</a:t>
                      </a:r>
                      <a:r>
                        <a:rPr lang="en-US" sz="1200" strike="sngStrike" baseline="30000" dirty="0">
                          <a:latin typeface="+mn-lt"/>
                        </a:rPr>
                        <a:t>th</a:t>
                      </a:r>
                      <a:r>
                        <a:rPr lang="en-US" sz="1200" dirty="0">
                          <a:latin typeface="+mn-lt"/>
                        </a:rPr>
                        <a:t>  2/12/26</a:t>
                      </a:r>
                    </a:p>
                  </a:txBody>
                  <a:tcPr/>
                </a:tc>
                <a:extLst>
                  <a:ext uri="{0D108BD9-81ED-4DB2-BD59-A6C34878D82A}">
                    <a16:rowId xmlns:a16="http://schemas.microsoft.com/office/drawing/2014/main" val="469334535"/>
                  </a:ext>
                </a:extLst>
              </a:tr>
              <a:tr h="248684">
                <a:tc>
                  <a:txBody>
                    <a:bodyPr/>
                    <a:lstStyle/>
                    <a:p>
                      <a:pPr marL="0" algn="ctr" defTabSz="914400" rtl="0" eaLnBrk="1" latinLnBrk="0" hangingPunct="1"/>
                      <a:r>
                        <a:rPr lang="en-US" sz="1200" kern="1200" dirty="0">
                          <a:solidFill>
                            <a:schemeClr val="dk1"/>
                          </a:solidFill>
                          <a:latin typeface="+mn-lt"/>
                          <a:ea typeface="+mn-ea"/>
                          <a:cs typeface="+mn-cs"/>
                        </a:rPr>
                        <a:t>3</a:t>
                      </a:r>
                    </a:p>
                  </a:txBody>
                  <a:tcPr/>
                </a:tc>
                <a:tc>
                  <a:txBody>
                    <a:bodyPr/>
                    <a:lstStyle/>
                    <a:p>
                      <a:pPr marL="0" algn="l" defTabSz="914400" rtl="0" eaLnBrk="1" latinLnBrk="0" hangingPunct="1"/>
                      <a:r>
                        <a:rPr lang="en-US" sz="1200" kern="1200" dirty="0">
                          <a:solidFill>
                            <a:schemeClr val="dk1"/>
                          </a:solidFill>
                          <a:latin typeface="+mn-lt"/>
                          <a:ea typeface="+mn-ea"/>
                          <a:cs typeface="+mn-cs"/>
                        </a:rPr>
                        <a:t>6P1: Pulaski Rd. Shelter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algn="ctr"/>
                      <a:r>
                        <a:rPr lang="en-US" sz="1200" strike="sngStrike" dirty="0">
                          <a:latin typeface="+mn-lt"/>
                        </a:rPr>
                        <a:t>Sept-12</a:t>
                      </a:r>
                      <a:r>
                        <a:rPr lang="en-US" sz="1200" strike="sngStrike" baseline="30000" dirty="0">
                          <a:latin typeface="+mn-lt"/>
                        </a:rPr>
                        <a:t>th</a:t>
                      </a:r>
                      <a:r>
                        <a:rPr lang="en-US" sz="1200" baseline="0" dirty="0">
                          <a:latin typeface="+mn-lt"/>
                        </a:rPr>
                        <a:t> </a:t>
                      </a:r>
                      <a:r>
                        <a:rPr lang="en-US" sz="1200" strike="noStrike" baseline="0" dirty="0">
                          <a:latin typeface="+mn-lt"/>
                        </a:rPr>
                        <a:t>Oct 10th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Dec-11</a:t>
                      </a:r>
                      <a:r>
                        <a:rPr lang="en-US" sz="1200" strike="sngStrike" baseline="30000" dirty="0">
                          <a:latin typeface="+mn-lt"/>
                        </a:rPr>
                        <a:t>th</a:t>
                      </a:r>
                      <a:r>
                        <a:rPr lang="en-US" sz="1200" strike="sngStrike" dirty="0">
                          <a:latin typeface="+mn-lt"/>
                        </a:rPr>
                        <a:t> </a:t>
                      </a:r>
                      <a:r>
                        <a:rPr lang="en-US" sz="1200" dirty="0">
                          <a:latin typeface="+mn-lt"/>
                        </a:rPr>
                        <a:t> 2/13/26</a:t>
                      </a:r>
                    </a:p>
                  </a:txBody>
                  <a:tcPr/>
                </a:tc>
                <a:extLst>
                  <a:ext uri="{0D108BD9-81ED-4DB2-BD59-A6C34878D82A}">
                    <a16:rowId xmlns:a16="http://schemas.microsoft.com/office/drawing/2014/main" val="1370786517"/>
                  </a:ext>
                </a:extLst>
              </a:tr>
              <a:tr h="248684">
                <a:tc>
                  <a:txBody>
                    <a:bodyPr/>
                    <a:lstStyle/>
                    <a:p>
                      <a:pPr marL="0" algn="ctr" defTabSz="914400" rtl="0" eaLnBrk="1" latinLnBrk="0" hangingPunct="1"/>
                      <a:r>
                        <a:rPr lang="en-US" sz="1200" kern="1200" dirty="0">
                          <a:solidFill>
                            <a:schemeClr val="dk1"/>
                          </a:solidFill>
                          <a:latin typeface="+mn-lt"/>
                          <a:ea typeface="+mn-ea"/>
                          <a:cs typeface="+mn-cs"/>
                        </a:rPr>
                        <a:t>4</a:t>
                      </a:r>
                    </a:p>
                  </a:txBody>
                  <a:tcPr/>
                </a:tc>
                <a:tc>
                  <a:txBody>
                    <a:bodyPr/>
                    <a:lstStyle/>
                    <a:p>
                      <a:pPr marL="0" algn="l" defTabSz="914400" rtl="0" eaLnBrk="1" latinLnBrk="0" hangingPunct="1"/>
                      <a:r>
                        <a:rPr lang="en-US" sz="1200" kern="1200" dirty="0">
                          <a:solidFill>
                            <a:schemeClr val="dk1"/>
                          </a:solidFill>
                          <a:latin typeface="+mn-lt"/>
                          <a:ea typeface="+mn-ea"/>
                          <a:cs typeface="+mn-cs"/>
                        </a:rPr>
                        <a:t>Melville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algn="ctr"/>
                      <a:r>
                        <a:rPr lang="en-US" sz="1200" strike="sngStrike" dirty="0">
                          <a:latin typeface="+mn-lt"/>
                        </a:rPr>
                        <a:t>Sept-11</a:t>
                      </a:r>
                      <a:r>
                        <a:rPr lang="en-US" sz="1200" strike="sngStrike" baseline="30000" dirty="0">
                          <a:latin typeface="+mn-lt"/>
                        </a:rPr>
                        <a:t>th</a:t>
                      </a:r>
                      <a:r>
                        <a:rPr lang="en-US" sz="1200" strike="sngStrike" baseline="0" dirty="0">
                          <a:latin typeface="+mn-lt"/>
                        </a:rPr>
                        <a:t> </a:t>
                      </a:r>
                      <a:r>
                        <a:rPr lang="en-US" sz="1200" strike="noStrike" baseline="0" dirty="0">
                          <a:latin typeface="+mn-lt"/>
                        </a:rPr>
                        <a:t>Oct 10th</a:t>
                      </a:r>
                      <a:endParaRPr lang="en-US" sz="1200" dirty="0">
                        <a:latin typeface="+mn-lt"/>
                      </a:endParaRPr>
                    </a:p>
                  </a:txBody>
                  <a:tcPr/>
                </a:tc>
                <a:tc>
                  <a:txBody>
                    <a:bodyPr/>
                    <a:lstStyle/>
                    <a:p>
                      <a:pPr algn="ctr"/>
                      <a:r>
                        <a:rPr lang="en-US" sz="1200" strike="sngStrike" dirty="0">
                          <a:latin typeface="+mn-lt"/>
                        </a:rPr>
                        <a:t>Nov-25</a:t>
                      </a:r>
                      <a:r>
                        <a:rPr lang="en-US" sz="1200" strike="sngStrike" baseline="30000" dirty="0">
                          <a:latin typeface="+mn-lt"/>
                        </a:rPr>
                        <a:t>th</a:t>
                      </a:r>
                      <a:r>
                        <a:rPr lang="en-US" sz="1200" dirty="0">
                          <a:latin typeface="+mn-lt"/>
                        </a:rPr>
                        <a:t>  1/5/26</a:t>
                      </a:r>
                    </a:p>
                  </a:txBody>
                  <a:tcPr/>
                </a:tc>
                <a:extLst>
                  <a:ext uri="{0D108BD9-81ED-4DB2-BD59-A6C34878D82A}">
                    <a16:rowId xmlns:a16="http://schemas.microsoft.com/office/drawing/2014/main" val="3064850426"/>
                  </a:ext>
                </a:extLst>
              </a:tr>
              <a:tr h="314108">
                <a:tc>
                  <a:txBody>
                    <a:bodyPr/>
                    <a:lstStyle/>
                    <a:p>
                      <a:pPr marL="0" algn="ctr" defTabSz="914400" rtl="0" eaLnBrk="1" latinLnBrk="0" hangingPunct="1"/>
                      <a:r>
                        <a:rPr lang="en-US" sz="1200" kern="1200" dirty="0">
                          <a:solidFill>
                            <a:schemeClr val="dk1"/>
                          </a:solidFill>
                          <a:latin typeface="+mn-lt"/>
                          <a:ea typeface="+mn-ea"/>
                          <a:cs typeface="+mn-cs"/>
                        </a:rPr>
                        <a:t>5</a:t>
                      </a:r>
                    </a:p>
                  </a:txBody>
                  <a:tcPr/>
                </a:tc>
                <a:tc>
                  <a:txBody>
                    <a:bodyPr/>
                    <a:lstStyle/>
                    <a:p>
                      <a:pPr marL="0" algn="l" defTabSz="914400" rtl="0" eaLnBrk="1" latinLnBrk="0" hangingPunct="1"/>
                      <a:r>
                        <a:rPr lang="en-US" sz="1200" kern="1200" dirty="0">
                          <a:solidFill>
                            <a:schemeClr val="dk1"/>
                          </a:solidFill>
                          <a:latin typeface="+mn-lt"/>
                          <a:ea typeface="+mn-ea"/>
                          <a:cs typeface="+mn-cs"/>
                        </a:rPr>
                        <a:t>6DL: Pilgrim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Sept-11</a:t>
                      </a:r>
                      <a:r>
                        <a:rPr lang="en-US" sz="1200" strike="sngStrike" baseline="30000" dirty="0">
                          <a:latin typeface="+mn-lt"/>
                        </a:rPr>
                        <a:t>th</a:t>
                      </a:r>
                      <a:r>
                        <a:rPr lang="en-US" sz="1200" strike="sngStrike" baseline="0" dirty="0">
                          <a:latin typeface="+mn-lt"/>
                        </a:rPr>
                        <a:t> </a:t>
                      </a:r>
                      <a:r>
                        <a:rPr lang="en-US" sz="1200" strike="noStrike" baseline="0" dirty="0">
                          <a:latin typeface="+mn-lt"/>
                        </a:rPr>
                        <a:t>Oct 10th</a:t>
                      </a:r>
                      <a:endParaRPr lang="en-US" sz="1200" dirty="0">
                        <a:latin typeface="+mn-lt"/>
                      </a:endParaRPr>
                    </a:p>
                  </a:txBody>
                  <a:tcPr/>
                </a:tc>
                <a:tc>
                  <a:txBody>
                    <a:bodyPr/>
                    <a:lstStyle/>
                    <a:p>
                      <a:pPr algn="ctr"/>
                      <a:r>
                        <a:rPr lang="en-US" sz="1200" strike="sngStrike" dirty="0">
                          <a:latin typeface="+mn-lt"/>
                        </a:rPr>
                        <a:t>Dec-2</a:t>
                      </a:r>
                      <a:r>
                        <a:rPr lang="en-US" sz="1200" strike="sngStrike" baseline="30000" dirty="0">
                          <a:latin typeface="+mn-lt"/>
                        </a:rPr>
                        <a:t>nd</a:t>
                      </a:r>
                      <a:r>
                        <a:rPr lang="en-US" sz="1200" baseline="0" dirty="0">
                          <a:latin typeface="+mn-lt"/>
                        </a:rPr>
                        <a:t> 2/11/26</a:t>
                      </a:r>
                      <a:endParaRPr lang="en-US" sz="1200" dirty="0">
                        <a:latin typeface="+mn-lt"/>
                      </a:endParaRPr>
                    </a:p>
                  </a:txBody>
                  <a:tcPr/>
                </a:tc>
                <a:extLst>
                  <a:ext uri="{0D108BD9-81ED-4DB2-BD59-A6C34878D82A}">
                    <a16:rowId xmlns:a16="http://schemas.microsoft.com/office/drawing/2014/main" val="3444944646"/>
                  </a:ext>
                </a:extLst>
              </a:tr>
              <a:tr h="293788">
                <a:tc>
                  <a:txBody>
                    <a:bodyPr/>
                    <a:lstStyle/>
                    <a:p>
                      <a:pPr marL="0" algn="ctr" defTabSz="914400" rtl="0" eaLnBrk="1" latinLnBrk="0" hangingPunct="1"/>
                      <a:r>
                        <a:rPr lang="en-US" sz="1200" kern="1200" dirty="0">
                          <a:solidFill>
                            <a:schemeClr val="dk1"/>
                          </a:solidFill>
                          <a:latin typeface="+mn-lt"/>
                          <a:ea typeface="+mn-ea"/>
                          <a:cs typeface="+mn-cs"/>
                        </a:rPr>
                        <a:t>6</a:t>
                      </a:r>
                    </a:p>
                  </a:txBody>
                  <a:tcPr/>
                </a:tc>
                <a:tc>
                  <a:txBody>
                    <a:bodyPr/>
                    <a:lstStyle/>
                    <a:p>
                      <a:pPr marL="0" algn="l" defTabSz="914400" rtl="0" eaLnBrk="1" latinLnBrk="0" hangingPunct="1"/>
                      <a:r>
                        <a:rPr lang="en-US" sz="1200" kern="1200" dirty="0">
                          <a:solidFill>
                            <a:schemeClr val="dk1"/>
                          </a:solidFill>
                          <a:latin typeface="+mn-lt"/>
                          <a:ea typeface="+mn-ea"/>
                          <a:cs typeface="+mn-cs"/>
                        </a:rPr>
                        <a:t>5K: Syosset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Aug-12</a:t>
                      </a:r>
                      <a:r>
                        <a:rPr lang="en-US" sz="1200" strike="sngStrike" baseline="30000" dirty="0">
                          <a:latin typeface="+mn-lt"/>
                        </a:rPr>
                        <a:t>th</a:t>
                      </a:r>
                      <a:r>
                        <a:rPr lang="en-US" sz="1200" baseline="0" dirty="0">
                          <a:latin typeface="+mn-lt"/>
                        </a:rPr>
                        <a:t> Oct 24th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Sept-19</a:t>
                      </a:r>
                      <a:r>
                        <a:rPr lang="en-US" sz="1200" strike="sngStrike" baseline="30000" dirty="0">
                          <a:latin typeface="+mn-lt"/>
                        </a:rPr>
                        <a:t>th</a:t>
                      </a:r>
                      <a:r>
                        <a:rPr lang="en-US" sz="1200" dirty="0">
                          <a:latin typeface="+mn-lt"/>
                        </a:rPr>
                        <a:t>  1/2/26</a:t>
                      </a:r>
                    </a:p>
                  </a:txBody>
                  <a:tcPr/>
                </a:tc>
                <a:extLst>
                  <a:ext uri="{0D108BD9-81ED-4DB2-BD59-A6C34878D82A}">
                    <a16:rowId xmlns:a16="http://schemas.microsoft.com/office/drawing/2014/main" val="3029141390"/>
                  </a:ext>
                </a:extLst>
              </a:tr>
              <a:tr h="334428">
                <a:tc>
                  <a:txBody>
                    <a:bodyPr/>
                    <a:lstStyle/>
                    <a:p>
                      <a:pPr marL="0" algn="ctr" defTabSz="914400" rtl="0" eaLnBrk="1" latinLnBrk="0" hangingPunct="1"/>
                      <a:r>
                        <a:rPr lang="en-US" sz="1200" kern="1200" dirty="0">
                          <a:solidFill>
                            <a:schemeClr val="dk1"/>
                          </a:solidFill>
                          <a:latin typeface="+mn-lt"/>
                          <a:ea typeface="+mn-ea"/>
                          <a:cs typeface="+mn-cs"/>
                        </a:rPr>
                        <a:t>7</a:t>
                      </a:r>
                    </a:p>
                  </a:txBody>
                  <a:tcPr/>
                </a:tc>
                <a:tc>
                  <a:txBody>
                    <a:bodyPr/>
                    <a:lstStyle/>
                    <a:p>
                      <a:pPr marL="0" algn="l" defTabSz="914400" rtl="0" eaLnBrk="1" latinLnBrk="0" hangingPunct="1"/>
                      <a:r>
                        <a:rPr lang="en-US" sz="1200" kern="1200" dirty="0">
                          <a:solidFill>
                            <a:schemeClr val="dk1"/>
                          </a:solidFill>
                          <a:latin typeface="+mn-lt"/>
                          <a:ea typeface="+mn-ea"/>
                          <a:cs typeface="+mn-cs"/>
                        </a:rPr>
                        <a:t>5K1: Syosset Shelter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Aug-12</a:t>
                      </a:r>
                      <a:r>
                        <a:rPr lang="en-US" sz="1200" strike="sngStrike" baseline="30000" dirty="0">
                          <a:latin typeface="+mn-lt"/>
                        </a:rPr>
                        <a:t>th</a:t>
                      </a:r>
                      <a:r>
                        <a:rPr lang="en-US" sz="1200" baseline="0" dirty="0">
                          <a:latin typeface="+mn-lt"/>
                        </a:rPr>
                        <a:t>  Oct 24th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Sept-19</a:t>
                      </a:r>
                      <a:r>
                        <a:rPr lang="en-US" sz="1200" strike="sngStrike" baseline="30000" dirty="0">
                          <a:latin typeface="+mn-lt"/>
                        </a:rPr>
                        <a:t>th</a:t>
                      </a:r>
                      <a:r>
                        <a:rPr lang="en-US" sz="1200" dirty="0">
                          <a:latin typeface="+mn-lt"/>
                        </a:rPr>
                        <a:t>  1/3/26</a:t>
                      </a:r>
                    </a:p>
                  </a:txBody>
                  <a:tcPr/>
                </a:tc>
                <a:extLst>
                  <a:ext uri="{0D108BD9-81ED-4DB2-BD59-A6C34878D82A}">
                    <a16:rowId xmlns:a16="http://schemas.microsoft.com/office/drawing/2014/main" val="1206406284"/>
                  </a:ext>
                </a:extLst>
              </a:tr>
              <a:tr h="248684">
                <a:tc>
                  <a:txBody>
                    <a:bodyPr/>
                    <a:lstStyle/>
                    <a:p>
                      <a:pPr marL="0" algn="ctr" defTabSz="914400" rtl="0" eaLnBrk="1" latinLnBrk="0" hangingPunct="1"/>
                      <a:r>
                        <a:rPr lang="en-US" sz="1200" kern="1200" dirty="0">
                          <a:solidFill>
                            <a:schemeClr val="dk1"/>
                          </a:solidFill>
                          <a:latin typeface="+mn-lt"/>
                          <a:ea typeface="+mn-ea"/>
                          <a:cs typeface="+mn-cs"/>
                        </a:rPr>
                        <a:t>8</a:t>
                      </a:r>
                    </a:p>
                  </a:txBody>
                  <a:tcPr/>
                </a:tc>
                <a:tc>
                  <a:txBody>
                    <a:bodyPr/>
                    <a:lstStyle/>
                    <a:p>
                      <a:pPr marL="0" algn="l" defTabSz="914400" rtl="0" eaLnBrk="1" latinLnBrk="0" hangingPunct="1"/>
                      <a:r>
                        <a:rPr lang="en-US" sz="1200" kern="1200" dirty="0">
                          <a:solidFill>
                            <a:schemeClr val="dk1"/>
                          </a:solidFill>
                          <a:latin typeface="+mn-lt"/>
                          <a:ea typeface="+mn-ea"/>
                          <a:cs typeface="+mn-cs"/>
                        </a:rPr>
                        <a:t>6U: Ruland Rd.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Sept-9</a:t>
                      </a:r>
                      <a:r>
                        <a:rPr lang="en-US" sz="1200" strike="sngStrike" baseline="30000" dirty="0">
                          <a:latin typeface="+mn-lt"/>
                        </a:rPr>
                        <a:t>th</a:t>
                      </a:r>
                      <a:r>
                        <a:rPr lang="en-US" sz="1200" baseline="0" dirty="0">
                          <a:latin typeface="+mn-lt"/>
                        </a:rPr>
                        <a:t> Oct 17th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Nov-21</a:t>
                      </a:r>
                      <a:r>
                        <a:rPr lang="en-US" sz="1200" strike="sngStrike" baseline="30000" dirty="0">
                          <a:latin typeface="+mn-lt"/>
                        </a:rPr>
                        <a:t>st</a:t>
                      </a:r>
                      <a:r>
                        <a:rPr lang="en-US" sz="1200" strike="sngStrike" dirty="0">
                          <a:latin typeface="+mn-lt"/>
                        </a:rPr>
                        <a:t>  </a:t>
                      </a:r>
                      <a:r>
                        <a:rPr lang="en-US" sz="1200" dirty="0">
                          <a:latin typeface="+mn-lt"/>
                        </a:rPr>
                        <a:t>2/10/26</a:t>
                      </a:r>
                    </a:p>
                  </a:txBody>
                  <a:tcPr/>
                </a:tc>
                <a:extLst>
                  <a:ext uri="{0D108BD9-81ED-4DB2-BD59-A6C34878D82A}">
                    <a16:rowId xmlns:a16="http://schemas.microsoft.com/office/drawing/2014/main" val="1355104002"/>
                  </a:ext>
                </a:extLst>
              </a:tr>
              <a:tr h="248684">
                <a:tc>
                  <a:txBody>
                    <a:bodyPr/>
                    <a:lstStyle/>
                    <a:p>
                      <a:pPr marL="0" algn="ctr" defTabSz="914400" rtl="0" eaLnBrk="1" latinLnBrk="0" hangingPunct="1"/>
                      <a:r>
                        <a:rPr lang="en-US" sz="1200" kern="1200" dirty="0">
                          <a:solidFill>
                            <a:schemeClr val="dk1"/>
                          </a:solidFill>
                          <a:latin typeface="+mn-lt"/>
                          <a:ea typeface="+mn-ea"/>
                          <a:cs typeface="+mn-cs"/>
                        </a:rPr>
                        <a:t>9</a:t>
                      </a:r>
                    </a:p>
                  </a:txBody>
                  <a:tcPr/>
                </a:tc>
                <a:tc>
                  <a:txBody>
                    <a:bodyPr/>
                    <a:lstStyle/>
                    <a:p>
                      <a:pPr marL="0" algn="l" defTabSz="914400" rtl="0" eaLnBrk="1" latinLnBrk="0" hangingPunct="1"/>
                      <a:r>
                        <a:rPr lang="en-US" sz="1200" kern="1200" dirty="0">
                          <a:solidFill>
                            <a:schemeClr val="dk1"/>
                          </a:solidFill>
                          <a:latin typeface="+mn-lt"/>
                          <a:ea typeface="+mn-ea"/>
                          <a:cs typeface="+mn-cs"/>
                        </a:rPr>
                        <a:t>6Fo: Northport</a:t>
                      </a:r>
                      <a:r>
                        <a:rPr lang="en-US" sz="1200" kern="1200" baseline="0" dirty="0">
                          <a:solidFill>
                            <a:schemeClr val="dk1"/>
                          </a:solidFill>
                          <a:latin typeface="+mn-lt"/>
                          <a:ea typeface="+mn-ea"/>
                          <a:cs typeface="+mn-cs"/>
                        </a:rPr>
                        <a:t> (outdoor) </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Sept-3</a:t>
                      </a:r>
                      <a:r>
                        <a:rPr lang="en-US" sz="1200" strike="sngStrike" baseline="30000" dirty="0">
                          <a:latin typeface="+mn-lt"/>
                        </a:rPr>
                        <a:t>rd</a:t>
                      </a:r>
                      <a:r>
                        <a:rPr lang="en-US" sz="1200" baseline="0" dirty="0">
                          <a:latin typeface="+mn-lt"/>
                        </a:rPr>
                        <a:t> Oct 31st</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Oct-23</a:t>
                      </a:r>
                      <a:r>
                        <a:rPr lang="en-US" sz="1200" strike="sngStrike" baseline="30000" dirty="0">
                          <a:latin typeface="+mn-lt"/>
                        </a:rPr>
                        <a:t>rd</a:t>
                      </a:r>
                      <a:r>
                        <a:rPr lang="en-US" sz="1200" strike="sngStrike" baseline="0" dirty="0">
                          <a:latin typeface="+mn-lt"/>
                        </a:rPr>
                        <a:t> </a:t>
                      </a:r>
                      <a:r>
                        <a:rPr lang="en-US" sz="1200" baseline="0" dirty="0">
                          <a:latin typeface="+mn-lt"/>
                        </a:rPr>
                        <a:t> 2/3/26</a:t>
                      </a:r>
                      <a:endParaRPr lang="en-US" sz="1200" dirty="0">
                        <a:latin typeface="+mn-lt"/>
                      </a:endParaRPr>
                    </a:p>
                  </a:txBody>
                  <a:tcPr/>
                </a:tc>
                <a:extLst>
                  <a:ext uri="{0D108BD9-81ED-4DB2-BD59-A6C34878D82A}">
                    <a16:rowId xmlns:a16="http://schemas.microsoft.com/office/drawing/2014/main" val="2781583672"/>
                  </a:ext>
                </a:extLst>
              </a:tr>
              <a:tr h="314108">
                <a:tc>
                  <a:txBody>
                    <a:bodyPr/>
                    <a:lstStyle/>
                    <a:p>
                      <a:pPr marL="0" algn="ctr" defTabSz="914400" rtl="0" eaLnBrk="1" latinLnBrk="0" hangingPunct="1"/>
                      <a:r>
                        <a:rPr lang="en-US" sz="1200" kern="1200" dirty="0">
                          <a:solidFill>
                            <a:schemeClr val="dk1"/>
                          </a:solidFill>
                          <a:latin typeface="+mn-lt"/>
                          <a:ea typeface="+mn-ea"/>
                          <a:cs typeface="+mn-cs"/>
                        </a:rPr>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6Fi: Northport</a:t>
                      </a:r>
                      <a:r>
                        <a:rPr lang="en-US" sz="1200" kern="1200" baseline="0" dirty="0">
                          <a:solidFill>
                            <a:schemeClr val="dk1"/>
                          </a:solidFill>
                          <a:latin typeface="+mn-lt"/>
                          <a:ea typeface="+mn-ea"/>
                          <a:cs typeface="+mn-cs"/>
                        </a:rPr>
                        <a:t> (outdoor)</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Sept-3</a:t>
                      </a:r>
                      <a:r>
                        <a:rPr lang="en-US" sz="1200" strike="sngStrike" baseline="30000" dirty="0">
                          <a:latin typeface="+mn-lt"/>
                        </a:rPr>
                        <a:t>rd</a:t>
                      </a:r>
                      <a:r>
                        <a:rPr lang="en-US" sz="1200" baseline="0" dirty="0">
                          <a:latin typeface="+mn-lt"/>
                        </a:rPr>
                        <a:t> Oct 31st</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Oct-24</a:t>
                      </a:r>
                      <a:r>
                        <a:rPr lang="en-US" sz="1200" strike="sngStrike" baseline="30000" dirty="0">
                          <a:latin typeface="+mn-lt"/>
                        </a:rPr>
                        <a:t>th</a:t>
                      </a:r>
                      <a:r>
                        <a:rPr lang="en-US" sz="1200" baseline="0" dirty="0">
                          <a:latin typeface="+mn-lt"/>
                        </a:rPr>
                        <a:t>  2/4/26</a:t>
                      </a:r>
                      <a:endParaRPr lang="en-US" sz="1200" dirty="0">
                        <a:latin typeface="+mn-lt"/>
                      </a:endParaRPr>
                    </a:p>
                  </a:txBody>
                  <a:tcPr/>
                </a:tc>
                <a:extLst>
                  <a:ext uri="{0D108BD9-81ED-4DB2-BD59-A6C34878D82A}">
                    <a16:rowId xmlns:a16="http://schemas.microsoft.com/office/drawing/2014/main" val="3319541799"/>
                  </a:ext>
                </a:extLst>
              </a:tr>
              <a:tr h="324268">
                <a:tc>
                  <a:txBody>
                    <a:bodyPr/>
                    <a:lstStyle/>
                    <a:p>
                      <a:pPr marL="0" algn="ctr" defTabSz="914400" rtl="0" eaLnBrk="1" latinLnBrk="0" hangingPunct="1"/>
                      <a:r>
                        <a:rPr lang="en-US" sz="1200" kern="1200" dirty="0">
                          <a:solidFill>
                            <a:schemeClr val="dk1"/>
                          </a:solidFill>
                          <a:latin typeface="+mn-lt"/>
                          <a:ea typeface="+mn-ea"/>
                          <a:cs typeface="+mn-cs"/>
                        </a:rPr>
                        <a:t>11</a:t>
                      </a:r>
                    </a:p>
                  </a:txBody>
                  <a:tcPr/>
                </a:tc>
                <a:tc>
                  <a:txBody>
                    <a:bodyPr/>
                    <a:lstStyle/>
                    <a:p>
                      <a:pPr marL="0" algn="l" defTabSz="914400" rtl="0" eaLnBrk="1" latinLnBrk="0" hangingPunct="1"/>
                      <a:r>
                        <a:rPr lang="en-US" sz="1200" kern="1200" dirty="0">
                          <a:solidFill>
                            <a:schemeClr val="dk1"/>
                          </a:solidFill>
                          <a:latin typeface="+mn-lt"/>
                          <a:ea typeface="+mn-ea"/>
                          <a:cs typeface="+mn-cs"/>
                        </a:rPr>
                        <a:t>6RL: Elwood</a:t>
                      </a:r>
                      <a:r>
                        <a:rPr lang="en-US" sz="1200" kern="1200" baseline="0" dirty="0">
                          <a:solidFill>
                            <a:schemeClr val="dk1"/>
                          </a:solidFill>
                          <a:latin typeface="+mn-lt"/>
                          <a:ea typeface="+mn-ea"/>
                          <a:cs typeface="+mn-cs"/>
                        </a:rPr>
                        <a:t> </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Sept-3</a:t>
                      </a:r>
                      <a:r>
                        <a:rPr lang="en-US" sz="1200" strike="sngStrike" baseline="30000" dirty="0">
                          <a:latin typeface="+mn-lt"/>
                        </a:rPr>
                        <a:t>rd</a:t>
                      </a:r>
                      <a:r>
                        <a:rPr lang="en-US" sz="1200" baseline="0" dirty="0">
                          <a:latin typeface="+mn-lt"/>
                        </a:rPr>
                        <a:t> </a:t>
                      </a:r>
                      <a:r>
                        <a:rPr lang="en-US" sz="1200" strike="noStrike" baseline="0" dirty="0">
                          <a:latin typeface="+mn-lt"/>
                        </a:rPr>
                        <a:t>Oct 10th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Oct-31</a:t>
                      </a:r>
                      <a:r>
                        <a:rPr lang="en-US" sz="1200" strike="sngStrike" baseline="30000" dirty="0">
                          <a:latin typeface="+mn-lt"/>
                        </a:rPr>
                        <a:t>st</a:t>
                      </a:r>
                      <a:r>
                        <a:rPr lang="en-US" sz="1200" dirty="0">
                          <a:latin typeface="+mn-lt"/>
                        </a:rPr>
                        <a:t>  </a:t>
                      </a:r>
                      <a:r>
                        <a:rPr lang="en-US" sz="1200" baseline="0" dirty="0">
                          <a:latin typeface="+mn-lt"/>
                        </a:rPr>
                        <a:t>2/4/26</a:t>
                      </a:r>
                      <a:endParaRPr lang="en-US" sz="1200" dirty="0">
                        <a:latin typeface="+mn-lt"/>
                      </a:endParaRPr>
                    </a:p>
                  </a:txBody>
                  <a:tcPr/>
                </a:tc>
                <a:extLst>
                  <a:ext uri="{0D108BD9-81ED-4DB2-BD59-A6C34878D82A}">
                    <a16:rowId xmlns:a16="http://schemas.microsoft.com/office/drawing/2014/main" val="1288149223"/>
                  </a:ext>
                </a:extLst>
              </a:tr>
              <a:tr h="318368">
                <a:tc>
                  <a:txBody>
                    <a:bodyPr/>
                    <a:lstStyle/>
                    <a:p>
                      <a:pPr marL="0" algn="ctr" defTabSz="914400" rtl="0" eaLnBrk="1" latinLnBrk="0" hangingPunct="1"/>
                      <a:r>
                        <a:rPr lang="en-US" sz="1200" kern="1200" dirty="0">
                          <a:solidFill>
                            <a:schemeClr val="dk1"/>
                          </a:solidFill>
                          <a:latin typeface="+mn-lt"/>
                          <a:ea typeface="+mn-ea"/>
                          <a:cs typeface="+mn-cs"/>
                        </a:rPr>
                        <a:t>12</a:t>
                      </a:r>
                    </a:p>
                  </a:txBody>
                  <a:tcPr/>
                </a:tc>
                <a:tc>
                  <a:txBody>
                    <a:bodyPr/>
                    <a:lstStyle/>
                    <a:p>
                      <a:pPr marL="0" algn="l" defTabSz="914400" rtl="0" eaLnBrk="1" latinLnBrk="0" hangingPunct="1"/>
                      <a:r>
                        <a:rPr lang="en-US" sz="1200" kern="1200" dirty="0">
                          <a:solidFill>
                            <a:schemeClr val="dk1"/>
                          </a:solidFill>
                          <a:latin typeface="+mn-lt"/>
                          <a:ea typeface="+mn-ea"/>
                          <a:cs typeface="+mn-cs"/>
                        </a:rPr>
                        <a:t>6UL: Greenlawn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Sept-5</a:t>
                      </a:r>
                      <a:r>
                        <a:rPr lang="en-US" sz="1200" strike="sngStrike" baseline="30000" dirty="0">
                          <a:latin typeface="+mn-lt"/>
                        </a:rPr>
                        <a:t>rd</a:t>
                      </a:r>
                      <a:r>
                        <a:rPr lang="en-US" sz="1200" baseline="0" dirty="0">
                          <a:latin typeface="+mn-lt"/>
                        </a:rPr>
                        <a:t> Oct 17th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Nov-5</a:t>
                      </a:r>
                      <a:r>
                        <a:rPr lang="en-US" sz="1200" strike="sngStrike" baseline="30000" dirty="0">
                          <a:latin typeface="+mn-lt"/>
                        </a:rPr>
                        <a:t>th</a:t>
                      </a:r>
                      <a:r>
                        <a:rPr lang="en-US" sz="1200" dirty="0">
                          <a:latin typeface="+mn-lt"/>
                        </a:rPr>
                        <a:t>  </a:t>
                      </a:r>
                      <a:r>
                        <a:rPr lang="en-US" sz="1200" baseline="0" dirty="0">
                          <a:latin typeface="+mn-lt"/>
                        </a:rPr>
                        <a:t>2/5/26</a:t>
                      </a:r>
                      <a:endParaRPr lang="en-US" sz="1200" dirty="0">
                        <a:latin typeface="+mn-lt"/>
                      </a:endParaRPr>
                    </a:p>
                  </a:txBody>
                  <a:tcPr/>
                </a:tc>
                <a:extLst>
                  <a:ext uri="{0D108BD9-81ED-4DB2-BD59-A6C34878D82A}">
                    <a16:rowId xmlns:a16="http://schemas.microsoft.com/office/drawing/2014/main" val="438867382"/>
                  </a:ext>
                </a:extLst>
              </a:tr>
              <a:tr h="248684">
                <a:tc>
                  <a:txBody>
                    <a:bodyPr/>
                    <a:lstStyle/>
                    <a:p>
                      <a:pPr marL="0" algn="ctr" defTabSz="914400" rtl="0" eaLnBrk="1" latinLnBrk="0" hangingPunct="1"/>
                      <a:r>
                        <a:rPr lang="en-US" sz="1200" kern="1200" dirty="0">
                          <a:solidFill>
                            <a:schemeClr val="dk1"/>
                          </a:solidFill>
                          <a:latin typeface="+mn-lt"/>
                          <a:ea typeface="+mn-ea"/>
                          <a:cs typeface="+mn-cs"/>
                        </a:rPr>
                        <a:t>13</a:t>
                      </a:r>
                    </a:p>
                  </a:txBody>
                  <a:tcPr/>
                </a:tc>
                <a:tc>
                  <a:txBody>
                    <a:bodyPr/>
                    <a:lstStyle/>
                    <a:p>
                      <a:pPr marL="0" algn="l" defTabSz="914400" rtl="0" eaLnBrk="1" latinLnBrk="0" hangingPunct="1"/>
                      <a:r>
                        <a:rPr lang="en-US" sz="1200" kern="1200" dirty="0">
                          <a:solidFill>
                            <a:schemeClr val="dk1"/>
                          </a:solidFill>
                          <a:latin typeface="+mn-lt"/>
                          <a:ea typeface="+mn-ea"/>
                          <a:cs typeface="+mn-cs"/>
                        </a:rPr>
                        <a:t>6UL1:</a:t>
                      </a:r>
                      <a:r>
                        <a:rPr lang="en-US" sz="1200" kern="1200" baseline="0" dirty="0">
                          <a:solidFill>
                            <a:schemeClr val="dk1"/>
                          </a:solidFill>
                          <a:latin typeface="+mn-lt"/>
                          <a:ea typeface="+mn-ea"/>
                          <a:cs typeface="+mn-cs"/>
                        </a:rPr>
                        <a:t> Greenlawn Shelter </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mn-lt"/>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Sept-5</a:t>
                      </a:r>
                      <a:r>
                        <a:rPr lang="en-US" sz="1200" strike="sngStrike" baseline="30000" dirty="0">
                          <a:latin typeface="+mn-lt"/>
                        </a:rPr>
                        <a:t>th</a:t>
                      </a:r>
                      <a:r>
                        <a:rPr lang="en-US" sz="1200" baseline="0" dirty="0">
                          <a:latin typeface="+mn-lt"/>
                        </a:rPr>
                        <a:t> Oct 17th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Nov-7</a:t>
                      </a:r>
                      <a:r>
                        <a:rPr lang="en-US" sz="1200" strike="sngStrike" baseline="30000" dirty="0">
                          <a:latin typeface="+mn-lt"/>
                        </a:rPr>
                        <a:t>th</a:t>
                      </a:r>
                      <a:r>
                        <a:rPr lang="en-US" sz="1200" dirty="0">
                          <a:latin typeface="+mn-lt"/>
                        </a:rPr>
                        <a:t>  </a:t>
                      </a:r>
                      <a:r>
                        <a:rPr lang="en-US" sz="1200" baseline="0" dirty="0">
                          <a:latin typeface="+mn-lt"/>
                        </a:rPr>
                        <a:t>2/6/26</a:t>
                      </a:r>
                      <a:endParaRPr lang="en-US" sz="1200" dirty="0">
                        <a:latin typeface="+mn-lt"/>
                      </a:endParaRPr>
                    </a:p>
                  </a:txBody>
                  <a:tcPr/>
                </a:tc>
                <a:extLst>
                  <a:ext uri="{0D108BD9-81ED-4DB2-BD59-A6C34878D82A}">
                    <a16:rowId xmlns:a16="http://schemas.microsoft.com/office/drawing/2014/main" val="1765565004"/>
                  </a:ext>
                </a:extLst>
              </a:tr>
              <a:tr h="253546">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marL="0" algn="l" defTabSz="914400" rtl="0" eaLnBrk="1" latinLnBrk="0" hangingPunct="1"/>
                      <a:r>
                        <a:rPr lang="en-US" sz="1200" kern="1200" dirty="0">
                          <a:solidFill>
                            <a:schemeClr val="dk1"/>
                          </a:solidFill>
                          <a:latin typeface="+mn-lt"/>
                          <a:ea typeface="+mn-ea"/>
                          <a:cs typeface="+mn-cs"/>
                        </a:rPr>
                        <a:t>6Q:</a:t>
                      </a:r>
                      <a:r>
                        <a:rPr lang="en-US" sz="1200" kern="1200" baseline="0" dirty="0">
                          <a:solidFill>
                            <a:schemeClr val="dk1"/>
                          </a:solidFill>
                          <a:latin typeface="+mn-lt"/>
                          <a:ea typeface="+mn-ea"/>
                          <a:cs typeface="+mn-cs"/>
                        </a:rPr>
                        <a:t> Oakwood</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Sept-5</a:t>
                      </a:r>
                      <a:r>
                        <a:rPr lang="en-US" sz="1200" strike="sngStrike" baseline="30000" dirty="0">
                          <a:latin typeface="+mn-lt"/>
                        </a:rPr>
                        <a:t>th</a:t>
                      </a:r>
                      <a:r>
                        <a:rPr lang="en-US" sz="1200" baseline="0" dirty="0">
                          <a:latin typeface="+mn-lt"/>
                        </a:rPr>
                        <a:t> Oct 10th</a:t>
                      </a:r>
                      <a:endParaRPr lang="en-US" sz="1200" dirty="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latin typeface="+mn-lt"/>
                        </a:rPr>
                        <a:t>Nov-13</a:t>
                      </a:r>
                      <a:r>
                        <a:rPr lang="en-US" sz="1200" strike="sngStrike" baseline="30000" dirty="0">
                          <a:latin typeface="+mn-lt"/>
                        </a:rPr>
                        <a:t>th</a:t>
                      </a:r>
                      <a:r>
                        <a:rPr lang="en-US" sz="1200" dirty="0">
                          <a:latin typeface="+mn-lt"/>
                        </a:rPr>
                        <a:t>  2/9/26</a:t>
                      </a:r>
                    </a:p>
                  </a:txBody>
                  <a:tcPr/>
                </a:tc>
                <a:extLst>
                  <a:ext uri="{0D108BD9-81ED-4DB2-BD59-A6C34878D82A}">
                    <a16:rowId xmlns:a16="http://schemas.microsoft.com/office/drawing/2014/main" val="569704205"/>
                  </a:ext>
                </a:extLst>
              </a:tr>
              <a:tr h="304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5M: Newbridge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kern="1200" dirty="0">
                          <a:solidFill>
                            <a:schemeClr val="dk1"/>
                          </a:solidFill>
                          <a:latin typeface="+mn-lt"/>
                          <a:ea typeface="+mn-ea"/>
                          <a:cs typeface="+mn-cs"/>
                        </a:rPr>
                        <a:t>Aug-19</a:t>
                      </a:r>
                      <a:r>
                        <a:rPr lang="en-US" sz="1200" strike="sngStrike" kern="1200" baseline="30000" dirty="0">
                          <a:solidFill>
                            <a:schemeClr val="dk1"/>
                          </a:solidFill>
                          <a:latin typeface="+mn-lt"/>
                          <a:ea typeface="+mn-ea"/>
                          <a:cs typeface="+mn-cs"/>
                        </a:rPr>
                        <a:t>th</a:t>
                      </a:r>
                      <a:r>
                        <a:rPr lang="en-US" sz="1200" kern="1200" dirty="0">
                          <a:solidFill>
                            <a:schemeClr val="dk1"/>
                          </a:solidFill>
                          <a:latin typeface="+mn-lt"/>
                          <a:ea typeface="+mn-ea"/>
                          <a:cs typeface="+mn-cs"/>
                        </a:rPr>
                        <a:t> Oct 17th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kern="1200" dirty="0">
                          <a:solidFill>
                            <a:schemeClr val="dk1"/>
                          </a:solidFill>
                          <a:latin typeface="+mn-lt"/>
                          <a:ea typeface="+mn-ea"/>
                          <a:cs typeface="+mn-cs"/>
                        </a:rPr>
                        <a:t>Oct-9</a:t>
                      </a:r>
                      <a:r>
                        <a:rPr lang="en-US" sz="1200" strike="sngStrike" kern="1200" baseline="30000" dirty="0">
                          <a:solidFill>
                            <a:schemeClr val="dk1"/>
                          </a:solidFill>
                          <a:latin typeface="+mn-lt"/>
                          <a:ea typeface="+mn-ea"/>
                          <a:cs typeface="+mn-cs"/>
                        </a:rPr>
                        <a:t>th</a:t>
                      </a:r>
                      <a:r>
                        <a:rPr lang="en-US" sz="1200" kern="1200" dirty="0">
                          <a:solidFill>
                            <a:schemeClr val="dk1"/>
                          </a:solidFill>
                          <a:latin typeface="+mn-lt"/>
                          <a:ea typeface="+mn-ea"/>
                          <a:cs typeface="+mn-cs"/>
                        </a:rPr>
                        <a:t>  1/16/26</a:t>
                      </a:r>
                    </a:p>
                  </a:txBody>
                  <a:tcPr/>
                </a:tc>
                <a:extLst>
                  <a:ext uri="{0D108BD9-81ED-4DB2-BD59-A6C34878D82A}">
                    <a16:rowId xmlns:a16="http://schemas.microsoft.com/office/drawing/2014/main" val="4228144502"/>
                  </a:ext>
                </a:extLst>
              </a:tr>
              <a:tr h="2486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4XH: Glenwood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kern="1200" dirty="0">
                          <a:solidFill>
                            <a:schemeClr val="dk1"/>
                          </a:solidFill>
                          <a:latin typeface="+mn-lt"/>
                          <a:ea typeface="+mn-ea"/>
                          <a:cs typeface="+mn-cs"/>
                        </a:rPr>
                        <a:t>Aug-12</a:t>
                      </a:r>
                      <a:r>
                        <a:rPr lang="en-US" sz="1200" strike="sngStrike" kern="1200" baseline="30000" dirty="0">
                          <a:solidFill>
                            <a:schemeClr val="dk1"/>
                          </a:solidFill>
                          <a:latin typeface="+mn-lt"/>
                          <a:ea typeface="+mn-ea"/>
                          <a:cs typeface="+mn-cs"/>
                        </a:rPr>
                        <a:t>th</a:t>
                      </a:r>
                      <a:r>
                        <a:rPr lang="en-US" sz="1200" kern="1200" baseline="0" dirty="0">
                          <a:solidFill>
                            <a:schemeClr val="dk1"/>
                          </a:solidFill>
                          <a:latin typeface="+mn-lt"/>
                          <a:ea typeface="+mn-ea"/>
                          <a:cs typeface="+mn-cs"/>
                        </a:rPr>
                        <a:t>  Nov 6th</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kern="1200" dirty="0">
                          <a:solidFill>
                            <a:schemeClr val="dk1"/>
                          </a:solidFill>
                          <a:latin typeface="+mn-lt"/>
                          <a:ea typeface="+mn-ea"/>
                          <a:cs typeface="+mn-cs"/>
                        </a:rPr>
                        <a:t>Sept-23</a:t>
                      </a:r>
                      <a:r>
                        <a:rPr lang="en-US" sz="1200" strike="sngStrike" kern="1200" baseline="30000" dirty="0">
                          <a:solidFill>
                            <a:schemeClr val="dk1"/>
                          </a:solidFill>
                          <a:latin typeface="+mn-lt"/>
                          <a:ea typeface="+mn-ea"/>
                          <a:cs typeface="+mn-cs"/>
                        </a:rPr>
                        <a:t>rd</a:t>
                      </a:r>
                      <a:r>
                        <a:rPr lang="en-US" sz="1200" kern="1200" baseline="0" dirty="0">
                          <a:solidFill>
                            <a:schemeClr val="dk1"/>
                          </a:solidFill>
                          <a:latin typeface="+mn-lt"/>
                          <a:ea typeface="+mn-ea"/>
                          <a:cs typeface="+mn-cs"/>
                        </a:rPr>
                        <a:t>  2/11/26</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389206531"/>
                  </a:ext>
                </a:extLst>
              </a:tr>
            </a:tbl>
          </a:graphicData>
        </a:graphic>
      </p:graphicFrame>
    </p:spTree>
    <p:extLst>
      <p:ext uri="{BB962C8B-B14F-4D97-AF65-F5344CB8AC3E}">
        <p14:creationId xmlns:p14="http://schemas.microsoft.com/office/powerpoint/2010/main" val="775277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Project Accomplishments  </a:t>
            </a:r>
          </a:p>
        </p:txBody>
      </p:sp>
      <p:graphicFrame>
        <p:nvGraphicFramePr>
          <p:cNvPr id="7" name="Table 6"/>
          <p:cNvGraphicFramePr>
            <a:graphicFrameLocks noGrp="1"/>
          </p:cNvGraphicFramePr>
          <p:nvPr/>
        </p:nvGraphicFramePr>
        <p:xfrm>
          <a:off x="670560" y="805737"/>
          <a:ext cx="9621520" cy="5245580"/>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927981">
                  <a:extLst>
                    <a:ext uri="{9D8B030D-6E8A-4147-A177-3AD203B41FA5}">
                      <a16:colId xmlns:a16="http://schemas.microsoft.com/office/drawing/2014/main" val="3759070369"/>
                    </a:ext>
                  </a:extLst>
                </a:gridCol>
                <a:gridCol w="1698459">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100" dirty="0"/>
                        <a:t>#</a:t>
                      </a:r>
                    </a:p>
                  </a:txBody>
                  <a:tcPr/>
                </a:tc>
                <a:tc>
                  <a:txBody>
                    <a:bodyPr/>
                    <a:lstStyle/>
                    <a:p>
                      <a:r>
                        <a:rPr lang="en-US" sz="1100" dirty="0"/>
                        <a:t>Substation</a:t>
                      </a:r>
                    </a:p>
                  </a:txBody>
                  <a:tcPr/>
                </a:tc>
                <a:tc>
                  <a:txBody>
                    <a:bodyPr/>
                    <a:lstStyle/>
                    <a:p>
                      <a:pPr algn="ctr"/>
                      <a:r>
                        <a:rPr lang="en-US" sz="1100" dirty="0"/>
                        <a:t>IFR</a:t>
                      </a:r>
                    </a:p>
                  </a:txBody>
                  <a:tcPr/>
                </a:tc>
                <a:tc>
                  <a:txBody>
                    <a:bodyPr/>
                    <a:lstStyle/>
                    <a:p>
                      <a:pPr algn="ctr"/>
                      <a:r>
                        <a:rPr lang="en-US" sz="1100" dirty="0"/>
                        <a:t>IFC</a:t>
                      </a:r>
                    </a:p>
                  </a:txBody>
                  <a:tcPr/>
                </a:tc>
                <a:tc>
                  <a:txBody>
                    <a:bodyPr/>
                    <a:lstStyle/>
                    <a:p>
                      <a:pPr algn="ctr"/>
                      <a:r>
                        <a:rPr lang="en-US" sz="1100" dirty="0"/>
                        <a:t>Construction </a:t>
                      </a:r>
                    </a:p>
                  </a:txBody>
                  <a:tcPr/>
                </a:tc>
                <a:tc>
                  <a:txBody>
                    <a:bodyPr/>
                    <a:lstStyle/>
                    <a:p>
                      <a:pPr algn="ctr"/>
                      <a:r>
                        <a:rPr lang="en-US" sz="1100" dirty="0"/>
                        <a:t>Deployment </a:t>
                      </a:r>
                    </a:p>
                  </a:txBody>
                  <a:tcP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17</a:t>
                      </a:r>
                    </a:p>
                  </a:txBody>
                  <a:tcPr/>
                </a:tc>
                <a:tc>
                  <a:txBody>
                    <a:bodyPr/>
                    <a:lstStyle/>
                    <a:p>
                      <a:pPr marL="0" algn="l" defTabSz="914400" rtl="0" eaLnBrk="1" latinLnBrk="0" hangingPunct="1"/>
                      <a:r>
                        <a:rPr lang="en-US" sz="1200" kern="1200" dirty="0">
                          <a:solidFill>
                            <a:schemeClr val="dk1"/>
                          </a:solidFill>
                          <a:latin typeface="+mn-lt"/>
                          <a:ea typeface="+mn-ea"/>
                          <a:cs typeface="+mn-cs"/>
                        </a:rPr>
                        <a:t>5HK:</a:t>
                      </a:r>
                      <a:r>
                        <a:rPr lang="en-US" sz="1200" kern="1200" baseline="0" dirty="0">
                          <a:solidFill>
                            <a:schemeClr val="dk1"/>
                          </a:solidFill>
                          <a:latin typeface="+mn-lt"/>
                          <a:ea typeface="+mn-ea"/>
                          <a:cs typeface="+mn-cs"/>
                        </a:rPr>
                        <a:t> Hicksville (primary)</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Aug-19</a:t>
                      </a:r>
                      <a:r>
                        <a:rPr lang="en-US" sz="1200" strike="sngStrike" baseline="30000" dirty="0"/>
                        <a:t>th</a:t>
                      </a:r>
                      <a:r>
                        <a:rPr lang="en-US" sz="1200" strike="sngStrike" dirty="0"/>
                        <a:t> </a:t>
                      </a:r>
                      <a:r>
                        <a:rPr lang="en-US" sz="1200" strike="noStrike" dirty="0"/>
                        <a:t>Oct 17th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Oct-8</a:t>
                      </a:r>
                      <a:r>
                        <a:rPr lang="en-US" sz="1200" strike="sngStrike" baseline="30000" dirty="0"/>
                        <a:t>th</a:t>
                      </a:r>
                      <a:r>
                        <a:rPr lang="en-US" sz="1200" dirty="0"/>
                        <a:t> 1/12/26</a:t>
                      </a:r>
                    </a:p>
                  </a:txBody>
                  <a:tcP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5HK:</a:t>
                      </a:r>
                      <a:r>
                        <a:rPr lang="en-US" sz="1200" kern="1200" baseline="0" dirty="0">
                          <a:solidFill>
                            <a:schemeClr val="dk1"/>
                          </a:solidFill>
                          <a:latin typeface="+mn-lt"/>
                          <a:ea typeface="+mn-ea"/>
                          <a:cs typeface="+mn-cs"/>
                        </a:rPr>
                        <a:t> Hicksville (secondary)</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Aug-19</a:t>
                      </a:r>
                      <a:r>
                        <a:rPr lang="en-US" sz="1200" strike="sngStrike" baseline="30000" dirty="0"/>
                        <a:t>th</a:t>
                      </a:r>
                      <a:r>
                        <a:rPr lang="en-US" sz="1200" baseline="30000" dirty="0"/>
                        <a:t>  </a:t>
                      </a:r>
                      <a:r>
                        <a:rPr lang="en-US" sz="1200" baseline="0" dirty="0"/>
                        <a:t>  Oct 17th</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Oct-9</a:t>
                      </a:r>
                      <a:r>
                        <a:rPr lang="en-US" sz="1200" strike="sngStrike" baseline="30000" dirty="0"/>
                        <a:t>th</a:t>
                      </a:r>
                      <a:r>
                        <a:rPr lang="en-US" sz="1200" baseline="0" dirty="0"/>
                        <a:t>  1/12/26</a:t>
                      </a:r>
                      <a:endParaRPr lang="en-US" sz="1200" dirty="0"/>
                    </a:p>
                  </a:txBody>
                  <a:tcP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5MK: Jericho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Aug-19</a:t>
                      </a:r>
                      <a:r>
                        <a:rPr lang="en-US" sz="1200" strike="sngStrike" baseline="30000" dirty="0"/>
                        <a:t>th</a:t>
                      </a:r>
                      <a:r>
                        <a:rPr lang="en-US" sz="1200" dirty="0"/>
                        <a:t>  Nov 6th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Oct-9</a:t>
                      </a:r>
                      <a:r>
                        <a:rPr lang="en-US" sz="1200" strike="sngStrike" baseline="30000" dirty="0"/>
                        <a:t>th</a:t>
                      </a:r>
                      <a:r>
                        <a:rPr lang="en-US" sz="1200" dirty="0"/>
                        <a:t>  1/14/26</a:t>
                      </a:r>
                    </a:p>
                  </a:txBody>
                  <a:tcP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20</a:t>
                      </a:r>
                    </a:p>
                  </a:txBody>
                  <a:tcPr/>
                </a:tc>
                <a:tc>
                  <a:txBody>
                    <a:bodyPr/>
                    <a:lstStyle/>
                    <a:p>
                      <a:pPr marL="0" algn="l" defTabSz="914400" rtl="0" eaLnBrk="1" latinLnBrk="0" hangingPunct="1"/>
                      <a:r>
                        <a:rPr lang="en-US" sz="1200" kern="1200" dirty="0">
                          <a:solidFill>
                            <a:schemeClr val="dk1"/>
                          </a:solidFill>
                          <a:latin typeface="+mn-lt"/>
                          <a:ea typeface="+mn-ea"/>
                          <a:cs typeface="+mn-cs"/>
                        </a:rPr>
                        <a:t>ACC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Aug-26</a:t>
                      </a:r>
                      <a:r>
                        <a:rPr lang="en-US" sz="1200" strike="sngStrike" baseline="30000" dirty="0"/>
                        <a:t>th</a:t>
                      </a:r>
                      <a:r>
                        <a:rPr lang="en-US" sz="1200" dirty="0"/>
                        <a:t>  Oct 24th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Oct-21</a:t>
                      </a:r>
                      <a:r>
                        <a:rPr lang="en-US" sz="1200" strike="sngStrike" baseline="30000" dirty="0"/>
                        <a:t>st</a:t>
                      </a:r>
                      <a:r>
                        <a:rPr lang="en-US" sz="1200" dirty="0"/>
                        <a:t>  1/27/26</a:t>
                      </a:r>
                    </a:p>
                  </a:txBody>
                  <a:tcPr/>
                </a:tc>
                <a:extLst>
                  <a:ext uri="{0D108BD9-81ED-4DB2-BD59-A6C34878D82A}">
                    <a16:rowId xmlns:a16="http://schemas.microsoft.com/office/drawing/2014/main" val="3444944646"/>
                  </a:ext>
                </a:extLst>
              </a:tr>
              <a:tr h="323512">
                <a:tc>
                  <a:txBody>
                    <a:bodyPr/>
                    <a:lstStyle/>
                    <a:p>
                      <a:pPr marL="0" algn="ctr" defTabSz="914400" rtl="0" eaLnBrk="1" latinLnBrk="0" hangingPunct="1"/>
                      <a:r>
                        <a:rPr lang="en-US" sz="1200" kern="1200" dirty="0">
                          <a:solidFill>
                            <a:schemeClr val="dk1"/>
                          </a:solidFill>
                          <a:latin typeface="+mn-lt"/>
                          <a:ea typeface="+mn-ea"/>
                          <a:cs typeface="+mn-cs"/>
                        </a:rPr>
                        <a:t>21</a:t>
                      </a:r>
                    </a:p>
                  </a:txBody>
                  <a:tcPr/>
                </a:tc>
                <a:tc>
                  <a:txBody>
                    <a:bodyPr/>
                    <a:lstStyle/>
                    <a:p>
                      <a:pPr marL="0" algn="l" defTabSz="914400" rtl="0" eaLnBrk="1" latinLnBrk="0" hangingPunct="1"/>
                      <a:r>
                        <a:rPr lang="en-US" sz="1200" kern="1200" dirty="0">
                          <a:solidFill>
                            <a:schemeClr val="dk1"/>
                          </a:solidFill>
                          <a:latin typeface="+mn-lt"/>
                          <a:ea typeface="+mn-ea"/>
                          <a:cs typeface="+mn-cs"/>
                        </a:rPr>
                        <a:t>4G:</a:t>
                      </a:r>
                      <a:r>
                        <a:rPr lang="en-US" sz="1200" kern="1200" baseline="0" dirty="0">
                          <a:solidFill>
                            <a:schemeClr val="dk1"/>
                          </a:solidFill>
                          <a:latin typeface="+mn-lt"/>
                          <a:ea typeface="+mn-ea"/>
                          <a:cs typeface="+mn-cs"/>
                        </a:rPr>
                        <a:t> Shore Rd.</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Aug-12</a:t>
                      </a:r>
                      <a:r>
                        <a:rPr lang="en-US" sz="1200" strike="sngStrike" baseline="30000" dirty="0"/>
                        <a:t>th</a:t>
                      </a:r>
                      <a:r>
                        <a:rPr lang="en-US" sz="1200" baseline="0" dirty="0"/>
                        <a:t>  Nov 6th</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Sept-25</a:t>
                      </a:r>
                      <a:r>
                        <a:rPr lang="en-US" sz="1200" strike="sngStrike" baseline="30000" dirty="0"/>
                        <a:t>th</a:t>
                      </a:r>
                      <a:r>
                        <a:rPr lang="en-US" sz="1200" baseline="0" dirty="0"/>
                        <a:t>  1/6/26</a:t>
                      </a:r>
                      <a:endParaRPr lang="en-US" sz="1200" dirty="0"/>
                    </a:p>
                  </a:txBody>
                  <a:tcP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22</a:t>
                      </a:r>
                    </a:p>
                  </a:txBody>
                  <a:tcPr/>
                </a:tc>
                <a:tc>
                  <a:txBody>
                    <a:bodyPr/>
                    <a:lstStyle/>
                    <a:p>
                      <a:pPr marL="0" algn="l" defTabSz="914400" rtl="0" eaLnBrk="1" latinLnBrk="0" hangingPunct="1"/>
                      <a:r>
                        <a:rPr lang="en-US" sz="1200" kern="1200" dirty="0">
                          <a:solidFill>
                            <a:schemeClr val="dk1"/>
                          </a:solidFill>
                          <a:latin typeface="+mn-lt"/>
                          <a:ea typeface="+mn-ea"/>
                          <a:cs typeface="+mn-cs"/>
                        </a:rPr>
                        <a:t>4GH:</a:t>
                      </a:r>
                      <a:r>
                        <a:rPr lang="en-US" sz="1200" kern="1200" baseline="0" dirty="0">
                          <a:solidFill>
                            <a:schemeClr val="dk1"/>
                          </a:solidFill>
                          <a:latin typeface="+mn-lt"/>
                          <a:ea typeface="+mn-ea"/>
                          <a:cs typeface="+mn-cs"/>
                        </a:rPr>
                        <a:t> Glen Head</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Aug-14</a:t>
                      </a:r>
                      <a:r>
                        <a:rPr lang="en-US" sz="1200" strike="sngStrike" baseline="30000" dirty="0"/>
                        <a:t>th</a:t>
                      </a:r>
                      <a:r>
                        <a:rPr lang="en-US" sz="1200" baseline="0" dirty="0"/>
                        <a:t>  </a:t>
                      </a:r>
                      <a:r>
                        <a:rPr lang="en-US" sz="1200" dirty="0"/>
                        <a:t>Nov 6th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Sept-25</a:t>
                      </a:r>
                      <a:r>
                        <a:rPr lang="en-US" sz="1200" strike="sngStrike" baseline="30000" dirty="0"/>
                        <a:t>th</a:t>
                      </a:r>
                      <a:r>
                        <a:rPr lang="en-US" sz="1200" baseline="0" dirty="0"/>
                        <a:t>  1/6/26</a:t>
                      </a:r>
                      <a:endParaRPr lang="en-US" sz="1200" dirty="0"/>
                    </a:p>
                  </a:txBody>
                  <a:tcP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tc>
                <a:tc>
                  <a:txBody>
                    <a:bodyPr/>
                    <a:lstStyle/>
                    <a:p>
                      <a:pPr marL="0" algn="l" defTabSz="914400" rtl="0" eaLnBrk="1" latinLnBrk="0" hangingPunct="1"/>
                      <a:r>
                        <a:rPr lang="en-US" sz="1200" kern="1200" dirty="0">
                          <a:solidFill>
                            <a:schemeClr val="dk1"/>
                          </a:solidFill>
                          <a:latin typeface="+mn-lt"/>
                          <a:ea typeface="+mn-ea"/>
                          <a:cs typeface="+mn-cs"/>
                        </a:rPr>
                        <a:t>4B:</a:t>
                      </a:r>
                      <a:r>
                        <a:rPr lang="en-US" sz="1200" kern="1200" baseline="0" dirty="0">
                          <a:solidFill>
                            <a:schemeClr val="dk1"/>
                          </a:solidFill>
                          <a:latin typeface="+mn-lt"/>
                          <a:ea typeface="+mn-ea"/>
                          <a:cs typeface="+mn-cs"/>
                        </a:rPr>
                        <a:t> Roslyn</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Aug-14</a:t>
                      </a:r>
                      <a:r>
                        <a:rPr lang="en-US" sz="1200" strike="sngStrike" baseline="30000" dirty="0"/>
                        <a:t>th</a:t>
                      </a:r>
                      <a:r>
                        <a:rPr lang="en-US" sz="1200" dirty="0"/>
                        <a:t> </a:t>
                      </a:r>
                      <a:r>
                        <a:rPr lang="en-US" sz="1200" baseline="0" dirty="0"/>
                        <a:t> </a:t>
                      </a:r>
                      <a:r>
                        <a:rPr lang="en-US" sz="1200" dirty="0"/>
                        <a:t>Nov 6th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Sept-29</a:t>
                      </a:r>
                      <a:r>
                        <a:rPr lang="en-US" sz="1200" strike="sngStrike" baseline="30000" dirty="0"/>
                        <a:t>th</a:t>
                      </a:r>
                      <a:r>
                        <a:rPr lang="en-US" sz="1200" dirty="0"/>
                        <a:t>  1/7/26</a:t>
                      </a:r>
                    </a:p>
                  </a:txBody>
                  <a:tcP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24</a:t>
                      </a:r>
                    </a:p>
                  </a:txBody>
                  <a:tcPr/>
                </a:tc>
                <a:tc>
                  <a:txBody>
                    <a:bodyPr/>
                    <a:lstStyle/>
                    <a:p>
                      <a:pPr marL="0" algn="l" defTabSz="914400" rtl="0" eaLnBrk="1" latinLnBrk="0" hangingPunct="1"/>
                      <a:r>
                        <a:rPr lang="en-US" sz="1200" kern="1200" baseline="0" dirty="0">
                          <a:solidFill>
                            <a:schemeClr val="dk1"/>
                          </a:solidFill>
                          <a:latin typeface="+mn-lt"/>
                          <a:ea typeface="+mn-ea"/>
                          <a:cs typeface="+mn-cs"/>
                        </a:rPr>
                        <a:t>3AF: Lake Success </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Aug-14</a:t>
                      </a:r>
                      <a:r>
                        <a:rPr lang="en-US" sz="1200" strike="sngStrike" baseline="30000" dirty="0"/>
                        <a:t>th</a:t>
                      </a:r>
                      <a:r>
                        <a:rPr lang="en-US" sz="1200" baseline="0" dirty="0"/>
                        <a:t>  Oct 10th </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Sept-29</a:t>
                      </a:r>
                      <a:r>
                        <a:rPr lang="en-US" sz="1200" strike="sngStrike" baseline="30000" dirty="0"/>
                        <a:t>th</a:t>
                      </a:r>
                      <a:r>
                        <a:rPr lang="en-US" sz="1200" dirty="0"/>
                        <a:t>  1/7/26</a:t>
                      </a: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dk1"/>
                          </a:solidFill>
                          <a:latin typeface="+mn-lt"/>
                          <a:ea typeface="+mn-ea"/>
                          <a:cs typeface="+mn-cs"/>
                        </a:rPr>
                        <a:t>3AF1: Lake Success Shelter</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Aug-14</a:t>
                      </a:r>
                      <a:r>
                        <a:rPr lang="en-US" sz="1200" strike="sngStrike" baseline="30000" dirty="0"/>
                        <a:t>th</a:t>
                      </a:r>
                      <a:r>
                        <a:rPr lang="en-US" sz="1200" baseline="0" dirty="0"/>
                        <a:t>  Oct 10th</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Sept-30</a:t>
                      </a:r>
                      <a:r>
                        <a:rPr lang="en-US" sz="1200" strike="sngStrike" baseline="30000" dirty="0"/>
                        <a:t>th</a:t>
                      </a:r>
                      <a:r>
                        <a:rPr lang="en-US" sz="1200" dirty="0"/>
                        <a:t>   1/8/26</a:t>
                      </a:r>
                    </a:p>
                  </a:txBody>
                  <a:tcP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tc>
                <a:tc>
                  <a:txBody>
                    <a:bodyPr/>
                    <a:lstStyle/>
                    <a:p>
                      <a:pPr marL="0" algn="l" defTabSz="914400" rtl="0" eaLnBrk="1" latinLnBrk="0" hangingPunct="1"/>
                      <a:r>
                        <a:rPr lang="en-US" sz="1200" kern="1200" dirty="0">
                          <a:solidFill>
                            <a:schemeClr val="dk1"/>
                          </a:solidFill>
                          <a:latin typeface="+mn-lt"/>
                          <a:ea typeface="+mn-ea"/>
                          <a:cs typeface="+mn-cs"/>
                        </a:rPr>
                        <a:t>3KG:</a:t>
                      </a:r>
                      <a:r>
                        <a:rPr lang="en-US" sz="1200" kern="1200" baseline="0" dirty="0">
                          <a:solidFill>
                            <a:schemeClr val="dk1"/>
                          </a:solidFill>
                          <a:latin typeface="+mn-lt"/>
                          <a:ea typeface="+mn-ea"/>
                          <a:cs typeface="+mn-cs"/>
                        </a:rPr>
                        <a:t> Herrick's</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Aug-19</a:t>
                      </a:r>
                      <a:r>
                        <a:rPr lang="en-US" sz="1200" strike="sngStrike" baseline="30000" dirty="0"/>
                        <a:t>th</a:t>
                      </a:r>
                      <a:r>
                        <a:rPr lang="en-US" sz="1200" baseline="0" dirty="0"/>
                        <a:t>  Oct 31st</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Oct-13</a:t>
                      </a:r>
                      <a:r>
                        <a:rPr lang="en-US" sz="1200" strike="sngStrike" baseline="30000" dirty="0"/>
                        <a:t>th</a:t>
                      </a:r>
                      <a:r>
                        <a:rPr lang="en-US" sz="1200" dirty="0"/>
                        <a:t>  1/16/26</a:t>
                      </a:r>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tc>
                <a:tc>
                  <a:txBody>
                    <a:bodyPr/>
                    <a:lstStyle/>
                    <a:p>
                      <a:pPr marL="0" algn="l" defTabSz="914400" rtl="0" eaLnBrk="1" latinLnBrk="0" hangingPunct="1"/>
                      <a:r>
                        <a:rPr lang="en-US" sz="1200" kern="1200" dirty="0">
                          <a:solidFill>
                            <a:schemeClr val="dk1"/>
                          </a:solidFill>
                          <a:latin typeface="+mn-lt"/>
                          <a:ea typeface="+mn-ea"/>
                          <a:cs typeface="+mn-cs"/>
                        </a:rPr>
                        <a:t>4AH:</a:t>
                      </a:r>
                      <a:r>
                        <a:rPr lang="en-US" sz="1200" kern="1200" baseline="0" dirty="0">
                          <a:solidFill>
                            <a:schemeClr val="dk1"/>
                          </a:solidFill>
                          <a:latin typeface="+mn-lt"/>
                          <a:ea typeface="+mn-ea"/>
                          <a:cs typeface="+mn-cs"/>
                        </a:rPr>
                        <a:t> Carle Place</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Aug-28</a:t>
                      </a:r>
                      <a:r>
                        <a:rPr lang="en-US" sz="1200" strike="sngStrike" baseline="30000" dirty="0"/>
                        <a:t>th</a:t>
                      </a:r>
                      <a:r>
                        <a:rPr lang="en-US" sz="1200" dirty="0"/>
                        <a:t>  </a:t>
                      </a:r>
                      <a:r>
                        <a:rPr lang="en-US" sz="1200" baseline="0" dirty="0"/>
                        <a:t>Oct 31st</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Oct-20</a:t>
                      </a:r>
                      <a:r>
                        <a:rPr lang="en-US" sz="1200" strike="sngStrike" baseline="30000" dirty="0"/>
                        <a:t>th</a:t>
                      </a:r>
                      <a:r>
                        <a:rPr lang="en-US" sz="1200" dirty="0"/>
                        <a:t>  1/30/26</a:t>
                      </a:r>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tc>
                <a:tc>
                  <a:txBody>
                    <a:bodyPr/>
                    <a:lstStyle/>
                    <a:p>
                      <a:pPr marL="0" algn="l" defTabSz="914400" rtl="0" eaLnBrk="1" latinLnBrk="0" hangingPunct="1"/>
                      <a:r>
                        <a:rPr lang="en-US" sz="1200" kern="1200" dirty="0">
                          <a:solidFill>
                            <a:schemeClr val="dk1"/>
                          </a:solidFill>
                          <a:latin typeface="+mn-lt"/>
                          <a:ea typeface="+mn-ea"/>
                          <a:cs typeface="+mn-cs"/>
                        </a:rPr>
                        <a:t>4MG:</a:t>
                      </a:r>
                      <a:r>
                        <a:rPr lang="en-US" sz="1200" kern="1200" baseline="0" dirty="0">
                          <a:solidFill>
                            <a:schemeClr val="dk1"/>
                          </a:solidFill>
                          <a:latin typeface="+mn-lt"/>
                          <a:ea typeface="+mn-ea"/>
                          <a:cs typeface="+mn-cs"/>
                        </a:rPr>
                        <a:t> Mitchell Gardens</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Aug-28</a:t>
                      </a:r>
                      <a:r>
                        <a:rPr lang="en-US" sz="1200" strike="sngStrike" baseline="30000" dirty="0"/>
                        <a:t>th</a:t>
                      </a:r>
                      <a:r>
                        <a:rPr lang="en-US" sz="1200" dirty="0"/>
                        <a:t> </a:t>
                      </a:r>
                      <a:r>
                        <a:rPr lang="en-US" sz="1200" baseline="0" dirty="0"/>
                        <a:t>Oct 31st</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Oct-20</a:t>
                      </a:r>
                      <a:r>
                        <a:rPr lang="en-US" sz="1200" strike="sngStrike" baseline="30000" dirty="0"/>
                        <a:t>th</a:t>
                      </a:r>
                      <a:r>
                        <a:rPr lang="en-US" sz="1200" dirty="0"/>
                        <a:t>   2/2/26</a:t>
                      </a:r>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29</a:t>
                      </a:r>
                    </a:p>
                  </a:txBody>
                  <a:tcPr/>
                </a:tc>
                <a:tc>
                  <a:txBody>
                    <a:bodyPr/>
                    <a:lstStyle/>
                    <a:p>
                      <a:pPr marL="0" algn="l" defTabSz="914400" rtl="0" eaLnBrk="1" latinLnBrk="0" hangingPunct="1"/>
                      <a:r>
                        <a:rPr lang="en-US" sz="1200" kern="1200" dirty="0">
                          <a:solidFill>
                            <a:schemeClr val="dk1"/>
                          </a:solidFill>
                          <a:latin typeface="+mn-lt"/>
                          <a:ea typeface="+mn-ea"/>
                          <a:cs typeface="+mn-cs"/>
                        </a:rPr>
                        <a:t>4H:</a:t>
                      </a:r>
                      <a:r>
                        <a:rPr lang="en-US" sz="1200" kern="1200" baseline="0" dirty="0">
                          <a:solidFill>
                            <a:schemeClr val="dk1"/>
                          </a:solidFill>
                          <a:latin typeface="+mn-lt"/>
                          <a:ea typeface="+mn-ea"/>
                          <a:cs typeface="+mn-cs"/>
                        </a:rPr>
                        <a:t> East Garden City</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Aug-19</a:t>
                      </a:r>
                      <a:r>
                        <a:rPr lang="en-US" sz="1200" strike="sngStrike" baseline="30000" dirty="0"/>
                        <a:t>th</a:t>
                      </a:r>
                      <a:r>
                        <a:rPr lang="en-US" sz="1200" baseline="0" dirty="0"/>
                        <a:t>  Oct 24th</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Oct-13</a:t>
                      </a:r>
                      <a:r>
                        <a:rPr lang="en-US" sz="1200" strike="sngStrike" baseline="30000" dirty="0"/>
                        <a:t>th</a:t>
                      </a:r>
                      <a:r>
                        <a:rPr lang="en-US" sz="1200" dirty="0"/>
                        <a:t> 1/19/26</a:t>
                      </a:r>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30</a:t>
                      </a:r>
                    </a:p>
                  </a:txBody>
                  <a:tcPr/>
                </a:tc>
                <a:tc>
                  <a:txBody>
                    <a:bodyPr/>
                    <a:lstStyle/>
                    <a:p>
                      <a:pPr marL="0" algn="l" defTabSz="914400" rtl="0" eaLnBrk="1" latinLnBrk="0" hangingPunct="1"/>
                      <a:r>
                        <a:rPr lang="en-US" sz="1200" kern="1200" dirty="0">
                          <a:solidFill>
                            <a:schemeClr val="dk1"/>
                          </a:solidFill>
                          <a:latin typeface="+mn-lt"/>
                          <a:ea typeface="+mn-ea"/>
                          <a:cs typeface="+mn-cs"/>
                        </a:rPr>
                        <a:t>3D: Manhasset</a:t>
                      </a:r>
                      <a:r>
                        <a:rPr lang="en-US" sz="1200" kern="1200" baseline="0" dirty="0">
                          <a:solidFill>
                            <a:schemeClr val="dk1"/>
                          </a:solidFill>
                          <a:latin typeface="+mn-lt"/>
                          <a:ea typeface="+mn-ea"/>
                          <a:cs typeface="+mn-cs"/>
                        </a:rPr>
                        <a:t> </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Arial"/>
                          <a:ea typeface="+mn-ea"/>
                          <a:cs typeface="+mn-cs"/>
                        </a:rPr>
                        <a:t>Completed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Aug-14</a:t>
                      </a:r>
                      <a:r>
                        <a:rPr lang="en-US" sz="1200" strike="sngStrike" baseline="30000" dirty="0"/>
                        <a:t>th</a:t>
                      </a:r>
                      <a:r>
                        <a:rPr lang="en-US" sz="1200" baseline="0" dirty="0"/>
                        <a:t>  Oct 31st</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Oct-1</a:t>
                      </a:r>
                      <a:r>
                        <a:rPr lang="en-US" sz="1200" strike="sngStrike" baseline="30000" dirty="0"/>
                        <a:t>st</a:t>
                      </a:r>
                      <a:r>
                        <a:rPr lang="en-US" sz="1200" dirty="0"/>
                        <a:t>  1/9/26</a:t>
                      </a:r>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r>
                        <a:rPr lang="en-US" sz="1200" kern="1200" dirty="0">
                          <a:solidFill>
                            <a:schemeClr val="dk1"/>
                          </a:solidFill>
                          <a:latin typeface="+mn-lt"/>
                          <a:ea typeface="+mn-ea"/>
                          <a:cs typeface="+mn-cs"/>
                        </a:rPr>
                        <a:t>31</a:t>
                      </a:r>
                    </a:p>
                  </a:txBody>
                  <a:tcPr/>
                </a:tc>
                <a:tc>
                  <a:txBody>
                    <a:bodyPr/>
                    <a:lstStyle/>
                    <a:p>
                      <a:pPr marL="0" algn="l" defTabSz="914400" rtl="0" eaLnBrk="1" latinLnBrk="0" hangingPunct="1"/>
                      <a:r>
                        <a:rPr lang="en-US" sz="1200" kern="1200" dirty="0">
                          <a:solidFill>
                            <a:schemeClr val="dk1"/>
                          </a:solidFill>
                          <a:latin typeface="+mn-lt"/>
                          <a:ea typeface="+mn-ea"/>
                          <a:cs typeface="+mn-cs"/>
                        </a:rPr>
                        <a:t>3D1:</a:t>
                      </a:r>
                      <a:r>
                        <a:rPr lang="en-US" sz="1200" kern="1200" baseline="0" dirty="0">
                          <a:solidFill>
                            <a:schemeClr val="dk1"/>
                          </a:solidFill>
                          <a:latin typeface="+mn-lt"/>
                          <a:ea typeface="+mn-ea"/>
                          <a:cs typeface="+mn-cs"/>
                        </a:rPr>
                        <a:t> Manhasset Shelter </a:t>
                      </a:r>
                      <a:endParaRPr 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Completed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Aug-15</a:t>
                      </a:r>
                      <a:r>
                        <a:rPr lang="en-US" sz="1200" strike="sngStrike" baseline="30000" dirty="0"/>
                        <a:t>th</a:t>
                      </a:r>
                      <a:r>
                        <a:rPr lang="en-US" sz="1200" baseline="0" dirty="0"/>
                        <a:t>  Oct 31st</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sngStrike" dirty="0"/>
                        <a:t>Oct-2</a:t>
                      </a:r>
                      <a:r>
                        <a:rPr lang="en-US" sz="1200" strike="sngStrike" baseline="30000" dirty="0"/>
                        <a:t>nd</a:t>
                      </a:r>
                      <a:r>
                        <a:rPr lang="en-US" sz="1200" dirty="0"/>
                        <a:t>  1/9/26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475045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3143523821"/>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u="none" strike="noStrike" dirty="0">
                          <a:solidFill>
                            <a:srgbClr val="00B050"/>
                          </a:solidFill>
                          <a:effectLst/>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1656618233"/>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14B7B69-59BD-4C6C-48EB-B42ACBCA5B21}"/>
              </a:ext>
            </a:extLst>
          </p:cNvPr>
          <p:cNvSpPr>
            <a:spLocks noGrp="1"/>
          </p:cNvSpPr>
          <p:nvPr>
            <p:ph type="title"/>
          </p:nvPr>
        </p:nvSpPr>
        <p:spPr>
          <a:xfrm>
            <a:off x="576725" y="337312"/>
            <a:ext cx="9009130" cy="377825"/>
          </a:xfrm>
        </p:spPr>
        <p:txBody>
          <a:bodyPr>
            <a:normAutofit fontScale="90000"/>
          </a:bodyPr>
          <a:lstStyle/>
          <a:p>
            <a:pPr algn="ctr"/>
            <a:r>
              <a:rPr lang="en-US" sz="2000" dirty="0"/>
              <a:t> </a:t>
            </a:r>
            <a:br>
              <a:rPr lang="en-US" sz="2000" dirty="0"/>
            </a:br>
            <a:endParaRPr lang="en-US" sz="2000" dirty="0"/>
          </a:p>
        </p:txBody>
      </p:sp>
      <p:sp>
        <p:nvSpPr>
          <p:cNvPr id="7" name="Content Placeholder 6"/>
          <p:cNvSpPr txBox="1">
            <a:spLocks noGrp="1"/>
          </p:cNvSpPr>
          <p:nvPr>
            <p:ph idx="1"/>
          </p:nvPr>
        </p:nvSpPr>
        <p:spPr>
          <a:xfrm>
            <a:off x="509288" y="938662"/>
            <a:ext cx="9009130" cy="1695849"/>
          </a:xfrm>
          <a:prstGeom prst="rect">
            <a:avLst/>
          </a:prstGeom>
          <a:noFill/>
        </p:spPr>
        <p:txBody>
          <a:bodyPr wrap="square" rtlCol="0">
            <a:spAutoFit/>
          </a:bodyPr>
          <a:lstStyle/>
          <a:p>
            <a:pPr marL="171450" indent="-171450">
              <a:buFont typeface="Arial" panose="020B0604020202020204" pitchFamily="34" charset="0"/>
              <a:buChar char="•"/>
            </a:pPr>
            <a:endParaRPr lang="en-US" sz="800" b="1" dirty="0"/>
          </a:p>
          <a:p>
            <a:pPr marL="342900" lvl="1"/>
            <a:endParaRPr lang="en-US" sz="1200" dirty="0"/>
          </a:p>
          <a:p>
            <a:pPr marL="458788" lvl="2"/>
            <a:endParaRPr lang="en-US" dirty="0"/>
          </a:p>
          <a:p>
            <a:endParaRPr lang="en-US" sz="1000" b="1" dirty="0"/>
          </a:p>
          <a:p>
            <a:pPr lvl="1"/>
            <a:r>
              <a:rPr lang="en-US" sz="1000" b="1" dirty="0"/>
              <a:t> </a:t>
            </a:r>
            <a:endParaRPr lang="en-US" sz="1000" dirty="0"/>
          </a:p>
          <a:p>
            <a:pPr marL="685800" lvl="1" indent="-228600">
              <a:buFont typeface="+mj-lt"/>
              <a:buAutoNum type="arabicPeriod"/>
            </a:pPr>
            <a:endParaRPr lang="en-US" sz="1000" b="1" u="sng" dirty="0"/>
          </a:p>
        </p:txBody>
      </p:sp>
      <p:sp>
        <p:nvSpPr>
          <p:cNvPr id="10" name="Content Placeholder 13">
            <a:extLst>
              <a:ext uri="{FF2B5EF4-FFF2-40B4-BE49-F238E27FC236}">
                <a16:creationId xmlns:a16="http://schemas.microsoft.com/office/drawing/2014/main" id="{A24EE83D-2178-F6B5-4EA8-D2E0604DF97B}"/>
              </a:ext>
            </a:extLst>
          </p:cNvPr>
          <p:cNvSpPr txBox="1">
            <a:spLocks noGrp="1"/>
          </p:cNvSpPr>
          <p:nvPr>
            <p:ph idx="11"/>
          </p:nvPr>
        </p:nvSpPr>
        <p:spPr>
          <a:prstGeom prst="rect">
            <a:avLst/>
          </a:prstGeom>
        </p:spPr>
        <p:txBody>
          <a:bodyPr vert="horz" lIns="0" tIns="45720" rIns="91440" bIns="45720" numCol="1" spcCol="0" rtlCol="0">
            <a:noAutofit/>
          </a:bodyPr>
          <a:lstStyle>
            <a:lvl1pPr marL="0" indent="0" algn="l" defTabSz="914400" rtl="0" eaLnBrk="1" latinLnBrk="0" hangingPunct="1">
              <a:lnSpc>
                <a:spcPct val="120000"/>
              </a:lnSpc>
              <a:spcBef>
                <a:spcPts val="300"/>
              </a:spcBef>
              <a:spcAft>
                <a:spcPts val="300"/>
              </a:spcAft>
              <a:buFont typeface="Arial" panose="020B0604020202020204" pitchFamily="34" charset="0"/>
              <a:buNone/>
              <a:defRPr sz="800" kern="1200">
                <a:solidFill>
                  <a:schemeClr val="accent3"/>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dirty="0">
                <a:solidFill>
                  <a:schemeClr val="tx1"/>
                </a:solidFill>
              </a:rPr>
              <a:t>JMUX Replacement: Private Field Area Network   </a:t>
            </a:r>
            <a:endParaRPr lang="en-US" dirty="0">
              <a:solidFill>
                <a:schemeClr val="tx1"/>
              </a:solidFill>
            </a:endParaRPr>
          </a:p>
          <a:p>
            <a:r>
              <a:rPr lang="en-US" u="sng" dirty="0">
                <a:solidFill>
                  <a:schemeClr val="tx1"/>
                </a:solidFill>
              </a:rPr>
              <a:t> </a:t>
            </a:r>
            <a:endParaRPr lang="en-US" dirty="0">
              <a:solidFill>
                <a:schemeClr val="tx1"/>
              </a:solidFill>
            </a:endParaRPr>
          </a:p>
        </p:txBody>
      </p:sp>
      <p:sp>
        <p:nvSpPr>
          <p:cNvPr id="27" name="Title 11">
            <a:extLst>
              <a:ext uri="{FF2B5EF4-FFF2-40B4-BE49-F238E27FC236}">
                <a16:creationId xmlns:a16="http://schemas.microsoft.com/office/drawing/2014/main" id="{31EE37F1-CD9E-72F1-7C40-D38EADA5ACB1}"/>
              </a:ext>
            </a:extLst>
          </p:cNvPr>
          <p:cNvSpPr txBox="1">
            <a:spLocks/>
          </p:cNvSpPr>
          <p:nvPr/>
        </p:nvSpPr>
        <p:spPr>
          <a:xfrm>
            <a:off x="1943280" y="385877"/>
            <a:ext cx="10808209" cy="307777"/>
          </a:xfrm>
          <a:prstGeom prst="rect">
            <a:avLst/>
          </a:prstGeom>
        </p:spPr>
        <p:txBody>
          <a:bodyPr vert="horz" lIns="91440" tIns="45720" rIns="91440" bIns="45720" rtlCol="0" anchor="ctr">
            <a:normAutofit fontScale="3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            </a:t>
            </a:r>
            <a:r>
              <a:rPr lang="en-GB" b="1" dirty="0"/>
              <a:t>JMUX Schedule Performance Index – Phase 1 </a:t>
            </a:r>
            <a:endParaRPr lang="en-GB" b="1" dirty="0">
              <a:cs typeface="Arial"/>
            </a:endParaRPr>
          </a:p>
        </p:txBody>
      </p:sp>
      <p:graphicFrame>
        <p:nvGraphicFramePr>
          <p:cNvPr id="28" name="Chart 27">
            <a:extLst>
              <a:ext uri="{FF2B5EF4-FFF2-40B4-BE49-F238E27FC236}">
                <a16:creationId xmlns:a16="http://schemas.microsoft.com/office/drawing/2014/main" id="{9968BA05-247E-D376-7731-DF5158BA708C}"/>
              </a:ext>
            </a:extLst>
          </p:cNvPr>
          <p:cNvGraphicFramePr/>
          <p:nvPr/>
        </p:nvGraphicFramePr>
        <p:xfrm>
          <a:off x="-1390418" y="653653"/>
          <a:ext cx="8128000"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Box 28">
            <a:extLst>
              <a:ext uri="{FF2B5EF4-FFF2-40B4-BE49-F238E27FC236}">
                <a16:creationId xmlns:a16="http://schemas.microsoft.com/office/drawing/2014/main" id="{1A676B5A-A620-77DE-A26F-6389A573A100}"/>
              </a:ext>
            </a:extLst>
          </p:cNvPr>
          <p:cNvSpPr txBox="1"/>
          <p:nvPr/>
        </p:nvSpPr>
        <p:spPr>
          <a:xfrm>
            <a:off x="425882" y="2957126"/>
            <a:ext cx="301686" cy="276999"/>
          </a:xfrm>
          <a:prstGeom prst="rect">
            <a:avLst/>
          </a:prstGeom>
          <a:noFill/>
        </p:spPr>
        <p:txBody>
          <a:bodyPr wrap="none" rtlCol="0">
            <a:spAutoFit/>
          </a:bodyPr>
          <a:lstStyle/>
          <a:p>
            <a:pPr algn="l"/>
            <a:r>
              <a:rPr lang="en-US" sz="1200" dirty="0">
                <a:solidFill>
                  <a:schemeClr val="bg1"/>
                </a:solidFill>
              </a:rPr>
              <a:t>.5</a:t>
            </a:r>
          </a:p>
        </p:txBody>
      </p:sp>
      <p:sp>
        <p:nvSpPr>
          <p:cNvPr id="30" name="TextBox 29">
            <a:extLst>
              <a:ext uri="{FF2B5EF4-FFF2-40B4-BE49-F238E27FC236}">
                <a16:creationId xmlns:a16="http://schemas.microsoft.com/office/drawing/2014/main" id="{351B4589-76D7-6081-2DD2-20DFCA3B9C02}"/>
              </a:ext>
            </a:extLst>
          </p:cNvPr>
          <p:cNvSpPr txBox="1"/>
          <p:nvPr/>
        </p:nvSpPr>
        <p:spPr>
          <a:xfrm>
            <a:off x="2928751" y="1207121"/>
            <a:ext cx="380232" cy="276999"/>
          </a:xfrm>
          <a:prstGeom prst="rect">
            <a:avLst/>
          </a:prstGeom>
          <a:noFill/>
        </p:spPr>
        <p:txBody>
          <a:bodyPr wrap="none" rtlCol="0">
            <a:spAutoFit/>
          </a:bodyPr>
          <a:lstStyle/>
          <a:p>
            <a:pPr algn="l"/>
            <a:r>
              <a:rPr lang="en-US" sz="1200" dirty="0">
                <a:solidFill>
                  <a:schemeClr val="bg1"/>
                </a:solidFill>
              </a:rPr>
              <a:t>1.0</a:t>
            </a:r>
          </a:p>
        </p:txBody>
      </p:sp>
      <p:sp>
        <p:nvSpPr>
          <p:cNvPr id="31" name="TextBox 30">
            <a:extLst>
              <a:ext uri="{FF2B5EF4-FFF2-40B4-BE49-F238E27FC236}">
                <a16:creationId xmlns:a16="http://schemas.microsoft.com/office/drawing/2014/main" id="{FAA4EF41-6E08-5451-AB0B-6B24E1AB756A}"/>
              </a:ext>
            </a:extLst>
          </p:cNvPr>
          <p:cNvSpPr txBox="1"/>
          <p:nvPr/>
        </p:nvSpPr>
        <p:spPr>
          <a:xfrm>
            <a:off x="2733767" y="1315006"/>
            <a:ext cx="301686" cy="276999"/>
          </a:xfrm>
          <a:prstGeom prst="rect">
            <a:avLst/>
          </a:prstGeom>
          <a:noFill/>
        </p:spPr>
        <p:txBody>
          <a:bodyPr wrap="none" rtlCol="0">
            <a:spAutoFit/>
          </a:bodyPr>
          <a:lstStyle/>
          <a:p>
            <a:pPr algn="l"/>
            <a:r>
              <a:rPr lang="en-US" sz="1200" dirty="0">
                <a:solidFill>
                  <a:schemeClr val="accent5"/>
                </a:solidFill>
              </a:rPr>
              <a:t>.9</a:t>
            </a:r>
          </a:p>
        </p:txBody>
      </p:sp>
      <p:sp>
        <p:nvSpPr>
          <p:cNvPr id="32" name="TextBox 31">
            <a:extLst>
              <a:ext uri="{FF2B5EF4-FFF2-40B4-BE49-F238E27FC236}">
                <a16:creationId xmlns:a16="http://schemas.microsoft.com/office/drawing/2014/main" id="{77D4E14E-8AF4-82BD-974B-A935713607E6}"/>
              </a:ext>
            </a:extLst>
          </p:cNvPr>
          <p:cNvSpPr txBox="1"/>
          <p:nvPr/>
        </p:nvSpPr>
        <p:spPr>
          <a:xfrm>
            <a:off x="3565522" y="1413751"/>
            <a:ext cx="380232" cy="276999"/>
          </a:xfrm>
          <a:prstGeom prst="rect">
            <a:avLst/>
          </a:prstGeom>
          <a:noFill/>
        </p:spPr>
        <p:txBody>
          <a:bodyPr wrap="none" rtlCol="0">
            <a:spAutoFit/>
          </a:bodyPr>
          <a:lstStyle/>
          <a:p>
            <a:pPr algn="l"/>
            <a:r>
              <a:rPr lang="en-US" sz="1200" dirty="0">
                <a:solidFill>
                  <a:schemeClr val="bg1"/>
                </a:solidFill>
              </a:rPr>
              <a:t>1.1</a:t>
            </a:r>
          </a:p>
        </p:txBody>
      </p:sp>
      <p:sp>
        <p:nvSpPr>
          <p:cNvPr id="33" name="TextBox 32">
            <a:extLst>
              <a:ext uri="{FF2B5EF4-FFF2-40B4-BE49-F238E27FC236}">
                <a16:creationId xmlns:a16="http://schemas.microsoft.com/office/drawing/2014/main" id="{304EB98E-9085-9756-44A3-3256E1359C5C}"/>
              </a:ext>
            </a:extLst>
          </p:cNvPr>
          <p:cNvSpPr txBox="1"/>
          <p:nvPr/>
        </p:nvSpPr>
        <p:spPr>
          <a:xfrm>
            <a:off x="3996214" y="1792958"/>
            <a:ext cx="380232" cy="276999"/>
          </a:xfrm>
          <a:prstGeom prst="rect">
            <a:avLst/>
          </a:prstGeom>
          <a:noFill/>
        </p:spPr>
        <p:txBody>
          <a:bodyPr wrap="none" rtlCol="0">
            <a:spAutoFit/>
          </a:bodyPr>
          <a:lstStyle/>
          <a:p>
            <a:pPr algn="l"/>
            <a:r>
              <a:rPr lang="en-US" sz="1200" dirty="0">
                <a:solidFill>
                  <a:schemeClr val="bg1"/>
                </a:solidFill>
              </a:rPr>
              <a:t>1.2</a:t>
            </a:r>
          </a:p>
        </p:txBody>
      </p:sp>
      <p:sp>
        <p:nvSpPr>
          <p:cNvPr id="34" name="TextBox 33">
            <a:extLst>
              <a:ext uri="{FF2B5EF4-FFF2-40B4-BE49-F238E27FC236}">
                <a16:creationId xmlns:a16="http://schemas.microsoft.com/office/drawing/2014/main" id="{3D27848F-65BD-BDAC-D9E2-BD405F53211C}"/>
              </a:ext>
            </a:extLst>
          </p:cNvPr>
          <p:cNvSpPr txBox="1"/>
          <p:nvPr/>
        </p:nvSpPr>
        <p:spPr>
          <a:xfrm>
            <a:off x="4562229" y="2969469"/>
            <a:ext cx="473137" cy="276999"/>
          </a:xfrm>
          <a:prstGeom prst="rect">
            <a:avLst/>
          </a:prstGeom>
          <a:noFill/>
        </p:spPr>
        <p:txBody>
          <a:bodyPr wrap="square" rtlCol="0">
            <a:spAutoFit/>
          </a:bodyPr>
          <a:lstStyle/>
          <a:p>
            <a:pPr algn="l"/>
            <a:r>
              <a:rPr lang="en-US" sz="1200" dirty="0">
                <a:solidFill>
                  <a:schemeClr val="bg1"/>
                </a:solidFill>
              </a:rPr>
              <a:t>1.4</a:t>
            </a:r>
          </a:p>
        </p:txBody>
      </p:sp>
      <p:sp>
        <p:nvSpPr>
          <p:cNvPr id="37" name="TextBox 36">
            <a:extLst>
              <a:ext uri="{FF2B5EF4-FFF2-40B4-BE49-F238E27FC236}">
                <a16:creationId xmlns:a16="http://schemas.microsoft.com/office/drawing/2014/main" id="{2F64F3DA-9E41-B4BB-82D9-B71717E32EF0}"/>
              </a:ext>
            </a:extLst>
          </p:cNvPr>
          <p:cNvSpPr txBox="1"/>
          <p:nvPr/>
        </p:nvSpPr>
        <p:spPr>
          <a:xfrm>
            <a:off x="4389837" y="2324861"/>
            <a:ext cx="380232" cy="276999"/>
          </a:xfrm>
          <a:prstGeom prst="rect">
            <a:avLst/>
          </a:prstGeom>
          <a:noFill/>
        </p:spPr>
        <p:txBody>
          <a:bodyPr wrap="none" rtlCol="0">
            <a:spAutoFit/>
          </a:bodyPr>
          <a:lstStyle/>
          <a:p>
            <a:pPr algn="l"/>
            <a:r>
              <a:rPr lang="en-US" sz="1200" dirty="0">
                <a:solidFill>
                  <a:schemeClr val="bg1"/>
                </a:solidFill>
              </a:rPr>
              <a:t>1.3</a:t>
            </a:r>
          </a:p>
        </p:txBody>
      </p:sp>
      <p:cxnSp>
        <p:nvCxnSpPr>
          <p:cNvPr id="38" name="Straight Arrow Connector 37"/>
          <p:cNvCxnSpPr>
            <a:cxnSpLocks noGrp="1" noRot="1" noMove="1" noResize="1" noEditPoints="1" noAdjustHandles="1" noChangeArrowheads="1" noChangeShapeType="1"/>
          </p:cNvCxnSpPr>
          <p:nvPr/>
        </p:nvCxnSpPr>
        <p:spPr>
          <a:xfrm flipH="1" flipV="1">
            <a:off x="1275535" y="2601860"/>
            <a:ext cx="1532295" cy="694004"/>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5749416" y="941251"/>
            <a:ext cx="4852318" cy="2850267"/>
          </a:xfrm>
          <a:prstGeom prst="rect">
            <a:avLst/>
          </a:prstGeom>
        </p:spPr>
        <p:txBody>
          <a:bodyPr wrap="square">
            <a:spAutoFit/>
          </a:bodyPr>
          <a:lstStyle/>
          <a:p>
            <a:pPr marR="0" lvl="0" fontAlgn="ctr">
              <a:lnSpc>
                <a:spcPct val="107000"/>
              </a:lnSpc>
              <a:spcBef>
                <a:spcPts val="0"/>
              </a:spcBef>
              <a:spcAft>
                <a:spcPts val="0"/>
              </a:spcAft>
              <a:buSzPts val="1000"/>
              <a:tabLst>
                <a:tab pos="457200" algn="l"/>
              </a:tabLst>
            </a:pPr>
            <a:r>
              <a:rPr lang="en-US" sz="12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Result</a:t>
            </a:r>
          </a:p>
          <a:p>
            <a:pPr marL="342900" marR="0" lvl="0" indent="-342900" fontAlgn="ctr">
              <a:lnSpc>
                <a:spcPct val="107000"/>
              </a:lnSpc>
              <a:spcBef>
                <a:spcPts val="0"/>
              </a:spcBef>
              <a:spcAft>
                <a:spcPts val="0"/>
              </a:spcAft>
              <a:buSzPts val="1000"/>
              <a:buFont typeface="Symbol" panose="05050102010706020507" pitchFamily="18" charset="2"/>
              <a:buChar char=""/>
              <a:tabLst>
                <a:tab pos="457200" algn="l"/>
              </a:tabLst>
            </a:pPr>
            <a:r>
              <a:rPr lang="en-US" sz="1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February - .75</a:t>
            </a:r>
          </a:p>
          <a:p>
            <a:pPr marL="342900" marR="0" lvl="0" indent="-342900" fontAlgn="ctr">
              <a:lnSpc>
                <a:spcPct val="107000"/>
              </a:lnSpc>
              <a:spcBef>
                <a:spcPts val="0"/>
              </a:spcBef>
              <a:spcAft>
                <a:spcPts val="0"/>
              </a:spcAft>
              <a:buSzPts val="1000"/>
              <a:buFont typeface="Symbol" panose="05050102010706020507" pitchFamily="18" charset="2"/>
              <a:buChar char=""/>
              <a:tabLst>
                <a:tab pos="457200" algn="l"/>
              </a:tabLst>
            </a:pPr>
            <a:r>
              <a:rPr lang="en-US" sz="1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Delay in SSP document and CMDB doc with also inclement weather caused 2.5-week delay on the project. The schedule is currently yellow. </a:t>
            </a:r>
          </a:p>
          <a:p>
            <a:pPr marL="342900" marR="0" lvl="0" indent="-342900" fontAlgn="ctr">
              <a:lnSpc>
                <a:spcPct val="107000"/>
              </a:lnSpc>
              <a:spcBef>
                <a:spcPts val="0"/>
              </a:spcBef>
              <a:spcAft>
                <a:spcPts val="0"/>
              </a:spcAft>
              <a:buSzPts val="1000"/>
              <a:buFont typeface="Symbol" panose="05050102010706020507" pitchFamily="18" charset="2"/>
              <a:buChar char=""/>
              <a:tabLst>
                <a:tab pos="457200" algn="l"/>
              </a:tabLst>
            </a:pPr>
            <a:r>
              <a:rPr lang="en-US" sz="1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We have all the approvals to move forward with configuring the routers. This is not physical work, but remote work, which will be done as soon as we confirm the NSP equipment is cabled up and we have remote access. </a:t>
            </a:r>
          </a:p>
          <a:p>
            <a:pPr marL="342900" marR="0" lvl="0" indent="-342900" fontAlgn="ctr">
              <a:lnSpc>
                <a:spcPct val="107000"/>
              </a:lnSpc>
              <a:spcBef>
                <a:spcPts val="0"/>
              </a:spcBef>
              <a:spcAft>
                <a:spcPts val="0"/>
              </a:spcAft>
              <a:buSzPts val="1000"/>
              <a:buFont typeface="Symbol" panose="05050102010706020507" pitchFamily="18" charset="2"/>
              <a:buChar char=""/>
              <a:tabLst>
                <a:tab pos="457200" algn="l"/>
              </a:tabLst>
            </a:pPr>
            <a:endParaRPr lang="en-US" sz="1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R="0" lvl="0" fontAlgn="ctr">
              <a:lnSpc>
                <a:spcPct val="107000"/>
              </a:lnSpc>
              <a:spcBef>
                <a:spcPts val="0"/>
              </a:spcBef>
              <a:spcAft>
                <a:spcPts val="0"/>
              </a:spcAft>
              <a:buSzPts val="1000"/>
              <a:tabLst>
                <a:tab pos="457200" algn="l"/>
              </a:tabLst>
            </a:pPr>
            <a:endParaRPr lang="en-US" sz="1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fontAlgn="ctr">
              <a:lnSpc>
                <a:spcPct val="107000"/>
              </a:lnSpc>
              <a:spcBef>
                <a:spcPts val="0"/>
              </a:spcBef>
              <a:spcAft>
                <a:spcPts val="0"/>
              </a:spcAft>
              <a:buSzPts val="1000"/>
              <a:buFont typeface="Symbol" panose="05050102010706020507" pitchFamily="18" charset="2"/>
              <a:buChar char=""/>
              <a:tabLst>
                <a:tab pos="457200" algn="l"/>
              </a:tabLst>
            </a:pP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0">
              <a:lnSpc>
                <a:spcPct val="107000"/>
              </a:lnSpc>
              <a:spcBef>
                <a:spcPts val="0"/>
              </a:spcBef>
              <a:spcAft>
                <a:spcPts val="0"/>
              </a:spcAft>
            </a:pPr>
            <a:r>
              <a:rPr lang="en-US" sz="1200" dirty="0">
                <a:latin typeface="Calibri" panose="020F0502020204030204" pitchFamily="34" charset="0"/>
                <a:ea typeface="Times New Roman" panose="02020603050405020304" pitchFamily="18" charset="0"/>
                <a:cs typeface="Calibri" panose="020F0502020204030204" pitchFamily="34"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91F086C0-B4CA-862B-6556-D529DB81CF6F}"/>
              </a:ext>
            </a:extLst>
          </p:cNvPr>
          <p:cNvCxnSpPr>
            <a:cxnSpLocks/>
          </p:cNvCxnSpPr>
          <p:nvPr/>
        </p:nvCxnSpPr>
        <p:spPr>
          <a:xfrm flipH="1" flipV="1">
            <a:off x="1559895" y="2223542"/>
            <a:ext cx="1247935" cy="1137345"/>
          </a:xfrm>
          <a:prstGeom prst="straightConnector1">
            <a:avLst/>
          </a:prstGeom>
          <a:ln w="44450">
            <a:solidFill>
              <a:schemeClr val="tx1"/>
            </a:solidFill>
            <a:tailEnd type="triangle"/>
          </a:ln>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45947B8D-68CF-275D-512F-2F59F46D69CA}"/>
              </a:ext>
            </a:extLst>
          </p:cNvPr>
          <p:cNvSpPr txBox="1"/>
          <p:nvPr/>
        </p:nvSpPr>
        <p:spPr>
          <a:xfrm>
            <a:off x="2271098" y="1196234"/>
            <a:ext cx="301686" cy="276999"/>
          </a:xfrm>
          <a:prstGeom prst="rect">
            <a:avLst/>
          </a:prstGeom>
          <a:noFill/>
        </p:spPr>
        <p:txBody>
          <a:bodyPr wrap="none" rtlCol="0">
            <a:spAutoFit/>
          </a:bodyPr>
          <a:lstStyle/>
          <a:p>
            <a:pPr algn="l"/>
            <a:r>
              <a:rPr lang="en-US" sz="1200" dirty="0">
                <a:solidFill>
                  <a:schemeClr val="bg1"/>
                </a:solidFill>
              </a:rPr>
              <a:t>.9</a:t>
            </a:r>
          </a:p>
        </p:txBody>
      </p:sp>
      <p:graphicFrame>
        <p:nvGraphicFramePr>
          <p:cNvPr id="5" name="Table 4">
            <a:extLst>
              <a:ext uri="{FF2B5EF4-FFF2-40B4-BE49-F238E27FC236}">
                <a16:creationId xmlns:a16="http://schemas.microsoft.com/office/drawing/2014/main" id="{856EE9EB-6684-ACEF-97FA-C7AC22FD69C1}"/>
              </a:ext>
            </a:extLst>
          </p:cNvPr>
          <p:cNvGraphicFramePr>
            <a:graphicFrameLocks noGrp="1"/>
          </p:cNvGraphicFramePr>
          <p:nvPr>
            <p:extLst>
              <p:ext uri="{D42A27DB-BD31-4B8C-83A1-F6EECF244321}">
                <p14:modId xmlns:p14="http://schemas.microsoft.com/office/powerpoint/2010/main" val="1552844507"/>
              </p:ext>
            </p:extLst>
          </p:nvPr>
        </p:nvGraphicFramePr>
        <p:xfrm>
          <a:off x="140023" y="3729363"/>
          <a:ext cx="9728200" cy="2711433"/>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433403064"/>
                    </a:ext>
                  </a:extLst>
                </a:gridCol>
                <a:gridCol w="1943100">
                  <a:extLst>
                    <a:ext uri="{9D8B030D-6E8A-4147-A177-3AD203B41FA5}">
                      <a16:colId xmlns:a16="http://schemas.microsoft.com/office/drawing/2014/main" val="437570221"/>
                    </a:ext>
                  </a:extLst>
                </a:gridCol>
                <a:gridCol w="901700">
                  <a:extLst>
                    <a:ext uri="{9D8B030D-6E8A-4147-A177-3AD203B41FA5}">
                      <a16:colId xmlns:a16="http://schemas.microsoft.com/office/drawing/2014/main" val="376993072"/>
                    </a:ext>
                  </a:extLst>
                </a:gridCol>
                <a:gridCol w="1143000">
                  <a:extLst>
                    <a:ext uri="{9D8B030D-6E8A-4147-A177-3AD203B41FA5}">
                      <a16:colId xmlns:a16="http://schemas.microsoft.com/office/drawing/2014/main" val="136945291"/>
                    </a:ext>
                  </a:extLst>
                </a:gridCol>
                <a:gridCol w="773361">
                  <a:extLst>
                    <a:ext uri="{9D8B030D-6E8A-4147-A177-3AD203B41FA5}">
                      <a16:colId xmlns:a16="http://schemas.microsoft.com/office/drawing/2014/main" val="1527542066"/>
                    </a:ext>
                  </a:extLst>
                </a:gridCol>
                <a:gridCol w="839539">
                  <a:extLst>
                    <a:ext uri="{9D8B030D-6E8A-4147-A177-3AD203B41FA5}">
                      <a16:colId xmlns:a16="http://schemas.microsoft.com/office/drawing/2014/main" val="1229927565"/>
                    </a:ext>
                  </a:extLst>
                </a:gridCol>
                <a:gridCol w="2755900">
                  <a:extLst>
                    <a:ext uri="{9D8B030D-6E8A-4147-A177-3AD203B41FA5}">
                      <a16:colId xmlns:a16="http://schemas.microsoft.com/office/drawing/2014/main" val="130976662"/>
                    </a:ext>
                  </a:extLst>
                </a:gridCol>
              </a:tblGrid>
              <a:tr h="218498">
                <a:tc>
                  <a:txBody>
                    <a:bodyPr/>
                    <a:lstStyle/>
                    <a:p>
                      <a:pPr algn="ctr" rtl="0" fontAlgn="b">
                        <a:buNone/>
                      </a:pPr>
                      <a:r>
                        <a:rPr lang="en-US" sz="800" u="none" strike="noStrike">
                          <a:effectLst/>
                        </a:rPr>
                        <a:t>Week </a:t>
                      </a:r>
                      <a:endParaRPr lang="en-US" sz="800" b="0" i="0" u="none" strike="noStrike">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Scheduled work </a:t>
                      </a:r>
                    </a:p>
                  </a:txBody>
                  <a:tcPr marL="6350" marR="6350" marT="6350" marB="0" anchor="b"/>
                </a:tc>
                <a:tc>
                  <a:txBody>
                    <a:bodyPr/>
                    <a:lstStyle/>
                    <a:p>
                      <a:pPr algn="ctr" rtl="0" fontAlgn="b">
                        <a:buNone/>
                      </a:pPr>
                      <a:r>
                        <a:rPr lang="en-US" sz="800" u="none" strike="noStrike">
                          <a:effectLst/>
                        </a:rPr>
                        <a:t>Planned site (PV)</a:t>
                      </a:r>
                      <a:endParaRPr lang="en-US" sz="800" b="0" i="0" u="none" strike="noStrike">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u="none" strike="noStrike">
                          <a:effectLst/>
                        </a:rPr>
                        <a:t>Actual Sites Completed (EV)</a:t>
                      </a:r>
                      <a:endParaRPr lang="en-US" sz="800" b="0" i="0" u="none" strike="noStrike">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u="none" strike="noStrike">
                          <a:effectLst/>
                        </a:rPr>
                        <a:t>Weekly SPI</a:t>
                      </a:r>
                      <a:endParaRPr lang="en-US" sz="800" b="0" i="0" u="none" strike="noStrike">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u="none" strike="noStrike">
                          <a:effectLst/>
                        </a:rPr>
                        <a:t>Culmative SPI </a:t>
                      </a:r>
                      <a:endParaRPr lang="en-US" sz="800" b="0" i="0" u="none" strike="noStrike">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u="none" strike="noStrike" dirty="0">
                          <a:effectLst/>
                        </a:rPr>
                        <a:t>Key Notes</a:t>
                      </a:r>
                      <a:endParaRPr lang="en-US" sz="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20868055"/>
                  </a:ext>
                </a:extLst>
              </a:tr>
              <a:tr h="177036">
                <a:tc>
                  <a:txBody>
                    <a:bodyPr/>
                    <a:lstStyle/>
                    <a:p>
                      <a:pPr algn="ctr" rtl="0" fontAlgn="b">
                        <a:buNone/>
                      </a:pPr>
                      <a:r>
                        <a:rPr lang="en-US" sz="800" b="1" i="0" u="none" strike="noStrike" dirty="0">
                          <a:solidFill>
                            <a:srgbClr val="000000"/>
                          </a:solidFill>
                          <a:effectLst/>
                          <a:latin typeface="Calibri" panose="020F0502020204030204" pitchFamily="34" charset="0"/>
                        </a:rPr>
                        <a:t>February 1- February 7</a:t>
                      </a:r>
                    </a:p>
                  </a:txBody>
                  <a:tcPr marL="6350" marR="6350" marT="6350" marB="0" anchor="b"/>
                </a:tc>
                <a:tc>
                  <a:txBody>
                    <a:bodyPr/>
                    <a:lstStyle/>
                    <a:p>
                      <a:pPr algn="ctr" rtl="0" fontAlgn="b">
                        <a:buNone/>
                      </a:pPr>
                      <a:r>
                        <a:rPr lang="en-US" sz="900" u="none" strike="noStrike" dirty="0">
                          <a:effectLst/>
                        </a:rPr>
                        <a:t> CMDB inventory filled out on share point</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20</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12</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.60</a:t>
                      </a:r>
                    </a:p>
                  </a:txBody>
                  <a:tcPr marL="6350" marR="6350" marT="6350" marB="0" anchor="b"/>
                </a:tc>
                <a:tc>
                  <a:txBody>
                    <a:bodyPr/>
                    <a:lstStyle/>
                    <a:p>
                      <a:pPr algn="ctr" rtl="0" fontAlgn="b">
                        <a:buNone/>
                      </a:pPr>
                      <a:r>
                        <a:rPr lang="en-US" sz="800" u="none" strike="noStrike" dirty="0">
                          <a:effectLst/>
                        </a:rPr>
                        <a:t> .60</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Inventory database was updated </a:t>
                      </a:r>
                    </a:p>
                  </a:txBody>
                  <a:tcPr marL="6350" marR="6350" marT="6350" marB="0" anchor="b"/>
                </a:tc>
                <a:extLst>
                  <a:ext uri="{0D108BD9-81ED-4DB2-BD59-A6C34878D82A}">
                    <a16:rowId xmlns:a16="http://schemas.microsoft.com/office/drawing/2014/main" val="1213899004"/>
                  </a:ext>
                </a:extLst>
              </a:tr>
              <a:tr h="219491">
                <a:tc>
                  <a:txBody>
                    <a:bodyPr/>
                    <a:lstStyle/>
                    <a:p>
                      <a:pPr algn="ctr" rtl="0" fontAlgn="b">
                        <a:buNone/>
                      </a:pPr>
                      <a:r>
                        <a:rPr lang="en-US" sz="800" u="none" strike="noStrike" dirty="0">
                          <a:effectLst/>
                        </a:rPr>
                        <a:t> February 8 – February 14</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r>
                        <a:rPr lang="en-US" sz="900" b="0" i="0" u="none" strike="noStrike" dirty="0">
                          <a:solidFill>
                            <a:srgbClr val="000000"/>
                          </a:solidFill>
                          <a:effectLst/>
                          <a:latin typeface="Calibri" panose="020F0502020204030204" pitchFamily="34" charset="0"/>
                        </a:rPr>
                        <a:t>NSP equipment installed @ Melville and Hicksville</a:t>
                      </a:r>
                    </a:p>
                  </a:txBody>
                  <a:tcPr marL="6350" marR="6350" marT="635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20</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16</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.80</a:t>
                      </a:r>
                    </a:p>
                  </a:txBody>
                  <a:tcPr marL="6350" marR="6350" marT="6350" marB="0" anchor="b"/>
                </a:tc>
                <a:tc>
                  <a:txBody>
                    <a:bodyPr/>
                    <a:lstStyle/>
                    <a:p>
                      <a:pPr algn="ctr" rtl="0" fontAlgn="b">
                        <a:buNone/>
                      </a:pPr>
                      <a:r>
                        <a:rPr lang="en-US" sz="800" u="none" strike="noStrike" dirty="0">
                          <a:effectLst/>
                        </a:rPr>
                        <a:t>.70 </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.80 shows we are trending upward. Eqpt was installed without alarms. </a:t>
                      </a:r>
                    </a:p>
                  </a:txBody>
                  <a:tcPr marL="6350" marR="6350" marT="6350" marB="0" anchor="b"/>
                </a:tc>
                <a:extLst>
                  <a:ext uri="{0D108BD9-81ED-4DB2-BD59-A6C34878D82A}">
                    <a16:rowId xmlns:a16="http://schemas.microsoft.com/office/drawing/2014/main" val="1961209111"/>
                  </a:ext>
                </a:extLst>
              </a:tr>
              <a:tr h="219491">
                <a:tc>
                  <a:txBody>
                    <a:bodyPr/>
                    <a:lstStyle/>
                    <a:p>
                      <a:pPr algn="ctr" rtl="0" fontAlgn="b">
                        <a:buNone/>
                      </a:pPr>
                      <a:r>
                        <a:rPr lang="en-US" sz="800" u="none" strike="noStrike" dirty="0">
                          <a:effectLst/>
                        </a:rPr>
                        <a:t>February 15 – February 21 </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r>
                        <a:rPr lang="en-US" sz="900" b="0" i="0" u="none" strike="noStrike" dirty="0">
                          <a:solidFill>
                            <a:srgbClr val="000000"/>
                          </a:solidFill>
                          <a:effectLst/>
                          <a:latin typeface="Calibri" panose="020F0502020204030204" pitchFamily="34" charset="0"/>
                        </a:rPr>
                        <a:t>Phase 2 – Nokia Eqpt delivered to warehouse</a:t>
                      </a:r>
                    </a:p>
                  </a:txBody>
                  <a:tcPr marL="6350" marR="6350" marT="635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20</a:t>
                      </a:r>
                      <a:endParaRPr kumimoji="0" lang="en-US" sz="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20</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1.00</a:t>
                      </a:r>
                    </a:p>
                  </a:txBody>
                  <a:tcPr marL="6350" marR="6350" marT="6350" marB="0" anchor="b"/>
                </a:tc>
                <a:tc>
                  <a:txBody>
                    <a:bodyPr/>
                    <a:lstStyle/>
                    <a:p>
                      <a:pPr algn="ctr" rtl="0" fontAlgn="b">
                        <a:buNone/>
                      </a:pPr>
                      <a:r>
                        <a:rPr lang="en-US" sz="800" u="none" strike="noStrike" dirty="0">
                          <a:effectLst/>
                        </a:rPr>
                        <a:t> .80</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Phase 2 – eqpt from NOKIA delivered and safely stored </a:t>
                      </a:r>
                    </a:p>
                  </a:txBody>
                  <a:tcPr marL="6350" marR="6350" marT="6350" marB="0" anchor="b"/>
                </a:tc>
                <a:extLst>
                  <a:ext uri="{0D108BD9-81ED-4DB2-BD59-A6C34878D82A}">
                    <a16:rowId xmlns:a16="http://schemas.microsoft.com/office/drawing/2014/main" val="2868738424"/>
                  </a:ext>
                </a:extLst>
              </a:tr>
              <a:tr h="144010">
                <a:tc>
                  <a:txBody>
                    <a:bodyPr/>
                    <a:lstStyle/>
                    <a:p>
                      <a:pPr algn="ctr" rtl="0" fontAlgn="b">
                        <a:buNone/>
                      </a:pPr>
                      <a:r>
                        <a:rPr lang="en-US" sz="800" u="none" strike="noStrike" dirty="0">
                          <a:effectLst/>
                        </a:rPr>
                        <a:t>February 22 – February 28 </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r>
                        <a:rPr lang="en-US" sz="900" b="0" i="0" u="none" strike="noStrike" dirty="0">
                          <a:solidFill>
                            <a:srgbClr val="000000"/>
                          </a:solidFill>
                          <a:effectLst/>
                          <a:latin typeface="Calibri" panose="020F0502020204030204" pitchFamily="34" charset="0"/>
                        </a:rPr>
                        <a:t>CMDB database updated </a:t>
                      </a:r>
                    </a:p>
                  </a:txBody>
                  <a:tcPr marL="6350" marR="6350" marT="635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20</a:t>
                      </a:r>
                      <a:endParaRPr kumimoji="0" lang="en-US" sz="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24</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1.20</a:t>
                      </a:r>
                    </a:p>
                  </a:txBody>
                  <a:tcPr marL="6350" marR="6350" marT="6350" marB="0" anchor="b"/>
                </a:tc>
                <a:tc>
                  <a:txBody>
                    <a:bodyPr/>
                    <a:lstStyle/>
                    <a:p>
                      <a:pPr algn="ctr" rtl="0" fontAlgn="b">
                        <a:buNone/>
                      </a:pPr>
                      <a:r>
                        <a:rPr lang="en-US" sz="800" u="none" strike="noStrike" dirty="0">
                          <a:effectLst/>
                        </a:rPr>
                        <a:t> .90</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SPI of 1.20 shows catch-up week and drives cumulative SPI toward recovery.</a:t>
                      </a:r>
                    </a:p>
                  </a:txBody>
                  <a:tcPr marL="6350" marR="6350" marT="6350" marB="0" anchor="b"/>
                </a:tc>
                <a:extLst>
                  <a:ext uri="{0D108BD9-81ED-4DB2-BD59-A6C34878D82A}">
                    <a16:rowId xmlns:a16="http://schemas.microsoft.com/office/drawing/2014/main" val="2300617892"/>
                  </a:ext>
                </a:extLst>
              </a:tr>
              <a:tr h="219491">
                <a:tc>
                  <a:txBody>
                    <a:bodyPr/>
                    <a:lstStyle/>
                    <a:p>
                      <a:pPr algn="ctr" rtl="0" fontAlgn="b">
                        <a:buNone/>
                      </a:pPr>
                      <a:r>
                        <a:rPr lang="en-US" sz="800" b="1" i="0" u="none" strike="noStrike" dirty="0">
                          <a:solidFill>
                            <a:srgbClr val="000000"/>
                          </a:solidFill>
                          <a:effectLst/>
                          <a:latin typeface="Arial" panose="020B0604020202020204" pitchFamily="34" charset="0"/>
                        </a:rPr>
                        <a:t>March 1- March 7</a:t>
                      </a:r>
                      <a:r>
                        <a:rPr lang="en-US" sz="800" b="1" i="0" u="none" strike="noStrike" baseline="30000" dirty="0">
                          <a:solidFill>
                            <a:srgbClr val="000000"/>
                          </a:solidFill>
                          <a:effectLst/>
                          <a:latin typeface="Arial" panose="020B0604020202020204" pitchFamily="34" charset="0"/>
                        </a:rPr>
                        <a:t>th</a:t>
                      </a:r>
                      <a:r>
                        <a:rPr lang="en-US" sz="800" b="1" i="0" u="none" strike="noStrike" dirty="0">
                          <a:solidFill>
                            <a:srgbClr val="000000"/>
                          </a:solidFill>
                          <a:effectLst/>
                          <a:latin typeface="Arial" panose="020B0604020202020204" pitchFamily="34" charset="0"/>
                        </a:rPr>
                        <a:t> </a:t>
                      </a:r>
                    </a:p>
                  </a:txBody>
                  <a:tcPr marL="6350" marR="6350" marT="6350" marB="0" anchor="b"/>
                </a:tc>
                <a:tc>
                  <a:txBody>
                    <a:bodyPr/>
                    <a:lstStyle/>
                    <a:p>
                      <a:pPr algn="l" rtl="0" fontAlgn="b">
                        <a:buNone/>
                      </a:pPr>
                      <a:r>
                        <a:rPr lang="en-US" sz="900" b="0" i="0" u="none" strike="noStrike" dirty="0">
                          <a:solidFill>
                            <a:srgbClr val="000000"/>
                          </a:solidFill>
                          <a:effectLst/>
                          <a:latin typeface="Calibri" panose="020F0502020204030204" pitchFamily="34" charset="0"/>
                        </a:rPr>
                        <a:t>OTDR testing and cabling to be completed at Hicksville </a:t>
                      </a:r>
                    </a:p>
                  </a:txBody>
                  <a:tcPr marL="6350" marR="6350" marT="635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NA</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NA</a:t>
                      </a:r>
                    </a:p>
                  </a:txBody>
                  <a:tcPr marL="6350" marR="6350" marT="6350" marB="0" anchor="b"/>
                </a:tc>
                <a:tc>
                  <a:txBody>
                    <a:bodyPr/>
                    <a:lstStyle/>
                    <a:p>
                      <a:pPr algn="ctr" rtl="0" fontAlgn="b">
                        <a:buNone/>
                      </a:pPr>
                      <a:r>
                        <a:rPr lang="en-US" sz="800" b="0" i="0" u="none" strike="noStrike" dirty="0">
                          <a:solidFill>
                            <a:srgbClr val="000000"/>
                          </a:solidFill>
                          <a:effectLst/>
                          <a:latin typeface="Calibri" panose="020F0502020204030204" pitchFamily="34" charset="0"/>
                        </a:rPr>
                        <a:t>NA</a:t>
                      </a:r>
                    </a:p>
                  </a:txBody>
                  <a:tcPr marL="6350" marR="6350" marT="6350" marB="0" anchor="b"/>
                </a:tc>
                <a:tc>
                  <a:txBody>
                    <a:bodyPr/>
                    <a:lstStyle/>
                    <a:p>
                      <a:pPr algn="ctr" rtl="0" fontAlgn="b">
                        <a:buNone/>
                      </a:pPr>
                      <a:r>
                        <a:rPr lang="en-US" sz="800" u="none" strike="noStrike" dirty="0">
                          <a:effectLst/>
                        </a:rPr>
                        <a:t>NA</a:t>
                      </a: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r>
                        <a:rPr lang="en-US" sz="800" u="none" strike="noStrike" dirty="0">
                          <a:effectLst/>
                        </a:rPr>
                        <a:t>EV/SPI will be updated once testing is completed and remote access is confirmed.  </a:t>
                      </a:r>
                      <a:endParaRPr lang="en-US" sz="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126770622"/>
                  </a:ext>
                </a:extLst>
              </a:tr>
              <a:tr h="442161">
                <a:tc>
                  <a:txBody>
                    <a:bodyPr/>
                    <a:lstStyle/>
                    <a:p>
                      <a:pPr algn="ctr" rtl="0" fontAlgn="b">
                        <a:buNone/>
                      </a:pP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r>
                        <a:rPr lang="en-US" sz="900" u="none" strike="noStrike" dirty="0">
                          <a:effectLst/>
                        </a:rPr>
                        <a:t> </a:t>
                      </a: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r>
                        <a:rPr lang="en-US" sz="900" u="none" strike="noStrike" dirty="0">
                          <a:effectLst/>
                        </a:rPr>
                        <a:t> </a:t>
                      </a: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08452653"/>
                  </a:ext>
                </a:extLst>
              </a:tr>
              <a:tr h="362508">
                <a:tc>
                  <a:txBody>
                    <a:bodyPr/>
                    <a:lstStyle/>
                    <a:p>
                      <a:pPr algn="ctr" rtl="0" fontAlgn="b">
                        <a:buNone/>
                      </a:pP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r>
                        <a:rPr lang="en-US" sz="900" u="none" strike="noStrike" dirty="0">
                          <a:effectLst/>
                        </a:rPr>
                        <a:t> </a:t>
                      </a:r>
                      <a:endParaRPr lang="en-US" sz="9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84372291"/>
                  </a:ext>
                </a:extLst>
              </a:tr>
              <a:tr h="144010">
                <a:tc>
                  <a:txBody>
                    <a:bodyPr/>
                    <a:lstStyle/>
                    <a:p>
                      <a:pPr algn="ctr" rtl="0" fontAlgn="b">
                        <a:buNone/>
                      </a:pP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002342813"/>
                  </a:ext>
                </a:extLst>
              </a:tr>
              <a:tr h="243328">
                <a:tc>
                  <a:txBody>
                    <a:bodyPr/>
                    <a:lstStyle/>
                    <a:p>
                      <a:pPr algn="ctr" rtl="0" fontAlgn="b">
                        <a:buNone/>
                      </a:pPr>
                      <a:endParaRPr lang="en-US" sz="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rtl="0" fontAlgn="b">
                        <a:buNone/>
                      </a:pPr>
                      <a:endParaRPr lang="en-US" sz="9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22215680"/>
                  </a:ext>
                </a:extLst>
              </a:tr>
            </a:tbl>
          </a:graphicData>
        </a:graphic>
      </p:graphicFrame>
      <p:cxnSp>
        <p:nvCxnSpPr>
          <p:cNvPr id="6" name="Straight Arrow Connector 5">
            <a:extLst>
              <a:ext uri="{FF2B5EF4-FFF2-40B4-BE49-F238E27FC236}">
                <a16:creationId xmlns:a16="http://schemas.microsoft.com/office/drawing/2014/main" id="{7B3CEB73-4F61-432F-0854-AE658939B4DD}"/>
              </a:ext>
            </a:extLst>
          </p:cNvPr>
          <p:cNvCxnSpPr/>
          <p:nvPr/>
        </p:nvCxnSpPr>
        <p:spPr>
          <a:xfrm flipV="1">
            <a:off x="2733767" y="1792958"/>
            <a:ext cx="301686" cy="1441167"/>
          </a:xfrm>
          <a:prstGeom prst="straightConnector1">
            <a:avLst/>
          </a:prstGeom>
          <a:ln w="41275" cap="flat" cmpd="sng" algn="ctr">
            <a:solidFill>
              <a:schemeClr val="accent3">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09772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B7CE5EE-9D2D-B326-83E5-9AC86133E994}"/>
              </a:ext>
            </a:extLst>
          </p:cNvPr>
          <p:cNvSpPr>
            <a:spLocks noGrp="1"/>
          </p:cNvSpPr>
          <p:nvPr>
            <p:ph idx="12"/>
          </p:nvPr>
        </p:nvSpPr>
        <p:spPr/>
        <p:txBody>
          <a:bodyPr/>
          <a:lstStyle/>
          <a:p>
            <a:endParaRPr lang="en-US"/>
          </a:p>
        </p:txBody>
      </p:sp>
      <p:graphicFrame>
        <p:nvGraphicFramePr>
          <p:cNvPr id="7" name="Object 6">
            <a:extLst>
              <a:ext uri="{FF2B5EF4-FFF2-40B4-BE49-F238E27FC236}">
                <a16:creationId xmlns:a16="http://schemas.microsoft.com/office/drawing/2014/main" id="{79A1C5FB-7290-C052-97F9-EA00537CD983}"/>
              </a:ext>
            </a:extLst>
          </p:cNvPr>
          <p:cNvGraphicFramePr>
            <a:graphicFrameLocks noChangeAspect="1"/>
          </p:cNvGraphicFramePr>
          <p:nvPr>
            <p:extLst>
              <p:ext uri="{D42A27DB-BD31-4B8C-83A1-F6EECF244321}">
                <p14:modId xmlns:p14="http://schemas.microsoft.com/office/powerpoint/2010/main" val="2978908965"/>
              </p:ext>
            </p:extLst>
          </p:nvPr>
        </p:nvGraphicFramePr>
        <p:xfrm>
          <a:off x="509287" y="823532"/>
          <a:ext cx="7479665" cy="1111250"/>
        </p:xfrm>
        <a:graphic>
          <a:graphicData uri="http://schemas.openxmlformats.org/presentationml/2006/ole">
            <mc:AlternateContent xmlns:mc="http://schemas.openxmlformats.org/markup-compatibility/2006">
              <mc:Choice xmlns:v="urn:schemas-microsoft-com:vml" Requires="v">
                <p:oleObj name="Binary Worksheet" r:id="rId2" imgW="7143661" imgH="1111420" progId="Excel.SheetBinaryMacroEnabled.12">
                  <p:embed/>
                </p:oleObj>
              </mc:Choice>
              <mc:Fallback>
                <p:oleObj name="Binary Worksheet" r:id="rId2" imgW="7143661" imgH="1111420" progId="Excel.SheetBinaryMacroEnabled.12">
                  <p:embed/>
                  <p:pic>
                    <p:nvPicPr>
                      <p:cNvPr id="7" name="Object 6">
                        <a:extLst>
                          <a:ext uri="{FF2B5EF4-FFF2-40B4-BE49-F238E27FC236}">
                            <a16:creationId xmlns:a16="http://schemas.microsoft.com/office/drawing/2014/main" id="{79A1C5FB-7290-C052-97F9-EA00537CD983}"/>
                          </a:ext>
                        </a:extLst>
                      </p:cNvPr>
                      <p:cNvPicPr/>
                      <p:nvPr/>
                    </p:nvPicPr>
                    <p:blipFill>
                      <a:blip r:embed="rId3"/>
                      <a:stretch>
                        <a:fillRect/>
                      </a:stretch>
                    </p:blipFill>
                    <p:spPr>
                      <a:xfrm>
                        <a:off x="509287" y="823532"/>
                        <a:ext cx="7479665" cy="1111250"/>
                      </a:xfrm>
                      <a:prstGeom prst="rect">
                        <a:avLst/>
                      </a:prstGeom>
                    </p:spPr>
                  </p:pic>
                </p:oleObj>
              </mc:Fallback>
            </mc:AlternateContent>
          </a:graphicData>
        </a:graphic>
      </p:graphicFrame>
      <p:sp>
        <p:nvSpPr>
          <p:cNvPr id="8" name="Title 3">
            <a:extLst>
              <a:ext uri="{FF2B5EF4-FFF2-40B4-BE49-F238E27FC236}">
                <a16:creationId xmlns:a16="http://schemas.microsoft.com/office/drawing/2014/main" id="{4137E5B7-D729-3E53-76A8-E621B8FF4A49}"/>
              </a:ext>
            </a:extLst>
          </p:cNvPr>
          <p:cNvSpPr txBox="1">
            <a:spLocks noGrp="1"/>
          </p:cNvSpPr>
          <p:nvPr>
            <p:ph idx="11"/>
          </p:nvPr>
        </p:nvSpPr>
        <p:spPr bwMode="auto">
          <a:xfrm>
            <a:off x="1840484" y="160020"/>
            <a:ext cx="6213475" cy="277813"/>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fontScale="92500" lnSpcReduction="20000"/>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Financials (2024-2026)   </a:t>
            </a:r>
          </a:p>
        </p:txBody>
      </p:sp>
      <p:graphicFrame>
        <p:nvGraphicFramePr>
          <p:cNvPr id="12" name="Object 11">
            <a:extLst>
              <a:ext uri="{FF2B5EF4-FFF2-40B4-BE49-F238E27FC236}">
                <a16:creationId xmlns:a16="http://schemas.microsoft.com/office/drawing/2014/main" id="{8DC3103A-DACE-56C7-0A28-51083147508E}"/>
              </a:ext>
            </a:extLst>
          </p:cNvPr>
          <p:cNvGraphicFramePr>
            <a:graphicFrameLocks noChangeAspect="1"/>
          </p:cNvGraphicFramePr>
          <p:nvPr>
            <p:extLst>
              <p:ext uri="{D42A27DB-BD31-4B8C-83A1-F6EECF244321}">
                <p14:modId xmlns:p14="http://schemas.microsoft.com/office/powerpoint/2010/main" val="3098534341"/>
              </p:ext>
            </p:extLst>
          </p:nvPr>
        </p:nvGraphicFramePr>
        <p:xfrm>
          <a:off x="509288" y="1934782"/>
          <a:ext cx="7479665" cy="3782384"/>
        </p:xfrm>
        <a:graphic>
          <a:graphicData uri="http://schemas.openxmlformats.org/presentationml/2006/ole">
            <mc:AlternateContent xmlns:mc="http://schemas.openxmlformats.org/markup-compatibility/2006">
              <mc:Choice xmlns:v="urn:schemas-microsoft-com:vml" Requires="v">
                <p:oleObj name="Binary Worksheet" r:id="rId4" imgW="5022820" imgH="2540288" progId="Excel.SheetBinaryMacroEnabled.12">
                  <p:embed/>
                </p:oleObj>
              </mc:Choice>
              <mc:Fallback>
                <p:oleObj name="Binary Worksheet" r:id="rId4" imgW="5022820" imgH="2540288" progId="Excel.SheetBinaryMacroEnabled.12">
                  <p:embed/>
                  <p:pic>
                    <p:nvPicPr>
                      <p:cNvPr id="12" name="Object 11">
                        <a:extLst>
                          <a:ext uri="{FF2B5EF4-FFF2-40B4-BE49-F238E27FC236}">
                            <a16:creationId xmlns:a16="http://schemas.microsoft.com/office/drawing/2014/main" id="{8DC3103A-DACE-56C7-0A28-51083147508E}"/>
                          </a:ext>
                        </a:extLst>
                      </p:cNvPr>
                      <p:cNvPicPr/>
                      <p:nvPr/>
                    </p:nvPicPr>
                    <p:blipFill>
                      <a:blip r:embed="rId5"/>
                      <a:stretch>
                        <a:fillRect/>
                      </a:stretch>
                    </p:blipFill>
                    <p:spPr>
                      <a:xfrm>
                        <a:off x="509288" y="1934782"/>
                        <a:ext cx="7479665" cy="3782384"/>
                      </a:xfrm>
                      <a:prstGeom prst="rect">
                        <a:avLst/>
                      </a:prstGeom>
                    </p:spPr>
                  </p:pic>
                </p:oleObj>
              </mc:Fallback>
            </mc:AlternateContent>
          </a:graphicData>
        </a:graphic>
      </p:graphicFrame>
    </p:spTree>
    <p:extLst>
      <p:ext uri="{BB962C8B-B14F-4D97-AF65-F5344CB8AC3E}">
        <p14:creationId xmlns:p14="http://schemas.microsoft.com/office/powerpoint/2010/main" val="3152008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3216265"/>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indent="-342900">
              <a:buAutoNum type="arabicPeriod"/>
            </a:pPr>
            <a:r>
              <a:rPr lang="en-US" dirty="0"/>
              <a:t>Hawkeye will complete Cat 6 cabling needed for Nokia NSP in Hicksville. </a:t>
            </a:r>
          </a:p>
          <a:p>
            <a:pPr marL="342900" indent="-342900">
              <a:buAutoNum type="arabicPeriod"/>
            </a:pPr>
            <a:r>
              <a:rPr lang="en-US" dirty="0"/>
              <a:t>They will also complete the OTDR testing since the level is low. If there is no issue on our equipment, it might be a Crown Castle issue. Testing will confirm where the fault lies. </a:t>
            </a:r>
          </a:p>
          <a:p>
            <a:pPr marL="342900" indent="-342900">
              <a:buAutoNum type="arabicPeriod"/>
            </a:pPr>
            <a:r>
              <a:rPr lang="en-US" dirty="0"/>
              <a:t> Router configuration on the routers that are powered up on Ring 1 and Ring 6 will commence. </a:t>
            </a:r>
          </a:p>
          <a:p>
            <a:pPr marL="342900" indent="-342900">
              <a:buAutoNum type="arabicPeriod"/>
            </a:pPr>
            <a:r>
              <a:rPr lang="en-US" dirty="0"/>
              <a:t>Verifying Remote access after NSP is wired and OTDR issue is rectified. </a:t>
            </a:r>
          </a:p>
          <a:p>
            <a:pPr marL="342900" indent="-342900">
              <a:buAutoNum type="arabicPeriod"/>
            </a:pPr>
            <a:r>
              <a:rPr lang="en-US" dirty="0"/>
              <a:t>I can bring the project back on Schedule when the routers are provisioned after the OTDR and cabling is completed via remote access. </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062F57F-28B8-6631-9318-07F02FD471D4}"/>
              </a:ext>
            </a:extLst>
          </p:cNvPr>
          <p:cNvSpPr>
            <a:spLocks noGrp="1"/>
          </p:cNvSpPr>
          <p:nvPr>
            <p:ph idx="12"/>
          </p:nvPr>
        </p:nvSpPr>
        <p:spPr/>
        <p:txBody>
          <a:bodyPr/>
          <a:lstStyle/>
          <a:p>
            <a:endParaRPr lang="en-US"/>
          </a:p>
        </p:txBody>
      </p:sp>
      <p:sp>
        <p:nvSpPr>
          <p:cNvPr id="7" name="TextBox 6">
            <a:extLst>
              <a:ext uri="{FF2B5EF4-FFF2-40B4-BE49-F238E27FC236}">
                <a16:creationId xmlns:a16="http://schemas.microsoft.com/office/drawing/2014/main" id="{5F4D6C13-3376-4FDC-D1F0-7619A7DF1F47}"/>
              </a:ext>
            </a:extLst>
          </p:cNvPr>
          <p:cNvSpPr txBox="1"/>
          <p:nvPr/>
        </p:nvSpPr>
        <p:spPr>
          <a:xfrm>
            <a:off x="509288" y="370761"/>
            <a:ext cx="9210784" cy="2585323"/>
          </a:xfrm>
          <a:prstGeom prst="rect">
            <a:avLst/>
          </a:prstGeom>
          <a:noFill/>
        </p:spPr>
        <p:txBody>
          <a:bodyPr wrap="square">
            <a:spAutoFit/>
          </a:bodyPr>
          <a:lstStyle/>
          <a:p>
            <a:pPr marL="342900" lvl="0" indent="-342900">
              <a:buFont typeface="+mj-lt"/>
              <a:buAutoNum type="arabicPeriod"/>
              <a:tabLst>
                <a:tab pos="457200" algn="l"/>
              </a:tabLst>
            </a:pPr>
            <a:r>
              <a:rPr lang="en-US" b="1" dirty="0">
                <a:effectLst/>
                <a:latin typeface="Aptos" panose="020B0004020202020204" pitchFamily="34" charset="0"/>
                <a:cs typeface="Aptos" panose="020B0004020202020204" pitchFamily="34" charset="0"/>
              </a:rPr>
              <a:t>Hicksville Cat6 cabling completion for NSP</a:t>
            </a:r>
            <a:r>
              <a:rPr lang="en-US" dirty="0">
                <a:effectLst/>
              </a:rPr>
              <a:t> (change ticket planned </a:t>
            </a:r>
            <a:r>
              <a:rPr lang="en-US" b="1" dirty="0">
                <a:effectLst/>
                <a:latin typeface="Aptos" panose="020B0004020202020204" pitchFamily="34" charset="0"/>
                <a:cs typeface="Aptos" panose="020B0004020202020204" pitchFamily="34" charset="0"/>
              </a:rPr>
              <a:t>03/03</a:t>
            </a:r>
            <a:r>
              <a:rPr lang="en-US" dirty="0">
                <a:effectLst/>
              </a:rPr>
              <a:t>).</a:t>
            </a:r>
          </a:p>
          <a:p>
            <a:pPr marL="342900" lvl="0" indent="-342900">
              <a:buFont typeface="+mj-lt"/>
              <a:buAutoNum type="arabicPeriod"/>
              <a:tabLst>
                <a:tab pos="457200" algn="l"/>
              </a:tabLst>
            </a:pPr>
            <a:r>
              <a:rPr lang="en-US" b="1" dirty="0">
                <a:effectLst/>
                <a:latin typeface="Aptos" panose="020B0004020202020204" pitchFamily="34" charset="0"/>
                <a:cs typeface="Aptos" panose="020B0004020202020204" pitchFamily="34" charset="0"/>
              </a:rPr>
              <a:t>OTDR testing at Hicksville</a:t>
            </a:r>
            <a:r>
              <a:rPr lang="en-US" dirty="0">
                <a:effectLst/>
              </a:rPr>
              <a:t> (planned </a:t>
            </a:r>
            <a:r>
              <a:rPr lang="en-US" b="1" dirty="0">
                <a:effectLst/>
                <a:latin typeface="Aptos" panose="020B0004020202020204" pitchFamily="34" charset="0"/>
                <a:cs typeface="Aptos" panose="020B0004020202020204" pitchFamily="34" charset="0"/>
              </a:rPr>
              <a:t>03/04</a:t>
            </a:r>
            <a:r>
              <a:rPr lang="en-US" dirty="0">
                <a:effectLst/>
              </a:rPr>
              <a:t>) to confirm whether the low DB level is internal vs </a:t>
            </a:r>
            <a:r>
              <a:rPr lang="en-US" b="1" dirty="0">
                <a:effectLst/>
                <a:latin typeface="Aptos" panose="020B0004020202020204" pitchFamily="34" charset="0"/>
                <a:cs typeface="Aptos" panose="020B0004020202020204" pitchFamily="34" charset="0"/>
              </a:rPr>
              <a:t>carrier-side (Crown Castle)</a:t>
            </a:r>
            <a:r>
              <a:rPr lang="en-US" dirty="0">
                <a:effectLst/>
              </a:rPr>
              <a:t>; validate filter/wavelength behavior.</a:t>
            </a:r>
          </a:p>
          <a:p>
            <a:pPr marL="342900" lvl="0" indent="-342900">
              <a:buFont typeface="+mj-lt"/>
              <a:buAutoNum type="arabicPeriod"/>
              <a:tabLst>
                <a:tab pos="457200" algn="l"/>
              </a:tabLst>
            </a:pPr>
            <a:r>
              <a:rPr lang="en-US" b="1" dirty="0">
                <a:effectLst/>
                <a:latin typeface="Aptos" panose="020B0004020202020204" pitchFamily="34" charset="0"/>
                <a:cs typeface="Aptos" panose="020B0004020202020204" pitchFamily="34" charset="0"/>
              </a:rPr>
              <a:t>Confirm stable remote access</a:t>
            </a:r>
            <a:r>
              <a:rPr lang="en-US" dirty="0">
                <a:effectLst/>
              </a:rPr>
              <a:t> after cabling/OTDR so we can shift to “remote-first” execution.</a:t>
            </a:r>
          </a:p>
          <a:p>
            <a:pPr marL="342900" lvl="0" indent="-342900">
              <a:buFont typeface="+mj-lt"/>
              <a:buAutoNum type="arabicPeriod"/>
              <a:tabLst>
                <a:tab pos="457200" algn="l"/>
              </a:tabLst>
            </a:pPr>
            <a:r>
              <a:rPr lang="en-US" b="1" dirty="0">
                <a:effectLst/>
                <a:latin typeface="Aptos" panose="020B0004020202020204" pitchFamily="34" charset="0"/>
                <a:cs typeface="Aptos" panose="020B0004020202020204" pitchFamily="34" charset="0"/>
              </a:rPr>
              <a:t>Start router configuration</a:t>
            </a:r>
            <a:r>
              <a:rPr lang="en-US" dirty="0">
                <a:effectLst/>
              </a:rPr>
              <a:t> on the powered routers for </a:t>
            </a:r>
            <a:r>
              <a:rPr lang="en-US" b="1" dirty="0">
                <a:effectLst/>
                <a:latin typeface="Aptos" panose="020B0004020202020204" pitchFamily="34" charset="0"/>
                <a:cs typeface="Aptos" panose="020B0004020202020204" pitchFamily="34" charset="0"/>
              </a:rPr>
              <a:t>Ring 1 and Ring 6</a:t>
            </a:r>
            <a:r>
              <a:rPr lang="en-US" dirty="0">
                <a:effectLst/>
              </a:rPr>
              <a:t> (remote workstream), with standard config + validation.</a:t>
            </a:r>
          </a:p>
          <a:p>
            <a:pPr marL="342900" lvl="0" indent="-342900">
              <a:buFont typeface="+mj-lt"/>
              <a:buAutoNum type="arabicPeriod"/>
              <a:tabLst>
                <a:tab pos="457200" algn="l"/>
              </a:tabLst>
            </a:pPr>
            <a:r>
              <a:rPr lang="en-US" b="1" dirty="0">
                <a:effectLst/>
                <a:latin typeface="Aptos" panose="020B0004020202020204" pitchFamily="34" charset="0"/>
                <a:cs typeface="Aptos" panose="020B0004020202020204" pitchFamily="34" charset="0"/>
              </a:rPr>
              <a:t>Continue closeout</a:t>
            </a:r>
            <a:r>
              <a:rPr lang="en-US" dirty="0">
                <a:effectLst/>
              </a:rPr>
              <a:t>: finalize </a:t>
            </a:r>
            <a:r>
              <a:rPr lang="en-US" b="1" dirty="0">
                <a:effectLst/>
                <a:latin typeface="Aptos" panose="020B0004020202020204" pitchFamily="34" charset="0"/>
                <a:cs typeface="Aptos" panose="020B0004020202020204" pitchFamily="34" charset="0"/>
              </a:rPr>
              <a:t>CMDB/As-Builts</a:t>
            </a:r>
            <a:r>
              <a:rPr lang="en-US" dirty="0">
                <a:effectLst/>
              </a:rPr>
              <a:t> updates and close the remaining documentation gate (this is key to moving </a:t>
            </a:r>
            <a:r>
              <a:rPr lang="en-US" b="1" dirty="0">
                <a:effectLst/>
                <a:latin typeface="Aptos" panose="020B0004020202020204" pitchFamily="34" charset="0"/>
                <a:cs typeface="Aptos" panose="020B0004020202020204" pitchFamily="34" charset="0"/>
              </a:rPr>
              <a:t>Yellow → Green</a:t>
            </a:r>
            <a:r>
              <a:rPr lang="en-US" dirty="0">
                <a:effectLst/>
              </a:rPr>
              <a:t>).</a:t>
            </a:r>
          </a:p>
        </p:txBody>
      </p:sp>
    </p:spTree>
    <p:extLst>
      <p:ext uri="{BB962C8B-B14F-4D97-AF65-F5344CB8AC3E}">
        <p14:creationId xmlns:p14="http://schemas.microsoft.com/office/powerpoint/2010/main" val="2216661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6EB495-10DB-45A6-8E6D-929653572431}">
  <ds:schemaRefs>
    <ds:schemaRef ds:uri="http://purl.org/dc/dcmitype/"/>
    <ds:schemaRef ds:uri="135ef2dc-24a0-47df-8b8a-1312283ed4bf"/>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purl.org/dc/elements/1.1/"/>
  </ds:schemaRefs>
</ds:datastoreItem>
</file>

<file path=customXml/itemProps2.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113697</TotalTime>
  <Words>2839</Words>
  <Application>Microsoft Office PowerPoint</Application>
  <PresentationFormat>Widescreen</PresentationFormat>
  <Paragraphs>790</Paragraphs>
  <Slides>14</Slides>
  <Notes>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14</vt:i4>
      </vt:variant>
    </vt:vector>
  </HeadingPairs>
  <TitlesOfParts>
    <vt:vector size="28" baseType="lpstr">
      <vt:lpstr>Aptos</vt:lpstr>
      <vt:lpstr>Arial</vt:lpstr>
      <vt:lpstr>Ariel</vt:lpstr>
      <vt:lpstr>Calibri</vt:lpstr>
      <vt:lpstr>Calibri Light</vt:lpstr>
      <vt:lpstr>DM Serif Display</vt:lpstr>
      <vt:lpstr>Outfit Light</vt:lpstr>
      <vt:lpstr>Outfit SemiBold</vt:lpstr>
      <vt:lpstr>Symbol</vt:lpstr>
      <vt:lpstr>Times New Roman</vt:lpstr>
      <vt:lpstr>Wingdings</vt:lpstr>
      <vt:lpstr>Office Theme</vt:lpstr>
      <vt:lpstr>Microsoft Excel Binary Worksheet</vt:lpstr>
      <vt:lpstr>Binary Worksheet</vt:lpstr>
      <vt:lpstr>PRJ13797: JMUX Replacement Update Project Manager : Dhananjaya Gunaratne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849</cp:revision>
  <dcterms:modified xsi:type="dcterms:W3CDTF">2026-02-26T18:13:34Z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