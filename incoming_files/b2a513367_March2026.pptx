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1474773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8" autoAdjust="0"/>
    <p:restoredTop sz="94660"/>
  </p:normalViewPr>
  <p:slideViewPr>
    <p:cSldViewPr snapToGrid="0">
      <p:cViewPr varScale="1">
        <p:scale>
          <a:sx n="56" d="100"/>
          <a:sy n="56" d="100"/>
        </p:scale>
        <p:origin x="43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107D6-5A55-D766-BAE7-470AEB7C19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810432-714A-9B21-F285-07D18DFACA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926021-6EFA-2702-8F1C-72A66A0A1CEE}"/>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5" name="Footer Placeholder 4">
            <a:extLst>
              <a:ext uri="{FF2B5EF4-FFF2-40B4-BE49-F238E27FC236}">
                <a16:creationId xmlns:a16="http://schemas.microsoft.com/office/drawing/2014/main" id="{1CEC0D64-AB68-A834-3083-204B45676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4C093F-26DD-5D4B-075E-B71C07416CAC}"/>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1822205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B2696-3797-CB4A-F6D6-2AF4C5726A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4791FB-E8B3-6E71-3EE8-525CF51C15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E5D62B-E8AE-35A9-5EC7-8D90629E5D73}"/>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5" name="Footer Placeholder 4">
            <a:extLst>
              <a:ext uri="{FF2B5EF4-FFF2-40B4-BE49-F238E27FC236}">
                <a16:creationId xmlns:a16="http://schemas.microsoft.com/office/drawing/2014/main" id="{D37A3E2D-CCFF-E136-0635-9167E78C11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E93FA-BEB7-F6CD-D583-9FA9364FFF60}"/>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2871518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48132-E7D8-0000-34C4-3C552A0862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229990-1927-44F6-061E-2E8D439619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8549D7-C41D-8DC4-CB63-BE449C941761}"/>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5" name="Footer Placeholder 4">
            <a:extLst>
              <a:ext uri="{FF2B5EF4-FFF2-40B4-BE49-F238E27FC236}">
                <a16:creationId xmlns:a16="http://schemas.microsoft.com/office/drawing/2014/main" id="{92243EB3-EDDE-1B98-A567-48EEE4130A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B725D-6F7C-3B3F-06B3-EADECF8EA418}"/>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2086024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FED10-2A29-C894-A50A-5B0AAC5F00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EEBB83-9FD8-54D0-5DD5-4CF142AF0B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967F91-93CA-16D5-85F7-13B5CEF37F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98DD57-7586-726F-19D2-205C22534270}"/>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6" name="Footer Placeholder 5">
            <a:extLst>
              <a:ext uri="{FF2B5EF4-FFF2-40B4-BE49-F238E27FC236}">
                <a16:creationId xmlns:a16="http://schemas.microsoft.com/office/drawing/2014/main" id="{8CAF3067-EB38-E7C5-4154-ABB4073EBC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560F4C-77E9-4D37-DA24-B0148ECE48B6}"/>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489491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DD94A-B668-D9A7-6FF9-6241CF9F16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324DE1-2DA6-E9D1-F2B4-3AC154A2BD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EDC18-8E55-7F07-A094-6629CF1366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0DF2F6-99AF-F82F-6D66-4D0A9636F8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88B45B-729B-FF8C-1803-A83169D97E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00DAE7-6F77-D48C-599A-325AFD543F84}"/>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8" name="Footer Placeholder 7">
            <a:extLst>
              <a:ext uri="{FF2B5EF4-FFF2-40B4-BE49-F238E27FC236}">
                <a16:creationId xmlns:a16="http://schemas.microsoft.com/office/drawing/2014/main" id="{200AD7E4-C959-6D0B-F538-48FA51FB2A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BBCD07-754D-E91B-FB25-D94E93412452}"/>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1218520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9CF65-E98C-F6E2-AEE5-EB5B5473A4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03E59E-E6AF-56E4-B363-EFDE893363C6}"/>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4" name="Footer Placeholder 3">
            <a:extLst>
              <a:ext uri="{FF2B5EF4-FFF2-40B4-BE49-F238E27FC236}">
                <a16:creationId xmlns:a16="http://schemas.microsoft.com/office/drawing/2014/main" id="{161229F3-9BA1-7E67-C468-3FF8BB8FE3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7AE9B6-452B-9941-9314-3D627F5FB290}"/>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1197405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2979C8-9EA5-678A-3A31-12787DFC083F}"/>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3" name="Footer Placeholder 2">
            <a:extLst>
              <a:ext uri="{FF2B5EF4-FFF2-40B4-BE49-F238E27FC236}">
                <a16:creationId xmlns:a16="http://schemas.microsoft.com/office/drawing/2014/main" id="{443492D4-CBD4-9432-AC6E-2DF83200431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D970E4-DA1F-BE1C-F8BA-B34527C15F45}"/>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406129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8EC7B-8077-3CE7-986A-AD7A1782DD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AA1E5E-0F28-79F7-337B-CB4E1FEA85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C52412-C282-29C8-B770-50E0A1D5A6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6C48E4-0FFE-A424-F3F2-018CCA231E3A}"/>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6" name="Footer Placeholder 5">
            <a:extLst>
              <a:ext uri="{FF2B5EF4-FFF2-40B4-BE49-F238E27FC236}">
                <a16:creationId xmlns:a16="http://schemas.microsoft.com/office/drawing/2014/main" id="{1B84D113-BDF4-857C-E050-12B7602628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6F430D-86A4-4A7A-B403-210DE788D8D3}"/>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1438453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6F9D-7957-464C-0EA5-F80694EEA7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D3A065-4CFE-8D2F-C0EF-6775181918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5D9D5A-9962-6DE9-DE9A-E09863C3BD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A51E52-57A2-2CAB-1C17-F2E72D202B82}"/>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6" name="Footer Placeholder 5">
            <a:extLst>
              <a:ext uri="{FF2B5EF4-FFF2-40B4-BE49-F238E27FC236}">
                <a16:creationId xmlns:a16="http://schemas.microsoft.com/office/drawing/2014/main" id="{403E1C60-051E-768B-584A-880DC43F5C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B7E84-89AB-F021-6759-3C4F68855623}"/>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396532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280C7-8825-3AB6-BB66-7FCE6CEA54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A83F41-2CDD-E7DC-BD62-53E95BBF98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23409E-F5ED-63E5-F676-B1ABCBCC4A08}"/>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5" name="Footer Placeholder 4">
            <a:extLst>
              <a:ext uri="{FF2B5EF4-FFF2-40B4-BE49-F238E27FC236}">
                <a16:creationId xmlns:a16="http://schemas.microsoft.com/office/drawing/2014/main" id="{19190474-27C6-43F1-9957-1CD24ED4E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17185-D359-5811-553C-E8BA15098FEA}"/>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409464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494D4A-8EBD-8155-ACCB-95B6B5935B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0F80DC-F344-1547-288F-31FD9554E3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04BD2-09E4-61F8-DC07-5F5CB7900AD5}"/>
              </a:ext>
            </a:extLst>
          </p:cNvPr>
          <p:cNvSpPr>
            <a:spLocks noGrp="1"/>
          </p:cNvSpPr>
          <p:nvPr>
            <p:ph type="dt" sz="half" idx="10"/>
          </p:nvPr>
        </p:nvSpPr>
        <p:spPr/>
        <p:txBody>
          <a:bodyPr/>
          <a:lstStyle/>
          <a:p>
            <a:fld id="{9008EDFA-57C2-4E8C-B30D-358C5493D041}" type="datetimeFigureOut">
              <a:rPr lang="en-US" smtClean="0"/>
              <a:t>3/12/2026</a:t>
            </a:fld>
            <a:endParaRPr lang="en-US"/>
          </a:p>
        </p:txBody>
      </p:sp>
      <p:sp>
        <p:nvSpPr>
          <p:cNvPr id="5" name="Footer Placeholder 4">
            <a:extLst>
              <a:ext uri="{FF2B5EF4-FFF2-40B4-BE49-F238E27FC236}">
                <a16:creationId xmlns:a16="http://schemas.microsoft.com/office/drawing/2014/main" id="{A19DC522-D266-8AA2-99EF-B6BB2B44BF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B6BBF5-D77B-C536-13C6-66EDE5BE932E}"/>
              </a:ext>
            </a:extLst>
          </p:cNvPr>
          <p:cNvSpPr>
            <a:spLocks noGrp="1"/>
          </p:cNvSpPr>
          <p:nvPr>
            <p:ph type="sldNum" sz="quarter" idx="12"/>
          </p:nvPr>
        </p:nvSpPr>
        <p:spPr/>
        <p:txBody>
          <a:bodyPr/>
          <a:lstStyle/>
          <a:p>
            <a:fld id="{98BA7085-57AB-413A-A93C-FFF476CB83CD}" type="slidenum">
              <a:rPr lang="en-US" smtClean="0"/>
              <a:t>‹#›</a:t>
            </a:fld>
            <a:endParaRPr lang="en-US"/>
          </a:p>
        </p:txBody>
      </p:sp>
    </p:spTree>
    <p:extLst>
      <p:ext uri="{BB962C8B-B14F-4D97-AF65-F5344CB8AC3E}">
        <p14:creationId xmlns:p14="http://schemas.microsoft.com/office/powerpoint/2010/main" val="4265962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T_Body_2">
    <p:spTree>
      <p:nvGrpSpPr>
        <p:cNvPr id="1" name=""/>
        <p:cNvGrpSpPr/>
        <p:nvPr/>
      </p:nvGrpSpPr>
      <p:grpSpPr>
        <a:xfrm>
          <a:off x="0" y="0"/>
          <a:ext cx="0" cy="0"/>
          <a:chOff x="0" y="0"/>
          <a:chExt cx="0" cy="0"/>
        </a:xfrm>
      </p:grpSpPr>
      <p:sp>
        <p:nvSpPr>
          <p:cNvPr id="13" name="Title 1"/>
          <p:cNvSpPr>
            <a:spLocks noGrp="1"/>
          </p:cNvSpPr>
          <p:nvPr>
            <p:ph type="title"/>
          </p:nvPr>
        </p:nvSpPr>
        <p:spPr>
          <a:xfrm>
            <a:off x="457200" y="365760"/>
            <a:ext cx="11308080" cy="548640"/>
          </a:xfrm>
        </p:spPr>
        <p:txBody>
          <a:bodyPr/>
          <a:lstStyle/>
          <a:p>
            <a:r>
              <a:rPr lang="en-US" dirty="0"/>
              <a:t>Click to edit Master title style</a:t>
            </a:r>
          </a:p>
        </p:txBody>
      </p:sp>
    </p:spTree>
    <p:extLst>
      <p:ext uri="{BB962C8B-B14F-4D97-AF65-F5344CB8AC3E}">
        <p14:creationId xmlns:p14="http://schemas.microsoft.com/office/powerpoint/2010/main" val="338949359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7B9761-994F-2993-735C-EB7C273F5F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5894A2-7153-CAD8-1B06-7422F63B06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FEC649-BDFC-28DD-CDA8-615383073C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08EDFA-57C2-4E8C-B30D-358C5493D041}" type="datetimeFigureOut">
              <a:rPr lang="en-US" smtClean="0"/>
              <a:t>3/12/2026</a:t>
            </a:fld>
            <a:endParaRPr lang="en-US"/>
          </a:p>
        </p:txBody>
      </p:sp>
      <p:sp>
        <p:nvSpPr>
          <p:cNvPr id="5" name="Footer Placeholder 4">
            <a:extLst>
              <a:ext uri="{FF2B5EF4-FFF2-40B4-BE49-F238E27FC236}">
                <a16:creationId xmlns:a16="http://schemas.microsoft.com/office/drawing/2014/main" id="{8C07B7D6-69B3-297B-3B43-2BC7A18899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4A961DF-2211-FFBA-D928-7C5445B261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BA7085-57AB-413A-A93C-FFF476CB83CD}" type="slidenum">
              <a:rPr lang="en-US" smtClean="0"/>
              <a:t>‹#›</a:t>
            </a:fld>
            <a:endParaRPr lang="en-US"/>
          </a:p>
        </p:txBody>
      </p:sp>
    </p:spTree>
    <p:extLst>
      <p:ext uri="{BB962C8B-B14F-4D97-AF65-F5344CB8AC3E}">
        <p14:creationId xmlns:p14="http://schemas.microsoft.com/office/powerpoint/2010/main" val="81535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portal.psegliny.com/sites/SO/PSEGLIISSO/Solution%20Delivery/Forms/AllItems.aspx?RootFolder=%2Fsites%2FSO%2FPSEGLIISSO%2FSolution%20Delivery%2F024%2EInfr%20%2D%20Burns%2DMcDonnell%20JMUX%20Replacement&amp;View=%7BF1034167%2D7ACC%2D465A%2DA26E%2D2EFECC9A118D%7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111D16C-0D70-4DF7-A884-2B965BBE9EE0}"/>
              </a:ext>
            </a:extLst>
          </p:cNvPr>
          <p:cNvSpPr/>
          <p:nvPr/>
        </p:nvSpPr>
        <p:spPr>
          <a:xfrm>
            <a:off x="0" y="6183086"/>
            <a:ext cx="12192000" cy="6688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Box 43">
            <a:extLst>
              <a:ext uri="{FF2B5EF4-FFF2-40B4-BE49-F238E27FC236}">
                <a16:creationId xmlns:a16="http://schemas.microsoft.com/office/drawing/2014/main" id="{F46A4095-A75E-441B-8801-2005C3DACEC8}"/>
              </a:ext>
            </a:extLst>
          </p:cNvPr>
          <p:cNvSpPr txBox="1"/>
          <p:nvPr/>
        </p:nvSpPr>
        <p:spPr>
          <a:xfrm>
            <a:off x="1" y="4037992"/>
            <a:ext cx="6254880" cy="1366317"/>
          </a:xfrm>
          <a:prstGeom prst="rect">
            <a:avLst/>
          </a:prstGeom>
          <a:solidFill>
            <a:schemeClr val="accent1">
              <a:lumMod val="10000"/>
              <a:lumOff val="90000"/>
            </a:schemeClr>
          </a:solidFill>
          <a:ln w="19050">
            <a:solidFill>
              <a:schemeClr val="accent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600"/>
              </a:spcAft>
            </a:pPr>
            <a:r>
              <a:rPr lang="en-GB" sz="1000" b="1" u="sng" dirty="0">
                <a:solidFill>
                  <a:schemeClr val="tx1"/>
                </a:solidFill>
                <a:latin typeface="Arial" panose="020B0604020202020204" pitchFamily="34" charset="0"/>
                <a:ea typeface="Times New Roman" panose="02020603050405020304" pitchFamily="18" charset="0"/>
              </a:rPr>
              <a:t>Progress Current Period (past 2 weeks)- Milestones/Key Deliverables with Dates</a:t>
            </a: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CAT6 cable run completed by Hawkeye						03/04/2026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OTDR bad filter replaced; wavelength tested – green link light confirmed at Hicksville-Syosset						03/13/2026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BGP design for corporate connectivity completed by Lee Blackman						03/10/2026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Fiber termination to the NSP completed by Hawkeye						03/13/2026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New batch of IFRs received from Burns &amp; McDonnell						03/13/2026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First batch of 3 IFRs converted to IFC and uploaded to shared drive						03/09/2026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IFR received for 6S Kings Hwy						03/13/2026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IFR received for 7BH Bohemia						03/13/2026</a:t>
            </a:r>
          </a:p>
        </p:txBody>
      </p:sp>
      <p:sp>
        <p:nvSpPr>
          <p:cNvPr id="34" name="Title 5">
            <a:extLst>
              <a:ext uri="{FF2B5EF4-FFF2-40B4-BE49-F238E27FC236}">
                <a16:creationId xmlns:a16="http://schemas.microsoft.com/office/drawing/2014/main" id="{750A431B-B608-496E-9DA5-C69F700B2284}"/>
              </a:ext>
            </a:extLst>
          </p:cNvPr>
          <p:cNvSpPr>
            <a:spLocks noGrp="1"/>
          </p:cNvSpPr>
          <p:nvPr>
            <p:ph type="title"/>
          </p:nvPr>
        </p:nvSpPr>
        <p:spPr>
          <a:xfrm>
            <a:off x="0" y="-32"/>
            <a:ext cx="12192000" cy="811732"/>
          </a:xfrm>
          <a:solidFill>
            <a:schemeClr val="bg1">
              <a:lumMod val="85000"/>
            </a:schemeClr>
          </a:solidFill>
          <a:ln w="12700">
            <a:solidFill>
              <a:prstClr val="black"/>
            </a:solidFill>
          </a:ln>
        </p:spPr>
        <p:txBody>
          <a:bodyPr anchor="ctr"/>
          <a:lstStyle/>
          <a:p>
            <a:pPr algn="ctr"/>
            <a:r>
              <a:rPr lang="en-US" altLang="en-US" sz="2400" dirty="0"/>
              <a:t>JMUX Replacement</a:t>
            </a:r>
            <a:endParaRPr lang="en-US" sz="1000" b="0" dirty="0">
              <a:solidFill>
                <a:schemeClr val="tx1"/>
              </a:solidFill>
              <a:latin typeface="+mn-lt"/>
            </a:endParaRPr>
          </a:p>
        </p:txBody>
      </p:sp>
      <p:graphicFrame>
        <p:nvGraphicFramePr>
          <p:cNvPr id="35" name="Table 34">
            <a:extLst>
              <a:ext uri="{FF2B5EF4-FFF2-40B4-BE49-F238E27FC236}">
                <a16:creationId xmlns:a16="http://schemas.microsoft.com/office/drawing/2014/main" id="{059ECB7F-20E3-4CCE-ACDC-23A88D3722C0}"/>
              </a:ext>
            </a:extLst>
          </p:cNvPr>
          <p:cNvGraphicFramePr>
            <a:graphicFrameLocks noGrp="1"/>
          </p:cNvGraphicFramePr>
          <p:nvPr/>
        </p:nvGraphicFramePr>
        <p:xfrm>
          <a:off x="3960666" y="812584"/>
          <a:ext cx="2321027" cy="2082214"/>
        </p:xfrm>
        <a:graphic>
          <a:graphicData uri="http://schemas.openxmlformats.org/drawingml/2006/table">
            <a:tbl>
              <a:tblPr firstRow="1" firstCol="1" bandRow="1">
                <a:tableStyleId>{5C22544A-7EE6-4342-B048-85BDC9FD1C3A}</a:tableStyleId>
              </a:tblPr>
              <a:tblGrid>
                <a:gridCol w="1023425">
                  <a:extLst>
                    <a:ext uri="{9D8B030D-6E8A-4147-A177-3AD203B41FA5}">
                      <a16:colId xmlns:a16="http://schemas.microsoft.com/office/drawing/2014/main" val="20000"/>
                    </a:ext>
                  </a:extLst>
                </a:gridCol>
                <a:gridCol w="651516">
                  <a:extLst>
                    <a:ext uri="{9D8B030D-6E8A-4147-A177-3AD203B41FA5}">
                      <a16:colId xmlns:a16="http://schemas.microsoft.com/office/drawing/2014/main" val="20001"/>
                    </a:ext>
                  </a:extLst>
                </a:gridCol>
                <a:gridCol w="646086">
                  <a:extLst>
                    <a:ext uri="{9D8B030D-6E8A-4147-A177-3AD203B41FA5}">
                      <a16:colId xmlns:a16="http://schemas.microsoft.com/office/drawing/2014/main" val="20002"/>
                    </a:ext>
                  </a:extLst>
                </a:gridCol>
              </a:tblGrid>
              <a:tr h="173199">
                <a:tc>
                  <a:txBody>
                    <a:bodyPr/>
                    <a:lstStyle/>
                    <a:p>
                      <a:pPr marL="0" marR="0" algn="l">
                        <a:spcBef>
                          <a:spcPts val="600"/>
                        </a:spcBef>
                        <a:spcAft>
                          <a:spcPts val="0"/>
                        </a:spcAft>
                      </a:pPr>
                      <a:r>
                        <a:rPr lang="en-GB" sz="1000" dirty="0">
                          <a:solidFill>
                            <a:schemeClr val="tx1"/>
                          </a:solidFill>
                          <a:effectLst/>
                        </a:rPr>
                        <a:t> </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600"/>
                        </a:spcBef>
                        <a:spcAft>
                          <a:spcPts val="0"/>
                        </a:spcAft>
                      </a:pPr>
                      <a:r>
                        <a:rPr lang="en-GB" sz="1000" b="1" dirty="0">
                          <a:solidFill>
                            <a:schemeClr val="tx1"/>
                          </a:solidFill>
                          <a:effectLst/>
                        </a:rPr>
                        <a:t>Status*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algn="l">
                        <a:spcBef>
                          <a:spcPts val="600"/>
                        </a:spcBef>
                        <a:spcAft>
                          <a:spcPts val="0"/>
                        </a:spcAft>
                      </a:pPr>
                      <a:r>
                        <a:rPr lang="en-GB" sz="1000" b="1" dirty="0">
                          <a:solidFill>
                            <a:schemeClr val="tx1"/>
                          </a:solidFill>
                          <a:effectLst/>
                        </a:rPr>
                        <a:t>Trends*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0"/>
                  </a:ext>
                </a:extLst>
              </a:tr>
              <a:tr h="381803">
                <a:tc>
                  <a:txBody>
                    <a:bodyPr/>
                    <a:lstStyle/>
                    <a:p>
                      <a:pPr marL="0" marR="0" algn="ctr">
                        <a:spcBef>
                          <a:spcPts val="300"/>
                        </a:spcBef>
                        <a:spcAft>
                          <a:spcPts val="300"/>
                        </a:spcAft>
                      </a:pPr>
                      <a:r>
                        <a:rPr lang="en-GB" sz="1000" dirty="0">
                          <a:solidFill>
                            <a:schemeClr val="tx1"/>
                          </a:solidFill>
                          <a:effectLst/>
                        </a:rPr>
                        <a:t>Schedule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Yellow</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2"/>
                  </a:ext>
                </a:extLst>
              </a:tr>
              <a:tr h="381803">
                <a:tc>
                  <a:txBody>
                    <a:bodyPr/>
                    <a:lstStyle/>
                    <a:p>
                      <a:pPr marL="0" marR="0" algn="ctr">
                        <a:spcBef>
                          <a:spcPts val="300"/>
                        </a:spcBef>
                        <a:spcAft>
                          <a:spcPts val="300"/>
                        </a:spcAft>
                      </a:pPr>
                      <a:r>
                        <a:rPr lang="en-GB" sz="1000" dirty="0">
                          <a:solidFill>
                            <a:schemeClr val="tx1"/>
                          </a:solidFill>
                          <a:effectLst/>
                        </a:rPr>
                        <a:t>Financial</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3"/>
                  </a:ext>
                </a:extLst>
              </a:tr>
              <a:tr h="381803">
                <a:tc>
                  <a:txBody>
                    <a:bodyPr/>
                    <a:lstStyle/>
                    <a:p>
                      <a:pPr marL="0" marR="0" algn="ctr">
                        <a:spcBef>
                          <a:spcPts val="300"/>
                        </a:spcBef>
                        <a:spcAft>
                          <a:spcPts val="300"/>
                        </a:spcAft>
                      </a:pPr>
                      <a:r>
                        <a:rPr lang="en-GB" sz="1000" dirty="0">
                          <a:solidFill>
                            <a:schemeClr val="tx1"/>
                          </a:solidFill>
                          <a:effectLst/>
                        </a:rPr>
                        <a:t>Scope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4"/>
                  </a:ext>
                </a:extLst>
              </a:tr>
              <a:tr h="381803">
                <a:tc>
                  <a:txBody>
                    <a:bodyPr/>
                    <a:lstStyle/>
                    <a:p>
                      <a:pPr marL="0" marR="0" algn="ctr">
                        <a:spcBef>
                          <a:spcPts val="300"/>
                        </a:spcBef>
                        <a:spcAft>
                          <a:spcPts val="300"/>
                        </a:spcAft>
                      </a:pPr>
                      <a:r>
                        <a:rPr lang="en-GB" sz="1000" dirty="0">
                          <a:solidFill>
                            <a:schemeClr val="tx1"/>
                          </a:solidFill>
                          <a:effectLst/>
                        </a:rPr>
                        <a:t>Risk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5"/>
                  </a:ext>
                </a:extLst>
              </a:tr>
              <a:tr h="381803">
                <a:tc>
                  <a:txBody>
                    <a:bodyPr/>
                    <a:lstStyle/>
                    <a:p>
                      <a:pPr marL="0" marR="0" algn="ctr">
                        <a:spcBef>
                          <a:spcPts val="300"/>
                        </a:spcBef>
                        <a:spcAft>
                          <a:spcPts val="300"/>
                        </a:spcAft>
                      </a:pPr>
                      <a:r>
                        <a:rPr lang="en-GB" sz="1000" dirty="0">
                          <a:solidFill>
                            <a:schemeClr val="tx1"/>
                          </a:solidFill>
                          <a:effectLst/>
                        </a:rPr>
                        <a:t> Resource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6"/>
                  </a:ext>
                </a:extLst>
              </a:tr>
            </a:tbl>
          </a:graphicData>
        </a:graphic>
      </p:graphicFrame>
      <p:sp>
        <p:nvSpPr>
          <p:cNvPr id="36" name="Text Box 6">
            <a:extLst>
              <a:ext uri="{FF2B5EF4-FFF2-40B4-BE49-F238E27FC236}">
                <a16:creationId xmlns:a16="http://schemas.microsoft.com/office/drawing/2014/main" id="{01308F76-0B61-47B3-9C87-8083E00E34E4}"/>
              </a:ext>
            </a:extLst>
          </p:cNvPr>
          <p:cNvSpPr txBox="1"/>
          <p:nvPr/>
        </p:nvSpPr>
        <p:spPr>
          <a:xfrm>
            <a:off x="0" y="-17595"/>
            <a:ext cx="2906763" cy="83269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Status Date:</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03/13/2026</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IT/Cyber:</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IT </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Director:</a:t>
            </a:r>
            <a:r>
              <a:rPr lang="en-GB" sz="1000" dirty="0">
                <a:solidFill>
                  <a:schemeClr val="tx1"/>
                </a:solidFill>
                <a:latin typeface="Arial" panose="020B0604020202020204" pitchFamily="34" charset="0"/>
                <a:ea typeface="Times New Roman" panose="02020603050405020304" pitchFamily="18" charset="0"/>
              </a:rPr>
              <a:t>	Irving Landesbaum</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GPM:</a:t>
            </a:r>
            <a:r>
              <a:rPr lang="en-GB" sz="1000" dirty="0">
                <a:solidFill>
                  <a:schemeClr val="tx1"/>
                </a:solidFill>
                <a:latin typeface="Arial" panose="020B0604020202020204" pitchFamily="34" charset="0"/>
                <a:ea typeface="Times New Roman" panose="02020603050405020304" pitchFamily="18" charset="0"/>
              </a:rPr>
              <a:t>	Vikas Vohra</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Program Manager</a:t>
            </a:r>
            <a:r>
              <a:rPr lang="en-GB" sz="1000" dirty="0">
                <a:solidFill>
                  <a:schemeClr val="tx1"/>
                </a:solidFill>
                <a:latin typeface="Arial" panose="020B0604020202020204" pitchFamily="34" charset="0"/>
                <a:ea typeface="Times New Roman" panose="02020603050405020304" pitchFamily="18" charset="0"/>
              </a:rPr>
              <a:t>	Jay Gunaratne</a:t>
            </a:r>
            <a:endParaRPr lang="en-US" sz="1000" dirty="0">
              <a:solidFill>
                <a:schemeClr val="tx1"/>
              </a:solidFill>
              <a:latin typeface="Arial" panose="020B0604020202020204" pitchFamily="34" charset="0"/>
              <a:ea typeface="Times New Roman" panose="02020603050405020304" pitchFamily="18" charset="0"/>
            </a:endParaRPr>
          </a:p>
        </p:txBody>
      </p:sp>
      <p:sp>
        <p:nvSpPr>
          <p:cNvPr id="37" name="Text Box 49">
            <a:extLst>
              <a:ext uri="{FF2B5EF4-FFF2-40B4-BE49-F238E27FC236}">
                <a16:creationId xmlns:a16="http://schemas.microsoft.com/office/drawing/2014/main" id="{D4DA2A4F-BC50-4ABE-8BF1-B0E6B4CC4157}"/>
              </a:ext>
            </a:extLst>
          </p:cNvPr>
          <p:cNvSpPr txBox="1"/>
          <p:nvPr/>
        </p:nvSpPr>
        <p:spPr>
          <a:xfrm>
            <a:off x="1" y="2902834"/>
            <a:ext cx="3194778" cy="1130582"/>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Time Management</a:t>
            </a:r>
            <a:endParaRPr lang="en-US" sz="10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Start 		</a:t>
            </a:r>
            <a:r>
              <a:rPr lang="en-US" sz="800" dirty="0">
                <a:solidFill>
                  <a:schemeClr val="tx1"/>
                </a:solidFill>
                <a:latin typeface="Arial" panose="020B0604020202020204" pitchFamily="34" charset="0"/>
                <a:ea typeface="Times New Roman" panose="02020603050405020304" pitchFamily="18" charset="0"/>
              </a:rPr>
              <a:t>03-01-2024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Start 		</a:t>
            </a:r>
            <a:r>
              <a:rPr lang="en-US" sz="800" dirty="0">
                <a:solidFill>
                  <a:schemeClr val="tx1"/>
                </a:solidFill>
                <a:latin typeface="Arial" panose="020B0604020202020204" pitchFamily="34" charset="0"/>
                <a:ea typeface="Times New Roman" panose="02020603050405020304" pitchFamily="18" charset="0"/>
              </a:rPr>
              <a:t>04-18-2024</a:t>
            </a:r>
          </a:p>
          <a:p>
            <a:pPr>
              <a:tabLst>
                <a:tab pos="1260475" algn="l"/>
                <a:tab pos="2457450" algn="l"/>
              </a:tabLst>
            </a:pPr>
            <a:r>
              <a:rPr lang="en-GB" sz="800" dirty="0">
                <a:solidFill>
                  <a:schemeClr val="tx1"/>
                </a:solidFill>
                <a:latin typeface="Arial" panose="020B0604020202020204" pitchFamily="34" charset="0"/>
                <a:ea typeface="Times New Roman" panose="02020603050405020304" pitchFamily="18" charset="0"/>
              </a:rPr>
              <a:t>Go-Live/In Service/Next Sprint Release	</a:t>
            </a:r>
            <a:r>
              <a:rPr lang="en-US" sz="800" dirty="0">
                <a:solidFill>
                  <a:schemeClr val="tx1"/>
                </a:solidFill>
                <a:latin typeface="Arial" panose="020B0604020202020204" pitchFamily="34" charset="0"/>
                <a:ea typeface="Times New Roman" panose="02020603050405020304" pitchFamily="18" charset="0"/>
              </a:rPr>
              <a:t>01-01-2024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End 		</a:t>
            </a:r>
            <a:r>
              <a:rPr lang="en-US" sz="800" dirty="0">
                <a:solidFill>
                  <a:schemeClr val="tx1"/>
                </a:solidFill>
                <a:latin typeface="Arial" panose="020B0604020202020204" pitchFamily="34" charset="0"/>
                <a:ea typeface="Times New Roman" panose="02020603050405020304" pitchFamily="18" charset="0"/>
              </a:rPr>
              <a:t>04-08-2027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Target End 		</a:t>
            </a:r>
            <a:r>
              <a:rPr lang="en-US" sz="800" dirty="0">
                <a:solidFill>
                  <a:schemeClr val="tx1"/>
                </a:solidFill>
                <a:latin typeface="Arial" panose="020B0604020202020204" pitchFamily="34" charset="0"/>
                <a:ea typeface="Times New Roman" panose="02020603050405020304" pitchFamily="18" charset="0"/>
              </a:rPr>
              <a:t>07-08-2027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endParaRPr lang="en-GB" sz="800" dirty="0">
              <a:solidFill>
                <a:schemeClr val="tx1"/>
              </a:solidFill>
              <a:latin typeface="Arial" panose="020B0604020202020204" pitchFamily="34" charset="0"/>
              <a:ea typeface="Times New Roman" panose="02020603050405020304" pitchFamily="18" charset="0"/>
            </a:endParaRPr>
          </a:p>
        </p:txBody>
      </p:sp>
      <p:sp>
        <p:nvSpPr>
          <p:cNvPr id="38" name="Right Arrow 15">
            <a:extLst>
              <a:ext uri="{FF2B5EF4-FFF2-40B4-BE49-F238E27FC236}">
                <a16:creationId xmlns:a16="http://schemas.microsoft.com/office/drawing/2014/main" id="{DF3D39DB-8948-4A91-AD85-640DD2CC862F}"/>
              </a:ext>
            </a:extLst>
          </p:cNvPr>
          <p:cNvSpPr/>
          <p:nvPr/>
        </p:nvSpPr>
        <p:spPr>
          <a:xfrm rot="16200000">
            <a:off x="5667924" y="253968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 name="Text Box 50">
            <a:extLst>
              <a:ext uri="{FF2B5EF4-FFF2-40B4-BE49-F238E27FC236}">
                <a16:creationId xmlns:a16="http://schemas.microsoft.com/office/drawing/2014/main" id="{B213B5BC-8D69-4471-9CAE-BA4912EAD2F2}"/>
              </a:ext>
            </a:extLst>
          </p:cNvPr>
          <p:cNvSpPr txBox="1"/>
          <p:nvPr/>
        </p:nvSpPr>
        <p:spPr>
          <a:xfrm>
            <a:off x="3194779" y="2901950"/>
            <a:ext cx="3080579" cy="112511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Project Financials / Budget</a:t>
            </a:r>
            <a:endParaRPr lang="en-US" sz="1000" dirty="0">
              <a:solidFill>
                <a:schemeClr val="tx1"/>
              </a:solidFill>
              <a:latin typeface="Arial" panose="020B0604020202020204" pitchFamily="34" charset="0"/>
              <a:ea typeface="Times New Roman" panose="02020603050405020304" pitchFamily="18" charset="0"/>
            </a:endParaRP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WBS Code:                                                             I.39424.1.x</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LIPA approved total project budget: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URB approved funding to date: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Spend to date:	 $4,548,505.00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Estimate to complete:	$2,051,495.00</a:t>
            </a:r>
          </a:p>
          <a:p>
            <a:pPr lvl="0">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Estimate at completion:	 $6,600,000.00 </a:t>
            </a:r>
          </a:p>
          <a:p>
            <a:pPr>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Over (+) / Under (-) LIPA approved budget:	+/- $00.00</a:t>
            </a:r>
          </a:p>
          <a:p>
            <a:pPr lvl="0">
              <a:tabLst>
                <a:tab pos="2800350" algn="dec"/>
              </a:tabLst>
              <a:defRPr/>
            </a:pPr>
            <a:endParaRPr lang="en-US" sz="900" b="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p:txBody>
      </p:sp>
      <p:sp>
        <p:nvSpPr>
          <p:cNvPr id="40" name="Text Box 1">
            <a:extLst>
              <a:ext uri="{FF2B5EF4-FFF2-40B4-BE49-F238E27FC236}">
                <a16:creationId xmlns:a16="http://schemas.microsoft.com/office/drawing/2014/main" id="{CEF097BC-791C-42C4-B22F-75102FACFBBF}"/>
              </a:ext>
            </a:extLst>
          </p:cNvPr>
          <p:cNvSpPr txBox="1"/>
          <p:nvPr/>
        </p:nvSpPr>
        <p:spPr>
          <a:xfrm>
            <a:off x="6270720" y="1705230"/>
            <a:ext cx="5921280" cy="819368"/>
          </a:xfrm>
          <a:prstGeom prst="rect">
            <a:avLst/>
          </a:prstGeom>
          <a:solidFill>
            <a:schemeClr val="accent3">
              <a:lumMod val="20000"/>
              <a:lumOff val="80000"/>
            </a:schemeClr>
          </a:solidFill>
          <a:ln w="1270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Benefit</a:t>
            </a:r>
            <a:endParaRPr lang="en-US" dirty="0"/>
          </a:p>
          <a:p>
            <a:pPr>
              <a:defRPr/>
            </a:pPr>
            <a:r>
              <a:rPr lang="en-US" sz="800" dirty="0">
                <a:latin typeface="Arial" panose="020B0604020202020204" pitchFamily="34" charset="0"/>
                <a:cs typeface="Arial" panose="020B0604020202020204" pitchFamily="34" charset="0"/>
              </a:rPr>
              <a:t>Due to GE announcing End of Life for the GE Jungle Mux system as of EOY 2025, the benefits for project is to allow the Systems Integrator to select the most appropriate ‘Equipment Vendor’ via the RFP process to replace the GE JMUX equipment.  </a:t>
            </a:r>
          </a:p>
          <a:p>
            <a:r>
              <a:rPr lang="en-GB" sz="800" dirty="0">
                <a:latin typeface="Arial" panose="020B0604020202020204" pitchFamily="34" charset="0"/>
                <a:ea typeface="Times New Roman" panose="02020603050405020304" pitchFamily="18" charset="0"/>
              </a:rPr>
              <a:t> </a:t>
            </a:r>
            <a:endParaRPr lang="en-US" sz="800" dirty="0">
              <a:latin typeface="Arial" panose="020B0604020202020204" pitchFamily="34" charset="0"/>
              <a:ea typeface="Times New Roman" panose="02020603050405020304" pitchFamily="18" charset="0"/>
            </a:endParaRPr>
          </a:p>
        </p:txBody>
      </p:sp>
      <p:sp>
        <p:nvSpPr>
          <p:cNvPr id="41" name="Text Box 2">
            <a:extLst>
              <a:ext uri="{FF2B5EF4-FFF2-40B4-BE49-F238E27FC236}">
                <a16:creationId xmlns:a16="http://schemas.microsoft.com/office/drawing/2014/main" id="{3692495C-C8E2-4AB1-BF84-0E6A5EEB7EB0}"/>
              </a:ext>
            </a:extLst>
          </p:cNvPr>
          <p:cNvSpPr txBox="1"/>
          <p:nvPr/>
        </p:nvSpPr>
        <p:spPr>
          <a:xfrm>
            <a:off x="6270720" y="2524598"/>
            <a:ext cx="5921280" cy="743465"/>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 (95%-Complete) </a:t>
            </a:r>
            <a:endParaRPr lang="en-US" sz="1000" b="1" u="sng" dirty="0">
              <a:solidFill>
                <a:schemeClr val="tx1"/>
              </a:solidFill>
              <a:latin typeface="Arial" panose="020B0604020202020204" pitchFamily="34" charset="0"/>
              <a:cs typeface="Arial" panose="020B0604020202020204" pitchFamily="34" charset="0"/>
            </a:endParaRPr>
          </a:p>
          <a:p>
            <a:pPr>
              <a:spcAft>
                <a:spcPts val="300"/>
              </a:spcAft>
            </a:pPr>
            <a:r>
              <a:rPr lang="en-US" sz="800" dirty="0"/>
              <a:t>The purpose of this project is to install new Multiprotocol Label Switching (MPLS) nodes, remove existing GE Jungle MUX (JMUX) equipment, and design new circuits from the existing substation .</a:t>
            </a:r>
            <a:endParaRPr lang="en-US" sz="800" dirty="0">
              <a:solidFill>
                <a:schemeClr val="tx1"/>
              </a:solidFill>
              <a:latin typeface="Arial" panose="020B0604020202020204" pitchFamily="34" charset="0"/>
              <a:cs typeface="Arial" panose="020B0604020202020204" pitchFamily="34" charset="0"/>
            </a:endParaRPr>
          </a:p>
        </p:txBody>
      </p:sp>
      <p:sp>
        <p:nvSpPr>
          <p:cNvPr id="42" name="Text Box 44">
            <a:extLst>
              <a:ext uri="{FF2B5EF4-FFF2-40B4-BE49-F238E27FC236}">
                <a16:creationId xmlns:a16="http://schemas.microsoft.com/office/drawing/2014/main" id="{742DE467-4541-4411-A18E-7A2EB3246BE3}"/>
              </a:ext>
            </a:extLst>
          </p:cNvPr>
          <p:cNvSpPr txBox="1"/>
          <p:nvPr/>
        </p:nvSpPr>
        <p:spPr>
          <a:xfrm>
            <a:off x="0" y="5404311"/>
            <a:ext cx="6270063" cy="144758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Major Steps (next 2 weeks): Milestones/Key Deliverables with Dates</a:t>
            </a:r>
            <a:endParaRPr lang="en-US" sz="10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ILO Connection at Melville and Hicksville for remote server access (Brianna)				03/16/2026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BGP Corporate team approval and complete remote router configuration				03/20/2026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Northport DC fuse/relay issue resolution by Hawkeye and relay tech				03/20/2026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Nokia NSP remote access setup upon ILO and BGP completion				03/27/2026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Phase 2 IFR to IFC conversions – next batch submission to Burns &amp; McDonnell				03/27/2026</a:t>
            </a:r>
          </a:p>
        </p:txBody>
      </p:sp>
      <p:sp>
        <p:nvSpPr>
          <p:cNvPr id="43" name="Text Box 48">
            <a:extLst>
              <a:ext uri="{FF2B5EF4-FFF2-40B4-BE49-F238E27FC236}">
                <a16:creationId xmlns:a16="http://schemas.microsoft.com/office/drawing/2014/main" id="{F58AB777-D75A-4987-A0B9-DC4DA02EF15F}"/>
              </a:ext>
            </a:extLst>
          </p:cNvPr>
          <p:cNvSpPr txBox="1"/>
          <p:nvPr/>
        </p:nvSpPr>
        <p:spPr>
          <a:xfrm>
            <a:off x="6258911" y="5397961"/>
            <a:ext cx="5921937" cy="69804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Risk Management- Top 3 (in descending order of possible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Vendor installation delays – inclement weather</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Legacy JMUX equipment old and need to be very careful when doing cutovers. </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Other projects and work being done at the substation simultaneously </a:t>
            </a:r>
          </a:p>
          <a:p>
            <a:pPr marL="171450" indent="-171450">
              <a:buFont typeface="Arial" panose="020B0604020202020204" pitchFamily="34" charset="0"/>
              <a:buChar char="•"/>
              <a:tabLst>
                <a:tab pos="4857750" algn="r"/>
              </a:tabLst>
            </a:pPr>
            <a:endParaRPr lang="en-US" sz="800" dirty="0">
              <a:latin typeface="Arial" panose="020B0604020202020204" pitchFamily="34" charset="0"/>
              <a:cs typeface="Arial" panose="020B0604020202020204" pitchFamily="34" charset="0"/>
            </a:endParaRPr>
          </a:p>
        </p:txBody>
      </p:sp>
      <p:sp>
        <p:nvSpPr>
          <p:cNvPr id="44" name="Text Box 47">
            <a:extLst>
              <a:ext uri="{FF2B5EF4-FFF2-40B4-BE49-F238E27FC236}">
                <a16:creationId xmlns:a16="http://schemas.microsoft.com/office/drawing/2014/main" id="{BBA6DA4A-2903-4034-B47F-A4721929DA70}"/>
              </a:ext>
            </a:extLst>
          </p:cNvPr>
          <p:cNvSpPr txBox="1"/>
          <p:nvPr/>
        </p:nvSpPr>
        <p:spPr>
          <a:xfrm>
            <a:off x="6258912" y="6096000"/>
            <a:ext cx="5921936" cy="755897"/>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Issue Management- Top 3 (in descending order of actual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Accelerating phase 2 site surveys by getting them completed in Phase 1. </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Working closely with vendors and tracking installation.</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Equipment procurement and delays in SCM.</a:t>
            </a:r>
            <a:endParaRPr lang="en-US" sz="1000" dirty="0">
              <a:latin typeface="Arial" panose="020B0604020202020204" pitchFamily="34" charset="0"/>
              <a:ea typeface="Times New Roman" panose="02020603050405020304" pitchFamily="18" charset="0"/>
            </a:endParaRPr>
          </a:p>
          <a:p>
            <a:pPr marL="342900" indent="-342900">
              <a:buFont typeface="Symbol" panose="05050102010706020507" pitchFamily="18" charset="2"/>
              <a:buChar char=""/>
              <a:tabLst>
                <a:tab pos="4857750" algn="r"/>
              </a:tabLst>
            </a:pP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5" name="Text Box 45">
            <a:extLst>
              <a:ext uri="{FF2B5EF4-FFF2-40B4-BE49-F238E27FC236}">
                <a16:creationId xmlns:a16="http://schemas.microsoft.com/office/drawing/2014/main" id="{A15D1C75-5401-4D07-A51A-9CE2CDD522CF}"/>
              </a:ext>
            </a:extLst>
          </p:cNvPr>
          <p:cNvSpPr txBox="1"/>
          <p:nvPr/>
        </p:nvSpPr>
        <p:spPr>
          <a:xfrm>
            <a:off x="6254881" y="4406680"/>
            <a:ext cx="5921939" cy="99763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Scope/Change Management (most recent approved)</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Adding 7 additional nodes to the original 25 Phase 1 nodes. The additional 7 nodes completes both ring 1 and ring 2 in this Phase 1 effort.</a:t>
            </a:r>
          </a:p>
          <a:p>
            <a:pPr marL="171450" indent="-171450">
              <a:buFont typeface="Arial" panose="020B0604020202020204" pitchFamily="34" charset="0"/>
              <a:buChar char="•"/>
              <a:tabLst>
                <a:tab pos="4402138" algn="r"/>
                <a:tab pos="4857750" algn="r"/>
              </a:tabLst>
            </a:pPr>
            <a:endParaRPr lang="en-US" sz="800" dirty="0">
              <a:solidFill>
                <a:schemeClr val="tx1"/>
              </a:solidFill>
              <a:latin typeface="Arial" panose="020B0604020202020204" pitchFamily="34" charset="0"/>
              <a:cs typeface="Arial" panose="020B0604020202020204" pitchFamily="34" charset="0"/>
            </a:endParaRPr>
          </a:p>
          <a:p>
            <a:pPr>
              <a:tabLst>
                <a:tab pos="4402138" algn="r"/>
                <a:tab pos="4857750" algn="r"/>
              </a:tabLst>
            </a:pPr>
            <a:r>
              <a:rPr lang="en-US" sz="1000" dirty="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6" name="Right Arrow 24">
            <a:extLst>
              <a:ext uri="{FF2B5EF4-FFF2-40B4-BE49-F238E27FC236}">
                <a16:creationId xmlns:a16="http://schemas.microsoft.com/office/drawing/2014/main" id="{2088CA12-63D4-4C65-8EA3-5E585AFD96E5}"/>
              </a:ext>
            </a:extLst>
          </p:cNvPr>
          <p:cNvSpPr/>
          <p:nvPr/>
        </p:nvSpPr>
        <p:spPr>
          <a:xfrm>
            <a:off x="5677629" y="289560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Right Arrow 25">
            <a:extLst>
              <a:ext uri="{FF2B5EF4-FFF2-40B4-BE49-F238E27FC236}">
                <a16:creationId xmlns:a16="http://schemas.microsoft.com/office/drawing/2014/main" id="{99A0F9B8-3D51-4C3A-91A7-906152F6A2DC}"/>
              </a:ext>
            </a:extLst>
          </p:cNvPr>
          <p:cNvSpPr/>
          <p:nvPr/>
        </p:nvSpPr>
        <p:spPr>
          <a:xfrm>
            <a:off x="5677629" y="3272135"/>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8" name="Right Arrow 26">
            <a:extLst>
              <a:ext uri="{FF2B5EF4-FFF2-40B4-BE49-F238E27FC236}">
                <a16:creationId xmlns:a16="http://schemas.microsoft.com/office/drawing/2014/main" id="{ADFEBA27-D38F-49AE-B09C-A461C0E1C624}"/>
              </a:ext>
            </a:extLst>
          </p:cNvPr>
          <p:cNvSpPr/>
          <p:nvPr/>
        </p:nvSpPr>
        <p:spPr>
          <a:xfrm>
            <a:off x="5667923" y="3655064"/>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9" name="Right Arrow 27">
            <a:extLst>
              <a:ext uri="{FF2B5EF4-FFF2-40B4-BE49-F238E27FC236}">
                <a16:creationId xmlns:a16="http://schemas.microsoft.com/office/drawing/2014/main" id="{17243CF0-21F8-40EB-A66E-731F988B439A}"/>
              </a:ext>
            </a:extLst>
          </p:cNvPr>
          <p:cNvSpPr/>
          <p:nvPr/>
        </p:nvSpPr>
        <p:spPr>
          <a:xfrm rot="16200000">
            <a:off x="5667922" y="4012551"/>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0" name="Text Box 6">
            <a:extLst>
              <a:ext uri="{FF2B5EF4-FFF2-40B4-BE49-F238E27FC236}">
                <a16:creationId xmlns:a16="http://schemas.microsoft.com/office/drawing/2014/main" id="{CA880BDC-D1B0-437D-9414-965F284C1198}"/>
              </a:ext>
            </a:extLst>
          </p:cNvPr>
          <p:cNvSpPr txBox="1"/>
          <p:nvPr/>
        </p:nvSpPr>
        <p:spPr>
          <a:xfrm>
            <a:off x="9249937" y="-1302"/>
            <a:ext cx="2935564" cy="39264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US" sz="1000" b="1" dirty="0">
                <a:latin typeface="Arial" panose="020B0604020202020204" pitchFamily="34" charset="0"/>
                <a:ea typeface="Times New Roman" panose="02020603050405020304" pitchFamily="18" charset="0"/>
              </a:rPr>
              <a:t>PRJ (ServiceNow</a:t>
            </a:r>
            <a:r>
              <a:rPr lang="en-US" sz="900" dirty="0">
                <a:latin typeface="Arial" panose="020B0604020202020204" pitchFamily="34" charset="0"/>
                <a:ea typeface="Times New Roman" panose="02020603050405020304" pitchFamily="18" charset="0"/>
              </a:rPr>
              <a:t>)</a:t>
            </a:r>
            <a:r>
              <a:rPr lang="en-US" sz="1000" b="1" dirty="0">
                <a:latin typeface="Arial" panose="020B0604020202020204" pitchFamily="34" charset="0"/>
                <a:ea typeface="Times New Roman" panose="02020603050405020304" pitchFamily="18" charset="0"/>
              </a:rPr>
              <a:t>:  PRJ13797</a:t>
            </a:r>
          </a:p>
          <a:p>
            <a:pPr>
              <a:tabLst>
                <a:tab pos="1261872" algn="l"/>
              </a:tabLst>
            </a:pPr>
            <a:r>
              <a:rPr lang="en-US" sz="1000" b="1" dirty="0">
                <a:latin typeface="Arial" panose="020B0604020202020204" pitchFamily="34" charset="0"/>
                <a:ea typeface="Times New Roman" panose="02020603050405020304" pitchFamily="18" charset="0"/>
              </a:rPr>
              <a:t>Repository Link   : </a:t>
            </a:r>
            <a:r>
              <a:rPr lang="en-US" sz="1000" dirty="0">
                <a:hlinkClick r:id="rId2"/>
              </a:rPr>
              <a:t>JMUX Repository</a:t>
            </a:r>
            <a:endParaRPr lang="en-US" sz="1000" dirty="0">
              <a:latin typeface="Arial" panose="020B0604020202020204" pitchFamily="34" charset="0"/>
              <a:ea typeface="Times New Roman" panose="02020603050405020304" pitchFamily="18" charset="0"/>
            </a:endParaRPr>
          </a:p>
        </p:txBody>
      </p:sp>
      <p:sp>
        <p:nvSpPr>
          <p:cNvPr id="51" name="Text Box 51">
            <a:extLst>
              <a:ext uri="{FF2B5EF4-FFF2-40B4-BE49-F238E27FC236}">
                <a16:creationId xmlns:a16="http://schemas.microsoft.com/office/drawing/2014/main" id="{B497CBAA-FEFB-4E96-B9AE-23EABC83D589}"/>
              </a:ext>
            </a:extLst>
          </p:cNvPr>
          <p:cNvSpPr txBox="1"/>
          <p:nvPr/>
        </p:nvSpPr>
        <p:spPr>
          <a:xfrm>
            <a:off x="0" y="807860"/>
            <a:ext cx="3971461" cy="2086938"/>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Lifecycle Phase</a:t>
            </a:r>
            <a:r>
              <a:rPr lang="en-GB" sz="1000" b="1" dirty="0">
                <a:solidFill>
                  <a:schemeClr val="tx1"/>
                </a:solidFill>
                <a:latin typeface="Arial" panose="020B0604020202020204" pitchFamily="34" charset="0"/>
                <a:ea typeface="Times New Roman" panose="02020603050405020304" pitchFamily="18" charset="0"/>
              </a:rPr>
              <a:t>: </a:t>
            </a:r>
          </a:p>
          <a:p>
            <a:pPr>
              <a:spcAft>
                <a:spcPts val="300"/>
              </a:spcAft>
              <a:tabLst>
                <a:tab pos="2057400" algn="r"/>
              </a:tabLst>
            </a:pPr>
            <a:r>
              <a:rPr lang="en-GB" sz="800" dirty="0">
                <a:solidFill>
                  <a:schemeClr val="tx1"/>
                </a:solidFill>
                <a:latin typeface="Arial" panose="020B0604020202020204" pitchFamily="34" charset="0"/>
                <a:ea typeface="Times New Roman" panose="02020603050405020304" pitchFamily="18" charset="0"/>
              </a:rPr>
              <a:t>Execution</a:t>
            </a:r>
            <a:endParaRPr lang="en-GB" sz="800" dirty="0">
              <a:solidFill>
                <a:schemeClr val="tx1"/>
              </a:solidFill>
              <a:latin typeface="Arial" panose="020B0604020202020204" pitchFamily="34" charset="0"/>
            </a:endParaRPr>
          </a:p>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Current Period (past 2 weeks) Status Narrative:</a:t>
            </a:r>
            <a:endParaRPr lang="en-US" sz="1000" b="1" u="sng" dirty="0">
              <a:solidFill>
                <a:schemeClr val="tx1"/>
              </a:solidFill>
              <a:latin typeface="Arial" panose="020B0604020202020204" pitchFamily="34" charset="0"/>
              <a:ea typeface="Times New Roman" panose="02020603050405020304" pitchFamily="18" charset="0"/>
            </a:endParaRP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CAT6 cable run completed at Hicksville on 03/04.</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OTDR bad filter replaced; wavelength tested – confirmed green link light at Hicksville-Syosset on 03/13.</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Fiber termination to the NSP completed by Hawkeye on 03/13.</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BGP design for corporate connectivity completed by Lee Blackman on 03/10; awaiting Corporate approval.</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First batch of 3 IFRs converted to IFC and uploaded to shared drive on 03/09.</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New batch of IFRs received from Burns &amp; McDonnell on 03/13.</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Hawkeye engaged relay tech to resolve DC fuse tripping issue at Northport – in progress.</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IFR received for 6S Kings Hwy on 03/13.</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IFR received for 7BH Bohemia on 03/13.</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Remediation (For Non-Green Statuses)</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Schedule (Yellow): 3-week delay. Recovery: BGP Corporate approval + remote router configuration to restore Green.</a:t>
            </a:r>
          </a:p>
        </p:txBody>
      </p:sp>
      <p:sp>
        <p:nvSpPr>
          <p:cNvPr id="52" name="Text Box 7">
            <a:extLst>
              <a:ext uri="{FF2B5EF4-FFF2-40B4-BE49-F238E27FC236}">
                <a16:creationId xmlns:a16="http://schemas.microsoft.com/office/drawing/2014/main" id="{50A5D7AB-3185-409B-9CFD-A028BA5B0763}"/>
              </a:ext>
            </a:extLst>
          </p:cNvPr>
          <p:cNvSpPr txBox="1"/>
          <p:nvPr/>
        </p:nvSpPr>
        <p:spPr>
          <a:xfrm>
            <a:off x="6270720" y="812878"/>
            <a:ext cx="5921280" cy="892351"/>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900" b="1" u="sng" dirty="0">
                <a:latin typeface="Arial" panose="020B0604020202020204" pitchFamily="34" charset="0"/>
                <a:ea typeface="Times New Roman" panose="02020603050405020304" pitchFamily="18" charset="0"/>
              </a:rPr>
              <a:t>Project Description</a:t>
            </a:r>
            <a:endParaRPr lang="en-US" sz="900" dirty="0">
              <a:latin typeface="Arial" panose="020B0604020202020204" pitchFamily="34" charset="0"/>
              <a:ea typeface="Times New Roman" panose="02020603050405020304" pitchFamily="18" charset="0"/>
            </a:endParaRPr>
          </a:p>
          <a:p>
            <a:r>
              <a:rPr lang="en-US" sz="800" i="1" dirty="0">
                <a:solidFill>
                  <a:schemeClr val="tx1"/>
                </a:solidFill>
                <a:latin typeface="Arial" panose="020B0604020202020204" pitchFamily="34" charset="0"/>
                <a:cs typeface="Arial" panose="020B0604020202020204" pitchFamily="34" charset="0"/>
              </a:rPr>
              <a:t>The Systems Integrator will create, facilitate, and execute the process for generating an RFP to select an ‘Equipment Vendor’ to replace the existing Private Network vendor – GE Jungle MUX. In parallel, the Systems Integrator will conduct ‘high-level’ design activities for the MPLS Private Network, including site surveys at 88 COMPANY substations to assess specific structural and infrastructure modifications required for the new equipment.</a:t>
            </a:r>
          </a:p>
        </p:txBody>
      </p:sp>
      <p:sp>
        <p:nvSpPr>
          <p:cNvPr id="53" name="Right Arrow 31">
            <a:extLst>
              <a:ext uri="{FF2B5EF4-FFF2-40B4-BE49-F238E27FC236}">
                <a16:creationId xmlns:a16="http://schemas.microsoft.com/office/drawing/2014/main" id="{61241709-E113-4D6C-BED2-F4AE13EC92F0}"/>
              </a:ext>
            </a:extLst>
          </p:cNvPr>
          <p:cNvSpPr/>
          <p:nvPr/>
        </p:nvSpPr>
        <p:spPr>
          <a:xfrm rot="16200000">
            <a:off x="5783087" y="105506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32">
            <a:extLst>
              <a:ext uri="{FF2B5EF4-FFF2-40B4-BE49-F238E27FC236}">
                <a16:creationId xmlns:a16="http://schemas.microsoft.com/office/drawing/2014/main" id="{EF284793-0805-4741-B700-69540AFAF81F}"/>
              </a:ext>
            </a:extLst>
          </p:cNvPr>
          <p:cNvSpPr/>
          <p:nvPr/>
        </p:nvSpPr>
        <p:spPr>
          <a:xfrm>
            <a:off x="5783087" y="1442431"/>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ight Arrow 33">
            <a:extLst>
              <a:ext uri="{FF2B5EF4-FFF2-40B4-BE49-F238E27FC236}">
                <a16:creationId xmlns:a16="http://schemas.microsoft.com/office/drawing/2014/main" id="{7F53E16B-81D2-402C-AC8B-0F8C350C64E7}"/>
              </a:ext>
            </a:extLst>
          </p:cNvPr>
          <p:cNvSpPr/>
          <p:nvPr/>
        </p:nvSpPr>
        <p:spPr>
          <a:xfrm rot="5400000">
            <a:off x="5783087" y="1824899"/>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ight Arrow 34">
            <a:extLst>
              <a:ext uri="{FF2B5EF4-FFF2-40B4-BE49-F238E27FC236}">
                <a16:creationId xmlns:a16="http://schemas.microsoft.com/office/drawing/2014/main" id="{46E48AAE-A8FE-4897-BAA4-3660A5660953}"/>
              </a:ext>
            </a:extLst>
          </p:cNvPr>
          <p:cNvSpPr/>
          <p:nvPr/>
        </p:nvSpPr>
        <p:spPr>
          <a:xfrm>
            <a:off x="5783087" y="2194654"/>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Arrow 35">
            <a:extLst>
              <a:ext uri="{FF2B5EF4-FFF2-40B4-BE49-F238E27FC236}">
                <a16:creationId xmlns:a16="http://schemas.microsoft.com/office/drawing/2014/main" id="{F8AC5779-D0B0-40F6-8295-DAE648BA2579}"/>
              </a:ext>
            </a:extLst>
          </p:cNvPr>
          <p:cNvSpPr/>
          <p:nvPr/>
        </p:nvSpPr>
        <p:spPr>
          <a:xfrm>
            <a:off x="5783087" y="2586488"/>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0" name="Table 59">
            <a:extLst>
              <a:ext uri="{FF2B5EF4-FFF2-40B4-BE49-F238E27FC236}">
                <a16:creationId xmlns:a16="http://schemas.microsoft.com/office/drawing/2014/main" id="{2DFF6007-A3FB-4869-99A4-2DF9E8D268F3}"/>
              </a:ext>
            </a:extLst>
          </p:cNvPr>
          <p:cNvGraphicFramePr>
            <a:graphicFrameLocks noGrp="1"/>
          </p:cNvGraphicFramePr>
          <p:nvPr/>
        </p:nvGraphicFramePr>
        <p:xfrm>
          <a:off x="6264484" y="3303048"/>
          <a:ext cx="5921940" cy="1132063"/>
        </p:xfrm>
        <a:graphic>
          <a:graphicData uri="http://schemas.openxmlformats.org/drawingml/2006/table">
            <a:tbl>
              <a:tblPr firstRow="1" bandRow="1">
                <a:tableStyleId>{5C22544A-7EE6-4342-B048-85BDC9FD1C3A}</a:tableStyleId>
              </a:tblPr>
              <a:tblGrid>
                <a:gridCol w="1885640">
                  <a:extLst>
                    <a:ext uri="{9D8B030D-6E8A-4147-A177-3AD203B41FA5}">
                      <a16:colId xmlns:a16="http://schemas.microsoft.com/office/drawing/2014/main" val="20000"/>
                    </a:ext>
                  </a:extLst>
                </a:gridCol>
                <a:gridCol w="3056738">
                  <a:extLst>
                    <a:ext uri="{9D8B030D-6E8A-4147-A177-3AD203B41FA5}">
                      <a16:colId xmlns:a16="http://schemas.microsoft.com/office/drawing/2014/main" val="20001"/>
                    </a:ext>
                  </a:extLst>
                </a:gridCol>
                <a:gridCol w="979562">
                  <a:extLst>
                    <a:ext uri="{9D8B030D-6E8A-4147-A177-3AD203B41FA5}">
                      <a16:colId xmlns:a16="http://schemas.microsoft.com/office/drawing/2014/main" val="20002"/>
                    </a:ext>
                  </a:extLst>
                </a:gridCol>
              </a:tblGrid>
              <a:tr h="278623">
                <a:tc gridSpan="3">
                  <a:txBody>
                    <a:bodyPr/>
                    <a:lstStyle/>
                    <a:p>
                      <a:pPr algn="ctr"/>
                      <a:r>
                        <a:rPr lang="en-US" sz="1000" b="1" u="sng" dirty="0">
                          <a:solidFill>
                            <a:schemeClr val="tx1"/>
                          </a:solidFill>
                        </a:rPr>
                        <a:t>Dependency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3">
                        <a:lumMod val="20000"/>
                        <a:lumOff val="8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170925">
                <a:tc>
                  <a:txBody>
                    <a:bodyPr/>
                    <a:lstStyle/>
                    <a:p>
                      <a:pPr algn="ctr"/>
                      <a:r>
                        <a:rPr lang="en-US" sz="800" b="1" dirty="0"/>
                        <a:t>Project</a:t>
                      </a:r>
                    </a:p>
                  </a:txBody>
                  <a:tcPr>
                    <a:lnL w="12700" cap="flat" cmpd="sng" algn="ctr">
                      <a:solidFill>
                        <a:schemeClr val="tx1"/>
                      </a:solidFill>
                      <a:prstDash val="solid"/>
                      <a:round/>
                      <a:headEnd type="none" w="med" len="med"/>
                      <a:tailEnd type="none" w="med" len="med"/>
                    </a:lnL>
                    <a:solidFill>
                      <a:schemeClr val="accent3">
                        <a:lumMod val="60000"/>
                        <a:lumOff val="40000"/>
                      </a:schemeClr>
                    </a:solidFill>
                  </a:tcPr>
                </a:tc>
                <a:tc>
                  <a:txBody>
                    <a:bodyPr/>
                    <a:lstStyle/>
                    <a:p>
                      <a:pPr algn="ctr"/>
                      <a:r>
                        <a:rPr lang="en-US" sz="800" b="1" dirty="0"/>
                        <a:t>Deliverable</a:t>
                      </a:r>
                    </a:p>
                  </a:txBody>
                  <a:tcPr>
                    <a:solidFill>
                      <a:schemeClr val="accent3">
                        <a:lumMod val="60000"/>
                        <a:lumOff val="40000"/>
                      </a:schemeClr>
                    </a:solidFill>
                  </a:tcPr>
                </a:tc>
                <a:tc>
                  <a:txBody>
                    <a:bodyPr/>
                    <a:lstStyle/>
                    <a:p>
                      <a:pPr algn="ctr"/>
                      <a:r>
                        <a:rPr lang="en-US" sz="800" b="1" dirty="0"/>
                        <a:t>Date</a:t>
                      </a:r>
                    </a:p>
                  </a:txBody>
                  <a:tcPr>
                    <a:lnR w="12700" cap="flat" cmpd="sng" algn="ctr">
                      <a:solidFill>
                        <a:schemeClr val="tx1"/>
                      </a:solidFill>
                      <a:prstDash val="solid"/>
                      <a:round/>
                      <a:headEnd type="none" w="med" len="med"/>
                      <a:tailEnd type="none" w="med" len="med"/>
                    </a:lnR>
                    <a:solidFill>
                      <a:schemeClr val="accent3">
                        <a:lumMod val="60000"/>
                        <a:lumOff val="40000"/>
                      </a:schemeClr>
                    </a:solidFill>
                  </a:tcPr>
                </a:tc>
                <a:extLst>
                  <a:ext uri="{0D108BD9-81ED-4DB2-BD59-A6C34878D82A}">
                    <a16:rowId xmlns:a16="http://schemas.microsoft.com/office/drawing/2014/main" val="10001"/>
                  </a:ext>
                </a:extLst>
              </a:tr>
              <a:tr h="170925">
                <a:tc>
                  <a:txBody>
                    <a:bodyPr/>
                    <a:lstStyle/>
                    <a:p>
                      <a:r>
                        <a:rPr lang="en-US" sz="800" dirty="0">
                          <a:latin typeface="Arial" panose="020B0604020202020204" pitchFamily="34" charset="0"/>
                          <a:cs typeface="Arial" panose="020B0604020202020204" pitchFamily="34" charset="0"/>
                        </a:rPr>
                        <a:t>NA</a:t>
                      </a: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2"/>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3"/>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421505031"/>
                  </a:ext>
                </a:extLst>
              </a:tr>
            </a:tbl>
          </a:graphicData>
        </a:graphic>
      </p:graphicFrame>
      <p:sp>
        <p:nvSpPr>
          <p:cNvPr id="30" name="Text Box 6">
            <a:extLst>
              <a:ext uri="{FF2B5EF4-FFF2-40B4-BE49-F238E27FC236}">
                <a16:creationId xmlns:a16="http://schemas.microsoft.com/office/drawing/2014/main" id="{01308F76-0B61-47B3-9C87-8083E00E34E4}"/>
              </a:ext>
            </a:extLst>
          </p:cNvPr>
          <p:cNvSpPr txBox="1"/>
          <p:nvPr/>
        </p:nvSpPr>
        <p:spPr>
          <a:xfrm>
            <a:off x="9249794" y="596549"/>
            <a:ext cx="2935083" cy="211048"/>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800" b="1" u="sng" dirty="0">
                <a:solidFill>
                  <a:schemeClr val="tx1"/>
                </a:solidFill>
                <a:latin typeface="Arial" panose="020B0604020202020204" pitchFamily="34" charset="0"/>
                <a:ea typeface="Times New Roman" panose="02020603050405020304" pitchFamily="18" charset="0"/>
              </a:rPr>
              <a:t>Overall Health</a:t>
            </a:r>
            <a:r>
              <a:rPr lang="en-GB" sz="800" b="1" dirty="0">
                <a:solidFill>
                  <a:schemeClr val="tx1"/>
                </a:solidFill>
                <a:latin typeface="Arial" panose="020B0604020202020204" pitchFamily="34" charset="0"/>
                <a:ea typeface="Times New Roman" panose="02020603050405020304" pitchFamily="18" charset="0"/>
              </a:rPr>
              <a:t>    This Period   	Last Period</a:t>
            </a:r>
            <a:endParaRPr lang="en-US" sz="800" dirty="0">
              <a:solidFill>
                <a:schemeClr val="tx1"/>
              </a:solidFill>
              <a:latin typeface="Arial" panose="020B0604020202020204" pitchFamily="34" charset="0"/>
              <a:ea typeface="Times New Roman" panose="02020603050405020304" pitchFamily="18" charset="0"/>
            </a:endParaRPr>
          </a:p>
        </p:txBody>
      </p:sp>
      <p:sp>
        <p:nvSpPr>
          <p:cNvPr id="32" name="Rectangle 31"/>
          <p:cNvSpPr/>
          <p:nvPr/>
        </p:nvSpPr>
        <p:spPr>
          <a:xfrm>
            <a:off x="10756163" y="657235"/>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11768197" y="657912"/>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Box 6">
            <a:extLst>
              <a:ext uri="{FF2B5EF4-FFF2-40B4-BE49-F238E27FC236}">
                <a16:creationId xmlns:a16="http://schemas.microsoft.com/office/drawing/2014/main" id="{01308F76-0B61-47B3-9C87-8083E00E34E4}"/>
              </a:ext>
            </a:extLst>
          </p:cNvPr>
          <p:cNvSpPr txBox="1"/>
          <p:nvPr/>
        </p:nvSpPr>
        <p:spPr>
          <a:xfrm>
            <a:off x="9251648" y="390567"/>
            <a:ext cx="2935083" cy="20789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endParaRPr lang="en-US" sz="800" dirty="0">
              <a:solidFill>
                <a:schemeClr val="tx1"/>
              </a:solidFill>
              <a:latin typeface="Arial" panose="020B0604020202020204" pitchFamily="34" charset="0"/>
              <a:ea typeface="Times New Roman" panose="02020603050405020304" pitchFamily="18" charset="0"/>
            </a:endParaRPr>
          </a:p>
        </p:txBody>
      </p:sp>
      <p:sp>
        <p:nvSpPr>
          <p:cNvPr id="2" name="TextBox 1"/>
          <p:cNvSpPr txBox="1"/>
          <p:nvPr/>
        </p:nvSpPr>
        <p:spPr>
          <a:xfrm>
            <a:off x="11482827" y="6642556"/>
            <a:ext cx="714749" cy="184666"/>
          </a:xfrm>
          <a:prstGeom prst="rect">
            <a:avLst/>
          </a:prstGeom>
          <a:noFill/>
        </p:spPr>
        <p:txBody>
          <a:bodyPr wrap="square" rtlCol="0">
            <a:spAutoFit/>
          </a:bodyPr>
          <a:lstStyle/>
          <a:p>
            <a:r>
              <a:rPr lang="en-US" sz="600" dirty="0"/>
              <a:t>Version 3.0</a:t>
            </a:r>
          </a:p>
        </p:txBody>
      </p:sp>
    </p:spTree>
    <p:extLst>
      <p:ext uri="{BB962C8B-B14F-4D97-AF65-F5344CB8AC3E}">
        <p14:creationId xmlns:p14="http://schemas.microsoft.com/office/powerpoint/2010/main" val="2138560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737</Words>
  <Application>Microsoft Office PowerPoint</Application>
  <PresentationFormat>Widescreen</PresentationFormat>
  <Paragraphs>86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Symbol</vt:lpstr>
      <vt:lpstr>Times New Roman</vt:lpstr>
      <vt:lpstr>Office Theme</vt:lpstr>
      <vt:lpstr>JMUX Replacement</vt:lpstr>
    </vt:vector>
  </TitlesOfParts>
  <Company>PSEG Long Island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GUNARATNE, DHANANJAYA</dc:creator>
  <cp:lastModifiedBy>GUNARATNE, DHANANJAYA</cp:lastModifiedBy>
  <cp:revision>1</cp:revision>
  <dcterms:created xsi:type="dcterms:W3CDTF">2026-03-12T12:07:13Z</dcterms:created>
  <dcterms:modified xsi:type="dcterms:W3CDTF">2026-03-12T12:08:11Z</dcterms:modified>
</cp:coreProperties>
</file>