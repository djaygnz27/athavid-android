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5"/>
  </p:notesMasterIdLst>
  <p:sldIdLst>
    <p:sldId id="454" r:id="rId5"/>
    <p:sldId id="465" r:id="rId6"/>
    <p:sldId id="2147477449" r:id="rId7"/>
    <p:sldId id="2147477446" r:id="rId8"/>
    <p:sldId id="2147477433" r:id="rId9"/>
    <p:sldId id="2147477434" r:id="rId10"/>
    <p:sldId id="2147477435" r:id="rId11"/>
    <p:sldId id="260" r:id="rId12"/>
    <p:sldId id="2147477441" r:id="rId13"/>
    <p:sldId id="21474774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9"/>
            <p14:sldId id="2147477446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3" autoAdjust="0"/>
    <p:restoredTop sz="93690" autoAdjust="0"/>
  </p:normalViewPr>
  <p:slideViewPr>
    <p:cSldViewPr snapToGrid="0">
      <p:cViewPr>
        <p:scale>
          <a:sx n="75" d="100"/>
          <a:sy n="75" d="100"/>
        </p:scale>
        <p:origin x="36" y="-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substations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 creation, MPLS Equipment order, Power and ancillary equipment(Patch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the equipment as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64354-4154-7ECF-8266-EAEA262B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389468"/>
            <a:ext cx="9964205" cy="588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15F65-C156-24D2-6BF0-3F2944D8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93183"/>
            <a:ext cx="12192000" cy="6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64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60061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318956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SPI = 0.80 (Yellow).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</a:t>
            </a:r>
            <a:r>
              <a:rPr lang="en-US" sz="1200" dirty="0" err="1"/>
              <a:t>iLO</a:t>
            </a:r>
            <a:r>
              <a:rPr lang="en-US" sz="1200" dirty="0"/>
              <a:t> port configuration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BGP Configuration at Hicksville and Melville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Remote access routers and complete configuration as per SSP doc. </a:t>
            </a:r>
            <a:r>
              <a:rPr lang="en-US" sz="1200" b="0" i="0" dirty="0"/>
              <a:t>
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0.80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799249" flipH="1" flipV="1">
            <a:off x="2807705" y="2395340"/>
            <a:ext cx="57947" cy="107573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66339"/>
              </p:ext>
            </p:extLst>
          </p:nvPr>
        </p:nvGraphicFramePr>
        <p:xfrm>
          <a:off x="0" y="3904239"/>
          <a:ext cx="12191695" cy="27839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corporate connectivity interfaces turned up at Melville and Hicksville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2/26/2026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Layer 3 (BGP) network design and configurations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3/9/2026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
(OTDR complete ✅)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4/13/2026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(NSP fiber term)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
(complete ✅)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Configuring Nokia NSP to access remotely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4/18/2026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with B&amp;M and PSEG tech to access equipment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 Test circuit  to test </a:t>
                      </a:r>
                      <a:r>
                        <a:rPr lang="en-US" sz="8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RTU communication with the EMS at Hicksville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 a test RTU so we can verify RTU migration on test circuit before touching Production circuit.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4/13/2026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Remote access using GUI and build out Phase 1 nodes into GUI interface.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9 IFCs sent to Hawkeye to start site surveys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4/20/2026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Hawkey will complete site survey and make a list of what will be required for installation for each site. 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363038"/>
              </p:ext>
            </p:extLst>
          </p:nvPr>
        </p:nvGraphicFramePr>
        <p:xfrm>
          <a:off x="509288" y="2222524"/>
          <a:ext cx="9050866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2222524"/>
                        <a:ext cx="9050866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E9A7CBB-DBCA-0BB9-5D70-44E25DDFA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695740"/>
              </p:ext>
            </p:extLst>
          </p:nvPr>
        </p:nvGraphicFramePr>
        <p:xfrm>
          <a:off x="509288" y="538223"/>
          <a:ext cx="9050866" cy="1583911"/>
        </p:xfrm>
        <a:graphic>
          <a:graphicData uri="http://schemas.openxmlformats.org/drawingml/2006/table">
            <a:tbl>
              <a:tblPr firstRow="1" firstCol="1" bandRow="1"/>
              <a:tblGrid>
                <a:gridCol w="1779040">
                  <a:extLst>
                    <a:ext uri="{9D8B030D-6E8A-4147-A177-3AD203B41FA5}">
                      <a16:colId xmlns:a16="http://schemas.microsoft.com/office/drawing/2014/main" val="3836632793"/>
                    </a:ext>
                  </a:extLst>
                </a:gridCol>
                <a:gridCol w="1400994">
                  <a:extLst>
                    <a:ext uri="{9D8B030D-6E8A-4147-A177-3AD203B41FA5}">
                      <a16:colId xmlns:a16="http://schemas.microsoft.com/office/drawing/2014/main" val="3171916749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593578605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3917198631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2708731188"/>
                    </a:ext>
                  </a:extLst>
                </a:gridCol>
                <a:gridCol w="1067424">
                  <a:extLst>
                    <a:ext uri="{9D8B030D-6E8A-4147-A177-3AD203B41FA5}">
                      <a16:colId xmlns:a16="http://schemas.microsoft.com/office/drawing/2014/main" val="3598552592"/>
                    </a:ext>
                  </a:extLst>
                </a:gridCol>
              </a:tblGrid>
              <a:tr h="4044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Category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2024 Actuals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2025 Actuals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2026 Actuals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Program 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% of Program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853374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Internal Labor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$29,357.90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$181,290.67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$28,272.39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$238,920.96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~4%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254347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Materials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$601,379.80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$371,819.58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$46,040.04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$1,019,239.42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~18%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849723"/>
                  </a:ext>
                </a:extLst>
              </a:tr>
              <a:tr h="3049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Outside Services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$103,408.84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$2,482,742.20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$1,698,535.37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$4,284,686.41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~76%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11271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Assessments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$7,059.70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$94,267.21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$16,970.35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$118,297.26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~2%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82539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$741,206.24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$3,130,319.66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$1,789,818.15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$5,661,344.05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125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 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Potential Schedule delays due to 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Next Steps</a:t>
            </a:r>
          </a:p>
          <a:p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147118</TotalTime>
  <Words>1403</Words>
  <Application>Microsoft Office PowerPoint</Application>
  <PresentationFormat>Widescreen</PresentationFormat>
  <Paragraphs>485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927</cp:revision>
  <dcterms:modified xsi:type="dcterms:W3CDTF">2026-04-23T15:13:57Z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