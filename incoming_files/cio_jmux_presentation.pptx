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645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JMUX Replacement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7941D"/>
                </a:solidFill>
              </a:rPr>
              <a:t>CIO Briefing | Phase 1 Complete · Phase 2 Underway · Path to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PRJ13797  |  Program Manager: Dhananjaya Gunaratne  |  March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PSEG Long Island  |  IT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7941D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JMUX Replacement Program — Status as of March 12,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161288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65760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 Phase 1
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365760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31 substations cutover to MPLS
All Wave 1 &amp; Wave 2 cutovers done
NSP installed at Melville &amp; Hicksville
SSP &amp; CMDB documentation approved
Minor close-outs in progress (Hicksville cabling, OTDR)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365760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🟡  Phase 2
IN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00200"/>
            <a:ext cx="365760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36-site engineering design underway
Site surveys completed during Phase 1
Burns &amp; McDonnell issuing IFRs &amp; IFCs
Nokia Phase 2 equipment delivered 2/19
Schedule: Yellow (2.5-wk delay, recovering)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097280"/>
            <a:ext cx="3657600" cy="5029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📋  CIO Actions
REQUIRED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600200"/>
            <a:ext cx="365760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6916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Awareness: Schedule is yellow, recovery plan in place
Approval: Confirm Phase 2 vendor engagement continues
Decision: Resource support for SSP/security reviews
Support: Crown Castle fiber issue at Hicksville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1 Accomplishments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31 Substations |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7498079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005840"/>
            <a:ext cx="393192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7498079" cy="41148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42415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ACCOMPLISHMENTS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9047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All 31 substation sites installed &amp; commissioned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47672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29384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Wave 1 cutover (12/8–12/18/25) — non-tie sites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86584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68296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Wave 2 cutover (1/6–1/8/26) — tie sites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25496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CWDM cutover complete at Hicksville &amp; ACC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64408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4612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Nokia NSP racked &amp; powered at Melville &amp; Hicksville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8503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Staging completed at Hawkeye Warehouse — 9/29/25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142231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23944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SSP documentation approved by security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81144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62856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CMDB inventory updated &amp; confirmed — 2/24/26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20056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0176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site surveys completed during Phase 1 (ahead of schedule)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458968"/>
            <a:ext cx="228600" cy="2743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7 additional nodes added to complete Ring 1 &amp; Ring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1005840"/>
            <a:ext cx="3931920" cy="4114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042415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 1 AT A GLANCE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150876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15270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31 / 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85623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Sites Complete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228600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30428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6334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Cutover Done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063239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08152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41071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Network Rings Closed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3840479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385876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Sept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18795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Staging Complete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461772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4636007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Jan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9651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Final Cutover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539496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54132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387"/>
                </a:solidFill>
              </a:rPr>
              <a:t>$4.44M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7424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Spent to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Phase 2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36 Sites | Engineering Design Underway | Burns &amp; McDonnell SOW: $1.37M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82880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Site Surveys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79" y="1051560"/>
            <a:ext cx="182880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99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Nokia Equip.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5999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51560"/>
            <a:ext cx="182880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IFR Design (B&amp;McD)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199" y="1051560"/>
            <a:ext cx="182880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19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IFC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051560"/>
            <a:ext cx="1828800" cy="5029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NOT STARTED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04120" y="1051560"/>
            <a:ext cx="1828800" cy="5029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060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Cutover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2984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NOT STARTED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691640"/>
            <a:ext cx="11612880" cy="34747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17099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Milestone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17099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Contract 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17099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17099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103120"/>
            <a:ext cx="11612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148839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1 Staging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2148839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8/22/2025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148839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000"/>
                </a:solidFill>
              </a:rPr>
              <a:t>✅ 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148839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$57,300 paid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61487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807207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1 Construction Coordinator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2807207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Aug 2025–Jan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2807207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000"/>
                </a:solidFill>
              </a:rPr>
              <a:t>✅ Complete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2807207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$368,100 — monthly invoiced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419856"/>
            <a:ext cx="11612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465575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Substation Site Surveys (Phase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3465575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2/27/2026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3465575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000"/>
                </a:solidFill>
              </a:rPr>
              <a:t>✅ 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465575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Completed during Phase 1 — ahead of schedule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078224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12394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MPLS Network Node Design — IFR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4123944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Wave 1: 2/23/26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123944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00"/>
                </a:solidFill>
              </a:rPr>
              <a:t>🟡 In Progress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4123944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B&amp;McD issuing IFRs; PSEG LI review 2-wk window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736592"/>
            <a:ext cx="1161288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78231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MPLS Network Node Design — IFC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39" y="4782312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Wave 1: 3/23/26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78231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⏳ Upcoming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4782312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IFC follows PSEG LI review &amp; comment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394959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440679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Construction &amp; Installation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77639" y="5440679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Aug–Dec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5440679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⏳ Not Started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5440679"/>
            <a:ext cx="4023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Pending IFC completion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30352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005840"/>
            <a:ext cx="612648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530352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Inclement weather affecting field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Crown Castle fiber issue at Hicksville (OTDR testing pending)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All approvals received. Remaining Phase 1 close-out is remote configuration — no physical site access needed. Phase 2 IFR/IFC design on track.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005840"/>
            <a:ext cx="6126480" cy="41148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1033271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PROGRAM TIMELINE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5087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490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Apr 2024  —  Project 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19659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19476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Oct 2024  —  RFP Award &amp; SOW Executed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24231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404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Jan 2025  —  Phase 1 Detailed Design Start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8803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8620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Sep 2025  —  Staging Complete (Hawkeye)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33375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3319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Oct 2025  —  Phase 1 Construction Start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37947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776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Dec 2025 – Jan 2026  —  Wave 1 &amp; 2 Cutovers 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4251960"/>
            <a:ext cx="182880" cy="25603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42336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Feb 2026  —  Nokia Phase 2 Equipment Delivered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4709160"/>
            <a:ext cx="182880" cy="25603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4690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941D"/>
                </a:solidFill>
              </a:rPr>
              <a:t>Mar 2026  —  Phase 2 IFR Design in Progress  ◀ NOW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5166360"/>
            <a:ext cx="182880" cy="256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51480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Mar–Jul 2026  —  Phase 2 IFC Design &amp; 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5623560"/>
            <a:ext cx="182880" cy="256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5605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Aug–Dec 2026  —  Phase 2 Construction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6080760"/>
            <a:ext cx="182880" cy="2560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60624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</a:rPr>
              <a:t>Jul 2027  —  Program Completion (Target)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1463040"/>
            <a:ext cx="52120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1463040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14904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2423160" y="37307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7941D"/>
                </a:solidFill>
              </a:rPr>
              <a:t>0.75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2395728" y="40416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7941D"/>
                </a:solidFill>
              </a:rPr>
              <a:t>Current
Month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3017520" y="37307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2999232" y="4041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Last
Month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457200" y="45262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658368" y="4526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457200" y="47274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658368" y="472744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457200" y="492861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658368" y="492861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457200" y="512978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658368" y="512978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457200" y="53218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41D"/>
                </a:solidFill>
              </a:rPr>
              <a:t>━━  Current Month: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457200" y="55321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╌╌  Last Month: 1.00  (Gray)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Financial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Program Budget: $6,600,000 | Status: ON BUDGET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$6,600,000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 URB
Approved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$4,437,070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Spent
To Date (67%)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$2,162,930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Estimate to
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051560"/>
            <a:ext cx="2743200" cy="14630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143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Over /
Under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Budget Utilization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63240"/>
            <a:ext cx="1161288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063240"/>
            <a:ext cx="7780629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90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67% Spent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33% Remaining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11880"/>
            <a:ext cx="11612880" cy="34747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301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 #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6301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6301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36301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Invoiced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6301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Remaining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6301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23360"/>
            <a:ext cx="116128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7000001429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41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Burns &amp; McDonnell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0416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$137,500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40416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$49,500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0416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$88,000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04164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361688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3799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7000001415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3799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Burns &amp; McDonnell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4379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$869,235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59" y="4379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$798,665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43799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$70,570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37997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00016"/>
            <a:ext cx="116128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183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7000002099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47183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Burns &amp; McDonnell (Ph2)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4718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$1,370,040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59" y="4718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$388,740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47183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$981,300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471830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038344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056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7000001857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91640" y="505663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Nokia of America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2040" y="50566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$1,899,030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59" y="50566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$532,525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50566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$1,366,505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5056631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76672"/>
            <a:ext cx="116128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94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7000002054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9164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Elecnor Hawkeye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2040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$402,793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59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$257,619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79" y="5394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$145,174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539496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🟡 Active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715000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5733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7000001175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91640" y="5733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Nokia of America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92040" y="5733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$190,575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59" y="5733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$190,575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83879" y="57332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29800" y="573328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Paid in Full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6053328"/>
            <a:ext cx="116128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6071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7000001748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91640" y="60716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Presidio Networked Sol.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92040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$40,955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59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$40,955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79" y="6071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29800" y="607161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Paid in Full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6391656"/>
            <a:ext cx="116128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40" y="6409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7000001767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91640" y="64099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Graybar Electric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92040" y="64099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$24,759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37959" y="64099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$24,759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83879" y="64099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$0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29800" y="640994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Paid in Full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Risks &amp;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941D"/>
                </a:solidFill>
              </a:rPr>
              <a:t>RAG Status | Active Risks &amp; Issues | Mitigations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87552"/>
            <a:ext cx="256032" cy="2560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" y="9875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</a:rPr>
              <a:t>RED — High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987552"/>
            <a:ext cx="256032" cy="25603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9875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</a:rPr>
              <a:t>AMBER — 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987552"/>
            <a:ext cx="256032" cy="256032"/>
          </a:xfrm>
          <a:prstGeom prst="rect">
            <a:avLst/>
          </a:prstGeom>
          <a:solidFill>
            <a:srgbClr val="00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9875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</a:rPr>
              <a:t>GREEN — Low / Resolved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298448"/>
            <a:ext cx="5760720" cy="29260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1673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RISKS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98448"/>
            <a:ext cx="5669280" cy="29260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1673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🔧  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5760720" cy="1115568"/>
          </a:xfrm>
          <a:prstGeom prst="rect">
            <a:avLst/>
          </a:prstGeom>
          <a:solidFill>
            <a:srgbClr val="FFEBEB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594360" cy="3474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70078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70078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Legacy Equipment Fragility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0482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JMUX equipment 25+ yrs old. Faulty connectors, brittle fiber — potential for unplanned outage during Phase 2 cutovers.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3957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87"/>
                </a:solidFill>
              </a:rPr>
              <a:t>↳ Mitigation: Careful cutover sequencing. B&amp;McD on-site technical support for all Phase 2 cutovers.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52928"/>
            <a:ext cx="5760720" cy="1115568"/>
          </a:xfrm>
          <a:prstGeom prst="rect">
            <a:avLst/>
          </a:prstGeom>
          <a:solidFill>
            <a:srgbClr val="FFEBEB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52928"/>
            <a:ext cx="594360" cy="3474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8950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8895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2026 Budget Overrun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369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Known 2026 ETC of $2.92M exceeds $2.6M budget by $1.17M (-45%). Hawkeye Phase 2 SOW ($632K) and Nokia PO ($753K) are primary drivers.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58444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87"/>
                </a:solidFill>
              </a:rPr>
              <a:t>↳ Mitigation: Budget augmentation request to CIO. Phase 3 spend timing may be deferred to 2027 to reduce 2026 exposure.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41648"/>
            <a:ext cx="5760720" cy="1115568"/>
          </a:xfrm>
          <a:prstGeom prst="rect">
            <a:avLst/>
          </a:prstGeom>
          <a:solidFill>
            <a:srgbClr val="FFF8E1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041648"/>
            <a:ext cx="594360" cy="34747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0782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0782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Phase 2 Schedule Slippage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4256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IFR/IFC design cycle leaves limited buffer. SPI currently at 0.75 (down from 1.00 last month).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7316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87"/>
                </a:solidFill>
              </a:rPr>
              <a:t>↳ Mitigation: Phase 2 surveys completed early. B&amp;McD running concurrent site designs. Weekly tracking calls.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230368"/>
            <a:ext cx="5760720" cy="1115568"/>
          </a:xfrm>
          <a:prstGeom prst="rect">
            <a:avLst/>
          </a:prstGeom>
          <a:solidFill>
            <a:srgbClr val="FFF8E1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230368"/>
            <a:ext cx="594360" cy="34747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526694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2669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Substation Access / Weather Delays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614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Escort availability, weather, or other site conflicts can delay field work and trigger Hawkeye cost impacts.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9618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3387"/>
                </a:solidFill>
              </a:rPr>
              <a:t>↳ Mitigation: Verify availability weekly before mobilizing. Adjust site sequencing if specific sites are inaccessible.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664208"/>
            <a:ext cx="5669280" cy="914400"/>
          </a:xfrm>
          <a:prstGeom prst="rect">
            <a:avLst/>
          </a:prstGeom>
          <a:solidFill>
            <a:srgbClr val="FFF8E1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1664208"/>
            <a:ext cx="82296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70078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170078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Hicksville Cabling (NSP)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0116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Cat 6 cables ordered. Hawkeye completing cabling for Nokia NSP at Hicksville.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233172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03387"/>
                </a:solidFill>
              </a:rPr>
              <a:t>↳ Target: 3/3/2026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651760"/>
            <a:ext cx="5669280" cy="914400"/>
          </a:xfrm>
          <a:prstGeom prst="rect">
            <a:avLst/>
          </a:prstGeom>
          <a:solidFill>
            <a:srgbClr val="FFF8E1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2651760"/>
            <a:ext cx="82296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26883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268833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OTDR Testing — Hicksville Fiber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29992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Low dB levels on fiber at Hicksville. Crown Castle may be the root cause. OTDR testing planned.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331927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03387"/>
                </a:solidFill>
              </a:rPr>
              <a:t>↳ Target: 3/3–3/4/2026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639312"/>
            <a:ext cx="5669280" cy="914400"/>
          </a:xfrm>
          <a:prstGeom prst="rect">
            <a:avLst/>
          </a:prstGeom>
          <a:solidFill>
            <a:srgbClr val="FFF8E1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3639312"/>
            <a:ext cx="82296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367588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367588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Remote Access to Phase 2 Nodes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9867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Remote connectivity to NSP nodes at Hicksville &amp; Melville required before router config can begin.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4306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03387"/>
                </a:solidFill>
              </a:rPr>
              <a:t>↳ Target: In Progress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626864"/>
            <a:ext cx="566928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9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4626864"/>
            <a:ext cx="822960" cy="320040"/>
          </a:xfrm>
          <a:prstGeom prst="rect">
            <a:avLst/>
          </a:prstGeom>
          <a:solidFill>
            <a:srgbClr val="00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46634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46634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Phase 1 SSP / Security Reviews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49743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Architecture review, security assessment, and compliance readiness all approved by SSP team.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2943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09700"/>
                </a:solidFill>
              </a:rPr>
              <a:t>↳ Target: Completed 2/10/2026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5614416"/>
            <a:ext cx="566928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9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7920" y="5614416"/>
            <a:ext cx="822960" cy="320040"/>
          </a:xfrm>
          <a:prstGeom prst="rect">
            <a:avLst/>
          </a:prstGeom>
          <a:solidFill>
            <a:srgbClr val="00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565099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56509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CMDB Inventory Update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59618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12121"/>
                </a:solidFill>
              </a:rPr>
              <a:t>CMDB inventory spreadsheet completed and confirmed in database.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628192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09700"/>
                </a:solidFill>
              </a:rPr>
              <a:t>↳ Target: Completed 2/24/2026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CIO Actions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3 Items for Decision or Awareness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12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94360" cy="1691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591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097280"/>
            <a:ext cx="128016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1247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1155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Schedule Recovery — Yellow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270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Context: Phase 1 experienced a 2.5-week delay due to SSP documentation processing and inclement weather. The SPI stands at 0.75 for February.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920239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Detail: Recovery plan is in place. Remaining Phase 1 close-out items are remote (no site access required). Phase 2 engineering is running concurrently. Overall program target end date remains July 2027.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500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</a:rPr>
              <a:t>➤  No action required — for awareness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39"/>
            <a:ext cx="11612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34639"/>
            <a:ext cx="594360" cy="169164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42899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880359"/>
            <a:ext cx="1280160" cy="34747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290779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89864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Continue Phase 2 Vendor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10127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Context: Burns &amp; McDonnell Phase 2 SOW ($1.37M) is active. IFR design has commenced for 36 sites. Nokia equipment delivered to staging. Phase 2 is on track to hit IFC milestones per SOW schedule.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Detail: Confirm continued engagement of B&amp;McD and Elecnor Hawkeye for Phase 2 construction support as design packages are issued.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13308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87"/>
                </a:solidFill>
              </a:rPr>
              <a:t>➤  Approval requested to proceed with Phase 2 construction mobilization once IFC packages are complete (expected Q2 2026).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617720"/>
            <a:ext cx="116128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617720"/>
            <a:ext cx="594360" cy="1691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2120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663440"/>
            <a:ext cx="12801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6908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6817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</a:rPr>
              <a:t>Crown Castle Fiber Issue — Hicksville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09320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Context: OTDR testing revealed low dB levels on fiber at Hicksville substation. This may be a Crown Castle infrastructure issue outside PSEG LI's control.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864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Detail: OTDR testing was scheduled for 3/3–3/4/2026. If confirmed as Crown Castle issue, formal escalation to Crown Castle will be required, which may impact Phase 2 schedule at that site.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916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➤  Request CIO support if vendor escalation to Crown Castle is needed to expedite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Next Steps &amp; Path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March 2026 — July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39496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051560"/>
            <a:ext cx="603504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94960" cy="38404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IMMEDIATE (Next 30 Days)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59105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59105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Hawkeye completes Cat 6 cabling for NSP at Hicksville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03120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15798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15798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OTDR testing at Hicksville — resolve Crown Castle fiber issue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70048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72491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7249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Remote router configuration begins (Layer 1-3 setup)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236976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29184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91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B&amp;McD continues Wave 1 IFR submissions (Far Rockaway, Valley Stream, Cedarhurst)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03904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385876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587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PSEG LI review window opens for Wave 1 IFR packages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70832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442569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 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4256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Wave 1 IFC target completion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937759"/>
            <a:ext cx="1005840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4992623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Ongoing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992623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Weekly status calls with B&amp;McD; monthly schedule updates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51560"/>
            <a:ext cx="6035040" cy="38404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10789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PATH TO COMPLETION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1536192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97880" y="1536192"/>
            <a:ext cx="1371600" cy="5669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16168" y="164591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1645919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1 close-out &amp; Phase 2 IFR design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2194560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7880" y="2194560"/>
            <a:ext cx="1371600" cy="5669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16168" y="23042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30428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IFC completion (all 36 sites)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2852928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97880" y="2852928"/>
            <a:ext cx="1371600" cy="56692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16168" y="296265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Q2–Q3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96265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construction mobilization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80" y="3511296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97880" y="3511296"/>
            <a:ext cx="1371600" cy="56692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16168" y="362102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Q3–Q4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62102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installations at all 36 sites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4169663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97880" y="4169663"/>
            <a:ext cx="1371600" cy="566928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16168" y="427939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27939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Phase 2 cutovers — Waves 3 &amp;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97880" y="4828031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97880" y="4828031"/>
            <a:ext cx="1371600" cy="56692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16168" y="493775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Q1 2027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4937759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As-built documentation complete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97880" y="5486400"/>
            <a:ext cx="5897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97880" y="5486400"/>
            <a:ext cx="1371600" cy="56692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16168" y="559612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Jul 2027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559612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🏁  Program Complete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Goals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JMUX Replacement: Private Field Area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1612880" cy="530352"/>
          </a:xfrm>
          <a:prstGeom prst="rect">
            <a:avLst/>
          </a:prstGeom>
          <a:solidFill>
            <a:srgbClr val="F2F2F2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42415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3387"/>
                </a:solidFill>
              </a:rPr>
              <a:t>Modernize PSEG LI's substation communications by replacing legacy JMUX with MPLS nodes to deliver a reliable, scalable, and future-ready network.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45920"/>
            <a:ext cx="3749039" cy="43891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73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 Engineering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84831"/>
            <a:ext cx="3749039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203704"/>
            <a:ext cx="164592" cy="16459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Detailed site surveys at all substations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583180"/>
            <a:ext cx="164592" cy="16459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283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Rack elevations, power design &amp; supplemental 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962656"/>
            <a:ext cx="164592" cy="16459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077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As-builts for each completed 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342132"/>
            <a:ext cx="164592" cy="16459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872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All substations aligned to PSEG LI standards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721607"/>
            <a:ext cx="164592" cy="16459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1 As-Builts: BMcD in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101083"/>
            <a:ext cx="164592" cy="16459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462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2 surveys: Completed during Phase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480559"/>
            <a:ext cx="164592" cy="16459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25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2 IFRs: Being issued by BMcD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860036"/>
            <a:ext cx="164592" cy="16459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051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2 IFCs: In progress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645920"/>
            <a:ext cx="3749039" cy="43891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1673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Procurement &amp; Staging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084831"/>
            <a:ext cx="3749039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5968" y="2203704"/>
            <a:ext cx="164592" cy="1645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All Phase 1 equipment purchased by PSEG LI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2583180"/>
            <a:ext cx="164592" cy="1645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25283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Equipment shipped &amp; delivered to Hawkeye staging facility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5968" y="2962656"/>
            <a:ext cx="164592" cy="1645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29077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1 staging completed: Sept 29, 2025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342132"/>
            <a:ext cx="164592" cy="1645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2872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Nokia Phase 2 equipment delivered: Feb 19, 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5968" y="3721607"/>
            <a:ext cx="164592" cy="1645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6667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Equipment safely stored at Hawkeye warehouse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1645920"/>
            <a:ext cx="3749039" cy="43891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1673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🏗  Construction &amp; Installation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084831"/>
            <a:ext cx="3749039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47888" y="2203704"/>
            <a:ext cx="164592" cy="16459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2148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BMcD on-site coordination throughout Phase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47888" y="2583180"/>
            <a:ext cx="164592" cy="16459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25283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Technical support &amp; commissioning oversight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47888" y="2962656"/>
            <a:ext cx="164592" cy="16459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29077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31/31 Phase 1 sites installed &amp; commissioned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47888" y="3342132"/>
            <a:ext cx="164592" cy="16459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32872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SSP documentation: Submitted &amp; approved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47888" y="3721607"/>
            <a:ext cx="164592" cy="16459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6667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Remote connectivity to nodes: In progress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47888" y="4101083"/>
            <a:ext cx="164592" cy="16459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0" y="40462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2 construction: Pending IFC completion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394960"/>
            <a:ext cx="11612880" cy="347472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422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PROGRAM SCOPE 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" y="5422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91640" y="5422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Total Substations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3320" y="5422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MPLS Sites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40680" y="5422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DF RTU Sites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8040" y="5422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Radio Shelter Sites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1160" y="5422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Nokia MPLS Nodes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79008"/>
            <a:ext cx="11612880" cy="301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81558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Phase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91640" y="58155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49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03320" y="581558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40680" y="581558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581558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81160" y="58155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31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6099048"/>
            <a:ext cx="116128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" y="613562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Phase 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91640" y="61356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45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03320" y="61356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40680" y="61356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61356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81160" y="61356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6419088"/>
            <a:ext cx="11612880" cy="301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64556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Phase 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1640" y="64556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45566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40680" y="645566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78040" y="645566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81160" y="645566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6739128"/>
            <a:ext cx="11612880" cy="3017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677570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87"/>
                </a:solidFill>
              </a:rPr>
              <a:t>TOTAL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91640" y="677570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87"/>
                </a:solidFill>
              </a:rPr>
              <a:t>129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03320" y="677570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87"/>
                </a:solidFill>
              </a:rPr>
              <a:t>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40680" y="677570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87"/>
                </a:solidFill>
              </a:rPr>
              <a:t>36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78040" y="677570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87"/>
                </a:solidFill>
              </a:rPr>
              <a:t>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81160" y="677570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87"/>
                </a:solidFill>
              </a:rPr>
              <a:t>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2026 Financial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941D"/>
                </a:solidFill>
              </a:rPr>
              <a:t>Full picture including Hawkeye Phase 2 SOW ($632K) — Updated March 12,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743200" cy="109728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$2,600,000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2026 Capital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005840"/>
            <a:ext cx="2743200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051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$851,055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Spent to Date (33%)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005840"/>
            <a:ext cx="274320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051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$2,921,137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 ETC (Known)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005840"/>
            <a:ext cx="274320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1051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-$1,172,192
(-45%)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2026 Projected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240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2026 Budget Utilization &amp; Exposure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42032"/>
            <a:ext cx="1161288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542032"/>
            <a:ext cx="3801230" cy="34747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75550" y="2542032"/>
            <a:ext cx="7811649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78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▲ Spent: $851K (33%)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5786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▲ ETC: $2.92M — EXCEEDS BUDGET by $1.17M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0" y="2450592"/>
            <a:ext cx="27432" cy="53035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0" y="24231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7941D"/>
                </a:solidFill>
              </a:rPr>
              <a:t>Budget
$2.6M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99232"/>
            <a:ext cx="649224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017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2026 COST DRIVERS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64992"/>
            <a:ext cx="6492240" cy="374904"/>
          </a:xfrm>
          <a:prstGeom prst="rect">
            <a:avLst/>
          </a:prstGeom>
          <a:solidFill>
            <a:srgbClr val="FFE0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4015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Burns &amp; McDonnell Phase 2 SOW (reduced)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40156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00000"/>
                </a:solidFill>
              </a:rPr>
              <a:t>$859,520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67328"/>
            <a:ext cx="6492240" cy="374904"/>
          </a:xfrm>
          <a:prstGeom prst="rect">
            <a:avLst/>
          </a:prstGeom>
          <a:solidFill>
            <a:srgbClr val="FFE0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039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Burns &amp; McDonnell Phase 3 (2026 portion)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80390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00000"/>
                </a:solidFill>
              </a:rPr>
              <a:t>$588,011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169664"/>
            <a:ext cx="6492240" cy="374904"/>
          </a:xfrm>
          <a:prstGeom prst="rect">
            <a:avLst/>
          </a:prstGeom>
          <a:solidFill>
            <a:srgbClr val="FFE0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206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Nokia PO 7000001857 (added March 2026)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206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00000"/>
                </a:solidFill>
              </a:rPr>
              <a:t>$753,000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572000"/>
            <a:ext cx="6492240" cy="374904"/>
          </a:xfrm>
          <a:prstGeom prst="rect">
            <a:avLst/>
          </a:prstGeom>
          <a:solidFill>
            <a:srgbClr val="FFE0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6085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Hawkeye Phase 2 Construction (36 sites)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460857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00000"/>
                </a:solidFill>
              </a:rPr>
              <a:t>$632,303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974336"/>
            <a:ext cx="6492240" cy="374904"/>
          </a:xfrm>
          <a:prstGeom prst="rect">
            <a:avLst/>
          </a:prstGeom>
          <a:solidFill>
            <a:srgbClr val="FFF8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0109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Phase 1 Outstanding WDs (WD8-13)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5010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>$88,303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376672"/>
            <a:ext cx="6492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413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54132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779008"/>
            <a:ext cx="6492240" cy="374904"/>
          </a:xfrm>
          <a:prstGeom prst="rect">
            <a:avLst/>
          </a:prstGeom>
          <a:solidFill>
            <a:srgbClr val="C0000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8155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KNOWN ETC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58155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$2,921,137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2999232"/>
            <a:ext cx="4937760" cy="329184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📅  HAWKEYE PH2 MILESTONE SCHEDULE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3364992"/>
            <a:ext cx="493776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34015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WD #8–13 Outstanding WDs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34015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87"/>
                </a:solidFill>
              </a:rPr>
              <a:t>In Progress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34015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</a:rPr>
              <a:t>$88,303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3767328"/>
            <a:ext cx="49377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0" y="380390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M1 Services &amp; Deliverables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38039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87"/>
                </a:solidFill>
              </a:rPr>
              <a:t>3/30/2026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380390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</a:rPr>
              <a:t>$99,000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4169664"/>
            <a:ext cx="493776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0" y="42062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M2 Services &amp; Deliverables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42062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87"/>
                </a:solidFill>
              </a:rPr>
              <a:t>4/30/2026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42062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</a:rPr>
              <a:t>$89,000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4572000"/>
            <a:ext cx="49377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40880" y="46085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M3 Services &amp; Deliverables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35440" y="460857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87"/>
                </a:solidFill>
              </a:rPr>
              <a:t>5/30/2026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460857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</a:rPr>
              <a:t>$89,000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49440" y="4974336"/>
            <a:ext cx="493776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40880" y="50109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M3 Services &amp; Deliverables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50109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87"/>
                </a:solidFill>
              </a:rPr>
              <a:t>6/30/2026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50109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</a:rPr>
              <a:t>$89,000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9440" y="5376672"/>
            <a:ext cx="49377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0" y="541324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M4 Services &amp; Deliverables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5440" y="54132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87"/>
                </a:solidFill>
              </a:rPr>
              <a:t>8/30/2026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54132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</a:rPr>
              <a:t>$89,000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49440" y="5779008"/>
            <a:ext cx="4937760" cy="37490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40880" y="581558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M5 Decommission Phase 2 Equip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35440" y="58155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87"/>
                </a:solidFill>
              </a:rPr>
              <a:t>TBD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581558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04040"/>
                </a:solidFill>
              </a:rPr>
              <a:t>$89,000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49440" y="6181344"/>
            <a:ext cx="4937760" cy="374904"/>
          </a:xfrm>
          <a:prstGeom prst="rect">
            <a:avLst/>
          </a:prstGeom>
          <a:solidFill>
            <a:srgbClr val="00338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40880" y="62179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35440" y="6217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41280" y="62179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$632,303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6400800"/>
            <a:ext cx="11612880" cy="164592"/>
          </a:xfrm>
          <a:prstGeom prst="rect">
            <a:avLst/>
          </a:prstGeom>
          <a:solidFill>
            <a:srgbClr val="FFF8D0"/>
          </a:solidFill>
          <a:ln w="127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640080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4040"/>
                </a:solidFill>
              </a:rPr>
              <a:t>⚠  Note: 2026 ETC of $2.92M exceeds remaining budget of $1.75M by $1.17M. CIO approval required for budget augmentation. Phase 3 2026 exposure ($588K) pending confirmation.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Phase 2 &amp; 3 Master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7941D"/>
                </a:solidFill>
              </a:rPr>
              <a:t>Burns &amp; McDonnell | Live MPP Data | As of March 12,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005840"/>
            <a:ext cx="8641080" cy="237744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Jan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306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Feb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478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7507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922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7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194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Jun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2366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7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Jul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79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638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Aug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5810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Sep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082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Oct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254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Nov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5267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Dec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2698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6248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Jan 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4420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79708" y="1024128"/>
            <a:ext cx="58064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Feb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361420" y="1005840"/>
            <a:ext cx="7315" cy="237744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64153" y="1005840"/>
            <a:ext cx="20116" cy="54406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561" y="94183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7941D"/>
                </a:solidFill>
              </a:rPr>
              <a:t>▼TODAY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1572768"/>
            <a:ext cx="11978640" cy="226771"/>
          </a:xfrm>
          <a:prstGeom prst="rect">
            <a:avLst/>
          </a:prstGeom>
          <a:solidFill>
            <a:srgbClr val="E3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1604772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003387"/>
                </a:solidFill>
              </a:rPr>
              <a:t>PHASE 2 — Engineering &amp; Construction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574" y="1623060"/>
            <a:ext cx="11168188" cy="149047"/>
          </a:xfrm>
          <a:prstGeom prst="rect">
            <a:avLst/>
          </a:prstGeom>
          <a:solidFill>
            <a:srgbClr val="64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0574" y="1623060"/>
            <a:ext cx="1005136" cy="149047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006" y="1623060"/>
            <a:ext cx="1005136" cy="149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" y="1813255"/>
            <a:ext cx="11978640" cy="22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" y="1845259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PO Received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574" y="1863547"/>
            <a:ext cx="36576" cy="149047"/>
          </a:xfrm>
          <a:prstGeom prst="rect">
            <a:avLst/>
          </a:prstGeom>
          <a:solidFill>
            <a:srgbClr val="64F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0574" y="1863547"/>
            <a:ext cx="36576" cy="149047"/>
          </a:xfrm>
          <a:prstGeom prst="rect">
            <a:avLst/>
          </a:prstGeom>
          <a:solidFill>
            <a:srgbClr val="00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8006" y="1863547"/>
            <a:ext cx="36576" cy="149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" y="2053742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" y="2085746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Construction Support Coordinator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21848" y="2104034"/>
            <a:ext cx="3770282" cy="149047"/>
          </a:xfrm>
          <a:prstGeom prst="rect">
            <a:avLst/>
          </a:prstGeom>
          <a:solidFill>
            <a:srgbClr val="FF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421848" y="2104034"/>
            <a:ext cx="2827711" cy="149047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9280" y="2104034"/>
            <a:ext cx="2827711" cy="149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" y="2294229"/>
            <a:ext cx="11978640" cy="22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" y="2326233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Site Surveys (Ph2 — 36 sites)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7167" y="2344521"/>
            <a:ext cx="1222794" cy="149047"/>
          </a:xfrm>
          <a:prstGeom prst="rect">
            <a:avLst/>
          </a:prstGeom>
          <a:solidFill>
            <a:srgbClr val="64F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07167" y="2344521"/>
            <a:ext cx="1222794" cy="149047"/>
          </a:xfrm>
          <a:prstGeom prst="rect">
            <a:avLst/>
          </a:prstGeom>
          <a:solidFill>
            <a:srgbClr val="00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34599" y="2344521"/>
            <a:ext cx="1222794" cy="149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" y="2534716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" y="2566720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MPLS Node Design (all 36 sites)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7057" y="2585008"/>
            <a:ext cx="3749902" cy="149047"/>
          </a:xfrm>
          <a:prstGeom prst="rect">
            <a:avLst/>
          </a:prstGeom>
          <a:solidFill>
            <a:srgbClr val="FF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47057" y="2585008"/>
            <a:ext cx="149996" cy="149047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74489" y="2585008"/>
            <a:ext cx="149996" cy="149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" y="2775204"/>
            <a:ext cx="11978640" cy="22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" y="2807208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  Wave 1: Far Rockaway/Valley Stm/Cedarhurst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67437" y="2825496"/>
            <a:ext cx="1120894" cy="149047"/>
          </a:xfrm>
          <a:prstGeom prst="rect">
            <a:avLst/>
          </a:prstGeom>
          <a:solidFill>
            <a:srgbClr val="FF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867437" y="2825496"/>
            <a:ext cx="560447" cy="149047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94869" y="2825496"/>
            <a:ext cx="560447" cy="149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" y="3015691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7160" y="3047695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  Wave 2: Hewlett / Green Acres / Barrett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5415" y="3065983"/>
            <a:ext cx="1406213" cy="149047"/>
          </a:xfrm>
          <a:prstGeom prst="rect">
            <a:avLst/>
          </a:prstGeom>
          <a:solidFill>
            <a:srgbClr val="64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440" y="3256178"/>
            <a:ext cx="11978640" cy="22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7160" y="3288182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  Wave 3: Whiteside/Baldwin/Hauppauge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51371" y="3306470"/>
            <a:ext cx="1569252" cy="149047"/>
          </a:xfrm>
          <a:prstGeom prst="rect">
            <a:avLst/>
          </a:prstGeom>
          <a:solidFill>
            <a:srgbClr val="64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440" y="3496665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7160" y="3528669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  Wave 4: Babylon/Sterling/MacArthur/Sayvill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64668" y="3546957"/>
            <a:ext cx="1304313" cy="149047"/>
          </a:xfrm>
          <a:prstGeom prst="rect">
            <a:avLst/>
          </a:prstGeom>
          <a:solidFill>
            <a:srgbClr val="64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" y="3737152"/>
            <a:ext cx="11978640" cy="22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" y="3769156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  Wave 5: Bayport/S.Farmingdale/Patchogue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49986" y="3787444"/>
            <a:ext cx="1446973" cy="149047"/>
          </a:xfrm>
          <a:prstGeom prst="rect">
            <a:avLst/>
          </a:prstGeom>
          <a:solidFill>
            <a:srgbClr val="64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" y="3977639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7160" y="4009644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  DO Offices / Hicksville / Ruland / ACC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49986" y="4027931"/>
            <a:ext cx="1446973" cy="149047"/>
          </a:xfrm>
          <a:prstGeom prst="rect">
            <a:avLst/>
          </a:prstGeom>
          <a:solidFill>
            <a:srgbClr val="64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440" y="4218127"/>
            <a:ext cx="11978640" cy="22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7160" y="4250131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Staging &amp; Testing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17340" y="4268419"/>
            <a:ext cx="264938" cy="149047"/>
          </a:xfrm>
          <a:prstGeom prst="rect">
            <a:avLst/>
          </a:prstGeom>
          <a:solidFill>
            <a:srgbClr val="FF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440" y="4458614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7160" y="4490618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Construction &amp; Installation (Hawkeye)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02658" y="4508906"/>
            <a:ext cx="957855" cy="149047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1440" y="4699101"/>
            <a:ext cx="11978640" cy="22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7160" y="4731105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Site Acceptance Testing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80894" y="4749393"/>
            <a:ext cx="40759" cy="149047"/>
          </a:xfrm>
          <a:prstGeom prst="rect">
            <a:avLst/>
          </a:prstGeom>
          <a:solidFill>
            <a:srgbClr val="FF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1440" y="4939588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7160" y="4971592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Cutover (Phase 2)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2793" y="4989880"/>
            <a:ext cx="2465968" cy="149047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1440" y="5180076"/>
            <a:ext cx="11978640" cy="226771"/>
          </a:xfrm>
          <a:prstGeom prst="rect">
            <a:avLst/>
          </a:prstGeom>
          <a:solidFill>
            <a:srgbClr val="E3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7160" y="5212080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003387"/>
                </a:solidFill>
              </a:rPr>
              <a:t>PHASE 3 — Engineering Design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14925" y="5230368"/>
            <a:ext cx="3892561" cy="149047"/>
          </a:xfrm>
          <a:prstGeom prst="rect">
            <a:avLst/>
          </a:prstGeom>
          <a:solidFill>
            <a:srgbClr val="64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1440" y="5420563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7160" y="5452567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PO Received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14925" y="5470855"/>
            <a:ext cx="36576" cy="149047"/>
          </a:xfrm>
          <a:prstGeom prst="rect">
            <a:avLst/>
          </a:prstGeom>
          <a:solidFill>
            <a:srgbClr val="64F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1440" y="5661050"/>
            <a:ext cx="11978640" cy="2267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37160" y="5693054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Site Surveys (Phase 3 — 35 sites)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35305" y="5711342"/>
            <a:ext cx="1569252" cy="149047"/>
          </a:xfrm>
          <a:prstGeom prst="rect">
            <a:avLst/>
          </a:prstGeom>
          <a:solidFill>
            <a:srgbClr val="FFF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" y="5901537"/>
            <a:ext cx="11978640" cy="226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37160" y="5933541"/>
            <a:ext cx="3154679" cy="2039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12121"/>
                </a:solidFill>
              </a:rPr>
              <a:t>  MPLS Node Design (Phase 3)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577965" y="5951829"/>
            <a:ext cx="3729522" cy="149047"/>
          </a:xfrm>
          <a:prstGeom prst="rect">
            <a:avLst/>
          </a:prstGeom>
          <a:solidFill>
            <a:srgbClr val="64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1440" y="6196888"/>
            <a:ext cx="11978640" cy="201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28600" y="623346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9700"/>
                </a:solidFill>
              </a:rPr>
              <a:t>■ Complete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06040" y="623346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F00"/>
                </a:solidFill>
              </a:rPr>
              <a:t>■ In Progress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83480" y="623346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3387"/>
                </a:solidFill>
              </a:rPr>
              <a:t>■ Planned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60920" y="623346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</a:rPr>
              <a:t>■ Construction/Cutover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38360" y="6233464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7941D"/>
                </a:solidFill>
              </a:rPr>
              <a:t>▼ Today 3/12/26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Vendor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7941D"/>
                </a:solidFill>
              </a:rPr>
              <a:t>3 Active Vendors | Roles, Contracts &amp; Status as of March 12,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005840"/>
            <a:ext cx="3794760" cy="5486400"/>
          </a:xfrm>
          <a:prstGeom prst="rect">
            <a:avLst/>
          </a:prstGeom>
          <a:solidFill>
            <a:srgbClr val="D6E4F7"/>
          </a:solidFill>
          <a:ln w="2540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1005840"/>
            <a:ext cx="3794760" cy="5029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04241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Burns &amp; McDonnell EGS, P.C.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28016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Network Engineering &amp;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572768"/>
            <a:ext cx="1097280" cy="23774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1591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157276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Contract: RITM336401 | MA00007834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755648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3387"/>
                </a:solidFill>
              </a:rPr>
              <a:t>Value: $1,370,040  |  Start: July 28,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192024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Target Completion: September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121408"/>
            <a:ext cx="3611880" cy="13716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2157984"/>
            <a:ext cx="3611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 b="1">
                <a:solidFill>
                  <a:srgbClr val="212121"/>
                </a:solidFill>
              </a:rPr>
              <a:t>Scope of Work: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MPLS network node design — 36 sites (IFR → IFC → As-Built)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Phase 1 Staging Support (complete)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Phase 1 Construction Support Coordinator (Aug 2025–Jan 2026)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Phase 2 Substation Site Surveys (36 sites, complete 2/27/26)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Weekly status calls &amp; schedule management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819" b="1">
                <a:solidFill>
                  <a:srgbClr val="212121"/>
                </a:solidFill>
              </a:rPr>
              <a:t>Milestone Payments: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M1 Staging Support:  $57,300  ✓ Complete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M2 Construction Coord:  $368,100  (monthly, in progress)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M3 Site Surveys:  $86,040  ✓ Complete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M4 MPLS Node Design:  $858,600  (in progress, 4%)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5047488"/>
            <a:ext cx="3611880" cy="13716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5084064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3387"/>
                </a:solidFill>
              </a:rPr>
              <a:t>Key Contact: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524865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12121"/>
                </a:solidFill>
              </a:rPr>
              <a:t>Alex Lenox (PM) | alenox@burnsmcd.com | (636) 248-0351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5687568"/>
            <a:ext cx="36118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57607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F00"/>
                </a:solidFill>
              </a:rPr>
              <a:t>Status: Design 4% complete. SPI 0.75.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23944" y="1005840"/>
            <a:ext cx="3794760" cy="5486400"/>
          </a:xfrm>
          <a:prstGeom prst="rect">
            <a:avLst/>
          </a:prstGeom>
          <a:solidFill>
            <a:srgbClr val="FFF3CC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23944" y="1005840"/>
            <a:ext cx="3794760" cy="5029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383" y="104241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Elecnor Hawkeye LLC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3" y="128016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Construction &amp; Installation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9984" y="1572768"/>
            <a:ext cx="1097280" cy="23774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1591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5383" y="157276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Contract: Phase 2 SOW — Dated March 9,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5383" y="1755648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F00"/>
                </a:solidFill>
              </a:rPr>
              <a:t>Value: $632,303  |  Start: March 9,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3" y="192024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Target Completion: Late 2026 (post IFC)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5383" y="2121408"/>
            <a:ext cx="3611880" cy="1371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15383" y="2157984"/>
            <a:ext cx="3611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 b="1">
                <a:solidFill>
                  <a:srgbClr val="212121"/>
                </a:solidFill>
              </a:rPr>
              <a:t>Scope of Work: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Pre-site visit, installation, demo equipment &amp; staging (36 sites)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WD #8: Fiber testing Elwood/Northport + 7 patch panels  $8,229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WD #10: Oakwood/Northport patch panel install  $15,089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WD #11: Fiber &amp; CAT5E supply/install Hicksville  $60,070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WD #12: Fiber enclosures Hicksville  $2,515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WD #13: Fiber testing Syosset/Hicksville  $2,400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819" b="1">
                <a:solidFill>
                  <a:srgbClr val="212121"/>
                </a:solidFill>
              </a:rPr>
              <a:t>Milestone Payments: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M1:  $99,000  due 3/30/2026  ← IMMINENT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M2:  $89,000  due 4/30/2026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M3:  $89,000  due 5/30/2026 &amp; 6/30/2026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M4:  $89,000  due 8/30/2026  |  M5 Decommission:  $89,000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5383" y="5047488"/>
            <a:ext cx="3611880" cy="1371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15383" y="5084064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F00"/>
                </a:solidFill>
              </a:rPr>
              <a:t>Key Contact: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5383" y="524865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12121"/>
                </a:solidFill>
              </a:rPr>
              <a:t>Robert M. Kenney (Electrical Supervisor) | (631) 291-2166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15383" y="5687568"/>
            <a:ext cx="36118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8536" y="57607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F00"/>
                </a:solidFill>
              </a:rPr>
              <a:t>Status: WDs in progress. M1 due 3/30.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83296" y="1005840"/>
            <a:ext cx="3794760" cy="54864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9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3296" y="1005840"/>
            <a:ext cx="3794760" cy="502920"/>
          </a:xfrm>
          <a:prstGeom prst="rect">
            <a:avLst/>
          </a:prstGeom>
          <a:solidFill>
            <a:srgbClr val="00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4736" y="104241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Nokia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128016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Network Equipment Supply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89336" y="1572768"/>
            <a:ext cx="1097280" cy="23774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9336" y="1591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4736" y="1572768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Contract: PO 7000001857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736" y="1755648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700"/>
                </a:solidFill>
              </a:rPr>
              <a:t>Value: $1,900,000+  |  Start: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74736" y="192024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12121"/>
                </a:solidFill>
              </a:rPr>
              <a:t>Target Completion: Equipment Delivered Feb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74736" y="2121408"/>
            <a:ext cx="3611880" cy="13716"/>
          </a:xfrm>
          <a:prstGeom prst="rect">
            <a:avLst/>
          </a:prstGeom>
          <a:solidFill>
            <a:srgbClr val="00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74736" y="2157984"/>
            <a:ext cx="3611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 b="1">
                <a:solidFill>
                  <a:srgbClr val="212121"/>
                </a:solidFill>
              </a:rPr>
              <a:t>Scope of Work: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Supply Nokia 7705 SAR routers for all Phase 2 sites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Equipment staged and delivered February 2026  ✓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NSP (Network Services Platform) software &amp; licensing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• Firmware synchronized on all CSM cards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819" b="1">
                <a:solidFill>
                  <a:srgbClr val="212121"/>
                </a:solidFill>
              </a:rPr>
              <a:t>PO Details: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PO 7000001857:  $753,000  (added March 2026)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Previous PO total:  ~$1,147,000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Total Nokia exposure:  ~$1,900,000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819" b="1">
                <a:solidFill>
                  <a:srgbClr val="212121"/>
                </a:solidFill>
              </a:rPr>
              <a:t>Current Issues: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NSP remote access to Hicksville &amp; Melville nodes pending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212121"/>
                </a:solidFill>
              </a:rPr>
              <a:t>  Cat 6 cabling for NSP at Hicksville in progress (Hawkeye)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74736" y="5047488"/>
            <a:ext cx="3611880" cy="13716"/>
          </a:xfrm>
          <a:prstGeom prst="rect">
            <a:avLst/>
          </a:prstGeom>
          <a:solidFill>
            <a:srgbClr val="00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74736" y="5084064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700"/>
                </a:solidFill>
              </a:rPr>
              <a:t>Key Contact: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74736" y="5248656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12121"/>
                </a:solidFill>
              </a:rPr>
              <a:t>Nokia Account Team | PSEG Long Island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74736" y="5687568"/>
            <a:ext cx="36118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7888" y="57607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BF00"/>
                </a:solidFill>
              </a:rPr>
              <a:t>Status: Equipment delivered. NSP access pending.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