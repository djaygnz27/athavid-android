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JMUX Replacement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7941D"/>
                </a:solidFill>
              </a:rPr>
              <a:t>CIO Briefing | Phase 1 Complete · Phase 2 Underway · Path to Completion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PRJ13797  |  Program Manager: Dhananjaya Gunaratne  |  March 12,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PSEG Long Island  |  IT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7941D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7941D"/>
                </a:solidFill>
              </a:rPr>
              <a:t>JMUX Replacement Program — Status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05840"/>
            <a:ext cx="3794760" cy="5440680"/>
          </a:xfrm>
          <a:prstGeom prst="rect">
            <a:avLst/>
          </a:prstGeom>
          <a:solidFill>
            <a:srgbClr val="E8F5E9"/>
          </a:solidFill>
          <a:ln w="25400">
            <a:solidFill>
              <a:srgbClr val="00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05840"/>
            <a:ext cx="3794760" cy="594360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033271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✅  Phase 1
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169164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31 substations cutover to Nokia MPLS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216712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Wave 1 &amp; Wave 2 cutovers complete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" y="2642616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Nokia NSP installed at Hicksville &amp; Melville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" y="3118104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SSP security review &amp; CMDB 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3593592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Phase 1 close-out in progress: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" y="406908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  • Cat 6 cabling (Hawkeye, Hicksville)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" y="454456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  • OTDR fiber testing (Crown Castle)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" y="5020056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  • Remote router config underway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33672" y="1005840"/>
            <a:ext cx="3794760" cy="5440680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33672" y="1005840"/>
            <a:ext cx="3794760" cy="59436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5112" y="1033271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🟡  Phase 2
IN PROGRESS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98264" y="169164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36-site MPLS design underway (B&amp;McD)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8264" y="216712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Site surveys: COMPLETE 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8264" y="2642616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Nokia Phase 2 equipment delivered 2/19/26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8264" y="3118104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Wave 1 IFR issued (Far Rockaway, Valley Stream,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8264" y="3593592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  Cedarhurst) — PSEG LI review underway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8264" y="406908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Wave 1 IFC target: March 23,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8264" y="454456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Hawkeye Ph2 SOW signed: $632,303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8264" y="5020056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Schedule SPI: 0.75 🟡 (recovery plan active)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38744" y="1005840"/>
            <a:ext cx="3794760" cy="5440680"/>
          </a:xfrm>
          <a:prstGeom prst="rect">
            <a:avLst/>
          </a:prstGeom>
          <a:solidFill>
            <a:srgbClr val="FFEBEB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38744" y="1005840"/>
            <a:ext cx="3794760" cy="5943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0183" y="1033271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⚠️  CIO Actions
REQUIRED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03336" y="169164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12121"/>
                </a:solidFill>
              </a:rPr>
              <a:t>① BUDGET AUGMENTATION REQUEST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6" y="216712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   2026 ETC $2.92M exceeds $2.6M budget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03336" y="2642616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   by $1.17M — approval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03336" y="3118104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03336" y="3593592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12121"/>
                </a:solidFill>
              </a:rPr>
              <a:t>② AWARENESS: Schedule Yellow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03336" y="406908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   SPI 0.75, 2.5-wk delay recovering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03336" y="4544568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03336" y="5020056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12121"/>
                </a:solidFill>
              </a:rPr>
              <a:t>③ SUPPORT: Crown Castle Fiber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03336" y="5495544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   Hicksville OTDR issue — may need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3336" y="5971031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   vendor escalation via CIO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6446520"/>
            <a:ext cx="11731752" cy="1097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Phase 1 Accomplishments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31 Substations |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7498079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005840"/>
            <a:ext cx="393192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05840"/>
            <a:ext cx="7498079" cy="4114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42415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KEY ACCOMPLISHMENTS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08760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90472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All 31 substation sites installed &amp; commissioned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47672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929384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Wave 1 cutover (12/8–12/18/25) — non-tie sites 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386584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68296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Wave 2 cutover (1/6–1/8/26) — tie sites complete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825496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07208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CWDM cutover complete at Hicksville &amp; ACC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264408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46120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Nokia NSP racked &amp; powered at Melville &amp; Hicksville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703320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685032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Staging completed at Hawkeye Warehouse — 9/29/25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142231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123944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SSP documentation approved by security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581144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562856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CMDB inventory updated &amp; confirmed — 2/24/26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020056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001768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site surveys completed during Phase 1 (ahead of schedule)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458968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440680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7 additional nodes added to complete Ring 1 &amp; Ring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1005840"/>
            <a:ext cx="3931920" cy="4114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0" y="1042415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PHASE 1 AT A GLANCE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1000" y="150876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15270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31 / 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185623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Sites Complete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228600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30428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263347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Cutover Done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1000" y="3063239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0" y="308152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341071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Network Rings Closed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01000" y="3840479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85876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Sept 2025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418795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Staging Complete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01000" y="461772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463600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Jan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496519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Final Cutover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01000" y="539496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0" y="54132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$4.44M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0" y="574243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Spent to 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Phase 2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7941D"/>
                </a:solidFill>
              </a:rPr>
              <a:t>36 Sites | Burns &amp; McDonnell SOW RITM336401 ($1,370,040) | Hawkeye SOW ($632,303)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005840"/>
            <a:ext cx="1572768" cy="685800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042416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Site Surveys
(B&amp;McD)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408176"/>
            <a:ext cx="14813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Completed
Feb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719072"/>
            <a:ext cx="1572768" cy="2743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1737360"/>
            <a:ext cx="1481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9700"/>
                </a:solidFill>
              </a:rPr>
              <a:t>COMPLETE
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4792" y="1234440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3387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1005840"/>
            <a:ext cx="1572768" cy="685800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1042416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Nokia Equip.
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1408176"/>
            <a:ext cx="14813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Delivered
2/19/2026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1719072"/>
            <a:ext cx="1572768" cy="274320"/>
          </a:xfrm>
          <a:prstGeom prst="rect">
            <a:avLst/>
          </a:prstGeom>
          <a:solidFill>
            <a:srgbClr val="E8F5E9"/>
          </a:solidFill>
          <a:ln w="12700">
            <a:solidFill>
              <a:srgbClr val="00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74519" y="1737360"/>
            <a:ext cx="1481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9700"/>
                </a:solidFill>
              </a:rPr>
              <a:t>COMPLETE
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1" y="1234440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3387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1005840"/>
            <a:ext cx="1572768" cy="68580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1042416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IFR Design
(B&amp;McD)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1408176"/>
            <a:ext cx="14813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Wave 1
due 2/23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1719072"/>
            <a:ext cx="1572768" cy="274320"/>
          </a:xfrm>
          <a:prstGeom prst="rect">
            <a:avLst/>
          </a:prstGeom>
          <a:solidFill>
            <a:srgbClr val="FFF8E1"/>
          </a:solidFill>
          <a:ln w="127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1737360"/>
            <a:ext cx="1481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BF00"/>
                </a:solidFill>
              </a:rPr>
              <a:t>IN PROGRESS
4% done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56632" y="1234440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3387"/>
                </a:solidFill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0640" y="1005840"/>
            <a:ext cx="1572768" cy="68580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6360" y="1042416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PSEG LI
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1408176"/>
            <a:ext cx="14813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10 biz days
per site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1719072"/>
            <a:ext cx="1572768" cy="274320"/>
          </a:xfrm>
          <a:prstGeom prst="rect">
            <a:avLst/>
          </a:prstGeom>
          <a:solidFill>
            <a:srgbClr val="FFF8E1"/>
          </a:solidFill>
          <a:ln w="127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6360" y="1737360"/>
            <a:ext cx="1481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BF00"/>
                </a:solidFill>
              </a:rPr>
              <a:t>IN PROGRESS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02552" y="1234440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3387"/>
                </a:solidFill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1005840"/>
            <a:ext cx="1572768" cy="6858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12280" y="1042416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IFC Design
(Sealed)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1408176"/>
            <a:ext cx="14813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Wave 1
due 3/23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0" y="1719072"/>
            <a:ext cx="1572768" cy="274320"/>
          </a:xfrm>
          <a:prstGeom prst="rect">
            <a:avLst/>
          </a:prstGeom>
          <a:solidFill>
            <a:srgbClr val="E3ECFF"/>
          </a:solidFill>
          <a:ln w="127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1737360"/>
            <a:ext cx="1481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3387"/>
                </a:solidFill>
              </a:rPr>
              <a:t>UPCOMING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8472" y="1234440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3387"/>
                </a:solidFill>
              </a:rPr>
              <a:t>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0" y="1005840"/>
            <a:ext cx="1572768" cy="6858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58200" y="1042416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Construction
(Hawkeye)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58200" y="1408176"/>
            <a:ext cx="14813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Aug–Sep
2026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0" y="1719072"/>
            <a:ext cx="1572768" cy="274320"/>
          </a:xfrm>
          <a:prstGeom prst="rect">
            <a:avLst/>
          </a:prstGeom>
          <a:solidFill>
            <a:srgbClr val="E3ECFF"/>
          </a:solidFill>
          <a:ln w="127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1737360"/>
            <a:ext cx="1481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3387"/>
                </a:solidFill>
              </a:rPr>
              <a:t>NOT STARTED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4392" y="1234440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3387"/>
                </a:solidFill>
              </a:rPr>
              <a:t>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58400" y="1005840"/>
            <a:ext cx="1572768" cy="6858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04120" y="1042416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Cutover
&amp; SAT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20" y="1408176"/>
            <a:ext cx="14813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Oct 2026–
Feb 2027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58400" y="1719072"/>
            <a:ext cx="1572768" cy="274320"/>
          </a:xfrm>
          <a:prstGeom prst="rect">
            <a:avLst/>
          </a:prstGeom>
          <a:solidFill>
            <a:srgbClr val="E3ECFF"/>
          </a:solidFill>
          <a:ln w="127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04120" y="1737360"/>
            <a:ext cx="1481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3387"/>
                </a:solidFill>
              </a:rPr>
              <a:t>NOT STARTED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" y="2103120"/>
            <a:ext cx="5760720" cy="3200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213055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BURNS &amp; McDONNELL — CPS MILESTONES (RITM336401)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" y="2423160"/>
            <a:ext cx="2907792" cy="256032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8600" y="244144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08960" y="2423160"/>
            <a:ext cx="1078992" cy="256032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54680" y="2441448"/>
            <a:ext cx="10058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Target Date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06240" y="2423160"/>
            <a:ext cx="987552" cy="256032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51960" y="2441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12080" y="2423160"/>
            <a:ext cx="1490472" cy="256032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57800" y="2441448"/>
            <a:ext cx="14173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2679192"/>
            <a:ext cx="290779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8600" y="2724912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M1 Phase 1 Staging Support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08960" y="2679192"/>
            <a:ext cx="107899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54680" y="2724912"/>
            <a:ext cx="10058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8/22/2025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06240" y="2679192"/>
            <a:ext cx="98755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51960" y="2724912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$57,300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12080" y="2679192"/>
            <a:ext cx="149047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57800" y="2724912"/>
            <a:ext cx="141731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700"/>
                </a:solidFill>
              </a:rPr>
              <a:t>✅ Complete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2880" y="3026664"/>
            <a:ext cx="29077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8600" y="3072384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M2 Construction Support Coordinator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08960" y="3026664"/>
            <a:ext cx="10789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154680" y="3072384"/>
            <a:ext cx="10058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Aug 25–Jan 26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06240" y="3026664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51960" y="3072384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$368,100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212080" y="3026664"/>
            <a:ext cx="149047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57800" y="3072384"/>
            <a:ext cx="141731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700"/>
                </a:solidFill>
              </a:rPr>
              <a:t>✅ Complete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3374136"/>
            <a:ext cx="290779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28600" y="3419856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M3 Substation Site Surveys (36 sites)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108960" y="3374136"/>
            <a:ext cx="107899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54680" y="3419856"/>
            <a:ext cx="10058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2/27/2026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206240" y="3374136"/>
            <a:ext cx="98755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251960" y="3419856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$86,040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212080" y="3374136"/>
            <a:ext cx="149047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57800" y="3419856"/>
            <a:ext cx="141731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700"/>
                </a:solidFill>
              </a:rPr>
              <a:t>✅ Complete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3721608"/>
            <a:ext cx="29077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28600" y="376732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M4 MPLS Node Design — IFR (all 36 sites)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108960" y="3721608"/>
            <a:ext cx="10789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54680" y="3767328"/>
            <a:ext cx="10058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See Sch.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206240" y="3721608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51960" y="3767328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$601,020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212080" y="3721608"/>
            <a:ext cx="149047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257800" y="3767328"/>
            <a:ext cx="141731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BF00"/>
                </a:solidFill>
              </a:rPr>
              <a:t>🟡 In Progress (4%)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82880" y="4069080"/>
            <a:ext cx="290779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28600" y="4114800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M4 MPLS Node Design — IFC (sealed)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108960" y="4069080"/>
            <a:ext cx="107899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154680" y="4114800"/>
            <a:ext cx="10058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See Sch.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06240" y="4069080"/>
            <a:ext cx="98755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251960" y="4114800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$214,668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212080" y="4069080"/>
            <a:ext cx="149047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57800" y="4114800"/>
            <a:ext cx="141731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⏳ Upcoming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82880" y="4416552"/>
            <a:ext cx="29077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28600" y="4462272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M4 MPLS Node Design — As-Built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108960" y="4416552"/>
            <a:ext cx="10789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154680" y="4462272"/>
            <a:ext cx="10058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Post constr.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206240" y="4416552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51960" y="4462272"/>
            <a:ext cx="914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$42,912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212080" y="4416552"/>
            <a:ext cx="149047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257800" y="4462272"/>
            <a:ext cx="141731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⏳ Not Started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26480" y="2103120"/>
            <a:ext cx="5852160" cy="32004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17920" y="213055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ELECNOR HAWKEYE — PHASE 2 MILESTONES ($632,303)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126480" y="2423160"/>
            <a:ext cx="3182112" cy="256032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72200" y="2441448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326880" y="2423160"/>
            <a:ext cx="1353312" cy="256032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372600" y="2441448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Due Date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698480" y="2423160"/>
            <a:ext cx="1124712" cy="256032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744200" y="2441448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26480" y="2679192"/>
            <a:ext cx="318211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72200" y="2724912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WD#8 Fiber Testing Elwood/Northport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326880" y="2679192"/>
            <a:ext cx="135331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372600" y="272491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BF00"/>
                </a:solidFill>
              </a:rPr>
              <a:t>In Progress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698480" y="2679192"/>
            <a:ext cx="112471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744200" y="2724912"/>
            <a:ext cx="1051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$8,229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126480" y="3026664"/>
            <a:ext cx="31821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172200" y="3072384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WD#10 Patch Panels Oakwood/Northport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326880" y="3026664"/>
            <a:ext cx="13533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372600" y="307238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BF00"/>
                </a:solidFill>
              </a:rPr>
              <a:t>In Progress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0698480" y="3026664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744200" y="3072384"/>
            <a:ext cx="1051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$15,089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26480" y="3374136"/>
            <a:ext cx="318211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172200" y="3419856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WD#11 Fiber &amp; CAT5E Hicksville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326880" y="3374136"/>
            <a:ext cx="135331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372600" y="341985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BF00"/>
                </a:solidFill>
              </a:rPr>
              <a:t>In Progress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698480" y="3374136"/>
            <a:ext cx="112471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744200" y="3419856"/>
            <a:ext cx="1051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$60,070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26480" y="3721608"/>
            <a:ext cx="31821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172200" y="3767328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WD#12 Fiber Enclosures Hicksville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326880" y="3721608"/>
            <a:ext cx="13533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72600" y="376732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BF00"/>
                </a:solidFill>
              </a:rPr>
              <a:t>In Progress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0698480" y="3721608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744200" y="3767328"/>
            <a:ext cx="1051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$2,515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126480" y="4069080"/>
            <a:ext cx="318211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172200" y="4114800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WD#13 Fiber Testing Syosset/Hicksville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326880" y="4069080"/>
            <a:ext cx="135331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372600" y="411480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BF00"/>
                </a:solidFill>
              </a:rPr>
              <a:t>In Progress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698480" y="4069080"/>
            <a:ext cx="112471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0744200" y="4114800"/>
            <a:ext cx="1051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$2,400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126480" y="4416552"/>
            <a:ext cx="31821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72200" y="4462272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M1 Services &amp; Deliverables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9326880" y="4416552"/>
            <a:ext cx="13533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372600" y="446227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</a:rPr>
              <a:t>3/30/2026 ⚠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0698480" y="4416552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744200" y="4462272"/>
            <a:ext cx="1051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$99,000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126480" y="4764024"/>
            <a:ext cx="318211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172200" y="4809744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M2 Services &amp; Deliverables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9326880" y="4764024"/>
            <a:ext cx="135331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372600" y="480974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4/30/2026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98480" y="4764024"/>
            <a:ext cx="1124712" cy="32918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744200" y="4809744"/>
            <a:ext cx="1051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$89,000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126480" y="5111496"/>
            <a:ext cx="31821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172200" y="5157216"/>
            <a:ext cx="3108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M3–M5 Services, Deliverables &amp; Decom.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326880" y="5111496"/>
            <a:ext cx="13533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372600" y="515721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May–TBD 2026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0698480" y="5111496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0744200" y="5157216"/>
            <a:ext cx="1051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$267,000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Schedule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Overall: 🟡 Yellow | Recovery Plan in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530352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0" y="1005840"/>
            <a:ext cx="612648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05840"/>
            <a:ext cx="5303520" cy="4114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Root Causes: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SSP documentation delays (security review queue)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CMDB update coordination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6908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Inclement weather affecting field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8056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Crown Castle fiber issue at Hicksville (OTDR testing pending)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0749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7"/>
                </a:solidFill>
              </a:rPr>
              <a:t>Recovery Actions: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406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approvals received. Remaining Phase 1 close-out is remote configuration — no physical site access needed. Phase 2 IFR/IFC design on track.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1005840"/>
            <a:ext cx="6126480" cy="4114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1033271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PROGRAM TIMELINE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15087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490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Apr 2024  —  Project Start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06440" y="19659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19476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Oct 2024  —  RFP Award &amp; SOW Executed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24231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2404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Jan 2025  —  Phase 1 Detailed Design 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28803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8620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Sep 2025  —  Staging Complete (Hawkeye)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06440" y="33375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33192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Oct 2025  —  Phase 1 Construction Start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37947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3776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Dec 2025 – Jan 2026  —  Wave 1 &amp; 2 Cutovers Complete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2519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42336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Feb 2026  —  Nokia Phase 2 Equipment Delivered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4709160"/>
            <a:ext cx="182880" cy="2560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4690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941D"/>
                </a:solidFill>
              </a:rPr>
              <a:t>Mar 2026  —  Phase 2 IFR Design in Progress  ◀ NOW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51663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51480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Mar–Jul 2026  —  Phase 2 IFC Design &amp; Review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06440" y="56235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56052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Aug–Dec 2026  —  Phase 2 Construction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60807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6062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Jul 2027  —  Program Completion (Target)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1463040"/>
            <a:ext cx="52120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0040" y="1463040"/>
            <a:ext cx="5212080" cy="36576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149047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SCHEDULE PERFORMANCE INDEX (SPI)</a:t>
            </a:r>
          </a:p>
        </p:txBody>
      </p:sp>
      <p:sp>
        <p:nvSpPr>
          <p:cNvPr id="48" name="Oval 47"/>
          <p:cNvSpPr/>
          <p:nvPr/>
        </p:nvSpPr>
        <p:spPr>
          <a:xfrm>
            <a:off x="2385935" y="246303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369330" y="243044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352725" y="239786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336120" y="2365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319515" y="233268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302910" y="230009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286304" y="226750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333847" y="249140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315476" y="245978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297105" y="24281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278734" y="23965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260364" y="23648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41993" y="2333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223622" y="230164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283396" y="25225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263315" y="24920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243234" y="24614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223153" y="243088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203072" y="240031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182991" y="236974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162910" y="23391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234736" y="255651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213005" y="252709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191274" y="24976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169544" y="24682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147813" y="243882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126083" y="240940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104352" y="23799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188012" y="25930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164698" y="25648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141383" y="253668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118069" y="250850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094754" y="248032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071440" y="245213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48126" y="24239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143367" y="263209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118539" y="260524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093711" y="257838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068883" y="255152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2044056" y="252466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019228" y="249780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994400" y="247094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100935" y="267354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074669" y="264808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2048403" y="262263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022136" y="259718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995870" y="25717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969604" y="25462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943338" y="252082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2060844" y="27172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033219" y="269328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005594" y="266931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77969" y="264534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950344" y="26213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922719" y="259739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895093" y="257342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023217" y="276310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994316" y="27406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965415" y="2718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936514" y="26958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907614" y="267343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878713" y="26510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849812" y="262860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988165" y="281095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958076" y="279015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927987" y="276936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897898" y="274856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867809" y="27277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837720" y="27069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807632" y="26861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955796" y="28606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924609" y="28415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893423" y="282243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862237" y="280332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831051" y="278421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799865" y="276510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768679" y="274599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926206" y="29120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894017" y="289469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861828" y="28773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829639" y="28599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97449" y="28425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765260" y="282522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733071" y="280785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899486" y="296501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866391" y="294944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833296" y="29338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800201" y="29182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767107" y="290272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734012" y="288714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700917" y="28715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875717" y="30193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841816" y="300562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807915" y="29918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774015" y="297816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740114" y="296443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706213" y="295070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672312" y="29369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854969" y="307492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820365" y="306307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785761" y="30512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751157" y="30393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716553" y="302753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681949" y="301568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647345" y="300383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837306" y="31315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802103" y="31216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766900" y="311168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731698" y="31017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696495" y="309183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661292" y="308190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626089" y="307197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822781" y="31890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787086" y="318107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751391" y="31730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715696" y="316511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680001" y="315713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644305" y="314915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608610" y="31411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811438" y="32472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775359" y="324126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739279" y="32352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03199" y="322925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667120" y="32232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631040" y="32172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594960" y="321123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803312" y="33060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766956" y="330201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730601" y="32979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694246" y="329398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657891" y="32899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621536" y="32859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585181" y="328194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798426" y="336513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761905" y="33631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725384" y="33611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688864" y="335910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652343" y="335709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615822" y="335508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579301" y="335307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796796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760220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723644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687068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650492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613916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577340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2706996" y="235872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701274" y="232259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2695552" y="228646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689831" y="225034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684109" y="221421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2678387" y="217809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2672665" y="214196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2640413" y="237142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632434" y="233572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624455" y="230003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2616476" y="226433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2608497" y="222864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2600519" y="219294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2592540" y="215725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2574758" y="238827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564554" y="235315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2554350" y="231803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2544145" y="228290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2533941" y="224778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2523736" y="221266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513532" y="217753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2510292" y="240922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497902" y="237481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485513" y="234039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473123" y="230598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460733" y="227157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448344" y="223715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435954" y="220274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2447268" y="243417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432742" y="240061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418216" y="2367042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403690" y="233347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389164" y="229990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374638" y="226633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360112" y="223277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2385935" y="246303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369330" y="243044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352725" y="239786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2336120" y="236527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2319515" y="233268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2302910" y="230009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2286304" y="2267502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3044579" y="235872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3050301" y="232259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3056023" y="2286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3061744" y="225034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3067466" y="221421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3073188" y="217809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3078910" y="214196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2988573" y="235134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2992396" y="231497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2996219" y="227859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3000043" y="224221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3003866" y="220584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3007689" y="2169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3011512" y="213309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2932258" y="234691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2934172" y="231038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2936086" y="227386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2938000" y="223733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2939915" y="220081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2941829" y="216428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2943743" y="212775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2875788" y="234543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875788" y="230886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875788" y="227228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2875788" y="223570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2875788" y="219913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2875788" y="216255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2875788" y="212597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2819317" y="234691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2817403" y="231038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815489" y="227386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813575" y="223733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2811660" y="220081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2809746" y="216428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2807832" y="212775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2763002" y="235134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2759179" y="231497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2755356" y="227859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2751532" y="224221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2747709" y="220584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2743886" y="2169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2740063" y="213309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2706996" y="235872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2701274" y="232259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2695552" y="2286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2689831" y="225034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2684109" y="221421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2678387" y="217809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2672665" y="214196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3954780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3991356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4027932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4064508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4101084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4137660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174236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3953185" y="336578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3989707" y="33638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4026229" y="336181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4062751" y="33598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4099273" y="335783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4135795" y="33558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4172317" y="33538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3948406" y="33073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3984766" y="330335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4021126" y="32993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4057486" y="329541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4093845" y="32914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4130205" y="328747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4166565" y="328350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3940456" y="32492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3976547" y="32432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4012637" y="32373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4048728" y="32313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4084818" y="322544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4120908" y="32195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4156999" y="32135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3929360" y="319159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3965074" y="318370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4000788" y="31758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4036503" y="31679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4072217" y="316002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107931" y="315213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143645" y="31442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3915149" y="313468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3950382" y="31248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3985614" y="311504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4020847" y="310521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4056079" y="309539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4091312" y="308557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4126545" y="30757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3897866" y="30786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3932513" y="30669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3967160" y="30551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4001806" y="30434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4036453" y="303173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4071100" y="30200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4105747" y="30082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3877562" y="302359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3911521" y="30100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3945479" y="29964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3979438" y="29828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4013396" y="29692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4047355" y="295565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4081313" y="294206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3854298" y="29697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3887468" y="29543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3920637" y="29389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953807" y="29235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986977" y="290808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20147" y="289267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053317" y="28772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3828141" y="29172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3860424" y="29000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3892707" y="28828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3924990" y="28656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3957273" y="28484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3989556" y="283126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4021840" y="28140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3799169" y="28662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3830470" y="28473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3861771" y="282838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3893072" y="280945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3924373" y="279053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3955674" y="27716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3986975" y="27526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3767467" y="28168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3797694" y="279627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3827920" y="27756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3858147" y="275508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3888373" y="273448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3918600" y="271389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3948826" y="26932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3733130" y="27693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3762193" y="274709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3791255" y="272488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820318" y="27026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849380" y="26804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3878443" y="26582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3907505" y="263605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3696259" y="27236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3724072" y="26999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3751885" y="267617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3779697" y="265241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3807510" y="26286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3835322" y="26049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3863135" y="25811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3656963" y="26801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3683444" y="26548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3709924" y="26296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3736405" y="26044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3762885" y="25792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3789366" y="255397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3815847" y="252874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3615358" y="26387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3640428" y="261213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3665499" y="25855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3690569" y="255887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3715639" y="25322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3740709" y="25056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3765779" y="24789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3571567" y="259973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3595153" y="25717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3618739" y="25438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642324" y="251587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665910" y="24879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3689496" y="245995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3713082" y="243200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3525719" y="25631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3547751" y="25339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3569783" y="250475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3591814" y="247555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3613846" y="244635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3635877" y="24171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3657909" y="23879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3477951" y="25290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3498363" y="24987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3518775" y="24683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3539188" y="24380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3559600" y="240769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3580012" y="23773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3600425" y="23469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3428402" y="24976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3447135" y="24662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3465867" y="24348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3484600" y="24034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3503333" y="23720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3522066" y="234061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3540798" y="23092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3377220" y="246902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3394218" y="243664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3411216" y="240425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428213" y="23718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445211" y="23394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3462209" y="230709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3479206" y="22747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324556" y="244318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339768" y="24099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354981" y="237666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370193" y="23434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385406" y="23101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400618" y="22768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415831" y="224361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270565" y="24202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283948" y="23862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297330" y="23521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310712" y="231812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324095" y="228408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337477" y="22500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350859" y="22160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215408" y="24002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226921" y="23655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238433" y="233084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249946" y="22961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261458" y="226141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272971" y="22266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284483" y="219197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59247" y="238333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68855" y="23480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78464" y="231275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88073" y="22774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97682" y="22421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207291" y="22068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216899" y="217158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02248" y="23694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09924" y="23337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17601" y="229794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5277" y="226218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32954" y="222642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140631" y="21906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148307" y="21549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044579" y="235872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050301" y="23225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056023" y="22864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061744" y="22503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067466" y="221421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073188" y="21780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078910" y="21419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91566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86537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81508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176479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714500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66420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161391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56362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51333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TextBox 483"/>
          <p:cNvSpPr txBox="1"/>
          <p:nvPr/>
        </p:nvSpPr>
        <p:spPr>
          <a:xfrm>
            <a:off x="1170432" y="3364991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0.00</a:t>
            </a:r>
          </a:p>
        </p:txBody>
      </p:sp>
      <p:sp>
        <p:nvSpPr>
          <p:cNvPr id="485" name="Oval 484"/>
          <p:cNvSpPr/>
          <p:nvPr/>
        </p:nvSpPr>
        <p:spPr>
          <a:xfrm>
            <a:off x="2204915" y="275355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2169353" y="271799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2133791" y="2682431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2098229" y="264686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2062668" y="2611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2027106" y="257574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991544" y="254018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955982" y="250462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920420" y="24690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1631085" y="2252877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0.50</a:t>
            </a:r>
          </a:p>
        </p:txBody>
      </p:sp>
      <p:sp>
        <p:nvSpPr>
          <p:cNvPr id="495" name="Oval 494"/>
          <p:cNvSpPr/>
          <p:nvPr/>
        </p:nvSpPr>
        <p:spPr>
          <a:xfrm>
            <a:off x="2525300" y="253948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2506054" y="2493017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2486808" y="244655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2467562" y="240008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2448316" y="235362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2429070" y="230716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2409824" y="226069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2390578" y="221423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2371332" y="216777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TextBox 503"/>
          <p:cNvSpPr txBox="1"/>
          <p:nvPr/>
        </p:nvSpPr>
        <p:spPr>
          <a:xfrm>
            <a:off x="2141327" y="1911943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04040"/>
                </a:solidFill>
              </a:rPr>
              <a:t>0.75</a:t>
            </a:r>
          </a:p>
        </p:txBody>
      </p:sp>
      <p:sp>
        <p:nvSpPr>
          <p:cNvPr id="505" name="Oval 504"/>
          <p:cNvSpPr/>
          <p:nvPr/>
        </p:nvSpPr>
        <p:spPr>
          <a:xfrm>
            <a:off x="2903220" y="2464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2903220" y="241401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2903220" y="236372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2903220" y="231343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2903220" y="226314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2903220" y="221284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2903220" y="216255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2903220" y="211226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2903220" y="206197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TextBox 513"/>
          <p:cNvSpPr txBox="1"/>
          <p:nvPr/>
        </p:nvSpPr>
        <p:spPr>
          <a:xfrm>
            <a:off x="2743200" y="179222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04040"/>
                </a:solidFill>
              </a:rPr>
              <a:t>1.00</a:t>
            </a:r>
          </a:p>
        </p:txBody>
      </p:sp>
      <p:sp>
        <p:nvSpPr>
          <p:cNvPr id="515" name="Oval 514"/>
          <p:cNvSpPr/>
          <p:nvPr/>
        </p:nvSpPr>
        <p:spPr>
          <a:xfrm>
            <a:off x="3281139" y="253948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3300385" y="2493017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3319631" y="244655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3338877" y="240008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3358123" y="235362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3377369" y="230716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3396615" y="226069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3415861" y="221423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3435107" y="216777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TextBox 523"/>
          <p:cNvSpPr txBox="1"/>
          <p:nvPr/>
        </p:nvSpPr>
        <p:spPr>
          <a:xfrm>
            <a:off x="3345072" y="1911943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1.25</a:t>
            </a:r>
          </a:p>
        </p:txBody>
      </p:sp>
      <p:sp>
        <p:nvSpPr>
          <p:cNvPr id="525" name="Oval 524"/>
          <p:cNvSpPr/>
          <p:nvPr/>
        </p:nvSpPr>
        <p:spPr>
          <a:xfrm>
            <a:off x="3601524" y="275355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3637086" y="271799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3672648" y="2682431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3708210" y="264686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3743771" y="2611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3779333" y="257574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3814895" y="254018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3850457" y="250462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3886019" y="24690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TextBox 533"/>
          <p:cNvSpPr txBox="1"/>
          <p:nvPr/>
        </p:nvSpPr>
        <p:spPr>
          <a:xfrm>
            <a:off x="3855314" y="2252877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1.50</a:t>
            </a:r>
          </a:p>
        </p:txBody>
      </p:sp>
      <p:sp>
        <p:nvSpPr>
          <p:cNvPr id="535" name="Oval 534"/>
          <p:cNvSpPr/>
          <p:nvPr/>
        </p:nvSpPr>
        <p:spPr>
          <a:xfrm>
            <a:off x="389077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3941063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399135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404164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4091939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414223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419252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424281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429310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TextBox 543"/>
          <p:cNvSpPr txBox="1"/>
          <p:nvPr/>
        </p:nvSpPr>
        <p:spPr>
          <a:xfrm>
            <a:off x="4315968" y="3364991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2.00</a:t>
            </a:r>
          </a:p>
        </p:txBody>
      </p:sp>
      <p:sp>
        <p:nvSpPr>
          <p:cNvPr id="545" name="Oval 544"/>
          <p:cNvSpPr/>
          <p:nvPr/>
        </p:nvSpPr>
        <p:spPr>
          <a:xfrm>
            <a:off x="2889504" y="343814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2874807" y="340266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2860110" y="336718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2845413" y="3331699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2830716" y="329621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2816019" y="3260736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2801322" y="322525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2786625" y="318977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2771928" y="315429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2757232" y="311881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2742535" y="3083329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2727838" y="304784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2713141" y="3012367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2698444" y="297688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2683747" y="294140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2669050" y="290592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2654353" y="287044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2639657" y="2834960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2624960" y="279947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2610263" y="2763997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2595566" y="272851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2580869" y="269303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2579888" y="2671269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2565191" y="2635787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2550494" y="2600306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2535797" y="2564824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2898648" y="3408883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2898648" y="337047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2898648" y="329366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2898648" y="3255264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2898648" y="3178454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2898648" y="3140049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2898648" y="3063240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2898648" y="3024835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2898648" y="2948025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2898648" y="2909620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2898648" y="2832811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2898648" y="2794406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2898648" y="2717596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2898648" y="2679192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2898648" y="2602382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2898648" y="2563977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2898648" y="248716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2834640" y="3383279"/>
            <a:ext cx="182880" cy="1828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TextBox 588"/>
          <p:cNvSpPr txBox="1"/>
          <p:nvPr/>
        </p:nvSpPr>
        <p:spPr>
          <a:xfrm>
            <a:off x="2423160" y="37307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7941D"/>
                </a:solidFill>
              </a:rPr>
              <a:t>0.75</a:t>
            </a:r>
          </a:p>
        </p:txBody>
      </p:sp>
      <p:sp>
        <p:nvSpPr>
          <p:cNvPr id="590" name="TextBox 589"/>
          <p:cNvSpPr txBox="1"/>
          <p:nvPr/>
        </p:nvSpPr>
        <p:spPr>
          <a:xfrm>
            <a:off x="2395728" y="40416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7941D"/>
                </a:solidFill>
              </a:rPr>
              <a:t>Current
Month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3017520" y="37307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04040"/>
                </a:solidFill>
              </a:rPr>
              <a:t>1.00</a:t>
            </a:r>
          </a:p>
        </p:txBody>
      </p:sp>
      <p:sp>
        <p:nvSpPr>
          <p:cNvPr id="592" name="TextBox 591"/>
          <p:cNvSpPr txBox="1"/>
          <p:nvPr/>
        </p:nvSpPr>
        <p:spPr>
          <a:xfrm>
            <a:off x="2999232" y="40416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Last
Month</a:t>
            </a:r>
          </a:p>
        </p:txBody>
      </p:sp>
      <p:sp>
        <p:nvSpPr>
          <p:cNvPr id="593" name="TextBox 592"/>
          <p:cNvSpPr txBox="1"/>
          <p:nvPr/>
        </p:nvSpPr>
        <p:spPr>
          <a:xfrm>
            <a:off x="457200" y="452628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●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658368" y="452628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Below 0.70 — Critical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457200" y="472744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C000"/>
                </a:solidFill>
              </a:rPr>
              <a:t>●</a:t>
            </a:r>
          </a:p>
        </p:txBody>
      </p:sp>
      <p:sp>
        <p:nvSpPr>
          <p:cNvPr id="596" name="TextBox 595"/>
          <p:cNvSpPr txBox="1"/>
          <p:nvPr/>
        </p:nvSpPr>
        <p:spPr>
          <a:xfrm>
            <a:off x="658368" y="472744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0.70–0.90 — Yellow</a:t>
            </a:r>
          </a:p>
        </p:txBody>
      </p:sp>
      <p:sp>
        <p:nvSpPr>
          <p:cNvPr id="597" name="TextBox 596"/>
          <p:cNvSpPr txBox="1"/>
          <p:nvPr/>
        </p:nvSpPr>
        <p:spPr>
          <a:xfrm>
            <a:off x="457200" y="492861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●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658368" y="492861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0.90–1.10 — On Track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457200" y="5129784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33CC"/>
                </a:solidFill>
              </a:rPr>
              <a:t>●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658368" y="512978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Above 1.10 — Ahead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457200" y="5321808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7941D"/>
                </a:solidFill>
              </a:rPr>
              <a:t>━━  Current Month: 0.75  (Orange)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457200" y="553212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╌╌  Last Month: 1.00  (Gray)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Financial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7941D"/>
                </a:solidFill>
              </a:rPr>
              <a:t>Program Budget: $6,934,887 | 2026 Capital Budget: $2,600,000 |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05840"/>
            <a:ext cx="2834640" cy="10058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515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$6,934,887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Total Program
Budget (URB)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005840"/>
            <a:ext cx="2834640" cy="1005840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0515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$851,055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2026 Spent
To 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8776" y="1005840"/>
            <a:ext cx="2834640" cy="10058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0515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$2,600,000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2026 Capital
Budget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1005840"/>
            <a:ext cx="2834640" cy="10058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0304" y="10515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-$1,172,192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2026 Projected
Variance 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2148840"/>
            <a:ext cx="11731752" cy="3200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176272"/>
            <a:ext cx="1143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PO Number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2176272"/>
            <a:ext cx="1965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Supplier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2176272"/>
            <a:ext cx="2697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1762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PO Value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17627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Invoiced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217627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Remaining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2176272"/>
            <a:ext cx="1143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2468880"/>
            <a:ext cx="117043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252374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7000001429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2468880"/>
            <a:ext cx="199339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63040" y="252374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Burns &amp; McDonnell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29000" y="2468880"/>
            <a:ext cx="272491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0" y="252374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Ph1 Staging Support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2468880"/>
            <a:ext cx="121615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252374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$137,500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2468880"/>
            <a:ext cx="112471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52360" y="252374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$49,500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49640" y="2468880"/>
            <a:ext cx="112471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252374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$88,000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92640" y="2468880"/>
            <a:ext cx="117043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38360" y="252374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BF00"/>
                </a:solidFill>
              </a:rPr>
              <a:t>🟡 Active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2843784"/>
            <a:ext cx="11704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289864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7000001415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17320" y="2843784"/>
            <a:ext cx="19933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463040" y="28986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Burns &amp; McDonnell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29000" y="2843784"/>
            <a:ext cx="272491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74720" y="289864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Ph1 Construction Support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2843784"/>
            <a:ext cx="121615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0" y="289864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$869,235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06640" y="2843784"/>
            <a:ext cx="112471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52360" y="289864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$798,665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49640" y="2843784"/>
            <a:ext cx="112471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0" y="289864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$70,570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92640" y="2843784"/>
            <a:ext cx="11704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38360" y="289864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BF00"/>
                </a:solidFill>
              </a:rPr>
              <a:t>🟡 Active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28600" y="3218688"/>
            <a:ext cx="117043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32735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7000002099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17320" y="3218688"/>
            <a:ext cx="199339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63040" y="327355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Burns &amp; McDonnell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429000" y="3218688"/>
            <a:ext cx="272491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74720" y="32735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Ph2 Network Design SOW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72200" y="3218688"/>
            <a:ext cx="121615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17920" y="327355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$1,370,040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406640" y="3218688"/>
            <a:ext cx="112471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52360" y="32735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$388,740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49640" y="3218688"/>
            <a:ext cx="112471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95360" y="32735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$981,300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92640" y="3218688"/>
            <a:ext cx="117043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38360" y="32735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BF00"/>
                </a:solidFill>
              </a:rPr>
              <a:t>🟡 Active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28600" y="3593592"/>
            <a:ext cx="11704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320" y="364845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7000001857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417320" y="3593592"/>
            <a:ext cx="19933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463040" y="36484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Nokia of America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29000" y="3593592"/>
            <a:ext cx="272491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74720" y="364845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Ph2 Equipment + NSP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3593592"/>
            <a:ext cx="121615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17920" y="364845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$1,899,030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406640" y="3593592"/>
            <a:ext cx="112471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52360" y="364845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$532,525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549640" y="3593592"/>
            <a:ext cx="112471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595360" y="364845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$1,366,505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92640" y="3593592"/>
            <a:ext cx="11704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738360" y="364845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BF00"/>
                </a:solidFill>
              </a:rPr>
              <a:t>🟡 Active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8600" y="3968496"/>
            <a:ext cx="117043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74320" y="4023359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7000002054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417320" y="3968496"/>
            <a:ext cx="199339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463040" y="4023359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Elecnor Hawkeye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429000" y="3968496"/>
            <a:ext cx="272491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74720" y="4023359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Ph2 Construction ($632K SOW)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3968496"/>
            <a:ext cx="121615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17920" y="4023359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$632,303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406640" y="3968496"/>
            <a:ext cx="112471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452360" y="4023359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549640" y="3968496"/>
            <a:ext cx="112471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595360" y="4023359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$632,303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692640" y="3968496"/>
            <a:ext cx="117043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738360" y="4023359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BF00"/>
                </a:solidFill>
              </a:rPr>
              <a:t>🟡 New SOW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28600" y="4343400"/>
            <a:ext cx="11704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74320" y="439826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7000001175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417320" y="4343400"/>
            <a:ext cx="19933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463040" y="439826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Nokia of America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429000" y="4343400"/>
            <a:ext cx="272491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474720" y="439826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Ph1 Equipment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72200" y="4343400"/>
            <a:ext cx="121615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217920" y="439826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$190,575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406640" y="4343400"/>
            <a:ext cx="112471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452360" y="439826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$190,575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549640" y="4343400"/>
            <a:ext cx="112471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595360" y="439826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692640" y="4343400"/>
            <a:ext cx="11704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738360" y="439826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700"/>
                </a:solidFill>
              </a:rPr>
              <a:t>✅ Complete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28600" y="4718304"/>
            <a:ext cx="117043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4320" y="47731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7000001748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417320" y="4718304"/>
            <a:ext cx="199339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463040" y="477316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Presidio Networked Sol.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429000" y="4718304"/>
            <a:ext cx="272491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474720" y="477316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Network services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72200" y="4718304"/>
            <a:ext cx="121615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217920" y="4773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$40,955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406640" y="4718304"/>
            <a:ext cx="112471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452360" y="4773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$40,955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49640" y="4718304"/>
            <a:ext cx="112471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95360" y="4773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692640" y="4718304"/>
            <a:ext cx="1170432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738360" y="47731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700"/>
                </a:solidFill>
              </a:rPr>
              <a:t>✅ Complete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8600" y="5093208"/>
            <a:ext cx="11704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51480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7000001767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417320" y="5093208"/>
            <a:ext cx="199339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463040" y="514807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Graybar Electric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429000" y="5093208"/>
            <a:ext cx="272491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474720" y="514807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Materials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72200" y="5093208"/>
            <a:ext cx="121615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217920" y="514807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$24,759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406640" y="5093208"/>
            <a:ext cx="112471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452360" y="514807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$24,759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549640" y="5093208"/>
            <a:ext cx="112471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595360" y="514807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$0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692640" y="5093208"/>
            <a:ext cx="1170432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738360" y="51480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700"/>
                </a:solidFill>
              </a:rPr>
              <a:t>✅ Complete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28600" y="5468112"/>
            <a:ext cx="1170432" cy="347472"/>
          </a:xfrm>
          <a:prstGeom prst="rect">
            <a:avLst/>
          </a:prstGeom>
          <a:solidFill>
            <a:srgbClr val="00338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274320" y="552297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417320" y="5468112"/>
            <a:ext cx="1993392" cy="347472"/>
          </a:xfrm>
          <a:prstGeom prst="rect">
            <a:avLst/>
          </a:prstGeom>
          <a:solidFill>
            <a:srgbClr val="00338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463040" y="552297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429000" y="5468112"/>
            <a:ext cx="2724912" cy="347472"/>
          </a:xfrm>
          <a:prstGeom prst="rect">
            <a:avLst/>
          </a:prstGeom>
          <a:solidFill>
            <a:srgbClr val="00338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74720" y="552297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46" name="Rectangle 145"/>
          <p:cNvSpPr/>
          <p:nvPr/>
        </p:nvSpPr>
        <p:spPr>
          <a:xfrm>
            <a:off x="6172200" y="5468112"/>
            <a:ext cx="1216152" cy="347472"/>
          </a:xfrm>
          <a:prstGeom prst="rect">
            <a:avLst/>
          </a:prstGeom>
          <a:solidFill>
            <a:srgbClr val="00338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217920" y="552297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$5,164,397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406640" y="5468112"/>
            <a:ext cx="1124712" cy="347472"/>
          </a:xfrm>
          <a:prstGeom prst="rect">
            <a:avLst/>
          </a:prstGeom>
          <a:solidFill>
            <a:srgbClr val="00338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452360" y="552297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$2,025,719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549640" y="5468112"/>
            <a:ext cx="1124712" cy="347472"/>
          </a:xfrm>
          <a:prstGeom prst="rect">
            <a:avLst/>
          </a:prstGeom>
          <a:solidFill>
            <a:srgbClr val="00338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595360" y="552297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$3,138,678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9692640" y="5468112"/>
            <a:ext cx="1170432" cy="347472"/>
          </a:xfrm>
          <a:prstGeom prst="rect">
            <a:avLst/>
          </a:prstGeom>
          <a:solidFill>
            <a:srgbClr val="00338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738360" y="552297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4" name="Rectangle 153"/>
          <p:cNvSpPr/>
          <p:nvPr/>
        </p:nvSpPr>
        <p:spPr>
          <a:xfrm>
            <a:off x="228600" y="6400800"/>
            <a:ext cx="11731752" cy="164592"/>
          </a:xfrm>
          <a:prstGeom prst="rect">
            <a:avLst/>
          </a:prstGeom>
          <a:solidFill>
            <a:srgbClr val="FFF8E1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20040" y="6409944"/>
            <a:ext cx="11521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12121"/>
                </a:solidFill>
              </a:rPr>
              <a:t>⚠  2026 Capital Budget: $2,600,000 | Known 2026 ETC: $2,921,137 | Projected Variance: -$1,172,192 (-45%) | Budget augmentation request pending CIO approval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Risks &amp;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941D"/>
                </a:solidFill>
              </a:rPr>
              <a:t>RAG Status | Active Risks &amp; Issues | Mitigations in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987552"/>
            <a:ext cx="256032" cy="2560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59" y="9875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</a:rPr>
              <a:t>RED — High 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987552"/>
            <a:ext cx="256032" cy="256032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9875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</a:rPr>
              <a:t>AMBER — Medium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987552"/>
            <a:ext cx="256032" cy="256032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9875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</a:rPr>
              <a:t>GREEN — Low / Resolved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298448"/>
            <a:ext cx="5760720" cy="29260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316736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⚠  RISKS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298448"/>
            <a:ext cx="5669280" cy="29260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16736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🔧  ISSUES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664208"/>
            <a:ext cx="5760720" cy="1115568"/>
          </a:xfrm>
          <a:prstGeom prst="rect">
            <a:avLst/>
          </a:prstGeom>
          <a:solidFill>
            <a:srgbClr val="FFEBEB"/>
          </a:solidFill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1664208"/>
            <a:ext cx="594360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1700784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7007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Legacy Equipment Fragility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20482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JMUX equipment 25+ yrs old. Faulty connectors, brittle fiber — potential for unplanned outage during Phase 2 cutovers.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3957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↳ Mitigation: Careful cutover sequencing. B&amp;McD on-site technical support for all Phase 2 cutovers.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852928"/>
            <a:ext cx="5760720" cy="1115568"/>
          </a:xfrm>
          <a:prstGeom prst="rect">
            <a:avLst/>
          </a:prstGeom>
          <a:solidFill>
            <a:srgbClr val="FFEBEB"/>
          </a:solidFill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852928"/>
            <a:ext cx="594360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2889504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28895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2026 Budget Overrun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3697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Known 2026 ETC of $2.92M exceeds $2.6M budget by $1.17M (-45%). Hawkeye Phase 2 SOW ($632K) and Nokia PO ($753K) are primary drivers.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58444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↳ Mitigation: Budget augmentation request to CIO. Phase 3 spend timing may be deferred to 2027 to reduce 2026 exposure.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41648"/>
            <a:ext cx="5760720" cy="1115568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4041648"/>
            <a:ext cx="594360" cy="347472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078224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0782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Phase 2 Schedule Slippage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42569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IFR/IFC design cycle leaves limited buffer. SPI currently at 0.75 (down from 1.00 last month).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77316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↳ Mitigation: Phase 2 surveys completed early. B&amp;McD running concurrent site designs. Weekly tracking calls.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230368"/>
            <a:ext cx="5760720" cy="1115568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5230368"/>
            <a:ext cx="594360" cy="347472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5266944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Substation Access / Weather Delays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561441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Escort availability, weather, or other site conflicts can delay field work and trigger Hawkeye cost impacts.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596188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↳ Mitigation: Verify availability weekly before mobilizing. Adjust site sequencing if specific sites are inaccessible.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1664208"/>
            <a:ext cx="5669280" cy="914400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1664208"/>
            <a:ext cx="822960" cy="32004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170078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1700784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Hicksville Cabling (NSP)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201168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Cat 6 cables ordered. Hawkeye completing cabling for Nokia NSP at Hicksville.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2331720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3387"/>
                </a:solidFill>
              </a:rPr>
              <a:t>↳ Target: 3/3/2026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2651760"/>
            <a:ext cx="5669280" cy="914400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2651760"/>
            <a:ext cx="822960" cy="32004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26883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32320" y="2688336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OTDR Testing — Hicksville Fiber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299923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Low dB levels on fiber at Hicksville. Crown Castle may be the root cause. OTDR testing planned.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3319272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3387"/>
                </a:solidFill>
              </a:rPr>
              <a:t>↳ Target: 3/3–3/4/2026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3639312"/>
            <a:ext cx="5669280" cy="914400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7920" y="3639312"/>
            <a:ext cx="822960" cy="32004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0" y="367588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32320" y="367588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Remote Access to Phase 2 Nodes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0" y="398678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Remote connectivity to NSP nodes at Hicksville &amp; Melville required before router config can begin.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0" y="4306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3387"/>
                </a:solidFill>
              </a:rPr>
              <a:t>↳ Target: In Progress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626864"/>
            <a:ext cx="5669280" cy="914400"/>
          </a:xfrm>
          <a:prstGeom prst="rect">
            <a:avLst/>
          </a:prstGeom>
          <a:solidFill>
            <a:srgbClr val="E8F5E9"/>
          </a:solidFill>
          <a:ln w="25400">
            <a:solidFill>
              <a:srgbClr val="00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17920" y="4626864"/>
            <a:ext cx="822960" cy="320040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17920" y="46634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4663440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Phase 1 SSP / Security Reviews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0" y="497433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Architecture review, security assessment, and compliance readiness all approved by SSP team.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0" y="5294376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9700"/>
                </a:solidFill>
              </a:rPr>
              <a:t>↳ Target: Completed 2/10/2026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5614416"/>
            <a:ext cx="5669280" cy="914400"/>
          </a:xfrm>
          <a:prstGeom prst="rect">
            <a:avLst/>
          </a:prstGeom>
          <a:solidFill>
            <a:srgbClr val="E8F5E9"/>
          </a:solidFill>
          <a:ln w="25400">
            <a:solidFill>
              <a:srgbClr val="00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17920" y="5614416"/>
            <a:ext cx="822960" cy="320040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17920" y="565099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32320" y="565099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CMDB Inventory Update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596188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</a:rPr>
              <a:t>CMDB inventory spreadsheet completed and confirmed in database.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0" y="6281928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009700"/>
                </a:solidFill>
              </a:rPr>
              <a:t>↳ Target: Completed 2/24/2026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CIO Actions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7941D"/>
                </a:solidFill>
              </a:rPr>
              <a:t>3 Items Requiring Decision, Approval or Support —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05840"/>
            <a:ext cx="11731752" cy="1755648"/>
          </a:xfrm>
          <a:prstGeom prst="rect">
            <a:avLst/>
          </a:prstGeom>
          <a:solidFill>
            <a:srgbClr val="FFEBEB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05840"/>
            <a:ext cx="1280160" cy="175564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1645920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DECISION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078992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</a:rPr>
              <a:t>① Budget Augmentation — 2026 Capital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426464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Context: The 2026 capital budget of $2,600,000 is insufficient to cover committed vendor spend.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577340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1728216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Known 2026 Vendor Commitments: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1879092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  • Burns &amp; McDonnell Phase 2 SOW (RITM336401)   $859,520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029968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  • Burns &amp; McDonnell Phase 3 (2026 portion)       $588,011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2180844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  • Nokia PO 7000001857 (added March 2026)         $753,000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7632" y="2331720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  • Elecnor Hawkeye Phase 2 SOW (signed 3/9/26)   $632,303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2482596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  • Phase 1 Outstanding WDs (WD8–13)                $88,303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2633472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  ─────────────────────────────────────────────────────────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7632" y="2784348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</a:rPr>
              <a:t>  Total ETC:  $2,921,137  vs  Budget Remaining: $1,748,945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2935224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</a:rPr>
              <a:t>  Projected Overrun:  -$1,172,192  (-45%)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3086100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27632" y="3236976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➤  CIO approval required for $1.17M budget augmentation to complete Phase 2.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2852928"/>
            <a:ext cx="11731752" cy="1755648"/>
          </a:xfrm>
          <a:prstGeom prst="rect">
            <a:avLst/>
          </a:prstGeom>
          <a:solidFill>
            <a:srgbClr val="FFF8E1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2852928"/>
            <a:ext cx="1280160" cy="1755648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3493008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AWARENESS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29260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BF00"/>
                </a:solidFill>
              </a:rPr>
              <a:t>② Schedule — Yellow Status (SPI 0.75)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27632" y="3273552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Context: Phase 1 experienced a ~2.5-week delay. SPI dropped from 1.00 to 0.75.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27632" y="3424428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27632" y="3575304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Root Causes:  SSP documentation delays | CMDB coordination | Weather | Crown Castle fiber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3726180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Recovery:  All approvals received. Phase 1 close-out is remote config only.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27632" y="3877056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            Phase 2 IFR/IFC running concurrently. Program end date unchanged (Jul 2027).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27632" y="4027932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27632" y="4178808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BF00"/>
                </a:solidFill>
              </a:rPr>
              <a:t>➤  No action required — for awareness and tracking only.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" y="4700016"/>
            <a:ext cx="11731752" cy="1755648"/>
          </a:xfrm>
          <a:prstGeom prst="rect">
            <a:avLst/>
          </a:prstGeom>
          <a:solidFill>
            <a:srgbClr val="E3ECFF"/>
          </a:solidFill>
          <a:ln w="254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8600" y="4700016"/>
            <a:ext cx="1280160" cy="175564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6032" y="5340096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SUPPORT REQUESTED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4773168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87"/>
                </a:solidFill>
              </a:rPr>
              <a:t>③ Crown Castle Fiber — Hicksville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7632" y="5120640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Context: OTDR testing revealed low dB fiber levels at Hicksville substation.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27632" y="5271516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Root cause believed to be Crown Castle infrastructure outside PSEG LI control.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7632" y="5422392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7632" y="5573268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Impact: If not resolved, Phase 2 cutover at Hicksville will be delayed.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27632" y="5724144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        Hicksville is a primary hub site — delay could cascade.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27632" y="5875020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27632" y="6025896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3387"/>
                </a:solidFill>
              </a:rPr>
              <a:t>➤  Request CIO support for formal escalation to Crown Castle if OTDR testing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7632" y="6176772"/>
            <a:ext cx="10149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   confirms Crown Castle fault (results expected March 2026).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Next Steps &amp; Path to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7941D"/>
                </a:solidFill>
              </a:rPr>
              <a:t>March 2026 — July 2027 | Aligned to B&amp;McD MPP Schedule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05840"/>
            <a:ext cx="5669280" cy="2542032"/>
          </a:xfrm>
          <a:prstGeom prst="rect">
            <a:avLst/>
          </a:prstGeom>
          <a:solidFill>
            <a:srgbClr val="F2F2F2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005840"/>
            <a:ext cx="5669280" cy="3474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0698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IMMEDIATE — Next 30 Days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26464"/>
            <a:ext cx="841248" cy="2743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" y="1463040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12–23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45389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PSEG LI review of Wave 1 IFR packages (Far Rockaway, Valley Stream, Cedarhurst)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773936"/>
            <a:ext cx="841248" cy="2743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" y="1810512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18013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Wave 1 IFC target completion — B&amp;McD issues sealed construction drawings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121408"/>
            <a:ext cx="841248" cy="2743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157984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Hawkeye M1 payment due ($99,000) — M1 services &amp; deliverables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468880"/>
            <a:ext cx="841248" cy="2743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" y="250545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4963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Complete OTDR fiber testing at Hicksville; resolve Crown Castle issue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816352"/>
            <a:ext cx="841248" cy="2743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2852928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28437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Continue remote router configuration at Hicksville &amp; Melville (NSP access)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163824"/>
            <a:ext cx="841248" cy="2743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" y="3200400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31912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B&amp;McD begins Wave 2 IFR (Hewlett, Green Acres, Barrett) by 3/17–3/31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08192" y="1005840"/>
            <a:ext cx="5669280" cy="2542032"/>
          </a:xfrm>
          <a:prstGeom prst="rect">
            <a:avLst/>
          </a:prstGeom>
          <a:solidFill>
            <a:srgbClr val="F2F2F2"/>
          </a:solidFill>
          <a:ln w="254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08192" y="1005840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10698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Q2 2026 — April through June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9631" y="1426464"/>
            <a:ext cx="841248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1463040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Apr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1" y="145389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Wave 2 IFC completion target (Hewlett / Green Acres / Barrett Power Plant)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1" y="1773936"/>
            <a:ext cx="841248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0" y="1810512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Apr 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1" y="18013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Hawkeye M2 payment due ($89,000)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9631" y="2121408"/>
            <a:ext cx="841248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7920" y="2157984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May–Jun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14031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Waves 3–5 IFR → IFC design pipeline progressing (B&amp;McD, 36 sites total)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9631" y="2468880"/>
            <a:ext cx="841248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250545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May 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14031" y="24963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Hawkeye M3 payment due ($89,000)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1" y="2816352"/>
            <a:ext cx="841248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0" y="2852928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Jun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1" y="28437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Phase 3 PO target — B&amp;McD Phase 3 SOW to be executed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99631" y="3163824"/>
            <a:ext cx="841248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0" y="3200400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Jun 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14031" y="31912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Hawkeye M3 second tranche due ($89,000)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8600" y="3639312"/>
            <a:ext cx="5669280" cy="2542032"/>
          </a:xfrm>
          <a:prstGeom prst="rect">
            <a:avLst/>
          </a:prstGeom>
          <a:solidFill>
            <a:srgbClr val="F2F2F2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8600" y="3639312"/>
            <a:ext cx="566928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8328" y="37033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Q3–Q4 2026 — July through December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4059936"/>
            <a:ext cx="841248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8328" y="4096512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34440" y="40873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All 36 sites IFC complete — B&amp;McD MPLS Node Design milestone closed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4407408"/>
            <a:ext cx="841248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8328" y="4443984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34440" y="4434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Hawkeye Phase 2 staging &amp; testing begins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4754880"/>
            <a:ext cx="841248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8328" y="479145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Aug 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34440" y="47823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Hawkeye Phase 2 construction &amp; installation starts (36 sites)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" y="5102352"/>
            <a:ext cx="841248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8328" y="5138928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Aug 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34440" y="51297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Hawkeye M4 payment due ($89,000)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449824"/>
            <a:ext cx="841248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38328" y="5486400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Sep 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34440" y="54772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Phase 2 construction &amp; installation complete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" y="5797296"/>
            <a:ext cx="841248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8328" y="5833872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Oct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34440" y="58247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Phase 2 cutover begins — site-by-site through Feb 2027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6144768"/>
            <a:ext cx="841248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38328" y="6181344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Oct–Dec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3444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Phase 3 engineering site surveys and design underway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08192" y="3639312"/>
            <a:ext cx="5669280" cy="2542032"/>
          </a:xfrm>
          <a:prstGeom prst="rect">
            <a:avLst/>
          </a:prstGeom>
          <a:solidFill>
            <a:srgbClr val="F2F2F2"/>
          </a:solidFill>
          <a:ln w="25400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08192" y="3639312"/>
            <a:ext cx="5669280" cy="347472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17920" y="37033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2027 — Program Completion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99631" y="4059936"/>
            <a:ext cx="841248" cy="27432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17920" y="4096512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Jan 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031" y="40873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Phase 2 B&amp;McD engineering program complete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99631" y="4407408"/>
            <a:ext cx="841248" cy="27432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17920" y="4443984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Feb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14031" y="4434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Phase 2 all cutovers complete — program closes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9631" y="4754880"/>
            <a:ext cx="841248" cy="27432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17920" y="4791456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Dec 2026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4031" y="47823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Phase 3 MPLS Node Design complete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199631" y="5102352"/>
            <a:ext cx="841248" cy="27432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17920" y="5138928"/>
            <a:ext cx="804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14031" y="51297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12121"/>
                </a:solidFill>
              </a:rPr>
              <a:t>Program Completion — all phases done, JMUX fully decommissioned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Goals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JMUX Replacement: Private Field Area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11612880" cy="530352"/>
          </a:xfrm>
          <a:prstGeom prst="rect">
            <a:avLst/>
          </a:prstGeom>
          <a:solidFill>
            <a:srgbClr val="F2F2F2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42415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3387"/>
                </a:solidFill>
              </a:rPr>
              <a:t>Modernize PSEG LI's substation communications by replacing legacy JMUX with MPLS nodes to deliver a reliable, scalable, and future-ready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45920"/>
            <a:ext cx="3749039" cy="43891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🔧  Engineering 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2203704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Detailed site surveys at all substations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583180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Rack elevations, power design &amp; supplemental docs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962656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As-builts for each completed site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342132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substations aligned to PSEG LI standards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3721607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As-Builts: BMcD in progress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4101083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462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surveys: Completed during Phase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4480559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2569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IFRs: Being issued by BMcD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4860036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80517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IFCs: In progress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1645920"/>
            <a:ext cx="3749039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79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📦  Procurement &amp; Staging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15968" y="2203704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Phase 1 equipment purchased by PSEG LI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15968" y="2583180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Equipment shipped &amp; delivered to Hawkeye staging facility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15968" y="2962656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staging completed: Sept 29, 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8" y="3342132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Nokia Phase 2 equipment delivered: Feb 19, 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5968" y="3721607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Equipment safely stored at Hawkeye warehouse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38160" y="1645920"/>
            <a:ext cx="3749039" cy="43891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🏗  Construction &amp; Installation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47888" y="2203704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BMcD on-site coordination throughout Phase 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2583180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0392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Technical support &amp; commissioning oversight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47888" y="2962656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0392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31/31 Phase 1 sites installed &amp; commissioned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47888" y="3342132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0392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SSP documentation: Submitted &amp; approved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47888" y="3721607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0392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Remote connectivity to nodes: In progress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47888" y="4101083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03920" y="40462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construction: Pending IFC completion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39496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4223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PROGRAM SCOPE SUMMARY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" y="5422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9164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Total Substations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03320" y="54223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MPLS Sites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40680" y="54223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DF RTU Sites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78040" y="54223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Radio Shelter Sites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81160" y="54223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Nokia MPLS Nodes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779008"/>
            <a:ext cx="11612880" cy="301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581558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91640" y="581558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581558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40680" y="581558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78040" y="581558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581558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31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6099048"/>
            <a:ext cx="116128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0040" y="613562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91640" y="613562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03320" y="613562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3562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78040" y="613562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81160" y="613562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6419088"/>
            <a:ext cx="11612880" cy="301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0040" y="64556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91640" y="645566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03320" y="645566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40680" y="645566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78040" y="645566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81160" y="645566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6739128"/>
            <a:ext cx="11612880" cy="301752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0040" y="677570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TOTAL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91640" y="677570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129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03320" y="677570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40680" y="677570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78040" y="677570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677570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2026 Financial Exposure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941D"/>
                </a:solidFill>
              </a:rPr>
              <a:t>Full picture including Hawkeye Phase 2 SOW ($632K) — Updated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2743200" cy="10972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$2,600,000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2026 Capital Budget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005840"/>
            <a:ext cx="2743200" cy="109728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$851,055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Spent to Date (33%)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6" y="1005840"/>
            <a:ext cx="2743200" cy="10972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$2,921,137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Total ETC (Known)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07424" y="1005840"/>
            <a:ext cx="2743200" cy="10972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-$1,172,192
(-45%)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4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2026 Projected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2402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2026 Budget Utilization &amp; Exposure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542032"/>
            <a:ext cx="1161288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542032"/>
            <a:ext cx="3801230" cy="34747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75550" y="2542032"/>
            <a:ext cx="7811649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2578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▲ Spent: $851K (33%)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5786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▲ ETC: $2.92M — EXCEEDS BUDGET by $1.17M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0" y="2450592"/>
            <a:ext cx="27432" cy="5303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21440" y="24231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</a:rPr>
              <a:t>Budget
$2.6M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99232"/>
            <a:ext cx="6492240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017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⚠  2026 COST DRIVERS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364992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34015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Burns &amp; McDonnell Phase 2 SOW (reduced)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340156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$859,520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767328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03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Burns &amp; McDonnell Phase 3 (2026 portion)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0390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$588,011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169664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20624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Nokia PO 7000001857 (added March 2026)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2062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$753,000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572000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46085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Hawkeye Phase 2 Construction (36 sites)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460857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$632,303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974336"/>
            <a:ext cx="6492240" cy="374904"/>
          </a:xfrm>
          <a:prstGeom prst="rect">
            <a:avLst/>
          </a:prstGeom>
          <a:solidFill>
            <a:srgbClr val="FFF8D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501091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Outstanding WDs (WD8-13)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501091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</a:rPr>
              <a:t>$88,303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376672"/>
            <a:ext cx="649224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4132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12080" y="541324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5779008"/>
            <a:ext cx="6492240" cy="374904"/>
          </a:xfrm>
          <a:prstGeom prst="rect">
            <a:avLst/>
          </a:prstGeom>
          <a:solidFill>
            <a:srgbClr val="C0000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58155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TOTAL KNOWN ETC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1558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$2,921,137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9440" y="2999232"/>
            <a:ext cx="4937760" cy="329184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0" y="30175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📅  HAWKEYE PH2 MILESTONE SCHEDULE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9440" y="3364992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0880" y="340156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WD #8–13 Outstanding WDs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340156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In Progress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41280" y="340156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$88,303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9440" y="3767328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0" y="380390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M1 Services &amp; Deliverables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35440" y="380390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3/30/2026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380390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$99,000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9440" y="4169664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40880" y="420624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M2 Services &amp; Deliverables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35440" y="42062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4/30/2026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420624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4572000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40880" y="460857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M3 Services &amp; Deliverables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35440" y="460857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5/30/2026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41280" y="460857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9440" y="4974336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40880" y="501091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M3 Services &amp; Deliverables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35440" y="50109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6/30/2026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41280" y="501091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9440" y="5376672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40880" y="54132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M4 Services &amp; Deliverables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35440" y="541324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8/30/2026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41280" y="541324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949440" y="5779008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40880" y="581558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M5 Decommission Phase 2 Equip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35440" y="581558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TBD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41280" y="581558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949440" y="6181344"/>
            <a:ext cx="4937760" cy="374904"/>
          </a:xfrm>
          <a:prstGeom prst="rect">
            <a:avLst/>
          </a:prstGeom>
          <a:solidFill>
            <a:srgbClr val="00338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40880" y="62179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35440" y="62179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41280" y="621792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$632,303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6400800"/>
            <a:ext cx="11612880" cy="164592"/>
          </a:xfrm>
          <a:prstGeom prst="rect">
            <a:avLst/>
          </a:prstGeom>
          <a:solidFill>
            <a:srgbClr val="FFF8D0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65760" y="6400800"/>
            <a:ext cx="11430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4040"/>
                </a:solidFill>
              </a:rPr>
              <a:t>⚠  Note: 2026 ETC of $2.92M exceeds remaining budget of $1.75M by $1.17M. CIO approval required for budget augmentation. Phase 3 2026 exposure ($588K) pending confirmation.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2 &amp; 3 Master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7941D"/>
                </a:solidFill>
              </a:rPr>
              <a:t>Burns &amp; McDonnell | Live MPP Data |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005840"/>
            <a:ext cx="8641080" cy="237744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Jan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306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Feb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5478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750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Apr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8922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472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May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19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Jun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2366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5916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Jul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79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763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Aug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581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Sep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9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1082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Oct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9254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80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Nov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526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Dec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2698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624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Jan 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7442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7970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Feb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36142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64153" y="1005840"/>
            <a:ext cx="20116" cy="54406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99561" y="941832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7941D"/>
                </a:solidFill>
              </a:rPr>
              <a:t>▼TODAY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" y="1572768"/>
            <a:ext cx="11978640" cy="226771"/>
          </a:xfrm>
          <a:prstGeom prst="rect">
            <a:avLst/>
          </a:prstGeom>
          <a:solidFill>
            <a:srgbClr val="E3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160477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003387"/>
                </a:solidFill>
              </a:rPr>
              <a:t>PHASE 2 — Engineering &amp; Construction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574" y="1623060"/>
            <a:ext cx="11168188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0574" y="1623060"/>
            <a:ext cx="1005136" cy="149047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8006" y="1623060"/>
            <a:ext cx="100513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" y="1813255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7160" y="1845259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PO Received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574" y="1863547"/>
            <a:ext cx="36576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0574" y="1863547"/>
            <a:ext cx="36576" cy="149047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8006" y="1863547"/>
            <a:ext cx="3657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" y="2053742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7160" y="2085746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Construction Support Coordinator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21848" y="2104034"/>
            <a:ext cx="3770282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421848" y="2104034"/>
            <a:ext cx="2827711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49280" y="2104034"/>
            <a:ext cx="2827711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75%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" y="2294229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" y="2326233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Surveys (Ph2 — 36 sites)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07167" y="2344521"/>
            <a:ext cx="1222794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07167" y="2344521"/>
            <a:ext cx="1222794" cy="149047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34599" y="2344521"/>
            <a:ext cx="1222794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" y="2534716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" y="2566720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MPLS Node Design (all 36 sites)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7057" y="2585008"/>
            <a:ext cx="3749902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847057" y="2585008"/>
            <a:ext cx="149996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874489" y="2585008"/>
            <a:ext cx="14999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4%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" y="2775204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37160" y="2807208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1: Far Rockaway/Valley Stm/Cedarhurst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67437" y="2825496"/>
            <a:ext cx="1120894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867437" y="2825496"/>
            <a:ext cx="560447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94869" y="2825496"/>
            <a:ext cx="560447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" y="3015691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7160" y="3047695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2: Hewlett / Green Acres / Barrett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5415" y="3065983"/>
            <a:ext cx="140621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440" y="3256178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7160" y="328818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3: Whiteside/Baldwin/Hauppauge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51371" y="3306470"/>
            <a:ext cx="1569252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440" y="3496665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7160" y="3528669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4: Babylon/Sterling/MacArthur/Sayvill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64668" y="3546957"/>
            <a:ext cx="130431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" y="3737152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7160" y="3769156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5: Bayport/S.Farmingdale/Patchogue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49986" y="3787444"/>
            <a:ext cx="144697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" y="3977639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37160" y="4009644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DO Offices / Hicksville / Ruland / ACC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49986" y="4027931"/>
            <a:ext cx="144697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440" y="4218127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7160" y="4250131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Staging &amp; Testing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17340" y="4268419"/>
            <a:ext cx="264938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440" y="4458614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37160" y="4490618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Construction &amp; Installation (Hawkeye)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902658" y="4508906"/>
            <a:ext cx="957855" cy="149047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1440" y="4699101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37160" y="4731105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Acceptance Testing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880894" y="4749393"/>
            <a:ext cx="40759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1440" y="4939588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37160" y="497159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Cutover (Phase 2)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82793" y="4989880"/>
            <a:ext cx="2465968" cy="149047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" y="5180076"/>
            <a:ext cx="11978640" cy="226771"/>
          </a:xfrm>
          <a:prstGeom prst="rect">
            <a:avLst/>
          </a:prstGeom>
          <a:solidFill>
            <a:srgbClr val="E3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37160" y="5212080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003387"/>
                </a:solidFill>
              </a:rPr>
              <a:t>PHASE 3 — Engineering Design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14925" y="5230368"/>
            <a:ext cx="3892561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1440" y="5420563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37160" y="5452567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PO Received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14925" y="5470855"/>
            <a:ext cx="36576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440" y="5661050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37160" y="5693054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Surveys (Phase 3 — 35 sites)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435305" y="5711342"/>
            <a:ext cx="1569252" cy="149047"/>
          </a:xfrm>
          <a:prstGeom prst="rect">
            <a:avLst/>
          </a:prstGeom>
          <a:solidFill>
            <a:srgbClr val="FFF8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" y="5901537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37160" y="5933541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MPLS Node Design (Phase 3)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577965" y="5951829"/>
            <a:ext cx="3729522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1440" y="6196888"/>
            <a:ext cx="11978640" cy="2011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860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9700"/>
                </a:solidFill>
              </a:rPr>
              <a:t>■ Complete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0604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BF00"/>
                </a:solidFill>
              </a:rPr>
              <a:t>■ In Progress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8348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3387"/>
                </a:solidFill>
              </a:rPr>
              <a:t>■ Planned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6092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</a:rPr>
              <a:t>■ Construction/Cutover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73836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7941D"/>
                </a:solidFill>
              </a:rPr>
              <a:t>▼ Today 3/12/26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Vendor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7941D"/>
                </a:solidFill>
              </a:rPr>
              <a:t>3 Active Vendors | Roles, Contracts &amp; Status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" y="1005840"/>
            <a:ext cx="3794760" cy="5486400"/>
          </a:xfrm>
          <a:prstGeom prst="rect">
            <a:avLst/>
          </a:prstGeom>
          <a:solidFill>
            <a:srgbClr val="D6E4F7"/>
          </a:solidFill>
          <a:ln w="254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4592" y="1005840"/>
            <a:ext cx="3794760" cy="5029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1042416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Burns &amp; McDonnell EGS, P.C.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1280160"/>
            <a:ext cx="3611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Network Engineering &amp;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70632" y="1572768"/>
            <a:ext cx="1097280" cy="237744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591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157276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Contract: RITM336401 | MA00007834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1755648"/>
            <a:ext cx="3611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3387"/>
                </a:solidFill>
              </a:rPr>
              <a:t>Value: $1,370,040  |  Start: July 28,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" y="1920240"/>
            <a:ext cx="3611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Target Completion: September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121408"/>
            <a:ext cx="3611880" cy="13716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2157984"/>
            <a:ext cx="3611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19" b="1">
                <a:solidFill>
                  <a:srgbClr val="212121"/>
                </a:solidFill>
              </a:rPr>
              <a:t>Scope of Work: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MPLS network node design — 36 sites (IFR → IFC → As-Built)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Phase 1 Staging Support (complete)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Phase 1 Construction Support Coordinator (Aug 2025–Jan 2026)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Phase 2 Substation Site Surveys (36 sites, complete 2/27/26)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Weekly status calls &amp; schedule management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100"/>
              </a:spcAft>
            </a:pPr>
            <a:r>
              <a:rPr sz="819" b="1">
                <a:solidFill>
                  <a:srgbClr val="212121"/>
                </a:solidFill>
              </a:rPr>
              <a:t>Milestone Payments: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  M1 Staging Support:  $57,300  ✓ Complete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  M2 Construction Coord:  $368,100  (monthly, in progress)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  M3 Site Surveys:  $86,040  ✓ Complete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  M4 MPLS Node Design:  $858,600  (in progress, 4%)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5047488"/>
            <a:ext cx="3611880" cy="13716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5084064"/>
            <a:ext cx="3611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3387"/>
                </a:solidFill>
              </a:rPr>
              <a:t>Key Contact: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" y="5248656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12121"/>
                </a:solidFill>
              </a:rPr>
              <a:t>Alex Lenox (PM) | alenox@burnsmcd.com | (636) 248-0351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5687568"/>
            <a:ext cx="36118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57607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BF00"/>
                </a:solidFill>
              </a:rPr>
              <a:t>Status: Design 4% complete. SPI 0.75.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23944" y="1005840"/>
            <a:ext cx="3794760" cy="5486400"/>
          </a:xfrm>
          <a:prstGeom prst="rect">
            <a:avLst/>
          </a:prstGeom>
          <a:solidFill>
            <a:srgbClr val="FFF3CC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23944" y="1005840"/>
            <a:ext cx="3794760" cy="502920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15383" y="1042416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Elecnor Hawkeye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15383" y="1280160"/>
            <a:ext cx="3611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Construction &amp; Installation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9984" y="1572768"/>
            <a:ext cx="1097280" cy="237744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4" y="1591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15383" y="157276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Contract: Phase 2 SOW — Dated March 9,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15383" y="1755648"/>
            <a:ext cx="3611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BF00"/>
                </a:solidFill>
              </a:rPr>
              <a:t>Value: $632,303  |  Start: March 9,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15383" y="1920240"/>
            <a:ext cx="3611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Target Completion: Late 2026 (post IFC)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5383" y="2121408"/>
            <a:ext cx="3611880" cy="13716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15383" y="2157984"/>
            <a:ext cx="3611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19" b="1">
                <a:solidFill>
                  <a:srgbClr val="212121"/>
                </a:solidFill>
              </a:rPr>
              <a:t>Scope of Work: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Pre-site visit, installation, demo equipment &amp; staging (36 sites)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WD #8: Fiber testing Elwood/Northport + 7 patch panels  $8,229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WD #10: Oakwood/Northport patch panel install  $15,089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WD #11: Fiber &amp; CAT5E supply/install Hicksville  $60,070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WD #12: Fiber enclosures Hicksville  $2,515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WD #13: Fiber testing Syosset/Hicksville  $2,400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100"/>
              </a:spcAft>
            </a:pPr>
            <a:r>
              <a:rPr sz="819" b="1">
                <a:solidFill>
                  <a:srgbClr val="212121"/>
                </a:solidFill>
              </a:rPr>
              <a:t>Milestone Payments: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  M1:  $99,000  due 3/30/2026  ← IMMINENT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  M2:  $89,000  due 4/30/2026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  M3:  $89,000  due 5/30/2026 &amp; 6/30/2026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  M4:  $89,000  due 8/30/2026  |  M5 Decommission:  $89,000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15383" y="5047488"/>
            <a:ext cx="3611880" cy="13716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15383" y="5084064"/>
            <a:ext cx="3611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BF00"/>
                </a:solidFill>
              </a:rPr>
              <a:t>Key Contact: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3" y="5248656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12121"/>
                </a:solidFill>
              </a:rPr>
              <a:t>Robert M. Kenney (Electrical Supervisor) | (631) 291-2166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15383" y="5687568"/>
            <a:ext cx="36118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88536" y="57607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BF00"/>
                </a:solidFill>
              </a:rPr>
              <a:t>Status: WDs in progress. M1 due 3/30.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83296" y="1005840"/>
            <a:ext cx="3794760" cy="5486400"/>
          </a:xfrm>
          <a:prstGeom prst="rect">
            <a:avLst/>
          </a:prstGeom>
          <a:solidFill>
            <a:srgbClr val="E8F5E9"/>
          </a:solidFill>
          <a:ln w="25400">
            <a:solidFill>
              <a:srgbClr val="00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3296" y="1005840"/>
            <a:ext cx="3794760" cy="502920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74736" y="1042416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Nokia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74736" y="1280160"/>
            <a:ext cx="3611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Network Equipment Supply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89336" y="1572768"/>
            <a:ext cx="1097280" cy="237744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9336" y="1591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74736" y="157276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Contract: PO 7000001857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4736" y="1755648"/>
            <a:ext cx="3611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9700"/>
                </a:solidFill>
              </a:rPr>
              <a:t>Value: $1,900,000+  |  Start: 2025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74736" y="1920240"/>
            <a:ext cx="3611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12121"/>
                </a:solidFill>
              </a:rPr>
              <a:t>Target Completion: Equipment Delivered Feb 2026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74736" y="2121408"/>
            <a:ext cx="3611880" cy="13716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74736" y="2157984"/>
            <a:ext cx="3611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19" b="1">
                <a:solidFill>
                  <a:srgbClr val="212121"/>
                </a:solidFill>
              </a:rPr>
              <a:t>Scope of Work: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Supply Nokia 7705 SAR routers for all Phase 2 sites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Equipment staged and delivered February 2026  ✓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NSP (Network Services Platform) software &amp; licensing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• Firmware synchronized on all CSM cards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100"/>
              </a:spcAft>
            </a:pPr>
            <a:r>
              <a:rPr sz="819" b="1">
                <a:solidFill>
                  <a:srgbClr val="212121"/>
                </a:solidFill>
              </a:rPr>
              <a:t>PO Details: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  PO 7000001857:  $753,000  (added March 2026)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  Previous PO total:  ~$1,147,000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  Total Nokia exposure:  ~$1,900,000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100"/>
              </a:spcAft>
            </a:pPr>
            <a:r>
              <a:rPr sz="819" b="1">
                <a:solidFill>
                  <a:srgbClr val="212121"/>
                </a:solidFill>
              </a:rPr>
              <a:t>Current Issues: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  NSP remote access to Hicksville &amp; Melville nodes pending</a:t>
            </a:r>
          </a:p>
          <a:p>
            <a:pPr>
              <a:spcAft>
                <a:spcPts val="100"/>
              </a:spcAft>
            </a:pPr>
            <a:r>
              <a:rPr sz="819" b="0">
                <a:solidFill>
                  <a:srgbClr val="212121"/>
                </a:solidFill>
              </a:rPr>
              <a:t>  Cat 6 cabling for NSP at Hicksville in progress (Hawkeye)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74736" y="5047488"/>
            <a:ext cx="3611880" cy="13716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74736" y="5084064"/>
            <a:ext cx="3611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9700"/>
                </a:solidFill>
              </a:rPr>
              <a:t>Key Contact: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74736" y="5248656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12121"/>
                </a:solidFill>
              </a:rPr>
              <a:t>Nokia Account Team | PSEG Long Island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74736" y="5687568"/>
            <a:ext cx="36118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47888" y="57607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BF00"/>
                </a:solidFill>
              </a:rPr>
              <a:t>Status: Equipment delivered. NSP access pending.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