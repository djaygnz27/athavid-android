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87784" y="2377440"/>
            <a:ext cx="201168" cy="21031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JMUX Replacement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762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7941D"/>
                </a:solidFill>
              </a:rPr>
              <a:t>CIO Briefing  |  Phase 1 Complete  ·  Phase 2 Underway  ·  Path to Completion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788920"/>
            <a:ext cx="67025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2971800"/>
            <a:ext cx="2743200" cy="274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965E"/>
                </a:solidFill>
              </a:rPr>
              <a:t>COMPLETE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2971800"/>
            <a:ext cx="2743200" cy="274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2971800"/>
            <a:ext cx="2743200" cy="685800"/>
          </a:xfrm>
          <a:prstGeom prst="rect">
            <a:avLst/>
          </a:prstGeom>
          <a:solidFill>
            <a:srgbClr val="0D1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2971800"/>
            <a:ext cx="2743200" cy="274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175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ABBFF"/>
                </a:solidFill>
              </a:rPr>
              <a:t>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27355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</a:rPr>
              <a:t>REVIEW NEEDED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99BB"/>
                </a:solidFill>
              </a:rPr>
              <a:t>PRJ13797  |  Program Manager: Dhananjaya Gunaratne  |  March 12,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56688"/>
                </a:solidFill>
              </a:rPr>
              <a:t>PSEG Long Island  |  IT Infrastructure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 Program  ·  Status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3858768" cy="5577840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3858768" cy="475488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✅  Phase 1 —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31 substations cutover to Nokia MPLS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&amp; Wave 2 cutovers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NSP installed at Hicksville &amp; Melville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SSP security review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CMDB inventory confirmed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Close-out items in progress: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Cat 6 cabling @ Hicksville (Hawkeye)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OTDR fiber testing (Crown Castle)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· Remote router configuration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932688"/>
            <a:ext cx="3858768" cy="557784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0" y="932688"/>
            <a:ext cx="3858768" cy="47548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5968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🟡  Phase 2 — 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36-site MPLS engineering underway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B&amp;McD SOW RITM336401 active ($1.37M)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Site surveys: COMPLETE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Nokia Phase 2 equipment delivered 2/19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IFR issued — PSEG LI review open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Wave 1 IFC target: March 23,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Hawkeye Ph2 SOW signed: $632,303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SPI: 0.75 🟡  (recovery plan active)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Program end date: July 2027 unchanged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932688"/>
            <a:ext cx="3858768" cy="557784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932688"/>
            <a:ext cx="3858768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96926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⚠  CIO Actions Required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148132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① DECISION: Budget Augmentation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190195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2026 ETC $2.92M vs budget $2.6M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232257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Gap: -$1.17M  |  Need CIO approval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274320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316382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② AWARENESS: Schedule Yellow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358444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SPI 0.75, 2.5-wk delay, recovering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005072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End date unaffected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425696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484632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</a:rPr>
              <a:t>③ SUPPORT: Crown Castle Fiber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5266944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Hicksville OTDR — escalation may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687568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   require CIO intervention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1 Accomplishments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31 Substations Complete  |  All Cutovers Done  |  NSP Operational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Substations
Cutover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Waves
Complete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8776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8776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8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1928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Wave 1 &amp; 2
Completion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60120"/>
            <a:ext cx="2651760" cy="100584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892808"/>
            <a:ext cx="2651760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01498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147218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NSP
Operational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2029968"/>
            <a:ext cx="11731752" cy="274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8600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Network Design &amp; Engineering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B&amp;McD designed MPLS node layouts for all 31 Phase 1 substations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IFR → IFC → As-Built cycle completed for all sites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 placement, power, fiber connectivity designed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Construction documents delivered and accepted by PSEG LI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084831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2084831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2148839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Staging &amp; Equipment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50545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7705 SAR routers staged and tested at Hawkeye facility (Sep–Oct 2025)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298094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Firmware validated on all nodes; all CSM cards synchronized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345643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BGP, IGP, QoS, SyncE, security filters configured and tested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93192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Service validation: VPRN, Epipe, Cpipe traffic tests passed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8600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8600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Elecnor Hawkeye on-site construction Aug 2025 – Jan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All 31 sites physically installed; JMUX decommissioning in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1 cutovers complete (Dec 2025)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Wave 2 cutovers complete (Jan 2026)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5352" y="4553712"/>
            <a:ext cx="5669280" cy="2377440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45352" y="4553712"/>
            <a:ext cx="5669280" cy="347472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Governance &amp; Compliance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4974336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SSP architecture review approved (Feb 10, 2026)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82512" y="5449824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Security assessment &amp; compliance readiness confirmed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82512" y="592531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CMDB inventory spreadsheet completed &amp; confirmed (Feb 24, 2026)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82512" y="6400800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</a:rPr>
              <a:t>✓  Nokia NSP installed at Hicksville &amp; Melville control centers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Phase 2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36 Sites  |  B&amp;McD RITM336401 ($1,370,040)  |  Hawkeye SOW ($632,303)  |  Nokia Delivered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Site
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9656" y="932688"/>
            <a:ext cx="1581912" cy="594360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Nokia
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2/19/2026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19656" y="1536192"/>
            <a:ext cx="1581912" cy="274320"/>
          </a:xfrm>
          <a:prstGeom prst="rect">
            <a:avLst/>
          </a:prstGeom>
          <a:solidFill>
            <a:srgbClr val="E6F7F1"/>
          </a:solidFill>
          <a:ln w="127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5623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965E"/>
                </a:solidFill>
              </a:rPr>
              <a:t>✓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1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56432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11296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IFR
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1296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2/23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56432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93008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
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93208" y="932688"/>
            <a:ext cx="1581912" cy="59436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8072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PSEG LI
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48072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10 biz
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93208" y="1536192"/>
            <a:ext cx="1581912" cy="274320"/>
          </a:xfrm>
          <a:prstGeom prst="rect">
            <a:avLst/>
          </a:prstGeom>
          <a:solidFill>
            <a:srgbClr val="FFF8E1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9784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A500"/>
                </a:solidFill>
              </a:rPr>
              <a:t>IN PROG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84264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9984" y="932688"/>
            <a:ext cx="1581912" cy="594360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IFC
Design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4848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Wave 1
3/23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9984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A99"/>
                </a:solidFill>
              </a:rPr>
              <a:t>UPCOMING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66759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21624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Construct
(Hawkeye)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1624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Aug–Sep
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59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03335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57815" y="1060704"/>
            <a:ext cx="73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44466"/>
                </a:solidFill>
              </a:rPr>
              <a:t>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3536" y="932688"/>
            <a:ext cx="1581912" cy="59436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950976"/>
            <a:ext cx="1472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Cutover
&amp; SAT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1225296"/>
            <a:ext cx="1472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FFFFFF"/>
                </a:solidFill>
              </a:rPr>
              <a:t>Oct 26–
Feb 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003536" y="1536192"/>
            <a:ext cx="1581912" cy="274320"/>
          </a:xfrm>
          <a:prstGeom prst="rect">
            <a:avLst/>
          </a:prstGeom>
          <a:solidFill>
            <a:srgbClr val="E8F0FE"/>
          </a:solidFill>
          <a:ln w="127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40111" y="1554480"/>
            <a:ext cx="1508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1F5B"/>
                </a:solidFill>
              </a:rPr>
              <a:t>NOT START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" y="1901952"/>
            <a:ext cx="598932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19202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BURNS &amp; McDONNELL — CPS MILESTONES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" y="2212848"/>
            <a:ext cx="25420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8600" y="2231136"/>
            <a:ext cx="24688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0" y="2212848"/>
            <a:ext cx="112471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88920" y="2231136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86200" y="2212848"/>
            <a:ext cx="98755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0" y="223113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92040" y="2212848"/>
            <a:ext cx="1170432" cy="256032"/>
          </a:xfrm>
          <a:prstGeom prst="rect">
            <a:avLst/>
          </a:prstGeom>
          <a:solidFill>
            <a:srgbClr val="224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0" y="223113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" y="2468880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8600" y="2523744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Phase 1 Staging Support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0" y="2468880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88920" y="2523744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8/22/2025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86200" y="2468880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31920" y="252374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$57,300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92040" y="2468880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37760" y="25237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2880" y="2816352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8600" y="287121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Construction Support Coord.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0" y="2816352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88920" y="287121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Aug–Jan 2026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86200" y="2816352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931920" y="287121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$368,100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92040" y="2816352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37760" y="28712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2880" y="3163824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28600" y="3218688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  Substation Site Surveys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0" y="3163824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88920" y="3218688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2/27/2026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3163824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931920" y="321868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$86,040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92040" y="3163824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0" y="321868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2880" y="3511296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28600" y="3566160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(IFR)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0" y="3511296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788920" y="3566160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2/23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886200" y="3511296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931920" y="356616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$601,020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892040" y="3511296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937760" y="35661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In Progress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82880" y="3858768"/>
            <a:ext cx="25420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28600" y="3913632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MPLS Node Design (IFC)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743200" y="3858768"/>
            <a:ext cx="112471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788920" y="3913632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1: 3/23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86200" y="3858768"/>
            <a:ext cx="98755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0" y="391363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$214,668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3858768"/>
            <a:ext cx="11704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3776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Upcoming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82880" y="4206240"/>
            <a:ext cx="25420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8600" y="4261103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M4  As-Built (post construction)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0" y="4206240"/>
            <a:ext cx="112471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788920" y="4261103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Post constr.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886200" y="4206240"/>
            <a:ext cx="98755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931920" y="4261103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$42,912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92040" y="4206240"/>
            <a:ext cx="11704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937760" y="4261103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⏳ Not Started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82880" y="4553712"/>
            <a:ext cx="25420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4608576"/>
            <a:ext cx="24688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43200" y="4553712"/>
            <a:ext cx="112471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88920" y="4608576"/>
            <a:ext cx="1051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1" name="Rectangle 110"/>
          <p:cNvSpPr/>
          <p:nvPr/>
        </p:nvSpPr>
        <p:spPr>
          <a:xfrm>
            <a:off x="3886200" y="4553712"/>
            <a:ext cx="98755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31920" y="460857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$1,370,040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892040" y="4553712"/>
            <a:ext cx="11704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937760" y="460857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15" name="Rectangle 114"/>
          <p:cNvSpPr/>
          <p:nvPr/>
        </p:nvSpPr>
        <p:spPr>
          <a:xfrm>
            <a:off x="6263640" y="1901952"/>
            <a:ext cx="5742432" cy="310896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355080" y="1920240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ELECNOR HAWKEYE — PHASE 2 SOW MILESTONES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63640" y="2212848"/>
            <a:ext cx="322783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59" y="2231136"/>
            <a:ext cx="31546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Milestone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509759" y="2212848"/>
            <a:ext cx="1307592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555480" y="2231136"/>
            <a:ext cx="12344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Due Date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835640" y="2212848"/>
            <a:ext cx="1060704" cy="256032"/>
          </a:xfrm>
          <a:prstGeom prst="rect">
            <a:avLst/>
          </a:prstGeom>
          <a:solidFill>
            <a:srgbClr val="AA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881360" y="2231136"/>
            <a:ext cx="987551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63640" y="2468880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09359" y="2523744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#8  Fiber Testing Elwood/Northport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09759" y="2468880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55480" y="2523744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835640" y="2468880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881360" y="2523744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$8,229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263640" y="2816352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309359" y="287121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#10  Patch Panels Oakwood/Northport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509759" y="2816352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555480" y="287121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835640" y="2816352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881360" y="287121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$15,089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263640" y="3163824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309359" y="321868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#11  Fiber &amp; CAT5E Hicksville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509759" y="3163824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55480" y="321868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835640" y="3163824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881360" y="321868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$60,070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263640" y="3511296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59" y="356616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#12  Fiber Enclosures Hicksville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09759" y="3511296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55480" y="356616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835640" y="3511296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881360" y="356616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$2,515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263640" y="3858768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309359" y="3913632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WD #13  Fiber Testing Syosset/Hicksville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9509759" y="3858768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555480" y="3913632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In Progress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835640" y="3858768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881360" y="3913632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$2,400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63640" y="4206240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09359" y="4261103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M1  Services &amp; Deliverables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509759" y="4206240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555480" y="4261103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0000"/>
                </a:solidFill>
              </a:rPr>
              <a:t>3/30/2026 ⚠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10835640" y="4206240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0881360" y="4261103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$99,000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263640" y="4553712"/>
            <a:ext cx="322783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309359" y="4608576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M2  Services &amp; Deliverables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509759" y="4553712"/>
            <a:ext cx="1307592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555480" y="4608576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4/30/2026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835640" y="4553712"/>
            <a:ext cx="1060704" cy="329184"/>
          </a:xfrm>
          <a:prstGeom prst="rect">
            <a:avLst/>
          </a:prstGeom>
          <a:solidFill>
            <a:srgbClr val="F4F4F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881360" y="4608576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$89,000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263640" y="4901184"/>
            <a:ext cx="322783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59" y="4956048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M3–M5  Construction &amp; Decommission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509759" y="4901184"/>
            <a:ext cx="1307592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555480" y="4956048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May–Dec 2026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0835640" y="4901184"/>
            <a:ext cx="1060704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0881360" y="4956048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$355,000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63640" y="5248656"/>
            <a:ext cx="322783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09359" y="5303520"/>
            <a:ext cx="31546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509759" y="5248656"/>
            <a:ext cx="1307592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555480" y="5303520"/>
            <a:ext cx="12344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75" name="Rectangle 174"/>
          <p:cNvSpPr/>
          <p:nvPr/>
        </p:nvSpPr>
        <p:spPr>
          <a:xfrm>
            <a:off x="10835640" y="5248656"/>
            <a:ext cx="1060704" cy="329184"/>
          </a:xfrm>
          <a:prstGeom prst="rect">
            <a:avLst/>
          </a:prstGeom>
          <a:solidFill>
            <a:srgbClr val="001F5B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81360" y="5303520"/>
            <a:ext cx="987551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$632,303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Schedule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Overall: 🟡 Yellow  |  SPI 0.75  |  Recovery Plan Active  |  End Date Unchanged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932688"/>
            <a:ext cx="5303520" cy="5577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932688"/>
            <a:ext cx="530352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969264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SCHEDULE PERFORMANCE INDEX (SPI)</a:t>
            </a:r>
          </a:p>
        </p:txBody>
      </p:sp>
      <p:sp>
        <p:nvSpPr>
          <p:cNvPr id="11" name="Oval 10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3013" y="268704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54991" y="26552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36969" y="26233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18947" y="25915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0925" y="25597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82903" y="252790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4881" y="24960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32935" y="27109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3531" y="267991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94127" y="26489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74723" y="26179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55319" y="25868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35915" y="2555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16512" y="25248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93946" y="27365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73198" y="27064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052449" y="26762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31701" y="26461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010953" y="26160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90204" y="258591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969456" y="25557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056121" y="27638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034068" y="27346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012015" y="27054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989963" y="26762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67910" y="264710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945857" y="261792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923804" y="258874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019533" y="2792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996218" y="27645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972904" y="27364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949589" y="27082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926275" y="26800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902960" y="2651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879646" y="2623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984252" y="28232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959721" y="27961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935190" y="27690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910659" y="27418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886128" y="271476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61597" y="26876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837066" y="26605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950347" y="285532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924647" y="28292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898947" y="28032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873247" y="277724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847547" y="27512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21846" y="27251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796146" y="26991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17884" y="28888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91064" y="28639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864245" y="2839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37425" y="281421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810606" y="278934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83786" y="27644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756967" y="27396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886925" y="2923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859038" y="2900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831151" y="2876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803264" y="2852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5376" y="28290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747489" y="280538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19602" y="27817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857530" y="295993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28629" y="29375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799729" y="291510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70828" y="28926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741927" y="28702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713027" y="284784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684126" y="28254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829756" y="29974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799898" y="29762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770040" y="295516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740181" y="29340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710323" y="291291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680464" y="289179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650606" y="2870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803657" y="30360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772899" y="30162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742141" y="29964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711382" y="2976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680624" y="29569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649865" y="293712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619107" y="29173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779284" y="307585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747685" y="30574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16086" y="303901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84487" y="30205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652888" y="30021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621289" y="2983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589690" y="29653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756682" y="311666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724304" y="30996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691926" y="30826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59548" y="306562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627169" y="304861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594791" y="30315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562413" y="301458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735897" y="315842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702802" y="31428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9707" y="312727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636612" y="31117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603517" y="309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570422" y="30805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537327" y="30649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716968" y="320106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683220" y="318695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649473" y="317285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15725" y="31587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77" y="314464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548230" y="313054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514482" y="311644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699932" y="32444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665597" y="32318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631262" y="32192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596927" y="320667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62591" y="3194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28256" y="318145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493921" y="31688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684822" y="328862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649966" y="327753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615109" y="326645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580253" y="325536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545397" y="324428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510541" y="32332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475685" y="322211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671667" y="333337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636357" y="332383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601047" y="331429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565737" y="33047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530427" y="329521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495118" y="328567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459808" y="327613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660492" y="337866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624797" y="337068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89102" y="336270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553406" y="335472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517711" y="334675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482016" y="333877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446321" y="3330792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651319" y="342440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615308" y="341800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579297" y="34116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543285" y="340519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507274" y="339879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471262" y="339239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435251" y="338599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644167" y="34705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607909" y="3465688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571651" y="3460876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535393" y="34560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499134" y="34512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462876" y="344643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426618" y="34416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639048" y="351686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602613" y="351365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566179" y="351044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529744" y="350722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493309" y="35040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456875" y="3500800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420440" y="349758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635972" y="356341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599432" y="3561805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562891" y="3560197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526351" y="3558589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489810" y="355698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453269" y="3555373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416729" y="3553764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63494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59837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561795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525219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488643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452067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415491" y="3610051"/>
            <a:ext cx="95097" cy="95097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482885" y="257090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475548" y="253507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468211" y="249924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460874" y="24634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453538" y="242757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446201" y="239174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438864" y="23559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436478" y="25814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427541" y="25460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418604" y="25105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09667" y="24750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400730" y="243962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391793" y="240416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382856" y="236869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390593" y="2594161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380074" y="255913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369554" y="25240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359035" y="248906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348516" y="245403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7997" y="241900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327478" y="23839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345322" y="260887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333242" y="257434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321162" y="2539823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309082" y="25052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297001" y="2470776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284921" y="243625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272841" y="240172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300757" y="26255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287140" y="259164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273523" y="25577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259906" y="252375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246289" y="248980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232672" y="245586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219055" y="242191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256988" y="264430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241861" y="2611002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226735" y="257770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2211609" y="25443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196482" y="251109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2181356" y="2477795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166230" y="2444494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214101" y="266495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2197496" y="2632367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180891" y="259977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164286" y="2567188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147681" y="253459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131075" y="2502009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114470" y="2469420"/>
            <a:ext cx="95097" cy="95097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814412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818507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822602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826698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830793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834888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838983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767003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769464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771924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774384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776845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779305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78176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7194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720272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721092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721913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722734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723554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724375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671851" y="254961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671030" y="25130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670209" y="24764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669388" y="24399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668568" y="240334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667747" y="23667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666926" y="233021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624298" y="255174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621838" y="251525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619377" y="247876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616917" y="24422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614456" y="2405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611996" y="236928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609536" y="233279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576890" y="255601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572794" y="251967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568699" y="248332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564604" y="2446978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560509" y="241063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556413" y="237428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552318" y="233794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529720" y="2562406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523998" y="2526280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518277" y="2490154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512555" y="2454029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506833" y="2417903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501111" y="2381777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95390" y="2345652"/>
            <a:ext cx="95097" cy="95097"/>
          </a:xfrm>
          <a:prstGeom prst="ellipse">
            <a:avLst/>
          </a:prstGeom>
          <a:solidFill>
            <a:srgbClr val="0096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375635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379293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3829507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3866083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902659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3939235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3975811" y="36100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3755320" y="356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3791860" y="356159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3828400" y="35599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3864941" y="35583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3901481" y="35567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3938021" y="35551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3974562" y="35535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3752217" y="35164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3788650" y="35132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3825084" y="35099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3861517" y="35067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3897950" y="3503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934384" y="35003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3970817" y="34970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3747052" y="3469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3783308" y="34650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3819563" y="34602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3855818" y="34553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3892073" y="34505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3928328" y="34457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3964584" y="34408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3739836" y="3423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3775842" y="34171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3811849" y="34107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3847855" y="34042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3883861" y="33978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3919868" y="339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3955874" y="3385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3730582" y="33776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3766269" y="33696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3801956" y="33616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3837644" y="33536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3873331" y="334559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3909018" y="33375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3944706" y="33295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3719308" y="3332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3754607" y="332258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3789905" y="33130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3825204" y="33034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3860502" y="32938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3895801" y="328425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3931099" y="327467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3706037" y="32872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740878" y="32760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3775719" y="32649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3810560" y="32538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3845401" y="32427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3880241" y="3231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3915082" y="32204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90794" y="324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3725109" y="3230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3759425" y="3217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3793740" y="320494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3828055" y="31922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3862370" y="317962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3896686" y="31669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3673609" y="31993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3707332" y="31851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3741054" y="31710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3774777" y="3156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3808500" y="31426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3842223" y="31285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3875945" y="31143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3654516" y="31565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3687580" y="3140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720644" y="31252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3753709" y="31096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3786773" y="309398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3819837" y="307835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3852902" y="30627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3633551" y="31146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3665893" y="30975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3698234" y="30804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3730575" y="306338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3762917" y="3046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795258" y="302922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3827600" y="301213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3610757" y="30736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3642312" y="30552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3673867" y="303670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3705423" y="301821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3736978" y="29997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3768533" y="2981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3800089" y="29627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3586176" y="30338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3616884" y="30139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3647592" y="299406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3678299" y="29741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3709007" y="29543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3739715" y="29344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3770423" y="29145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559858" y="299503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3589658" y="297383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3619458" y="29526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3649258" y="29314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3679059" y="29102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3708859" y="28890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3738659" y="28677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3531853" y="29574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3560687" y="293496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3589522" y="29124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3618357" y="288996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3647191" y="2867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676026" y="284495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3704860" y="28224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3502216" y="292117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3530029" y="28974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3557842" y="2873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3585654" y="28499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3613467" y="28261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3641279" y="28024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3669092" y="27786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3471006" y="2886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3497742" y="28612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3524479" y="283631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3551215" y="28113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3577951" y="27863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604688" y="276143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3631424" y="273647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3438282" y="285269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3463890" y="28265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3489498" y="280046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515106" y="277434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540714" y="27482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566322" y="2722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591930" y="269599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404109" y="28206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28539" y="279341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452969" y="27661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477398" y="27389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501828" y="271174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526258" y="268452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550687" y="26573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368554" y="27901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391758" y="27618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414961" y="27335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438165" y="27052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461368" y="26770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484572" y="264874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507776" y="262047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331686" y="276119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353618" y="273192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375550" y="27026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397483" y="267338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419415" y="26441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441347" y="26148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463279" y="258557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293576" y="27339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314194" y="270372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334812" y="267351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355431" y="26433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376049" y="26130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396667" y="25828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417285" y="255267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54300" y="270838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73564" y="26772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92827" y="264619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312091" y="26151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331355" y="25840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350619" y="25529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369882" y="252183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13933" y="26845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1805" y="265267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49677" y="26207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67549" y="258885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85420" y="255694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303292" y="2525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321164" y="24931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172555" y="266260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189000" y="26299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205445" y="25972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3221890" y="256459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3238335" y="253192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3254780" y="2499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3271225" y="24665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3130247" y="264246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3145233" y="260910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3160219" y="257573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3175205" y="254237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3190191" y="250900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3205177" y="247564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3220163" y="24422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3087090" y="262421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3100588" y="259022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3114086" y="255622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3127584" y="25222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3141082" y="248824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3154579" y="245424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3168077" y="242025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043169" y="260789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3055153" y="257333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3067136" y="2538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3079120" y="250421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3091103" y="246966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3103086" y="24351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3115070" y="240054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998571" y="259352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3009016" y="255846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3019462" y="252341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3029907" y="248836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3040353" y="245331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3050798" y="241825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3061244" y="23832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2953381" y="25811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2962268" y="25456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2971155" y="251017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2980042" y="247469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2988930" y="243921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2997817" y="240373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3006704" y="236825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2907688" y="257075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2915000" y="2534918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2922311" y="2499081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2929623" y="246324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2936934" y="2427405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2944246" y="239156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2951558" y="235573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2861581" y="2562406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2867303" y="2526280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2873025" y="2490154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2878747" y="2454029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2884468" y="2417903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2890190" y="2381777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2895912" y="2345652"/>
            <a:ext cx="95097" cy="95097"/>
          </a:xfrm>
          <a:prstGeom prst="ellipse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175381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170352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165323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160294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155265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150235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145206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140177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13514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TextBox 544"/>
          <p:cNvSpPr txBox="1"/>
          <p:nvPr/>
        </p:nvSpPr>
        <p:spPr>
          <a:xfrm>
            <a:off x="987552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0.00</a:t>
            </a:r>
          </a:p>
        </p:txBody>
      </p:sp>
      <p:sp>
        <p:nvSpPr>
          <p:cNvPr id="546" name="Oval 545"/>
          <p:cNvSpPr/>
          <p:nvPr/>
        </p:nvSpPr>
        <p:spPr>
          <a:xfrm>
            <a:off x="2037710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00214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1966586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1931024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1895462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1859900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824339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1788777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753215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TextBox 554"/>
          <p:cNvSpPr txBox="1"/>
          <p:nvPr/>
        </p:nvSpPr>
        <p:spPr>
          <a:xfrm>
            <a:off x="1448205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0.50</a:t>
            </a:r>
          </a:p>
        </p:txBody>
      </p:sp>
      <p:sp>
        <p:nvSpPr>
          <p:cNvPr id="556" name="Oval 555"/>
          <p:cNvSpPr/>
          <p:nvPr/>
        </p:nvSpPr>
        <p:spPr>
          <a:xfrm>
            <a:off x="2352161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332916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313670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294424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27517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255932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236686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217440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198194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TextBox 564"/>
          <p:cNvSpPr txBox="1"/>
          <p:nvPr/>
        </p:nvSpPr>
        <p:spPr>
          <a:xfrm>
            <a:off x="1958447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0.75</a:t>
            </a:r>
          </a:p>
        </p:txBody>
      </p:sp>
      <p:sp>
        <p:nvSpPr>
          <p:cNvPr id="566" name="Oval 565"/>
          <p:cNvSpPr/>
          <p:nvPr/>
        </p:nvSpPr>
        <p:spPr>
          <a:xfrm>
            <a:off x="2723083" y="266821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723083" y="261792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723083" y="256763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723083" y="251734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723083" y="246705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723083" y="241675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723083" y="236646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723083" y="231617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723083" y="22658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TextBox 574"/>
          <p:cNvSpPr txBox="1"/>
          <p:nvPr/>
        </p:nvSpPr>
        <p:spPr>
          <a:xfrm>
            <a:off x="2560320" y="1965960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A1A2E"/>
                </a:solidFill>
              </a:rPr>
              <a:t>1.00</a:t>
            </a:r>
          </a:p>
        </p:txBody>
      </p:sp>
      <p:sp>
        <p:nvSpPr>
          <p:cNvPr id="576" name="Oval 575"/>
          <p:cNvSpPr/>
          <p:nvPr/>
        </p:nvSpPr>
        <p:spPr>
          <a:xfrm>
            <a:off x="3094004" y="27420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113250" y="269553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3132496" y="264907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51742" y="260260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3170988" y="255614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3190234" y="2509681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3209479" y="246321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3228725" y="241675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3247971" y="237029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TextBox 584"/>
          <p:cNvSpPr txBox="1"/>
          <p:nvPr/>
        </p:nvSpPr>
        <p:spPr>
          <a:xfrm>
            <a:off x="3162192" y="2085679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1.25</a:t>
            </a:r>
          </a:p>
        </p:txBody>
      </p:sp>
      <p:sp>
        <p:nvSpPr>
          <p:cNvPr id="586" name="Oval 585"/>
          <p:cNvSpPr/>
          <p:nvPr/>
        </p:nvSpPr>
        <p:spPr>
          <a:xfrm>
            <a:off x="3408456" y="295211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44018" y="2916548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3479579" y="2880986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3515141" y="2845424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3550703" y="2809862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586265" y="2774300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621827" y="2738739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657389" y="2703177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692950" y="2667615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TextBox 594"/>
          <p:cNvSpPr txBox="1"/>
          <p:nvPr/>
        </p:nvSpPr>
        <p:spPr>
          <a:xfrm>
            <a:off x="3672434" y="2426613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1.50</a:t>
            </a:r>
          </a:p>
        </p:txBody>
      </p:sp>
      <p:sp>
        <p:nvSpPr>
          <p:cNvPr id="596" name="Oval 595"/>
          <p:cNvSpPr/>
          <p:nvPr/>
        </p:nvSpPr>
        <p:spPr>
          <a:xfrm>
            <a:off x="369234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74263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379293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384322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3893515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3943807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994099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4044391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94683" y="3637483"/>
            <a:ext cx="40233" cy="40233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4133087" y="3538728"/>
            <a:ext cx="365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1A1A2E"/>
                </a:solidFill>
              </a:rPr>
              <a:t>2.00</a:t>
            </a:r>
          </a:p>
        </p:txBody>
      </p:sp>
      <p:sp>
        <p:nvSpPr>
          <p:cNvPr id="606" name="Oval 605"/>
          <p:cNvSpPr/>
          <p:nvPr/>
        </p:nvSpPr>
        <p:spPr>
          <a:xfrm>
            <a:off x="2704795" y="361919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2691672" y="358751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678550" y="355583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2665428" y="352415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2652306" y="3492475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2639184" y="34607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2626061" y="342911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2612939" y="339743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2599817" y="336575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2586695" y="333407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2573573" y="3302396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2560450" y="32707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2547328" y="323903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2534206" y="320735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2521084" y="317567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507961" y="314399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494839" y="3112317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481717" y="30806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68595" y="304895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455473" y="301727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2442350" y="298559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2429228" y="295391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2416106" y="2922238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2402984" y="28905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2389862" y="285887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2376739" y="282719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2363617" y="279551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2350495" y="276383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2337373" y="2732159"/>
            <a:ext cx="76809" cy="76809"/>
          </a:xfrm>
          <a:prstGeom prst="ellipse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2713939" y="35940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2713939" y="35597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2713939" y="34911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2713939" y="34568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2713939" y="33883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713939" y="33540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2713939" y="32854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2713939" y="325114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2713939" y="31825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2713939" y="314827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2713939" y="30796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2713939" y="304540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2713939" y="297682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2713939" y="294253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2713939" y="287395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2713939" y="283966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2713939" y="277108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2713939" y="273679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2713939" y="2668219"/>
            <a:ext cx="58521" cy="58521"/>
          </a:xfrm>
          <a:prstGeom prst="ellipse">
            <a:avLst/>
          </a:prstGeom>
          <a:solidFill>
            <a:srgbClr val="44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2660904" y="3575304"/>
            <a:ext cx="164592" cy="164592"/>
          </a:xfrm>
          <a:prstGeom prst="ellipse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2176272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7941D"/>
                </a:solidFill>
              </a:rPr>
              <a:t>0.75</a:t>
            </a:r>
          </a:p>
        </p:txBody>
      </p:sp>
      <p:sp>
        <p:nvSpPr>
          <p:cNvPr id="656" name="TextBox 655"/>
          <p:cNvSpPr txBox="1"/>
          <p:nvPr/>
        </p:nvSpPr>
        <p:spPr>
          <a:xfrm>
            <a:off x="2157984" y="4224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7941D"/>
                </a:solidFill>
              </a:rPr>
              <a:t>Current
Month</a:t>
            </a:r>
          </a:p>
        </p:txBody>
      </p:sp>
      <p:sp>
        <p:nvSpPr>
          <p:cNvPr id="657" name="TextBox 656"/>
          <p:cNvSpPr txBox="1"/>
          <p:nvPr/>
        </p:nvSpPr>
        <p:spPr>
          <a:xfrm>
            <a:off x="2834640" y="3858768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44466"/>
                </a:solidFill>
              </a:rPr>
              <a:t>1.00</a:t>
            </a:r>
          </a:p>
        </p:txBody>
      </p:sp>
      <p:sp>
        <p:nvSpPr>
          <p:cNvPr id="658" name="TextBox 657"/>
          <p:cNvSpPr txBox="1"/>
          <p:nvPr/>
        </p:nvSpPr>
        <p:spPr>
          <a:xfrm>
            <a:off x="2834640" y="4224528"/>
            <a:ext cx="4754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66"/>
                </a:solidFill>
              </a:rPr>
              <a:t>Last
Month</a:t>
            </a:r>
          </a:p>
        </p:txBody>
      </p:sp>
      <p:sp>
        <p:nvSpPr>
          <p:cNvPr id="659" name="TextBox 658"/>
          <p:cNvSpPr txBox="1"/>
          <p:nvPr/>
        </p:nvSpPr>
        <p:spPr>
          <a:xfrm>
            <a:off x="384048" y="4736592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</a:rPr>
              <a:t>●</a:t>
            </a:r>
          </a:p>
        </p:txBody>
      </p:sp>
      <p:sp>
        <p:nvSpPr>
          <p:cNvPr id="660" name="TextBox 659"/>
          <p:cNvSpPr txBox="1"/>
          <p:nvPr/>
        </p:nvSpPr>
        <p:spPr>
          <a:xfrm>
            <a:off x="594360" y="473659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Below 0.70 — Critical</a:t>
            </a:r>
          </a:p>
        </p:txBody>
      </p:sp>
      <p:sp>
        <p:nvSpPr>
          <p:cNvPr id="661" name="TextBox 660"/>
          <p:cNvSpPr txBox="1"/>
          <p:nvPr/>
        </p:nvSpPr>
        <p:spPr>
          <a:xfrm>
            <a:off x="384048" y="4937759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A500"/>
                </a:solidFill>
              </a:rPr>
              <a:t>●</a:t>
            </a:r>
          </a:p>
        </p:txBody>
      </p:sp>
      <p:sp>
        <p:nvSpPr>
          <p:cNvPr id="662" name="TextBox 661"/>
          <p:cNvSpPr txBox="1"/>
          <p:nvPr/>
        </p:nvSpPr>
        <p:spPr>
          <a:xfrm>
            <a:off x="594360" y="4937759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0.70–0.90 — Yellow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384048" y="513892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9655"/>
                </a:solidFill>
              </a:rPr>
              <a:t>●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594360" y="51389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0.90–1.10 — On Track</a:t>
            </a:r>
          </a:p>
        </p:txBody>
      </p:sp>
      <p:sp>
        <p:nvSpPr>
          <p:cNvPr id="665" name="TextBox 664"/>
          <p:cNvSpPr txBox="1"/>
          <p:nvPr/>
        </p:nvSpPr>
        <p:spPr>
          <a:xfrm>
            <a:off x="384048" y="534009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3387"/>
                </a:solidFill>
              </a:rPr>
              <a:t>●</a:t>
            </a:r>
          </a:p>
        </p:txBody>
      </p:sp>
      <p:sp>
        <p:nvSpPr>
          <p:cNvPr id="666" name="TextBox 665"/>
          <p:cNvSpPr txBox="1"/>
          <p:nvPr/>
        </p:nvSpPr>
        <p:spPr>
          <a:xfrm>
            <a:off x="594360" y="53400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Above 1.10 — Ahead</a:t>
            </a:r>
          </a:p>
        </p:txBody>
      </p:sp>
      <p:sp>
        <p:nvSpPr>
          <p:cNvPr id="667" name="TextBox 666"/>
          <p:cNvSpPr txBox="1"/>
          <p:nvPr/>
        </p:nvSpPr>
        <p:spPr>
          <a:xfrm>
            <a:off x="384048" y="555955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7941D"/>
                </a:solidFill>
              </a:rPr>
              <a:t>━━  Current: 0.75 (Orange)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384048" y="576072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66"/>
                </a:solidFill>
              </a:rPr>
              <a:t>╌╌  Last Month: 1.00 (Gray)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5806440" y="932688"/>
            <a:ext cx="6172200" cy="2697480"/>
          </a:xfrm>
          <a:prstGeom prst="rect">
            <a:avLst/>
          </a:prstGeom>
          <a:solidFill>
            <a:srgbClr val="FDEDED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5806440" y="932688"/>
            <a:ext cx="617220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TextBox 670"/>
          <p:cNvSpPr txBox="1"/>
          <p:nvPr/>
        </p:nvSpPr>
        <p:spPr>
          <a:xfrm>
            <a:off x="5916168" y="969264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ROOT CAUSES — Schedule Delay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5897880" y="1353312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TextBox 672"/>
          <p:cNvSpPr txBox="1"/>
          <p:nvPr/>
        </p:nvSpPr>
        <p:spPr>
          <a:xfrm>
            <a:off x="5989320" y="1371600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SSP security review queue backlog — documentation processing delays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10835640" y="1389888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TextBox 674"/>
          <p:cNvSpPr txBox="1"/>
          <p:nvPr/>
        </p:nvSpPr>
        <p:spPr>
          <a:xfrm>
            <a:off x="10853928" y="1408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5897880" y="1883664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TextBox 676"/>
          <p:cNvSpPr txBox="1"/>
          <p:nvPr/>
        </p:nvSpPr>
        <p:spPr>
          <a:xfrm>
            <a:off x="5989320" y="190195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CMDB inventory coordination time across teams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0835640" y="1920240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TextBox 678"/>
          <p:cNvSpPr txBox="1"/>
          <p:nvPr/>
        </p:nvSpPr>
        <p:spPr>
          <a:xfrm>
            <a:off x="10853928" y="1938528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5897880" y="2414015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extBox 680"/>
          <p:cNvSpPr txBox="1"/>
          <p:nvPr/>
        </p:nvSpPr>
        <p:spPr>
          <a:xfrm>
            <a:off x="5989320" y="2432304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Inclement weather — field work impacted Q4 2025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10835640" y="2450591"/>
            <a:ext cx="1051560" cy="25603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10853928" y="2468880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RESOLVED</a:t>
            </a:r>
          </a:p>
        </p:txBody>
      </p:sp>
      <p:sp>
        <p:nvSpPr>
          <p:cNvPr id="684" name="Rectangle 683"/>
          <p:cNvSpPr/>
          <p:nvPr/>
        </p:nvSpPr>
        <p:spPr>
          <a:xfrm>
            <a:off x="5897880" y="2944368"/>
            <a:ext cx="4937760" cy="457200"/>
          </a:xfrm>
          <a:prstGeom prst="rect">
            <a:avLst/>
          </a:prstGeom>
          <a:solidFill>
            <a:srgbClr val="FFFFFF"/>
          </a:solidFill>
          <a:ln w="1524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TextBox 684"/>
          <p:cNvSpPr txBox="1"/>
          <p:nvPr/>
        </p:nvSpPr>
        <p:spPr>
          <a:xfrm>
            <a:off x="5989320" y="2962656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Crown Castle fiber issue at Hicksville — low dB OTDR result</a:t>
            </a:r>
          </a:p>
        </p:txBody>
      </p:sp>
      <p:sp>
        <p:nvSpPr>
          <p:cNvPr id="686" name="Rectangle 685"/>
          <p:cNvSpPr/>
          <p:nvPr/>
        </p:nvSpPr>
        <p:spPr>
          <a:xfrm>
            <a:off x="10835640" y="2980944"/>
            <a:ext cx="1051560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10853928" y="2999232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OPEN ⚠</a:t>
            </a:r>
          </a:p>
        </p:txBody>
      </p:sp>
      <p:sp>
        <p:nvSpPr>
          <p:cNvPr id="688" name="Rectangle 687"/>
          <p:cNvSpPr/>
          <p:nvPr/>
        </p:nvSpPr>
        <p:spPr>
          <a:xfrm>
            <a:off x="5806440" y="3703320"/>
            <a:ext cx="6172200" cy="2807208"/>
          </a:xfrm>
          <a:prstGeom prst="rect">
            <a:avLst/>
          </a:prstGeom>
          <a:solidFill>
            <a:srgbClr val="E8F0FE"/>
          </a:solidFill>
          <a:ln w="19050">
            <a:solidFill>
              <a:srgbClr val="0033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5806440" y="3703320"/>
            <a:ext cx="6172200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TextBox 689"/>
          <p:cNvSpPr txBox="1"/>
          <p:nvPr/>
        </p:nvSpPr>
        <p:spPr>
          <a:xfrm>
            <a:off x="5916168" y="3739896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PROGRAM TIMELINE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5897880" y="413308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TextBox 691"/>
          <p:cNvSpPr txBox="1"/>
          <p:nvPr/>
        </p:nvSpPr>
        <p:spPr>
          <a:xfrm>
            <a:off x="5916168" y="413308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Apr 2024</a:t>
            </a:r>
          </a:p>
        </p:txBody>
      </p:sp>
      <p:sp>
        <p:nvSpPr>
          <p:cNvPr id="693" name="TextBox 692"/>
          <p:cNvSpPr txBox="1"/>
          <p:nvPr/>
        </p:nvSpPr>
        <p:spPr>
          <a:xfrm>
            <a:off x="7040880" y="413308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Project Start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5897880" y="4334255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TextBox 694"/>
          <p:cNvSpPr txBox="1"/>
          <p:nvPr/>
        </p:nvSpPr>
        <p:spPr>
          <a:xfrm>
            <a:off x="5916168" y="4334255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2024</a:t>
            </a:r>
          </a:p>
        </p:txBody>
      </p:sp>
      <p:sp>
        <p:nvSpPr>
          <p:cNvPr id="696" name="TextBox 695"/>
          <p:cNvSpPr txBox="1"/>
          <p:nvPr/>
        </p:nvSpPr>
        <p:spPr>
          <a:xfrm>
            <a:off x="7040880" y="4334255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RFP Award &amp; SOW Executed</a:t>
            </a:r>
          </a:p>
        </p:txBody>
      </p:sp>
      <p:sp>
        <p:nvSpPr>
          <p:cNvPr id="697" name="Rectangle 696"/>
          <p:cNvSpPr/>
          <p:nvPr/>
        </p:nvSpPr>
        <p:spPr>
          <a:xfrm>
            <a:off x="5897880" y="4535424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TextBox 697"/>
          <p:cNvSpPr txBox="1"/>
          <p:nvPr/>
        </p:nvSpPr>
        <p:spPr>
          <a:xfrm>
            <a:off x="5916168" y="453542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Jan 2025</a:t>
            </a:r>
          </a:p>
        </p:txBody>
      </p:sp>
      <p:sp>
        <p:nvSpPr>
          <p:cNvPr id="699" name="TextBox 698"/>
          <p:cNvSpPr txBox="1"/>
          <p:nvPr/>
        </p:nvSpPr>
        <p:spPr>
          <a:xfrm>
            <a:off x="7040880" y="453542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Detailed Design Start</a:t>
            </a:r>
          </a:p>
        </p:txBody>
      </p:sp>
      <p:sp>
        <p:nvSpPr>
          <p:cNvPr id="700" name="Rectangle 699"/>
          <p:cNvSpPr/>
          <p:nvPr/>
        </p:nvSpPr>
        <p:spPr>
          <a:xfrm>
            <a:off x="5897880" y="4736592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TextBox 700"/>
          <p:cNvSpPr txBox="1"/>
          <p:nvPr/>
        </p:nvSpPr>
        <p:spPr>
          <a:xfrm>
            <a:off x="5916168" y="4736592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Sep 2025</a:t>
            </a:r>
          </a:p>
        </p:txBody>
      </p:sp>
      <p:sp>
        <p:nvSpPr>
          <p:cNvPr id="702" name="TextBox 701"/>
          <p:cNvSpPr txBox="1"/>
          <p:nvPr/>
        </p:nvSpPr>
        <p:spPr>
          <a:xfrm>
            <a:off x="7040880" y="4736592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Staging Complete (Hawkeye)</a:t>
            </a:r>
          </a:p>
        </p:txBody>
      </p:sp>
      <p:sp>
        <p:nvSpPr>
          <p:cNvPr id="703" name="Rectangle 702"/>
          <p:cNvSpPr/>
          <p:nvPr/>
        </p:nvSpPr>
        <p:spPr>
          <a:xfrm>
            <a:off x="5897880" y="4937759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TextBox 703"/>
          <p:cNvSpPr txBox="1"/>
          <p:nvPr/>
        </p:nvSpPr>
        <p:spPr>
          <a:xfrm>
            <a:off x="5916168" y="4937759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2025</a:t>
            </a:r>
          </a:p>
        </p:txBody>
      </p:sp>
      <p:sp>
        <p:nvSpPr>
          <p:cNvPr id="705" name="TextBox 704"/>
          <p:cNvSpPr txBox="1"/>
          <p:nvPr/>
        </p:nvSpPr>
        <p:spPr>
          <a:xfrm>
            <a:off x="7040880" y="4937759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Start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5897880" y="5138927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TextBox 706"/>
          <p:cNvSpPr txBox="1"/>
          <p:nvPr/>
        </p:nvSpPr>
        <p:spPr>
          <a:xfrm>
            <a:off x="5916168" y="5138927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Dec 25–Jan 26</a:t>
            </a:r>
          </a:p>
        </p:txBody>
      </p:sp>
      <p:sp>
        <p:nvSpPr>
          <p:cNvPr id="708" name="TextBox 707"/>
          <p:cNvSpPr txBox="1"/>
          <p:nvPr/>
        </p:nvSpPr>
        <p:spPr>
          <a:xfrm>
            <a:off x="7040880" y="5138927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Wave 1 &amp; 2 Cutovers Complete  ✓</a:t>
            </a:r>
          </a:p>
        </p:txBody>
      </p:sp>
      <p:sp>
        <p:nvSpPr>
          <p:cNvPr id="709" name="Rectangle 708"/>
          <p:cNvSpPr/>
          <p:nvPr/>
        </p:nvSpPr>
        <p:spPr>
          <a:xfrm>
            <a:off x="5897880" y="534009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TextBox 709"/>
          <p:cNvSpPr txBox="1"/>
          <p:nvPr/>
        </p:nvSpPr>
        <p:spPr>
          <a:xfrm>
            <a:off x="5916168" y="534009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711" name="TextBox 710"/>
          <p:cNvSpPr txBox="1"/>
          <p:nvPr/>
        </p:nvSpPr>
        <p:spPr>
          <a:xfrm>
            <a:off x="7040880" y="534009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Phase 2 Equipment Delivered  ✓</a:t>
            </a:r>
          </a:p>
        </p:txBody>
      </p:sp>
      <p:sp>
        <p:nvSpPr>
          <p:cNvPr id="712" name="Rectangle 711"/>
          <p:cNvSpPr/>
          <p:nvPr/>
        </p:nvSpPr>
        <p:spPr>
          <a:xfrm>
            <a:off x="5897880" y="5541264"/>
            <a:ext cx="1078992" cy="1828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TextBox 712"/>
          <p:cNvSpPr txBox="1"/>
          <p:nvPr/>
        </p:nvSpPr>
        <p:spPr>
          <a:xfrm>
            <a:off x="5916168" y="5541264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714" name="TextBox 713"/>
          <p:cNvSpPr txBox="1"/>
          <p:nvPr/>
        </p:nvSpPr>
        <p:spPr>
          <a:xfrm>
            <a:off x="7040880" y="5541264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941D"/>
                </a:solidFill>
              </a:rPr>
              <a:t>Phase 2 IFR Design In Progress  ◀ NOW</a:t>
            </a:r>
          </a:p>
        </p:txBody>
      </p:sp>
      <p:sp>
        <p:nvSpPr>
          <p:cNvPr id="715" name="Rectangle 714"/>
          <p:cNvSpPr/>
          <p:nvPr/>
        </p:nvSpPr>
        <p:spPr>
          <a:xfrm>
            <a:off x="5897880" y="5742431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TextBox 715"/>
          <p:cNvSpPr txBox="1"/>
          <p:nvPr/>
        </p:nvSpPr>
        <p:spPr>
          <a:xfrm>
            <a:off x="5916168" y="5742431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Mar–Jul 2026</a:t>
            </a:r>
          </a:p>
        </p:txBody>
      </p:sp>
      <p:sp>
        <p:nvSpPr>
          <p:cNvPr id="717" name="TextBox 716"/>
          <p:cNvSpPr txBox="1"/>
          <p:nvPr/>
        </p:nvSpPr>
        <p:spPr>
          <a:xfrm>
            <a:off x="7040880" y="5742431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IFC Design &amp; Review</a:t>
            </a:r>
          </a:p>
        </p:txBody>
      </p:sp>
      <p:sp>
        <p:nvSpPr>
          <p:cNvPr id="718" name="Rectangle 717"/>
          <p:cNvSpPr/>
          <p:nvPr/>
        </p:nvSpPr>
        <p:spPr>
          <a:xfrm>
            <a:off x="5897880" y="5943600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TextBox 718"/>
          <p:cNvSpPr txBox="1"/>
          <p:nvPr/>
        </p:nvSpPr>
        <p:spPr>
          <a:xfrm>
            <a:off x="5916168" y="5943600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Aug–Dec 2026</a:t>
            </a:r>
          </a:p>
        </p:txBody>
      </p:sp>
      <p:sp>
        <p:nvSpPr>
          <p:cNvPr id="720" name="TextBox 719"/>
          <p:cNvSpPr txBox="1"/>
          <p:nvPr/>
        </p:nvSpPr>
        <p:spPr>
          <a:xfrm>
            <a:off x="7040880" y="5943600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(Hawkeye)</a:t>
            </a:r>
          </a:p>
        </p:txBody>
      </p:sp>
      <p:sp>
        <p:nvSpPr>
          <p:cNvPr id="721" name="Rectangle 720"/>
          <p:cNvSpPr/>
          <p:nvPr/>
        </p:nvSpPr>
        <p:spPr>
          <a:xfrm>
            <a:off x="5897880" y="6144768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TextBox 721"/>
          <p:cNvSpPr txBox="1"/>
          <p:nvPr/>
        </p:nvSpPr>
        <p:spPr>
          <a:xfrm>
            <a:off x="5916168" y="6144768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Oct 26–Feb 27</a:t>
            </a:r>
          </a:p>
        </p:txBody>
      </p:sp>
      <p:sp>
        <p:nvSpPr>
          <p:cNvPr id="723" name="TextBox 722"/>
          <p:cNvSpPr txBox="1"/>
          <p:nvPr/>
        </p:nvSpPr>
        <p:spPr>
          <a:xfrm>
            <a:off x="7040880" y="6144768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Cutovers</a:t>
            </a:r>
          </a:p>
        </p:txBody>
      </p:sp>
      <p:sp>
        <p:nvSpPr>
          <p:cNvPr id="724" name="Rectangle 723"/>
          <p:cNvSpPr/>
          <p:nvPr/>
        </p:nvSpPr>
        <p:spPr>
          <a:xfrm>
            <a:off x="5897880" y="6345936"/>
            <a:ext cx="1078992" cy="1828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TextBox 724"/>
          <p:cNvSpPr txBox="1"/>
          <p:nvPr/>
        </p:nvSpPr>
        <p:spPr>
          <a:xfrm>
            <a:off x="5916168" y="6345936"/>
            <a:ext cx="104241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726" name="TextBox 725"/>
          <p:cNvSpPr txBox="1"/>
          <p:nvPr/>
        </p:nvSpPr>
        <p:spPr>
          <a:xfrm>
            <a:off x="7040880" y="6345936"/>
            <a:ext cx="4754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Program Completion (Target)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Financial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Total Program URB: $6,934,887  |  2026 Capital Budget: $2,600,000  | 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2852928" cy="98755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$6.93M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Total Program
URB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932688"/>
            <a:ext cx="2852928" cy="987552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$2.03M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Spent
To Date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1" y="932688"/>
            <a:ext cx="2852928" cy="98755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1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$2.60M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1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Capital
Budget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932688"/>
            <a:ext cx="2852928" cy="98755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932688"/>
            <a:ext cx="2852928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005840"/>
            <a:ext cx="2670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-$1.17M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0304" y="1463040"/>
            <a:ext cx="2670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FFFFFF"/>
                </a:solidFill>
              </a:rPr>
              <a:t>2026 Projected
Variance 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011680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203911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Supplier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10712" y="2039112"/>
            <a:ext cx="2715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Role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1" y="2039112"/>
            <a:ext cx="11338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PO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Invoiced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2208" y="2039112"/>
            <a:ext cx="1042415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2039112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322576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38658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7000001429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71600" y="2322576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238658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322576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10712" y="238658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Staging Support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3912" y="2322576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1" y="238658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$137,500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06640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$49,500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76488" y="2322576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238658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$88,000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92056" y="2322576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37776" y="23865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1168" y="2706624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6888" y="277063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7000001415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2706624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417320" y="277063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64992" y="2706624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10712" y="277063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Construction Support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3912" y="2706624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77063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$869,235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20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406640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$798,665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76488" y="2706624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22208" y="277063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$70,570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92056" y="2706624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7776" y="27706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1168" y="3090672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154679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7000002099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090672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17320" y="3154679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64992" y="3090672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10712" y="3154679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Network Design SOW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53912" y="3090672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9631" y="3154679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$1,370,040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60920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06640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$388,740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76488" y="3090672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22208" y="3154679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$981,300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592056" y="3090672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637776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01168" y="3474720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6888" y="3538727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7000001857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71600" y="3474720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17320" y="3538727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364992" y="3474720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10712" y="3538727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Equipment + NSP PO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53912" y="3474720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199631" y="3538727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$1,899,030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360920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06640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$532,525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76488" y="3474720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22208" y="3538727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$1,366,505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92056" y="3474720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637776" y="3538727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168" y="3858768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46888" y="3922776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7000002054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858768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417320" y="3922776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364992" y="3858768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10712" y="3922776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2 Construction SOW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53912" y="3858768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199631" y="3922776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360920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0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76488" y="3858768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522208" y="3922776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92056" y="3858768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637776" y="39227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7A99"/>
                </a:solidFill>
              </a:rPr>
              <a:t>🆕 New SOW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1168" y="4242816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46888" y="4306824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7000001175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71600" y="4242816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417320" y="4306824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364992" y="4242816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10712" y="4306824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Phase 1 Equipment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53912" y="4242816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99631" y="4306824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60920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06640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$190,575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76488" y="4242816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522208" y="4306824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592056" y="4242816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637776" y="43068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01168" y="4626864"/>
            <a:ext cx="115214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6888" y="4690872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7000001748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371600" y="4626864"/>
            <a:ext cx="1975104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417320" y="4690872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Presidio Networked Sol.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64992" y="4626864"/>
            <a:ext cx="27706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10712" y="4690872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Network services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153912" y="4626864"/>
            <a:ext cx="118872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199631" y="469087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360920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406640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$40,955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76488" y="4626864"/>
            <a:ext cx="1097280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522208" y="4690872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592056" y="4626864"/>
            <a:ext cx="1170432" cy="36576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37776" y="46908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01168" y="5010912"/>
            <a:ext cx="115214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6888" y="5074920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7000001767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371600" y="5010912"/>
            <a:ext cx="1975104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417320" y="5074920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Graybar Electric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64992" y="5010912"/>
            <a:ext cx="27706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10712" y="5074920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Materials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153912" y="5010912"/>
            <a:ext cx="118872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99631" y="5074920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60920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06640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$24,759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476488" y="5010912"/>
            <a:ext cx="109728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522208" y="5074920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$0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592056" y="5010912"/>
            <a:ext cx="1170432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637776" y="507492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0965E"/>
                </a:solidFill>
              </a:rPr>
              <a:t>✅ Complete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01168" y="5394960"/>
            <a:ext cx="115214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46888" y="5458968"/>
            <a:ext cx="1078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71600" y="5394960"/>
            <a:ext cx="1975104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417320" y="5458968"/>
            <a:ext cx="19019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3364992" y="5394960"/>
            <a:ext cx="27706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410712" y="5458968"/>
            <a:ext cx="2697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153912" y="5394960"/>
            <a:ext cx="118872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199631" y="5458968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$5,164,397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360920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406640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$2,025,719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8476488" y="5394960"/>
            <a:ext cx="1097280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522208" y="5458968"/>
            <a:ext cx="1024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$3,138,678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592056" y="5394960"/>
            <a:ext cx="1170432" cy="365760"/>
          </a:xfrm>
          <a:prstGeom prst="rect">
            <a:avLst/>
          </a:prstGeom>
          <a:solidFill>
            <a:srgbClr val="001F5B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637776" y="545896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168" y="6382512"/>
            <a:ext cx="11795760" cy="201168"/>
          </a:xfrm>
          <a:prstGeom prst="rect">
            <a:avLst/>
          </a:prstGeom>
          <a:solidFill>
            <a:srgbClr val="FFF8E1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92608" y="6391656"/>
            <a:ext cx="1161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⚠  2026 ETC: $2,921,137  vs  Budget: $2,600,000  →  Projected Overrun: -$1,172,192 (-45%)  |  Budget augmentation required — see CIO Actions slide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Risks &amp;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RAG Status  |  PMBOK Standard  |  Active Risks &amp; Mitigations  |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</a:rPr>
              <a:t>■ RED — 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A500"/>
                </a:solidFill>
              </a:rPr>
              <a:t>■ AMBER — Medium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950976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965E"/>
                </a:solidFill>
              </a:rPr>
              <a:t>■ GREEN — Closed/Low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1188720"/>
            <a:ext cx="589788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216152"/>
            <a:ext cx="5669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⚠  RISKS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554480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" y="1554480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" y="159105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1591056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2026 Budget Overrun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192024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ETC $2.92M exceeds $2.6M budget by $1.17M. Hawkeye Ph2 ($632K) and Nokia PO ($753K) are primary drivers.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286000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CIO budget augmentation request in progress. Phase 3 timing may shift to 2027 to reduce 2026 exposure.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" y="2761488"/>
            <a:ext cx="5897880" cy="1133856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" y="2761488"/>
            <a:ext cx="658368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79806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2798064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Legacy Equipment Fragility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312724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JMUX equipment is 25+ years old. Brittle fiber &amp; faulty connectors risk unplanned outage during Phase 2 cutovers.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93008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Careful cutover sequencing. B&amp;McD on-site technical support for all Phase 2 cutovers.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968496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968496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" y="40050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00507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Phase 2 Schedule Slippage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33425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SPI at 0.75 (down from 1.00). IFR/IFC design cycle leaves limited buffer. Design only 4% complete.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700016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B&amp;McD running concurrent site designs. Weekly tracking calls. Phase 2 surveys completed early.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5175504"/>
            <a:ext cx="5897880" cy="1133856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5175504"/>
            <a:ext cx="658368" cy="32918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521208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" y="521208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Site Access / Escort Delays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554126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Escort availability and weather can delay field work, triggering Hawkeye cost impacts per SOW.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5907024"/>
            <a:ext cx="56875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001F5B"/>
                </a:solidFill>
              </a:rPr>
              <a:t>↳ Mitigation: Verify weekly before mobilizing. Adjust sequencing if sites inaccessible. Noted in B&amp;McD SOW constraint.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188720"/>
            <a:ext cx="571500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1216152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🔧  ISSUES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1554480"/>
            <a:ext cx="571500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63640" y="1554480"/>
            <a:ext cx="804672" cy="310896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1591056"/>
            <a:ext cx="768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1591056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Hicksville Cat 6 Cabling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1901952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completing Cat 6 cabling for Nokia NSP at Hicksville.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2212848"/>
            <a:ext cx="5532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001F5B"/>
                </a:solidFill>
              </a:rPr>
              <a:t>↳ Hawkeye on-site. Target completion: early March 2026.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2542032"/>
            <a:ext cx="571500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2542032"/>
            <a:ext cx="804672" cy="310896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2578608"/>
            <a:ext cx="768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2578608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Hicksville OTDR — Crown Castle Fiber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5080" y="2889504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Low dB fiber levels at Hicksville. Crown Castle likely root cause. OTDR testing planned.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3200400"/>
            <a:ext cx="5532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001F5B"/>
                </a:solidFill>
              </a:rPr>
              <a:t>↳ OTDR results expected Mar 2026. CIO escalation may be required if Crown Castle fault confirmed.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529584"/>
            <a:ext cx="5715000" cy="914400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3529584"/>
            <a:ext cx="804672" cy="310896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1928" y="3566160"/>
            <a:ext cx="768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3566160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NSP Remote Access — Hicksville &amp; Melville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5080" y="3877056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Remote connectivity to NSP nodes required before router config can begin.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187952"/>
            <a:ext cx="5532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001F5B"/>
                </a:solidFill>
              </a:rPr>
              <a:t>↳ Connectivity being established. Hawkeye Cat 6 work is prerequisite.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517136"/>
            <a:ext cx="5715000" cy="914400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4517136"/>
            <a:ext cx="804672" cy="310896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1928" y="4553712"/>
            <a:ext cx="768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4553712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Phase 1 SSP / Security Reviews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5080" y="4864608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Architecture review, security assessment, compliance readiness — all approved by SSP team.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5175504"/>
            <a:ext cx="5532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00965E"/>
                </a:solidFill>
              </a:rPr>
              <a:t>↳ Completed Feb 10, 2026.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04688"/>
            <a:ext cx="5715000" cy="914400"/>
          </a:xfrm>
          <a:prstGeom prst="rect">
            <a:avLst/>
          </a:prstGeom>
          <a:solidFill>
            <a:srgbClr val="E6F7F1"/>
          </a:solidFill>
          <a:ln w="2540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04688"/>
            <a:ext cx="804672" cy="310896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81928" y="5541264"/>
            <a:ext cx="768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5541264"/>
            <a:ext cx="47365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CMDB Inventory Update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5852160"/>
            <a:ext cx="5532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CMDB inventory spreadsheet completed and confirmed in database.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5080" y="6163056"/>
            <a:ext cx="5532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1">
                <a:solidFill>
                  <a:srgbClr val="00965E"/>
                </a:solidFill>
              </a:rPr>
              <a:t>↳ Completed Feb 24,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CIO Actions Required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Items — Decision | Awareness | Support  ·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810512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1325880" cy="181051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91056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DECISION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005840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① Budget Augmentation — 2026 Capital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13533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The 2026 capital budget of $2,600,000 is insufficient to cover committed vendor spend.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5133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6733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2026 Vendor Commitments (confirmed):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18333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2 IFR/IFC design (2026 portion)  . . . . . . .  $859,520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19933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Burns &amp; McDonnell Phase 3 (2026 portion) . . . . . . . . . . . . . . .  $588,011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21534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Nokia PO 7000001857 (added March 2026)  . . . . . . . . . . . . . . . .  $753,000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23134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Elecnor Hawkeye Phase 2 SOW (signed March 9, 2026)  . . . . . . . . . .  $632,303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247345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Phase 1 Outstanding Work Directives (WD #8, 10, 11, 12, 13)  . . . . .   $88,303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263347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208" y="2793491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A1A2E"/>
                </a:solidFill>
              </a:rPr>
              <a:t>   Total 2026 ETC:  $2,921,137     Budget Available:  $1,748,945     GAP:  -$1,172,192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295351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3113532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➤  CIO approval required for $1.17M budget augmentation to complete Phase 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" y="2834640"/>
            <a:ext cx="11795760" cy="1810512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1168" y="2834640"/>
            <a:ext cx="1325880" cy="181051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3493008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2907792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A500"/>
                </a:solidFill>
              </a:rPr>
              <a:t>② Schedule — Yellow (SPI: 0.75)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64208" y="32552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Phase 1 experienced a ~2.5-week delay. SPI dropped from 1.00 → 0.75.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341528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Causes:  SSP documentation queue  |  CMDB coordination  |  Weather  |  Crown Castle fiber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64208" y="357530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Recovery:  All SSP/CMDB approvals received. Phase 1 close-out is remote config — no site access needed.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64208" y="373532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Phase 2 IFR/IFC running concurrently with Phase 1 close-out.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4208" y="389534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   Overall program completion date of July 2027 remains unchanged.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64208" y="4055364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64208" y="4215383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➤  No approval needed — for awareness and ongoing tracking only.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" y="4736592"/>
            <a:ext cx="11795760" cy="1810512"/>
          </a:xfrm>
          <a:prstGeom prst="rect">
            <a:avLst/>
          </a:prstGeom>
          <a:solidFill>
            <a:srgbClr val="E8F0FE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01168" y="4736592"/>
            <a:ext cx="1325880" cy="181051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600" y="5394959"/>
            <a:ext cx="12618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SUPPORT REQUESTED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27632" y="4809744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99"/>
                </a:solidFill>
              </a:rPr>
              <a:t>③ Crown Castle Fiber Issue — Hicksville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64208" y="51572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Context:  OTDR testing revealed abnormally low dB fiber levels at Hicksville substation.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64208" y="53172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Root cause is believed to be Crown Castle infrastructure — outside PSEG LI direct control.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64208" y="54772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64208" y="563727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Impact:  Hicksville is a primary hub site for Phase 2. Delay here could cascade to adjacent sites.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64208" y="579729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       Nokia NSP remote access is currently blocked pending Hawkeye Cat 6 completion + fiber resolution.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64208" y="595731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64208" y="6117336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7A99"/>
                </a:solidFill>
              </a:rPr>
              <a:t>➤  Request CIO support to escalate formally to Crown Castle if OTDR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64208" y="6277355"/>
            <a:ext cx="10149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   confirm Crown Castle fault (results expected March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Next Steps &amp; Path to Completion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March 2026 — July 2027  |  Aligned to B&amp;McD MPP Schedule &amp; SOW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32688"/>
            <a:ext cx="5742432" cy="3474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IMMEDIATE — Next 30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" y="135331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12–23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52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PSEG LI review of Wave 1 IFR packages (Far Rockaway, Valley Stream, Cedarhurst)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1709928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8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1 IFC target — B&amp;McD issues sealed construction drawings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066543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M1 payment due: $99,000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2423160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Complete Hicksville OTDR testing; resolve Crown Castle fiber issue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" y="2779776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Establish NSP remote access at Hicksville &amp; Melville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3136392"/>
            <a:ext cx="868680" cy="29260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8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Mar 17–31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52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begins Wave 2 IFR (Hewlett, Green Acres, Barrett Power Plant)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932688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932688"/>
            <a:ext cx="5742432" cy="347472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996696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Q2 2026 — April through June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7" y="135331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139903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68896" y="139903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 2 IFC completion (Hewlett / Green Acres / Barrett)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7" y="1709928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54496" y="1755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Apr 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68896" y="175564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M2 payment due: $89,000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6207" y="2066543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2112263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May–Jun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8896" y="2112263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Waves 3–5 IFR → IFC pipeline continues (remaining 26 sites)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7" y="2423160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2468879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May 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468879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payment due: $89,000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36207" y="2779776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54496" y="28254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28254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PO target — B&amp;McD Phase 3 SOW to be executed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207" y="3136392"/>
            <a:ext cx="868680" cy="29260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54496" y="31821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Jun 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68896" y="31821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M3 second tranche: $89,000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011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01168" y="3602736"/>
            <a:ext cx="5742432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108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Q3–Q4 2026 — July through December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2608" y="402336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108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252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36 sites IFC complete — B&amp;McD Milestone 4 closed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" y="4379976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52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staging &amp; testing begins (Phase 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" y="4736592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252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&amp; installation starts (36 sites)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2608" y="5093208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08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Aug 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52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Hawkeye M4 payment due: $89,000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2608" y="5449824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0896" y="549554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Sep 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252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 complete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2608" y="5806440"/>
            <a:ext cx="868680" cy="29260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58521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Oct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252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cutovers begin — site by site through Feb 2027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44768" y="3602736"/>
            <a:ext cx="5742432" cy="2578608"/>
          </a:xfrm>
          <a:prstGeom prst="rect">
            <a:avLst/>
          </a:prstGeom>
          <a:solidFill>
            <a:srgbClr val="F4F4F6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44768" y="3602736"/>
            <a:ext cx="5742432" cy="347472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4496" y="3666744"/>
            <a:ext cx="5559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2027 — Program Completion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36207" y="4023360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54496" y="406908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68896" y="406908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B&amp;McD Phase 2 engineering program complete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36207" y="4379976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54496" y="442569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Feb 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68896" y="4425696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Phase 2 cutovers complete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36207" y="4736592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54496" y="478231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Dec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68896" y="4782312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MPLS node design complete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36207" y="5093208"/>
            <a:ext cx="868680" cy="29260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54496" y="513892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</a:rPr>
              <a:t>Jul 2027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68896" y="5138928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Completion — JMUX fully decommissioned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68896" y="5495544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sites migrated to Nokia MPLS — Phase 1, 2 &amp; 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68896" y="5852160"/>
            <a:ext cx="462686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Post-warranty support period begins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Goals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JMUX Replacement: Modernizing PSEG LI Substation Communications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1371600"/>
          </a:xfrm>
          <a:prstGeom prst="rect">
            <a:avLst/>
          </a:prstGeom>
          <a:solidFill>
            <a:srgbClr val="E8F0FE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1F5B"/>
                </a:solidFill>
              </a:rPr>
              <a:t>Why This Project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The GE JungleMUX (JMUX) platform is 25+ years old, no longer manufactured, and at end-of-life. Replacement parts are unavailable. A failure during an active cutover could cause a substation outage affecting Long Island customers. This program replaces all JMUX nodes with Nokia 7705 SAR MPLS routers — a modern, standards-based platform with full vendor support, redundancy, and remote management capability.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" y="2377440"/>
            <a:ext cx="3822191" cy="329184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🎯 Primary Objective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Replace all GE JungleMUX MPLS nodes across PSEG Long Island substations with Nokia 7705 SAR routers before equipment failure risk escalates.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799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9" y="2377440"/>
            <a:ext cx="3822191" cy="329184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39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📡 Technical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39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Implement a modern, resilient MPLS network supporting VPRN, Epipe, and Cpipe services with SNMPv3 NMS management, BFD, QoS, SyncE, and Segment Routing.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1" y="2377440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28431" y="2377440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1" y="2432304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🏗️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1" y="2761488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1: 31 substations (COMPLETE). Phase 2: 36 substations (In Progress). Phase 3: ~35 substations (planned Jun 2026). Total: ~102 sites.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1168" y="3639312"/>
            <a:ext cx="3822191" cy="32918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📅 Timeline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Program start: April 2024. Phase 1 complete: January 2026. Phase 2 complete: February 2027. Full program completion: July 2027.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799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799" y="3639312"/>
            <a:ext cx="3822191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39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💰 Budget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39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Total URB: $6,934,887. 2026 capital budget: $2,600,000. Budget augmentation of ~$1.17M required for 2026 due to Phase 2 vendor commitments.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8431" y="3639312"/>
            <a:ext cx="3822191" cy="1143000"/>
          </a:xfrm>
          <a:prstGeom prst="rect">
            <a:avLst/>
          </a:prstGeom>
          <a:solidFill>
            <a:srgbClr val="F4F4F6"/>
          </a:solidFill>
          <a:ln w="19050">
            <a:solidFill>
              <a:srgbClr val="0096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28431" y="3639312"/>
            <a:ext cx="3822191" cy="329184"/>
          </a:xfrm>
          <a:prstGeom prst="rect">
            <a:avLst/>
          </a:prstGeom>
          <a:solidFill>
            <a:srgbClr val="0096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19871" y="3694176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✅ Success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19871" y="4023360"/>
            <a:ext cx="365759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All JMUX nodes decommissioned. Nokia MPLS network operational and stable. NSP management platform live. All IFC designs accepted and as-builts delivered.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2026 Financial Exposure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Complete Picture  |  All Vendors  |  Hawkeye Ph2 SOW Signed March 9,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32688"/>
            <a:ext cx="11795760" cy="960120"/>
          </a:xfrm>
          <a:prstGeom prst="rect">
            <a:avLst/>
          </a:prstGeom>
          <a:solidFill>
            <a:srgbClr val="FDEDED"/>
          </a:solidFill>
          <a:ln w="254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96926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</a:rPr>
              <a:t>2026 BUDGET GAP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Capital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5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2026 ETC (all vendors)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5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$2,921,137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1261872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66"/>
                </a:solidFill>
              </a:rPr>
              <a:t>Projected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4630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</a:rPr>
              <a:t>-$1,172,192 (-45%)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" y="1993392"/>
            <a:ext cx="11795760" cy="310896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2020824"/>
            <a:ext cx="1847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Contract / 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8808" y="2020824"/>
            <a:ext cx="4133087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Description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020824"/>
            <a:ext cx="13898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2026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8088" y="2020824"/>
            <a:ext cx="1938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12848" y="2304288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58568" y="237744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7000002099
RITM336401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2304288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78808" y="237744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IFR/IFC design — 36 sites
(M3 surveys + M4 design 2026 portion)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9328" y="2304288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7744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$859,520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02368" y="2304288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48088" y="237744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Burns &amp; McDonnell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2779776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58568" y="285292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SOW
(pending)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33088" y="2779776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78808" y="285292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3 engineering design
(2026 portion — Jun–Dec 2026)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39328" y="2779776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5048" y="285292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$588,011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02368" y="2779776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48088" y="285292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7A99"/>
                </a:solidFill>
              </a:rPr>
              <a:t>⏳ Pending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68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Nokia of America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12848" y="3255264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58568" y="332841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PO 7000001857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33088" y="3255264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78808" y="332841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equipment + NSP
(added March 2026 — full balance)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8" y="3255264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85048" y="332841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$753,000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02368" y="3255264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48088" y="332841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011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12848" y="3730752"/>
            <a:ext cx="1901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58568" y="3803904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Ph2 SOW
Signed 3/9/2026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33088" y="3730752"/>
            <a:ext cx="41879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78808" y="3803904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Phase 2 construction, installation
&amp; WDs #8,10,11,12,13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39328" y="3730752"/>
            <a:ext cx="144475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85048" y="3803904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$632,303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02368" y="3730752"/>
            <a:ext cx="1993392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8088" y="3803904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🆕 New SOW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11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468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Elecnor Hawkeye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12848" y="4206240"/>
            <a:ext cx="1901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258568" y="4279392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WDs #8–13
(Ph1 outstanding)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33088" y="4206240"/>
            <a:ext cx="41879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78808" y="4279392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Outstanding Phase 1 work directives
Fiber testing, patch panels, cabling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39328" y="4206240"/>
            <a:ext cx="144475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85048" y="4279392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$88,303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02368" y="4206240"/>
            <a:ext cx="1993392" cy="457200"/>
          </a:xfrm>
          <a:prstGeom prst="rect">
            <a:avLst/>
          </a:prstGeom>
          <a:solidFill>
            <a:srgbClr val="F4F4F6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848088" y="4279392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A500"/>
                </a:solidFill>
              </a:rPr>
              <a:t>🟡 Active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11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68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TOTAL 2026 ETC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12848" y="4681728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58568" y="4754880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4133088" y="4681728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78808" y="4754880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8339328" y="4681728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85048" y="4754880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$2,921,137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802368" y="4681728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48088" y="4754880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2011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468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2026 Capital Budget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212848" y="5157216"/>
            <a:ext cx="1901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258568" y="5230368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4133088" y="5157216"/>
            <a:ext cx="41879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78808" y="5230368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8339328" y="5157216"/>
            <a:ext cx="144475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85048" y="5230368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>$2,600,000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02368" y="5157216"/>
            <a:ext cx="1993392" cy="457200"/>
          </a:xfrm>
          <a:prstGeom prst="rect">
            <a:avLst/>
          </a:prstGeom>
          <a:solidFill>
            <a:srgbClr val="FFF8E1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848088" y="5230368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01F5B"/>
                </a:solidFill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2011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VARIANCE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12848" y="5632704"/>
            <a:ext cx="1901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258568" y="5705856"/>
            <a:ext cx="18105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4133088" y="5632704"/>
            <a:ext cx="41879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78808" y="5705856"/>
            <a:ext cx="409651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8339328" y="5632704"/>
            <a:ext cx="144475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385048" y="5705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−$1,172,192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02368" y="5632704"/>
            <a:ext cx="1993392" cy="457200"/>
          </a:xfrm>
          <a:prstGeom prst="rect">
            <a:avLst/>
          </a:prstGeom>
          <a:solidFill>
            <a:srgbClr val="FDEDED"/>
          </a:solidFill>
          <a:ln w="508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848088" y="5705856"/>
            <a:ext cx="1901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</a:rPr>
              <a:t>⚠ Gap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8600" y="6291072"/>
            <a:ext cx="1179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44466"/>
                </a:solidFill>
              </a:rPr>
              <a:t>Note: Phase 3 SOW pending execution. Nokia balance and Hawkeye SOW confirmed. All figures based on signed contracts and purchase orders as of March 12,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10972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972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2 &amp; 3 Master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7941D"/>
                </a:solidFill>
              </a:rPr>
              <a:t>Burns &amp; McDonnell | Live MPP Data | As of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0">
                <a:solidFill>
                  <a:srgbClr val="FFFFFF"/>
                </a:solidFill>
              </a:rPr>
              <a:t>PSEG Long Island | JMUX Replacement Program | Confidential | March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005840"/>
            <a:ext cx="8641080" cy="237744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558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306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547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75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892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472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May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064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19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236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591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Jul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7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763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Aug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581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Sep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19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1082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Oct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9254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2804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Nov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5267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Dec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2698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76248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Jan 27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74420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79708" y="1024128"/>
            <a:ext cx="580643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</a:rPr>
              <a:t>Feb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361420" y="1005840"/>
            <a:ext cx="7315" cy="237744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64153" y="1005840"/>
            <a:ext cx="20116" cy="544068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99561" y="941832"/>
            <a:ext cx="594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7941D"/>
                </a:solidFill>
              </a:rPr>
              <a:t>▼TODAY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" y="1572768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160477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2 — Engineering &amp; Construction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574" y="1623060"/>
            <a:ext cx="11168188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80574" y="1623060"/>
            <a:ext cx="1005136" cy="149047"/>
          </a:xfrm>
          <a:prstGeom prst="rect">
            <a:avLst/>
          </a:prstGeom>
          <a:solidFill>
            <a:srgbClr val="0033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8006" y="1623060"/>
            <a:ext cx="100513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" y="1813255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7160" y="184525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80574" y="1863547"/>
            <a:ext cx="36576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006" y="1863547"/>
            <a:ext cx="3657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" y="2053742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" y="208574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Support Coordinator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21848" y="2104034"/>
            <a:ext cx="377028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421848" y="2104034"/>
            <a:ext cx="2827711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49280" y="2104034"/>
            <a:ext cx="2827711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75%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" y="2294229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7160" y="2326233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(Ph2 — 36 sites)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07167" y="2344521"/>
            <a:ext cx="1222794" cy="149047"/>
          </a:xfrm>
          <a:prstGeom prst="rect">
            <a:avLst/>
          </a:prstGeom>
          <a:solidFill>
            <a:srgbClr val="00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4599" y="2344521"/>
            <a:ext cx="1222794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1440" y="2534716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7160" y="256672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(all 36 sites)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7057" y="2585008"/>
            <a:ext cx="3749902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7057" y="2585008"/>
            <a:ext cx="149996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74489" y="2585008"/>
            <a:ext cx="149996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4%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" y="2775204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37160" y="280720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1: Far Rockaway/Valley Stm/Cedarhurst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67437" y="2825496"/>
            <a:ext cx="1120894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867437" y="2825496"/>
            <a:ext cx="560447" cy="149047"/>
          </a:xfrm>
          <a:prstGeom prst="rect">
            <a:avLst/>
          </a:prstGeom>
          <a:solidFill>
            <a:srgbClr val="FFB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94869" y="2825496"/>
            <a:ext cx="560447" cy="14904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>
                <a:solidFill>
                  <a:srgbClr val="FFFFFF"/>
                </a:solidFill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" y="3015691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7160" y="304769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2: Hewlett / Green Acres / Barrett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5415" y="3065983"/>
            <a:ext cx="14062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" y="3256178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7160" y="328818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3: Whiteside/Baldwin/Hauppauge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51371" y="3306470"/>
            <a:ext cx="156925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" y="3496665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7160" y="3528669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4: Babylon/Sterling/MacArthur/Sayvill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864668" y="3546957"/>
            <a:ext cx="130431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" y="3737152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7160" y="3769156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Wave 5: Bayport/S.Farmingdale/Patchogue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49986" y="3787444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" y="3977639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" y="400964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  DO Offices / Hicksville / Ruland / ACC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49986" y="4027931"/>
            <a:ext cx="1446973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1440" y="4218127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7160" y="425013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Staging &amp; Testing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17340" y="4268419"/>
            <a:ext cx="264938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1440" y="4458614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7160" y="4490618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Construction &amp; Installation (Hawkeye)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02658" y="4508906"/>
            <a:ext cx="957855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1440" y="4699101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7160" y="4731105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Acceptance Testing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80894" y="4749393"/>
            <a:ext cx="40759" cy="149047"/>
          </a:xfrm>
          <a:prstGeom prst="rect">
            <a:avLst/>
          </a:prstGeom>
          <a:solidFill>
            <a:srgbClr val="FF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1440" y="4939588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7160" y="4971592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Cutover (Phase 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82793" y="4989880"/>
            <a:ext cx="2465968" cy="149047"/>
          </a:xfrm>
          <a:prstGeom prst="rect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" y="5180076"/>
            <a:ext cx="11978640" cy="226771"/>
          </a:xfrm>
          <a:prstGeom prst="rect">
            <a:avLst/>
          </a:prstGeom>
          <a:solidFill>
            <a:srgbClr val="E3E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37160" y="5212080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1">
                <a:solidFill>
                  <a:srgbClr val="003387"/>
                </a:solidFill>
              </a:rPr>
              <a:t>PHASE 3 — Engineering Design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14925" y="5230368"/>
            <a:ext cx="3892561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1440" y="5420563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7160" y="5452567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PO Received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14925" y="5470855"/>
            <a:ext cx="36576" cy="149047"/>
          </a:xfrm>
          <a:prstGeom prst="rect">
            <a:avLst/>
          </a:prstGeom>
          <a:solidFill>
            <a:srgbClr val="64FB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1440" y="5661050"/>
            <a:ext cx="11978640" cy="22677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37160" y="5693054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Site Surveys (Phase 3 — 35 sites)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35305" y="5711342"/>
            <a:ext cx="1569252" cy="149047"/>
          </a:xfrm>
          <a:prstGeom prst="rect">
            <a:avLst/>
          </a:prstGeom>
          <a:solidFill>
            <a:srgbClr val="FFF8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1440" y="5901537"/>
            <a:ext cx="11978640" cy="22677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" y="5933541"/>
            <a:ext cx="3154679" cy="20391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 b="0">
                <a:solidFill>
                  <a:srgbClr val="212121"/>
                </a:solidFill>
              </a:rPr>
              <a:t>  MPLS Node Design (Phase 3)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77965" y="5951829"/>
            <a:ext cx="3729522" cy="149047"/>
          </a:xfrm>
          <a:prstGeom prst="rect">
            <a:avLst/>
          </a:prstGeom>
          <a:solidFill>
            <a:srgbClr val="649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" y="6196888"/>
            <a:ext cx="11978640" cy="201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860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9700"/>
                </a:solidFill>
              </a:rPr>
              <a:t>■ Complete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60604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FBF00"/>
                </a:solidFill>
              </a:rPr>
              <a:t>■ In Progress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98348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003387"/>
                </a:solidFill>
              </a:rPr>
              <a:t>■ Planned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36092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C00000"/>
                </a:solidFill>
              </a:rPr>
              <a:t>■ Construction/Cutover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738360" y="6233464"/>
            <a:ext cx="2286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 b="1">
                <a:solidFill>
                  <a:srgbClr val="F7941D"/>
                </a:solidFill>
              </a:rPr>
              <a:t>▼ Today 3/12/26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11887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73152"/>
            <a:ext cx="9144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Vendor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7941D"/>
                </a:solidFill>
              </a:rPr>
              <a:t>3 Active Vendors  |  Roles, Contracts &amp; Current Status  |  March 12,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0196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</a:rPr>
              <a:t>PSEG Long Island  |  JMUX Replacement Program  |  CONFIDENTIAL  |  March 12,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" y="987552"/>
            <a:ext cx="3822191" cy="5541264"/>
          </a:xfrm>
          <a:prstGeom prst="rect">
            <a:avLst/>
          </a:prstGeom>
          <a:solidFill>
            <a:srgbClr val="E8F0FE"/>
          </a:solidFill>
          <a:ln w="25400">
            <a:solidFill>
              <a:srgbClr val="00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" y="987552"/>
            <a:ext cx="3822191" cy="475488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Burns &amp; McDonnell EGS, P.C.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Engineering &amp;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2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5292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RITM336401 | MA00007834 | PO 7000002099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1F5B"/>
                </a:solidFill>
              </a:rPr>
              <a:t>Value: $1,370,040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Aug 13, 2025  ·  End: Sep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121408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36-site MPLS node design (IFR→IFC→As-Built)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Phase 1 Staging Support  ✓  $57,300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Construction Coordinator Aug–Jan 2026  ✓  $368,100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Site Surveys 36 sites  ✓  $86,040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M4 IFR Design in progress  $601,020  (4%)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ISO 9001:2015 certified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Sub: Global One Partners LLC (WMBE)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Weekly status calls hosted by B&amp;McD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5376672"/>
            <a:ext cx="3639311" cy="16459"/>
          </a:xfrm>
          <a:prstGeom prst="rect">
            <a:avLst/>
          </a:prstGeom>
          <a:solidFill>
            <a:srgbClr val="00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Alex Lenox (PM) · alenox@burnsmcd.com · (636) 248-0351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IFR 4% complete. SPI 0.75.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33087" y="987552"/>
            <a:ext cx="3822191" cy="5541264"/>
          </a:xfrm>
          <a:prstGeom prst="rect">
            <a:avLst/>
          </a:prstGeom>
          <a:solidFill>
            <a:srgbClr val="FFF8E1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33087" y="987552"/>
            <a:ext cx="3822191" cy="475488"/>
          </a:xfrm>
          <a:prstGeom prst="rect">
            <a:avLst/>
          </a:prstGeom>
          <a:solidFill>
            <a:srgbClr val="8B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Elecnor Hawkeye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Construction &amp; Installation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7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84847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Phase 2 SOW — Signed March 9,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24527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4500"/>
                </a:solidFill>
              </a:rPr>
              <a:t>Value: $632,303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24527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Mar 9, 2026  ·  End: Late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24527" y="2121408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24527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Pre-site, install, demo JMUX at 36 sites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7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WD#8 Fiber testing Elwood/Northport  $8,229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7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WD#10 Patch panels Oakwood/Northport  $15,089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24527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WD#11 Fiber &amp; CAT5E Hicksville  $60,070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24527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WD#12 Fiber enclosures Hicksville  $2,515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24527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WD#13 Fiber testing Syosset  $2,400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7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M1 due March 30, 2026  ⚠  $99,000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24527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M2–M5 Apr–Dec 2026  $444,000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24527" y="5376672"/>
            <a:ext cx="3639311" cy="1645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24527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Robert M. Kenney (Electrical Supervisor)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7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97679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WDs in progress. M1 due 3/30.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65008" y="987552"/>
            <a:ext cx="3822191" cy="5541264"/>
          </a:xfrm>
          <a:prstGeom prst="rect">
            <a:avLst/>
          </a:prstGeom>
          <a:solidFill>
            <a:srgbClr val="E6F7F1"/>
          </a:solidFill>
          <a:ln w="25400">
            <a:solidFill>
              <a:srgbClr val="007A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65008" y="987552"/>
            <a:ext cx="3822191" cy="475488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56448" y="1024128"/>
            <a:ext cx="365759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Nokia of America Corporation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1261872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</a:rPr>
              <a:t>Network Equipment Supply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16768" y="1517904"/>
            <a:ext cx="1078992" cy="25603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16768" y="1536192"/>
            <a:ext cx="1078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56448" y="1536192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Contract: PO 7000001857 + PO 7000001175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56448" y="1737360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7A99"/>
                </a:solidFill>
              </a:rPr>
              <a:t>Value: ~$2,089,605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56448" y="1920240"/>
            <a:ext cx="365759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A1A2E"/>
                </a:solidFill>
              </a:rPr>
              <a:t>Start: 2025  ·  End: Equipment Delivered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56448" y="2121408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56448" y="215798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Nokia 7705 SAR routers — all Phase 2 sites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56448" y="256032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Equipment delivered February 2026  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56448" y="296265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(Network Services Platform) licensing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56448" y="336499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Firmware synchronized on all CSM cards  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56448" y="376732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Ph1 PO 7000001175  $190,575  paid in full  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56448" y="416966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Ph2 PO 7000001857  $1,899,030  active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56448" y="457200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NSP remote access Hicksville pending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56448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1A2E"/>
                </a:solidFill>
              </a:rPr>
              <a:t>• Cat 6 prerequisite (Hawkeye) in progress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56448" y="5376672"/>
            <a:ext cx="3639311" cy="16459"/>
          </a:xfrm>
          <a:prstGeom prst="rect">
            <a:avLst/>
          </a:prstGeom>
          <a:solidFill>
            <a:srgbClr val="007A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56448" y="5413248"/>
            <a:ext cx="365759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1A1A2E"/>
                </a:solidFill>
              </a:rPr>
              <a:t>Nokia Account Team — PSEG Long Island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56448" y="5650992"/>
            <a:ext cx="3639311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0" y="5742432"/>
            <a:ext cx="35295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A500"/>
                </a:solidFill>
              </a:rPr>
              <a:t>Status: Equipment delivered. NSP access pending.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