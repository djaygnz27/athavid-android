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JMUX Replacement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7941D"/>
                </a:solidFill>
              </a:rPr>
              <a:t>CIO Briefing | Phase 1 Complete · Phase 2 Underway · Path to Completion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PRJ13797  |  Program Manager: Dhananjaya Gunaratne  |  March 12,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PSEG Long Island  |  IT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7941D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JMUX Replacement Program — Status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1161288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36576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✅  Phase 1
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31 substations cutover to MPLS
All Wave 1 &amp; Wave 2 cutovers done
NSP installed at Melville &amp; Hicksville
SSP &amp; CMDB documentation approved
Minor close-outs in progress (Hicksville cabling, OTDR)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097280"/>
            <a:ext cx="36576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🟡  Phase 2
IN PROGRESS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36-site engineering design underway
Site surveys completed during Phase 1
Burns &amp; McDonnell issuing IFRs &amp; IFCs
Nokia Phase 2 equipment delivered 2/19
Schedule: Yellow (2.5-wk delay, recovering)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097280"/>
            <a:ext cx="3657600" cy="5029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📋  CIO Actions
REQUIRED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600200"/>
            <a:ext cx="3657600" cy="4663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691640"/>
            <a:ext cx="3383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Awareness: Schedule is yellow, recovery plan in place
Approval: Confirm Phase 2 vendor engagement continues
Decision: Resource support for SSP/security reviews
Support: Crown Castle fiber issue at Hicksville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Phase 1 Accomplishments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31 Substations | Complete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7498079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55279" y="1005840"/>
            <a:ext cx="393192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05840"/>
            <a:ext cx="7498079" cy="4114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42415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KEY ACCOMPLISHMENTS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08760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490472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All 31 substation sites installed &amp; commissioned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47672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929384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Wave 1 cutover (12/8–12/18/25) — non-tie sites 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386584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68296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Wave 2 cutover (1/6–1/8/26) — tie sites complete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825496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807208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CWDM cutover complete at Hicksville &amp; ACC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264408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46120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Nokia NSP racked &amp; powered at Melville &amp; Hicksville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703320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685032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Staging completed at Hawkeye Warehouse — 9/29/25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142231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123944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SSP documentation approved by security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581144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562856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CMDB inventory updated &amp; confirmed — 2/24/26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020056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001768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site surveys completed during Phase 1 (ahead of schedule)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458968"/>
            <a:ext cx="228600" cy="2743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440680"/>
            <a:ext cx="6949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7 additional nodes added to complete Ring 1 &amp; Ring 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1005840"/>
            <a:ext cx="3931920" cy="4114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0" y="1042415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PHASE 1 AT A GLANCE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1000" y="150876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15270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31 / 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185623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Sites Complete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228600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30428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263347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Cutover Done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1000" y="3063239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0" y="308152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341071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Network Rings Closed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01000" y="3840479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85876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Sept 2025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4187951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Staging Complete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01000" y="461772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4636007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Jan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496519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Final Cutover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01000" y="5394960"/>
            <a:ext cx="3840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0" y="541324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3387"/>
                </a:solidFill>
              </a:rPr>
              <a:t>$4.44M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0" y="574243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Spent to 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Phase 2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36 Sites | Engineering Design Underway | Burns &amp; McDonnell SOW: $1.37M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18288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Site Surveys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79" y="1051560"/>
            <a:ext cx="1828800" cy="50292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9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Nokia Equip.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9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051560"/>
            <a:ext cx="18288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5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IFR Design (B&amp;McD)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199" y="1051560"/>
            <a:ext cx="1828800" cy="502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19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IFC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19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051560"/>
            <a:ext cx="1828800" cy="5029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Construction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NOT STARTED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04120" y="1051560"/>
            <a:ext cx="1828800" cy="5029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0" y="10607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Cutover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29844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NOT STARTED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169164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17099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170992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Contract 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170992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17099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103120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2148839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Staging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2148839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8/22/2025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2148839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2148839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$57,300 paid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761487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2807207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Construction Coordinator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2807207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Aug 2025–Jan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2807207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2807207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$368,100 — monthly invoiced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3419856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3465575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Substation Site Surveys (Phase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3465575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2/27/2026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9320" y="3465575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8000"/>
                </a:solidFill>
              </a:rPr>
              <a:t>✅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8120" y="3465575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Completed during Phase 1 — ahead of schedule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078224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4123944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MPLS Network Node Design — IFR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7639" y="4123944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1: 2/23/26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89320" y="4123944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C000"/>
                </a:solidFill>
              </a:rPr>
              <a:t>🟡 In Progress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8120" y="4123944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B&amp;McD issuing IFRs; PSEG LI review 2-wk window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4736592"/>
            <a:ext cx="11612880" cy="6217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4782312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MPLS Network Node Design — IFC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77639" y="4782312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1: 3/23/26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89320" y="4782312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⏳ Upcoming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18120" y="4782312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IFC follows PSEG LI review &amp; comment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394959"/>
            <a:ext cx="116128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0040" y="5440679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Construction &amp; Installation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77639" y="5440679"/>
            <a:ext cx="1920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Aug–Dec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9320" y="5440679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⏳ Not Started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18120" y="5440679"/>
            <a:ext cx="4023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Pending IFC completion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Schedule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Overall: 🟡 Yellow | Recovery Plan in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530352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0" y="1005840"/>
            <a:ext cx="612648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05840"/>
            <a:ext cx="5303520" cy="4114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33271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SCHEDULE PERFORMANCE INDEX (SPI)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C000"/>
                </a:solidFill>
              </a:rPr>
              <a:t>SPI: 0.75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31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C000"/>
                </a:solidFill>
              </a:rPr>
              <a:t>🟡  YELLOW — Schedule delayed ~2.5 weeks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80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Root Causes: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4612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SSP documentation delays (security review queue)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CMDB update coordination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6908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Inclement weather affecting field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8056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• Crown Castle fiber issue at Hicksville (OTDR testing pending)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0749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87"/>
                </a:solidFill>
              </a:rPr>
              <a:t>Recovery Actions: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4406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approvals received. Remaining Phase 1 close-out is remote configuration — no physical site access needed. Phase 2 IFR/IFC design on track.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1005840"/>
            <a:ext cx="6126480" cy="4114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1033271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PROGRAM TIMELINE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15087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490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Apr 2024  —  Project Start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06440" y="19659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19476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Oct 2024  —  RFP Award &amp; SOW Executed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24231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2404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Jan 2025  —  Phase 1 Detailed Design Start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28803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8620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Sep 2025  —  Staging Complete (Hawkeye)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06440" y="33375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33192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Oct 2025  —  Phase 1 Construction Start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37947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3776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Dec 2025 – Jan 2026  —  Wave 1 &amp; 2 Cutovers Complete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251960"/>
            <a:ext cx="182880" cy="25603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60" y="42336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Feb 2026  —  Nokia Phase 2 Equipment Delivered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4709160"/>
            <a:ext cx="182880" cy="2560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4690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941D"/>
                </a:solidFill>
              </a:rPr>
              <a:t>Mar 2026  —  Phase 2 IFR Design in Progress  ◀ NOW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6440" y="51663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51480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Mar–Jul 2026  —  Phase 2 IFC Design &amp; Review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06440" y="56235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56052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Aug–Dec 2026  —  Phase 2 Construction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6080760"/>
            <a:ext cx="182880" cy="25603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60624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</a:rPr>
              <a:t>Jul 2027  —  Program Completion (Target)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Financial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Program Budget: $6,600,000 | Status: ON BUDGET 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2743200" cy="146304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$6,600,000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 URB
Approved Budget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743200" cy="146304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$4,437,070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Spent
To Date (67%)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051560"/>
            <a:ext cx="2743200" cy="146304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$2,162,930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Estimate to
Complete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1051560"/>
            <a:ext cx="2743200" cy="146304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1430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8288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Over /
Under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697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Budget Utilization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063240"/>
            <a:ext cx="11612880" cy="41148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063240"/>
            <a:ext cx="7780629" cy="41148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09067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67% Spent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906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04040"/>
                </a:solidFill>
              </a:rPr>
              <a:t>33% Remaining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61188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6301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 #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36301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Supplier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59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Invoiced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36301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Remaining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36301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023360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40416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7000001429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04164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$137,500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$49,500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79" y="40416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$88,000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29800" y="4041648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361688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437997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7000001415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91640" y="437997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2040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$869,235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59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$798,665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3879" y="437997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$70,570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29800" y="4379976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700016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47183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7000002099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91640" y="47183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Burns &amp; McDonnell (Ph2)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$1,370,040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59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$388,740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83879" y="47183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$981,300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4718304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038344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5056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7000001857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40" y="50566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Nokia of America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2040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$1,899,030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37959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$532,525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83879" y="5056631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$1,366,505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9800" y="5056631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376672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3949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7000002054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91640" y="5394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Elecnor Hawkeye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2040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$402,793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37959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$257,619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83879" y="53949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$145,174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29800" y="5394960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🟡 Active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5715000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57332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7000001175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91640" y="57332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Nokia of America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92040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$190,575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37959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$190,575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83879" y="57332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29800" y="5733288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6053328"/>
            <a:ext cx="1161288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" y="60716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7000001748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91640" y="607161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Presidio Networked Sol.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92040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$40,955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59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$40,955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83879" y="6071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29800" y="6071616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6391656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0040" y="6409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7000001767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91640" y="640994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Graybar Electric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92040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$24,759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37959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$24,759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83879" y="64099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29800" y="6409944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✅ Paid in Full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Risks &amp;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Active Risks | Mitigations in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5486400" cy="3657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33271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⚠  ACTIVE RISKS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005840"/>
            <a:ext cx="5943600" cy="36576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033271"/>
            <a:ext cx="5760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🔧  ACTIVE ISSUES / IN RESOLUTION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463040"/>
            <a:ext cx="54864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1463040"/>
            <a:ext cx="100584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14996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149961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Legacy Equipment Fragility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184708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JMUX equipment 25+ yrs old. Faulty connectors, brittle fiber panels. Potential for unplanned outage during cutover.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21284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Mitigation: Careful cutover planning; dedicated B&amp;McD on-site support. Phase 1 complete — risk reduced going into Ph2.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697480"/>
            <a:ext cx="54864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2697480"/>
            <a:ext cx="100584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" y="27340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73405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Substation Access Delays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0815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Weather, scheduling conflicts, or escort availability can delay field 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44728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Mitigation: Verify weekly before mobilizing. Adjust site plan if specific sites inaccessible.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31920"/>
            <a:ext cx="54864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3931920"/>
            <a:ext cx="100584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396849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96849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Phase 2 Schedule Slippage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31596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IFR/IFC design cycle (4-wk IFR + 2-wk review + 2-wk IFC) leaves limited buffer.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6817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Mitigation: Phase 2 surveys done early. B&amp;McD running concurrent site designs. Weekly status calls tracking.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166360"/>
            <a:ext cx="54864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5166360"/>
            <a:ext cx="1005840" cy="34747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8" y="52029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520293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Crown Castle Fiber Issue (Hicksville)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55040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Low dB levels on fiber — may be Crown Castle's network, not PSEG LI.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9161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03387"/>
                </a:solidFill>
              </a:rPr>
              <a:t>Mitigation: OTDR testing planned 3/3. If Crown Castle issue confirmed, escalate to vendor.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463040"/>
            <a:ext cx="59436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3600" y="1463040"/>
            <a:ext cx="164592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1888" y="1499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149961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Cat 6 Cabling — Hicksville NSP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1901952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Cables ordered; Hawkeye scheduled to complete 3/3/2026.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2697480"/>
            <a:ext cx="59436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0" y="2697480"/>
            <a:ext cx="164592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61888" y="273405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SCHEDULED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273405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OTDR Testing — Hicksville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3136392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Low dB levels. OTDR test set confirmed for 1550 &amp; 1310nm. Site visit 3/3–3/4/2026.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931920"/>
            <a:ext cx="59436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0" y="3931920"/>
            <a:ext cx="164592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61888" y="396849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80960" y="396849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Remote Access — Phase 2 Nodes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4370832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NSP at Hicksville &amp; Melville. Remote access needed before router configuration can begin.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43600" y="5166360"/>
            <a:ext cx="594360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43600" y="5166360"/>
            <a:ext cx="1645920" cy="34747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61888" y="520293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COMPLETE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0" y="5202936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Phase 2 SSP / Security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5040" y="5605272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Architecture review, security assessment, compliance readiness all approved 2/10/2026.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CIO Actions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3 Items for Decision or Awareness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051560"/>
            <a:ext cx="594360" cy="16916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45919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1097280"/>
            <a:ext cx="1280160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112471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AWARENESS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11556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Schedule Recovery — Yellow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Phase 1 experienced a 2.5-week delay due to SSP documentation processing and inclement weather. The SPI stands at 0.75 for February.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92023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Recovery plan is in place. Remaining Phase 1 close-out items are remote (no site access required). Phase 2 engineering is running concurrently. Overall program target end date remains July 2027.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500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➤  No action required — for awareness 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834639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2834639"/>
            <a:ext cx="594360" cy="169164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428999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880359"/>
            <a:ext cx="128016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2907791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2898647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Continue Phase 2 Vendor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310127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Burns &amp; McDonnell Phase 2 SOW ($1.37M) is active. IFR design has commenced for 36 sites. Nokia equipment delivered to staging. Phase 2 is on track to hit IFC milestones per SOW schedule.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70332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Confirm continued engagement of B&amp;McD and Elecnor Hawkeye for Phase 2 construction support as design packages are issued.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33087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7"/>
                </a:solidFill>
              </a:rPr>
              <a:t>➤  Approval requested to proceed with Phase 2 construction mobilization once IFC packages are complete (expected Q2 2026).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617720"/>
            <a:ext cx="11612880" cy="169164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4617720"/>
            <a:ext cx="594360" cy="1691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521208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4663440"/>
            <a:ext cx="128016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" y="469087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31720" y="468172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</a:rPr>
              <a:t>Crown Castle Fiber Issue — Hicksville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9320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Context: OTDR testing revealed low dB levels on fiber at Hicksville substation. This may be a Crown Castle infrastructure issue outside PSEG LI's control.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8640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Detail: OTDR testing was scheduled for 3/3–3/4/2026. If confirmed as Crown Castle issue, formal escalation to Crown Castle will be required, which may impact Phase 2 schedule at that site.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91616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</a:rPr>
              <a:t>➤  Request CIO support if vendor escalation to Crown Castle is needed to expedite resolution.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Next Steps &amp; Path to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March 2026 — July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539496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52160" y="1051560"/>
            <a:ext cx="6035040" cy="5394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051560"/>
            <a:ext cx="5394960" cy="38404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7899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IMMEDIATE (Next 30 Days)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36192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" y="1591056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59105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Hawkeye completes Cat 6 cabling for NSP at Hicksville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103120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215798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3–4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15798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OTDR testing at Hicksville — resolve Crown Castle fiber issue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670048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" y="2724912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72491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Remote router configuration begins (Layer 1-3 setup)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236976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9184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29184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B&amp;McD continues Wave 1 IFR submissions (Far Rockaway, Valley Stream, Cedarhurst)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03904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" y="3858768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8587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PSEG LI review window opens for Wave 1 IFR packages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370832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4425696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Mar 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4256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Wave 1 IFC target completion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937759"/>
            <a:ext cx="10058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" y="4992623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Ongoing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4992623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Weekly status calls with B&amp;McD; monthly schedule updates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1051560"/>
            <a:ext cx="6035040" cy="38404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1078992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PATH TO COMPLETION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97880" y="1536192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97880" y="1536192"/>
            <a:ext cx="1371600" cy="5669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16168" y="1645919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Q1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1645919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1 close-out &amp; Phase 2 IFR design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97880" y="2194560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97880" y="2194560"/>
            <a:ext cx="1371600" cy="5669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16168" y="230428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Q2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230428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IFC completion (all 36 sites)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97880" y="2852928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97880" y="2852928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16168" y="2962656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Q2–Q3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2962656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construction mobilization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97880" y="3511296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897880" y="3511296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16168" y="3621024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Q3–Q4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362102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installations at all 36 sites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97880" y="4169663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897880" y="4169663"/>
            <a:ext cx="1371600" cy="566928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16168" y="4279392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Q4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427939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Phase 2 cutovers — Waves 3 &amp; 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97880" y="4828031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897880" y="4828031"/>
            <a:ext cx="1371600" cy="56692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16168" y="4937759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Q1 2027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4937759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As-built documentation complete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97880" y="5486400"/>
            <a:ext cx="58978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97880" y="5486400"/>
            <a:ext cx="1371600" cy="56692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16168" y="559612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Jul 2027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5596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🏁  Program Complete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Goals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941D"/>
                </a:solidFill>
              </a:rPr>
              <a:t>JMUX Replacement: Private Field Area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11612880" cy="530352"/>
          </a:xfrm>
          <a:prstGeom prst="rect">
            <a:avLst/>
          </a:prstGeom>
          <a:solidFill>
            <a:srgbClr val="F2F2F2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42415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3387"/>
                </a:solidFill>
              </a:rPr>
              <a:t>Modernize PSEG LI's substation communications by replacing legacy JMUX with MPLS nodes to deliver a reliable, scalable, and future-ready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45920"/>
            <a:ext cx="3749039" cy="43891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🔧  Engineering 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" y="2203704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Detailed site surveys at all substations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583180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Rack elevations, power design &amp; supplemental docs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962656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As-builts for each completed site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342132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substations aligned to PSEG LI standards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3721607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As-Builts: BMcD in progress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4101083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462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surveys: Completed during Phase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4480559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2569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IFRs: Being issued by BMcD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4860036"/>
            <a:ext cx="164592" cy="16459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80517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IFCs: In progress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1645920"/>
            <a:ext cx="3749039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79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📦  Procurement &amp; Staging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15968" y="2203704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All Phase 1 equipment purchased by PSEG LI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15968" y="2583180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Equipment shipped &amp; delivered to Hawkeye staging facility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15968" y="2962656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staging completed: Sept 29, 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8" y="3342132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Nokia Phase 2 equipment delivered: Feb 19, 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5968" y="3721607"/>
            <a:ext cx="164592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Equipment safely stored at Hawkeye warehouse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38160" y="1645920"/>
            <a:ext cx="3749039" cy="43891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16733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🏗  Construction &amp; Installation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2084831"/>
            <a:ext cx="3749039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47888" y="2203704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2148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BMcD on-site coordination throughout Phase 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47888" y="2583180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03920" y="252831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Technical support &amp; commissioning oversight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47888" y="2962656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03920" y="290779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31/31 Phase 1 sites installed &amp; commissioned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47888" y="3342132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03920" y="32872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SSP documentation: Submitted &amp; approved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47888" y="3721607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03920" y="366674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Remote connectivity to nodes: In progress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47888" y="4101083"/>
            <a:ext cx="164592" cy="16459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03920" y="40462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2 construction: Pending IFC completion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394960"/>
            <a:ext cx="116128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54223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PROGRAM SCOPE SUMMARY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" y="5422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91640" y="5422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Total Substations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03320" y="54223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MPLS Sites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40680" y="54223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DF RTU Sites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78040" y="54223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Radio Shelter Sites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81160" y="54223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Nokia MPLS Nodes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779008"/>
            <a:ext cx="11612880" cy="301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581558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91640" y="581558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581558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40680" y="581558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78040" y="581558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581558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31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6099048"/>
            <a:ext cx="1161288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0040" y="613562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91640" y="613562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45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03320" y="613562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40680" y="613562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78040" y="613562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81160" y="613562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6419088"/>
            <a:ext cx="11612880" cy="301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0040" y="64556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Phase 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91640" y="645566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703320" y="645566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40680" y="645566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78040" y="645566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81160" y="645566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22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6739128"/>
            <a:ext cx="11612880" cy="301752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0040" y="677570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TOTAL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91640" y="677570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129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03320" y="677570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40680" y="6775704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78040" y="677570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677570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3387"/>
                </a:solidFill>
              </a:rPr>
              <a:t>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2026 Financial Exposure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7941D"/>
                </a:solidFill>
              </a:rPr>
              <a:t>Full picture including Hawkeye Phase 2 SOW ($632K) — Updated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2743200" cy="109728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$2,600,000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2026 Capital Budget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005840"/>
            <a:ext cx="2743200" cy="1097280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$851,055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Spent to Date (33%)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6" y="1005840"/>
            <a:ext cx="2743200" cy="10972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$2,921,137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Total ETC (Known)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07424" y="1005840"/>
            <a:ext cx="2743200" cy="10972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10515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-$1,172,192
(-45%)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4" y="16002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2026 Projected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2402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</a:rPr>
              <a:t>2026 Budget Utilization &amp; Exposure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542032"/>
            <a:ext cx="1161288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542032"/>
            <a:ext cx="3801230" cy="347472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75550" y="2542032"/>
            <a:ext cx="7811649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25786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▲ Spent: $851K (33%)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5786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▲ ETC: $2.92M — EXCEEDS BUDGET by $1.17M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0" y="2450592"/>
            <a:ext cx="27432" cy="5303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521440" y="242316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</a:rPr>
              <a:t>Budget
$2.6M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99232"/>
            <a:ext cx="6492240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017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⚠  2026 COST DRIVERS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364992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34015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Burns &amp; McDonnell Phase 2 SOW (reduced)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340156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$859,520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767328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03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Burns &amp; McDonnell Phase 3 (2026 portion)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0390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$588,011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169664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20624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Nokia PO 7000001857 (added March 2026)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2062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$753,000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572000"/>
            <a:ext cx="6492240" cy="374904"/>
          </a:xfrm>
          <a:prstGeom prst="rect">
            <a:avLst/>
          </a:prstGeom>
          <a:solidFill>
            <a:srgbClr val="FFE0E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46085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Hawkeye Phase 2 Construction (36 sites)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460857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00000"/>
                </a:solidFill>
              </a:rPr>
              <a:t>$632,303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974336"/>
            <a:ext cx="6492240" cy="374904"/>
          </a:xfrm>
          <a:prstGeom prst="rect">
            <a:avLst/>
          </a:prstGeom>
          <a:solidFill>
            <a:srgbClr val="FFF8D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501091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Phase 1 Outstanding WDs (WD8-13)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0" y="501091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</a:rPr>
              <a:t>$88,303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376672"/>
            <a:ext cx="649224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4132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12080" y="541324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5779008"/>
            <a:ext cx="6492240" cy="374904"/>
          </a:xfrm>
          <a:prstGeom prst="rect">
            <a:avLst/>
          </a:prstGeom>
          <a:solidFill>
            <a:srgbClr val="C0000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58155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TOTAL KNOWN ETC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1558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$2,921,137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9440" y="2999232"/>
            <a:ext cx="4937760" cy="329184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0" y="30175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📅  HAWKEYE PH2 MILESTONE SCHEDULE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9440" y="3364992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40880" y="340156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WD #8–13 Outstanding WDs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340156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In Progress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41280" y="340156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$88,303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9440" y="3767328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0" y="380390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M1 Services &amp; Deliverables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35440" y="380390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3/30/2026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380390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$99,000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9440" y="4169664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40880" y="420624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M2 Services &amp; Deliverables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35440" y="42062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4/30/2026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420624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4572000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40880" y="460857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M3 Services &amp; Deliverables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35440" y="460857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5/30/2026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41280" y="460857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9440" y="4974336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40880" y="501091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M3 Services &amp; Deliverables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35440" y="50109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6/30/2026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41280" y="501091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9440" y="5376672"/>
            <a:ext cx="49377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40880" y="54132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M4 Services &amp; Deliverables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35440" y="541324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8/30/2026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41280" y="541324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949440" y="5779008"/>
            <a:ext cx="4937760" cy="374904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40880" y="581558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M5 Decommission Phase 2 Equip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35440" y="581558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387"/>
                </a:solidFill>
              </a:rPr>
              <a:t>TBD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41280" y="581558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</a:rPr>
              <a:t>$89,000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949440" y="6181344"/>
            <a:ext cx="4937760" cy="374904"/>
          </a:xfrm>
          <a:prstGeom prst="rect">
            <a:avLst/>
          </a:prstGeom>
          <a:solidFill>
            <a:srgbClr val="00338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040880" y="62179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35440" y="62179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241280" y="621792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$632,303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6400800"/>
            <a:ext cx="11612880" cy="164592"/>
          </a:xfrm>
          <a:prstGeom prst="rect">
            <a:avLst/>
          </a:prstGeom>
          <a:solidFill>
            <a:srgbClr val="FFF8D0"/>
          </a:solidFill>
          <a:ln w="127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65760" y="6400800"/>
            <a:ext cx="11430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4040"/>
                </a:solidFill>
              </a:rPr>
              <a:t>⚠  Note: 2026 ETC of $2.92M exceeds remaining budget of $1.75M by $1.17M. CIO approval required for budget augmentation. Phase 3 2026 exposure ($588K) pending confirmation.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