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91695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JMUX Replacement Program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7941D"/>
                </a:solidFill>
              </a:rPr>
              <a:t>CIO Briefing | Phase 1 Complete · Phase 2 Underway · Path to Completion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PRJ13797  |  Program Manager: Dhananjaya Gunaratne  |  March 12,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</a:rPr>
              <a:t>PSEG Long Island  |  IT Infrastructure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7941D"/>
                </a:solidFill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JMUX Replacement Program — Status as of March 12,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11612880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097280"/>
            <a:ext cx="3657600" cy="5029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155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✅  Phase 1
COMPLETE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600200"/>
            <a:ext cx="3657600" cy="46634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691640"/>
            <a:ext cx="3383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31 substations cutover to MPLS
All Wave 1 &amp; Wave 2 cutovers done
NSP installed at Melville &amp; Hicksville
SSP &amp; CMDB documentation approved
Minor close-outs in progress (Hicksville cabling, OTDR)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1097280"/>
            <a:ext cx="3657600" cy="50292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11155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🟡  Phase 2
IN PROGRESS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600200"/>
            <a:ext cx="3657600" cy="46634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1691640"/>
            <a:ext cx="3383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36-site engineering design underway
Site surveys completed during Phase 1
Burns &amp; McDonnell issuing IFRs &amp; IFCs
Nokia Phase 2 equipment delivered 2/19
Schedule: Yellow (2.5-wk delay, recovering)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1097280"/>
            <a:ext cx="3657600" cy="5029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11155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📋  CIO Actions
REQUIRED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1600200"/>
            <a:ext cx="3657600" cy="46634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1691640"/>
            <a:ext cx="3383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Awareness: Schedule is yellow, recovery plan in place
Approval: Confirm Phase 2 vendor engagement continues
Decision: Resource support for SSP/security reviews
Support: Crown Castle fiber issue at Hicksville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Phase 1 Accomplishments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31 Substations | Complete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7498079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55279" y="1005840"/>
            <a:ext cx="3931920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05840"/>
            <a:ext cx="7498079" cy="41148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042415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KEY ACCOMPLISHMENTS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508760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490472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All 31 substation sites installed &amp; commissioned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1947672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1929384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Wave 1 cutover (12/8–12/18/25) — non-tie sites complete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386584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368296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Wave 2 cutover (1/6–1/8/26) — tie sites complete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825496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807208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CWDM cutover complete at Hicksville &amp; ACC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3264408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246120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Nokia NSP racked &amp; powered at Melville &amp; Hicksville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703320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685032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Staging completed at Hawkeye Warehouse — 9/29/25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4142231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123944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SSP documentation approved by security team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4581144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562856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CMDB inventory updated &amp; confirmed — 2/24/26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5020056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001768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Phase 2 site surveys completed during Phase 1 (ahead of schedule)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5458968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440680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7 additional nodes added to complete Ring 1 &amp; Ring 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55279" y="1005840"/>
            <a:ext cx="3931920" cy="41148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0" y="1042415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PHASE 1 AT A GLANCE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01000" y="1508760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20" y="1527048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3387"/>
                </a:solidFill>
              </a:rPr>
              <a:t>31 / 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6720" y="1856231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Sites Complete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01000" y="2286000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46720" y="2304288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3387"/>
                </a:solidFill>
              </a:rPr>
              <a:t>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20" y="2633472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Cutover Done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01000" y="3063239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0" y="3081527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3387"/>
                </a:solidFill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0" y="3410711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Network Rings Closed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01000" y="3840479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0" y="3858767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3387"/>
                </a:solidFill>
              </a:rPr>
              <a:t>Sept 2025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6720" y="4187951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Staging Complete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01000" y="4617720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46720" y="4636007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3387"/>
                </a:solidFill>
              </a:rPr>
              <a:t>Jan 2026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46720" y="4965192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Final Cutover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001000" y="5394960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046720" y="5413248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3387"/>
                </a:solidFill>
              </a:rPr>
              <a:t>$4.44M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46720" y="5742432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Spent to Date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Phase 2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36 Sites | Engineering Design Underway | Burns &amp; McDonnell SOW: $1.37M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51560"/>
            <a:ext cx="1828800" cy="5029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060704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Site Surveys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298448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COMPLETE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40279" y="1051560"/>
            <a:ext cx="1828800" cy="5029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5999" y="1060704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Nokia Equip. Delivery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5999" y="1298448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COMPLETE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1051560"/>
            <a:ext cx="1828800" cy="50292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51959" y="1060704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IFR Design (B&amp;McD)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59" y="1298448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IN PROGRESS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199" y="1051560"/>
            <a:ext cx="1828800" cy="50292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19" y="1060704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IFC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19" y="1298448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IN PROGRESS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1051560"/>
            <a:ext cx="1828800" cy="50292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80" y="1060704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Construction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1298448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NOT STARTED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104120" y="1051560"/>
            <a:ext cx="1828800" cy="50292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49840" y="1060704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Cutover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1298448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NOT STARTED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1691640"/>
            <a:ext cx="11612880" cy="34747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17099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Milestone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39" y="170992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Contract Date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89320" y="170992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18120" y="170992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Notes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2103120"/>
            <a:ext cx="11612880" cy="6217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2148839"/>
            <a:ext cx="3566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1 Staging Support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7639" y="2148839"/>
            <a:ext cx="1920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8/22/2025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20" y="2148839"/>
            <a:ext cx="1737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8000"/>
                </a:solidFill>
              </a:rPr>
              <a:t>✅ Complete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18120" y="2148839"/>
            <a:ext cx="4023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$57,300 paid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2761487"/>
            <a:ext cx="116128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2807207"/>
            <a:ext cx="3566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1 Construction Coordinator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7639" y="2807207"/>
            <a:ext cx="1920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Aug 2025–Jan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2807207"/>
            <a:ext cx="1737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8000"/>
                </a:solidFill>
              </a:rPr>
              <a:t>✅ Complete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18120" y="2807207"/>
            <a:ext cx="4023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$368,100 — monthly invoiced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3419856"/>
            <a:ext cx="11612880" cy="6217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" y="3465575"/>
            <a:ext cx="3566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Substation Site Surveys (Phase 2)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77639" y="3465575"/>
            <a:ext cx="1920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2/27/2026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89320" y="3465575"/>
            <a:ext cx="1737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8000"/>
                </a:solidFill>
              </a:rPr>
              <a:t>✅ Complete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18120" y="3465575"/>
            <a:ext cx="4023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Completed during Phase 1 — ahead of schedule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4078224"/>
            <a:ext cx="116128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0040" y="4123944"/>
            <a:ext cx="3566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MPLS Network Node Design — IFR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77639" y="4123944"/>
            <a:ext cx="1920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Wave 1: 2/23/26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89320" y="4123944"/>
            <a:ext cx="1737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C000"/>
                </a:solidFill>
              </a:rPr>
              <a:t>🟡 In Progress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18120" y="4123944"/>
            <a:ext cx="4023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B&amp;McD issuing IFRs; PSEG LI review 2-wk window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4736592"/>
            <a:ext cx="11612880" cy="6217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20040" y="4782312"/>
            <a:ext cx="3566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MPLS Network Node Design — IFC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77639" y="4782312"/>
            <a:ext cx="1920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Wave 1: 3/23/26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89320" y="4782312"/>
            <a:ext cx="1737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⏳ Upcoming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18120" y="4782312"/>
            <a:ext cx="4023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IFC follows PSEG LI review &amp; comment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" y="5394959"/>
            <a:ext cx="116128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0040" y="5440679"/>
            <a:ext cx="3566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Construction &amp; Installation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77639" y="5440679"/>
            <a:ext cx="1920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Aug–Dec 2026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89320" y="5440679"/>
            <a:ext cx="1737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⏳ Not Started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18120" y="5440679"/>
            <a:ext cx="4023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Pending IFC completion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Schedule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Overall: 🟡 Yellow | Recovery Plan in Place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5303520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760720" y="1005840"/>
            <a:ext cx="6126480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05840"/>
            <a:ext cx="5303520" cy="4114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033271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</a:rPr>
              <a:t>SCHEDULE PERFORMANCE INDEX (SPI)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5544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C000"/>
                </a:solidFill>
              </a:rPr>
              <a:t>SPI: 0.75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31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C000"/>
                </a:solidFill>
              </a:rPr>
              <a:t>🟡  YELLOW — Schedule delayed ~2.5 weeks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8803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04040"/>
                </a:solidFill>
              </a:rPr>
              <a:t>Root Causes: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24612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• SSP documentation delays (security review queue)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5760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• CMDB update coordination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06908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• Inclement weather affecting field 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48056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• Crown Castle fiber issue at Hicksville (OTDR testing pending)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0749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387"/>
                </a:solidFill>
              </a:rPr>
              <a:t>Recovery Actions: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440680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All approvals received. Remaining Phase 1 close-out is remote configuration — no physical site access needed. Phase 2 IFR/IFC design on track.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0" y="1005840"/>
            <a:ext cx="6126480" cy="41148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0" y="1033271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PROGRAM TIMELINE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06440" y="1508760"/>
            <a:ext cx="182880" cy="25603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80760" y="14904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Apr 2024  —  Project Start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06440" y="1965960"/>
            <a:ext cx="182880" cy="25603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80760" y="19476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Oct 2024  —  RFP Award &amp; SOW Executed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06440" y="2423160"/>
            <a:ext cx="182880" cy="25603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80760" y="24048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Jan 2025  —  Phase 1 Detailed Design Start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06440" y="2880360"/>
            <a:ext cx="182880" cy="25603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0760" y="28620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Sep 2025  —  Staging Complete (Hawkeye)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06440" y="3337560"/>
            <a:ext cx="182880" cy="25603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80760" y="33192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Oct 2025  —  Phase 1 Construction Start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06440" y="3794760"/>
            <a:ext cx="182880" cy="25603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0760" y="37764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Dec 2025 – Jan 2026  —  Wave 1 &amp; 2 Cutovers Complete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06440" y="4251960"/>
            <a:ext cx="182880" cy="25603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80760" y="42336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Feb 2026  —  Nokia Phase 2 Equipment Delivered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06440" y="4709160"/>
            <a:ext cx="182880" cy="25603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46908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7941D"/>
                </a:solidFill>
              </a:rPr>
              <a:t>Mar 2026  —  Phase 2 IFR Design in Progress  ◀ NOW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806440" y="5166360"/>
            <a:ext cx="182880" cy="256032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80760" y="51480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</a:rPr>
              <a:t>Mar–Jul 2026  —  Phase 2 IFC Design &amp; Review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06440" y="5623560"/>
            <a:ext cx="182880" cy="256032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80760" y="56052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</a:rPr>
              <a:t>Aug–Dec 2026  —  Phase 2 Construction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06440" y="6080760"/>
            <a:ext cx="182880" cy="256032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80760" y="60624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</a:rPr>
              <a:t>Jul 2027  —  Program Completion (Target)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Financial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Program Budget: $6,600,000 | Status: ON BUDGET 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51560"/>
            <a:ext cx="2743200" cy="146304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$6,600,000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Total URB
Approved Budget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051560"/>
            <a:ext cx="2743200" cy="146304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1430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$4,437,070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18288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Spent
To Date (67%)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051560"/>
            <a:ext cx="2743200" cy="146304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1430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$2,162,930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8288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Estimate to
Complete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52560" y="1051560"/>
            <a:ext cx="2743200" cy="146304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11430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18288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Over /
Under Budget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26974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04040"/>
                </a:solidFill>
              </a:rPr>
              <a:t>Budget Utilization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063240"/>
            <a:ext cx="11612880" cy="41148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3063240"/>
            <a:ext cx="7780629" cy="41148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09067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67% Spent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09067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04040"/>
                </a:solidFill>
              </a:rPr>
              <a:t>33% Remaining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611880"/>
            <a:ext cx="11612880" cy="34747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363016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PO #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363016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Supplier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363016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PO Value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59" y="363016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Invoiced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79" y="363016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Remaining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3630168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023360"/>
            <a:ext cx="1161288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404164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7000001429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91640" y="404164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Burns &amp; McDonnell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2040" y="40416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$137,500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59" y="40416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$49,500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83879" y="40416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$88,000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29800" y="4041648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🟡 Active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4361688"/>
            <a:ext cx="116128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0040" y="437997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7000001415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91640" y="437997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Burns &amp; McDonnell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92040" y="437997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$869,235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37959" y="437997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$798,665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83879" y="437997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$70,570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29800" y="4379976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🟡 Active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4700016"/>
            <a:ext cx="1161288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0040" y="471830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7000002099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91640" y="471830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Burns &amp; McDonnell (Ph2)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2040" y="471830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$1,370,040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37959" y="471830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$388,740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83879" y="471830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$981,300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800" y="4718304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🟡 Active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5038344"/>
            <a:ext cx="116128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20040" y="5056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7000001857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91640" y="5056631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Nokia of America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92040" y="5056631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$1,899,030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37959" y="5056631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$532,525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83879" y="5056631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$1,366,505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29800" y="5056631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🟡 Active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4320" y="5376672"/>
            <a:ext cx="1161288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20040" y="539496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7000002054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91640" y="53949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Elecnor Hawkeye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92040" y="53949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$402,793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37959" y="53949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$257,619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83879" y="53949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$145,174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829800" y="5394960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🟡 Active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74320" y="5715000"/>
            <a:ext cx="116128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20040" y="57332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7000001175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691640" y="573328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Nokia of America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92040" y="573328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$190,575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37959" y="573328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$190,575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83879" y="573328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829800" y="5733288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✅ Paid in Full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74320" y="6053328"/>
            <a:ext cx="1161288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20040" y="60716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7000001748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691640" y="607161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Presidio Networked Sol.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92040" y="607161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$40,955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37959" y="607161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$40,955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83879" y="607161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829800" y="6071616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✅ Paid in Full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74320" y="6391656"/>
            <a:ext cx="116128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20040" y="6409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7000001767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691640" y="640994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Graybar Electric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92040" y="64099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$24,759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537959" y="64099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$24,759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183879" y="64099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829800" y="6409944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✅ Paid in Full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Risks &amp; Issues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Active Risks | Mitigations in Place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5486400" cy="36576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033271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⚠  ACTIVE RISKS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005840"/>
            <a:ext cx="5943600" cy="36576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1033271"/>
            <a:ext cx="5760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🔧  ACTIVE ISSUES / IN RESOLUTION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463040"/>
            <a:ext cx="5486400" cy="1143000"/>
          </a:xfrm>
          <a:prstGeom prst="rect">
            <a:avLst/>
          </a:prstGeom>
          <a:solidFill>
            <a:srgbClr val="FFFFFF"/>
          </a:solidFill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1463040"/>
            <a:ext cx="1005840" cy="3474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8" y="149961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1499616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</a:rPr>
              <a:t>Legacy Equipment Fragility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184708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JMUX equipment 25+ yrs old. Faulty connectors, brittle fiber panels. Potential for unplanned outage during cutover.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21284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3387"/>
                </a:solidFill>
              </a:rPr>
              <a:t>Mitigation: Careful cutover planning; dedicated B&amp;McD on-site support. Phase 1 complete — risk reduced going into Ph2.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697480"/>
            <a:ext cx="5486400" cy="1143000"/>
          </a:xfrm>
          <a:prstGeom prst="rect">
            <a:avLst/>
          </a:prstGeom>
          <a:solidFill>
            <a:srgbClr val="FFFFFF"/>
          </a:solidFill>
          <a:ln w="2540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2697480"/>
            <a:ext cx="1005840" cy="3474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2608" y="27340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MEDIUM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2734056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</a:rPr>
              <a:t>Substation Access Delays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08152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Weather, scheduling conflicts, or escort availability can delay field work.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344728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3387"/>
                </a:solidFill>
              </a:rPr>
              <a:t>Mitigation: Verify weekly before mobilizing. Adjust site plan if specific sites inaccessible.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931920"/>
            <a:ext cx="5486400" cy="1143000"/>
          </a:xfrm>
          <a:prstGeom prst="rect">
            <a:avLst/>
          </a:prstGeom>
          <a:solidFill>
            <a:srgbClr val="FFFFFF"/>
          </a:solidFill>
          <a:ln w="2540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" y="3931920"/>
            <a:ext cx="1005840" cy="3474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2608" y="396849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MEDIUM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3968496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</a:rPr>
              <a:t>Phase 2 Schedule Slippage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431596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IFR/IFC design cycle (4-wk IFR + 2-wk review + 2-wk IFC) leaves limited buffer.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68172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3387"/>
                </a:solidFill>
              </a:rPr>
              <a:t>Mitigation: Phase 2 surveys done early. B&amp;McD running concurrent site designs. Weekly status calls tracking.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5166360"/>
            <a:ext cx="5486400" cy="11430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4320" y="5166360"/>
            <a:ext cx="1005840" cy="34747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2608" y="520293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LOW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5202936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</a:rPr>
              <a:t>Crown Castle Fiber Issue (Hicksville)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555040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Low dB levels on fiber — may be Crown Castle's network, not PSEG LI.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591616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3387"/>
                </a:solidFill>
              </a:rPr>
              <a:t>Mitigation: OTDR testing planned 3/3. If Crown Castle issue confirmed, escalate to vendor.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1463040"/>
            <a:ext cx="5943600" cy="1143000"/>
          </a:xfrm>
          <a:prstGeom prst="rect">
            <a:avLst/>
          </a:prstGeom>
          <a:solidFill>
            <a:srgbClr val="FFFFFF"/>
          </a:solidFill>
          <a:ln w="2540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943600" y="1463040"/>
            <a:ext cx="1645920" cy="3474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1888" y="149961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IN PROGRESS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1499616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</a:rPr>
              <a:t>Cat 6 Cabling — Hicksville NSP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5040" y="1901952"/>
            <a:ext cx="5669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Cables ordered; Hawkeye scheduled to complete 3/3/2026.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0" y="2697480"/>
            <a:ext cx="5943600" cy="11430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943600" y="2697480"/>
            <a:ext cx="1645920" cy="34747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61888" y="273405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SCHEDULED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80960" y="2734056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</a:rPr>
              <a:t>OTDR Testing — Hicksville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3136392"/>
            <a:ext cx="5669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Low dB levels. OTDR test set confirmed for 1550 &amp; 1310nm. Site visit 3/3–3/4/2026.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43600" y="3931920"/>
            <a:ext cx="5943600" cy="1143000"/>
          </a:xfrm>
          <a:prstGeom prst="rect">
            <a:avLst/>
          </a:prstGeom>
          <a:solidFill>
            <a:srgbClr val="FFFFFF"/>
          </a:solidFill>
          <a:ln w="2540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943600" y="3931920"/>
            <a:ext cx="1645920" cy="3474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61888" y="396849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IN PROGRESS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80960" y="3968496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</a:rPr>
              <a:t>Remote Access — Phase 2 Nodes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35040" y="4370832"/>
            <a:ext cx="5669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NSP at Hicksville &amp; Melville. Remote access needed before router configuration can begin.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943600" y="5166360"/>
            <a:ext cx="5943600" cy="11430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943600" y="5166360"/>
            <a:ext cx="1645920" cy="34747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61888" y="520293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COMPLETE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80960" y="5202936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</a:rPr>
              <a:t>Phase 2 SSP / Security Reviews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35040" y="5605272"/>
            <a:ext cx="5669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Architecture review, security assessment, compliance readiness all approved 2/10/2026.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CIO Actions Required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3 Items for Decision or Awareness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51560"/>
            <a:ext cx="11612880" cy="1691640"/>
          </a:xfrm>
          <a:prstGeom prst="rect">
            <a:avLst/>
          </a:prstGeom>
          <a:solidFill>
            <a:srgbClr val="FFFFFF"/>
          </a:solidFill>
          <a:ln w="2540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051560"/>
            <a:ext cx="594360" cy="169164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645919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1097280"/>
            <a:ext cx="1280160" cy="3474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112471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AWARENESS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1115568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04040"/>
                </a:solidFill>
              </a:rPr>
              <a:t>Schedule Recovery — Yellow Status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1527048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Context: Phase 1 experienced a 2.5-week delay due to SSP documentation processing and inclement weather. The SPI stands at 0.75 for February.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1920239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Detail: Recovery plan is in place. Remaining Phase 1 close-out items are remote (no site access required). Phase 2 engineering is running concurrently. Overall program target end date remains July 2027.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35000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000"/>
                </a:solidFill>
              </a:rPr>
              <a:t>➤  No action required — for awareness only.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834639"/>
            <a:ext cx="11612880" cy="16916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2834639"/>
            <a:ext cx="594360" cy="169164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3428999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2880359"/>
            <a:ext cx="1280160" cy="34747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" y="2907791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APPROVAL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31720" y="2898647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04040"/>
                </a:solidFill>
              </a:rPr>
              <a:t>Continue Phase 2 Vendor Engagement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3310127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Context: Burns &amp; McDonnell Phase 2 SOW ($1.37M) is active. IFR design has commenced for 36 sites. Nokia equipment delivered to staging. Phase 2 is on track to hit IFC milestones per SOW schedule.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703320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Detail: Confirm continued engagement of B&amp;McD and Elecnor Hawkeye for Phase 2 construction support as design packages are issued.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133087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387"/>
                </a:solidFill>
              </a:rPr>
              <a:t>➤  Approval requested to proceed with Phase 2 construction mobilization once IFC packages are complete (expected Q2 2026).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617720"/>
            <a:ext cx="11612880" cy="1691640"/>
          </a:xfrm>
          <a:prstGeom prst="rect">
            <a:avLst/>
          </a:prstGeom>
          <a:solidFill>
            <a:srgbClr val="FFFFFF"/>
          </a:solidFill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" y="4617720"/>
            <a:ext cx="594360" cy="16916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5212080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120" y="4663440"/>
            <a:ext cx="1280160" cy="3474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8408" y="469087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SUPPORT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31720" y="4681728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04040"/>
                </a:solidFill>
              </a:rPr>
              <a:t>Crown Castle Fiber Issue — Hicksville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093208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Context: OTDR testing revealed low dB levels on fiber at Hicksville substation. This may be a Crown Castle infrastructure issue outside PSEG LI's control.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486400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Detail: OTDR testing was scheduled for 3/3–3/4/2026. If confirmed as Crown Castle issue, formal escalation to Crown Castle will be required, which may impact Phase 2 schedule at that site.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591616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0000"/>
                </a:solidFill>
              </a:rPr>
              <a:t>➤  Request CIO support if vendor escalation to Crown Castle is needed to expedite resolution.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Next Steps &amp; Path to Completion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March 2026 — July 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51560"/>
            <a:ext cx="5394960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852160" y="1051560"/>
            <a:ext cx="6035040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51560"/>
            <a:ext cx="5394960" cy="384048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078992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IMMEDIATE (Next 30 Days)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536192"/>
            <a:ext cx="1005840" cy="4389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" y="1591056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Mar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1591056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Hawkeye completes Cat 6 cabling for NSP at Hicksville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103120"/>
            <a:ext cx="1005840" cy="4389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" y="2157984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Mar 3–4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2157984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OTDR testing at Hicksville — resolve Crown Castle fiber issue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670048"/>
            <a:ext cx="1005840" cy="4389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" y="2724912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Mar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2724912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Remote router configuration begins (Layer 1-3 setup)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236976"/>
            <a:ext cx="1005840" cy="4389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28" y="3291840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Mar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329184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B&amp;McD continues Wave 1 IFR submissions (Far Rockaway, Valley Stream, Cedarhurst)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803904"/>
            <a:ext cx="1005840" cy="4389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8328" y="3858768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Mar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385876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PSEG LI review window opens for Wave 1 IFR packages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4370832"/>
            <a:ext cx="1005840" cy="4389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8328" y="4425696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Mar 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4425696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Wave 1 IFC target completion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4937759"/>
            <a:ext cx="1005840" cy="4389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8328" y="4992623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Ongoing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17320" y="4992623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Weekly status calls with B&amp;McD; monthly schedule updates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52160" y="1051560"/>
            <a:ext cx="6035040" cy="384048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0" y="1078992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PATH TO COMPLETION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97880" y="1536192"/>
            <a:ext cx="58978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897880" y="1536192"/>
            <a:ext cx="1371600" cy="5669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16168" y="1645919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Q1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60920" y="1645919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Phase 1 close-out &amp; Phase 2 IFR design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897880" y="2194560"/>
            <a:ext cx="58978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897880" y="2194560"/>
            <a:ext cx="1371600" cy="5669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16168" y="2304288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Q2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60920" y="2304288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Phase 2 IFC completion (all 36 sites)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97880" y="2852928"/>
            <a:ext cx="58978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897880" y="2852928"/>
            <a:ext cx="1371600" cy="566928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16168" y="2962656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Q2–Q3 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60920" y="2962656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Phase 2 construction mobilization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97880" y="3511296"/>
            <a:ext cx="58978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897880" y="3511296"/>
            <a:ext cx="1371600" cy="566928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16168" y="3621024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Q3–Q4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60920" y="3621024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Phase 2 installations at all 36 sites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897880" y="4169663"/>
            <a:ext cx="58978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897880" y="4169663"/>
            <a:ext cx="1371600" cy="566928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16168" y="4279392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Q4 2026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0920" y="4279392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Phase 2 cutovers — Waves 3 &amp; 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897880" y="4828031"/>
            <a:ext cx="58978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897880" y="4828031"/>
            <a:ext cx="1371600" cy="56692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16168" y="4937759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Q1 2027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60920" y="4937759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As-built documentation complete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897880" y="5486400"/>
            <a:ext cx="58978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897880" y="5486400"/>
            <a:ext cx="1371600" cy="56692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16168" y="5596128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Jul 2027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60920" y="5596128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🏁  Program Complete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Goals &amp;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JMUX Replacement: Private Field Area Network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11612880" cy="530352"/>
          </a:xfrm>
          <a:prstGeom prst="rect">
            <a:avLst/>
          </a:prstGeom>
          <a:solidFill>
            <a:srgbClr val="F2F2F2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042415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3387"/>
                </a:solidFill>
              </a:rPr>
              <a:t>Modernize PSEG LI's substation communications by replacing legacy JMUX with MPLS nodes to deliver a reliable, scalable, and future-ready network.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645920"/>
            <a:ext cx="3749039" cy="43891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67335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🔧  Engineering Services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084831"/>
            <a:ext cx="3749039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4048" y="2203704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148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Detailed site surveys at all substations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583180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28316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Rack elevations, power design &amp; supplemental docs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962656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90779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As-builts for each completed site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3342132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28726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All substations aligned to PSEG LI standards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3721607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66674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1 As-Builts: BMcD in progress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4101083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0462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2 surveys: Completed during Phase 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4048" y="4480559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425696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2 IFRs: Being issued by BMcD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4860036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80517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2 IFCs: In progress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06240" y="1645920"/>
            <a:ext cx="3749039" cy="4389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97679" y="167335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📦  Procurement &amp; Staging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6240" y="2084831"/>
            <a:ext cx="3749039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15968" y="2203704"/>
            <a:ext cx="164592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0" y="2148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All Phase 1 equipment purchased by PSEG LI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15968" y="2583180"/>
            <a:ext cx="164592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0" y="2528316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Equipment shipped &amp; delivered to Hawkeye staging facility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15968" y="2962656"/>
            <a:ext cx="164592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0" y="290779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1 staging completed: Sept 29, 2025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15968" y="3342132"/>
            <a:ext cx="164592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0" y="328726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Nokia Phase 2 equipment delivered: Feb 19, 2026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15968" y="3721607"/>
            <a:ext cx="164592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0" y="366674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Equipment safely stored at Hawkeye warehouse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38160" y="1645920"/>
            <a:ext cx="3749039" cy="43891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0" y="167335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🏗  Construction &amp; Installation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38160" y="2084831"/>
            <a:ext cx="3749039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247888" y="2203704"/>
            <a:ext cx="164592" cy="16459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03920" y="2148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BMcD on-site coordination throughout Phase 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47888" y="2583180"/>
            <a:ext cx="164592" cy="16459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03920" y="2528316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Technical support &amp; commissioning oversight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47888" y="2962656"/>
            <a:ext cx="164592" cy="16459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03920" y="290779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31/31 Phase 1 sites installed &amp; commissioned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47888" y="3342132"/>
            <a:ext cx="164592" cy="16459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503920" y="328726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SSP documentation: Submitted &amp; approved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47888" y="3721607"/>
            <a:ext cx="164592" cy="16459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03920" y="366674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Remote connectivity to nodes: In progress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47888" y="4101083"/>
            <a:ext cx="164592" cy="16459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03920" y="40462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2 construction: Pending IFC completion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5394960"/>
            <a:ext cx="11612880" cy="34747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542239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PROGRAM SCOPE SUMMARY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0040" y="5422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Phase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91640" y="542239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Total Substations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703320" y="542239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MPLS Sites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40680" y="542239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DF RTU Sites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78040" y="542239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Radio Shelter Sites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281160" y="542239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Nokia MPLS Nodes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5779008"/>
            <a:ext cx="11612880" cy="301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20040" y="5815584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Phase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91640" y="5815584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49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703320" y="581558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40680" y="581558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17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178040" y="5815584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81160" y="5815584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31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74320" y="6099048"/>
            <a:ext cx="1161288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20040" y="6135624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Phase 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691640" y="6135624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45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703320" y="613562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26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40680" y="613562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12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178040" y="6135624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281160" y="6135624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26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74320" y="6419088"/>
            <a:ext cx="11612880" cy="301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20040" y="6455664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Phase 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691640" y="6455664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35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703320" y="645566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22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40680" y="645566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178040" y="6455664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281160" y="6455664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22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74320" y="6739128"/>
            <a:ext cx="11612880" cy="301752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20040" y="6775704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387"/>
                </a:solidFill>
              </a:rPr>
              <a:t>TOTAL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691640" y="6775704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387"/>
                </a:solidFill>
              </a:rPr>
              <a:t>129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703320" y="677570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387"/>
                </a:solidFill>
              </a:rPr>
              <a:t>74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40680" y="677570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387"/>
                </a:solidFill>
              </a:rPr>
              <a:t>36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178040" y="6775704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387"/>
                </a:solidFill>
              </a:rPr>
              <a:t>19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281160" y="6775704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387"/>
                </a:solidFill>
              </a:rPr>
              <a:t>79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