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7784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7941D"/>
                </a:solidFill>
              </a:rPr>
              <a:t>CIO Briefing  |  Phase 1 Complete  ·  Phase 2 Underway  ·  Path to Completion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788920"/>
            <a:ext cx="67025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2971800"/>
            <a:ext cx="2743200" cy="274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965E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971800"/>
            <a:ext cx="2743200" cy="274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2971800"/>
            <a:ext cx="2743200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REVIEW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</a:rPr>
              <a:t>PRJ13797  |  Program Manager: Dhananjaya Gunaratne  |  March 12,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88"/>
                </a:solidFill>
              </a:rPr>
              <a:t>PSEG Long Island  |  IT Infrastructure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 Program  · 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3858768" cy="557784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3858768" cy="475488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 Phase 1 —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31 substations cutover to Nokia MPLS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&amp; Wave 2 cutovers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NSP installed at Hicksville &amp; Melville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SSP security review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CMDB inventory confirmed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Close-out items in progress: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Cat 6 cabling @ Hicksville (Hawkeye)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OTDR fiber testing (Crown Castle)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Remote router configuration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932688"/>
            <a:ext cx="3858768" cy="557784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932688"/>
            <a:ext cx="3858768" cy="47548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🟡  Phase 2 — 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36-site MPLS engineering underway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B&amp;McD SOW RITM336401 active ($1.37M)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Site surveys: COMPLETE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Nokia Phase 2 equipment delivered 2/19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IFR issued — PSEG LI review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IFC target: March 23,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Hawkeye Ph2 SOW signed: $632,303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SPI: 0.75 🟡  (recovery plan active)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Program end date: July 2027 unchanged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932688"/>
            <a:ext cx="3858768" cy="557784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932688"/>
            <a:ext cx="3858768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CIO Actions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① DECISION: Budget Augmentation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2026 ETC $2.92M vs budget $2.6M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Gap: -$1.17M  |  Need CIO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② AWARENESS: Schedule 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SPI 0.75, 2.5-wk delay, recovering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End date unaffected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③ SUPPORT: Crown Castle Fiber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526694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Hicksville OTDR — escalation may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68756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require CIO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31 Substations Complete  |  All Cutovers Done  |  NSP Operational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Substations
Cutover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Waves
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 &amp; 2
Completion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NSP
Operational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029968"/>
            <a:ext cx="117317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Network Design &amp;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B&amp;McD designed MPLS node layouts for all 31 Phase 1 substations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IFR → IFC → As-Built cycle completed for all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 placement, power, fiber connectivity designed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Construction documents delivered and accepted by PSEG 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Staging &amp; Equipment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routers staged and tested at Hawkeye facility (Sep–Oct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Firmware validated on all nodes; all CSM cards synchronized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BGP, IGP, QoS, SyncE, security filters configured and tested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Service validation: VPRN, Epipe, Cpipe traffic tests passed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Elecnor Hawkeye on-site construction Aug 2025 – Jan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All 31 sites physically installed; JMUX decommissioning in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1 cutovers complete (Dec 2025)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2 cutovers complete (Jan 2026)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5352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45352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Governance &amp; Compliance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SSP architecture review approved (Feb 10, 2026)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Security assessment &amp; compliance readiness confirmed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CMDB inventory spreadsheet completed &amp; confirmed (Feb 24, 2026)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NSP installed at Hicksville &amp; Melville control centers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36 Sites  |  B&amp;McD RITM336401 ($1,370,040)  |  Hawkeye SOW ($632,303)  |  Nokia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Site
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9656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Nokia
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2/19/2026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9656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623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56432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1296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IFR
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2/23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6432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3008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
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93208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072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PSEG LI
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10 biz
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8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9784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9984" y="932688"/>
            <a:ext cx="1581912" cy="594360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IFC
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3/23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9984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A99"/>
                </a:solidFill>
              </a:rPr>
              <a:t>UPCOMING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59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Construct
(Hawkeye)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Aug–Sep
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59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3335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57815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3536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Cutover
&amp; SAT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Oct 26–
Feb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03536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1901952"/>
            <a:ext cx="598932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19202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BURNS &amp; McDONNELL — CPS MILESTONES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2212848"/>
            <a:ext cx="25420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2231136"/>
            <a:ext cx="24688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2212848"/>
            <a:ext cx="112471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88920" y="2231136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86200" y="2212848"/>
            <a:ext cx="98755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0" y="22311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92040" y="2212848"/>
            <a:ext cx="11704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223113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2468880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8600" y="2523744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Phase 1 Staging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2468880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88920" y="2523744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8/22/2025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86200" y="2468880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0" y="252374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$57,300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92040" y="2468880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37760" y="25237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2816352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" y="287121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Construction Support Coord.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2816352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8920" y="287121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Aug–Jan 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86200" y="2816352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2871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$368,100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92040" y="2816352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28712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3163824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" y="3218688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  Substation Site Surveys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3163824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88920" y="3218688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2/27/2026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3163824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31920" y="32186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$86,040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92040" y="3163824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0" y="321868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3511296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" y="3566160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(IFR)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0" y="3511296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88920" y="3566160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2/23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3511296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356616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$601,020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92040" y="3511296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0" y="35661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In Progress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" y="3858768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" y="3913632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(IFC)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0" y="3858768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788920" y="3913632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3/23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86200" y="3858768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0" y="39136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$214,668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3858768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Upcoming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" y="4206240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8600" y="4261103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As-Built (post construction)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0" y="4206240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788920" y="4261103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Post constr.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886200" y="4206240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931920" y="4261103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$42,912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92040" y="4206240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37760" y="4261103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Not Started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2880" y="4553712"/>
            <a:ext cx="25420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460857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0" y="4553712"/>
            <a:ext cx="112471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88920" y="460857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3886200" y="4553712"/>
            <a:ext cx="98755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31920" y="46085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$1,370,040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892040" y="4553712"/>
            <a:ext cx="11704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937760" y="460857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1901952"/>
            <a:ext cx="5742432" cy="310896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5080" y="19202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ELECNOR HAWKEYE — PHASE 2 SOW MILESTONES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63640" y="2212848"/>
            <a:ext cx="322783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59" y="2231136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509759" y="2212848"/>
            <a:ext cx="130759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555480" y="2231136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Due Date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835640" y="2212848"/>
            <a:ext cx="1060704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881360" y="2231136"/>
            <a:ext cx="98755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2468880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523744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#8  Fiber Testing Elwood/Northport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09759" y="2468880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55480" y="2523744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835640" y="2468880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881360" y="2523744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$8,229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263640" y="2816352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09359" y="287121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#10  Patch Panels Oakwood/Northport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509759" y="2816352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555480" y="287121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835640" y="2816352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881360" y="287121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$15,089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163824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09359" y="321868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#11  Fiber &amp; CAT5E Hicksville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509759" y="3163824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55480" y="321868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835640" y="3163824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881360" y="321868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$60,070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63640" y="3511296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59" y="356616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#12  Fiber Enclosures Hicksville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09759" y="3511296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55480" y="356616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835640" y="3511296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881360" y="356616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$2,515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263640" y="3858768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309359" y="3913632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#13  Fiber Testing Syosset/Hicksville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509759" y="3858768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555480" y="3913632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835640" y="3858768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81360" y="3913632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$2,400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4206240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09359" y="4261103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Services &amp; Deliverables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509759" y="4206240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55480" y="4261103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</a:rPr>
              <a:t>3/30/2026 ⚠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35640" y="4206240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881360" y="4261103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$99,000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263640" y="4553712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309359" y="460857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Services &amp; Deliverables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509759" y="4553712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555480" y="460857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4/30/2026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835640" y="4553712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881360" y="460857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$89,000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4901184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59" y="495604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M3–M5  Construction &amp; Decommission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509759" y="4901184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555480" y="495604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May–Dec 2026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835640" y="4901184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881360" y="495604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$355,000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63640" y="5248656"/>
            <a:ext cx="32278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09359" y="530352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09759" y="5248656"/>
            <a:ext cx="130759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555480" y="530352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10835640" y="5248656"/>
            <a:ext cx="1060704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81360" y="530352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$632,303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Overall: 🟡 Yellow  |  SPI 0.75  |  Recovery Plan Active  |  End Date Unchanged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32688"/>
            <a:ext cx="5303520" cy="5577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30352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969264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11" name="Oval 10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013" y="268704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54991" y="26552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36969" y="26233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18947" y="25915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0925" y="25597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82903" y="252790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4881" y="24960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32935" y="27109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3531" y="267991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94127" y="26489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74723" y="26179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5319" y="25868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5915" y="2555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16512" y="25248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93946" y="27365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73198" y="27064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2449" y="26762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31701" y="26461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10953" y="26160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0204" y="258591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69456" y="25557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56121" y="27638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34068" y="27346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12015" y="27054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89963" y="26762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67910" y="26471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45857" y="26179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3804" y="258874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19533" y="2792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96218" y="27645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4" y="27364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949589" y="27082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26275" y="26800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02960" y="2651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79646" y="2623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84252" y="28232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59721" y="27961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35190" y="27690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910659" y="2741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886128" y="27147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61597" y="26876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37066" y="26605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50347" y="28553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924647" y="28292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8947" y="28032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73247" y="27772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47547" y="27512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21846" y="27251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796146" y="26991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17884" y="28888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91064" y="28639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864245" y="2839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37425" y="281421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10606" y="278934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83786" y="27644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56967" y="27396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886925" y="2923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859038" y="2900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831151" y="2876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803264" y="2852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5376" y="2829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47489" y="2805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19602" y="2781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857530" y="295993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28629" y="29375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799729" y="29151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70828" y="28926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41927" y="28702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713027" y="28478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84126" y="28254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829756" y="29974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99898" y="29762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770040" y="295516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40181" y="29340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10323" y="29129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680464" y="289179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650606" y="2870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03657" y="3036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772899" y="30162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42141" y="29964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711382" y="2976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80624" y="29569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649865" y="29371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19107" y="29173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779284" y="307585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747685" y="30574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16086" y="30390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84487" y="30205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652888" y="30021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21289" y="2983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589690" y="29653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756682" y="311666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724304" y="30996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691926" y="30826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59548" y="306562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27169" y="304861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94791" y="30315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562413" y="30145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735897" y="315842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702802" y="31428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9707" y="31272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636612" y="3111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03517" y="309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570422" y="30805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37327" y="30649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16968" y="32010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683220" y="3186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649473" y="317285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15725" y="31587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77" y="314464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548230" y="313054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514482" y="31164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9932" y="32444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665597" y="32318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31262" y="32192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596927" y="3206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62591" y="3194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28256" y="31814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493921" y="3168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684822" y="32886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9966" y="32775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615109" y="32664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580253" y="325536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545397" y="32442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10541" y="32332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475685" y="32221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671667" y="33333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36357" y="33238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601047" y="33142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565737" y="3304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530427" y="32952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495118" y="32856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459808" y="327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60492" y="3378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24797" y="337068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89102" y="336270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553406" y="33547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517711" y="33467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482016" y="33387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446321" y="33307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51319" y="34244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15308" y="34180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579297" y="34116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543285" y="340519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07274" y="33987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471262" y="339239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435251" y="338599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167" y="34705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7909" y="34656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571651" y="34608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535393" y="3456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499134" y="34512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462876" y="344643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426618" y="34416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9048" y="35168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602613" y="35136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566179" y="35104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529744" y="35072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493309" y="35040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456875" y="35008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420440" y="34975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35972" y="35634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99432" y="35618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562891" y="35601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526351" y="35585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489810" y="35569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453269" y="35553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416729" y="3553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3494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9837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561795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525219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488643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45206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41549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482885" y="257090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475548" y="253507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468211" y="249924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460874" y="24634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453538" y="242757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446201" y="239174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438864" y="23559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436478" y="25814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427541" y="25460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418604" y="25105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09667" y="24750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400730" y="243962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391793" y="240416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82856" y="236869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390593" y="2594161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380074" y="25591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369554" y="25240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359035" y="248906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348516" y="245403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7997" y="24190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327478" y="23839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345322" y="260887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333242" y="257434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21162" y="253982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09082" y="25052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297001" y="24707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84921" y="24362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72841" y="24017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00757" y="26255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287140" y="259164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273523" y="25577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259906" y="252375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246289" y="248980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232672" y="24558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219055" y="242191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256988" y="264430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41861" y="26110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226735" y="257770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211609" y="25443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196482" y="25110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181356" y="24777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166230" y="244449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814412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818507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22602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26698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30793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34888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38983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767003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769464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771924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774384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76845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779305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78176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7194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720272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21092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21913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22734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23554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24375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6718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671030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670209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669388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68568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67747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66926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24298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21838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619377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616917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614456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611996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60953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576890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572794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68699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564604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560509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556413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552318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75635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379293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829507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866083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902659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93923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97581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755320" y="356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791860" y="356159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828400" y="35599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64941" y="35583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01481" y="35567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938021" y="35551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974562" y="35535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3752217" y="35164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3788650" y="35132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25084" y="35099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861517" y="35067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897950" y="3503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934384" y="35003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3970817" y="34970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3747052" y="3469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3783308" y="34650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19563" y="34602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855818" y="34553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892073" y="34505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3928328" y="34457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3964584" y="34408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3739836" y="3423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3775842" y="34171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11849" y="34107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847855" y="34042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883861" y="33978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19868" y="339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3955874" y="3385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3730582" y="33776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3766269" y="33696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01956" y="33616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37644" y="33536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873331" y="334559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09018" y="33375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44706" y="33295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3719308" y="3332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3754607" y="332258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789905" y="33130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25204" y="33034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60502" y="32938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895801" y="328425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31099" y="327467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706037" y="32872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740878" y="32760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75719" y="32649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10560" y="32538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45401" y="32427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80241" y="3231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15082" y="32204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90794" y="324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725109" y="3230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59425" y="3217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3740" y="32049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8055" y="31922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62370" y="317962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96686" y="31669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673609" y="31993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707332" y="3185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41054" y="31710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74777" y="3156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808500" y="31426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42223" y="31285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75945" y="31143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54516" y="3156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687580" y="3140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720644" y="31252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53709" y="31096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86773" y="309398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819837" y="307835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52902" y="30627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633551" y="31146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665893" y="30975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98234" y="30804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730575" y="30633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62917" y="3046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95258" y="302922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827600" y="301213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610757" y="30736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642312" y="30552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73867" y="30367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705423" y="30182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736978" y="29997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768533" y="2981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00089" y="29627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586176" y="30338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616884" y="30139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647592" y="29940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678299" y="29741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709007" y="29543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739715" y="29344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770423" y="2914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559858" y="299503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589658" y="297383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619458" y="29526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649258" y="29314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679059" y="29102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708859" y="2889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738659" y="28677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531853" y="29574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560687" y="29349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589522" y="29124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18357" y="288996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647191" y="2867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676026" y="28449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704860" y="28224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02216" y="292117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530029" y="28974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557842" y="2873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585654" y="28499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13467" y="28261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641279" y="28024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669092" y="27786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471006" y="2886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497742" y="28612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524479" y="283631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551215" y="28113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577951" y="27863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604688" y="276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1424" y="273647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38282" y="28526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63890" y="28265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489498" y="2800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515106" y="277434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540714" y="2748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566322" y="2722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591930" y="26959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4109" y="28206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28539" y="27934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452969" y="27661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477398" y="27389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501828" y="27117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526258" y="26845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550687" y="26573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68554" y="27901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91758" y="27618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414961" y="27335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438165" y="27052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461368" y="26770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84572" y="26487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507776" y="262047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331686" y="27611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353618" y="273192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375550" y="27026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397483" y="26733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419415" y="2644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441347" y="2614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463279" y="2585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93576" y="27339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314194" y="27037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334812" y="26735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355431" y="2643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376049" y="26130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396667" y="2582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417285" y="2552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54300" y="27083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73564" y="26772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92827" y="26461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312091" y="26151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331355" y="25840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50619" y="255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369882" y="25218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13933" y="26845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1805" y="265267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49677" y="26207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67549" y="25888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85420" y="25569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303292" y="2525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321164" y="24931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172555" y="2662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189000" y="26299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205445" y="2597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3221890" y="25645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3238335" y="253192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3254780" y="2499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271225" y="24665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3130247" y="26424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3145233" y="260910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3160219" y="25757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3175205" y="254237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3190191" y="25090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3205177" y="24756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3220163" y="24422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3087090" y="26242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3100588" y="2590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3114086" y="25562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3127584" y="25222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3141082" y="24882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3154579" y="245424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3168077" y="2420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043169" y="26078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3055153" y="25733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3067136" y="2538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3079120" y="250421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3091103" y="24696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3103086" y="24351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3115070" y="240054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98571" y="25935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09016" y="25584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019462" y="25234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029907" y="24883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040353" y="24533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050798" y="241825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061244" y="238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2953381" y="25811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2962268" y="25456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2971155" y="25101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2980042" y="24746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2988930" y="24392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2997817" y="24037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006704" y="23682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2907688" y="25707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2915000" y="25349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2922311" y="24990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2929623" y="24632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2936934" y="24274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2944246" y="23915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2951558" y="235573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75381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70352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5323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60294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55265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150235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45206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40177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3514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987552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0.00</a:t>
            </a:r>
          </a:p>
        </p:txBody>
      </p:sp>
      <p:sp>
        <p:nvSpPr>
          <p:cNvPr id="546" name="Oval 545"/>
          <p:cNvSpPr/>
          <p:nvPr/>
        </p:nvSpPr>
        <p:spPr>
          <a:xfrm>
            <a:off x="2037710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00214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966586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931024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895462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859900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824339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788777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753215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448205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0.50</a:t>
            </a:r>
          </a:p>
        </p:txBody>
      </p:sp>
      <p:sp>
        <p:nvSpPr>
          <p:cNvPr id="556" name="Oval 555"/>
          <p:cNvSpPr/>
          <p:nvPr/>
        </p:nvSpPr>
        <p:spPr>
          <a:xfrm>
            <a:off x="2352161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332916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313670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294424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27517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255932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236686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217440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198194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TextBox 564"/>
          <p:cNvSpPr txBox="1"/>
          <p:nvPr/>
        </p:nvSpPr>
        <p:spPr>
          <a:xfrm>
            <a:off x="1958447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0.75</a:t>
            </a:r>
          </a:p>
        </p:txBody>
      </p:sp>
      <p:sp>
        <p:nvSpPr>
          <p:cNvPr id="566" name="Oval 565"/>
          <p:cNvSpPr/>
          <p:nvPr/>
        </p:nvSpPr>
        <p:spPr>
          <a:xfrm>
            <a:off x="2723083" y="266821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723083" y="261792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723083" y="256763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723083" y="251734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723083" y="246705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723083" y="241675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723083" y="236646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723083" y="231617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723083" y="22658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TextBox 574"/>
          <p:cNvSpPr txBox="1"/>
          <p:nvPr/>
        </p:nvSpPr>
        <p:spPr>
          <a:xfrm>
            <a:off x="2560320" y="1965960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1.00</a:t>
            </a:r>
          </a:p>
        </p:txBody>
      </p:sp>
      <p:sp>
        <p:nvSpPr>
          <p:cNvPr id="576" name="Oval 575"/>
          <p:cNvSpPr/>
          <p:nvPr/>
        </p:nvSpPr>
        <p:spPr>
          <a:xfrm>
            <a:off x="3094004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113250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3132496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51742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317098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3190234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209479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3228725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3247971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3162192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1.25</a:t>
            </a:r>
          </a:p>
        </p:txBody>
      </p:sp>
      <p:sp>
        <p:nvSpPr>
          <p:cNvPr id="586" name="Oval 585"/>
          <p:cNvSpPr/>
          <p:nvPr/>
        </p:nvSpPr>
        <p:spPr>
          <a:xfrm>
            <a:off x="3408456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4401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3479579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515141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550703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586265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621827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657389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2950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3672434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1.50</a:t>
            </a:r>
          </a:p>
        </p:txBody>
      </p:sp>
      <p:sp>
        <p:nvSpPr>
          <p:cNvPr id="596" name="Oval 595"/>
          <p:cNvSpPr/>
          <p:nvPr/>
        </p:nvSpPr>
        <p:spPr>
          <a:xfrm>
            <a:off x="369234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74263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379293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84322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89351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94380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99409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04439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946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4133087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2.00</a:t>
            </a:r>
          </a:p>
        </p:txBody>
      </p:sp>
      <p:sp>
        <p:nvSpPr>
          <p:cNvPr id="606" name="Oval 605"/>
          <p:cNvSpPr/>
          <p:nvPr/>
        </p:nvSpPr>
        <p:spPr>
          <a:xfrm>
            <a:off x="2704795" y="361919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2691672" y="358751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678550" y="355583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2665428" y="352415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2652306" y="349247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2639184" y="34607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2626061" y="342911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2612939" y="339743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2599817" y="336575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2586695" y="333407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2573573" y="33023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2560450" y="32707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2547328" y="323903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2534206" y="320735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2521084" y="317567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507961" y="314399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494839" y="31123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481717" y="30806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68595" y="304895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455473" y="301727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442350" y="298559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429228" y="295391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416106" y="29222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402984" y="28905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89862" y="285887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376739" y="282719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363617" y="279551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2350495" y="276383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2337373" y="27321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2713939" y="35940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2713939" y="35597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2713939" y="34911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2713939" y="34568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2713939" y="33883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713939" y="33540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2713939" y="32854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2713939" y="32511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2713939" y="31825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2713939" y="31482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2713939" y="30796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2713939" y="30454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2713939" y="297682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2713939" y="29425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2713939" y="28739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2713939" y="28396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2713939" y="27710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2713939" y="27367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2713939" y="26682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2660904" y="3575304"/>
            <a:ext cx="164592" cy="164592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2176272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2157984" y="4224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2834640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44466"/>
                </a:solidFill>
              </a:rPr>
              <a:t>1.00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834640" y="4224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66"/>
                </a:solidFill>
              </a:rPr>
              <a:t>Last
Month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384048" y="47365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594360" y="47365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Below 0.70 — Critical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384048" y="4937759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594360" y="4937759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0.70–0.90 — Yellow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384048" y="51389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9655"/>
                </a:solidFill>
              </a:rPr>
              <a:t>●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594360" y="51389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0.90–1.10 — On Track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84048" y="53400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87"/>
                </a:solidFill>
              </a:rPr>
              <a:t>●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594360" y="53400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Above 1.10 — Ahead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384048" y="555955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7941D"/>
                </a:solidFill>
              </a:rPr>
              <a:t>━━  Current: 0.75 (Orange)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384048" y="576072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66"/>
                </a:solidFill>
              </a:rPr>
              <a:t>╌╌  Last Month: 1.00 (Gray)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5806440" y="932688"/>
            <a:ext cx="6172200" cy="2697480"/>
          </a:xfrm>
          <a:prstGeom prst="rect">
            <a:avLst/>
          </a:prstGeom>
          <a:solidFill>
            <a:srgbClr val="FDED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5806440" y="932688"/>
            <a:ext cx="617220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5916168" y="969264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ROOT CAUSES — Schedule Delay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5897880" y="1353312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TextBox 672"/>
          <p:cNvSpPr txBox="1"/>
          <p:nvPr/>
        </p:nvSpPr>
        <p:spPr>
          <a:xfrm>
            <a:off x="5989320" y="1371600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SSP security review queue backlog — documentation processing delays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10835640" y="1389888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10853928" y="1408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5897880" y="1883664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989320" y="190195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CMDB inventory coordination time across teams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0835640" y="1920240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10853928" y="193852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5897880" y="2414015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5989320" y="2432304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Inclement weather — field work impacted Q4 2025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10835640" y="2450591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10853928" y="246888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4" name="Rectangle 683"/>
          <p:cNvSpPr/>
          <p:nvPr/>
        </p:nvSpPr>
        <p:spPr>
          <a:xfrm>
            <a:off x="5897880" y="2944368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5989320" y="2962656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Crown Castle fiber issue at Hicksville — low dB OTDR result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10835640" y="2980944"/>
            <a:ext cx="1051560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10853928" y="299923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OPEN ⚠</a:t>
            </a:r>
          </a:p>
        </p:txBody>
      </p:sp>
      <p:sp>
        <p:nvSpPr>
          <p:cNvPr id="688" name="Rectangle 687"/>
          <p:cNvSpPr/>
          <p:nvPr/>
        </p:nvSpPr>
        <p:spPr>
          <a:xfrm>
            <a:off x="5806440" y="3703320"/>
            <a:ext cx="6172200" cy="2807208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5806440" y="3703320"/>
            <a:ext cx="617220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TextBox 689"/>
          <p:cNvSpPr txBox="1"/>
          <p:nvPr/>
        </p:nvSpPr>
        <p:spPr>
          <a:xfrm>
            <a:off x="5916168" y="3739896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5897880" y="413308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5916168" y="413308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Apr 2024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7040880" y="413308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Project Start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5897880" y="4334255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916168" y="4334255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2024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7040880" y="4334255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RFP Award &amp; SOW Executed</a:t>
            </a:r>
          </a:p>
        </p:txBody>
      </p:sp>
      <p:sp>
        <p:nvSpPr>
          <p:cNvPr id="697" name="Rectangle 696"/>
          <p:cNvSpPr/>
          <p:nvPr/>
        </p:nvSpPr>
        <p:spPr>
          <a:xfrm>
            <a:off x="5897880" y="4535424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916168" y="453542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Jan 2025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7040880" y="453542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Detailed Design Start</a:t>
            </a:r>
          </a:p>
        </p:txBody>
      </p:sp>
      <p:sp>
        <p:nvSpPr>
          <p:cNvPr id="700" name="Rectangle 699"/>
          <p:cNvSpPr/>
          <p:nvPr/>
        </p:nvSpPr>
        <p:spPr>
          <a:xfrm>
            <a:off x="5897880" y="4736592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916168" y="4736592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Sep 2025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7040880" y="4736592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Staging Complete (Hawkeye)</a:t>
            </a:r>
          </a:p>
        </p:txBody>
      </p:sp>
      <p:sp>
        <p:nvSpPr>
          <p:cNvPr id="703" name="Rectangle 702"/>
          <p:cNvSpPr/>
          <p:nvPr/>
        </p:nvSpPr>
        <p:spPr>
          <a:xfrm>
            <a:off x="5897880" y="4937759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5916168" y="4937759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2025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7040880" y="4937759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Start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5897880" y="513892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5916168" y="513892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Dec 25–Jan 26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7040880" y="513892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 &amp; 2 Cutovers Complete  ✓</a:t>
            </a:r>
          </a:p>
        </p:txBody>
      </p:sp>
      <p:sp>
        <p:nvSpPr>
          <p:cNvPr id="709" name="Rectangle 708"/>
          <p:cNvSpPr/>
          <p:nvPr/>
        </p:nvSpPr>
        <p:spPr>
          <a:xfrm>
            <a:off x="5897880" y="534009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5916168" y="534009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711" name="TextBox 710"/>
          <p:cNvSpPr txBox="1"/>
          <p:nvPr/>
        </p:nvSpPr>
        <p:spPr>
          <a:xfrm>
            <a:off x="7040880" y="534009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Phase 2 Equipment Delivered  ✓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5897880" y="5541264"/>
            <a:ext cx="1078992" cy="1828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5916168" y="554126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714" name="TextBox 713"/>
          <p:cNvSpPr txBox="1"/>
          <p:nvPr/>
        </p:nvSpPr>
        <p:spPr>
          <a:xfrm>
            <a:off x="7040880" y="554126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Phase 2 IFR Design In Progress  ◀ NOW</a:t>
            </a:r>
          </a:p>
        </p:txBody>
      </p:sp>
      <p:sp>
        <p:nvSpPr>
          <p:cNvPr id="715" name="Rectangle 714"/>
          <p:cNvSpPr/>
          <p:nvPr/>
        </p:nvSpPr>
        <p:spPr>
          <a:xfrm>
            <a:off x="5897880" y="5742431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5916168" y="5742431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Mar–Jul 2026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7040880" y="5742431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IFC Design &amp; Review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5897880" y="5943600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TextBox 718"/>
          <p:cNvSpPr txBox="1"/>
          <p:nvPr/>
        </p:nvSpPr>
        <p:spPr>
          <a:xfrm>
            <a:off x="5916168" y="5943600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Aug–Dec 2026</a:t>
            </a:r>
          </a:p>
        </p:txBody>
      </p:sp>
      <p:sp>
        <p:nvSpPr>
          <p:cNvPr id="720" name="TextBox 719"/>
          <p:cNvSpPr txBox="1"/>
          <p:nvPr/>
        </p:nvSpPr>
        <p:spPr>
          <a:xfrm>
            <a:off x="7040880" y="5943600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(Hawkeye)</a:t>
            </a:r>
          </a:p>
        </p:txBody>
      </p:sp>
      <p:sp>
        <p:nvSpPr>
          <p:cNvPr id="721" name="Rectangle 720"/>
          <p:cNvSpPr/>
          <p:nvPr/>
        </p:nvSpPr>
        <p:spPr>
          <a:xfrm>
            <a:off x="5897880" y="6144768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TextBox 721"/>
          <p:cNvSpPr txBox="1"/>
          <p:nvPr/>
        </p:nvSpPr>
        <p:spPr>
          <a:xfrm>
            <a:off x="5916168" y="6144768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26–Feb 27</a:t>
            </a:r>
          </a:p>
        </p:txBody>
      </p:sp>
      <p:sp>
        <p:nvSpPr>
          <p:cNvPr id="723" name="TextBox 722"/>
          <p:cNvSpPr txBox="1"/>
          <p:nvPr/>
        </p:nvSpPr>
        <p:spPr>
          <a:xfrm>
            <a:off x="7040880" y="6144768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Cutovers</a:t>
            </a:r>
          </a:p>
        </p:txBody>
      </p:sp>
      <p:sp>
        <p:nvSpPr>
          <p:cNvPr id="724" name="Rectangle 723"/>
          <p:cNvSpPr/>
          <p:nvPr/>
        </p:nvSpPr>
        <p:spPr>
          <a:xfrm>
            <a:off x="5897880" y="634593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TextBox 724"/>
          <p:cNvSpPr txBox="1"/>
          <p:nvPr/>
        </p:nvSpPr>
        <p:spPr>
          <a:xfrm>
            <a:off x="5916168" y="634593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726" name="TextBox 725"/>
          <p:cNvSpPr txBox="1"/>
          <p:nvPr/>
        </p:nvSpPr>
        <p:spPr>
          <a:xfrm>
            <a:off x="7040880" y="63459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Total Program URB: $6,934,887  |  2026 Capital Budget: $2,600,000  | 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2852928" cy="98755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$6.93M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Total Program
URB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32688"/>
            <a:ext cx="2852928" cy="98755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$2.03M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Spent
To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1" y="932688"/>
            <a:ext cx="2852928" cy="98755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1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$2.60M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1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Capital
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32688"/>
            <a:ext cx="2852928" cy="9875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-$1.17M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Projected
Variance 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011680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0391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2039112"/>
            <a:ext cx="2715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1" y="2039112"/>
            <a:ext cx="1133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39112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322576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38658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7000001429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322576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238658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322576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38658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Staging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3912" y="2322576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1" y="238658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$137,500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$49,500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6488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$88,000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92056" y="2322576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37776" y="23865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2706624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8" y="277063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2706624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17320" y="277063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2706624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277063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Support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3912" y="2706624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77063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$869,235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20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0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$798,665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76488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22208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$70,570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92056" y="2706624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27706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3090672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154679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090672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17320" y="3154679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64992" y="3090672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10712" y="3154679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Network Design SOW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3912" y="3090672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9631" y="3154679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$1,370,040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60920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06640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$388,740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76488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22208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$981,300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92056" y="3090672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7776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" y="3474720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6888" y="3538727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7000001857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71600" y="3474720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17320" y="3538727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64992" y="3474720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10712" y="3538727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Equipment + NSP PO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3912" y="3474720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99631" y="3538727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$1,899,030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60920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$532,525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6488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2208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$1,366,505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92056" y="3474720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637776" y="3538727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" y="3858768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6888" y="39227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858768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17320" y="3922776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4992" y="3858768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10712" y="3922776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SOW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3912" y="3858768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1" y="3922776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60920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0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76488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22208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3858768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37776" y="39227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A99"/>
                </a:solidFill>
              </a:rPr>
              <a:t>🆕 New SOW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" y="4242816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6888" y="430682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7000001175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71600" y="4242816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17320" y="430682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992" y="4242816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10712" y="430682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Equipment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3912" y="4242816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99631" y="430682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60920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06640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76488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22208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92056" y="4242816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7776" y="43068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01168" y="4626864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6888" y="469087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7000001748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71600" y="4626864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17320" y="469087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Presidio Networked Sol.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64992" y="4626864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10712" y="469087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Network services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53912" y="4626864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99631" y="46908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60920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06640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76488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22208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92056" y="4626864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37776" y="46908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01168" y="5010912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6888" y="507492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7000001767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371600" y="5010912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17320" y="5074920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Graybar Electric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64992" y="5010912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10712" y="5074920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Materials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153912" y="5010912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9631" y="507492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60920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06640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76488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22208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592056" y="5010912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637776" y="50749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1168" y="5394960"/>
            <a:ext cx="115214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46888" y="545896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71600" y="5394960"/>
            <a:ext cx="197510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17320" y="5458968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3364992" y="5394960"/>
            <a:ext cx="27706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410712" y="5458968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153912" y="5394960"/>
            <a:ext cx="118872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199631" y="545896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$5,164,397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360920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406640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$2,025,719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476488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22208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$3,138,678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592056" y="5394960"/>
            <a:ext cx="11704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37776" y="54589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168" y="6382512"/>
            <a:ext cx="11795760" cy="201168"/>
          </a:xfrm>
          <a:prstGeom prst="rect">
            <a:avLst/>
          </a:prstGeom>
          <a:solidFill>
            <a:srgbClr val="FFF8E1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2608" y="639165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⚠  2026 ETC: $2,921,137  vs  Budget: $2,600,000  →  Projected Overrun: -$1,172,192 (-45%)  |  Budget augmentation required — see CIO Actions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RAG Status  |  PMBOK Standard  | 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</a:rPr>
              <a:t>■ RED — High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A500"/>
                </a:solidFill>
              </a:rPr>
              <a:t>■ AMBER — In Progress /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5E"/>
                </a:solidFill>
              </a:rPr>
              <a:t>■ GREEN — Closed /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188720"/>
            <a:ext cx="589788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21615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554480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59105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1591056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2026 Budget Overrun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192024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ETC $2.92M exceeds $2.6M budget by $1.17M (-45%). Hawkeye Ph2 SOW ($632K, signed 3/9) and Nokia PO ($753K) are primary drivers.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8600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Budget augmentation request to CIO in progress. Phase 3 timing may shift to 2027 to reduce 2026 exposure.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761488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761488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79806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27980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Legacy Equipment Fragility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12724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JMUX equipment is 25+ years old. Brittle fiber &amp; faulty connectors create unplanned outage risk during Phase 2 cutovers.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9300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Careful cutover sequencing. B&amp;McD Construction Coordinator on-site for all Phase 2 cutovers.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968496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968496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40050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00507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2 Schedule Slippage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33425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SPI at 0.75 (down from 1.00 last month). MPLS Node Design 4% complete. IFR/IFC cycle has limited buffer.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70001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B&amp;McD running concurrent site designs. Wave 1 IFR (Far Rockaway, Valley Stream, Cedarhurst) in PSEG LI review now.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175504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175504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521208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" y="521208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BGP Config Prerequisite — Ph1 Router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54126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 remote router configuration via Nokia NSP cannot begin until BGP design and configuration at Hicksville &amp; Melville is completed. Sequencing dependency: Cat 6 cabling → BGP config → NSP remote access to all 31 Phase 1 routers.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590702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BGP design and router configuration at Hicksville &amp; Melville scheduled for week of March 16. Hawkeye cabling at Hicksville completes March 13.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188720"/>
            <a:ext cx="571500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2161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55448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155448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158191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158191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OTDR — Crown Castle Fiber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1837943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OTDR testing completed March 9, 2026. Results confirmed. Crown Castle fiber issue identified and documented.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12140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3/9/2026 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386584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386584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2414015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2414015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Hicksville Cat 6 Cabling (NSP)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26700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Hawkeye completing Cat 6 cabling for Nokia NSP at Hicksville. Required before NSP can communicate with routers.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2953512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Target completion: March 13, 2026 (tomorrow)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218688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218688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1928" y="3246120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3246120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BGP Design &amp; Router Config — Hicksville &amp; Melville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50215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BGP design and router configuration at Hicksville and Melville substations must be completed before Nokia NSP can remotely connect to all 31 Phase 1 routers. Sequencing is critical — NSP access depends on BGP being live.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785615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Scheduled: Week of March 16, 2026 (after Cat 6 complete)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050791"/>
            <a:ext cx="5715000" cy="76809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4050791"/>
            <a:ext cx="804672" cy="27432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078224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4078224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Nokia NSP Remote Access — 31 Phase 1 Routers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4334255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Once BGP config is complete at Hicksville &amp; Melville, Nokia NSP will be used to remotely connect to and configure all 31 Phase 1 routers. This completes Phase 1 close-out.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461772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1F5B"/>
                </a:solidFill>
              </a:rPr>
              <a:t>↳ Expected: Late March 2026 (follows BGP config week of 3/16)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882896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4882896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1928" y="4910328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4910328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Phase 1 SSP / Security Reviews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5166359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Architecture review, security assessment and compliance readiness all approved by SSP team.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5449824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10, 2026 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715000"/>
            <a:ext cx="5715000" cy="768096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5715000"/>
            <a:ext cx="804672" cy="27432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81928" y="5742432"/>
            <a:ext cx="7680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0" y="5742432"/>
            <a:ext cx="47365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CMDB Inventory Update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55080" y="599846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CMDB inventory spreadsheet completed and confirmed in database.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628192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1">
                <a:solidFill>
                  <a:srgbClr val="00965E"/>
                </a:solidFill>
              </a:rPr>
              <a:t>↳ COMPLETED Feb 24, 2026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Items — Decision | Awareness | Support  ·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810512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1325880" cy="18105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9105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DECISION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00584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① Budget Augmentation — 2026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3533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The 2026 capital budget of $2,600,000 is insufficient to cover committed vendor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5133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6733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2026 Vendor Commitments (confirmed):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18333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2 IFR/IFC design (2026 portion)  . . . . . . .  $859,520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19933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3 (2026 portion) . . . . . . . . . . . . . . .  $588,011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21534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Nokia PO 7000001857 (added March 2026)  . . . . . . . . . . . . . . . .  $753,000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134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Elecnor Hawkeye Phase 2 SOW (signed March 9, 2026)  . . . . . . . . . .  $632,303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24734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Phase 1 Outstanding Work Directives (WD #8, 10, 11, 12, 13)  . . . . .   $88,303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26334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27934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   Total 2026 ETC:  $2,921,137     Budget Available:  $1,748,945     GAP:  -$1,172,192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29535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1135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➤  CIO approval required for $1.17M budget augmentation to complete Phase 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834640"/>
            <a:ext cx="11795760" cy="1810512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2834640"/>
            <a:ext cx="1325880" cy="181051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493008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290779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② Schedule — Yellow (SPI: 0.75)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2552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Phase 1 experienced a ~2.5-week delay. SPI dropped from 1.00 → 0.75.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341528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Causes:  SSP documentation queue  |  CMDB coordination  |  Weather  |  Crown Castle fiber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57530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Recovery:  All SSP/CMDB approvals received. Phase 1 close-out is remote config — no site access needed.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373532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Phase 2 IFR/IFC running concurrently with Phase 1 close-out.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389534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Overall program completion date of July 2027 remains unchanged.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0553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64208" y="4215383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➤  No approval needed — for awareness and ongoing tracking only.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" y="4736592"/>
            <a:ext cx="11795760" cy="1810512"/>
          </a:xfrm>
          <a:prstGeom prst="rect">
            <a:avLst/>
          </a:prstGeom>
          <a:solidFill>
            <a:srgbClr val="E8F0FE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1168" y="4736592"/>
            <a:ext cx="1325880" cy="181051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5394959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 REQUESTED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2" y="48097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99"/>
                </a:solidFill>
              </a:rPr>
              <a:t>③ Crown Castle Fiber Issue — Hicksville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4208" y="51572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OTDR testing revealed abnormally low dB fiber levels at Hicksville substation.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64208" y="53172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 is believed to be Crown Castle infrastructure — outside PSEG LI direct control.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64208" y="54772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64208" y="563727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Impact:  Hicksville is a primary hub site for Phase 2. Delay here could cascade to adjacent sites.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9729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Nokia NSP remote access is currently blocked pending Hawkeye Cat 6 completion + fiber resolution.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64208" y="59573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64208" y="61173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A99"/>
                </a:solidFill>
              </a:rPr>
              <a:t>➤  Request CIO support to escalate formally to Crown Castle if OTDR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4208" y="62773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confirm Crown Castle fault (results expected March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March 2026 — July 2027  |  Aligned to B&amp;McD MPP Schedule &amp; SOW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5742432" cy="3474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IMMEDIATE — Next 30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" y="135331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PSEG LI review of Wave 1 IFR packages (Far Rockaway, Valley Stream, Cedarhurst)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1709928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1 IFC target — B&amp;McD issues sealed construction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066543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M1 payment due: $99,000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423160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Complete Hicksville OTDR testing; resolve Crown Castle fiber issue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" y="2779776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Establish NSP remote access at Hicksville &amp; Melville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313639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17–31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begins Wave 2 IFR (Hewlett, Green Acres, Barrett Power Plant)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932688"/>
            <a:ext cx="5742432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2026 — April through June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135331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2 IFC completion (Hewlett / Green Acres / Barrett)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7" y="1709928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M2 payment due: $89,000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6207" y="2066543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May–Jun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Waves 3–5 IFR → IFC pipeline continues (remaining 26 sites)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7" y="2423160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payment due: $89,000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7" y="2779776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544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PO target — B&amp;McD Phase 3 SOW to be executed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207" y="313639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688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second tranche: $89,000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168" y="3602736"/>
            <a:ext cx="574243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Q3–Q4 2026 — July through December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" y="402336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52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36 sites IFC complete — B&amp;McD Milestone 4 closed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" y="4379976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staging &amp; testing begins (Phase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" y="4736592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252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&amp; installation starts (36 sites)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2608" y="5093208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M4 payment due: 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" y="5449824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5495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Sep 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252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complete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" y="580644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5852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cutovers begin — site by site through Feb 2027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447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44768" y="3602736"/>
            <a:ext cx="5742432" cy="34747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44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2027 — Program Completion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36207" y="4023360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544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688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Phase 2 engineering program complete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36207" y="4379976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544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Feb 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688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Phase 2 cutovers complete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7" y="4736592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544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Dec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688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MPLS node design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36207" y="5093208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544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688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Completion — JMUX fully decommissioned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688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sites migrated to Nokia MPLS — Phase 1, 2 &amp; 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688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Post-warranty support period begins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Replacement: Modernizing PSEG LI Substation Communications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371600"/>
          </a:xfrm>
          <a:prstGeom prst="rect">
            <a:avLst/>
          </a:prstGeom>
          <a:solidFill>
            <a:srgbClr val="E8F0FE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1F5B"/>
                </a:solidFill>
              </a:rPr>
              <a:t>Why This Project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The GE JungleMUX (JMUX) platform is 25+ years old, no longer manufactured, and at end-of-life. Replacement parts are unavailable. A failure during an active cutover could cause a substation outage affecting Long Island customers. This program replaces all JMUX nodes with Nokia 7705 SAR MPLS routers — a modern, standards-based platform with full vendor support, redundancy, and remote management capability.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377440"/>
            <a:ext cx="3822191" cy="329184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Primary 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Replace all GE JungleMUX MPLS nodes across PSEG Long Island substations with Nokia 7705 SAR routers before equipment failure risk escalates.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9" y="2377440"/>
            <a:ext cx="3822191" cy="329184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9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📡 Technical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Implement a modern, resilient MPLS network supporting VPRN, Epipe, and Cpipe services with SNMPv3 NMS management, BFD, QoS, SyncE, and Segment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1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2377440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🏗️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1: 31 substations (COMPLETE). Phase 2: 36 substations (In Progress). Phase 3: ~35 substations (planned Jun 2026). Total: ~102 sites.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3639312"/>
            <a:ext cx="3822191" cy="32918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📅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start: April 2024. Phase 1 complete: January 2026. Phase 2 complete: February 2027. Full program completion: July 2027.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799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799" y="3639312"/>
            <a:ext cx="3822191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39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💰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9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Total URB: $6,934,887. 2026 capital budget: $2,600,000. Budget augmentation of ~$1.17M required for 2026 due to Phase 2 vendor commitments.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1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28431" y="3639312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1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✅ Success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1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JMUX nodes decommissioned. Nokia MPLS network operational and stable. NSP management platform live. All IFC designs accepted and as-builts delivered.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Complete Picture  |  All Vendors  |  Hawkeye Ph2 SOW Signed March 9,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96012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2026 BUDGET GAP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Capital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ETC (all vendors)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$2,921,137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Projected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-$1,172,192 (-45%)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1993392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020824"/>
            <a:ext cx="1847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Contract / 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020824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20824"/>
            <a:ext cx="1389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2026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12848" y="2304288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8568" y="237744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7000002099
RITM336401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2304288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8808" y="237744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IFR/IFC design — 36 sites
(M3 surveys + M4 design 2026 portion)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8" y="2304288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774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$859,520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023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480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2779776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8568" y="285292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SOW
(pending)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33088" y="2779776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8808" y="285292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engineering design
(2026 portion — Jun–Dec 2026)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39328" y="2779776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8" y="28529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$588,011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480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7A99"/>
                </a:solidFill>
              </a:rPr>
              <a:t>⏳ 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12848" y="3255264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332841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7000001857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3088" y="3255264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78808" y="332841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equipment + NSP
(added March 2026 — full balance)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8" y="3255264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5048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$753,000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23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12848" y="3730752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58568" y="3803904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Ph2 SOW
Signed 3/9/2026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33088" y="3730752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8808" y="3803904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construction, installation
&amp; WDs #8,10,11,12,13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39328" y="3730752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5048" y="38039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023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80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🆕 New SOW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11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12848" y="4206240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58568" y="427939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WDs #8–13
(Ph1 outstanding)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3088" y="4206240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78808" y="4279392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Outstanding Phase 1 work directives
Fiber testing, patch panels, cabling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9328" y="4206240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85048" y="42793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$88,303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23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480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68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TOTAL 2026 ETC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4681728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58568" y="475488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4133088" y="4681728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78808" y="475488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4681728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47548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$2,921,137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23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480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468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2026 Capital Budget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12848" y="5157216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58568" y="523036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4133088" y="5157216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78808" y="523036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339328" y="5157216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85048" y="523036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023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480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VARIANCE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12848" y="5632704"/>
            <a:ext cx="1901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258568" y="570585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4133088" y="5632704"/>
            <a:ext cx="4187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78808" y="570585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8339328" y="5632704"/>
            <a:ext cx="14447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85048" y="5705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−$1,172,192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023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480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 Gap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8600" y="6291072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66"/>
                </a:solidFill>
              </a:rPr>
              <a:t>Note: Phase 3 SOW pending execution. Nokia balance and Hawkeye SOW confirmed. All figures based on signed contracts and purchase orders as of March 12,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Active Vendors  |  Roles, Contracts &amp; Current Status  |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87552"/>
            <a:ext cx="3822191" cy="5541264"/>
          </a:xfrm>
          <a:prstGeom prst="rect">
            <a:avLst/>
          </a:prstGeom>
          <a:solidFill>
            <a:srgbClr val="E8F0FE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87552"/>
            <a:ext cx="3822191" cy="47548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Burns &amp; McDonnell EGS, P.C.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Engineering &amp;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2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RITM336401 | MA00007834 | PO 7000002099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1F5B"/>
                </a:solidFill>
              </a:rPr>
              <a:t>Value: $1,370,040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Aug 13, 2025  ·  End: Sep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121408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36-site MPLS node design (IFR→IFC→As-Built)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Phase 1 Staging Support  ✓  $57,300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Construction Coordinator Aug–Jan 2026  ✓  $368,100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Site Surveys 36 sites  ✓  $86,040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M4 IFR Design in progress  $601,020  (4%)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ISO 9001:2015 certified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Sub: Global One Partners LLC (WMBE)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Weekly status calls hosted by B&amp;McD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5376672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Alex Lenox (PM) · alenox@burnsmcd.com · (636) 248-0351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IFR 4% complete. SPI 0.75.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7" y="987552"/>
            <a:ext cx="3822191" cy="5541264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7" y="987552"/>
            <a:ext cx="3822191" cy="475488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Elecnor Hawkeye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Phase 2 SOW — Signed March 9,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7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4500"/>
                </a:solidFill>
              </a:rPr>
              <a:t>Value: $632,303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7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Mar 9, 2026  ·  End: Late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7" y="2121408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4527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Pre-site, install, demo JMUX at 36 sites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7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WD#8 Fiber testing Elwood/Northport  $8,229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7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WD#10 Patch panels Oakwood/Northport  $15,089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4527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WD#11 Fiber &amp; CAT5E Hicksville  $60,070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7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WD#12 Fiber enclosures Hicksville  $2,515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527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WD#13 Fiber testing Syosset  $2,400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7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M1 due March 30, 2026  ⚠  $99,000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24527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M2–M5 Apr–Dec 2026  $444,000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24527" y="5376672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4527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Robert M. Kenney (Electrical Supervisor)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7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79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WDs in progress. M1 due 3/30.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65008" y="987552"/>
            <a:ext cx="3822191" cy="5541264"/>
          </a:xfrm>
          <a:prstGeom prst="rect">
            <a:avLst/>
          </a:prstGeom>
          <a:solidFill>
            <a:srgbClr val="E6F7F1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65008" y="987552"/>
            <a:ext cx="3822191" cy="47548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5644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Nokia of America Corporation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Equipment Supply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16768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16768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PO 7000001857 + PO 7000001175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5644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99"/>
                </a:solidFill>
              </a:rPr>
              <a:t>Value: ~$2,089,605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2025  ·  End: Equipment Delivered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56448" y="2121408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5644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Nokia 7705 SAR routers — all Phase 2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Equipment delivered February 2026  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(Network Services Platform) licensing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Firmware synchronized on all CSM cards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644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Ph1 PO 7000001175  $190,575  paid in full  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Ph2 PO 7000001857  $1,899,030 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5644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remote access Hicksville pending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Cat 6 prerequisite (Hawkeye) in progress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56448" y="5376672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5644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Nokia Account Team — PSEG Long Island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5644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Equipment delivered. NSP access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