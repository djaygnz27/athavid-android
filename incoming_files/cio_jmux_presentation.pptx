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JMUX Replacement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7941D"/>
                </a:solidFill>
              </a:rPr>
              <a:t>CIO Briefing | Phase 1 Complete · Phase 2 Underway · Path to Completion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PRJ13797  |  Program Manager: Dhananjaya Gunaratne  |  March 12,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PSEG Long Island  |  IT 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7941D"/>
                </a:solidFill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JMUX Replacement Program — Status as of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1161288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97280"/>
            <a:ext cx="3657600" cy="5029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155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✅  Phase 1
COMPLETE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00200"/>
            <a:ext cx="3657600" cy="46634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69164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31 substations cutover to MPLS
All Wave 1 &amp; Wave 2 cutovers done
NSP installed at Melville &amp; Hicksville
SSP &amp; CMDB documentation approved
Minor close-outs in progress (Hicksville cabling, OTDR)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097280"/>
            <a:ext cx="3657600" cy="5029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1155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🟡  Phase 2
IN PROGRESS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600200"/>
            <a:ext cx="3657600" cy="46634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169164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36-site engineering design underway
Site surveys completed during Phase 1
Burns &amp; McDonnell issuing IFRs &amp; IFCs
Nokia Phase 2 equipment delivered 2/19
Schedule: Yellow (2.5-wk delay, recovering)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1097280"/>
            <a:ext cx="3657600" cy="5029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11155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📋  CIO Actions
REQUIRED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600200"/>
            <a:ext cx="3657600" cy="46634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169164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Awareness: Schedule is yellow, recovery plan in place
Approval: Confirm Phase 2 vendor engagement continues
Decision: Resource support for SSP/security reviews
Support: Crown Castle fiber issue at Hicksville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Phase 1 Accomplishments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31 Substations | Complete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7498079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55279" y="1005840"/>
            <a:ext cx="393192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05840"/>
            <a:ext cx="7498079" cy="41148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42415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KEY ACCOMPLISHMENTS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508760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490472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All 31 substation sites installed &amp; commissioned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947672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929384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Wave 1 cutover (12/8–12/18/25) — non-tie sites complete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386584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368296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Wave 2 cutover (1/6–1/8/26) — tie sites complete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825496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807208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CWDM cutover complete at Hicksville &amp; ACC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264408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246120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Nokia NSP racked &amp; powered at Melville &amp; Hicksville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703320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685032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Staging completed at Hawkeye Warehouse — 9/29/25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142231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123944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SSP documentation approved by security team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581144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562856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CMDB inventory updated &amp; confirmed — 2/24/26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5020056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001768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2 site surveys completed during Phase 1 (ahead of schedule)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458968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440680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7 additional nodes added to complete Ring 1 &amp; Ring 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55279" y="1005840"/>
            <a:ext cx="3931920" cy="41148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0" y="1042415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PHASE 1 AT A GLANCE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01000" y="1508760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0" y="152704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31 / 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1856231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Sites Complete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2286000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0" y="230428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263347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Cutover Done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01000" y="3063239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0" y="3081527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3410711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Network Rings Closed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01000" y="3840479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0" y="3858767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Sept 2025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0" y="4187951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Staging Complete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01000" y="4617720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46720" y="4636007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Jan 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46720" y="496519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Final Cutover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01000" y="5394960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46720" y="541324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$4.44M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46720" y="574243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Spent to Date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Phase 2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36 Sites | Engineering Design Underway | Burns &amp; McDonnell SOW: $1.37M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1828800" cy="5029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Site Surveys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COMPLETE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79" y="1051560"/>
            <a:ext cx="1828800" cy="5029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5999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Nokia Equip. Delivery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5999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COMPLETE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051560"/>
            <a:ext cx="1828800" cy="5029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59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IFR Design (B&amp;McD)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59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199" y="1051560"/>
            <a:ext cx="1828800" cy="5029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19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IFC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19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1051560"/>
            <a:ext cx="1828800" cy="5029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Construction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NOT STARTED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04120" y="1051560"/>
            <a:ext cx="1828800" cy="5029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49840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Cutover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NOT STARTED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1691640"/>
            <a:ext cx="116128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17099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Milestone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170992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Contract Date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89320" y="170992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170992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Notes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2103120"/>
            <a:ext cx="11612880" cy="6217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2148839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Staging Support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39" y="2148839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8/22/2025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2148839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8000"/>
                </a:solidFill>
              </a:rPr>
              <a:t>✅ Complete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2148839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$57,300 paid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2761487"/>
            <a:ext cx="116128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2807207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Construction Coordinator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2807207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Aug 2025–Jan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2807207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8000"/>
                </a:solidFill>
              </a:rPr>
              <a:t>✅ Complete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2807207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$368,100 — monthly invoiced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3419856"/>
            <a:ext cx="11612880" cy="6217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3465575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Substation Site Surveys (Phase 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77639" y="3465575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2/27/2026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89320" y="3465575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8000"/>
                </a:solidFill>
              </a:rPr>
              <a:t>✅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18120" y="3465575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Completed during Phase 1 — ahead of schedule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078224"/>
            <a:ext cx="116128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0040" y="4123944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MPLS Network Node Design — IFR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77639" y="4123944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Wave 1: 2/23/26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89320" y="4123944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C000"/>
                </a:solidFill>
              </a:rPr>
              <a:t>🟡 In Progress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18120" y="4123944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B&amp;McD issuing IFRs; PSEG LI review 2-wk window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4736592"/>
            <a:ext cx="11612880" cy="6217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4782312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MPLS Network Node Design — IFC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77639" y="4782312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Wave 1: 3/23/26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89320" y="4782312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⏳ Upcoming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18120" y="4782312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IFC follows PSEG LI review &amp; comment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5394959"/>
            <a:ext cx="116128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0040" y="5440679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Construction &amp; Installation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77639" y="5440679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Aug–Dec 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89320" y="5440679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⏳ Not Started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18120" y="5440679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Pending IFC completion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Schedule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Overall: 🟡 Yellow | Recovery Plan in Place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530352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60720" y="1005840"/>
            <a:ext cx="612648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05840"/>
            <a:ext cx="5303520" cy="4114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880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04040"/>
                </a:solidFill>
              </a:rPr>
              <a:t>Root Causes: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4612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• SSP documentation delays (security review queue)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5760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• CMDB update coordination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6908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• Inclement weather affecting field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48056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• Crown Castle fiber issue at Hicksville (OTDR testing pending)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0749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387"/>
                </a:solidFill>
              </a:rPr>
              <a:t>Recovery Actions: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44068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All approvals received. Remaining Phase 1 close-out is remote configuration — no physical site access needed. Phase 2 IFR/IFC design on track.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0" y="1005840"/>
            <a:ext cx="6126480" cy="41148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1033271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PROGRAM TIMELINE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06440" y="15087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0760" y="14904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Apr 2024  —  Project Start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06440" y="19659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0760" y="19476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Oct 2024  —  RFP Award &amp; SOW Executed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24231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80760" y="2404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Jan 2025  —  Phase 1 Detailed Design Start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06440" y="28803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28620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Sep 2025  —  Staging Complete (Hawkeye)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06440" y="33375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0760" y="33192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Oct 2025  —  Phase 1 Construction Start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06440" y="37947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37764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Dec 2025 – Jan 2026  —  Wave 1 &amp; 2 Cutovers Complete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06440" y="42519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80760" y="42336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Feb 2026  —  Nokia Phase 2 Equipment Delivered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4709160"/>
            <a:ext cx="182880" cy="25603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4690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7941D"/>
                </a:solidFill>
              </a:rPr>
              <a:t>Mar 2026  —  Phase 2 IFR Design in Progress  ◀ NOW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06440" y="5166360"/>
            <a:ext cx="182880" cy="256032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51480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</a:rPr>
              <a:t>Mar–Jul 2026  —  Phase 2 IFC Design &amp; Review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06440" y="5623560"/>
            <a:ext cx="182880" cy="256032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56052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</a:rPr>
              <a:t>Aug–Dec 2026  —  Phase 2 Construction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06440" y="6080760"/>
            <a:ext cx="182880" cy="256032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0760" y="60624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</a:rPr>
              <a:t>Jul 2027  —  Program Completion (Target)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1463040"/>
            <a:ext cx="521208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0040" y="1463040"/>
            <a:ext cx="5212080" cy="36576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1490472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SCHEDULE PERFORMANCE INDEX (SPI)</a:t>
            </a:r>
          </a:p>
        </p:txBody>
      </p:sp>
      <p:sp>
        <p:nvSpPr>
          <p:cNvPr id="48" name="Oval 47"/>
          <p:cNvSpPr/>
          <p:nvPr/>
        </p:nvSpPr>
        <p:spPr>
          <a:xfrm>
            <a:off x="2385935" y="246303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369330" y="243044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352725" y="239786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336120" y="236527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319515" y="233268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302910" y="230009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2286304" y="226750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333847" y="249140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2315476" y="245978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2297105" y="242815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278734" y="239652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260364" y="236489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241993" y="233327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223622" y="230164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283396" y="252259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263315" y="249202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243234" y="246145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223153" y="243088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2203072" y="240031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2182991" y="236974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2162910" y="233917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234736" y="255651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2213005" y="252709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191274" y="249767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169544" y="246825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147813" y="243882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2126083" y="240940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2104352" y="237998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2188012" y="259305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164698" y="256486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2141383" y="253668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2118069" y="250850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2094754" y="248032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2071440" y="245213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048126" y="242395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143367" y="263209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118539" y="260524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093711" y="257838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068883" y="255152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2044056" y="252466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2019228" y="249780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994400" y="247094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100935" y="267354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074669" y="264808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2048403" y="262263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022136" y="259718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995870" y="257172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969604" y="254627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943338" y="252082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2060844" y="271725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2033219" y="269328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005594" y="266931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977969" y="264534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950344" y="262136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922719" y="259739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895093" y="257342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2023217" y="276310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994316" y="274068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965415" y="271827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936514" y="269585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907614" y="267343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878713" y="265101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849812" y="262860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988165" y="281095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958076" y="279015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927987" y="276936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897898" y="274856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867809" y="272777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837720" y="270697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807632" y="268618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955796" y="286065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924609" y="284154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893423" y="282243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862237" y="280332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831051" y="278421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799865" y="276510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768679" y="274599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926206" y="291206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894017" y="289469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861828" y="287732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829639" y="285995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797449" y="284258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765260" y="282522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733071" y="280785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899486" y="296501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866391" y="294944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833296" y="293386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800201" y="291829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767107" y="290272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734012" y="288714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700917" y="287157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875717" y="301935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841816" y="300562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807915" y="299189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774015" y="297816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740114" y="296443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706213" y="295070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672312" y="293697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854969" y="307492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820365" y="306307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785761" y="305122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751157" y="303938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716553" y="302753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681949" y="301568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647345" y="300383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837306" y="313154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802103" y="312161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766900" y="311168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731698" y="310176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696495" y="309183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661292" y="308190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626089" y="307197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822781" y="318905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787086" y="318107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751391" y="317309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715696" y="316511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680001" y="315713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644305" y="314915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608610" y="314118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811438" y="324727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775359" y="324126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739279" y="323526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703199" y="322925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667120" y="322325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631040" y="321724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594960" y="321123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803312" y="330602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766956" y="330201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730601" y="329799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694246" y="329398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657891" y="328997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621536" y="328595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585181" y="328194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798426" y="336513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761905" y="33631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725384" y="336111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688864" y="335910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652343" y="335709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615822" y="335508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579301" y="335307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796796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760220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723644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687068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650492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613916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577340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2706996" y="235872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701274" y="2322594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2695552" y="2286468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2689831" y="2250343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2684109" y="2214217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2678387" y="217809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2672665" y="214196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2640413" y="237142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2632434" y="233572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2624455" y="230003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2616476" y="226433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2608497" y="222864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2600519" y="2192945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2592540" y="215725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2574758" y="2388278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2564554" y="2353155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2554350" y="231803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2544145" y="2282907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2533941" y="2247783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2523736" y="221266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2513532" y="217753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2510292" y="2409225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2497902" y="237481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2485513" y="2340397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2473123" y="2305984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2460733" y="227157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2448344" y="223715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2435954" y="2202743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2447268" y="2434178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2432742" y="240061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2418216" y="2367042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2403690" y="2333474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2389164" y="229990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2374638" y="2266339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2360112" y="223277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2385935" y="2463039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2369330" y="2430449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2352725" y="239786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2336120" y="236527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2319515" y="233268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2302910" y="230009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2286304" y="2267502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3044579" y="2358720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3050301" y="232259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3056023" y="228646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3061744" y="2250343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3067466" y="2214217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3073188" y="217809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3078910" y="2141966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2988573" y="2351346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2992396" y="231497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2996219" y="2278595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3000043" y="2242219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3003866" y="220584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3007689" y="216946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3011512" y="2133093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2932258" y="234691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2934172" y="231038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2936086" y="2273862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2938000" y="2237337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2939915" y="220081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2941829" y="2164285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2943743" y="2127759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2875788" y="2345435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2875788" y="2308860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2875788" y="227228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2875788" y="223570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2875788" y="2199132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2875788" y="2162556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2875788" y="2125979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2819317" y="234691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2817403" y="231038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2815489" y="2273862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2813575" y="2237337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2811660" y="220081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2809746" y="2164285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2807832" y="2127759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2763002" y="2351346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2759179" y="231497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2755356" y="2278595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2751532" y="2242219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2747709" y="220584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2743886" y="216946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2740063" y="2133093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2706996" y="2358720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2701274" y="232259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2695552" y="228646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2689831" y="2250343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2684109" y="2214217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2678387" y="217809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2672665" y="2141966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3954780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3991356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4027932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4064508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4101084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4137660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4174236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3953185" y="336578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3989707" y="336380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4026229" y="336181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4062751" y="335982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4099273" y="335783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4135795" y="335584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4172317" y="33538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3948406" y="330732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3984766" y="330335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4021126" y="329938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4057486" y="329541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4093845" y="329144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4130205" y="328747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4166565" y="328350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3940456" y="324920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3976547" y="32432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4012637" y="323732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4048728" y="323138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4084818" y="322544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4120908" y="321950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4156999" y="32135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3929360" y="319159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3965074" y="318370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4000788" y="317581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4036503" y="316792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4072217" y="316002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4107931" y="315213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4143645" y="314424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3915149" y="313468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3950382" y="312486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3985614" y="311504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4020847" y="310521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4056079" y="309539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4091312" y="308557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4126545" y="307575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3897866" y="307862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3932513" y="306690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3967160" y="305518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4001806" y="304346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4036453" y="303173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4071100" y="302001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4105747" y="300829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3877562" y="302359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3911521" y="301000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3945479" y="299641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3979438" y="29828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4013396" y="296923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4047355" y="295565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4081313" y="294206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3854298" y="296973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3887468" y="295432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3920637" y="293891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3953807" y="292350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3986977" y="290808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4020147" y="289267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4053317" y="287726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3828141" y="291723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3860424" y="290003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3892707" y="288284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3924990" y="286565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3957273" y="284846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3989556" y="283126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4021840" y="281407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3799169" y="286622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3830470" y="284730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3861771" y="282838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3893072" y="280945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3924373" y="279053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3955674" y="277161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3986975" y="275269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3767467" y="281686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3797694" y="279627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3827920" y="277567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3858147" y="275508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3888373" y="273448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3918600" y="271389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3948826" y="269329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3733130" y="276930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3762193" y="274709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3791255" y="272488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3820318" y="270268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3849380" y="268047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3878443" y="265826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3907505" y="263605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3696259" y="272367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3724072" y="269992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3751885" y="267617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3779697" y="265241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3807510" y="26286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3835322" y="260490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3863135" y="258115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3656963" y="268012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3683444" y="265489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3709924" y="262966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3736405" y="260443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3762885" y="257920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3789366" y="255397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3815847" y="252874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3615358" y="263876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3640428" y="261213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3665499" y="258550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3690569" y="255887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3715639" y="253223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3740709" y="250560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3765779" y="247897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3571567" y="259973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3595153" y="257178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3618739" y="254382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3642324" y="251587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3665910" y="248791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3689496" y="245995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3713082" y="243200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3525719" y="256314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3547751" y="253394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3569783" y="250475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3591814" y="247555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3613846" y="244635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3635877" y="241716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3657909" y="238796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3477951" y="252909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3498363" y="249874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3518775" y="246839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3539188" y="243804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3559600" y="240769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3580012" y="237734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3600425" y="234699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3428402" y="249769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3447135" y="246627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3465867" y="24348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3484600" y="240344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3503333" y="237203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3522066" y="234061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3540798" y="230920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3377220" y="246902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3394218" y="243664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3411216" y="240425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3428213" y="237186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3445211" y="233948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3462209" y="230709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3479206" y="227470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3324556" y="244318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339768" y="240992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354981" y="237666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370193" y="234340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385406" y="231013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400618" y="227687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415831" y="224361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270565" y="242024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283948" y="238620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297330" y="235216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310712" y="231812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324095" y="228408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337477" y="225004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350859" y="221600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215408" y="240027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226921" y="23655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238433" y="233084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249946" y="22961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261458" y="226141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272971" y="222669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284483" y="219197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59247" y="238333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68855" y="234804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78464" y="231275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88073" y="22774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97682" y="224216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207291" y="220687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216899" y="217158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02248" y="236946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09924" y="233370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17601" y="229794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5277" y="226218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32954" y="222642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140631" y="21906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148307" y="215490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044579" y="235872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050301" y="232259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056023" y="228646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061744" y="225034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067466" y="221421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073188" y="217809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078910" y="214196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1915668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1865376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1815084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1764792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1714500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1664208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1613916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1563624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1513332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TextBox 483"/>
          <p:cNvSpPr txBox="1"/>
          <p:nvPr/>
        </p:nvSpPr>
        <p:spPr>
          <a:xfrm>
            <a:off x="1170432" y="3364991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0.00</a:t>
            </a:r>
          </a:p>
        </p:txBody>
      </p:sp>
      <p:sp>
        <p:nvSpPr>
          <p:cNvPr id="485" name="Oval 484"/>
          <p:cNvSpPr/>
          <p:nvPr/>
        </p:nvSpPr>
        <p:spPr>
          <a:xfrm>
            <a:off x="2204915" y="2753555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2169353" y="2717993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2133791" y="2682431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2098229" y="2646869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2062668" y="261130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2027106" y="2575746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1991544" y="254018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1955982" y="250462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1920420" y="24690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TextBox 493"/>
          <p:cNvSpPr txBox="1"/>
          <p:nvPr/>
        </p:nvSpPr>
        <p:spPr>
          <a:xfrm>
            <a:off x="1631085" y="2252877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0.50</a:t>
            </a:r>
          </a:p>
        </p:txBody>
      </p:sp>
      <p:sp>
        <p:nvSpPr>
          <p:cNvPr id="495" name="Oval 494"/>
          <p:cNvSpPr/>
          <p:nvPr/>
        </p:nvSpPr>
        <p:spPr>
          <a:xfrm>
            <a:off x="2525300" y="253948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2506054" y="2493017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2486808" y="2446553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2467562" y="2400089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2448316" y="2353625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2429070" y="230716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2409824" y="226069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2390578" y="221423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2371332" y="216777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TextBox 503"/>
          <p:cNvSpPr txBox="1"/>
          <p:nvPr/>
        </p:nvSpPr>
        <p:spPr>
          <a:xfrm>
            <a:off x="2141327" y="1911943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04040"/>
                </a:solidFill>
              </a:rPr>
              <a:t>0.75</a:t>
            </a:r>
          </a:p>
        </p:txBody>
      </p:sp>
      <p:sp>
        <p:nvSpPr>
          <p:cNvPr id="505" name="Oval 504"/>
          <p:cNvSpPr/>
          <p:nvPr/>
        </p:nvSpPr>
        <p:spPr>
          <a:xfrm>
            <a:off x="2903220" y="246430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2903220" y="2414015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2903220" y="236372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2903220" y="231343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2903220" y="226314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2903220" y="221284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2903220" y="2162556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2903220" y="211226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2903220" y="206197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TextBox 513"/>
          <p:cNvSpPr txBox="1"/>
          <p:nvPr/>
        </p:nvSpPr>
        <p:spPr>
          <a:xfrm>
            <a:off x="2743200" y="179222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04040"/>
                </a:solidFill>
              </a:rPr>
              <a:t>1.00</a:t>
            </a:r>
          </a:p>
        </p:txBody>
      </p:sp>
      <p:sp>
        <p:nvSpPr>
          <p:cNvPr id="515" name="Oval 514"/>
          <p:cNvSpPr/>
          <p:nvPr/>
        </p:nvSpPr>
        <p:spPr>
          <a:xfrm>
            <a:off x="3281139" y="253948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3300385" y="2493017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3319631" y="2446553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3338877" y="2400089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3358123" y="2353625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3377369" y="230716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3396615" y="226069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3415861" y="221423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3435107" y="216777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TextBox 523"/>
          <p:cNvSpPr txBox="1"/>
          <p:nvPr/>
        </p:nvSpPr>
        <p:spPr>
          <a:xfrm>
            <a:off x="3345072" y="1911943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1.25</a:t>
            </a:r>
          </a:p>
        </p:txBody>
      </p:sp>
      <p:sp>
        <p:nvSpPr>
          <p:cNvPr id="525" name="Oval 524"/>
          <p:cNvSpPr/>
          <p:nvPr/>
        </p:nvSpPr>
        <p:spPr>
          <a:xfrm>
            <a:off x="3601524" y="2753555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3637086" y="2717993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3672648" y="2682431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3708210" y="2646869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3743771" y="261130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3779333" y="2575746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3814895" y="254018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3850457" y="250462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3886019" y="24690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TextBox 533"/>
          <p:cNvSpPr txBox="1"/>
          <p:nvPr/>
        </p:nvSpPr>
        <p:spPr>
          <a:xfrm>
            <a:off x="3855314" y="2252877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1.50</a:t>
            </a:r>
          </a:p>
        </p:txBody>
      </p:sp>
      <p:sp>
        <p:nvSpPr>
          <p:cNvPr id="535" name="Oval 534"/>
          <p:cNvSpPr/>
          <p:nvPr/>
        </p:nvSpPr>
        <p:spPr>
          <a:xfrm>
            <a:off x="3890772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3941063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Oval 536"/>
          <p:cNvSpPr/>
          <p:nvPr/>
        </p:nvSpPr>
        <p:spPr>
          <a:xfrm>
            <a:off x="3991356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Oval 537"/>
          <p:cNvSpPr/>
          <p:nvPr/>
        </p:nvSpPr>
        <p:spPr>
          <a:xfrm>
            <a:off x="4041648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Oval 538"/>
          <p:cNvSpPr/>
          <p:nvPr/>
        </p:nvSpPr>
        <p:spPr>
          <a:xfrm>
            <a:off x="4091939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Oval 539"/>
          <p:cNvSpPr/>
          <p:nvPr/>
        </p:nvSpPr>
        <p:spPr>
          <a:xfrm>
            <a:off x="4142232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Oval 540"/>
          <p:cNvSpPr/>
          <p:nvPr/>
        </p:nvSpPr>
        <p:spPr>
          <a:xfrm>
            <a:off x="4192524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4242816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4293108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TextBox 543"/>
          <p:cNvSpPr txBox="1"/>
          <p:nvPr/>
        </p:nvSpPr>
        <p:spPr>
          <a:xfrm>
            <a:off x="4315968" y="3364991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2.00</a:t>
            </a:r>
          </a:p>
        </p:txBody>
      </p:sp>
      <p:sp>
        <p:nvSpPr>
          <p:cNvPr id="545" name="Oval 544"/>
          <p:cNvSpPr/>
          <p:nvPr/>
        </p:nvSpPr>
        <p:spPr>
          <a:xfrm>
            <a:off x="2889504" y="3438144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Oval 545"/>
          <p:cNvSpPr/>
          <p:nvPr/>
        </p:nvSpPr>
        <p:spPr>
          <a:xfrm>
            <a:off x="2874807" y="3402662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2860110" y="3367181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2845413" y="3331699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2830716" y="3296218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2816019" y="3260736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2801322" y="3225255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2786625" y="3189774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2771928" y="3154292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2757232" y="3118811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Oval 554"/>
          <p:cNvSpPr/>
          <p:nvPr/>
        </p:nvSpPr>
        <p:spPr>
          <a:xfrm>
            <a:off x="2742535" y="3083329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Oval 555"/>
          <p:cNvSpPr/>
          <p:nvPr/>
        </p:nvSpPr>
        <p:spPr>
          <a:xfrm>
            <a:off x="2727838" y="3047848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2713141" y="3012367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2698444" y="2976885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2683747" y="2941404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2669050" y="2905922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2654353" y="2870441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2639657" y="2834960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2624960" y="2799478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2610263" y="2763997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Oval 564"/>
          <p:cNvSpPr/>
          <p:nvPr/>
        </p:nvSpPr>
        <p:spPr>
          <a:xfrm>
            <a:off x="2595566" y="2728515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Oval 565"/>
          <p:cNvSpPr/>
          <p:nvPr/>
        </p:nvSpPr>
        <p:spPr>
          <a:xfrm>
            <a:off x="2580869" y="2693034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2579888" y="2671269"/>
            <a:ext cx="45720" cy="45720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2565191" y="2635787"/>
            <a:ext cx="45720" cy="45720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2550494" y="2600306"/>
            <a:ext cx="45720" cy="45720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2535797" y="2564824"/>
            <a:ext cx="45720" cy="45720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2898648" y="3408883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2898648" y="3370478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2898648" y="3293668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2898648" y="3255264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Oval 574"/>
          <p:cNvSpPr/>
          <p:nvPr/>
        </p:nvSpPr>
        <p:spPr>
          <a:xfrm>
            <a:off x="2898648" y="3178454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2898648" y="3140049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2898648" y="3063240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2898648" y="3024835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2898648" y="2948025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2898648" y="2909620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2898648" y="2832811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2898648" y="2794406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2898648" y="2717596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2898648" y="2679192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2898648" y="2602382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2898648" y="2563977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2898648" y="2487168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2834640" y="3383279"/>
            <a:ext cx="182880" cy="1828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TextBox 588"/>
          <p:cNvSpPr txBox="1"/>
          <p:nvPr/>
        </p:nvSpPr>
        <p:spPr>
          <a:xfrm>
            <a:off x="2423160" y="37307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7941D"/>
                </a:solidFill>
              </a:rPr>
              <a:t>0.75</a:t>
            </a:r>
          </a:p>
        </p:txBody>
      </p:sp>
      <p:sp>
        <p:nvSpPr>
          <p:cNvPr id="590" name="TextBox 589"/>
          <p:cNvSpPr txBox="1"/>
          <p:nvPr/>
        </p:nvSpPr>
        <p:spPr>
          <a:xfrm>
            <a:off x="2395728" y="404164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7941D"/>
                </a:solidFill>
              </a:rPr>
              <a:t>Current
Month</a:t>
            </a:r>
          </a:p>
        </p:txBody>
      </p:sp>
      <p:sp>
        <p:nvSpPr>
          <p:cNvPr id="591" name="TextBox 590"/>
          <p:cNvSpPr txBox="1"/>
          <p:nvPr/>
        </p:nvSpPr>
        <p:spPr>
          <a:xfrm>
            <a:off x="3017520" y="37307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04040"/>
                </a:solidFill>
              </a:rPr>
              <a:t>1.00</a:t>
            </a:r>
          </a:p>
        </p:txBody>
      </p:sp>
      <p:sp>
        <p:nvSpPr>
          <p:cNvPr id="592" name="TextBox 591"/>
          <p:cNvSpPr txBox="1"/>
          <p:nvPr/>
        </p:nvSpPr>
        <p:spPr>
          <a:xfrm>
            <a:off x="2999232" y="40416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Last
Month</a:t>
            </a:r>
          </a:p>
        </p:txBody>
      </p:sp>
      <p:sp>
        <p:nvSpPr>
          <p:cNvPr id="593" name="TextBox 592"/>
          <p:cNvSpPr txBox="1"/>
          <p:nvPr/>
        </p:nvSpPr>
        <p:spPr>
          <a:xfrm>
            <a:off x="457200" y="4526280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●</a:t>
            </a:r>
          </a:p>
        </p:txBody>
      </p:sp>
      <p:sp>
        <p:nvSpPr>
          <p:cNvPr id="594" name="TextBox 593"/>
          <p:cNvSpPr txBox="1"/>
          <p:nvPr/>
        </p:nvSpPr>
        <p:spPr>
          <a:xfrm>
            <a:off x="658368" y="452628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Below 0.70 — Critical</a:t>
            </a:r>
          </a:p>
        </p:txBody>
      </p:sp>
      <p:sp>
        <p:nvSpPr>
          <p:cNvPr id="595" name="TextBox 594"/>
          <p:cNvSpPr txBox="1"/>
          <p:nvPr/>
        </p:nvSpPr>
        <p:spPr>
          <a:xfrm>
            <a:off x="457200" y="472744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C000"/>
                </a:solidFill>
              </a:rPr>
              <a:t>●</a:t>
            </a:r>
          </a:p>
        </p:txBody>
      </p:sp>
      <p:sp>
        <p:nvSpPr>
          <p:cNvPr id="596" name="TextBox 595"/>
          <p:cNvSpPr txBox="1"/>
          <p:nvPr/>
        </p:nvSpPr>
        <p:spPr>
          <a:xfrm>
            <a:off x="658368" y="472744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0.70–0.90 — Yellow</a:t>
            </a:r>
          </a:p>
        </p:txBody>
      </p:sp>
      <p:sp>
        <p:nvSpPr>
          <p:cNvPr id="597" name="TextBox 596"/>
          <p:cNvSpPr txBox="1"/>
          <p:nvPr/>
        </p:nvSpPr>
        <p:spPr>
          <a:xfrm>
            <a:off x="457200" y="4928616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8000"/>
                </a:solidFill>
              </a:rPr>
              <a:t>●</a:t>
            </a:r>
          </a:p>
        </p:txBody>
      </p:sp>
      <p:sp>
        <p:nvSpPr>
          <p:cNvPr id="598" name="TextBox 597"/>
          <p:cNvSpPr txBox="1"/>
          <p:nvPr/>
        </p:nvSpPr>
        <p:spPr>
          <a:xfrm>
            <a:off x="658368" y="492861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0.90–1.10 — On Track</a:t>
            </a:r>
          </a:p>
        </p:txBody>
      </p:sp>
      <p:sp>
        <p:nvSpPr>
          <p:cNvPr id="599" name="TextBox 598"/>
          <p:cNvSpPr txBox="1"/>
          <p:nvPr/>
        </p:nvSpPr>
        <p:spPr>
          <a:xfrm>
            <a:off x="457200" y="5129784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33CC"/>
                </a:solidFill>
              </a:rPr>
              <a:t>●</a:t>
            </a:r>
          </a:p>
        </p:txBody>
      </p:sp>
      <p:sp>
        <p:nvSpPr>
          <p:cNvPr id="600" name="TextBox 599"/>
          <p:cNvSpPr txBox="1"/>
          <p:nvPr/>
        </p:nvSpPr>
        <p:spPr>
          <a:xfrm>
            <a:off x="658368" y="512978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Above 1.10 — Ahead</a:t>
            </a:r>
          </a:p>
        </p:txBody>
      </p:sp>
      <p:sp>
        <p:nvSpPr>
          <p:cNvPr id="601" name="TextBox 600"/>
          <p:cNvSpPr txBox="1"/>
          <p:nvPr/>
        </p:nvSpPr>
        <p:spPr>
          <a:xfrm>
            <a:off x="457200" y="5321808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7941D"/>
                </a:solidFill>
              </a:rPr>
              <a:t>━━  Current Month: 0.75  (Orange)</a:t>
            </a:r>
          </a:p>
        </p:txBody>
      </p:sp>
      <p:sp>
        <p:nvSpPr>
          <p:cNvPr id="602" name="TextBox 601"/>
          <p:cNvSpPr txBox="1"/>
          <p:nvPr/>
        </p:nvSpPr>
        <p:spPr>
          <a:xfrm>
            <a:off x="457200" y="553212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╌╌  Last Month: 1.00  (Gray)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Financial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Program Budget: $6,600,000 | Status: ON BUDGET 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2743200" cy="146304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$6,600,000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Total URB
Approved Budget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051560"/>
            <a:ext cx="2743200" cy="146304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1430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$4,437,070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8288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Spent
To Date (67%)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051560"/>
            <a:ext cx="2743200" cy="146304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1430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$2,162,930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8288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Estimate to
Complete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560" y="1051560"/>
            <a:ext cx="2743200" cy="146304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11430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18288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Over /
Under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2697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04040"/>
                </a:solidFill>
              </a:rPr>
              <a:t>Budget Utilization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063240"/>
            <a:ext cx="11612880" cy="41148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3063240"/>
            <a:ext cx="7780629" cy="41148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09067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67% Spent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0906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04040"/>
                </a:solidFill>
              </a:rPr>
              <a:t>33% Remaining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611880"/>
            <a:ext cx="116128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363016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PO #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363016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Supplier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363016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PO Value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59" y="363016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Invoiced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79" y="363016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Remaining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363016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023360"/>
            <a:ext cx="1161288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404164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7000001429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404164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Burns &amp; McDonnell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40416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$137,500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59" y="40416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$49,500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3879" y="40416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$88,000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29800" y="4041648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🟡 Active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361688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437997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7000001415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91640" y="437997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Burns &amp; McDonnell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2040" y="437997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$869,235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59" y="437997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$798,665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83879" y="437997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$70,570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29800" y="4379976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🟡 Active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700016"/>
            <a:ext cx="1161288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0040" y="47183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7000002099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91640" y="471830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Burns &amp; McDonnell (Ph2)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2040" y="47183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$1,370,040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37959" y="47183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$388,740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83879" y="47183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$981,300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800" y="4718304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🟡 Active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5038344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0040" y="5056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7000001857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91640" y="5056631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Nokia of America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92040" y="5056631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$1,899,030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37959" y="5056631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$532,525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83879" y="5056631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$1,366,505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29800" y="5056631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🟡 Active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376672"/>
            <a:ext cx="1161288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0040" y="53949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7000002054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91640" y="5394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Elecnor Hawkeye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92040" y="53949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$402,793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37959" y="53949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$257,619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83879" y="53949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$145,174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29800" y="5394960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🟡 Active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" y="5715000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20040" y="57332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7000001175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691640" y="573328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Nokia of America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92040" y="57332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$190,575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37959" y="57332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$190,575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83879" y="57332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29800" y="5733288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✅ Paid in Full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74320" y="6053328"/>
            <a:ext cx="1161288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20040" y="60716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7000001748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691640" y="607161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Presidio Networked Sol.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92040" y="60716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$40,955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7959" y="60716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$40,955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83879" y="60716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29800" y="6071616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✅ Paid in Full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74320" y="6391656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0040" y="6409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7000001767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691640" y="640994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Graybar Electric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92040" y="64099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$24,759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537959" y="64099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$24,759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83879" y="64099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829800" y="6409944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✅ Paid in Full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Risks &amp; Issues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7941D"/>
                </a:solidFill>
              </a:rPr>
              <a:t>RAG Status | Active Risks &amp; Issues | Mitigations in Place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987552"/>
            <a:ext cx="256032" cy="2560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59" y="98755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</a:rPr>
              <a:t>RED — High Impact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987552"/>
            <a:ext cx="256032" cy="256032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79" y="98755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</a:rPr>
              <a:t>AMBER — Medium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987552"/>
            <a:ext cx="256032" cy="256032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98755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</a:rPr>
              <a:t>GREEN — Low / Resolved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298448"/>
            <a:ext cx="5760720" cy="29260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316736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⚠  RISKS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298448"/>
            <a:ext cx="5669280" cy="29260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316736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🔧  ISSUES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1664208"/>
            <a:ext cx="5760720" cy="1115568"/>
          </a:xfrm>
          <a:prstGeom prst="rect">
            <a:avLst/>
          </a:prstGeom>
          <a:solidFill>
            <a:srgbClr val="FFEBEB"/>
          </a:solidFill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1664208"/>
            <a:ext cx="594360" cy="34747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1700784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170078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Legacy Equipment Fragility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20482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JMUX equipment 25+ yrs old. Faulty connectors, brittle fiber — potential for unplanned outage during Phase 2 cutovers.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39572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3387"/>
                </a:solidFill>
              </a:rPr>
              <a:t>↳ Mitigation: Careful cutover sequencing. B&amp;McD on-site technical support for all Phase 2 cutovers.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852928"/>
            <a:ext cx="5760720" cy="1115568"/>
          </a:xfrm>
          <a:prstGeom prst="rect">
            <a:avLst/>
          </a:prstGeom>
          <a:solidFill>
            <a:srgbClr val="FFEBEB"/>
          </a:solidFill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2852928"/>
            <a:ext cx="594360" cy="34747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2889504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288950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2026 Budget Overrun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3697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Known 2026 ETC of $2.92M exceeds $2.6M budget by $1.17M (-45%). Hawkeye Phase 2 SOW ($632K) and Nokia PO ($753K) are primary drivers.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358444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3387"/>
                </a:solidFill>
              </a:rPr>
              <a:t>↳ Mitigation: Budget augmentation request to CIO. Phase 3 spend timing may be deferred to 2027 to reduce 2026 exposure.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41648"/>
            <a:ext cx="5760720" cy="1115568"/>
          </a:xfrm>
          <a:prstGeom prst="rect">
            <a:avLst/>
          </a:prstGeom>
          <a:solidFill>
            <a:srgbClr val="FFF8E1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" y="4041648"/>
            <a:ext cx="594360" cy="347472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4078224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07822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Phase 2 Schedule Slippage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442569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IFR/IFC design cycle leaves limited buffer. SPI currently at 0.75 (down from 1.00 last month).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477316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3387"/>
                </a:solidFill>
              </a:rPr>
              <a:t>↳ Mitigation: Phase 2 surveys completed early. B&amp;McD running concurrent site designs. Weekly tracking calls.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230368"/>
            <a:ext cx="5760720" cy="1115568"/>
          </a:xfrm>
          <a:prstGeom prst="rect">
            <a:avLst/>
          </a:prstGeom>
          <a:solidFill>
            <a:srgbClr val="FFF8E1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" y="5230368"/>
            <a:ext cx="594360" cy="347472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5266944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26694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Substation Access / Weather Delays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561441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Escort availability, weather, or other site conflicts can delay field work and trigger Hawkeye cost impacts.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596188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3387"/>
                </a:solidFill>
              </a:rPr>
              <a:t>↳ Mitigation: Verify availability weekly before mobilizing. Adjust site sequencing if specific sites are inaccessible.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1664208"/>
            <a:ext cx="5669280" cy="914400"/>
          </a:xfrm>
          <a:prstGeom prst="rect">
            <a:avLst/>
          </a:prstGeom>
          <a:solidFill>
            <a:srgbClr val="FFF8E1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17920" y="1664208"/>
            <a:ext cx="822960" cy="320040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0" y="170078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0" y="1700784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Hicksville Cabling (NSP)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9360" y="201168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Cat 6 cables ordered. Hawkeye completing cabling for Nokia NSP at Hicksville.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2331720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003387"/>
                </a:solidFill>
              </a:rPr>
              <a:t>↳ Target: 3/3/2026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2651760"/>
            <a:ext cx="5669280" cy="914400"/>
          </a:xfrm>
          <a:prstGeom prst="rect">
            <a:avLst/>
          </a:prstGeom>
          <a:solidFill>
            <a:srgbClr val="FFF8E1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17920" y="2651760"/>
            <a:ext cx="822960" cy="320040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26883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32320" y="2688336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OTDR Testing — Hicksville Fiber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0" y="2999232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Low dB levels on fiber at Hicksville. Crown Castle may be the root cause. OTDR testing planned.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0" y="3319272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003387"/>
                </a:solidFill>
              </a:rPr>
              <a:t>↳ Target: 3/3–3/4/2026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17920" y="3639312"/>
            <a:ext cx="5669280" cy="914400"/>
          </a:xfrm>
          <a:prstGeom prst="rect">
            <a:avLst/>
          </a:prstGeom>
          <a:solidFill>
            <a:srgbClr val="FFF8E1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17920" y="3639312"/>
            <a:ext cx="822960" cy="320040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7920" y="367588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32320" y="3675888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Remote Access to Phase 2 Nodes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0" y="3986784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Remote connectivity to NSP nodes at Hicksville &amp; Melville required before router config can begin.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0" y="4306824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003387"/>
                </a:solidFill>
              </a:rPr>
              <a:t>↳ Target: In Progress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4626864"/>
            <a:ext cx="5669280" cy="914400"/>
          </a:xfrm>
          <a:prstGeom prst="rect">
            <a:avLst/>
          </a:prstGeom>
          <a:solidFill>
            <a:srgbClr val="E8F5E9"/>
          </a:solidFill>
          <a:ln w="25400">
            <a:solidFill>
              <a:srgbClr val="009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217920" y="4626864"/>
            <a:ext cx="822960" cy="320040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17920" y="46634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32320" y="4663440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Phase 1 SSP / Security Reviews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0" y="497433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Architecture review, security assessment, and compliance readiness all approved by SSP team.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0" y="5294376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009700"/>
                </a:solidFill>
              </a:rPr>
              <a:t>↳ Target: Completed 2/10/2026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17920" y="5614416"/>
            <a:ext cx="5669280" cy="914400"/>
          </a:xfrm>
          <a:prstGeom prst="rect">
            <a:avLst/>
          </a:prstGeom>
          <a:solidFill>
            <a:srgbClr val="E8F5E9"/>
          </a:solidFill>
          <a:ln w="25400">
            <a:solidFill>
              <a:srgbClr val="009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217920" y="5614416"/>
            <a:ext cx="822960" cy="320040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17920" y="565099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132320" y="5650992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CMDB Inventory Update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596188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CMDB inventory spreadsheet completed and confirmed in database.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0" y="6281928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009700"/>
                </a:solidFill>
              </a:rPr>
              <a:t>↳ Target: Completed 2/24/2026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CIO Actions Required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3 Items for Decision or Awareness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11612880" cy="1691640"/>
          </a:xfrm>
          <a:prstGeom prst="rect">
            <a:avLst/>
          </a:prstGeom>
          <a:solidFill>
            <a:srgbClr val="FFFFFF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051560"/>
            <a:ext cx="594360" cy="16916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645919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1097280"/>
            <a:ext cx="1280160" cy="347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12471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AWARENESS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115568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04040"/>
                </a:solidFill>
              </a:rPr>
              <a:t>Schedule Recovery — Yellow 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52704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Context: Phase 1 experienced a 2.5-week delay due to SSP documentation processing and inclement weather. The SPI stands at 0.75 for February.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1920239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Detail: Recovery plan is in place. Remaining Phase 1 close-out items are remote (no site access required). Phase 2 engineering is running concurrently. Overall program target end date remains July 2027.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35000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</a:rPr>
              <a:t>➤  No action required — for awareness only.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834639"/>
            <a:ext cx="11612880" cy="16916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2834639"/>
            <a:ext cx="594360" cy="169164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428999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2880359"/>
            <a:ext cx="128016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2907791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2898647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04040"/>
                </a:solidFill>
              </a:rPr>
              <a:t>Continue Phase 2 Vendor Engagement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310127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Context: Burns &amp; McDonnell Phase 2 SOW ($1.37M) is active. IFR design has commenced for 36 sites. Nokia equipment delivered to staging. Phase 2 is on track to hit IFC milestones per SOW schedule.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70332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Detail: Confirm continued engagement of B&amp;McD and Elecnor Hawkeye for Phase 2 construction support as design packages are issued.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133087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7"/>
                </a:solidFill>
              </a:rPr>
              <a:t>➤  Approval requested to proceed with Phase 2 construction mobilization once IFC packages are complete (expected Q2 2026).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617720"/>
            <a:ext cx="11612880" cy="169164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4617720"/>
            <a:ext cx="594360" cy="16916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5212080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" y="4663440"/>
            <a:ext cx="1280160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" y="469087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SUPPORT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31720" y="4681728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04040"/>
                </a:solidFill>
              </a:rPr>
              <a:t>Crown Castle Fiber Issue — Hicksville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09320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Context: OTDR testing revealed low dB levels on fiber at Hicksville substation. This may be a Crown Castle infrastructure issue outside PSEG LI's control.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48640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Detail: OTDR testing was scheduled for 3/3–3/4/2026. If confirmed as Crown Castle issue, formal escalation to Crown Castle will be required, which may impact Phase 2 schedule at that site.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591616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0000"/>
                </a:solidFill>
              </a:rPr>
              <a:t>➤  Request CIO support if vendor escalation to Crown Castle is needed to expedite resolution.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Next Steps &amp; Path to Completion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March 2026 — July 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539496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52160" y="1051560"/>
            <a:ext cx="603504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51560"/>
            <a:ext cx="5394960" cy="38404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7899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IMMEDIATE (Next 30 Days)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536192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" y="1591056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159105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Hawkeye completes Cat 6 cabling for NSP at Hicksville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103120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" y="2157984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3–4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15798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OTDR testing at Hicksville — resolve Crown Castle fiber issue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670048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" y="2724912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272491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Remote router configuration begins (Layer 1-3 setup)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236976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3291840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29184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B&amp;McD continues Wave 1 IFR submissions (Far Rockaway, Valley Stream, Cedarhurst)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803904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" y="3858768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385876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PSEG LI review window opens for Wave 1 IFR packages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370832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328" y="4425696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442569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Wave 1 IFC target completion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937759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328" y="4992623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Ongoing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20" y="4992623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Weekly status calls with B&amp;McD; monthly schedule updates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1051560"/>
            <a:ext cx="6035040" cy="38404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1078992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PATH TO COMPLETION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97880" y="1536192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97880" y="1536192"/>
            <a:ext cx="1371600" cy="5669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16168" y="1645919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Q1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0920" y="1645919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1 close-out &amp; Phase 2 IFR design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97880" y="2194560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897880" y="2194560"/>
            <a:ext cx="1371600" cy="5669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16168" y="2304288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Q2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0920" y="2304288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2 IFC completion (all 36 sites)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97880" y="2852928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897880" y="2852928"/>
            <a:ext cx="1371600" cy="56692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16168" y="2962656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Q2–Q3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60920" y="2962656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2 construction mobilization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97880" y="3511296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897880" y="3511296"/>
            <a:ext cx="1371600" cy="56692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16168" y="3621024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Q3–Q4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60920" y="3621024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2 installations at all 36 sites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97880" y="4169663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897880" y="4169663"/>
            <a:ext cx="1371600" cy="56692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16168" y="4279392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Q4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4279392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2 cutovers — Waves 3 &amp; 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97880" y="4828031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897880" y="4828031"/>
            <a:ext cx="1371600" cy="56692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16168" y="4937759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Q1 2027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60920" y="4937759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As-built documentation complete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97880" y="5486400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897880" y="5486400"/>
            <a:ext cx="1371600" cy="56692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16168" y="5596128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Jul 2027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60920" y="5596128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🏁  Program Complete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Goals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JMUX Replacement: Private Field Area 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11612880" cy="530352"/>
          </a:xfrm>
          <a:prstGeom prst="rect">
            <a:avLst/>
          </a:prstGeom>
          <a:solidFill>
            <a:srgbClr val="F2F2F2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42415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3387"/>
                </a:solidFill>
              </a:rPr>
              <a:t>Modernize PSEG LI's substation communications by replacing legacy JMUX with MPLS nodes to deliver a reliable, scalable, and future-ready network.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645920"/>
            <a:ext cx="3749039" cy="43891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73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🔧  Engineering Services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084831"/>
            <a:ext cx="3749039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" y="2203704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148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Detailed site surveys at all substations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583180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2831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Rack elevations, power design &amp; supplemental docs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962656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9077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As-builts for each completed site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342132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2872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All substations aligned to PSEG LI standards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3721607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66674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As-Builts: BMcD in progress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4101083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0462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2 surveys: Completed during Phase 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" y="4480559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42569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2 IFRs: Being issued by BMcD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4860036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80517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2 IFCs: In progress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6240" y="1645920"/>
            <a:ext cx="3749039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97679" y="1673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📦  Procurement &amp; Staging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0" y="2084831"/>
            <a:ext cx="3749039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15968" y="2203704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2148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All Phase 1 equipment purchased by PSEG LI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15968" y="2583180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0" y="252831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Equipment shipped &amp; delivered to Hawkeye staging facility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15968" y="2962656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0" y="29077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staging completed: Sept 29, 2025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5968" y="3342132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32872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Nokia Phase 2 equipment delivered: Feb 19, 2026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5968" y="3721607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0" y="366674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Equipment safely stored at Hawkeye warehouse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38160" y="1645920"/>
            <a:ext cx="3749039" cy="43891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0" y="1673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🏗  Construction &amp; Installation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38160" y="2084831"/>
            <a:ext cx="3749039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247888" y="2203704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03920" y="2148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BMcD on-site coordination throughout Phase 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47888" y="2583180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03920" y="252831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Technical support &amp; commissioning oversight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47888" y="2962656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03920" y="29077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31/31 Phase 1 sites installed &amp; commissioned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47888" y="3342132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03920" y="32872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SSP documentation: Submitted &amp; approved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47888" y="3721607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03920" y="366674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Remote connectivity to nodes: In progress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47888" y="4101083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03920" y="40462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2 construction: Pending IFC completion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5394960"/>
            <a:ext cx="116128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542239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PROGRAM SCOPE SUMMARY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" y="5422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Phase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91640" y="5422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Total Substations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03320" y="542239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MPLS Sites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40680" y="542239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DF RTU Sites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78040" y="542239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Radio Shelter Sites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81160" y="542239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Nokia MPLS Nodes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5779008"/>
            <a:ext cx="11612880" cy="301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0040" y="581558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Phase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91640" y="581558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49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703320" y="581558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40680" y="581558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17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78040" y="581558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81160" y="581558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31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4320" y="6099048"/>
            <a:ext cx="1161288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20040" y="613562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Phase 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691640" y="613562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45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703320" y="613562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40680" y="613562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12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78040" y="613562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281160" y="613562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26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" y="6419088"/>
            <a:ext cx="11612880" cy="301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20040" y="645566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Phase 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91640" y="645566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703320" y="645566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40680" y="645566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78040" y="645566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281160" y="645566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74320" y="6739128"/>
            <a:ext cx="11612880" cy="301752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20040" y="677570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TOTAL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91640" y="677570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129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703320" y="677570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74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40680" y="677570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36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78040" y="677570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19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81160" y="677570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2026 Financial Exposure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7941D"/>
                </a:solidFill>
              </a:rPr>
              <a:t>Full picture including Hawkeye Phase 2 SOW ($632K) — Updated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2743200" cy="109728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$2,600,000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002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2026 Capital Budget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18688" y="1005840"/>
            <a:ext cx="2743200" cy="109728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05156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$851,055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16002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Spent to Date (33%)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63056" y="1005840"/>
            <a:ext cx="2743200" cy="10972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105156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$2,921,137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4496" y="16002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Total ETC (Known)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07424" y="1005840"/>
            <a:ext cx="2743200" cy="10972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4" y="105156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-$1,172,192
(-45%)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8864" y="16002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2026 Projected 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22402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2026 Budget Utilization &amp; Exposure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542032"/>
            <a:ext cx="1161288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2542032"/>
            <a:ext cx="3801230" cy="34747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75550" y="2542032"/>
            <a:ext cx="7811649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2578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▲ Spent: $851K (33%)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257860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▲ ETC: $2.92M — EXCEEDS BUDGET by $1.17M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87200" y="2450592"/>
            <a:ext cx="27432" cy="5303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521440" y="24231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7941D"/>
                </a:solidFill>
              </a:rPr>
              <a:t>Budget
$2.6M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999232"/>
            <a:ext cx="6492240" cy="32918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3017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⚠  2026 COST DRIVERS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364992"/>
            <a:ext cx="6492240" cy="374904"/>
          </a:xfrm>
          <a:prstGeom prst="rect">
            <a:avLst/>
          </a:prstGeom>
          <a:solidFill>
            <a:srgbClr val="FFE0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340156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Burns &amp; McDonnell Phase 2 SOW (reduced)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80" y="340156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00000"/>
                </a:solidFill>
              </a:rPr>
              <a:t>$859,520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767328"/>
            <a:ext cx="6492240" cy="374904"/>
          </a:xfrm>
          <a:prstGeom prst="rect">
            <a:avLst/>
          </a:prstGeom>
          <a:solidFill>
            <a:srgbClr val="FFE0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039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Burns &amp; McDonnell Phase 3 (2026 portion)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0" y="3803904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00000"/>
                </a:solidFill>
              </a:rPr>
              <a:t>$588,011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169664"/>
            <a:ext cx="6492240" cy="374904"/>
          </a:xfrm>
          <a:prstGeom prst="rect">
            <a:avLst/>
          </a:prstGeom>
          <a:solidFill>
            <a:srgbClr val="FFE0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20624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Nokia PO 7000001857 (added March 2026)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2062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00000"/>
                </a:solidFill>
              </a:rPr>
              <a:t>$753,000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572000"/>
            <a:ext cx="6492240" cy="374904"/>
          </a:xfrm>
          <a:prstGeom prst="rect">
            <a:avLst/>
          </a:prstGeom>
          <a:solidFill>
            <a:srgbClr val="FFE0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46085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Hawkeye Phase 2 Construction (36 sites)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0" y="4608576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00000"/>
                </a:solidFill>
              </a:rPr>
              <a:t>$632,303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974336"/>
            <a:ext cx="6492240" cy="374904"/>
          </a:xfrm>
          <a:prstGeom prst="rect">
            <a:avLst/>
          </a:prstGeom>
          <a:solidFill>
            <a:srgbClr val="FFF8D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501091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Outstanding WDs (WD8-13)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2080" y="501091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</a:rPr>
              <a:t>$88,303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5376672"/>
            <a:ext cx="649224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4132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12080" y="541324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</a:rPr>
              <a:t/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5779008"/>
            <a:ext cx="6492240" cy="374904"/>
          </a:xfrm>
          <a:prstGeom prst="rect">
            <a:avLst/>
          </a:prstGeom>
          <a:solidFill>
            <a:srgbClr val="C0000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58155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TOTAL KNOWN ETC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15584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$2,921,137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49440" y="2999232"/>
            <a:ext cx="4937760" cy="329184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40880" y="30175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📅  HAWKEYE PH2 MILESTONE SCHEDULE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9440" y="3364992"/>
            <a:ext cx="4937760" cy="37490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40880" y="340156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WD #8–13 Outstanding WDs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340156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In Progress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41280" y="3401568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$88,303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9440" y="3767328"/>
            <a:ext cx="49377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40880" y="380390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M1 Services &amp; Deliverables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35440" y="380390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3/30/2026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41280" y="3803904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$99,000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9440" y="4169664"/>
            <a:ext cx="4937760" cy="37490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40880" y="420624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M2 Services &amp; Deliverables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35440" y="420624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4/30/2026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41280" y="420624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$89,000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9440" y="4572000"/>
            <a:ext cx="49377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40880" y="4608576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M3 Services &amp; Deliverables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235440" y="460857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5/30/2026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41280" y="4608576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$89,000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9440" y="4974336"/>
            <a:ext cx="4937760" cy="37490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40880" y="501091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M3 Services &amp; Deliverables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35440" y="501091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6/30/2026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241280" y="501091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$89,000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949440" y="5376672"/>
            <a:ext cx="49377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40880" y="541324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M4 Services &amp; Deliverables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35440" y="541324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8/30/2026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41280" y="5413248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$89,000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949440" y="5779008"/>
            <a:ext cx="4937760" cy="37490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040880" y="581558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M5 Decommission Phase 2 Equip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35440" y="581558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TBD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241280" y="5815584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$89,000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949440" y="6181344"/>
            <a:ext cx="4937760" cy="374904"/>
          </a:xfrm>
          <a:prstGeom prst="rect">
            <a:avLst/>
          </a:prstGeom>
          <a:solidFill>
            <a:srgbClr val="00338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040880" y="621792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35440" y="62179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241280" y="621792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$632,303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6400800"/>
            <a:ext cx="11612880" cy="164592"/>
          </a:xfrm>
          <a:prstGeom prst="rect">
            <a:avLst/>
          </a:prstGeom>
          <a:solidFill>
            <a:srgbClr val="FFF8D0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65760" y="6400800"/>
            <a:ext cx="11430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4040"/>
                </a:solidFill>
              </a:rPr>
              <a:t>⚠  Note: 2026 ETC of $2.92M exceeds remaining budget of $1.75M by $1.17M. CIO approval required for budget augmentation. Phase 3 2026 exposure ($588K) pending confirmation.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Phase 2 &amp; 3 Master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F7941D"/>
                </a:solidFill>
              </a:rPr>
              <a:t>Burns &amp; McDonnell | Live MPP Data | As of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005840"/>
            <a:ext cx="8641080" cy="237744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5584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Jan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306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Feb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5478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Mar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750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Apr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8922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2472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May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0644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194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Jun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2366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5916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Jul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79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7638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Aug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5810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Sep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19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1082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Oct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9254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2804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Nov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526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Dec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2698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76248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Jan 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74420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7970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Feb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36142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64153" y="1005840"/>
            <a:ext cx="20116" cy="544068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99561" y="941832"/>
            <a:ext cx="5943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7941D"/>
                </a:solidFill>
              </a:rPr>
              <a:t>▼TODAY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" y="1572768"/>
            <a:ext cx="11978640" cy="226771"/>
          </a:xfrm>
          <a:prstGeom prst="rect">
            <a:avLst/>
          </a:prstGeom>
          <a:solidFill>
            <a:srgbClr val="E3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1604772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003387"/>
                </a:solidFill>
              </a:rPr>
              <a:t>PHASE 2 — Engineering &amp; Construction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0574" y="1623060"/>
            <a:ext cx="11168188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0574" y="1623060"/>
            <a:ext cx="1005136" cy="149047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8006" y="1623060"/>
            <a:ext cx="1005136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" y="1813255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7160" y="1845259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PO Received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0574" y="1863547"/>
            <a:ext cx="36576" cy="149047"/>
          </a:xfrm>
          <a:prstGeom prst="rect">
            <a:avLst/>
          </a:prstGeom>
          <a:solidFill>
            <a:srgbClr val="64F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0574" y="1863547"/>
            <a:ext cx="36576" cy="149047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8006" y="1863547"/>
            <a:ext cx="36576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" y="2053742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7160" y="2085746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Construction Support Coordinator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421848" y="2104034"/>
            <a:ext cx="3770282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421848" y="2104034"/>
            <a:ext cx="2827711" cy="149047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449280" y="2104034"/>
            <a:ext cx="2827711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75%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" y="2294229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7160" y="2326233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Site Surveys (Ph2 — 36 sites)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707167" y="2344521"/>
            <a:ext cx="1222794" cy="149047"/>
          </a:xfrm>
          <a:prstGeom prst="rect">
            <a:avLst/>
          </a:prstGeom>
          <a:solidFill>
            <a:srgbClr val="64F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07167" y="2344521"/>
            <a:ext cx="1222794" cy="149047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734599" y="2344521"/>
            <a:ext cx="1222794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" y="2534716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7160" y="2566720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MPLS Node Design (all 36 sites)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47057" y="2585008"/>
            <a:ext cx="3749902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847057" y="2585008"/>
            <a:ext cx="149996" cy="149047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874489" y="2585008"/>
            <a:ext cx="149996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4%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" y="2775204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37160" y="2807208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1: Far Rockaway/Valley Stm/Cedarhurst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867437" y="2825496"/>
            <a:ext cx="1120894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867437" y="2825496"/>
            <a:ext cx="560447" cy="149047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894869" y="2825496"/>
            <a:ext cx="560447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50%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" y="3015691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37160" y="3047695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2: Hewlett / Green Acres / Barrett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95415" y="3065983"/>
            <a:ext cx="1406213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440" y="3256178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37160" y="3288182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3: Whiteside/Baldwin/Hauppauge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51371" y="3306470"/>
            <a:ext cx="1569252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1440" y="3496665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37160" y="3528669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4: Babylon/Sterling/MacArthur/Sayvill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64668" y="3546957"/>
            <a:ext cx="1304313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1440" y="3737152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37160" y="3769156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5: Bayport/S.Farmingdale/Patchogue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49986" y="3787444"/>
            <a:ext cx="1446973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" y="3977639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37160" y="4009644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DO Offices / Hicksville / Ruland / ACC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49986" y="4027931"/>
            <a:ext cx="1446973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1440" y="4218127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37160" y="4250131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Staging &amp; Testing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617340" y="4268419"/>
            <a:ext cx="264938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1440" y="4458614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37160" y="4490618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Construction &amp; Installation (Hawkeye)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902658" y="4508906"/>
            <a:ext cx="957855" cy="149047"/>
          </a:xfrm>
          <a:prstGeom prst="rect">
            <a:avLst/>
          </a:prstGeom>
          <a:solidFill>
            <a:srgbClr val="FF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1440" y="4699101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37160" y="4731105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Site Acceptance Testing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880894" y="4749393"/>
            <a:ext cx="40759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1440" y="4939588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37160" y="4971592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Cutover (Phase 2)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982793" y="4989880"/>
            <a:ext cx="2465968" cy="149047"/>
          </a:xfrm>
          <a:prstGeom prst="rect">
            <a:avLst/>
          </a:prstGeom>
          <a:solidFill>
            <a:srgbClr val="FF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1440" y="5180076"/>
            <a:ext cx="11978640" cy="226771"/>
          </a:xfrm>
          <a:prstGeom prst="rect">
            <a:avLst/>
          </a:prstGeom>
          <a:solidFill>
            <a:srgbClr val="E3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37160" y="5212080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003387"/>
                </a:solidFill>
              </a:rPr>
              <a:t>PHASE 3 — Engineering Design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414925" y="5230368"/>
            <a:ext cx="3892561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91440" y="5420563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37160" y="5452567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PO Received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414925" y="5470855"/>
            <a:ext cx="36576" cy="149047"/>
          </a:xfrm>
          <a:prstGeom prst="rect">
            <a:avLst/>
          </a:prstGeom>
          <a:solidFill>
            <a:srgbClr val="64F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1440" y="5661050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37160" y="5693054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Site Surveys (Phase 3 — 35 sites)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435305" y="5711342"/>
            <a:ext cx="1569252" cy="149047"/>
          </a:xfrm>
          <a:prstGeom prst="rect">
            <a:avLst/>
          </a:prstGeom>
          <a:solidFill>
            <a:srgbClr val="FFF8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440" y="5901537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37160" y="5933541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MPLS Node Design (Phase 3)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577965" y="5951829"/>
            <a:ext cx="3729522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1440" y="6196888"/>
            <a:ext cx="11978640" cy="2011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2860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009700"/>
                </a:solidFill>
              </a:rPr>
              <a:t>■ Complete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0604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BF00"/>
                </a:solidFill>
              </a:rPr>
              <a:t>■ In Progress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98348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003387"/>
                </a:solidFill>
              </a:rPr>
              <a:t>■ Planned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36092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</a:rPr>
              <a:t>■ Construction/Cutover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73836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7941D"/>
                </a:solidFill>
              </a:rPr>
              <a:t>▼ Today 3/12/26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