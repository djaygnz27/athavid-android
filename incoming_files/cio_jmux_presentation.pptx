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7941D"/>
                </a:solidFill>
              </a:rPr>
              <a:t>CIO Briefing | Phase 1 Complete · Phase 2 Underway · Path to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PRJ13797  |  Program Manager: Dhananjaya Gunaratne  |  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PSEG Long Island  |  IT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7941D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 Program —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✅  Phase 1
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31 substations cutover to MPLS
All Wave 1 &amp; Wave 2 cutovers done
NSP installed at Melville &amp; Hicksville
SSP &amp; CMDB documentation approved
Minor close-outs in progress (Hicksville cabling, OTDR)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097280"/>
            <a:ext cx="36576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🟡  Phase 2
IN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36-site engineering design underway
Site surveys completed during Phase 1
Burns &amp; McDonnell issuing IFRs &amp; IFCs
Nokia Phase 2 equipment delivered 2/19
Schedule: Yellow (2.5-wk delay, recovering)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097280"/>
            <a:ext cx="3657600" cy="5029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📋  CIO Actions
REQUIRED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Awareness: Schedule is yellow, recovery plan in place
Approval: Confirm Phase 2 vendor engagement continues
Decision: Resource support for SSP/security reviews
Support: Crown Castle fiber issue at Hicksville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31 Substations |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749807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005840"/>
            <a:ext cx="39319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7498079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5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ACCOMPLISHMENTS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0876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9047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All 31 substation sites installed &amp; commissioned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47672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2938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1 cutover (12/8–12/18/25) — non-tie sites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38658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6829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2 cutover (1/6–1/8/26) — tie sites 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2549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0720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CWDM cutover complete at Hicksville &amp; ACC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6440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Nokia NSP racked &amp; powered at Melville &amp; Hicksville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70332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8503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Staging completed at Hawkeye Warehouse — 9/29/25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42231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2394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SSP documentation approved by security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58114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6285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CMDB inventory updated &amp; confirmed — 2/24/26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02005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0176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site surveys completed during Phase 1 (ahead of schedule)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5896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 additional nodes added to complete Ring 1 &amp; Ring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1005840"/>
            <a:ext cx="3931920" cy="4114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042415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1 AT A GLANCE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15087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5270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31 / 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185623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Sites Complete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28600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30428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Cutover 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06323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308152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41071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Network Rings Closed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84047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85876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Sept 2025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41879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Staging Complete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1000" y="461772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63600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Jan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9651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Final Cutover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01000" y="53949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0" y="54132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$4.44M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5742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Spent to 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36 Sites | Engineering Design Underway | Burns &amp; McDonnell SOW: $1.37M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Site 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79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9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Equip.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9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IFR Design (B&amp;McD)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199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1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IFC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0412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Cutover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69164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17099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7099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Contract 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17099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17099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103120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214883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214883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8/22/2025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214883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14883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$57,300 paid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761487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2807207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Construction Coordinator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2807207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 2025–Jan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2807207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2807207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$368,100 — monthly invoiced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419856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3465575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Substation Site Surveys (Phase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3465575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2/27/2026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465575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3465575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Completed during Phase 1 — ahead of schedule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78224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123944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4123944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2/23/26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4123944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🟡 In Progress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4123944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issuing IFRs; PSEG LI review 2-wk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736592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4782312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77639" y="4782312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3/23/26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47823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Upcoming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8120" y="4782312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IFC follows PSEG LI review &amp; comment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394959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44067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Construction &amp; Installation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77639" y="544067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Aug–Dec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44067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Not Started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544067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Pending IFC completion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Overall: 🟡 Yellow | Recovery Plan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3035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1005840"/>
            <a:ext cx="61264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5303520" cy="4114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Root Causes: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SSP documentation delays (security review queue)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CMDB update coordination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690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Inclement weather affecting field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Crown Castle fiber issue at Hicksville (OTDR testing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7"/>
                </a:solidFill>
              </a:rPr>
              <a:t>Recovery Actions: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approvals received. Remaining Phase 1 close-out is remote configuration — no physical site access needed. Phase 2 IFR/IFC design on track.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005840"/>
            <a:ext cx="6126480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1033271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508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490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Apr 2024  —  Project Start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1965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947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2024  —  RFP Award &amp; SOW Executed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4231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Jan 2025  —  Phase 1 Detailed Design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8803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862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Sep 2025  —  Staging Complete (Hawkeye)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3375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319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2025  —  Phase 1 Construction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3794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Dec 2025 – Jan 2026  —  Wave 1 &amp; 2 Cutovers 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251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233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Feb 2026  —  Nokia Phase 2 Equipment Delivered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4709160"/>
            <a:ext cx="182880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690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</a:rPr>
              <a:t>Mar 2026  —  Phase 2 IFR Design in Progress  ◀ NOW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51663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5148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Mar–Jul 2026  —  Phase 2 IFC Design &amp;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06440" y="56235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05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Aug–Dec 2026  —  Phase 2 Construction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60807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6062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Jul 2027  —  Program Completion (Target)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1463040"/>
            <a:ext cx="52120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1463040"/>
            <a:ext cx="5212080" cy="36576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149047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48" name="Oval 47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333847" y="249140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315476" y="24597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297105" y="24281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278734" y="23965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60364" y="23648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41993" y="2333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223622" y="23016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283396" y="25225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63315" y="24920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243234" y="24614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23153" y="24308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203072" y="24003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182991" y="236974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162910" y="23391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34736" y="255651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213005" y="252709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191274" y="24976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169544" y="2468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147813" y="243882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126083" y="240940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104352" y="23799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188012" y="25930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164698" y="2564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141383" y="2536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118069" y="250850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094754" y="24803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071440" y="24521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48126" y="2423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143367" y="263209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18539" y="260524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093711" y="25783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068883" y="25515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044056" y="252466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019228" y="24978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994400" y="247094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100935" y="26735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074669" y="26480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048403" y="262263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22136" y="25971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995870" y="25717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969604" y="25462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943338" y="25208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060844" y="27172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033219" y="26932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005594" y="26693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77969" y="264534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950344" y="26213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922719" y="259739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895093" y="25734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023217" y="27631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994316" y="27406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965415" y="2718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936514" y="26958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907614" y="267343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878713" y="26510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849812" y="262860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88165" y="281095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958076" y="279015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27987" y="276936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97898" y="274856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67809" y="27277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837720" y="27069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807632" y="2686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955796" y="28606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24609" y="284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893423" y="282243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862237" y="28033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831051" y="27842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99865" y="27651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68679" y="274599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926206" y="29120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894017" y="289469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61828" y="28773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829639" y="2859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7449" y="28425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765260" y="282522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733071" y="280785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899486" y="296501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866391" y="29494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3296" y="2933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800201" y="29182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67107" y="290272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734012" y="28871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700917" y="28715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75717" y="30193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841816" y="300562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7915" y="29918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774015" y="297816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740114" y="296443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706213" y="29507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72312" y="2936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54969" y="30749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820365" y="30630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785761" y="30512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751157" y="30393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716553" y="30275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81949" y="3015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47345" y="30038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837306" y="313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802103" y="31216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766900" y="31116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731698" y="31017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696495" y="30918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61292" y="308190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26089" y="30719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822781" y="31890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787086" y="318107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751391" y="31730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715696" y="31651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680001" y="3157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305" y="314915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8610" y="3141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811438" y="32472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775359" y="324126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739279" y="32352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03199" y="322925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667120" y="3223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1040" y="32172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594960" y="32112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03312" y="33060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766956" y="330201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730601" y="32979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694246" y="32939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657891" y="3289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21536" y="32859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85181" y="32819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798426" y="3365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761905" y="33631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725384" y="33611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688864" y="335910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652343" y="335709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15822" y="33550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79301" y="335307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79679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76022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723644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687068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50492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61391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57734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640413" y="237142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632434" y="233572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624455" y="2300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616476" y="22643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608497" y="222864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600519" y="219294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592540" y="215725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574758" y="23882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564554" y="235315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554350" y="2318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544145" y="228290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533941" y="224778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523736" y="22126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513532" y="21775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510292" y="240922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497902" y="237481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485513" y="234039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473123" y="230598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460733" y="22715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448344" y="223715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435954" y="22027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447268" y="24341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432742" y="240061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418216" y="236704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403690" y="233347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389164" y="229990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74638" y="22663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360112" y="223277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988573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992396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996219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000043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3003866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3007689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3011512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932258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934172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936086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938000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939915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941829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943743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75788" y="234543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75788" y="230886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75788" y="227228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75788" y="223570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75788" y="219913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875788" y="216255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875788" y="212597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819317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817403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815489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813575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811660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809746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807832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63002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59179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55356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51532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47709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743886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740063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395478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399135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027932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064508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101084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13766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17423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3953185" y="33657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3989707" y="33638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026229" y="33618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062751" y="33598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099273" y="33578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135795" y="33558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172317" y="3353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3948406" y="330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3984766" y="330335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021126" y="32993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057486" y="32954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093845" y="32914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4130205" y="32874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166565" y="32835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940456" y="324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976547" y="32432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4012637" y="323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4048728" y="32313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4084818" y="32254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4120908" y="32195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156999" y="3213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929360" y="319159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965074" y="318370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000788" y="31758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036503" y="31679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072217" y="3160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107931" y="315213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143645" y="31442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915149" y="31346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950382" y="31248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985614" y="31150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020847" y="310521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4056079" y="30953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091312" y="308557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4126545" y="30757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97866" y="30786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932513" y="30669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967160" y="30551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001806" y="3043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036453" y="303173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4071100" y="30200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4105747" y="30082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77562" y="30235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911521" y="30100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945479" y="29964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79438" y="29828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013396" y="2969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4047355" y="29556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4081313" y="294206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54298" y="29697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87468" y="29543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920637" y="29389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53807" y="29235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86977" y="290808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20147" y="289267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053317" y="28772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828141" y="29172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60424" y="29000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92707" y="28828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924990" y="28656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57273" y="2848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989556" y="283126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021840" y="28140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99169" y="28662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30470" y="28473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61771" y="28283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93072" y="28094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24373" y="27905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955674" y="27716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986975" y="2752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67467" y="28168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7694" y="27962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7920" y="27756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58147" y="27550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88373" y="273448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918600" y="27138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948826" y="26932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33130" y="27693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62193" y="27470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791255" y="27248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20318" y="27026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49380" y="26804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878443" y="26582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907505" y="26360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696259" y="27236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24072" y="26999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51885" y="26761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779697" y="265241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07510" y="2628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835322" y="26049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863135" y="25811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56963" y="26801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683444" y="26548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09924" y="26296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36405" y="26044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762885" y="257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789366" y="25539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815847" y="25287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15358" y="26387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640428" y="26121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665499" y="25855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690569" y="25588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715639" y="2532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740709" y="25056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765779" y="24789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571567" y="25997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595153" y="25717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618739" y="25438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642324" y="25158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65910" y="24879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689496" y="24599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713082" y="24320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525719" y="25631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547751" y="25339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569783" y="250475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591814" y="247555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613846" y="24463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635877" y="24171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657909" y="2387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77951" y="25290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498363" y="24987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518775" y="24683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539188" y="24380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559600" y="240769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80012" y="23773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600425" y="23469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428402" y="2497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47135" y="24662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465867" y="2434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484600" y="24034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503333" y="23720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522066" y="23406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540798" y="23092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377220" y="2469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394218" y="24366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411216" y="240425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428213" y="23718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445211" y="23394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62209" y="230709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79206" y="22747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324556" y="24431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339768" y="24099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354981" y="237666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370193" y="23434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385406" y="23101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0618" y="22768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15831" y="224361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270565" y="24202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283948" y="23862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297330" y="235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310712" y="231812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324095" y="22840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37477" y="22500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50859" y="22160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215408" y="24002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226921" y="2365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238433" y="233084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249946" y="22961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261458" y="226141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272971" y="22266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284483" y="219197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59247" y="238333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68855" y="23480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78464" y="23127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88073" y="22774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97682" y="224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07291" y="22068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216899" y="217158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02248" y="2369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09924" y="23337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17601" y="229794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5277" y="22621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32954" y="222642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140631" y="2190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148307" y="21549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91566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86537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81508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76479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714500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6642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16139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5636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5133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1170432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0.00</a:t>
            </a:r>
          </a:p>
        </p:txBody>
      </p:sp>
      <p:sp>
        <p:nvSpPr>
          <p:cNvPr id="485" name="Oval 484"/>
          <p:cNvSpPr/>
          <p:nvPr/>
        </p:nvSpPr>
        <p:spPr>
          <a:xfrm>
            <a:off x="2204915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2169353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2133791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2098229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2062668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2027106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991544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955982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920420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1631085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0.50</a:t>
            </a:r>
          </a:p>
        </p:txBody>
      </p:sp>
      <p:sp>
        <p:nvSpPr>
          <p:cNvPr id="495" name="Oval 494"/>
          <p:cNvSpPr/>
          <p:nvPr/>
        </p:nvSpPr>
        <p:spPr>
          <a:xfrm>
            <a:off x="2525300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2506054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2486808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2467562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2448316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2429070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2409824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2390578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2371332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TextBox 503"/>
          <p:cNvSpPr txBox="1"/>
          <p:nvPr/>
        </p:nvSpPr>
        <p:spPr>
          <a:xfrm>
            <a:off x="2141327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0.75</a:t>
            </a:r>
          </a:p>
        </p:txBody>
      </p:sp>
      <p:sp>
        <p:nvSpPr>
          <p:cNvPr id="505" name="Oval 504"/>
          <p:cNvSpPr/>
          <p:nvPr/>
        </p:nvSpPr>
        <p:spPr>
          <a:xfrm>
            <a:off x="2903220" y="2464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2903220" y="241401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2903220" y="236372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03220" y="231343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2903220" y="226314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2903220" y="221284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2903220" y="216255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2903220" y="211226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2903220" y="206197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2743200" y="179222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15" name="Oval 514"/>
          <p:cNvSpPr/>
          <p:nvPr/>
        </p:nvSpPr>
        <p:spPr>
          <a:xfrm>
            <a:off x="3281139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3300385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3319631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3338877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3358123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3377369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396615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3415861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3435107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3345072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1.25</a:t>
            </a:r>
          </a:p>
        </p:txBody>
      </p:sp>
      <p:sp>
        <p:nvSpPr>
          <p:cNvPr id="525" name="Oval 524"/>
          <p:cNvSpPr/>
          <p:nvPr/>
        </p:nvSpPr>
        <p:spPr>
          <a:xfrm>
            <a:off x="3601524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3637086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3672648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3708210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3743771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3779333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3814895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3850457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3886019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TextBox 533"/>
          <p:cNvSpPr txBox="1"/>
          <p:nvPr/>
        </p:nvSpPr>
        <p:spPr>
          <a:xfrm>
            <a:off x="3855314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1.50</a:t>
            </a:r>
          </a:p>
        </p:txBody>
      </p:sp>
      <p:sp>
        <p:nvSpPr>
          <p:cNvPr id="535" name="Oval 534"/>
          <p:cNvSpPr/>
          <p:nvPr/>
        </p:nvSpPr>
        <p:spPr>
          <a:xfrm>
            <a:off x="389077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941063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399135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04164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4091939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41422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41925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42428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42931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TextBox 543"/>
          <p:cNvSpPr txBox="1"/>
          <p:nvPr/>
        </p:nvSpPr>
        <p:spPr>
          <a:xfrm>
            <a:off x="4315968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2.00</a:t>
            </a:r>
          </a:p>
        </p:txBody>
      </p:sp>
      <p:sp>
        <p:nvSpPr>
          <p:cNvPr id="545" name="Oval 544"/>
          <p:cNvSpPr/>
          <p:nvPr/>
        </p:nvSpPr>
        <p:spPr>
          <a:xfrm>
            <a:off x="2889504" y="343814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2874807" y="340266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860110" y="336718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2845413" y="333169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830716" y="329621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2816019" y="3260736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2801322" y="322525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2786625" y="318977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771928" y="315429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2757232" y="311881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2742535" y="308332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2727838" y="304784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713141" y="301236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698444" y="297688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683747" y="294140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669050" y="290592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654353" y="287044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639657" y="2834960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624960" y="279947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610263" y="276399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2595566" y="272851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2580869" y="269303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579888" y="2671269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565191" y="2635787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550494" y="2600306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535797" y="2564824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898648" y="3408883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898648" y="337047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898648" y="32936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898648" y="325526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2898648" y="317845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2898648" y="3140049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2898648" y="306324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898648" y="302483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2898648" y="294802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2898648" y="290962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2898648" y="2832811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2898648" y="279440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898648" y="271759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898648" y="267919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898648" y="260238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898648" y="2563977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2898648" y="24871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834640" y="3383279"/>
            <a:ext cx="182880" cy="1828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242316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590" name="TextBox 589"/>
          <p:cNvSpPr txBox="1"/>
          <p:nvPr/>
        </p:nvSpPr>
        <p:spPr>
          <a:xfrm>
            <a:off x="2395728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01752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2999232" y="40416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Last
Month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452628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58368" y="452628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Below 0.70 — Critical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457200" y="472744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●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658368" y="472744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0.70–0.90 — Yellow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457200" y="492861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●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658368" y="492861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0.90–1.10 — On Track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457200" y="5129784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CC"/>
                </a:solidFill>
              </a:rPr>
              <a:t>●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658368" y="51297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Above 1.10 — Ahead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57200" y="532180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7941D"/>
                </a:solidFill>
              </a:rPr>
              <a:t>━━  Current Month: 0.75  (Orange)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57200" y="55321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╌╌  Last Month: 1.00  (Gray)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Program Budget: $6,600,000 | Status: ON BUDGET 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743200" cy="14630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URB
Approved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$4,437,070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Spent
To Date (67%)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051560"/>
            <a:ext cx="2743200" cy="14630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$2,162,930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Estimate to
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 /
Under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Budget Utilization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63240"/>
            <a:ext cx="11612880" cy="41148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063240"/>
            <a:ext cx="7780629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9067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67% Spent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906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33% Remaining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1188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630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#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6301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630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023360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0416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0416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$137,500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$49,500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$88,000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04164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61688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43799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43799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$869,235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5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$798,665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$70,570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437997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700016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7183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" y="4718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 (Ph2)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$1,370,040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5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$388,740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$981,300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471830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38344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5056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7000001857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50566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$1,899,030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5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$532,525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$1,366,505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5056631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76672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949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9164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Elecnor Hawkeye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$402,793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3795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$257,619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7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$145,174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539496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715000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57332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7000001175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91640" y="5733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2040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5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9800" y="573328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6053328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071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91640" y="60716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Presidio Networked Sol.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2040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29800" y="607161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6391656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40" y="6409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7000001767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91640" y="64099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Graybar Electric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2040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5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7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29800" y="640994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Active Risks | Mitigations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486400" cy="3657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33271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ACTIVE RISKS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005840"/>
            <a:ext cx="5943600" cy="36576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033271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ACTIVE ISSUES / IN RESOLUTION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100584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14996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49961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Legacy Equipment Fragility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184708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JMUX equipment 25+ yrs old. Faulty connectors, brittle fiber panels. Potential for unplanned outage during cutover.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128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Careful cutover planning; dedicated B&amp;McD on-site support. Phase 1 complete — risk reduced going into Ph2.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9748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697480"/>
            <a:ext cx="100584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27340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73405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Substation Access Delays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0815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Weather, scheduling conflicts, or escort availability can delay field 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4472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Verify weekly before mobilizing. Adjust site plan if specific sites inaccessible.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931920"/>
            <a:ext cx="100584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396849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96849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Phase 2 Schedule Slippage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159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IFR/IFC design cycle (4-wk IFR + 2-wk review + 2-wk IFC) leaves limited buffer.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6817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Phase 2 surveys done early. B&amp;McD running concurrent site designs. Weekly status calls tracking.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16636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5166360"/>
            <a:ext cx="100584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" y="52029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20293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Crown Castle Fiber Issue (Hicksville)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5504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Low dB levels on fiber — may be Crown Castle's network, not PSEG LI.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9161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OTDR testing planned 3/3. If Crown Castle issue confirmed, escalate to vendor.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46304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1463040"/>
            <a:ext cx="164592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1888" y="1499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149961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Cat 6 Cabling — Hicksville NSP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90195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Cables ordered; Hawkeye scheduled to complete 3/3/2026.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69748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2697480"/>
            <a:ext cx="164592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27340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SCHEDULED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73405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OTDR Testing — Hicksville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13639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Low dB levels. OTDR test set confirmed for 1550 &amp; 1310nm. Site visit 3/3–3/4/2026.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3192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164592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61888" y="39684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396849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Remote Access — Phase 2 Nodes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437083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NSP at Hicksville &amp; Melville. Remote access needed before router configuration can begin.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516636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43600" y="5166360"/>
            <a:ext cx="164592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61888" y="52029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520293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Phase 2 SSP / Security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560527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Architecture review, security assessment, compliance readiness all approved 2/10/2026.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 Items for Decision or Awareness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594360" cy="16916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1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097280"/>
            <a:ext cx="128016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1247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11556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Schedule Recovery — Yellow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Phase 1 experienced a 2.5-week delay due to SSP documentation processing and inclement weather. The SPI stands at 0.75 for February.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2023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Recovery plan is in place. Remaining Phase 1 close-out items are remote (no site access required). Phase 2 engineering is running concurrently. Overall program target end date remains July 2027.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➤  No action required — for awareness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34639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834639"/>
            <a:ext cx="594360" cy="16916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42899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880359"/>
            <a:ext cx="128016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290779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898647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Continue Phase 2 Vendor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310127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Burns &amp; McDonnell Phase 2 SOW ($1.37M) is active. IFR design has commenced for 36 sites. Nokia equipment delivered to staging. Phase 2 is on track to hit IFC milestones per SOW schedule.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033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Confirm continued engagement of B&amp;McD and Elecnor Hawkeye for Phase 2 construction support as design packages are issued.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3087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7"/>
                </a:solidFill>
              </a:rPr>
              <a:t>➤  Approval requested to proceed with Phase 2 construction mobilization once IFC packages are complete (expected Q2 2026).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61772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594360" cy="1691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120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4663440"/>
            <a:ext cx="128016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46908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68172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Crown Castle Fiber Issue — Hicksville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932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OTDR testing revealed low dB levels on fiber at Hicksville substation. This may be a Crown Castle infrastructure issue outside PSEG LI's control.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864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OTDR testing was scheduled for 3/3–3/4/2026. If confirmed as Crown Castle issue, formal escalation to Crown Castle will be required, which may impact Phase 2 schedule at that site.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9161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➤  Request CIO support if vendor escalation to Crown Castle is needed to expedite resolution.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March 2026 — July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539496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051560"/>
            <a:ext cx="603504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51560"/>
            <a:ext cx="539496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7899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IMMEDIATE (Next 30 Days)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3619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159105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59105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completes Cat 6 cabling for NSP at Hicksville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03120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15798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15798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OTDR testing at Hicksville — resolve Crown Castle fiber issue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70048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" y="272491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7249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router configuration begins (Layer 1-3 setup)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236976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9184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91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continues Wave 1 IFR submissions (Far Rockaway, Valley Stream, Cedarhurst)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03904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" y="3858768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8587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PSEG LI review window opens for Wave 1 IFR packages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7083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442569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256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 IFC target completion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937759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4992623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Ongoing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992623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Weekly status calls with B&amp;McD; monthly schedule updates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1051560"/>
            <a:ext cx="603504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10789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PATH TO COMPLETION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97880" y="1536192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97880" y="1536192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16168" y="164591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164591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1 close-out &amp; Phase 2 IFR design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97880" y="219456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97880" y="2194560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16168" y="230428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230428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IFC completion (all 36 sites)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97880" y="2852928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97880" y="2852928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16168" y="2962656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Q2–Q3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296265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construction mobilization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97880" y="3511296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97880" y="3511296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16168" y="3621024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Q3–Q4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6210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installations at all 36 sites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97880" y="4169663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97880" y="4169663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16168" y="4279392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Q4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27939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cutovers — Waves 3 &amp;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97880" y="4828031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97880" y="4828031"/>
            <a:ext cx="1371600" cy="56692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16168" y="493775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93775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As-built documentation complete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97880" y="548640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97880" y="5486400"/>
            <a:ext cx="1371600" cy="56692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16168" y="559612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596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🏁  Program Complete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Replacement: Private Field Area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0352"/>
          </a:xfrm>
          <a:prstGeom prst="rect">
            <a:avLst/>
          </a:prstGeom>
          <a:solidFill>
            <a:srgbClr val="F2F2F2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42415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87"/>
                </a:solidFill>
              </a:rPr>
              <a:t>Modernize PSEG LI's substation communications by replacing legacy JMUX with MPLS nodes to deliver a reliable, scalable, and future-ready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45920"/>
            <a:ext cx="3749039" cy="43891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Engineering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203704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Detailed site surveys at all substations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583180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Rack elevations, power design &amp; supplemental 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96265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As-builts for each completed 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342132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substations aligned to PSEG LI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721607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As-Builts: BMcD 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101083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surveys: Completed during 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480559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256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IFRs: Being issued by BMcD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86003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051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IFCs: In progress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645920"/>
            <a:ext cx="3749039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Procurement &amp; Staging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2203704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Phase 1 equipment purchased by PSEG LI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2583180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shipped &amp; delivered to Hawkeye staging facility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2962656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completed: Sept 29,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3342132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Phase 2 equipment delivered: Feb 19, 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3721607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safely stored at Hawkeye warehouse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645920"/>
            <a:ext cx="3749039" cy="43891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🏗  Construction &amp;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47888" y="2203704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BMcD on-site coordination throughout Phase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2583180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Technical support &amp; commissioning oversight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47888" y="2962656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31/31 Phase 1 sites installed &amp; commissioned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47888" y="3342132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SSP documentation: Submitted &amp; approved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47888" y="3721607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connectivity to nodes: In progress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47888" y="4101083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construction: Pending IFC completion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39496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22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SCOPE SUMMARY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5422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Total Substations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MPLS Sites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DF RTU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422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Radio Shelter Sites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5422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MPLS Nodes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7900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8155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581558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581558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58155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6099048"/>
            <a:ext cx="116128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0040" y="613562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1640" y="61356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0332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78040" y="613562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613562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641908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64556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91640" y="645566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0332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4068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64556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81160" y="645566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6739128"/>
            <a:ext cx="11612880" cy="30175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77570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91640" y="677570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129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0332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4068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677570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6775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Full picture including Hawkeye Phase 2 SOW ($632K) —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743200" cy="10972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Capital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005840"/>
            <a:ext cx="2743200" cy="10972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$851,055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Spent to Date (33%)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 ETC (Known)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07424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-$1,172,192
(-45%)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Projected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2026 Budget Utilization &amp; Exposure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42032"/>
            <a:ext cx="1161288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542032"/>
            <a:ext cx="380123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75550" y="2542032"/>
            <a:ext cx="7811649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578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Spent: $851K (33%)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578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ETC: $2.92M — EXCEEDS BUDGET by $1.17M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0" y="2450592"/>
            <a:ext cx="27432" cy="5303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21440" y="24231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Budget
$2.6M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99232"/>
            <a:ext cx="6492240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017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2026 COST DRIVERS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64992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4015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2 SOW (reduced)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4015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$859,520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67328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03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3 (2026 portion)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0390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$588,011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169664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2062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PO 7000001857 (added March 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206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$753,000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08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Phase 2 Construction (36 sites)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60857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$632,303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974336"/>
            <a:ext cx="6492240" cy="374904"/>
          </a:xfrm>
          <a:prstGeom prst="rect">
            <a:avLst/>
          </a:prstGeom>
          <a:solidFill>
            <a:srgbClr val="FFF8D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01091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Outstanding WDs (WD8-13)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376672"/>
            <a:ext cx="649224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54132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779008"/>
            <a:ext cx="6492240" cy="374904"/>
          </a:xfrm>
          <a:prstGeom prst="rect">
            <a:avLst/>
          </a:prstGeom>
          <a:solidFill>
            <a:srgbClr val="C0000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8155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KNOWN ETC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1558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2999232"/>
            <a:ext cx="4937760" cy="32918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📅  HAWKEYE PH2 MILESTONE SCHEDULE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3364992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34015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WD #8–13 Outstanding WDs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In Progress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4015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9440" y="3767328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38039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M1 Services &amp; Deliverables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544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3/30/2026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0390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$99,000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4169664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0" y="4206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M2 Services &amp; Deliverables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35440" y="42062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4/30/2026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4206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4572000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46085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0" y="46085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5/30/2026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460857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9440" y="4974336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0" y="501091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35440" y="5010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6/30/2026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41280" y="501091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9440" y="5376672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54132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M4 Services &amp; Deliverables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0" y="54132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8/30/2026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41280" y="54132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49440" y="5779008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0" y="58155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M5 Decommission Phase 2 Equip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58155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TBD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58155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49440" y="6181344"/>
            <a:ext cx="4937760" cy="374904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40880" y="62179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0" y="6217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62179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$632,303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6400800"/>
            <a:ext cx="11612880" cy="164592"/>
          </a:xfrm>
          <a:prstGeom prst="rect">
            <a:avLst/>
          </a:prstGeom>
          <a:solidFill>
            <a:srgbClr val="FFF8D0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6400800"/>
            <a:ext cx="11430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4040"/>
                </a:solidFill>
              </a:rPr>
              <a:t>⚠  Note: 2026 ETC of $2.92M exceeds remaining budget of $1.75M by $1.17M. CIO approval required for budget augmentation. Phase 3 2026 exposure ($588K) pending confirmation.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