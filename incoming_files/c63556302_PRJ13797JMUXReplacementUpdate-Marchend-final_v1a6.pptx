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7"/>
  </p:notesMasterIdLst>
  <p:sldIdLst>
    <p:sldId id="454" r:id="rId5"/>
    <p:sldId id="465" r:id="rId6"/>
    <p:sldId id="2147477449" r:id="rId7"/>
    <p:sldId id="256" r:id="rId8"/>
    <p:sldId id="257" r:id="rId9"/>
    <p:sldId id="2147477446" r:id="rId10"/>
    <p:sldId id="2147477433" r:id="rId11"/>
    <p:sldId id="2147477434" r:id="rId12"/>
    <p:sldId id="2147477435" r:id="rId13"/>
    <p:sldId id="260" r:id="rId14"/>
    <p:sldId id="2147477441" r:id="rId15"/>
    <p:sldId id="214747743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9"/>
            <p14:sldId id="256"/>
            <p14:sldId id="257"/>
            <p14:sldId id="2147477446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37" autoAdjust="0"/>
    <p:restoredTop sz="93690" autoAdjust="0"/>
  </p:normalViewPr>
  <p:slideViewPr>
    <p:cSldViewPr snapToGrid="0">
      <p:cViewPr>
        <p:scale>
          <a:sx n="70" d="100"/>
          <a:sy n="70" d="100"/>
        </p:scale>
        <p:origin x="436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April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Materials creation, MPLS Equipment order, Power and ancillary equipment(Patch panels, Fiber cables, mounting kits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 and power during staging. Perform site surveys for construction support. Install all equipment per the approved IFC document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Run Fiber or copper cabling as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89E505C-D1FB-5A65-84D4-B302FCC448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277763"/>
              </p:ext>
            </p:extLst>
          </p:nvPr>
        </p:nvGraphicFramePr>
        <p:xfrm>
          <a:off x="0" y="194310"/>
          <a:ext cx="10555647" cy="5776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487416" imgH="6286736" progId="Excel.Sheet.12">
                  <p:embed/>
                </p:oleObj>
              </mc:Choice>
              <mc:Fallback>
                <p:oleObj name="Worksheet" r:id="rId2" imgW="11487416" imgH="628673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94310"/>
                        <a:ext cx="10555647" cy="5776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95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0188" y="91441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 Circuit Migration — Background &amp;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188" y="658369"/>
            <a:ext cx="11430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188" y="1097280"/>
            <a:ext cx="566928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0188" y="1097280"/>
            <a:ext cx="5669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📌  WHAT IS PAR CIRCUIT MIGRATION?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1426464"/>
            <a:ext cx="5669280" cy="210312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1628" y="1463041"/>
            <a:ext cx="5486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6 high-voltage substations require serial-to-IP conversion to connect legacy RTUs to the new Nokia MPLS network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Sites: Northport · Hicksville (5HK) · Melville · Lindenhurst (7Z) · Far Rockaway (2H) · Hewlett (2R)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C00000"/>
                </a:solidFill>
              </a:rPr>
              <a:t>▸  NERC CIP compliance MANDATES an intermediary system — direct Nokia-to-RTU connection is not supported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Solution selected: Iniven RC-30 — converts direct contact signals to C37.94 IP protocol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C00000"/>
                </a:solidFill>
              </a:rPr>
              <a:t>▸  No alternative solution exists — compliance is non-negotiable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188" y="3611880"/>
            <a:ext cx="566928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188" y="3611880"/>
            <a:ext cx="5669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❓  WHY WASN'T THIS FULLY SCOPED IN 2024?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188" y="3941063"/>
            <a:ext cx="5669280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1628" y="3977639"/>
            <a:ext cx="548640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3964"/>
                </a:solidFill>
              </a:rPr>
              <a:t>▸  During 2024 kickoff meetings </a:t>
            </a:r>
            <a:r>
              <a:rPr lang="en-US" sz="1000" b="1" dirty="0">
                <a:solidFill>
                  <a:srgbClr val="1F3964"/>
                </a:solidFill>
              </a:rPr>
              <a:t>, </a:t>
            </a:r>
            <a:r>
              <a:rPr sz="1000" b="1" dirty="0">
                <a:solidFill>
                  <a:srgbClr val="1F3964"/>
                </a:solidFill>
              </a:rPr>
              <a:t>PAR was acknowledged at a HIGH LEVEL ONLY</a:t>
            </a:r>
            <a:endParaRPr lang="en-US" sz="1000" b="1" dirty="0">
              <a:solidFill>
                <a:srgbClr val="1F3964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3964"/>
                </a:solidFill>
              </a:rPr>
              <a:t>no detailed design, cost, or schedule produced</a:t>
            </a:r>
            <a:endParaRPr sz="1000" b="1" dirty="0">
              <a:solidFill>
                <a:srgbClr val="1F3964"/>
              </a:solidFill>
            </a:endParaRP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</a:t>
            </a:r>
            <a:r>
              <a:rPr lang="en-US" sz="1000" dirty="0">
                <a:solidFill>
                  <a:srgbClr val="1F3964"/>
                </a:solidFill>
              </a:rPr>
              <a:t>IN 2024 discussion </a:t>
            </a:r>
            <a:r>
              <a:rPr sz="1000" dirty="0">
                <a:solidFill>
                  <a:srgbClr val="1F3964"/>
                </a:solidFill>
              </a:rPr>
              <a:t> indicated design cost would fall on the technical security team </a:t>
            </a:r>
            <a:endParaRPr lang="en-US" sz="1000" dirty="0">
              <a:solidFill>
                <a:srgbClr val="1F3964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rgbClr val="1F3964"/>
                </a:solidFill>
              </a:rPr>
              <a:t> no dollar figure was agreed upon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PAR was a Phase 3 placeholder with a rough budget of ~$30K–$40K for general support only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Consistent with project methodology — detailed requirements confirmed during each phase's site surveys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8068" y="1097280"/>
            <a:ext cx="5833872" cy="3291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8068" y="1097280"/>
            <a:ext cx="5833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🔍  HOW WAS THE FULL SCOPE DISCOVERED?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8068" y="1426464"/>
            <a:ext cx="5833872" cy="210312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9508" y="1463041"/>
            <a:ext cx="5650992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During Phase 2 detailed site surveys, the relay team was formally engaged for the first time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Site-by-site review of existing RTU technology (SEL-2595 systems) revealed full technical &amp; compliance scope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6 specific high-impact substations identified as requiring a dedicated intermediary solution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F3964"/>
                </a:solidFill>
              </a:rPr>
              <a:t>▸  True level of effort and cost first identified at this point — NOT a project management oversight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8068" y="3611880"/>
            <a:ext cx="5833872" cy="3291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8068" y="3611880"/>
            <a:ext cx="5833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✅  WHAT WAS EVALUATED &amp; DECIDED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8068" y="3941063"/>
            <a:ext cx="5833872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9508" y="3977640"/>
            <a:ext cx="5650992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All available technology options reviewed at each of the 6 substations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NERC CIP compliance requirements assessed for each site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F3964"/>
                </a:solidFill>
              </a:rPr>
              <a:t>▸  Only viable compliant solution confirmed: Iniven RC-30 intermediary device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Chakrapani's T&amp;D team engaged for engineering design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PO placed for RC-30 equipment — 8-week lead time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78644"/>
                </a:solidFill>
              </a:rPr>
              <a:t>▸  Proactively engaging ALL Phase 3 stakeholders now to prevent further scope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4468" y="6583680"/>
            <a:ext cx="1188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0188" y="91441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 Circuit Migration — Schedule &amp; 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188" y="658369"/>
            <a:ext cx="11430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188" y="1097280"/>
            <a:ext cx="11731752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0188" y="1097280"/>
            <a:ext cx="117317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💰  FINANCIAL IMPACT — ADDITIONAL UNBUDGETED FUNDING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1444752"/>
            <a:ext cx="429768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052" y="1444753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Cost 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3588" y="1444752"/>
            <a:ext cx="434340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28452" y="1444753"/>
            <a:ext cx="4251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Team Responsible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2708" y="1444752"/>
            <a:ext cx="150876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17573" y="1444753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Est.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7188" y="1444752"/>
            <a:ext cx="146304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72052" y="1444753"/>
            <a:ext cx="1371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188" y="1746504"/>
            <a:ext cx="42976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5052" y="1764793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F3964"/>
                </a:solidFill>
              </a:rPr>
              <a:t>Iniven RC-30 Equipment (6 sites)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3588" y="1746504"/>
            <a:ext cx="4343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28452" y="1764793"/>
            <a:ext cx="4251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Iniven (Vendor)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2708" y="1746504"/>
            <a:ext cx="15087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17573" y="1764793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dirty="0">
                <a:solidFill>
                  <a:srgbClr val="1F3964"/>
                </a:solidFill>
              </a:rPr>
              <a:t>~$</a:t>
            </a:r>
            <a:r>
              <a:rPr lang="en-US" sz="950" dirty="0">
                <a:solidFill>
                  <a:srgbClr val="1F3964"/>
                </a:solidFill>
              </a:rPr>
              <a:t>59,500</a:t>
            </a:r>
            <a:endParaRPr sz="950" dirty="0">
              <a:solidFill>
                <a:srgbClr val="1F3964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517188" y="1746504"/>
            <a:ext cx="146304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72052" y="1764793"/>
            <a:ext cx="1371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PO Placed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188" y="2075688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5052" y="2093977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F3964"/>
                </a:solidFill>
              </a:rPr>
              <a:t>PAR Engineering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3588" y="2075688"/>
            <a:ext cx="4343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28452" y="2093977"/>
            <a:ext cx="4251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Chakrapani / T&amp;D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2708" y="2075688"/>
            <a:ext cx="15087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17573" y="2093977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TBD 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7188" y="2075688"/>
            <a:ext cx="14630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72052" y="2093977"/>
            <a:ext cx="1371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In Progress 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0188" y="2404872"/>
            <a:ext cx="42976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5052" y="2423161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F3964"/>
                </a:solidFill>
              </a:rPr>
              <a:t>Installation, Config &amp; Cutover Labor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3588" y="2404872"/>
            <a:ext cx="4343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28452" y="2423161"/>
            <a:ext cx="4251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Relay Team — Johnny's Team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2708" y="2404872"/>
            <a:ext cx="15087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17573" y="2423161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~$495,000 **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7188" y="2404872"/>
            <a:ext cx="146304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72052" y="2423161"/>
            <a:ext cx="1371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Not Started 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0188" y="2734056"/>
            <a:ext cx="429768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5052" y="2752345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00000"/>
                </a:solidFill>
              </a:rPr>
              <a:t>TOTAL ADDITIONAL FUNDING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3588" y="2734056"/>
            <a:ext cx="434340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28452" y="2752344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62708" y="2734056"/>
            <a:ext cx="150876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17573" y="2752345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00000"/>
                </a:solidFill>
              </a:rPr>
              <a:t>~$550,000+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17188" y="2734056"/>
            <a:ext cx="146304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72052" y="2752344"/>
            <a:ext cx="137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0188" y="309067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404040"/>
                </a:solidFill>
              </a:rPr>
              <a:t>* Engineering design cost TBD — to be confirmed once Chakrapani's team completes design scope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0188" y="327355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404040"/>
                </a:solidFill>
              </a:rPr>
              <a:t>** Relay labor rate (~$1,100–$1,200/hr) and total hours per site being confirmed with Ethan &amp; Chad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0188" y="3438144"/>
            <a:ext cx="114300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00000"/>
                </a:solidFill>
              </a:rPr>
              <a:t>⚠  Chad's current Apr–Jun forecast = $120K (equipment + design only). $495K relay labor NOT YET included — to be spread across months once design is complete.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0188" y="3767328"/>
            <a:ext cx="5669280" cy="3291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0188" y="3767328"/>
            <a:ext cx="5669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📅  SCHEDULE IMPACT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0188" y="4096512"/>
            <a:ext cx="5669280" cy="224028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1628" y="4133087"/>
            <a:ext cx="548640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 b="1">
                <a:solidFill>
                  <a:srgbClr val="1F3964"/>
                </a:solidFill>
              </a:rPr>
              <a:t>▸  Direct schedule impact: ~2–3 months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PAR work running IN PARALLEL with Phase 2 construction — not on critical path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Phase 3 site surveys &amp; detail design accelerated into Phase 2 staging window (~Aug 2026)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Ethan confirmed: Phase 3 engineering starts as soon as Phase 2 staging begins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F3964"/>
                </a:solidFill>
              </a:rPr>
              <a:t>▸  B&amp;M Phase 3 design: estimated Jun–Dec 2026 (~$900K–$1.29M — to be confirmed)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378644"/>
                </a:solidFill>
              </a:rPr>
              <a:t>▸  Projected full recovery: End of 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8068" y="3767328"/>
            <a:ext cx="5833872" cy="329184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28068" y="3767328"/>
            <a:ext cx="5833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🔄  RECOVERY PLAN &amp; ACTIONS TAKEN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8068" y="4096512"/>
            <a:ext cx="5833872" cy="224028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37212" y="4133087"/>
            <a:ext cx="565099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✅  </a:t>
            </a:r>
            <a:r>
              <a:rPr sz="1000" dirty="0" err="1">
                <a:solidFill>
                  <a:srgbClr val="378644"/>
                </a:solidFill>
              </a:rPr>
              <a:t>Iniven</a:t>
            </a:r>
            <a:r>
              <a:rPr sz="1000" dirty="0">
                <a:solidFill>
                  <a:srgbClr val="378644"/>
                </a:solidFill>
              </a:rPr>
              <a:t> RC-30 PO placed — equipment on order, 8-week lead time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✅  Chakrapani's team engaged for PAR engineering design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✅  PAR migration parallelized — no impact to Phase 2 deployment critical path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✅  Phase 3 engineering accelerated — site surveys start at Phase 2 staging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✅  CIO (Greg) informed informally at All Hands — not a surprise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ED7D31"/>
                </a:solidFill>
              </a:rPr>
              <a:t>⏳  Formal budget Change Request to be submitted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ED7D31"/>
                </a:solidFill>
              </a:rPr>
              <a:t>⏳  Relay labor ($495K) to be spread across</a:t>
            </a:r>
            <a:r>
              <a:rPr lang="en-US" sz="1000" b="1" dirty="0">
                <a:solidFill>
                  <a:srgbClr val="ED7D31"/>
                </a:solidFill>
              </a:rPr>
              <a:t> months.</a:t>
            </a:r>
            <a:endParaRPr sz="1000" b="1" dirty="0">
              <a:solidFill>
                <a:srgbClr val="ED7D3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84468" y="6583680"/>
            <a:ext cx="1188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15F65-C156-24D2-6BF0-3F2944D8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93183"/>
            <a:ext cx="12192000" cy="6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64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960061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318956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Phase 1 is – 2.8 months behind.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Overall project is still on schedule since we have IFR/IFCs being completed for Phase 2 and we are working with Hawkeye to complete their site surveys as soon as we get the IFC.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SPI = 0.78 (Yellow).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Plan to get to 1.00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Complete the Node build in NMS for all nodes in Phase 1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Complete RTU testing on provided test circuit.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Work with B&amp;M and confirm MOP for migrating production RTU, and start migration.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Keep moving fwd. with Site surveys on IFCs.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62153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13149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21366" y="2731229"/>
            <a:ext cx="12946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39179" y="2904231"/>
            <a:ext cx="14364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April 2026 </a:t>
            </a:r>
            <a:r>
              <a:rPr sz="900" b="1" i="0" dirty="0">
                <a:solidFill>
                  <a:srgbClr val="F7941D"/>
                </a:solidFill>
              </a:rPr>
              <a:t>: 0.7</a:t>
            </a:r>
            <a:r>
              <a:rPr lang="en-US" sz="900" b="1" i="0" dirty="0">
                <a:solidFill>
                  <a:srgbClr val="F7941D"/>
                </a:solidFill>
              </a:rPr>
              <a:t>7</a:t>
            </a:r>
            <a:r>
              <a:rPr sz="900" b="1" i="0" dirty="0">
                <a:solidFill>
                  <a:srgbClr val="F7941D"/>
                </a:solidFill>
              </a:rPr>
              <a:t>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7941D"/>
                </a:solidFill>
              </a:rPr>
              <a:t> ---  </a:t>
            </a:r>
            <a:r>
              <a:rPr lang="en-US" sz="900" b="1">
                <a:solidFill>
                  <a:srgbClr val="00B0F0"/>
                </a:solidFill>
              </a:rPr>
              <a:t>March  2026 : 0.80  (Yellow ↓)</a:t>
            </a:r>
            <a:endParaRPr sz="900" b="0" i="0" dirty="0">
              <a:solidFill>
                <a:srgbClr val="404040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146877"/>
              </p:ext>
            </p:extLst>
          </p:nvPr>
        </p:nvGraphicFramePr>
        <p:xfrm>
          <a:off x="0" y="3904240"/>
          <a:ext cx="12191695" cy="2509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089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Work with B&amp;M to access NOKIA NSP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4/05/2026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1" dirty="0">
                          <a:solidFill>
                            <a:srgbClr val="DD7700"/>
                          </a:solidFill>
                        </a:rPr>
                        <a:t>0.78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 with B&amp;M and PSEG tech to access equipment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19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Build Phase 1 nodes into GUI Interface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4/18/2026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A34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1.00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1" dirty="0">
                          <a:solidFill>
                            <a:srgbClr val="DD7700"/>
                          </a:solidFill>
                        </a:rPr>
                        <a:t>0.79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 31 nodes built into NMS GUI. Also tested and verified configuration as per SSP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3039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9 IFCs sent to Hawkeye to start site surveys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4/20/2026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6A34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1.00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r>
                        <a:rPr lang="en-US" sz="800" b="1" dirty="0">
                          <a:solidFill>
                            <a:srgbClr val="DD7700"/>
                          </a:solidFill>
                        </a:rPr>
                        <a:t>0.79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Hawkeye will complete site survey and make a list of what will be required for installation for each site.  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 Test circuit  to test </a:t>
                      </a:r>
                      <a:r>
                        <a:rPr lang="en-US" sz="8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RTU communication with the EMS at Hicksville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4/18/2026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**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**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CNI will run test circuit, so we can verify RTU communication at Hicksville, before touching production RTU.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19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4519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017CD3-226C-8461-F0B5-A850AD29E365}"/>
              </a:ext>
            </a:extLst>
          </p:cNvPr>
          <p:cNvCxnSpPr>
            <a:cxnSpLocks/>
          </p:cNvCxnSpPr>
          <p:nvPr/>
        </p:nvCxnSpPr>
        <p:spPr>
          <a:xfrm flipH="1" flipV="1">
            <a:off x="2633472" y="2491409"/>
            <a:ext cx="232894" cy="9016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CA3318-87AF-8F44-6ECC-128A3B3B2E87}"/>
              </a:ext>
            </a:extLst>
          </p:cNvPr>
          <p:cNvCxnSpPr>
            <a:cxnSpLocks/>
            <a:stCxn id="588" idx="1"/>
          </p:cNvCxnSpPr>
          <p:nvPr/>
        </p:nvCxnSpPr>
        <p:spPr>
          <a:xfrm flipH="1" flipV="1">
            <a:off x="2724618" y="2449252"/>
            <a:ext cx="136804" cy="9608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363038"/>
              </p:ext>
            </p:extLst>
          </p:nvPr>
        </p:nvGraphicFramePr>
        <p:xfrm>
          <a:off x="509288" y="2222524"/>
          <a:ext cx="9050866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2222524"/>
                        <a:ext cx="9050866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E9A7CBB-DBCA-0BB9-5D70-44E25DDFA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695740"/>
              </p:ext>
            </p:extLst>
          </p:nvPr>
        </p:nvGraphicFramePr>
        <p:xfrm>
          <a:off x="509288" y="538223"/>
          <a:ext cx="9050866" cy="1583911"/>
        </p:xfrm>
        <a:graphic>
          <a:graphicData uri="http://schemas.openxmlformats.org/drawingml/2006/table">
            <a:tbl>
              <a:tblPr firstRow="1" firstCol="1" bandRow="1"/>
              <a:tblGrid>
                <a:gridCol w="1779040">
                  <a:extLst>
                    <a:ext uri="{9D8B030D-6E8A-4147-A177-3AD203B41FA5}">
                      <a16:colId xmlns:a16="http://schemas.microsoft.com/office/drawing/2014/main" val="3836632793"/>
                    </a:ext>
                  </a:extLst>
                </a:gridCol>
                <a:gridCol w="1400994">
                  <a:extLst>
                    <a:ext uri="{9D8B030D-6E8A-4147-A177-3AD203B41FA5}">
                      <a16:colId xmlns:a16="http://schemas.microsoft.com/office/drawing/2014/main" val="3171916749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593578605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3917198631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2708731188"/>
                    </a:ext>
                  </a:extLst>
                </a:gridCol>
                <a:gridCol w="1067424">
                  <a:extLst>
                    <a:ext uri="{9D8B030D-6E8A-4147-A177-3AD203B41FA5}">
                      <a16:colId xmlns:a16="http://schemas.microsoft.com/office/drawing/2014/main" val="3598552592"/>
                    </a:ext>
                  </a:extLst>
                </a:gridCol>
              </a:tblGrid>
              <a:tr h="4044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Category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2024 Actuals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2025 Actuals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2026 Actuals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Program 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% of Program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853374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Internal Labor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$29,357.90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$181,290.67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$28,272.39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$238,920.96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~4%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254347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Materials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$601,379.80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$371,819.58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$46,040.04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$1,019,239.42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~18%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849723"/>
                  </a:ext>
                </a:extLst>
              </a:tr>
              <a:tr h="3049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Outside Services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$103,408.84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$2,482,742.20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$1,698,535.37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$4,284,686.41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~76%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811271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Assessments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$7,059.70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$94,267.21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$16,970.35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$118,297.26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~2%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82539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$741,206.24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$3,130,319.66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$1,789,818.15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$5,661,344.05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125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Current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Legacy JMUX equipment old and delicate. Potential for Outage. 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 into faulty connectors that are over 25 years old and not readily available with vendors.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brittle fiber patch panels, Face plates, connectors and cables.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Weather delay and delay in installing the equipment at sub-station (tracking weekly).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Potential Schedule delays due to other major substation project conflicts.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Next Steps</a:t>
            </a:r>
          </a:p>
          <a:p>
            <a:pPr marL="342900" indent="-342900">
              <a:buAutoNum type="arabicPeriod"/>
            </a:pPr>
            <a:r>
              <a:rPr lang="en-US" dirty="0"/>
              <a:t>Work with  B&amp;M to test the RTU circuit that was run by CNI team. </a:t>
            </a:r>
          </a:p>
          <a:p>
            <a:pPr marL="342900" indent="-342900">
              <a:buAutoNum type="arabicPeriod"/>
            </a:pPr>
            <a:r>
              <a:rPr lang="en-US" dirty="0"/>
              <a:t>Make sure all Phase 1 nodes are built into the network GUI and can be accessed remotely. Also need to check that all routers are configured as per SSP. </a:t>
            </a:r>
          </a:p>
          <a:p>
            <a:pPr marL="342900" indent="-342900">
              <a:buAutoNum type="arabicPeriod"/>
            </a:pPr>
            <a:r>
              <a:rPr lang="en-US" dirty="0"/>
              <a:t>Complete testing on test RTU and work with B&amp;M to go over MOP to move production RTU. </a:t>
            </a:r>
          </a:p>
          <a:p>
            <a:pPr marL="342900" indent="-342900">
              <a:buAutoNum type="arabicPeriod"/>
            </a:pPr>
            <a:r>
              <a:rPr lang="en-US" dirty="0"/>
              <a:t>Follow up with Hawkey to make sure the site surveys are scheduled for Phase 2 sites. 9/36 IFCs sent to Hawkeye.</a:t>
            </a:r>
          </a:p>
          <a:p>
            <a:pPr marL="342900" indent="-342900">
              <a:buAutoNum type="arabicPeriod"/>
            </a:pPr>
            <a:r>
              <a:rPr lang="en-US" dirty="0"/>
              <a:t>Track PAR control design and equipment ordered for 6 sites.</a:t>
            </a:r>
          </a:p>
          <a:p>
            <a:pPr marL="342900" indent="-342900">
              <a:buAutoNum type="arabicPeriod"/>
            </a:pPr>
            <a:r>
              <a:rPr lang="en-US" dirty="0"/>
              <a:t>Keep tracking IFR/IFCs – 9/36 received to date. 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148866</TotalTime>
  <Words>2177</Words>
  <Application>Microsoft Office PowerPoint</Application>
  <PresentationFormat>Widescreen</PresentationFormat>
  <Paragraphs>539</Paragraphs>
  <Slides>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Office Theme</vt:lpstr>
      <vt:lpstr>Binary Worksheet</vt:lpstr>
      <vt:lpstr>Microsoft Excel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940</cp:revision>
  <dcterms:modified xsi:type="dcterms:W3CDTF">2026-04-24T20:21:59Z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