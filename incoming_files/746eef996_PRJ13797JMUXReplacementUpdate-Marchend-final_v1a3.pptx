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5"/>
  </p:notesMasterIdLst>
  <p:sldIdLst>
    <p:sldId id="454" r:id="rId5"/>
    <p:sldId id="465" r:id="rId6"/>
    <p:sldId id="2147477449" r:id="rId7"/>
    <p:sldId id="2147477446" r:id="rId8"/>
    <p:sldId id="2147477433" r:id="rId9"/>
    <p:sldId id="2147477434" r:id="rId10"/>
    <p:sldId id="2147477435" r:id="rId11"/>
    <p:sldId id="260" r:id="rId12"/>
    <p:sldId id="2147477441" r:id="rId13"/>
    <p:sldId id="214747743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9"/>
            <p14:sldId id="2147477446"/>
            <p14:sldId id="2147477433"/>
            <p14:sldId id="2147477434"/>
            <p14:sldId id="2147477435"/>
            <p14:sldId id="260"/>
            <p14:sldId id="2147477441"/>
            <p14:sldId id="2147477438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37" autoAdjust="0"/>
    <p:restoredTop sz="93690" autoAdjust="0"/>
  </p:normalViewPr>
  <p:slideViewPr>
    <p:cSldViewPr snapToGrid="0">
      <p:cViewPr>
        <p:scale>
          <a:sx n="90" d="100"/>
          <a:sy n="90" d="100"/>
        </p:scale>
        <p:origin x="3324" y="-9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Binary_Worksheet.xlsb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March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24EE83D-2178-F6B5-4EA8-D2E0604DF97B}"/>
              </a:ext>
            </a:extLst>
          </p:cNvPr>
          <p:cNvSpPr txBox="1">
            <a:spLocks noGrp="1"/>
          </p:cNvSpPr>
          <p:nvPr>
            <p:ph idx="11"/>
          </p:nvPr>
        </p:nvSpPr>
        <p:spPr>
          <a:xfrm>
            <a:off x="131975" y="10226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dirty="0"/>
              <a:t>Modernize PSEG LI’s substation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sz="1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Objectives </a:t>
            </a:r>
            <a:r>
              <a:rPr lang="en-US" sz="1400" dirty="0"/>
              <a:t>  </a:t>
            </a:r>
          </a:p>
          <a:p>
            <a:pPr lvl="1" fontAlgn="ctr"/>
            <a:endParaRPr lang="en-US" sz="1400" b="1" dirty="0"/>
          </a:p>
          <a:p>
            <a:pPr lvl="1" fontAlgn="ctr"/>
            <a:endParaRPr lang="en-US" sz="1400" b="1" dirty="0"/>
          </a:p>
          <a:p>
            <a:pPr lvl="1" fontAlgn="ctr"/>
            <a:r>
              <a:rPr lang="en-US" sz="1400" b="1" dirty="0"/>
              <a:t>Engineering Services (Burns &amp; McDonnell)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Site surveys, rack elevations, power &amp; cabling design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Node Design – Produce IFR, IFC and As-Built documents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sz="1400" b="1" dirty="0"/>
              <a:t>  Procurement &amp; Staging (Burns &amp; McDonnell, Nokia, Graybar)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Bill Of Materials creation, MPLS Equipment order, Power and ancillary equipment(Patch panels, Fiber cables, mounting kits etc.)</a:t>
            </a:r>
          </a:p>
          <a:p>
            <a:pPr lvl="2" fontAlgn="ctr"/>
            <a:endParaRPr lang="en-US" sz="1400" dirty="0"/>
          </a:p>
          <a:p>
            <a:pPr marL="342900" fontAlgn="ctr"/>
            <a:r>
              <a:rPr lang="en-US" sz="1400" b="1" dirty="0"/>
              <a:t>  Construction and Installation Support (Burns &amp; McDonnell, Hawkeye)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Hawkeye to assist with shipment, racking, stacking and power during staging. Perform site surveys for construction support. Install all equipment per the approved IFC document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Run Fiber or copper cabling as per the construction documents. </a:t>
            </a:r>
          </a:p>
          <a:p>
            <a:pPr marL="342900" lvl="2" fontAlgn="ctr"/>
            <a:r>
              <a:rPr lang="en-US" sz="1400" b="1" dirty="0"/>
              <a:t> Deployment and Application Migration (PSEG, Burns &amp; McDonnell)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Design and configure Layer 3 networks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Pre-stage the application connectivity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Migrate production applications</a:t>
            </a:r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B64354-4154-7ECF-8266-EAEA262BB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389468"/>
            <a:ext cx="9964205" cy="588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45B8A-DD02-B184-1F8E-40F82CBE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15F65-C156-24D2-6BF0-3F2944D8C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193183"/>
            <a:ext cx="12192000" cy="6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2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4644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825BC65A-9568-545E-7649-43EE732AA4CA}"/>
              </a:ext>
            </a:extLst>
          </p:cNvPr>
          <p:cNvSpPr txBox="1">
            <a:spLocks/>
          </p:cNvSpPr>
          <p:nvPr/>
        </p:nvSpPr>
        <p:spPr>
          <a:xfrm>
            <a:off x="80219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960061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2BE0C575-1E87-0D0C-7576-79E4129CCA42}"/>
              </a:ext>
            </a:extLst>
          </p:cNvPr>
          <p:cNvSpPr txBox="1">
            <a:spLocks/>
          </p:cNvSpPr>
          <p:nvPr/>
        </p:nvSpPr>
        <p:spPr>
          <a:xfrm>
            <a:off x="131975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318956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85010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28387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44B77E0-C7B5-F774-274D-A2367047808E}"/>
              </a:ext>
            </a:extLst>
          </p:cNvPr>
          <p:cNvSpPr txBox="1">
            <a:spLocks/>
          </p:cNvSpPr>
          <p:nvPr/>
        </p:nvSpPr>
        <p:spPr>
          <a:xfrm>
            <a:off x="13197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Phase 1 is – 2.8 months behind.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Overall project is still on schedule since we have IFR/IFCs being completed for Phase 2 and we are working with Hawkeye to complete their site surveys as soon as we get the IFC.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SPI = 0.77 (Yellow).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Plan to get to 1.00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Complete the Node build in NMS for all nodes in Phase 1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Complete RTU testing on provided test circuit.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Work with B&amp;M and confirm MOP for migrating production RTU, and start migration.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Keep moving </a:t>
            </a:r>
            <a:r>
              <a:rPr lang="en-US" sz="1200" dirty="0" err="1"/>
              <a:t>fwd</a:t>
            </a:r>
            <a:r>
              <a:rPr lang="en-US" sz="1200" dirty="0"/>
              <a:t> with Site surveys on IFCs.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62153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13149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21366" y="2731229"/>
            <a:ext cx="12946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39179" y="2904231"/>
            <a:ext cx="14364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April 2026 </a:t>
            </a:r>
            <a:r>
              <a:rPr sz="900" b="1" i="0" dirty="0">
                <a:solidFill>
                  <a:srgbClr val="F7941D"/>
                </a:solidFill>
              </a:rPr>
              <a:t>: 0.7</a:t>
            </a:r>
            <a:r>
              <a:rPr lang="en-US" sz="900" b="1" i="0" dirty="0">
                <a:solidFill>
                  <a:srgbClr val="F7941D"/>
                </a:solidFill>
              </a:rPr>
              <a:t>7</a:t>
            </a:r>
            <a:r>
              <a:rPr sz="900" b="1" i="0" dirty="0">
                <a:solidFill>
                  <a:srgbClr val="F7941D"/>
                </a:solidFill>
              </a:rPr>
              <a:t>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F7941D"/>
                </a:solidFill>
              </a:rPr>
              <a:t> ---  </a:t>
            </a:r>
            <a:r>
              <a:rPr lang="en-US" sz="900" b="1">
                <a:solidFill>
                  <a:srgbClr val="00B0F0"/>
                </a:solidFill>
              </a:rPr>
              <a:t>March  2026 : 0.80  (Yellow ↓)</a:t>
            </a:r>
            <a:endParaRPr sz="900" b="0" i="0" dirty="0">
              <a:solidFill>
                <a:srgbClr val="404040"/>
              </a:solidFill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508024"/>
              </p:ext>
            </p:extLst>
          </p:nvPr>
        </p:nvGraphicFramePr>
        <p:xfrm>
          <a:off x="0" y="3904239"/>
          <a:ext cx="12191695" cy="31052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937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Culmative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corporate connectivity interfaces turned up at Melville and Hicksville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2/26/2026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</a:t>
                      </a:r>
                      <a:r>
                        <a:rPr lang="en-US" sz="700" dirty="0"/>
                        <a:t>(DC power complete)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1</a:t>
                      </a:r>
                      <a:r>
                        <a:rPr sz="700" dirty="0"/>
                        <a:t>
(DC power </a:t>
                      </a:r>
                      <a:r>
                        <a:rPr lang="en-US" sz="700" dirty="0"/>
                        <a:t>complete</a:t>
                      </a:r>
                      <a:r>
                        <a:rPr sz="700" dirty="0"/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Northport fuse tripping — ILO work blocked. DC power issue resolved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Layer 3 (BGP) network design and configurations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3/9/2026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(OTDR confirm)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
(OTDR complete ✅)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OTDR confirmed bad filter at Hicksville. Link now active. Crown Castle issue cleared.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Remote access to NSP for Nokia Network Configurations &amp; Management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4/13/2026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(NSP fiber term)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
(complete ✅)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Fiber run to NSP completed &amp; terminated at Hicksville by Hawkeye.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BGP design approved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3/16/2026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(BGP approval)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
(approved ✅)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BGP design formally approved. Lee to begin change docs for Hicksville &amp; Melville.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Work with B&amp;M to access NOKIA NSP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4/05/2026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.70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1" dirty="0">
                          <a:solidFill>
                            <a:srgbClr val="DD7700"/>
                          </a:solidFill>
                        </a:rPr>
                        <a:t>0.78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 with B&amp;M and PSEG tech to access equipment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Build Phase 1 nodes into GUI Interface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4/18/2026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A34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1.00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1" dirty="0">
                          <a:solidFill>
                            <a:srgbClr val="DD7700"/>
                          </a:solidFill>
                        </a:rPr>
                        <a:t>0.76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 is working on finishing this by Friday 4/24/26, Remote access using GUI and build out Phase 1 nodes into GUI interface.</a:t>
                      </a:r>
                    </a:p>
                    <a:p>
                      <a:pPr algn="l" rtl="0" fontAlgn="b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9 IFCs sent to Hawkeye to start site surveys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4/20/2026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6A34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1.00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r>
                        <a:rPr lang="en-US" sz="800" b="1" dirty="0">
                          <a:solidFill>
                            <a:srgbClr val="DD7700"/>
                          </a:solidFill>
                        </a:rPr>
                        <a:t>0.77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Hawkeye will complete site survey and make a list of what will be required for installation for each site.  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 Test circuit  to test </a:t>
                      </a:r>
                      <a:r>
                        <a:rPr lang="en-US" sz="8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RTU communication with the EMS at Hicksville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4/18/2026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**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**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CNI will run test circuit, so we can verify RTU communication at Hicksville, before touching production RTU.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BA6D0E5F-477A-C4F0-1F33-758DDA393984}"/>
              </a:ext>
            </a:extLst>
          </p:cNvPr>
          <p:cNvSpPr txBox="1">
            <a:spLocks/>
          </p:cNvSpPr>
          <p:nvPr/>
        </p:nvSpPr>
        <p:spPr>
          <a:xfrm>
            <a:off x="107878" y="-53777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bg1"/>
                </a:solidFill>
              </a:rPr>
              <a:t>JMUX Replacement: Private Field Area Network   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017CD3-226C-8461-F0B5-A850AD29E365}"/>
              </a:ext>
            </a:extLst>
          </p:cNvPr>
          <p:cNvCxnSpPr>
            <a:cxnSpLocks/>
          </p:cNvCxnSpPr>
          <p:nvPr/>
        </p:nvCxnSpPr>
        <p:spPr>
          <a:xfrm flipH="1" flipV="1">
            <a:off x="2618628" y="2478445"/>
            <a:ext cx="247738" cy="9146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CA3318-87AF-8F44-6ECC-128A3B3B2E87}"/>
              </a:ext>
            </a:extLst>
          </p:cNvPr>
          <p:cNvCxnSpPr>
            <a:cxnSpLocks/>
            <a:stCxn id="588" idx="1"/>
          </p:cNvCxnSpPr>
          <p:nvPr/>
        </p:nvCxnSpPr>
        <p:spPr>
          <a:xfrm flipH="1" flipV="1">
            <a:off x="2724618" y="2449252"/>
            <a:ext cx="136804" cy="9608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363038"/>
              </p:ext>
            </p:extLst>
          </p:nvPr>
        </p:nvGraphicFramePr>
        <p:xfrm>
          <a:off x="509288" y="2222524"/>
          <a:ext cx="9050866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5022820" imgH="2540288" progId="Excel.SheetBinaryMacroEnabled.12">
                  <p:embed/>
                </p:oleObj>
              </mc:Choice>
              <mc:Fallback>
                <p:oleObj name="Binary Worksheet" r:id="rId2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8" y="2222524"/>
                        <a:ext cx="9050866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E9A7CBB-DBCA-0BB9-5D70-44E25DDFA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695740"/>
              </p:ext>
            </p:extLst>
          </p:nvPr>
        </p:nvGraphicFramePr>
        <p:xfrm>
          <a:off x="509288" y="538223"/>
          <a:ext cx="9050866" cy="1583911"/>
        </p:xfrm>
        <a:graphic>
          <a:graphicData uri="http://schemas.openxmlformats.org/drawingml/2006/table">
            <a:tbl>
              <a:tblPr firstRow="1" firstCol="1" bandRow="1"/>
              <a:tblGrid>
                <a:gridCol w="1779040">
                  <a:extLst>
                    <a:ext uri="{9D8B030D-6E8A-4147-A177-3AD203B41FA5}">
                      <a16:colId xmlns:a16="http://schemas.microsoft.com/office/drawing/2014/main" val="3836632793"/>
                    </a:ext>
                  </a:extLst>
                </a:gridCol>
                <a:gridCol w="1400994">
                  <a:extLst>
                    <a:ext uri="{9D8B030D-6E8A-4147-A177-3AD203B41FA5}">
                      <a16:colId xmlns:a16="http://schemas.microsoft.com/office/drawing/2014/main" val="3171916749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593578605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3917198631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2708731188"/>
                    </a:ext>
                  </a:extLst>
                </a:gridCol>
                <a:gridCol w="1067424">
                  <a:extLst>
                    <a:ext uri="{9D8B030D-6E8A-4147-A177-3AD203B41FA5}">
                      <a16:colId xmlns:a16="http://schemas.microsoft.com/office/drawing/2014/main" val="3598552592"/>
                    </a:ext>
                  </a:extLst>
                </a:gridCol>
              </a:tblGrid>
              <a:tr h="4044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Category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2024 Actuals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2025 Actuals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2026 Actuals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Program 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% of Program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853374"/>
                  </a:ext>
                </a:extLst>
              </a:tr>
              <a:tr h="1480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Internal Labor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$29,357.90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$181,290.67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$28,272.39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$238,920.96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~4%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254347"/>
                  </a:ext>
                </a:extLst>
              </a:tr>
              <a:tr h="2696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Materials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$601,379.80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$371,819.58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$46,040.04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$1,019,239.42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~18%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849723"/>
                  </a:ext>
                </a:extLst>
              </a:tr>
              <a:tr h="3049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Outside Services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$103,408.84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$2,482,742.20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$1,698,535.37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$4,284,686.41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~76%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811271"/>
                  </a:ext>
                </a:extLst>
              </a:tr>
              <a:tr h="1480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Assessments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$7,059.70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$94,267.21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$16,970.35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$118,297.26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~2%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82539"/>
                  </a:ext>
                </a:extLst>
              </a:tr>
              <a:tr h="2696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$741,206.24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$3,130,319.66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$1,789,818.15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$5,661,344.05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100%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125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C2193-B7FE-D8BE-DE47-7FE1525029A6}"/>
              </a:ext>
            </a:extLst>
          </p:cNvPr>
          <p:cNvSpPr txBox="1"/>
          <p:nvPr/>
        </p:nvSpPr>
        <p:spPr>
          <a:xfrm>
            <a:off x="420345" y="3027795"/>
            <a:ext cx="851185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Current Risk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Legacy JMUX equipment old and delicate. Potential for Outage. 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Ran into faulty connectors that are over 25 years old and not readily available with vendors.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Potential brittle fiber patch panels, Face plates, connectors and cables.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Weather delay and delay in installing the equipment at sub-station (tracking weekly).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Potential Schedule delays due to other major substation project conflicts.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3A67E-29DB-19F7-057D-329C6D37C7B4}"/>
              </a:ext>
            </a:extLst>
          </p:cNvPr>
          <p:cNvSpPr txBox="1"/>
          <p:nvPr/>
        </p:nvSpPr>
        <p:spPr>
          <a:xfrm>
            <a:off x="420345" y="476394"/>
            <a:ext cx="9199984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i="1" dirty="0"/>
              <a:t>Next Steps</a:t>
            </a:r>
          </a:p>
          <a:p>
            <a:pPr marL="342900" indent="-342900">
              <a:buAutoNum type="arabicPeriod"/>
            </a:pPr>
            <a:r>
              <a:rPr lang="en-US" dirty="0"/>
              <a:t>Work with  B&amp;M to test the RTU circuit that was run by CNI team. </a:t>
            </a:r>
          </a:p>
          <a:p>
            <a:pPr marL="342900" indent="-342900">
              <a:buAutoNum type="arabicPeriod"/>
            </a:pPr>
            <a:r>
              <a:rPr lang="en-US" dirty="0"/>
              <a:t>Make sure all Phase 1 nodes are built into the network GUI and can be accessed remotely. Also need to check that all routers are configured as per SSP. </a:t>
            </a:r>
          </a:p>
          <a:p>
            <a:pPr marL="342900" indent="-342900">
              <a:buAutoNum type="arabicPeriod"/>
            </a:pPr>
            <a:r>
              <a:rPr lang="en-US" dirty="0"/>
              <a:t>Complete testing on test RTU and work with B&amp;M to go over MOP to move production RTU. </a:t>
            </a:r>
          </a:p>
          <a:p>
            <a:pPr marL="342900" indent="-342900">
              <a:buAutoNum type="arabicPeriod"/>
            </a:pPr>
            <a:r>
              <a:rPr lang="en-US" dirty="0"/>
              <a:t>Follow up with Hawkey to make sure the site surveys are scheduled for Phase 2 sites.</a:t>
            </a:r>
          </a:p>
          <a:p>
            <a:pPr marL="342900" indent="-342900">
              <a:buAutoNum type="arabicPeriod"/>
            </a:pPr>
            <a:r>
              <a:rPr lang="en-US" dirty="0"/>
              <a:t>Track PAR control design and equipment ordered for 6 sites.</a:t>
            </a:r>
          </a:p>
          <a:p>
            <a:pPr marL="342900" indent="-342900">
              <a:buAutoNum type="arabicPeriod"/>
            </a:pPr>
            <a:r>
              <a:rPr lang="en-US" dirty="0"/>
              <a:t>Keep tracking IFR/IFCs – 9/36 received to date. 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A9CCD6-920C-E84D-72A8-1BBBCCB416C2}"/>
              </a:ext>
            </a:extLst>
          </p:cNvPr>
          <p:cNvSpPr txBox="1">
            <a:spLocks/>
          </p:cNvSpPr>
          <p:nvPr/>
        </p:nvSpPr>
        <p:spPr>
          <a:xfrm>
            <a:off x="131975" y="1600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147174</TotalTime>
  <Words>1637</Words>
  <Application>Microsoft Office PowerPoint</Application>
  <PresentationFormat>Widescreen</PresentationFormat>
  <Paragraphs>500</Paragraphs>
  <Slides>10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931</cp:revision>
  <dcterms:modified xsi:type="dcterms:W3CDTF">2026-04-23T16:09:53Z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