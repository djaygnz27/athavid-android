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Next Steps &amp; Current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DD7EE"/>
                </a:solidFill>
              </a:rPr>
              <a:t>PRJ13797: JMUX Replacement  |  PSEG Long Island  |  April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005840"/>
            <a:ext cx="11731752" cy="3291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1005840"/>
            <a:ext cx="117317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📋  NEXT STEPS — Priority Order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335024"/>
            <a:ext cx="11731752" cy="2798064"/>
          </a:xfrm>
          <a:prstGeom prst="rect">
            <a:avLst/>
          </a:prstGeom>
          <a:solidFill>
            <a:srgbClr val="F2F2F2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1371600"/>
            <a:ext cx="57607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" y="1444752"/>
            <a:ext cx="310896" cy="31089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444752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1️⃣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1408176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F3964"/>
                </a:solidFill>
              </a:rPr>
              <a:t>Resolve DNS (.11→.15, .21→.25) — confirm NSP GUI access to ALL Nokia routers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3208" y="16276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505050"/>
                </a:solidFill>
              </a:rPr>
              <a:t>[Vic / Lee / Wayne]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1371600"/>
            <a:ext cx="57607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27064" y="1444752"/>
            <a:ext cx="310896" cy="31089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27064" y="1444752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2️⃣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2824" y="1408176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F3964"/>
                </a:solidFill>
              </a:rPr>
              <a:t>Execute RTU serial port test at Hicksville — validate pinout before Phase 2 construction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91088" y="16276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505050"/>
                </a:solidFill>
              </a:rPr>
              <a:t>[Ethan / John Ng / Jay]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" y="1901952"/>
            <a:ext cx="57607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9184" y="1975104"/>
            <a:ext cx="310896" cy="31089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" y="1975104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3️⃣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193852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F3964"/>
                </a:solidFill>
              </a:rPr>
              <a:t>Relay RTU cutover to Nokia network — first production circuit migration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93208" y="215798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505050"/>
                </a:solidFill>
              </a:rPr>
              <a:t>[Lee / John Ng]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0488" y="1901952"/>
            <a:ext cx="5760720" cy="475488"/>
          </a:xfrm>
          <a:prstGeom prst="rect">
            <a:avLst/>
          </a:prstGeom>
          <a:solidFill>
            <a:srgbClr val="FFE0E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27064" y="1975104"/>
            <a:ext cx="310896" cy="31089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27064" y="1975104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4️⃣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92824" y="193852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⚠️ Place PO — Iniven RC-30 (6 PAR sites) — 8-WEEK LEAD TIME — ORDER IMMEDIATELY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91088" y="215798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505050"/>
                </a:solidFill>
              </a:rPr>
              <a:t>[Jay]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2608" y="2432304"/>
            <a:ext cx="5760720" cy="475488"/>
          </a:xfrm>
          <a:prstGeom prst="rect">
            <a:avLst/>
          </a:prstGeom>
          <a:solidFill>
            <a:srgbClr val="FFE0E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" y="2505456"/>
            <a:ext cx="310896" cy="31089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184" y="2505456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5️⃣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" y="24688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⚠️ Start PAR engineering design concurrently with PO placement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93208" y="268833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505050"/>
                </a:solidFill>
              </a:rPr>
              <a:t>[BMcD / Jay]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90488" y="2432304"/>
            <a:ext cx="57607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27064" y="2505456"/>
            <a:ext cx="310896" cy="31089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27064" y="2505456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6️⃣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92824" y="24688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F3964"/>
                </a:solidFill>
              </a:rPr>
              <a:t>Northport C37.94 card — bundle order with Phase 2 equipment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91088" y="268833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505050"/>
                </a:solidFill>
              </a:rPr>
              <a:t>[Jay / BMcD]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2608" y="2962656"/>
            <a:ext cx="57607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9184" y="3035808"/>
            <a:ext cx="310896" cy="31089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9184" y="3035808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7️⃣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" y="299923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F3964"/>
                </a:solidFill>
              </a:rPr>
              <a:t>PAR pilot connectivity test — confirm wiring at Northport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93208" y="3218687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505050"/>
                </a:solidFill>
              </a:rPr>
              <a:t>[BMcD / Hawkeye]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90488" y="2962656"/>
            <a:ext cx="57607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27064" y="3035808"/>
            <a:ext cx="310896" cy="31089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27064" y="3035808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8️⃣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92824" y="299923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F3964"/>
                </a:solidFill>
              </a:rPr>
              <a:t>Hawkeye site surveys — cable &amp; SFP inventory across all Phase 2 sites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91088" y="3218687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505050"/>
                </a:solidFill>
              </a:rPr>
              <a:t>[Vinny / Hawkeye]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2608" y="3493008"/>
            <a:ext cx="576072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29184" y="3566160"/>
            <a:ext cx="310896" cy="31089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9184" y="3566160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9️⃣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4944" y="3529584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F3964"/>
                </a:solidFill>
              </a:rPr>
              <a:t>Confirm Nokia training dates with Glenn — identify attendees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93208" y="3749039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505050"/>
                </a:solidFill>
              </a:rPr>
              <a:t>[Jay]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90488" y="3493008"/>
            <a:ext cx="5760720" cy="475488"/>
          </a:xfrm>
          <a:prstGeom prst="rect">
            <a:avLst/>
          </a:prstGeom>
          <a:solidFill>
            <a:srgbClr val="FFE0E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27064" y="3566160"/>
            <a:ext cx="310896" cy="31089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27064" y="3566160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🔟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92824" y="3529584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Lindenhurst IFR submission — due Monday April 27 ⚠️ IMMINENT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991088" y="3749039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505050"/>
                </a:solidFill>
              </a:rPr>
              <a:t>[Burns &amp; McDonnell]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8600" y="4206240"/>
            <a:ext cx="11731752" cy="32918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28600" y="4206240"/>
            <a:ext cx="117317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⚠️  CURRENT RISKS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8600" y="4535424"/>
            <a:ext cx="11731752" cy="1993392"/>
          </a:xfrm>
          <a:prstGeom prst="rect">
            <a:avLst/>
          </a:prstGeom>
          <a:solidFill>
            <a:srgbClr val="F2F2F2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92608" y="4572000"/>
            <a:ext cx="2212848" cy="1901952"/>
          </a:xfrm>
          <a:prstGeom prst="rect">
            <a:avLst/>
          </a:prstGeom>
          <a:solidFill>
            <a:srgbClr val="FFE0E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47472" y="4645152"/>
            <a:ext cx="292608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47472" y="464515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7472" y="4974336"/>
            <a:ext cx="210312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F3964"/>
                </a:solidFill>
              </a:rPr>
              <a:t>PAR Serial-to-IP Equipment (Iniven RC-30) — 8-week lead time. PO not yet placed. CRITICAL PATH.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578608" y="4572000"/>
            <a:ext cx="2212848" cy="1901952"/>
          </a:xfrm>
          <a:prstGeom prst="rect">
            <a:avLst/>
          </a:prstGeom>
          <a:solidFill>
            <a:srgbClr val="FFF2CC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633472" y="4645152"/>
            <a:ext cx="292608" cy="2926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633472" y="464515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🟡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33472" y="4974336"/>
            <a:ext cx="210312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F3964"/>
                </a:solidFill>
              </a:rPr>
              <a:t>DNS update — NSP installed 4/21, status being confirmed. DNS fix escalated to Vic.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64608" y="4572000"/>
            <a:ext cx="2212848" cy="1901952"/>
          </a:xfrm>
          <a:prstGeom prst="rect">
            <a:avLst/>
          </a:prstGeom>
          <a:solidFill>
            <a:srgbClr val="FFF2CC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919472" y="4645152"/>
            <a:ext cx="292608" cy="2926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19472" y="464515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🟡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919472" y="4974336"/>
            <a:ext cx="210312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F3964"/>
                </a:solidFill>
              </a:rPr>
              <a:t>Weather delays — substation closures possible at temps &gt;90°F. Potential 2-week delay per event. (Risk — not yet an issue. Monitor summer forecast. Schedule critical work in cooler windows.)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150608" y="4572000"/>
            <a:ext cx="2212848" cy="1901952"/>
          </a:xfrm>
          <a:prstGeom prst="rect">
            <a:avLst/>
          </a:prstGeom>
          <a:solidFill>
            <a:srgbClr val="FFF2CC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205472" y="4645152"/>
            <a:ext cx="292608" cy="2926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205472" y="464515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🟡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205472" y="4974336"/>
            <a:ext cx="210312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F3964"/>
                </a:solidFill>
              </a:rPr>
              <a:t>RTU serial test scheduling — DB9 cables delivered to John Ng ✅. Awaiting test date from relay team.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436608" y="4572000"/>
            <a:ext cx="2212848" cy="1901952"/>
          </a:xfrm>
          <a:prstGeom prst="rect">
            <a:avLst/>
          </a:prstGeom>
          <a:solidFill>
            <a:srgbClr val="FFF2CC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491472" y="4645152"/>
            <a:ext cx="292608" cy="2926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491472" y="464515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🟡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491472" y="4974336"/>
            <a:ext cx="210312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F3964"/>
                </a:solidFill>
              </a:rPr>
              <a:t>Melville &amp; 6DL Pilgrim IFR/IFC — dates still TBD. Monitoring for schedule impact.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82880" y="6583680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 |  JMUX Replacement Program  |  PRJ13797  |  Confidential  |  April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