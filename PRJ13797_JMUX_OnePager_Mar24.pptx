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147477344"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8" autoAdjust="0"/>
    <p:restoredTop sz="94660"/>
  </p:normalViewPr>
  <p:slideViewPr>
    <p:cSldViewPr snapToGrid="0">
      <p:cViewPr varScale="1">
        <p:scale>
          <a:sx n="56" d="100"/>
          <a:sy n="56" d="100"/>
        </p:scale>
        <p:origin x="43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107D6-5A55-D766-BAE7-470AEB7C19B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810432-714A-9B21-F285-07D18DFACA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C926021-6EFA-2702-8F1C-72A66A0A1CEE}"/>
              </a:ext>
            </a:extLst>
          </p:cNvPr>
          <p:cNvSpPr>
            <a:spLocks noGrp="1"/>
          </p:cNvSpPr>
          <p:nvPr>
            <p:ph type="dt" sz="half" idx="10"/>
          </p:nvPr>
        </p:nvSpPr>
        <p:spPr/>
        <p:txBody>
          <a:bodyPr/>
          <a:lstStyle/>
          <a:p>
            <a:fld id="{9008EDFA-57C2-4E8C-B30D-358C5493D041}" type="datetimeFigureOut">
              <a:rPr lang="en-US" smtClean="0"/>
              <a:t>3/12/2026</a:t>
            </a:fld>
            <a:endParaRPr lang="en-US"/>
          </a:p>
        </p:txBody>
      </p:sp>
      <p:sp>
        <p:nvSpPr>
          <p:cNvPr id="5" name="Footer Placeholder 4">
            <a:extLst>
              <a:ext uri="{FF2B5EF4-FFF2-40B4-BE49-F238E27FC236}">
                <a16:creationId xmlns:a16="http://schemas.microsoft.com/office/drawing/2014/main" id="{1CEC0D64-AB68-A834-3083-204B456762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4C093F-26DD-5D4B-075E-B71C07416CAC}"/>
              </a:ext>
            </a:extLst>
          </p:cNvPr>
          <p:cNvSpPr>
            <a:spLocks noGrp="1"/>
          </p:cNvSpPr>
          <p:nvPr>
            <p:ph type="sldNum" sz="quarter" idx="12"/>
          </p:nvPr>
        </p:nvSpPr>
        <p:spPr/>
        <p:txBody>
          <a:bodyPr/>
          <a:lstStyle/>
          <a:p>
            <a:fld id="{98BA7085-57AB-413A-A93C-FFF476CB83CD}" type="slidenum">
              <a:rPr lang="en-US" smtClean="0"/>
              <a:t>‹#›</a:t>
            </a:fld>
            <a:endParaRPr lang="en-US"/>
          </a:p>
        </p:txBody>
      </p:sp>
    </p:spTree>
    <p:extLst>
      <p:ext uri="{BB962C8B-B14F-4D97-AF65-F5344CB8AC3E}">
        <p14:creationId xmlns:p14="http://schemas.microsoft.com/office/powerpoint/2010/main" val="18222053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B2696-3797-CB4A-F6D6-2AF4C5726A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4791FB-E8B3-6E71-3EE8-525CF51C15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E5D62B-E8AE-35A9-5EC7-8D90629E5D73}"/>
              </a:ext>
            </a:extLst>
          </p:cNvPr>
          <p:cNvSpPr>
            <a:spLocks noGrp="1"/>
          </p:cNvSpPr>
          <p:nvPr>
            <p:ph type="dt" sz="half" idx="10"/>
          </p:nvPr>
        </p:nvSpPr>
        <p:spPr/>
        <p:txBody>
          <a:bodyPr/>
          <a:lstStyle/>
          <a:p>
            <a:fld id="{9008EDFA-57C2-4E8C-B30D-358C5493D041}" type="datetimeFigureOut">
              <a:rPr lang="en-US" smtClean="0"/>
              <a:t>3/12/2026</a:t>
            </a:fld>
            <a:endParaRPr lang="en-US"/>
          </a:p>
        </p:txBody>
      </p:sp>
      <p:sp>
        <p:nvSpPr>
          <p:cNvPr id="5" name="Footer Placeholder 4">
            <a:extLst>
              <a:ext uri="{FF2B5EF4-FFF2-40B4-BE49-F238E27FC236}">
                <a16:creationId xmlns:a16="http://schemas.microsoft.com/office/drawing/2014/main" id="{D37A3E2D-CCFF-E136-0635-9167E78C11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7E93FA-BEB7-F6CD-D583-9FA9364FFF60}"/>
              </a:ext>
            </a:extLst>
          </p:cNvPr>
          <p:cNvSpPr>
            <a:spLocks noGrp="1"/>
          </p:cNvSpPr>
          <p:nvPr>
            <p:ph type="sldNum" sz="quarter" idx="12"/>
          </p:nvPr>
        </p:nvSpPr>
        <p:spPr/>
        <p:txBody>
          <a:bodyPr/>
          <a:lstStyle/>
          <a:p>
            <a:fld id="{98BA7085-57AB-413A-A93C-FFF476CB83CD}" type="slidenum">
              <a:rPr lang="en-US" smtClean="0"/>
              <a:t>‹#›</a:t>
            </a:fld>
            <a:endParaRPr lang="en-US"/>
          </a:p>
        </p:txBody>
      </p:sp>
    </p:spTree>
    <p:extLst>
      <p:ext uri="{BB962C8B-B14F-4D97-AF65-F5344CB8AC3E}">
        <p14:creationId xmlns:p14="http://schemas.microsoft.com/office/powerpoint/2010/main" val="28715182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48132-E7D8-0000-34C4-3C552A08629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B229990-1927-44F6-061E-2E8D439619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8549D7-C41D-8DC4-CB63-BE449C941761}"/>
              </a:ext>
            </a:extLst>
          </p:cNvPr>
          <p:cNvSpPr>
            <a:spLocks noGrp="1"/>
          </p:cNvSpPr>
          <p:nvPr>
            <p:ph type="dt" sz="half" idx="10"/>
          </p:nvPr>
        </p:nvSpPr>
        <p:spPr/>
        <p:txBody>
          <a:bodyPr/>
          <a:lstStyle/>
          <a:p>
            <a:fld id="{9008EDFA-57C2-4E8C-B30D-358C5493D041}" type="datetimeFigureOut">
              <a:rPr lang="en-US" smtClean="0"/>
              <a:t>3/12/2026</a:t>
            </a:fld>
            <a:endParaRPr lang="en-US"/>
          </a:p>
        </p:txBody>
      </p:sp>
      <p:sp>
        <p:nvSpPr>
          <p:cNvPr id="5" name="Footer Placeholder 4">
            <a:extLst>
              <a:ext uri="{FF2B5EF4-FFF2-40B4-BE49-F238E27FC236}">
                <a16:creationId xmlns:a16="http://schemas.microsoft.com/office/drawing/2014/main" id="{92243EB3-EDDE-1B98-A567-48EEE4130A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AB725D-6F7C-3B3F-06B3-EADECF8EA418}"/>
              </a:ext>
            </a:extLst>
          </p:cNvPr>
          <p:cNvSpPr>
            <a:spLocks noGrp="1"/>
          </p:cNvSpPr>
          <p:nvPr>
            <p:ph type="sldNum" sz="quarter" idx="12"/>
          </p:nvPr>
        </p:nvSpPr>
        <p:spPr/>
        <p:txBody>
          <a:bodyPr/>
          <a:lstStyle/>
          <a:p>
            <a:fld id="{98BA7085-57AB-413A-A93C-FFF476CB83CD}" type="slidenum">
              <a:rPr lang="en-US" smtClean="0"/>
              <a:t>‹#›</a:t>
            </a:fld>
            <a:endParaRPr lang="en-US"/>
          </a:p>
        </p:txBody>
      </p:sp>
    </p:spTree>
    <p:extLst>
      <p:ext uri="{BB962C8B-B14F-4D97-AF65-F5344CB8AC3E}">
        <p14:creationId xmlns:p14="http://schemas.microsoft.com/office/powerpoint/2010/main" val="2086024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FED10-2A29-C894-A50A-5B0AAC5F00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EEBB83-9FD8-54D0-5DD5-4CF142AF0B5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967F91-93CA-16D5-85F7-13B5CEF37F8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B98DD57-7586-726F-19D2-205C22534270}"/>
              </a:ext>
            </a:extLst>
          </p:cNvPr>
          <p:cNvSpPr>
            <a:spLocks noGrp="1"/>
          </p:cNvSpPr>
          <p:nvPr>
            <p:ph type="dt" sz="half" idx="10"/>
          </p:nvPr>
        </p:nvSpPr>
        <p:spPr/>
        <p:txBody>
          <a:bodyPr/>
          <a:lstStyle/>
          <a:p>
            <a:fld id="{9008EDFA-57C2-4E8C-B30D-358C5493D041}" type="datetimeFigureOut">
              <a:rPr lang="en-US" smtClean="0"/>
              <a:t>3/12/2026</a:t>
            </a:fld>
            <a:endParaRPr lang="en-US"/>
          </a:p>
        </p:txBody>
      </p:sp>
      <p:sp>
        <p:nvSpPr>
          <p:cNvPr id="6" name="Footer Placeholder 5">
            <a:extLst>
              <a:ext uri="{FF2B5EF4-FFF2-40B4-BE49-F238E27FC236}">
                <a16:creationId xmlns:a16="http://schemas.microsoft.com/office/drawing/2014/main" id="{8CAF3067-EB38-E7C5-4154-ABB4073EBC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560F4C-77E9-4D37-DA24-B0148ECE48B6}"/>
              </a:ext>
            </a:extLst>
          </p:cNvPr>
          <p:cNvSpPr>
            <a:spLocks noGrp="1"/>
          </p:cNvSpPr>
          <p:nvPr>
            <p:ph type="sldNum" sz="quarter" idx="12"/>
          </p:nvPr>
        </p:nvSpPr>
        <p:spPr/>
        <p:txBody>
          <a:bodyPr/>
          <a:lstStyle/>
          <a:p>
            <a:fld id="{98BA7085-57AB-413A-A93C-FFF476CB83CD}" type="slidenum">
              <a:rPr lang="en-US" smtClean="0"/>
              <a:t>‹#›</a:t>
            </a:fld>
            <a:endParaRPr lang="en-US"/>
          </a:p>
        </p:txBody>
      </p:sp>
    </p:spTree>
    <p:extLst>
      <p:ext uri="{BB962C8B-B14F-4D97-AF65-F5344CB8AC3E}">
        <p14:creationId xmlns:p14="http://schemas.microsoft.com/office/powerpoint/2010/main" val="489491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DD94A-B668-D9A7-6FF9-6241CF9F166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9324DE1-2DA6-E9D1-F2B4-3AC154A2BD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EEDC18-8E55-7F07-A094-6629CF1366B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F0DF2F6-99AF-F82F-6D66-4D0A9636F8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A88B45B-729B-FF8C-1803-A83169D97E3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300DAE7-6F77-D48C-599A-325AFD543F84}"/>
              </a:ext>
            </a:extLst>
          </p:cNvPr>
          <p:cNvSpPr>
            <a:spLocks noGrp="1"/>
          </p:cNvSpPr>
          <p:nvPr>
            <p:ph type="dt" sz="half" idx="10"/>
          </p:nvPr>
        </p:nvSpPr>
        <p:spPr/>
        <p:txBody>
          <a:bodyPr/>
          <a:lstStyle/>
          <a:p>
            <a:fld id="{9008EDFA-57C2-4E8C-B30D-358C5493D041}" type="datetimeFigureOut">
              <a:rPr lang="en-US" smtClean="0"/>
              <a:t>3/12/2026</a:t>
            </a:fld>
            <a:endParaRPr lang="en-US"/>
          </a:p>
        </p:txBody>
      </p:sp>
      <p:sp>
        <p:nvSpPr>
          <p:cNvPr id="8" name="Footer Placeholder 7">
            <a:extLst>
              <a:ext uri="{FF2B5EF4-FFF2-40B4-BE49-F238E27FC236}">
                <a16:creationId xmlns:a16="http://schemas.microsoft.com/office/drawing/2014/main" id="{200AD7E4-C959-6D0B-F538-48FA51FB2A9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4BBCD07-754D-E91B-FB25-D94E93412452}"/>
              </a:ext>
            </a:extLst>
          </p:cNvPr>
          <p:cNvSpPr>
            <a:spLocks noGrp="1"/>
          </p:cNvSpPr>
          <p:nvPr>
            <p:ph type="sldNum" sz="quarter" idx="12"/>
          </p:nvPr>
        </p:nvSpPr>
        <p:spPr/>
        <p:txBody>
          <a:bodyPr/>
          <a:lstStyle/>
          <a:p>
            <a:fld id="{98BA7085-57AB-413A-A93C-FFF476CB83CD}" type="slidenum">
              <a:rPr lang="en-US" smtClean="0"/>
              <a:t>‹#›</a:t>
            </a:fld>
            <a:endParaRPr lang="en-US"/>
          </a:p>
        </p:txBody>
      </p:sp>
    </p:spTree>
    <p:extLst>
      <p:ext uri="{BB962C8B-B14F-4D97-AF65-F5344CB8AC3E}">
        <p14:creationId xmlns:p14="http://schemas.microsoft.com/office/powerpoint/2010/main" val="12185209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9CF65-E98C-F6E2-AEE5-EB5B5473A4A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D03E59E-E6AF-56E4-B363-EFDE893363C6}"/>
              </a:ext>
            </a:extLst>
          </p:cNvPr>
          <p:cNvSpPr>
            <a:spLocks noGrp="1"/>
          </p:cNvSpPr>
          <p:nvPr>
            <p:ph type="dt" sz="half" idx="10"/>
          </p:nvPr>
        </p:nvSpPr>
        <p:spPr/>
        <p:txBody>
          <a:bodyPr/>
          <a:lstStyle/>
          <a:p>
            <a:fld id="{9008EDFA-57C2-4E8C-B30D-358C5493D041}" type="datetimeFigureOut">
              <a:rPr lang="en-US" smtClean="0"/>
              <a:t>3/12/2026</a:t>
            </a:fld>
            <a:endParaRPr lang="en-US"/>
          </a:p>
        </p:txBody>
      </p:sp>
      <p:sp>
        <p:nvSpPr>
          <p:cNvPr id="4" name="Footer Placeholder 3">
            <a:extLst>
              <a:ext uri="{FF2B5EF4-FFF2-40B4-BE49-F238E27FC236}">
                <a16:creationId xmlns:a16="http://schemas.microsoft.com/office/drawing/2014/main" id="{161229F3-9BA1-7E67-C468-3FF8BB8FE3A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27AE9B6-452B-9941-9314-3D627F5FB290}"/>
              </a:ext>
            </a:extLst>
          </p:cNvPr>
          <p:cNvSpPr>
            <a:spLocks noGrp="1"/>
          </p:cNvSpPr>
          <p:nvPr>
            <p:ph type="sldNum" sz="quarter" idx="12"/>
          </p:nvPr>
        </p:nvSpPr>
        <p:spPr/>
        <p:txBody>
          <a:bodyPr/>
          <a:lstStyle/>
          <a:p>
            <a:fld id="{98BA7085-57AB-413A-A93C-FFF476CB83CD}" type="slidenum">
              <a:rPr lang="en-US" smtClean="0"/>
              <a:t>‹#›</a:t>
            </a:fld>
            <a:endParaRPr lang="en-US"/>
          </a:p>
        </p:txBody>
      </p:sp>
    </p:spTree>
    <p:extLst>
      <p:ext uri="{BB962C8B-B14F-4D97-AF65-F5344CB8AC3E}">
        <p14:creationId xmlns:p14="http://schemas.microsoft.com/office/powerpoint/2010/main" val="11974053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2979C8-9EA5-678A-3A31-12787DFC083F}"/>
              </a:ext>
            </a:extLst>
          </p:cNvPr>
          <p:cNvSpPr>
            <a:spLocks noGrp="1"/>
          </p:cNvSpPr>
          <p:nvPr>
            <p:ph type="dt" sz="half" idx="10"/>
          </p:nvPr>
        </p:nvSpPr>
        <p:spPr/>
        <p:txBody>
          <a:bodyPr/>
          <a:lstStyle/>
          <a:p>
            <a:fld id="{9008EDFA-57C2-4E8C-B30D-358C5493D041}" type="datetimeFigureOut">
              <a:rPr lang="en-US" smtClean="0"/>
              <a:t>3/12/2026</a:t>
            </a:fld>
            <a:endParaRPr lang="en-US"/>
          </a:p>
        </p:txBody>
      </p:sp>
      <p:sp>
        <p:nvSpPr>
          <p:cNvPr id="3" name="Footer Placeholder 2">
            <a:extLst>
              <a:ext uri="{FF2B5EF4-FFF2-40B4-BE49-F238E27FC236}">
                <a16:creationId xmlns:a16="http://schemas.microsoft.com/office/drawing/2014/main" id="{443492D4-CBD4-9432-AC6E-2DF83200431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DD970E4-DA1F-BE1C-F8BA-B34527C15F45}"/>
              </a:ext>
            </a:extLst>
          </p:cNvPr>
          <p:cNvSpPr>
            <a:spLocks noGrp="1"/>
          </p:cNvSpPr>
          <p:nvPr>
            <p:ph type="sldNum" sz="quarter" idx="12"/>
          </p:nvPr>
        </p:nvSpPr>
        <p:spPr/>
        <p:txBody>
          <a:bodyPr/>
          <a:lstStyle/>
          <a:p>
            <a:fld id="{98BA7085-57AB-413A-A93C-FFF476CB83CD}" type="slidenum">
              <a:rPr lang="en-US" smtClean="0"/>
              <a:t>‹#›</a:t>
            </a:fld>
            <a:endParaRPr lang="en-US"/>
          </a:p>
        </p:txBody>
      </p:sp>
    </p:spTree>
    <p:extLst>
      <p:ext uri="{BB962C8B-B14F-4D97-AF65-F5344CB8AC3E}">
        <p14:creationId xmlns:p14="http://schemas.microsoft.com/office/powerpoint/2010/main" val="406129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8EC7B-8077-3CE7-986A-AD7A1782DD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CAA1E5E-0F28-79F7-337B-CB4E1FEA85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DC52412-C282-29C8-B770-50E0A1D5A6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6C48E4-0FFE-A424-F3F2-018CCA231E3A}"/>
              </a:ext>
            </a:extLst>
          </p:cNvPr>
          <p:cNvSpPr>
            <a:spLocks noGrp="1"/>
          </p:cNvSpPr>
          <p:nvPr>
            <p:ph type="dt" sz="half" idx="10"/>
          </p:nvPr>
        </p:nvSpPr>
        <p:spPr/>
        <p:txBody>
          <a:bodyPr/>
          <a:lstStyle/>
          <a:p>
            <a:fld id="{9008EDFA-57C2-4E8C-B30D-358C5493D041}" type="datetimeFigureOut">
              <a:rPr lang="en-US" smtClean="0"/>
              <a:t>3/12/2026</a:t>
            </a:fld>
            <a:endParaRPr lang="en-US"/>
          </a:p>
        </p:txBody>
      </p:sp>
      <p:sp>
        <p:nvSpPr>
          <p:cNvPr id="6" name="Footer Placeholder 5">
            <a:extLst>
              <a:ext uri="{FF2B5EF4-FFF2-40B4-BE49-F238E27FC236}">
                <a16:creationId xmlns:a16="http://schemas.microsoft.com/office/drawing/2014/main" id="{1B84D113-BDF4-857C-E050-12B7602628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6F430D-86A4-4A7A-B403-210DE788D8D3}"/>
              </a:ext>
            </a:extLst>
          </p:cNvPr>
          <p:cNvSpPr>
            <a:spLocks noGrp="1"/>
          </p:cNvSpPr>
          <p:nvPr>
            <p:ph type="sldNum" sz="quarter" idx="12"/>
          </p:nvPr>
        </p:nvSpPr>
        <p:spPr/>
        <p:txBody>
          <a:bodyPr/>
          <a:lstStyle/>
          <a:p>
            <a:fld id="{98BA7085-57AB-413A-A93C-FFF476CB83CD}" type="slidenum">
              <a:rPr lang="en-US" smtClean="0"/>
              <a:t>‹#›</a:t>
            </a:fld>
            <a:endParaRPr lang="en-US"/>
          </a:p>
        </p:txBody>
      </p:sp>
    </p:spTree>
    <p:extLst>
      <p:ext uri="{BB962C8B-B14F-4D97-AF65-F5344CB8AC3E}">
        <p14:creationId xmlns:p14="http://schemas.microsoft.com/office/powerpoint/2010/main" val="1438453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D6F9D-7957-464C-0EA5-F80694EEA7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CD3A065-4CFE-8D2F-C0EF-6775181918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35D9D5A-9962-6DE9-DE9A-E09863C3BD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A51E52-57A2-2CAB-1C17-F2E72D202B82}"/>
              </a:ext>
            </a:extLst>
          </p:cNvPr>
          <p:cNvSpPr>
            <a:spLocks noGrp="1"/>
          </p:cNvSpPr>
          <p:nvPr>
            <p:ph type="dt" sz="half" idx="10"/>
          </p:nvPr>
        </p:nvSpPr>
        <p:spPr/>
        <p:txBody>
          <a:bodyPr/>
          <a:lstStyle/>
          <a:p>
            <a:fld id="{9008EDFA-57C2-4E8C-B30D-358C5493D041}" type="datetimeFigureOut">
              <a:rPr lang="en-US" smtClean="0"/>
              <a:t>3/12/2026</a:t>
            </a:fld>
            <a:endParaRPr lang="en-US"/>
          </a:p>
        </p:txBody>
      </p:sp>
      <p:sp>
        <p:nvSpPr>
          <p:cNvPr id="6" name="Footer Placeholder 5">
            <a:extLst>
              <a:ext uri="{FF2B5EF4-FFF2-40B4-BE49-F238E27FC236}">
                <a16:creationId xmlns:a16="http://schemas.microsoft.com/office/drawing/2014/main" id="{403E1C60-051E-768B-584A-880DC43F5C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B7E84-89AB-F021-6759-3C4F68855623}"/>
              </a:ext>
            </a:extLst>
          </p:cNvPr>
          <p:cNvSpPr>
            <a:spLocks noGrp="1"/>
          </p:cNvSpPr>
          <p:nvPr>
            <p:ph type="sldNum" sz="quarter" idx="12"/>
          </p:nvPr>
        </p:nvSpPr>
        <p:spPr/>
        <p:txBody>
          <a:bodyPr/>
          <a:lstStyle/>
          <a:p>
            <a:fld id="{98BA7085-57AB-413A-A93C-FFF476CB83CD}" type="slidenum">
              <a:rPr lang="en-US" smtClean="0"/>
              <a:t>‹#›</a:t>
            </a:fld>
            <a:endParaRPr lang="en-US"/>
          </a:p>
        </p:txBody>
      </p:sp>
    </p:spTree>
    <p:extLst>
      <p:ext uri="{BB962C8B-B14F-4D97-AF65-F5344CB8AC3E}">
        <p14:creationId xmlns:p14="http://schemas.microsoft.com/office/powerpoint/2010/main" val="396532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280C7-8825-3AB6-BB66-7FCE6CEA549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CA83F41-2CDD-E7DC-BD62-53E95BBF98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23409E-F5ED-63E5-F676-B1ABCBCC4A08}"/>
              </a:ext>
            </a:extLst>
          </p:cNvPr>
          <p:cNvSpPr>
            <a:spLocks noGrp="1"/>
          </p:cNvSpPr>
          <p:nvPr>
            <p:ph type="dt" sz="half" idx="10"/>
          </p:nvPr>
        </p:nvSpPr>
        <p:spPr/>
        <p:txBody>
          <a:bodyPr/>
          <a:lstStyle/>
          <a:p>
            <a:fld id="{9008EDFA-57C2-4E8C-B30D-358C5493D041}" type="datetimeFigureOut">
              <a:rPr lang="en-US" smtClean="0"/>
              <a:t>3/12/2026</a:t>
            </a:fld>
            <a:endParaRPr lang="en-US"/>
          </a:p>
        </p:txBody>
      </p:sp>
      <p:sp>
        <p:nvSpPr>
          <p:cNvPr id="5" name="Footer Placeholder 4">
            <a:extLst>
              <a:ext uri="{FF2B5EF4-FFF2-40B4-BE49-F238E27FC236}">
                <a16:creationId xmlns:a16="http://schemas.microsoft.com/office/drawing/2014/main" id="{19190474-27C6-43F1-9957-1CD24ED4EB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B17185-D359-5811-553C-E8BA15098FEA}"/>
              </a:ext>
            </a:extLst>
          </p:cNvPr>
          <p:cNvSpPr>
            <a:spLocks noGrp="1"/>
          </p:cNvSpPr>
          <p:nvPr>
            <p:ph type="sldNum" sz="quarter" idx="12"/>
          </p:nvPr>
        </p:nvSpPr>
        <p:spPr/>
        <p:txBody>
          <a:bodyPr/>
          <a:lstStyle/>
          <a:p>
            <a:fld id="{98BA7085-57AB-413A-A93C-FFF476CB83CD}" type="slidenum">
              <a:rPr lang="en-US" smtClean="0"/>
              <a:t>‹#›</a:t>
            </a:fld>
            <a:endParaRPr lang="en-US"/>
          </a:p>
        </p:txBody>
      </p:sp>
    </p:spTree>
    <p:extLst>
      <p:ext uri="{BB962C8B-B14F-4D97-AF65-F5344CB8AC3E}">
        <p14:creationId xmlns:p14="http://schemas.microsoft.com/office/powerpoint/2010/main" val="409464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494D4A-8EBD-8155-ACCB-95B6B5935B0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0F80DC-F344-1547-288F-31FD9554E3F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B04BD2-09E4-61F8-DC07-5F5CB7900AD5}"/>
              </a:ext>
            </a:extLst>
          </p:cNvPr>
          <p:cNvSpPr>
            <a:spLocks noGrp="1"/>
          </p:cNvSpPr>
          <p:nvPr>
            <p:ph type="dt" sz="half" idx="10"/>
          </p:nvPr>
        </p:nvSpPr>
        <p:spPr/>
        <p:txBody>
          <a:bodyPr/>
          <a:lstStyle/>
          <a:p>
            <a:fld id="{9008EDFA-57C2-4E8C-B30D-358C5493D041}" type="datetimeFigureOut">
              <a:rPr lang="en-US" smtClean="0"/>
              <a:t>3/12/2026</a:t>
            </a:fld>
            <a:endParaRPr lang="en-US"/>
          </a:p>
        </p:txBody>
      </p:sp>
      <p:sp>
        <p:nvSpPr>
          <p:cNvPr id="5" name="Footer Placeholder 4">
            <a:extLst>
              <a:ext uri="{FF2B5EF4-FFF2-40B4-BE49-F238E27FC236}">
                <a16:creationId xmlns:a16="http://schemas.microsoft.com/office/drawing/2014/main" id="{A19DC522-D266-8AA2-99EF-B6BB2B44BF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B6BBF5-D77B-C536-13C6-66EDE5BE932E}"/>
              </a:ext>
            </a:extLst>
          </p:cNvPr>
          <p:cNvSpPr>
            <a:spLocks noGrp="1"/>
          </p:cNvSpPr>
          <p:nvPr>
            <p:ph type="sldNum" sz="quarter" idx="12"/>
          </p:nvPr>
        </p:nvSpPr>
        <p:spPr/>
        <p:txBody>
          <a:bodyPr/>
          <a:lstStyle/>
          <a:p>
            <a:fld id="{98BA7085-57AB-413A-A93C-FFF476CB83CD}" type="slidenum">
              <a:rPr lang="en-US" smtClean="0"/>
              <a:t>‹#›</a:t>
            </a:fld>
            <a:endParaRPr lang="en-US"/>
          </a:p>
        </p:txBody>
      </p:sp>
    </p:spTree>
    <p:extLst>
      <p:ext uri="{BB962C8B-B14F-4D97-AF65-F5344CB8AC3E}">
        <p14:creationId xmlns:p14="http://schemas.microsoft.com/office/powerpoint/2010/main" val="4265962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IT_Body_2">
    <p:spTree>
      <p:nvGrpSpPr>
        <p:cNvPr id="1" name=""/>
        <p:cNvGrpSpPr/>
        <p:nvPr/>
      </p:nvGrpSpPr>
      <p:grpSpPr>
        <a:xfrm>
          <a:off x="0" y="0"/>
          <a:ext cx="0" cy="0"/>
          <a:chOff x="0" y="0"/>
          <a:chExt cx="0" cy="0"/>
        </a:xfrm>
      </p:grpSpPr>
      <p:sp>
        <p:nvSpPr>
          <p:cNvPr id="13" name="Title 1"/>
          <p:cNvSpPr>
            <a:spLocks noGrp="1"/>
          </p:cNvSpPr>
          <p:nvPr>
            <p:ph type="title"/>
          </p:nvPr>
        </p:nvSpPr>
        <p:spPr>
          <a:xfrm>
            <a:off x="457200" y="365760"/>
            <a:ext cx="11308080" cy="548640"/>
          </a:xfrm>
        </p:spPr>
        <p:txBody>
          <a:bodyPr/>
          <a:lstStyle/>
          <a:p>
            <a:r>
              <a:rPr lang="en-US" dirty="0"/>
              <a:t>Click to edit Master title style</a:t>
            </a:r>
          </a:p>
        </p:txBody>
      </p:sp>
    </p:spTree>
    <p:extLst>
      <p:ext uri="{BB962C8B-B14F-4D97-AF65-F5344CB8AC3E}">
        <p14:creationId xmlns:p14="http://schemas.microsoft.com/office/powerpoint/2010/main" val="338949359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7B9761-994F-2993-735C-EB7C273F5F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A5894A2-7153-CAD8-1B06-7422F63B06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FEC649-BDFC-28DD-CDA8-615383073C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008EDFA-57C2-4E8C-B30D-358C5493D041}" type="datetimeFigureOut">
              <a:rPr lang="en-US" smtClean="0"/>
              <a:t>3/12/2026</a:t>
            </a:fld>
            <a:endParaRPr lang="en-US"/>
          </a:p>
        </p:txBody>
      </p:sp>
      <p:sp>
        <p:nvSpPr>
          <p:cNvPr id="5" name="Footer Placeholder 4">
            <a:extLst>
              <a:ext uri="{FF2B5EF4-FFF2-40B4-BE49-F238E27FC236}">
                <a16:creationId xmlns:a16="http://schemas.microsoft.com/office/drawing/2014/main" id="{8C07B7D6-69B3-297B-3B43-2BC7A18899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4A961DF-2211-FFBA-D928-7C5445B261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8BA7085-57AB-413A-A93C-FFF476CB83CD}" type="slidenum">
              <a:rPr lang="en-US" smtClean="0"/>
              <a:t>‹#›</a:t>
            </a:fld>
            <a:endParaRPr lang="en-US"/>
          </a:p>
        </p:txBody>
      </p:sp>
    </p:spTree>
    <p:extLst>
      <p:ext uri="{BB962C8B-B14F-4D97-AF65-F5344CB8AC3E}">
        <p14:creationId xmlns:p14="http://schemas.microsoft.com/office/powerpoint/2010/main" val="815352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hyperlink" Target="https://portal.psegliny.com/sites/SO/PSEGLIISSO/Solution%20Delivery/Forms/AllItems.aspx?RootFolder=%2Fsites%2FSO%2FPSEGLIISSO%2FSolution%20Delivery%2F024%2EInfr%20%2D%20Burns%2DMcDonnell%20JMUX%20Replacement&amp;View=%7BF1034167%2D7ACC%2D465A%2DA26E%2D2EFECC9A118D%7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8111D16C-0D70-4DF7-A884-2B965BBE9EE0}"/>
              </a:ext>
            </a:extLst>
          </p:cNvPr>
          <p:cNvSpPr/>
          <p:nvPr/>
        </p:nvSpPr>
        <p:spPr>
          <a:xfrm>
            <a:off x="0" y="6183086"/>
            <a:ext cx="12192000" cy="6688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 Box 43">
            <a:extLst>
              <a:ext uri="{FF2B5EF4-FFF2-40B4-BE49-F238E27FC236}">
                <a16:creationId xmlns:a16="http://schemas.microsoft.com/office/drawing/2014/main" id="{F46A4095-A75E-441B-8801-2005C3DACEC8}"/>
              </a:ext>
            </a:extLst>
          </p:cNvPr>
          <p:cNvSpPr txBox="1"/>
          <p:nvPr/>
        </p:nvSpPr>
        <p:spPr>
          <a:xfrm>
            <a:off x="1" y="4037992"/>
            <a:ext cx="6254880" cy="1366317"/>
          </a:xfrm>
          <a:prstGeom prst="rect">
            <a:avLst/>
          </a:prstGeom>
          <a:solidFill>
            <a:schemeClr val="accent1">
              <a:lumMod val="10000"/>
              <a:lumOff val="90000"/>
            </a:schemeClr>
          </a:solidFill>
          <a:ln w="19050">
            <a:solidFill>
              <a:schemeClr val="accent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600"/>
              </a:spcAft>
            </a:pPr>
            <a:r>
              <a:rPr lang="en-GB" sz="1000" b="1" u="sng" dirty="0">
                <a:solidFill>
                  <a:schemeClr val="tx1"/>
                </a:solidFill>
                <a:latin typeface="Arial" panose="020B0604020202020204" pitchFamily="34" charset="0"/>
                <a:ea typeface="Times New Roman" panose="02020603050405020304" pitchFamily="18" charset="0"/>
              </a:rPr>
              <a:t>Progress Current Period (past 2 weeks)- Milestones/Key Deliverables with Dates</a:t>
            </a:r>
            <a:endParaRPr lang="en-US" sz="800" dirty="0">
              <a:solidFill>
                <a:schemeClr val="tx1"/>
              </a:solidFill>
              <a:latin typeface="Arial" panose="020B0604020202020204" pitchFamily="34" charset="0"/>
              <a:ea typeface="Times New Roman" panose="02020603050405020304" pitchFamily="18" charset="0"/>
            </a:endParaRP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DC power installed and operational at Northport by Hawkeye				03/18/2026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OTDR bad filter replaced; wavelength tested – green link light confirmed at Hicksville-Syosset						03/24/2026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BGP design reviewed and approved by Vikas Vohra on 03/16; peer review in progress		03/24/2026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Fiber termination to the NSP completed by Hawkeye						03/24/2026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New batch of IFRs received from Burns &amp; McDonnell						03/24/2026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ILO configuration in progress at Hicksville and Melville by Rahiq and Brianna		03/24/2026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IFR received for 6S Kings Hwy						03/24/2026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IFR received for 7BH Bohemia						03/24/2026</a:t>
            </a:r>
          </a:p>
        </p:txBody>
      </p:sp>
      <p:sp>
        <p:nvSpPr>
          <p:cNvPr id="34" name="Title 5">
            <a:extLst>
              <a:ext uri="{FF2B5EF4-FFF2-40B4-BE49-F238E27FC236}">
                <a16:creationId xmlns:a16="http://schemas.microsoft.com/office/drawing/2014/main" id="{750A431B-B608-496E-9DA5-C69F700B2284}"/>
              </a:ext>
            </a:extLst>
          </p:cNvPr>
          <p:cNvSpPr>
            <a:spLocks noGrp="1"/>
          </p:cNvSpPr>
          <p:nvPr>
            <p:ph type="title"/>
          </p:nvPr>
        </p:nvSpPr>
        <p:spPr>
          <a:xfrm>
            <a:off x="0" y="-32"/>
            <a:ext cx="12192000" cy="811732"/>
          </a:xfrm>
          <a:solidFill>
            <a:schemeClr val="bg1">
              <a:lumMod val="85000"/>
            </a:schemeClr>
          </a:solidFill>
          <a:ln w="12700">
            <a:solidFill>
              <a:prstClr val="black"/>
            </a:solidFill>
          </a:ln>
        </p:spPr>
        <p:txBody>
          <a:bodyPr anchor="ctr"/>
          <a:lstStyle/>
          <a:p>
            <a:pPr algn="ctr"/>
            <a:r>
              <a:rPr lang="en-US" altLang="en-US" sz="2400" dirty="0"/>
              <a:t>JMUX Replacement</a:t>
            </a:r>
            <a:endParaRPr lang="en-US" sz="1000" b="0" dirty="0">
              <a:solidFill>
                <a:schemeClr val="tx1"/>
              </a:solidFill>
              <a:latin typeface="+mn-lt"/>
            </a:endParaRPr>
          </a:p>
        </p:txBody>
      </p:sp>
      <p:graphicFrame>
        <p:nvGraphicFramePr>
          <p:cNvPr id="35" name="Table 34">
            <a:extLst>
              <a:ext uri="{FF2B5EF4-FFF2-40B4-BE49-F238E27FC236}">
                <a16:creationId xmlns:a16="http://schemas.microsoft.com/office/drawing/2014/main" id="{059ECB7F-20E3-4CCE-ACDC-23A88D3722C0}"/>
              </a:ext>
            </a:extLst>
          </p:cNvPr>
          <p:cNvGraphicFramePr>
            <a:graphicFrameLocks noGrp="1"/>
          </p:cNvGraphicFramePr>
          <p:nvPr/>
        </p:nvGraphicFramePr>
        <p:xfrm>
          <a:off x="3960666" y="812584"/>
          <a:ext cx="2321027" cy="2082214"/>
        </p:xfrm>
        <a:graphic>
          <a:graphicData uri="http://schemas.openxmlformats.org/drawingml/2006/table">
            <a:tbl>
              <a:tblPr firstRow="1" firstCol="1" bandRow="1">
                <a:tableStyleId>{5C22544A-7EE6-4342-B048-85BDC9FD1C3A}</a:tableStyleId>
              </a:tblPr>
              <a:tblGrid>
                <a:gridCol w="1023425">
                  <a:extLst>
                    <a:ext uri="{9D8B030D-6E8A-4147-A177-3AD203B41FA5}">
                      <a16:colId xmlns:a16="http://schemas.microsoft.com/office/drawing/2014/main" val="20000"/>
                    </a:ext>
                  </a:extLst>
                </a:gridCol>
                <a:gridCol w="651516">
                  <a:extLst>
                    <a:ext uri="{9D8B030D-6E8A-4147-A177-3AD203B41FA5}">
                      <a16:colId xmlns:a16="http://schemas.microsoft.com/office/drawing/2014/main" val="20001"/>
                    </a:ext>
                  </a:extLst>
                </a:gridCol>
                <a:gridCol w="646086">
                  <a:extLst>
                    <a:ext uri="{9D8B030D-6E8A-4147-A177-3AD203B41FA5}">
                      <a16:colId xmlns:a16="http://schemas.microsoft.com/office/drawing/2014/main" val="20002"/>
                    </a:ext>
                  </a:extLst>
                </a:gridCol>
              </a:tblGrid>
              <a:tr h="173199">
                <a:tc>
                  <a:txBody>
                    <a:bodyPr/>
                    <a:lstStyle/>
                    <a:p>
                      <a:pPr marL="0" marR="0" algn="l">
                        <a:spcBef>
                          <a:spcPts val="600"/>
                        </a:spcBef>
                        <a:spcAft>
                          <a:spcPts val="0"/>
                        </a:spcAft>
                      </a:pPr>
                      <a:r>
                        <a:rPr lang="en-GB" sz="1000" dirty="0">
                          <a:solidFill>
                            <a:schemeClr val="tx1"/>
                          </a:solidFill>
                          <a:effectLst/>
                        </a:rPr>
                        <a:t> </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600"/>
                        </a:spcBef>
                        <a:spcAft>
                          <a:spcPts val="0"/>
                        </a:spcAft>
                      </a:pPr>
                      <a:r>
                        <a:rPr lang="en-GB" sz="1000" b="1" dirty="0">
                          <a:solidFill>
                            <a:schemeClr val="tx1"/>
                          </a:solidFill>
                          <a:effectLst/>
                        </a:rPr>
                        <a:t>Status*</a:t>
                      </a:r>
                      <a:endParaRPr lang="en-US" sz="1000" b="1"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algn="l">
                        <a:spcBef>
                          <a:spcPts val="600"/>
                        </a:spcBef>
                        <a:spcAft>
                          <a:spcPts val="0"/>
                        </a:spcAft>
                      </a:pPr>
                      <a:r>
                        <a:rPr lang="en-GB" sz="1000" b="1" dirty="0">
                          <a:solidFill>
                            <a:schemeClr val="tx1"/>
                          </a:solidFill>
                          <a:effectLst/>
                        </a:rPr>
                        <a:t>Trends*</a:t>
                      </a:r>
                      <a:endParaRPr lang="en-US" sz="1000" b="1"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0"/>
                  </a:ext>
                </a:extLst>
              </a:tr>
              <a:tr h="381803">
                <a:tc>
                  <a:txBody>
                    <a:bodyPr/>
                    <a:lstStyle/>
                    <a:p>
                      <a:pPr marL="0" marR="0" algn="ctr">
                        <a:spcBef>
                          <a:spcPts val="300"/>
                        </a:spcBef>
                        <a:spcAft>
                          <a:spcPts val="300"/>
                        </a:spcAft>
                      </a:pPr>
                      <a:r>
                        <a:rPr lang="en-GB" sz="1000" dirty="0">
                          <a:solidFill>
                            <a:schemeClr val="tx1"/>
                          </a:solidFill>
                          <a:effectLst/>
                        </a:rPr>
                        <a:t>Schedule 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Yellow</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2"/>
                  </a:ext>
                </a:extLst>
              </a:tr>
              <a:tr h="381803">
                <a:tc>
                  <a:txBody>
                    <a:bodyPr/>
                    <a:lstStyle/>
                    <a:p>
                      <a:pPr marL="0" marR="0" algn="ctr">
                        <a:spcBef>
                          <a:spcPts val="300"/>
                        </a:spcBef>
                        <a:spcAft>
                          <a:spcPts val="300"/>
                        </a:spcAft>
                      </a:pPr>
                      <a:r>
                        <a:rPr lang="en-GB" sz="1000" dirty="0">
                          <a:solidFill>
                            <a:schemeClr val="tx1"/>
                          </a:solidFill>
                          <a:effectLst/>
                        </a:rPr>
                        <a:t>Financial</a:t>
                      </a:r>
                      <a:br>
                        <a:rPr lang="en-GB" sz="1000" dirty="0">
                          <a:solidFill>
                            <a:schemeClr val="tx1"/>
                          </a:solidFill>
                          <a:effectLst/>
                        </a:rPr>
                      </a:br>
                      <a:r>
                        <a:rPr lang="en-GB" sz="1000" dirty="0">
                          <a:solidFill>
                            <a:schemeClr val="tx1"/>
                          </a:solidFill>
                          <a:effectLst/>
                        </a:rPr>
                        <a:t>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Green</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3"/>
                  </a:ext>
                </a:extLst>
              </a:tr>
              <a:tr h="381803">
                <a:tc>
                  <a:txBody>
                    <a:bodyPr/>
                    <a:lstStyle/>
                    <a:p>
                      <a:pPr marL="0" marR="0" algn="ctr">
                        <a:spcBef>
                          <a:spcPts val="300"/>
                        </a:spcBef>
                        <a:spcAft>
                          <a:spcPts val="300"/>
                        </a:spcAft>
                      </a:pPr>
                      <a:r>
                        <a:rPr lang="en-GB" sz="1000" dirty="0">
                          <a:solidFill>
                            <a:schemeClr val="tx1"/>
                          </a:solidFill>
                          <a:effectLst/>
                        </a:rPr>
                        <a:t>Scope </a:t>
                      </a:r>
                      <a:br>
                        <a:rPr lang="en-GB" sz="1000" dirty="0">
                          <a:solidFill>
                            <a:schemeClr val="tx1"/>
                          </a:solidFill>
                          <a:effectLst/>
                        </a:rPr>
                      </a:br>
                      <a:r>
                        <a:rPr lang="en-GB" sz="1000" dirty="0">
                          <a:solidFill>
                            <a:schemeClr val="tx1"/>
                          </a:solidFill>
                          <a:effectLst/>
                        </a:rPr>
                        <a:t>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Green</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4"/>
                  </a:ext>
                </a:extLst>
              </a:tr>
              <a:tr h="381803">
                <a:tc>
                  <a:txBody>
                    <a:bodyPr/>
                    <a:lstStyle/>
                    <a:p>
                      <a:pPr marL="0" marR="0" algn="ctr">
                        <a:spcBef>
                          <a:spcPts val="300"/>
                        </a:spcBef>
                        <a:spcAft>
                          <a:spcPts val="300"/>
                        </a:spcAft>
                      </a:pPr>
                      <a:r>
                        <a:rPr lang="en-GB" sz="1000" dirty="0">
                          <a:solidFill>
                            <a:schemeClr val="tx1"/>
                          </a:solidFill>
                          <a:effectLst/>
                        </a:rPr>
                        <a:t>Risk </a:t>
                      </a:r>
                      <a:br>
                        <a:rPr lang="en-GB" sz="1000" dirty="0">
                          <a:solidFill>
                            <a:schemeClr val="tx1"/>
                          </a:solidFill>
                          <a:effectLst/>
                        </a:rPr>
                      </a:br>
                      <a:r>
                        <a:rPr lang="en-GB" sz="1000" dirty="0">
                          <a:solidFill>
                            <a:schemeClr val="tx1"/>
                          </a:solidFill>
                          <a:effectLst/>
                        </a:rPr>
                        <a:t>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Green</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5"/>
                  </a:ext>
                </a:extLst>
              </a:tr>
              <a:tr h="381803">
                <a:tc>
                  <a:txBody>
                    <a:bodyPr/>
                    <a:lstStyle/>
                    <a:p>
                      <a:pPr marL="0" marR="0" algn="ctr">
                        <a:spcBef>
                          <a:spcPts val="300"/>
                        </a:spcBef>
                        <a:spcAft>
                          <a:spcPts val="300"/>
                        </a:spcAft>
                      </a:pPr>
                      <a:r>
                        <a:rPr lang="en-GB" sz="1000" dirty="0">
                          <a:solidFill>
                            <a:schemeClr val="tx1"/>
                          </a:solidFill>
                          <a:effectLst/>
                        </a:rPr>
                        <a:t> Resource 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Green</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6"/>
                  </a:ext>
                </a:extLst>
              </a:tr>
            </a:tbl>
          </a:graphicData>
        </a:graphic>
      </p:graphicFrame>
      <p:sp>
        <p:nvSpPr>
          <p:cNvPr id="36" name="Text Box 6">
            <a:extLst>
              <a:ext uri="{FF2B5EF4-FFF2-40B4-BE49-F238E27FC236}">
                <a16:creationId xmlns:a16="http://schemas.microsoft.com/office/drawing/2014/main" id="{01308F76-0B61-47B3-9C87-8083E00E34E4}"/>
              </a:ext>
            </a:extLst>
          </p:cNvPr>
          <p:cNvSpPr txBox="1"/>
          <p:nvPr/>
        </p:nvSpPr>
        <p:spPr>
          <a:xfrm>
            <a:off x="0" y="-17595"/>
            <a:ext cx="2906763" cy="832693"/>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Status Date:</a:t>
            </a:r>
            <a:r>
              <a:rPr lang="en-GB" sz="1000" dirty="0">
                <a:solidFill>
                  <a:schemeClr val="tx1"/>
                </a:solidFill>
                <a:latin typeface="Arial" panose="020B0604020202020204" pitchFamily="34" charset="0"/>
                <a:ea typeface="Times New Roman" panose="02020603050405020304" pitchFamily="18" charset="0"/>
              </a:rPr>
              <a:t>	</a:t>
            </a:r>
            <a:r>
              <a:rPr lang="en-US" sz="1000" dirty="0">
                <a:solidFill>
                  <a:schemeClr val="tx1"/>
                </a:solidFill>
                <a:latin typeface="Arial" panose="020B0604020202020204" pitchFamily="34" charset="0"/>
                <a:ea typeface="Times New Roman" panose="02020603050405020304" pitchFamily="18" charset="0"/>
              </a:rPr>
              <a:t>03/24/2026</a:t>
            </a:r>
          </a:p>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IT/Cyber:</a:t>
            </a:r>
            <a:r>
              <a:rPr lang="en-GB" sz="1000" dirty="0">
                <a:solidFill>
                  <a:schemeClr val="tx1"/>
                </a:solidFill>
                <a:latin typeface="Arial" panose="020B0604020202020204" pitchFamily="34" charset="0"/>
                <a:ea typeface="Times New Roman" panose="02020603050405020304" pitchFamily="18" charset="0"/>
              </a:rPr>
              <a:t>	</a:t>
            </a:r>
            <a:r>
              <a:rPr lang="en-US" sz="1000" dirty="0">
                <a:solidFill>
                  <a:schemeClr val="tx1"/>
                </a:solidFill>
                <a:latin typeface="Arial" panose="020B0604020202020204" pitchFamily="34" charset="0"/>
                <a:ea typeface="Times New Roman" panose="02020603050405020304" pitchFamily="18" charset="0"/>
              </a:rPr>
              <a:t>IT </a:t>
            </a:r>
          </a:p>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Director:</a:t>
            </a:r>
            <a:r>
              <a:rPr lang="en-GB" sz="1000" dirty="0">
                <a:solidFill>
                  <a:schemeClr val="tx1"/>
                </a:solidFill>
                <a:latin typeface="Arial" panose="020B0604020202020204" pitchFamily="34" charset="0"/>
                <a:ea typeface="Times New Roman" panose="02020603050405020304" pitchFamily="18" charset="0"/>
              </a:rPr>
              <a:t>	Irving Landesbaum</a:t>
            </a:r>
          </a:p>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GPM:</a:t>
            </a:r>
            <a:r>
              <a:rPr lang="en-GB" sz="1000" dirty="0">
                <a:solidFill>
                  <a:schemeClr val="tx1"/>
                </a:solidFill>
                <a:latin typeface="Arial" panose="020B0604020202020204" pitchFamily="34" charset="0"/>
                <a:ea typeface="Times New Roman" panose="02020603050405020304" pitchFamily="18" charset="0"/>
              </a:rPr>
              <a:t>	Vikas Vohra</a:t>
            </a:r>
          </a:p>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Program Manager</a:t>
            </a:r>
            <a:r>
              <a:rPr lang="en-GB" sz="1000" dirty="0">
                <a:solidFill>
                  <a:schemeClr val="tx1"/>
                </a:solidFill>
                <a:latin typeface="Arial" panose="020B0604020202020204" pitchFamily="34" charset="0"/>
                <a:ea typeface="Times New Roman" panose="02020603050405020304" pitchFamily="18" charset="0"/>
              </a:rPr>
              <a:t>	Jay Gunaratne</a:t>
            </a:r>
            <a:endParaRPr lang="en-US" sz="1000" dirty="0">
              <a:solidFill>
                <a:schemeClr val="tx1"/>
              </a:solidFill>
              <a:latin typeface="Arial" panose="020B0604020202020204" pitchFamily="34" charset="0"/>
              <a:ea typeface="Times New Roman" panose="02020603050405020304" pitchFamily="18" charset="0"/>
            </a:endParaRPr>
          </a:p>
        </p:txBody>
      </p:sp>
      <p:sp>
        <p:nvSpPr>
          <p:cNvPr id="37" name="Text Box 49">
            <a:extLst>
              <a:ext uri="{FF2B5EF4-FFF2-40B4-BE49-F238E27FC236}">
                <a16:creationId xmlns:a16="http://schemas.microsoft.com/office/drawing/2014/main" id="{D4DA2A4F-BC50-4ABE-8BF1-B0E6B4CC4157}"/>
              </a:ext>
            </a:extLst>
          </p:cNvPr>
          <p:cNvSpPr txBox="1"/>
          <p:nvPr/>
        </p:nvSpPr>
        <p:spPr>
          <a:xfrm>
            <a:off x="1" y="2902834"/>
            <a:ext cx="3194778" cy="1130582"/>
          </a:xfrm>
          <a:prstGeom prst="rect">
            <a:avLst/>
          </a:prstGeom>
          <a:solidFill>
            <a:schemeClr val="accent1">
              <a:lumMod val="10000"/>
              <a:lumOff val="9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ea typeface="Times New Roman" panose="02020603050405020304" pitchFamily="18" charset="0"/>
              </a:rPr>
              <a:t>Time Management</a:t>
            </a:r>
            <a:endParaRPr lang="en-US" sz="1000" dirty="0">
              <a:solidFill>
                <a:schemeClr val="tx1"/>
              </a:solidFill>
              <a:latin typeface="Arial" panose="020B0604020202020204" pitchFamily="34" charset="0"/>
              <a:ea typeface="Times New Roman" panose="02020603050405020304" pitchFamily="18" charset="0"/>
            </a:endParaRPr>
          </a:p>
          <a:p>
            <a:pPr>
              <a:tabLst>
                <a:tab pos="1260475" algn="l"/>
                <a:tab pos="2457450" algn="l"/>
              </a:tabLst>
            </a:pPr>
            <a:r>
              <a:rPr lang="en-GB" sz="800" dirty="0" err="1">
                <a:solidFill>
                  <a:schemeClr val="tx1"/>
                </a:solidFill>
                <a:latin typeface="Arial" panose="020B0604020202020204" pitchFamily="34" charset="0"/>
                <a:ea typeface="Times New Roman" panose="02020603050405020304" pitchFamily="18" charset="0"/>
              </a:rPr>
              <a:t>Proj</a:t>
            </a:r>
            <a:r>
              <a:rPr lang="en-GB" sz="800" dirty="0">
                <a:solidFill>
                  <a:schemeClr val="tx1"/>
                </a:solidFill>
                <a:latin typeface="Arial" panose="020B0604020202020204" pitchFamily="34" charset="0"/>
                <a:ea typeface="Times New Roman" panose="02020603050405020304" pitchFamily="18" charset="0"/>
              </a:rPr>
              <a:t> Plan (Baseline) Start 		</a:t>
            </a:r>
            <a:r>
              <a:rPr lang="en-US" sz="800" dirty="0">
                <a:solidFill>
                  <a:schemeClr val="tx1"/>
                </a:solidFill>
                <a:latin typeface="Arial" panose="020B0604020202020204" pitchFamily="34" charset="0"/>
                <a:ea typeface="Times New Roman" panose="02020603050405020304" pitchFamily="18" charset="0"/>
              </a:rPr>
              <a:t>03-01-2024</a:t>
            </a:r>
          </a:p>
          <a:p>
            <a:pPr>
              <a:tabLst>
                <a:tab pos="1260475" algn="l"/>
                <a:tab pos="2457450" algn="l"/>
              </a:tabLst>
            </a:pPr>
            <a:r>
              <a:rPr lang="en-GB" sz="800" dirty="0" err="1">
                <a:solidFill>
                  <a:schemeClr val="tx1"/>
                </a:solidFill>
                <a:latin typeface="Arial" panose="020B0604020202020204" pitchFamily="34" charset="0"/>
                <a:ea typeface="Times New Roman" panose="02020603050405020304" pitchFamily="18" charset="0"/>
              </a:rPr>
              <a:t>Proj</a:t>
            </a:r>
            <a:r>
              <a:rPr lang="en-GB" sz="800" dirty="0">
                <a:solidFill>
                  <a:schemeClr val="tx1"/>
                </a:solidFill>
                <a:latin typeface="Arial" panose="020B0604020202020204" pitchFamily="34" charset="0"/>
                <a:ea typeface="Times New Roman" panose="02020603050405020304" pitchFamily="18" charset="0"/>
              </a:rPr>
              <a:t> Actual Start 		</a:t>
            </a:r>
            <a:r>
              <a:rPr lang="en-US" sz="800" dirty="0">
                <a:solidFill>
                  <a:schemeClr val="tx1"/>
                </a:solidFill>
                <a:latin typeface="Arial" panose="020B0604020202020204" pitchFamily="34" charset="0"/>
                <a:ea typeface="Times New Roman" panose="02020603050405020304" pitchFamily="18" charset="0"/>
              </a:rPr>
              <a:t>04-18-2024</a:t>
            </a:r>
          </a:p>
          <a:p>
            <a:pPr>
              <a:tabLst>
                <a:tab pos="1260475" algn="l"/>
                <a:tab pos="2457450" algn="l"/>
              </a:tabLst>
            </a:pPr>
            <a:r>
              <a:rPr lang="en-GB" sz="800" dirty="0">
                <a:solidFill>
                  <a:schemeClr val="tx1"/>
                </a:solidFill>
                <a:latin typeface="Arial" panose="020B0604020202020204" pitchFamily="34" charset="0"/>
                <a:ea typeface="Times New Roman" panose="02020603050405020304" pitchFamily="18" charset="0"/>
              </a:rPr>
              <a:t>Go-Live/In Service/Next Sprint Release	</a:t>
            </a:r>
            <a:r>
              <a:rPr lang="en-US" sz="800" dirty="0">
                <a:solidFill>
                  <a:schemeClr val="tx1"/>
                </a:solidFill>
                <a:latin typeface="Arial" panose="020B0604020202020204" pitchFamily="34" charset="0"/>
                <a:ea typeface="Times New Roman" panose="02020603050405020304" pitchFamily="18" charset="0"/>
              </a:rPr>
              <a:t>01-01-2024</a:t>
            </a:r>
          </a:p>
          <a:p>
            <a:pPr>
              <a:tabLst>
                <a:tab pos="1260475" algn="l"/>
                <a:tab pos="2457450" algn="l"/>
              </a:tabLst>
            </a:pPr>
            <a:r>
              <a:rPr lang="en-GB" sz="800" dirty="0" err="1">
                <a:solidFill>
                  <a:schemeClr val="tx1"/>
                </a:solidFill>
                <a:latin typeface="Arial" panose="020B0604020202020204" pitchFamily="34" charset="0"/>
                <a:ea typeface="Times New Roman" panose="02020603050405020304" pitchFamily="18" charset="0"/>
              </a:rPr>
              <a:t>Proj</a:t>
            </a:r>
            <a:r>
              <a:rPr lang="en-GB" sz="800" dirty="0">
                <a:solidFill>
                  <a:schemeClr val="tx1"/>
                </a:solidFill>
                <a:latin typeface="Arial" panose="020B0604020202020204" pitchFamily="34" charset="0"/>
                <a:ea typeface="Times New Roman" panose="02020603050405020304" pitchFamily="18" charset="0"/>
              </a:rPr>
              <a:t> Plan (Baseline) End 		</a:t>
            </a:r>
            <a:r>
              <a:rPr lang="en-US" sz="800" dirty="0">
                <a:solidFill>
                  <a:schemeClr val="tx1"/>
                </a:solidFill>
                <a:latin typeface="Arial" panose="020B0604020202020204" pitchFamily="34" charset="0"/>
                <a:ea typeface="Times New Roman" panose="02020603050405020304" pitchFamily="18" charset="0"/>
              </a:rPr>
              <a:t>04-08-2027</a:t>
            </a:r>
            <a:endParaRPr lang="en-GB" sz="800" dirty="0">
              <a:solidFill>
                <a:schemeClr val="tx1"/>
              </a:solidFill>
              <a:latin typeface="Arial" panose="020B0604020202020204" pitchFamily="34" charset="0"/>
              <a:ea typeface="Times New Roman" panose="02020603050405020304" pitchFamily="18" charset="0"/>
            </a:endParaRPr>
          </a:p>
          <a:p>
            <a:pPr>
              <a:tabLst>
                <a:tab pos="1260475" algn="l"/>
                <a:tab pos="2457450" algn="l"/>
              </a:tabLst>
            </a:pPr>
            <a:r>
              <a:rPr lang="en-GB" sz="800" dirty="0" err="1">
                <a:solidFill>
                  <a:schemeClr val="tx1"/>
                </a:solidFill>
                <a:latin typeface="Arial" panose="020B0604020202020204" pitchFamily="34" charset="0"/>
                <a:ea typeface="Times New Roman" panose="02020603050405020304" pitchFamily="18" charset="0"/>
              </a:rPr>
              <a:t>Proj</a:t>
            </a:r>
            <a:r>
              <a:rPr lang="en-GB" sz="800" dirty="0">
                <a:solidFill>
                  <a:schemeClr val="tx1"/>
                </a:solidFill>
                <a:latin typeface="Arial" panose="020B0604020202020204" pitchFamily="34" charset="0"/>
                <a:ea typeface="Times New Roman" panose="02020603050405020304" pitchFamily="18" charset="0"/>
              </a:rPr>
              <a:t> Actual Target End 		</a:t>
            </a:r>
            <a:r>
              <a:rPr lang="en-US" sz="800" dirty="0">
                <a:solidFill>
                  <a:schemeClr val="tx1"/>
                </a:solidFill>
                <a:latin typeface="Arial" panose="020B0604020202020204" pitchFamily="34" charset="0"/>
                <a:ea typeface="Times New Roman" panose="02020603050405020304" pitchFamily="18" charset="0"/>
              </a:rPr>
              <a:t>07-08-2027</a:t>
            </a:r>
            <a:endParaRPr lang="en-GB" sz="800" dirty="0">
              <a:solidFill>
                <a:schemeClr val="tx1"/>
              </a:solidFill>
              <a:latin typeface="Arial" panose="020B0604020202020204" pitchFamily="34" charset="0"/>
              <a:ea typeface="Times New Roman" panose="02020603050405020304" pitchFamily="18" charset="0"/>
            </a:endParaRPr>
          </a:p>
          <a:p>
            <a:pPr>
              <a:tabLst>
                <a:tab pos="1260475" algn="l"/>
                <a:tab pos="2457450" algn="l"/>
              </a:tabLst>
            </a:pPr>
            <a:endParaRPr lang="en-GB" sz="800" dirty="0">
              <a:solidFill>
                <a:schemeClr val="tx1"/>
              </a:solidFill>
              <a:latin typeface="Arial" panose="020B0604020202020204" pitchFamily="34" charset="0"/>
              <a:ea typeface="Times New Roman" panose="02020603050405020304" pitchFamily="18" charset="0"/>
            </a:endParaRPr>
          </a:p>
        </p:txBody>
      </p:sp>
      <p:sp>
        <p:nvSpPr>
          <p:cNvPr id="38" name="Right Arrow 15">
            <a:extLst>
              <a:ext uri="{FF2B5EF4-FFF2-40B4-BE49-F238E27FC236}">
                <a16:creationId xmlns:a16="http://schemas.microsoft.com/office/drawing/2014/main" id="{DF3D39DB-8948-4A91-AD85-640DD2CC862F}"/>
              </a:ext>
            </a:extLst>
          </p:cNvPr>
          <p:cNvSpPr/>
          <p:nvPr/>
        </p:nvSpPr>
        <p:spPr>
          <a:xfrm rot="16200000">
            <a:off x="5667924" y="2539680"/>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9" name="Text Box 50">
            <a:extLst>
              <a:ext uri="{FF2B5EF4-FFF2-40B4-BE49-F238E27FC236}">
                <a16:creationId xmlns:a16="http://schemas.microsoft.com/office/drawing/2014/main" id="{B213B5BC-8D69-4471-9CAE-BA4912EAD2F2}"/>
              </a:ext>
            </a:extLst>
          </p:cNvPr>
          <p:cNvSpPr txBox="1"/>
          <p:nvPr/>
        </p:nvSpPr>
        <p:spPr>
          <a:xfrm>
            <a:off x="3194779" y="2901950"/>
            <a:ext cx="3080579" cy="1125116"/>
          </a:xfrm>
          <a:prstGeom prst="rect">
            <a:avLst/>
          </a:prstGeom>
          <a:solidFill>
            <a:schemeClr val="accent1">
              <a:lumMod val="10000"/>
              <a:lumOff val="9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ea typeface="Times New Roman" panose="02020603050405020304" pitchFamily="18" charset="0"/>
              </a:rPr>
              <a:t>Project Financials / Budget</a:t>
            </a:r>
            <a:endParaRPr lang="en-US" sz="1000" dirty="0">
              <a:solidFill>
                <a:schemeClr val="tx1"/>
              </a:solidFill>
              <a:latin typeface="Arial" panose="020B0604020202020204" pitchFamily="34" charset="0"/>
              <a:ea typeface="Times New Roman" panose="02020603050405020304" pitchFamily="18" charset="0"/>
            </a:endParaRP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WBS Code:                                                             I.39424.1.x</a:t>
            </a: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LIPA approved total project budget:                      $6,600,000.00 </a:t>
            </a: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URB approved funding to date:	 $6,600,000.00 </a:t>
            </a: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Spend to date:	 $4,548,505.00 </a:t>
            </a: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Estimate to complete:	$2,051,495.00</a:t>
            </a:r>
          </a:p>
          <a:p>
            <a:pPr lvl="0">
              <a:tabLst>
                <a:tab pos="2800350" algn="dec"/>
              </a:tabLst>
              <a:defRPr/>
            </a:pPr>
            <a:r>
              <a:rPr lang="en-GB" sz="800" dirty="0">
                <a:solidFill>
                  <a:schemeClr val="tx1"/>
                </a:solidFill>
                <a:latin typeface="Arial" panose="020B0604020202020204" pitchFamily="34" charset="0"/>
                <a:ea typeface="Times New Roman" panose="02020603050405020304" pitchFamily="18" charset="0"/>
              </a:rPr>
              <a:t>Estimate at completion:	 $6,600,000.00 </a:t>
            </a:r>
          </a:p>
          <a:p>
            <a:pPr>
              <a:tabLst>
                <a:tab pos="2800350" algn="dec"/>
              </a:tabLst>
              <a:defRPr/>
            </a:pPr>
            <a:r>
              <a:rPr lang="en-GB" sz="800" dirty="0">
                <a:solidFill>
                  <a:schemeClr val="tx1"/>
                </a:solidFill>
                <a:latin typeface="Arial" panose="020B0604020202020204" pitchFamily="34" charset="0"/>
                <a:ea typeface="Times New Roman" panose="02020603050405020304" pitchFamily="18" charset="0"/>
              </a:rPr>
              <a:t>Over (+) / Under (-) LIPA approved budget:	+/- $00.00</a:t>
            </a:r>
          </a:p>
          <a:p>
            <a:pPr lvl="0">
              <a:tabLst>
                <a:tab pos="2800350" algn="dec"/>
              </a:tabLst>
              <a:defRPr/>
            </a:pPr>
            <a:endParaRPr lang="en-US" sz="900" b="1" dirty="0">
              <a:solidFill>
                <a:schemeClr val="tx1"/>
              </a:solidFill>
              <a:latin typeface="Arial" panose="020B0604020202020204" pitchFamily="34" charset="0"/>
              <a:ea typeface="Times New Roman" panose="02020603050405020304" pitchFamily="18" charset="0"/>
              <a:cs typeface="Arial" panose="020B0604020202020204" pitchFamily="34" charset="0"/>
            </a:endParaRPr>
          </a:p>
        </p:txBody>
      </p:sp>
      <p:sp>
        <p:nvSpPr>
          <p:cNvPr id="40" name="Text Box 1">
            <a:extLst>
              <a:ext uri="{FF2B5EF4-FFF2-40B4-BE49-F238E27FC236}">
                <a16:creationId xmlns:a16="http://schemas.microsoft.com/office/drawing/2014/main" id="{CEF097BC-791C-42C4-B22F-75102FACFBBF}"/>
              </a:ext>
            </a:extLst>
          </p:cNvPr>
          <p:cNvSpPr txBox="1"/>
          <p:nvPr/>
        </p:nvSpPr>
        <p:spPr>
          <a:xfrm>
            <a:off x="6270720" y="1705230"/>
            <a:ext cx="5921280" cy="819368"/>
          </a:xfrm>
          <a:prstGeom prst="rect">
            <a:avLst/>
          </a:prstGeom>
          <a:solidFill>
            <a:schemeClr val="accent3">
              <a:lumMod val="20000"/>
              <a:lumOff val="80000"/>
            </a:schemeClr>
          </a:solidFill>
          <a:ln w="1270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Benefit</a:t>
            </a:r>
            <a:endParaRPr lang="en-US" dirty="0"/>
          </a:p>
          <a:p>
            <a:pPr>
              <a:defRPr/>
            </a:pPr>
            <a:r>
              <a:rPr lang="en-US" sz="800" dirty="0">
                <a:latin typeface="Arial" panose="020B0604020202020204" pitchFamily="34" charset="0"/>
                <a:cs typeface="Arial" panose="020B0604020202020204" pitchFamily="34" charset="0"/>
              </a:rPr>
              <a:t>Due to GE announcing End of Life for the GE Jungle Mux system as of EOY 2025, the benefits for project is to allow the Systems Integrator to select the most appropriate ‘Equipment Vendor’ via the RFP process to replace the GE JMUX equipment.  </a:t>
            </a:r>
          </a:p>
          <a:p>
            <a:r>
              <a:rPr lang="en-GB" sz="800" dirty="0">
                <a:latin typeface="Arial" panose="020B0604020202020204" pitchFamily="34" charset="0"/>
                <a:ea typeface="Times New Roman" panose="02020603050405020304" pitchFamily="18" charset="0"/>
              </a:rPr>
              <a:t> </a:t>
            </a:r>
            <a:endParaRPr lang="en-US" sz="800" dirty="0">
              <a:latin typeface="Arial" panose="020B0604020202020204" pitchFamily="34" charset="0"/>
              <a:ea typeface="Times New Roman" panose="02020603050405020304" pitchFamily="18" charset="0"/>
            </a:endParaRPr>
          </a:p>
        </p:txBody>
      </p:sp>
      <p:sp>
        <p:nvSpPr>
          <p:cNvPr id="41" name="Text Box 2">
            <a:extLst>
              <a:ext uri="{FF2B5EF4-FFF2-40B4-BE49-F238E27FC236}">
                <a16:creationId xmlns:a16="http://schemas.microsoft.com/office/drawing/2014/main" id="{3692495C-C8E2-4AB1-BF84-0E6A5EEB7EB0}"/>
              </a:ext>
            </a:extLst>
          </p:cNvPr>
          <p:cNvSpPr txBox="1"/>
          <p:nvPr/>
        </p:nvSpPr>
        <p:spPr>
          <a:xfrm>
            <a:off x="6270720" y="2524598"/>
            <a:ext cx="5921280" cy="743465"/>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Scope (95%-Complete) </a:t>
            </a:r>
            <a:endParaRPr lang="en-US" sz="1000" b="1" u="sng" dirty="0">
              <a:solidFill>
                <a:schemeClr val="tx1"/>
              </a:solidFill>
              <a:latin typeface="Arial" panose="020B0604020202020204" pitchFamily="34" charset="0"/>
              <a:cs typeface="Arial" panose="020B0604020202020204" pitchFamily="34" charset="0"/>
            </a:endParaRPr>
          </a:p>
          <a:p>
            <a:pPr>
              <a:spcAft>
                <a:spcPts val="300"/>
              </a:spcAft>
            </a:pPr>
            <a:r>
              <a:rPr lang="en-US" sz="800" dirty="0"/>
              <a:t>The purpose of this project is to install new Multiprotocol Label Switching (MPLS) nodes, remove existing GE Jungle MUX (JMUX) equipment, and design new circuits from the existing substation .</a:t>
            </a:r>
            <a:endParaRPr lang="en-US" sz="800" dirty="0">
              <a:solidFill>
                <a:schemeClr val="tx1"/>
              </a:solidFill>
              <a:latin typeface="Arial" panose="020B0604020202020204" pitchFamily="34" charset="0"/>
              <a:cs typeface="Arial" panose="020B0604020202020204" pitchFamily="34" charset="0"/>
            </a:endParaRPr>
          </a:p>
        </p:txBody>
      </p:sp>
      <p:sp>
        <p:nvSpPr>
          <p:cNvPr id="42" name="Text Box 44">
            <a:extLst>
              <a:ext uri="{FF2B5EF4-FFF2-40B4-BE49-F238E27FC236}">
                <a16:creationId xmlns:a16="http://schemas.microsoft.com/office/drawing/2014/main" id="{742DE467-4541-4411-A18E-7A2EB3246BE3}"/>
              </a:ext>
            </a:extLst>
          </p:cNvPr>
          <p:cNvSpPr txBox="1"/>
          <p:nvPr/>
        </p:nvSpPr>
        <p:spPr>
          <a:xfrm>
            <a:off x="0" y="5404311"/>
            <a:ext cx="6270063" cy="1447586"/>
          </a:xfrm>
          <a:prstGeom prst="rect">
            <a:avLst/>
          </a:prstGeom>
          <a:solidFill>
            <a:schemeClr val="accent1">
              <a:lumMod val="10000"/>
              <a:lumOff val="9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ea typeface="Times New Roman" panose="02020603050405020304" pitchFamily="18" charset="0"/>
              </a:rPr>
              <a:t>Major Steps (next 2 weeks): Milestones/Key Deliverables with Dates</a:t>
            </a:r>
            <a:endParaRPr lang="en-US" sz="1000" dirty="0">
              <a:solidFill>
                <a:schemeClr val="tx1"/>
              </a:solidFill>
              <a:latin typeface="Arial" panose="020B0604020202020204" pitchFamily="34" charset="0"/>
              <a:ea typeface="Times New Roman" panose="02020603050405020304" pitchFamily="18" charset="0"/>
            </a:endParaRPr>
          </a:p>
          <a:p>
            <a:pPr marL="171450" indent="-171450">
              <a:buFont typeface="Arial" panose="020B0604020202020204" pitchFamily="34" charset="0"/>
              <a:buChar char="•"/>
            </a:pPr>
            <a:endParaRPr lang="en-US" sz="800" dirty="0">
              <a:solidFill>
                <a:schemeClr val="tx1"/>
              </a:solidFill>
              <a:latin typeface="Arial" panose="020B0604020202020204" pitchFamily="34" charset="0"/>
              <a:ea typeface="Times New Roman" panose="02020603050405020304" pitchFamily="18" charset="0"/>
            </a:endParaRP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BGP peer review and Change Review Board approval (Daniel/Hasib/Vikas)			03/31/2026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BGP execution at Hicksville and Melville (Lee + Rahiq/Brianna on-site)			04/01/2026 - 04/02/2026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Phase 2 staging and equipment discussion call					03/26/2026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Phase 2 staging and equipment discussion call					03/26/2026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IFR packages due — Green Acres and Berry Street (BMcD)				03/30/2026</a:t>
            </a:r>
          </a:p>
        </p:txBody>
      </p:sp>
      <p:sp>
        <p:nvSpPr>
          <p:cNvPr id="43" name="Text Box 48">
            <a:extLst>
              <a:ext uri="{FF2B5EF4-FFF2-40B4-BE49-F238E27FC236}">
                <a16:creationId xmlns:a16="http://schemas.microsoft.com/office/drawing/2014/main" id="{F58AB777-D75A-4987-A0B9-DC4DA02EF15F}"/>
              </a:ext>
            </a:extLst>
          </p:cNvPr>
          <p:cNvSpPr txBox="1"/>
          <p:nvPr/>
        </p:nvSpPr>
        <p:spPr>
          <a:xfrm>
            <a:off x="6258911" y="5397961"/>
            <a:ext cx="5921937" cy="698040"/>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Risk Management- Top 3 (in descending order of possible impact)</a:t>
            </a:r>
            <a:endParaRPr lang="en-US" sz="1000" b="1" u="sng" dirty="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cs typeface="Arial" panose="020B0604020202020204" pitchFamily="34" charset="0"/>
              </a:rPr>
              <a:t>Vendor installation delays – inclement weather</a:t>
            </a:r>
          </a:p>
          <a:p>
            <a:pPr marL="171450" indent="-171450">
              <a:buFont typeface="Arial" panose="020B0604020202020204" pitchFamily="34" charset="0"/>
              <a:buChar char="•"/>
              <a:tabLst>
                <a:tab pos="4857750" algn="r"/>
              </a:tabLst>
            </a:pPr>
            <a:r>
              <a:rPr lang="en-US" sz="800" dirty="0">
                <a:latin typeface="Arial" panose="020B0604020202020204" pitchFamily="34" charset="0"/>
                <a:cs typeface="Arial" panose="020B0604020202020204" pitchFamily="34" charset="0"/>
              </a:rPr>
              <a:t>Legacy JMUX equipment old and need to be very careful when doing cutovers. </a:t>
            </a:r>
          </a:p>
          <a:p>
            <a:pPr marL="171450" indent="-171450">
              <a:buFont typeface="Arial" panose="020B0604020202020204" pitchFamily="34" charset="0"/>
              <a:buChar char="•"/>
              <a:tabLst>
                <a:tab pos="4857750" algn="r"/>
              </a:tabLst>
            </a:pPr>
            <a:r>
              <a:rPr lang="en-US" sz="800" dirty="0">
                <a:latin typeface="Arial" panose="020B0604020202020204" pitchFamily="34" charset="0"/>
                <a:cs typeface="Arial" panose="020B0604020202020204" pitchFamily="34" charset="0"/>
              </a:rPr>
              <a:t>Other projects and work being done at the substation simultaneously </a:t>
            </a:r>
          </a:p>
          <a:p>
            <a:pPr marL="171450" indent="-171450">
              <a:buFont typeface="Arial" panose="020B0604020202020204" pitchFamily="34" charset="0"/>
              <a:buChar char="•"/>
              <a:tabLst>
                <a:tab pos="4857750" algn="r"/>
              </a:tabLst>
            </a:pPr>
            <a:endParaRPr lang="en-US" sz="800" dirty="0">
              <a:latin typeface="Arial" panose="020B0604020202020204" pitchFamily="34" charset="0"/>
              <a:cs typeface="Arial" panose="020B0604020202020204" pitchFamily="34" charset="0"/>
            </a:endParaRPr>
          </a:p>
        </p:txBody>
      </p:sp>
      <p:sp>
        <p:nvSpPr>
          <p:cNvPr id="44" name="Text Box 47">
            <a:extLst>
              <a:ext uri="{FF2B5EF4-FFF2-40B4-BE49-F238E27FC236}">
                <a16:creationId xmlns:a16="http://schemas.microsoft.com/office/drawing/2014/main" id="{BBA6DA4A-2903-4034-B47F-A4721929DA70}"/>
              </a:ext>
            </a:extLst>
          </p:cNvPr>
          <p:cNvSpPr txBox="1"/>
          <p:nvPr/>
        </p:nvSpPr>
        <p:spPr>
          <a:xfrm>
            <a:off x="6258912" y="6096000"/>
            <a:ext cx="5921936" cy="755897"/>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Issue Management- Top 3 (in descending order of actual impact)</a:t>
            </a:r>
            <a:endParaRPr lang="en-US" sz="1000" b="1" u="sng" dirty="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cs typeface="Arial" panose="020B0604020202020204" pitchFamily="34" charset="0"/>
              </a:rPr>
              <a:t>Accelerating phase 2 site surveys by getting them completed in Phase 1. </a:t>
            </a: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ea typeface="Times New Roman" panose="02020603050405020304" pitchFamily="18" charset="0"/>
                <a:cs typeface="Arial" panose="020B0604020202020204" pitchFamily="34" charset="0"/>
              </a:rPr>
              <a:t>Working closely with vendors and tracking installation.</a:t>
            </a: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ea typeface="Times New Roman" panose="02020603050405020304" pitchFamily="18" charset="0"/>
                <a:cs typeface="Arial" panose="020B0604020202020204" pitchFamily="34" charset="0"/>
              </a:rPr>
              <a:t>Equipment procurement and delays in SCM.</a:t>
            </a:r>
            <a:endParaRPr lang="en-US" sz="1000" dirty="0">
              <a:latin typeface="Arial" panose="020B0604020202020204" pitchFamily="34" charset="0"/>
              <a:ea typeface="Times New Roman" panose="02020603050405020304" pitchFamily="18" charset="0"/>
            </a:endParaRPr>
          </a:p>
          <a:p>
            <a:pPr marL="342900" indent="-342900">
              <a:buFont typeface="Symbol" panose="05050102010706020507" pitchFamily="18" charset="2"/>
              <a:buChar char=""/>
              <a:tabLst>
                <a:tab pos="4857750" algn="r"/>
              </a:tabLst>
            </a:pPr>
            <a:endParaRPr lang="en-US" sz="1000" dirty="0">
              <a:latin typeface="Arial" panose="020B0604020202020204" pitchFamily="34" charset="0"/>
              <a:ea typeface="Times New Roman" panose="02020603050405020304" pitchFamily="18" charset="0"/>
            </a:endParaRPr>
          </a:p>
          <a:p>
            <a:pPr>
              <a:tabLst>
                <a:tab pos="4857750" algn="r"/>
              </a:tabLst>
            </a:pPr>
            <a:r>
              <a:rPr lang="en-GB" sz="1000" dirty="0">
                <a:latin typeface="Arial" panose="020B0604020202020204" pitchFamily="34" charset="0"/>
                <a:ea typeface="Times New Roman" panose="02020603050405020304" pitchFamily="18" charset="0"/>
              </a:rPr>
              <a:t> </a:t>
            </a:r>
            <a:endParaRPr lang="en-US" sz="1000" dirty="0">
              <a:latin typeface="Arial" panose="020B0604020202020204" pitchFamily="34" charset="0"/>
              <a:ea typeface="Times New Roman" panose="02020603050405020304" pitchFamily="18" charset="0"/>
            </a:endParaRPr>
          </a:p>
        </p:txBody>
      </p:sp>
      <p:sp>
        <p:nvSpPr>
          <p:cNvPr id="45" name="Text Box 45">
            <a:extLst>
              <a:ext uri="{FF2B5EF4-FFF2-40B4-BE49-F238E27FC236}">
                <a16:creationId xmlns:a16="http://schemas.microsoft.com/office/drawing/2014/main" id="{A15D1C75-5401-4D07-A51A-9CE2CDD522CF}"/>
              </a:ext>
            </a:extLst>
          </p:cNvPr>
          <p:cNvSpPr txBox="1"/>
          <p:nvPr/>
        </p:nvSpPr>
        <p:spPr>
          <a:xfrm>
            <a:off x="6254881" y="4406680"/>
            <a:ext cx="5921939" cy="997630"/>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Scope/Change Management (most recent approved)</a:t>
            </a:r>
            <a:endParaRPr lang="en-US" sz="1000" b="1" u="sng" dirty="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cs typeface="Arial" panose="020B0604020202020204" pitchFamily="34" charset="0"/>
              </a:rPr>
              <a:t>Adding 7 additional nodes to the original 25 Phase 1 nodes. The additional 7 nodes completes both ring 1 and ring 2 in this Phase 1 effort.</a:t>
            </a:r>
          </a:p>
          <a:p>
            <a:pPr marL="171450" indent="-171450">
              <a:buFont typeface="Arial" panose="020B0604020202020204" pitchFamily="34" charset="0"/>
              <a:buChar char="•"/>
              <a:tabLst>
                <a:tab pos="4402138" algn="r"/>
                <a:tab pos="4857750" algn="r"/>
              </a:tabLst>
            </a:pPr>
            <a:endParaRPr lang="en-US" sz="800" dirty="0">
              <a:solidFill>
                <a:schemeClr val="tx1"/>
              </a:solidFill>
              <a:latin typeface="Arial" panose="020B0604020202020204" pitchFamily="34" charset="0"/>
              <a:cs typeface="Arial" panose="020B0604020202020204" pitchFamily="34" charset="0"/>
            </a:endParaRPr>
          </a:p>
          <a:p>
            <a:pPr>
              <a:tabLst>
                <a:tab pos="4402138" algn="r"/>
                <a:tab pos="4857750" algn="r"/>
              </a:tabLst>
            </a:pPr>
            <a:r>
              <a:rPr lang="en-US" sz="1000" dirty="0">
                <a:ea typeface="Times New Roman" panose="02020603050405020304" pitchFamily="18" charset="0"/>
              </a:rPr>
              <a:t>	</a:t>
            </a:r>
            <a:endParaRPr lang="en-US" sz="1000" dirty="0">
              <a:latin typeface="Arial" panose="020B0604020202020204" pitchFamily="34" charset="0"/>
              <a:ea typeface="Times New Roman" panose="02020603050405020304" pitchFamily="18" charset="0"/>
            </a:endParaRPr>
          </a:p>
          <a:p>
            <a:pPr>
              <a:tabLst>
                <a:tab pos="4857750" algn="r"/>
              </a:tabLst>
            </a:pPr>
            <a:r>
              <a:rPr lang="en-GB" sz="1000" dirty="0">
                <a:latin typeface="Arial" panose="020B0604020202020204" pitchFamily="34" charset="0"/>
                <a:ea typeface="Times New Roman" panose="02020603050405020304" pitchFamily="18" charset="0"/>
              </a:rPr>
              <a:t> </a:t>
            </a:r>
            <a:endParaRPr lang="en-US" sz="1000" dirty="0">
              <a:latin typeface="Arial" panose="020B0604020202020204" pitchFamily="34" charset="0"/>
              <a:ea typeface="Times New Roman" panose="02020603050405020304" pitchFamily="18" charset="0"/>
            </a:endParaRPr>
          </a:p>
        </p:txBody>
      </p:sp>
      <p:sp>
        <p:nvSpPr>
          <p:cNvPr id="46" name="Right Arrow 24">
            <a:extLst>
              <a:ext uri="{FF2B5EF4-FFF2-40B4-BE49-F238E27FC236}">
                <a16:creationId xmlns:a16="http://schemas.microsoft.com/office/drawing/2014/main" id="{2088CA12-63D4-4C65-8EA3-5E585AFD96E5}"/>
              </a:ext>
            </a:extLst>
          </p:cNvPr>
          <p:cNvSpPr/>
          <p:nvPr/>
        </p:nvSpPr>
        <p:spPr>
          <a:xfrm>
            <a:off x="5677629" y="2895600"/>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7" name="Right Arrow 25">
            <a:extLst>
              <a:ext uri="{FF2B5EF4-FFF2-40B4-BE49-F238E27FC236}">
                <a16:creationId xmlns:a16="http://schemas.microsoft.com/office/drawing/2014/main" id="{99A0F9B8-3D51-4C3A-91A7-906152F6A2DC}"/>
              </a:ext>
            </a:extLst>
          </p:cNvPr>
          <p:cNvSpPr/>
          <p:nvPr/>
        </p:nvSpPr>
        <p:spPr>
          <a:xfrm>
            <a:off x="5677629" y="3272135"/>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8" name="Right Arrow 26">
            <a:extLst>
              <a:ext uri="{FF2B5EF4-FFF2-40B4-BE49-F238E27FC236}">
                <a16:creationId xmlns:a16="http://schemas.microsoft.com/office/drawing/2014/main" id="{ADFEBA27-D38F-49AE-B09C-A461C0E1C624}"/>
              </a:ext>
            </a:extLst>
          </p:cNvPr>
          <p:cNvSpPr/>
          <p:nvPr/>
        </p:nvSpPr>
        <p:spPr>
          <a:xfrm>
            <a:off x="5667923" y="3655064"/>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9" name="Right Arrow 27">
            <a:extLst>
              <a:ext uri="{FF2B5EF4-FFF2-40B4-BE49-F238E27FC236}">
                <a16:creationId xmlns:a16="http://schemas.microsoft.com/office/drawing/2014/main" id="{17243CF0-21F8-40EB-A66E-731F988B439A}"/>
              </a:ext>
            </a:extLst>
          </p:cNvPr>
          <p:cNvSpPr/>
          <p:nvPr/>
        </p:nvSpPr>
        <p:spPr>
          <a:xfrm rot="16200000">
            <a:off x="5667922" y="4012551"/>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0" name="Text Box 6">
            <a:extLst>
              <a:ext uri="{FF2B5EF4-FFF2-40B4-BE49-F238E27FC236}">
                <a16:creationId xmlns:a16="http://schemas.microsoft.com/office/drawing/2014/main" id="{CA880BDC-D1B0-437D-9414-965F284C1198}"/>
              </a:ext>
            </a:extLst>
          </p:cNvPr>
          <p:cNvSpPr txBox="1"/>
          <p:nvPr/>
        </p:nvSpPr>
        <p:spPr>
          <a:xfrm>
            <a:off x="9249937" y="-1302"/>
            <a:ext cx="2935564" cy="392644"/>
          </a:xfrm>
          <a:prstGeom prst="rect">
            <a:avLst/>
          </a:prstGeom>
          <a:noFill/>
          <a:ln w="635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tabLst>
                <a:tab pos="1261872" algn="l"/>
              </a:tabLst>
            </a:pPr>
            <a:r>
              <a:rPr lang="en-US" sz="1000" b="1" dirty="0">
                <a:latin typeface="Arial" panose="020B0604020202020204" pitchFamily="34" charset="0"/>
                <a:ea typeface="Times New Roman" panose="02020603050405020304" pitchFamily="18" charset="0"/>
              </a:rPr>
              <a:t>PRJ (ServiceNow</a:t>
            </a:r>
            <a:r>
              <a:rPr lang="en-US" sz="900" dirty="0">
                <a:latin typeface="Arial" panose="020B0604020202020204" pitchFamily="34" charset="0"/>
                <a:ea typeface="Times New Roman" panose="02020603050405020304" pitchFamily="18" charset="0"/>
              </a:rPr>
              <a:t>)</a:t>
            </a:r>
            <a:r>
              <a:rPr lang="en-US" sz="1000" b="1" dirty="0">
                <a:latin typeface="Arial" panose="020B0604020202020204" pitchFamily="34" charset="0"/>
                <a:ea typeface="Times New Roman" panose="02020603050405020304" pitchFamily="18" charset="0"/>
              </a:rPr>
              <a:t>:  PRJ13797</a:t>
            </a:r>
          </a:p>
          <a:p>
            <a:pPr>
              <a:tabLst>
                <a:tab pos="1261872" algn="l"/>
              </a:tabLst>
            </a:pPr>
            <a:r>
              <a:rPr lang="en-US" sz="1000" b="1" dirty="0">
                <a:latin typeface="Arial" panose="020B0604020202020204" pitchFamily="34" charset="0"/>
                <a:ea typeface="Times New Roman" panose="02020603050405020304" pitchFamily="18" charset="0"/>
              </a:rPr>
              <a:t>Repository Link   : </a:t>
            </a:r>
            <a:r>
              <a:rPr lang="en-US" sz="1000" dirty="0">
                <a:hlinkClick r:id="rId2"/>
              </a:rPr>
              <a:t>JMUX Repository</a:t>
            </a:r>
            <a:endParaRPr lang="en-US" sz="1000" dirty="0">
              <a:latin typeface="Arial" panose="020B0604020202020204" pitchFamily="34" charset="0"/>
              <a:ea typeface="Times New Roman" panose="02020603050405020304" pitchFamily="18" charset="0"/>
            </a:endParaRPr>
          </a:p>
        </p:txBody>
      </p:sp>
      <p:sp>
        <p:nvSpPr>
          <p:cNvPr id="51" name="Text Box 51">
            <a:extLst>
              <a:ext uri="{FF2B5EF4-FFF2-40B4-BE49-F238E27FC236}">
                <a16:creationId xmlns:a16="http://schemas.microsoft.com/office/drawing/2014/main" id="{B497CBAA-FEFB-4E96-B9AE-23EABC83D589}"/>
              </a:ext>
            </a:extLst>
          </p:cNvPr>
          <p:cNvSpPr txBox="1"/>
          <p:nvPr/>
        </p:nvSpPr>
        <p:spPr>
          <a:xfrm>
            <a:off x="0" y="807860"/>
            <a:ext cx="3971461" cy="2086938"/>
          </a:xfrm>
          <a:prstGeom prst="rect">
            <a:avLst/>
          </a:prstGeom>
          <a:solidFill>
            <a:schemeClr val="accent1">
              <a:lumMod val="10000"/>
              <a:lumOff val="9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300"/>
              </a:spcAft>
              <a:tabLst>
                <a:tab pos="2057400" algn="r"/>
              </a:tabLst>
            </a:pPr>
            <a:r>
              <a:rPr lang="en-GB" sz="1000" b="1" u="sng" dirty="0">
                <a:solidFill>
                  <a:schemeClr val="tx1"/>
                </a:solidFill>
                <a:latin typeface="Arial" panose="020B0604020202020204" pitchFamily="34" charset="0"/>
                <a:ea typeface="Times New Roman" panose="02020603050405020304" pitchFamily="18" charset="0"/>
              </a:rPr>
              <a:t>Lifecycle Phase</a:t>
            </a:r>
            <a:r>
              <a:rPr lang="en-GB" sz="1000" b="1" dirty="0">
                <a:solidFill>
                  <a:schemeClr val="tx1"/>
                </a:solidFill>
                <a:latin typeface="Arial" panose="020B0604020202020204" pitchFamily="34" charset="0"/>
                <a:ea typeface="Times New Roman" panose="02020603050405020304" pitchFamily="18" charset="0"/>
              </a:rPr>
              <a:t>: </a:t>
            </a:r>
          </a:p>
          <a:p>
            <a:pPr>
              <a:spcAft>
                <a:spcPts val="300"/>
              </a:spcAft>
              <a:tabLst>
                <a:tab pos="2057400" algn="r"/>
              </a:tabLst>
            </a:pPr>
            <a:r>
              <a:rPr lang="en-GB" sz="800" dirty="0">
                <a:solidFill>
                  <a:schemeClr val="tx1"/>
                </a:solidFill>
                <a:latin typeface="Arial" panose="020B0604020202020204" pitchFamily="34" charset="0"/>
                <a:ea typeface="Times New Roman" panose="02020603050405020304" pitchFamily="18" charset="0"/>
              </a:rPr>
              <a:t>Execution</a:t>
            </a:r>
            <a:endParaRPr lang="en-GB" sz="800" dirty="0">
              <a:solidFill>
                <a:schemeClr val="tx1"/>
              </a:solidFill>
              <a:latin typeface="Arial" panose="020B0604020202020204" pitchFamily="34" charset="0"/>
            </a:endParaRPr>
          </a:p>
          <a:p>
            <a:pPr>
              <a:spcAft>
                <a:spcPts val="300"/>
              </a:spcAft>
              <a:tabLst>
                <a:tab pos="2057400" algn="r"/>
              </a:tabLst>
            </a:pPr>
            <a:r>
              <a:rPr lang="en-GB" sz="1000" b="1" u="sng" dirty="0">
                <a:solidFill>
                  <a:schemeClr val="tx1"/>
                </a:solidFill>
                <a:latin typeface="Arial" panose="020B0604020202020204" pitchFamily="34" charset="0"/>
                <a:ea typeface="Times New Roman" panose="02020603050405020304" pitchFamily="18" charset="0"/>
              </a:rPr>
              <a:t>Current Period (past 2 weeks) Status Narrative:</a:t>
            </a:r>
            <a:endParaRPr lang="en-US" sz="1000" b="1" u="sng" dirty="0">
              <a:solidFill>
                <a:schemeClr val="tx1"/>
              </a:solidFill>
              <a:latin typeface="Arial" panose="020B0604020202020204" pitchFamily="34" charset="0"/>
              <a:ea typeface="Times New Roman" panose="02020603050405020304" pitchFamily="18" charset="0"/>
            </a:endParaRP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DC power installed and operational at Northport on 03/18 — Router installation complete.</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Hicksville-Syosset link active. OTDR trace files (bidirectional + raw) requested from splicers.</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NSP Hicksville equipment wiring in progress; wire drops to equipment being completed this week.</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BGP design approved by Vikas Vohra on 03/16. Peer review with Daniel Reyes and Hasib in progress; Change Review Board scheduled 03/31. BGP execution at Hicksville (4/1) and Melville (4/2). Brianna and Rahiq to be on-site to console into routers.</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ILO configuration in progress at Hicksville and Melville by Rahiq and Brianna this week.</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IFR approved by Lee Blackman for Kings Hwy and Bohemia; IFCs to follow 03/30.</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Nokia training courses selected with Shelton (Nokia). Awaiting Glenn Leaming approval; dates to be confirmed by 03/27.</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Phase 2 material review underway; Vinny reviewing MRR and material counts. Staging discussion call scheduled 03/26.</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C37.94 card identified as needed for Northport Indoor — to be included with Phase 2 miscellaneous order.</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Remediation (For Non-Green Statuses)</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Schedule (Yellow): BGP execution scheduled 4/1-4/2 at Hicksville and Melville. ILO configuration in progress this week. Recovery on track to restore Green upon BGP completion.</a:t>
            </a:r>
          </a:p>
        </p:txBody>
      </p:sp>
      <p:sp>
        <p:nvSpPr>
          <p:cNvPr id="52" name="Text Box 7">
            <a:extLst>
              <a:ext uri="{FF2B5EF4-FFF2-40B4-BE49-F238E27FC236}">
                <a16:creationId xmlns:a16="http://schemas.microsoft.com/office/drawing/2014/main" id="{50A5D7AB-3185-409B-9CFD-A028BA5B0763}"/>
              </a:ext>
            </a:extLst>
          </p:cNvPr>
          <p:cNvSpPr txBox="1"/>
          <p:nvPr/>
        </p:nvSpPr>
        <p:spPr>
          <a:xfrm>
            <a:off x="6270720" y="812878"/>
            <a:ext cx="5921280" cy="892351"/>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900" b="1" u="sng" dirty="0">
                <a:latin typeface="Arial" panose="020B0604020202020204" pitchFamily="34" charset="0"/>
                <a:ea typeface="Times New Roman" panose="02020603050405020304" pitchFamily="18" charset="0"/>
              </a:rPr>
              <a:t>Project Description</a:t>
            </a:r>
            <a:endParaRPr lang="en-US" sz="900" dirty="0">
              <a:latin typeface="Arial" panose="020B0604020202020204" pitchFamily="34" charset="0"/>
              <a:ea typeface="Times New Roman" panose="02020603050405020304" pitchFamily="18" charset="0"/>
            </a:endParaRPr>
          </a:p>
          <a:p>
            <a:r>
              <a:rPr lang="en-US" sz="800" i="1" dirty="0">
                <a:solidFill>
                  <a:schemeClr val="tx1"/>
                </a:solidFill>
                <a:latin typeface="Arial" panose="020B0604020202020204" pitchFamily="34" charset="0"/>
                <a:cs typeface="Arial" panose="020B0604020202020204" pitchFamily="34" charset="0"/>
              </a:rPr>
              <a:t>The Systems Integrator will create, facilitate, and execute the process for generating an RFP to select an ‘Equipment Vendor’ to replace the existing Private Network vendor – GE Jungle MUX. In parallel, the Systems Integrator will conduct ‘high-level’ design activities for the MPLS Private Network, including site surveys at 88 COMPANY substations to assess specific structural and infrastructure modifications required for the new equipment.</a:t>
            </a:r>
          </a:p>
        </p:txBody>
      </p:sp>
      <p:sp>
        <p:nvSpPr>
          <p:cNvPr id="53" name="Right Arrow 31">
            <a:extLst>
              <a:ext uri="{FF2B5EF4-FFF2-40B4-BE49-F238E27FC236}">
                <a16:creationId xmlns:a16="http://schemas.microsoft.com/office/drawing/2014/main" id="{61241709-E113-4D6C-BED2-F4AE13EC92F0}"/>
              </a:ext>
            </a:extLst>
          </p:cNvPr>
          <p:cNvSpPr/>
          <p:nvPr/>
        </p:nvSpPr>
        <p:spPr>
          <a:xfrm rot="16200000">
            <a:off x="5783087" y="1055060"/>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ight Arrow 32">
            <a:extLst>
              <a:ext uri="{FF2B5EF4-FFF2-40B4-BE49-F238E27FC236}">
                <a16:creationId xmlns:a16="http://schemas.microsoft.com/office/drawing/2014/main" id="{EF284793-0805-4741-B700-69540AFAF81F}"/>
              </a:ext>
            </a:extLst>
          </p:cNvPr>
          <p:cNvSpPr/>
          <p:nvPr/>
        </p:nvSpPr>
        <p:spPr>
          <a:xfrm>
            <a:off x="5783087" y="1442431"/>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ight Arrow 33">
            <a:extLst>
              <a:ext uri="{FF2B5EF4-FFF2-40B4-BE49-F238E27FC236}">
                <a16:creationId xmlns:a16="http://schemas.microsoft.com/office/drawing/2014/main" id="{7F53E16B-81D2-402C-AC8B-0F8C350C64E7}"/>
              </a:ext>
            </a:extLst>
          </p:cNvPr>
          <p:cNvSpPr/>
          <p:nvPr/>
        </p:nvSpPr>
        <p:spPr>
          <a:xfrm rot="5400000">
            <a:off x="5783087" y="1824899"/>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ight Arrow 34">
            <a:extLst>
              <a:ext uri="{FF2B5EF4-FFF2-40B4-BE49-F238E27FC236}">
                <a16:creationId xmlns:a16="http://schemas.microsoft.com/office/drawing/2014/main" id="{46E48AAE-A8FE-4897-BAA4-3660A5660953}"/>
              </a:ext>
            </a:extLst>
          </p:cNvPr>
          <p:cNvSpPr/>
          <p:nvPr/>
        </p:nvSpPr>
        <p:spPr>
          <a:xfrm>
            <a:off x="5783087" y="2194654"/>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ight Arrow 35">
            <a:extLst>
              <a:ext uri="{FF2B5EF4-FFF2-40B4-BE49-F238E27FC236}">
                <a16:creationId xmlns:a16="http://schemas.microsoft.com/office/drawing/2014/main" id="{F8AC5779-D0B0-40F6-8295-DAE648BA2579}"/>
              </a:ext>
            </a:extLst>
          </p:cNvPr>
          <p:cNvSpPr/>
          <p:nvPr/>
        </p:nvSpPr>
        <p:spPr>
          <a:xfrm>
            <a:off x="5783087" y="2586488"/>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0" name="Table 59">
            <a:extLst>
              <a:ext uri="{FF2B5EF4-FFF2-40B4-BE49-F238E27FC236}">
                <a16:creationId xmlns:a16="http://schemas.microsoft.com/office/drawing/2014/main" id="{2DFF6007-A3FB-4869-99A4-2DF9E8D268F3}"/>
              </a:ext>
            </a:extLst>
          </p:cNvPr>
          <p:cNvGraphicFramePr>
            <a:graphicFrameLocks noGrp="1"/>
          </p:cNvGraphicFramePr>
          <p:nvPr/>
        </p:nvGraphicFramePr>
        <p:xfrm>
          <a:off x="6264484" y="3303048"/>
          <a:ext cx="5921940" cy="1132063"/>
        </p:xfrm>
        <a:graphic>
          <a:graphicData uri="http://schemas.openxmlformats.org/drawingml/2006/table">
            <a:tbl>
              <a:tblPr firstRow="1" bandRow="1">
                <a:tableStyleId>{5C22544A-7EE6-4342-B048-85BDC9FD1C3A}</a:tableStyleId>
              </a:tblPr>
              <a:tblGrid>
                <a:gridCol w="1885640">
                  <a:extLst>
                    <a:ext uri="{9D8B030D-6E8A-4147-A177-3AD203B41FA5}">
                      <a16:colId xmlns:a16="http://schemas.microsoft.com/office/drawing/2014/main" val="20000"/>
                    </a:ext>
                  </a:extLst>
                </a:gridCol>
                <a:gridCol w="3056738">
                  <a:extLst>
                    <a:ext uri="{9D8B030D-6E8A-4147-A177-3AD203B41FA5}">
                      <a16:colId xmlns:a16="http://schemas.microsoft.com/office/drawing/2014/main" val="20001"/>
                    </a:ext>
                  </a:extLst>
                </a:gridCol>
                <a:gridCol w="979562">
                  <a:extLst>
                    <a:ext uri="{9D8B030D-6E8A-4147-A177-3AD203B41FA5}">
                      <a16:colId xmlns:a16="http://schemas.microsoft.com/office/drawing/2014/main" val="20002"/>
                    </a:ext>
                  </a:extLst>
                </a:gridCol>
              </a:tblGrid>
              <a:tr h="278623">
                <a:tc gridSpan="3">
                  <a:txBody>
                    <a:bodyPr/>
                    <a:lstStyle/>
                    <a:p>
                      <a:pPr algn="ctr"/>
                      <a:r>
                        <a:rPr lang="en-US" sz="1000" b="1" u="sng" dirty="0">
                          <a:solidFill>
                            <a:schemeClr val="tx1"/>
                          </a:solidFill>
                        </a:rPr>
                        <a:t>Dependency Management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3">
                        <a:lumMod val="20000"/>
                        <a:lumOff val="80000"/>
                      </a:schemeClr>
                    </a:solidFill>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170925">
                <a:tc>
                  <a:txBody>
                    <a:bodyPr/>
                    <a:lstStyle/>
                    <a:p>
                      <a:pPr algn="ctr"/>
                      <a:r>
                        <a:rPr lang="en-US" sz="800" b="1" dirty="0"/>
                        <a:t>Project</a:t>
                      </a:r>
                    </a:p>
                  </a:txBody>
                  <a:tcPr>
                    <a:lnL w="12700" cap="flat" cmpd="sng" algn="ctr">
                      <a:solidFill>
                        <a:schemeClr val="tx1"/>
                      </a:solidFill>
                      <a:prstDash val="solid"/>
                      <a:round/>
                      <a:headEnd type="none" w="med" len="med"/>
                      <a:tailEnd type="none" w="med" len="med"/>
                    </a:lnL>
                    <a:solidFill>
                      <a:schemeClr val="accent3">
                        <a:lumMod val="60000"/>
                        <a:lumOff val="40000"/>
                      </a:schemeClr>
                    </a:solidFill>
                  </a:tcPr>
                </a:tc>
                <a:tc>
                  <a:txBody>
                    <a:bodyPr/>
                    <a:lstStyle/>
                    <a:p>
                      <a:pPr algn="ctr"/>
                      <a:r>
                        <a:rPr lang="en-US" sz="800" b="1" dirty="0"/>
                        <a:t>Deliverable</a:t>
                      </a:r>
                    </a:p>
                  </a:txBody>
                  <a:tcPr>
                    <a:solidFill>
                      <a:schemeClr val="accent3">
                        <a:lumMod val="60000"/>
                        <a:lumOff val="40000"/>
                      </a:schemeClr>
                    </a:solidFill>
                  </a:tcPr>
                </a:tc>
                <a:tc>
                  <a:txBody>
                    <a:bodyPr/>
                    <a:lstStyle/>
                    <a:p>
                      <a:pPr algn="ctr"/>
                      <a:r>
                        <a:rPr lang="en-US" sz="800" b="1" dirty="0"/>
                        <a:t>Date</a:t>
                      </a:r>
                    </a:p>
                  </a:txBody>
                  <a:tcPr>
                    <a:lnR w="12700" cap="flat" cmpd="sng" algn="ctr">
                      <a:solidFill>
                        <a:schemeClr val="tx1"/>
                      </a:solidFill>
                      <a:prstDash val="solid"/>
                      <a:round/>
                      <a:headEnd type="none" w="med" len="med"/>
                      <a:tailEnd type="none" w="med" len="med"/>
                    </a:lnR>
                    <a:solidFill>
                      <a:schemeClr val="accent3">
                        <a:lumMod val="60000"/>
                        <a:lumOff val="40000"/>
                      </a:schemeClr>
                    </a:solidFill>
                  </a:tcPr>
                </a:tc>
                <a:extLst>
                  <a:ext uri="{0D108BD9-81ED-4DB2-BD59-A6C34878D82A}">
                    <a16:rowId xmlns:a16="http://schemas.microsoft.com/office/drawing/2014/main" val="10001"/>
                  </a:ext>
                </a:extLst>
              </a:tr>
              <a:tr h="170925">
                <a:tc>
                  <a:txBody>
                    <a:bodyPr/>
                    <a:lstStyle/>
                    <a:p>
                      <a:r>
                        <a:rPr lang="en-US" sz="800" dirty="0">
                          <a:latin typeface="Arial" panose="020B0604020202020204" pitchFamily="34" charset="0"/>
                          <a:cs typeface="Arial" panose="020B0604020202020204" pitchFamily="34" charset="0"/>
                        </a:rPr>
                        <a:t>NA</a:t>
                      </a:r>
                    </a:p>
                  </a:txBody>
                  <a:tcPr>
                    <a:lnL w="12700" cap="flat" cmpd="sng" algn="ctr">
                      <a:solidFill>
                        <a:schemeClr val="tx1"/>
                      </a:solidFill>
                      <a:prstDash val="solid"/>
                      <a:round/>
                      <a:headEnd type="none" w="med" len="med"/>
                      <a:tailEnd type="none" w="med" len="med"/>
                    </a:lnL>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lnR w="12700" cap="flat" cmpd="sng" algn="ctr">
                      <a:solidFill>
                        <a:schemeClr val="tx1"/>
                      </a:solidFill>
                      <a:prstDash val="solid"/>
                      <a:round/>
                      <a:headEnd type="none" w="med" len="med"/>
                      <a:tailEnd type="none" w="med" len="med"/>
                    </a:lnR>
                    <a:solidFill>
                      <a:schemeClr val="accent3">
                        <a:lumMod val="20000"/>
                        <a:lumOff val="80000"/>
                      </a:schemeClr>
                    </a:solidFill>
                  </a:tcPr>
                </a:tc>
                <a:extLst>
                  <a:ext uri="{0D108BD9-81ED-4DB2-BD59-A6C34878D82A}">
                    <a16:rowId xmlns:a16="http://schemas.microsoft.com/office/drawing/2014/main" val="10002"/>
                  </a:ext>
                </a:extLst>
              </a:tr>
              <a:tr h="170925">
                <a:tc>
                  <a:txBody>
                    <a:bodyPr/>
                    <a:lstStyle/>
                    <a:p>
                      <a:endParaRPr lang="en-US" sz="8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lnR w="12700" cap="flat" cmpd="sng" algn="ctr">
                      <a:solidFill>
                        <a:schemeClr val="tx1"/>
                      </a:solidFill>
                      <a:prstDash val="solid"/>
                      <a:round/>
                      <a:headEnd type="none" w="med" len="med"/>
                      <a:tailEnd type="none" w="med" len="med"/>
                    </a:lnR>
                    <a:solidFill>
                      <a:schemeClr val="accent3">
                        <a:lumMod val="20000"/>
                        <a:lumOff val="80000"/>
                      </a:schemeClr>
                    </a:solidFill>
                  </a:tcPr>
                </a:tc>
                <a:extLst>
                  <a:ext uri="{0D108BD9-81ED-4DB2-BD59-A6C34878D82A}">
                    <a16:rowId xmlns:a16="http://schemas.microsoft.com/office/drawing/2014/main" val="10003"/>
                  </a:ext>
                </a:extLst>
              </a:tr>
              <a:tr h="170925">
                <a:tc>
                  <a:txBody>
                    <a:bodyPr/>
                    <a:lstStyle/>
                    <a:p>
                      <a:endParaRPr lang="en-US" sz="8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lnR w="12700" cap="flat" cmpd="sng" algn="ctr">
                      <a:solidFill>
                        <a:schemeClr val="tx1"/>
                      </a:solidFill>
                      <a:prstDash val="solid"/>
                      <a:round/>
                      <a:headEnd type="none" w="med" len="med"/>
                      <a:tailEnd type="none" w="med" len="med"/>
                    </a:lnR>
                    <a:solidFill>
                      <a:schemeClr val="accent3">
                        <a:lumMod val="20000"/>
                        <a:lumOff val="80000"/>
                      </a:schemeClr>
                    </a:solidFill>
                  </a:tcPr>
                </a:tc>
                <a:extLst>
                  <a:ext uri="{0D108BD9-81ED-4DB2-BD59-A6C34878D82A}">
                    <a16:rowId xmlns:a16="http://schemas.microsoft.com/office/drawing/2014/main" val="1421505031"/>
                  </a:ext>
                </a:extLst>
              </a:tr>
            </a:tbl>
          </a:graphicData>
        </a:graphic>
      </p:graphicFrame>
      <p:sp>
        <p:nvSpPr>
          <p:cNvPr id="30" name="Text Box 6">
            <a:extLst>
              <a:ext uri="{FF2B5EF4-FFF2-40B4-BE49-F238E27FC236}">
                <a16:creationId xmlns:a16="http://schemas.microsoft.com/office/drawing/2014/main" id="{01308F76-0B61-47B3-9C87-8083E00E34E4}"/>
              </a:ext>
            </a:extLst>
          </p:cNvPr>
          <p:cNvSpPr txBox="1"/>
          <p:nvPr/>
        </p:nvSpPr>
        <p:spPr>
          <a:xfrm>
            <a:off x="9249794" y="596549"/>
            <a:ext cx="2935083" cy="211048"/>
          </a:xfrm>
          <a:prstGeom prst="rect">
            <a:avLst/>
          </a:prstGeom>
          <a:noFill/>
          <a:ln w="635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tabLst>
                <a:tab pos="1261872" algn="l"/>
              </a:tabLst>
            </a:pPr>
            <a:r>
              <a:rPr lang="en-GB" sz="800" b="1" u="sng" dirty="0">
                <a:solidFill>
                  <a:schemeClr val="tx1"/>
                </a:solidFill>
                <a:latin typeface="Arial" panose="020B0604020202020204" pitchFamily="34" charset="0"/>
                <a:ea typeface="Times New Roman" panose="02020603050405020304" pitchFamily="18" charset="0"/>
              </a:rPr>
              <a:t>Overall Health</a:t>
            </a:r>
            <a:r>
              <a:rPr lang="en-GB" sz="800" b="1" dirty="0">
                <a:solidFill>
                  <a:schemeClr val="tx1"/>
                </a:solidFill>
                <a:latin typeface="Arial" panose="020B0604020202020204" pitchFamily="34" charset="0"/>
                <a:ea typeface="Times New Roman" panose="02020603050405020304" pitchFamily="18" charset="0"/>
              </a:rPr>
              <a:t>    This Period   	Last Period</a:t>
            </a:r>
            <a:endParaRPr lang="en-US" sz="800" dirty="0">
              <a:solidFill>
                <a:schemeClr val="tx1"/>
              </a:solidFill>
              <a:latin typeface="Arial" panose="020B0604020202020204" pitchFamily="34" charset="0"/>
              <a:ea typeface="Times New Roman" panose="02020603050405020304" pitchFamily="18" charset="0"/>
            </a:endParaRPr>
          </a:p>
        </p:txBody>
      </p:sp>
      <p:sp>
        <p:nvSpPr>
          <p:cNvPr id="32" name="Rectangle 31"/>
          <p:cNvSpPr/>
          <p:nvPr/>
        </p:nvSpPr>
        <p:spPr>
          <a:xfrm>
            <a:off x="10756163" y="657235"/>
            <a:ext cx="247247" cy="9373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p:cNvSpPr/>
          <p:nvPr/>
        </p:nvSpPr>
        <p:spPr>
          <a:xfrm>
            <a:off x="11768197" y="657912"/>
            <a:ext cx="247247" cy="9373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 Box 6">
            <a:extLst>
              <a:ext uri="{FF2B5EF4-FFF2-40B4-BE49-F238E27FC236}">
                <a16:creationId xmlns:a16="http://schemas.microsoft.com/office/drawing/2014/main" id="{01308F76-0B61-47B3-9C87-8083E00E34E4}"/>
              </a:ext>
            </a:extLst>
          </p:cNvPr>
          <p:cNvSpPr txBox="1"/>
          <p:nvPr/>
        </p:nvSpPr>
        <p:spPr>
          <a:xfrm>
            <a:off x="9251648" y="390567"/>
            <a:ext cx="2935083" cy="207894"/>
          </a:xfrm>
          <a:prstGeom prst="rect">
            <a:avLst/>
          </a:prstGeom>
          <a:noFill/>
          <a:ln w="635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tabLst>
                <a:tab pos="1261872" algn="l"/>
              </a:tabLst>
            </a:pPr>
            <a:endParaRPr lang="en-US" sz="800" dirty="0">
              <a:solidFill>
                <a:schemeClr val="tx1"/>
              </a:solidFill>
              <a:latin typeface="Arial" panose="020B0604020202020204" pitchFamily="34" charset="0"/>
              <a:ea typeface="Times New Roman" panose="02020603050405020304" pitchFamily="18" charset="0"/>
            </a:endParaRPr>
          </a:p>
        </p:txBody>
      </p:sp>
      <p:sp>
        <p:nvSpPr>
          <p:cNvPr id="2" name="TextBox 1"/>
          <p:cNvSpPr txBox="1"/>
          <p:nvPr/>
        </p:nvSpPr>
        <p:spPr>
          <a:xfrm>
            <a:off x="11482827" y="6642556"/>
            <a:ext cx="714749" cy="184666"/>
          </a:xfrm>
          <a:prstGeom prst="rect">
            <a:avLst/>
          </a:prstGeom>
          <a:noFill/>
        </p:spPr>
        <p:txBody>
          <a:bodyPr wrap="square" rtlCol="0">
            <a:spAutoFit/>
          </a:bodyPr>
          <a:lstStyle/>
          <a:p>
            <a:r>
              <a:rPr lang="en-US" sz="600" dirty="0"/>
              <a:t>Version 3.0</a:t>
            </a:r>
          </a:p>
        </p:txBody>
      </p:sp>
    </p:spTree>
    <p:extLst>
      <p:ext uri="{BB962C8B-B14F-4D97-AF65-F5344CB8AC3E}">
        <p14:creationId xmlns:p14="http://schemas.microsoft.com/office/powerpoint/2010/main" val="21385606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737</Words>
  <Application>Microsoft Office PowerPoint</Application>
  <PresentationFormat>Widescreen</PresentationFormat>
  <Paragraphs>86</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Aptos Display</vt:lpstr>
      <vt:lpstr>Arial</vt:lpstr>
      <vt:lpstr>Symbol</vt:lpstr>
      <vt:lpstr>Times New Roman</vt:lpstr>
      <vt:lpstr>Office Theme</vt:lpstr>
      <vt:lpstr>JMUX Replacement</vt:lpstr>
    </vt:vector>
  </TitlesOfParts>
  <Company>PSEG Long Island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GUNARATNE, DHANANJAYA</dc:creator>
  <cp:lastModifiedBy>GUNARATNE, DHANANJAYA</cp:lastModifiedBy>
  <cp:revision>1</cp:revision>
  <dcterms:created xsi:type="dcterms:W3CDTF">2026-03-12T12:07:13Z</dcterms:created>
  <dcterms:modified xsi:type="dcterms:W3CDTF">2026-03-12T12:08:11Z</dcterms:modified>
</cp:coreProperties>
</file>