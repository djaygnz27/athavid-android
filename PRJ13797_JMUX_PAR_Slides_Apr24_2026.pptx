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PAR Circuit Migration — Background &amp;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DD7EE"/>
                </a:solidFill>
              </a:rPr>
              <a:t>PRJ13797: JMUX Replacement  |  PSEG Long Island  |  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97280"/>
            <a:ext cx="5669280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  📌  WHAT IS PAR CIRCUIT MIGRATION?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26464"/>
            <a:ext cx="5669280" cy="2103120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6304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 b="0">
                <a:solidFill>
                  <a:srgbClr val="1F3964"/>
                </a:solidFill>
              </a:rPr>
              <a:t>▸  6 high-voltage substations require serial-to-IP conversion to connect legacy RTUs to the new Nokia MPLS network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1F3964"/>
                </a:solidFill>
              </a:rPr>
              <a:t>▸  Sites: Northport · Hicksville (5HK) · Melville · Lindenhurst (7Z) · Far Rockaway (2H) · Hewlett (2R)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C00000"/>
                </a:solidFill>
              </a:rPr>
              <a:t>▸  NERC CIP compliance MANDATES an intermediary system — direct Nokia-to-RTU connection is not supported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1F3964"/>
                </a:solidFill>
              </a:rPr>
              <a:t>▸  Solution selected: Iniven RC-30 — converts direct contact signals to C37.94 IP protocol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C00000"/>
                </a:solidFill>
              </a:rPr>
              <a:t>▸  No alternative solution exists — compliance is non-negotiable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3611880"/>
            <a:ext cx="5669280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361188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  ❓  WHY WASN'T THIS FULLY SCOPED IN 2024?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3941063"/>
            <a:ext cx="5669280" cy="2377440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3977639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 b="1">
                <a:solidFill>
                  <a:srgbClr val="1F3964"/>
                </a:solidFill>
              </a:rPr>
              <a:t>▸  During 2024 kickoff meetings with Martin (Marty), PAR was acknowledged at a HIGH LEVEL ONLY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1F3964"/>
                </a:solidFill>
              </a:rPr>
              <a:t>▸  General agreement reached: "C37.94 protocol should be okay" — no detailed design, cost, or schedule produced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1F3964"/>
                </a:solidFill>
              </a:rPr>
              <a:t>▸  Marty indicated design cost would fall on the technical security team — no dollar figure was agreed upon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1F3964"/>
                </a:solidFill>
              </a:rPr>
              <a:t>▸  PAR was a Phase 3 placeholder with a rough budget of ~$30K–$40K for general support only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1F3964"/>
                </a:solidFill>
              </a:rPr>
              <a:t>▸  Consistent with project methodology — detailed requirements confirmed during each phase's site surveys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404040"/>
                </a:solidFill>
              </a:rPr>
              <a:t>▸  Alex also discussed this briefly at the start — tentative rough plan only, no details captured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5833872" cy="32918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097280"/>
            <a:ext cx="5833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  🔍  HOW WAS THE FULL SCOPE DISCOVERED?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426464"/>
            <a:ext cx="5833872" cy="2103120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463040"/>
            <a:ext cx="56509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 b="0">
                <a:solidFill>
                  <a:srgbClr val="1F3964"/>
                </a:solidFill>
              </a:rPr>
              <a:t>▸  During Phase 2 detailed site surveys, the relay team was formally engaged for the first time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1F3964"/>
                </a:solidFill>
              </a:rPr>
              <a:t>▸  Site-by-site review of existing RTU technology (SEL-2595 systems) revealed full technical &amp; compliance scope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1F3964"/>
                </a:solidFill>
              </a:rPr>
              <a:t>▸  6 specific high-impact substations identified as requiring a dedicated intermediary solution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1F3964"/>
                </a:solidFill>
              </a:rPr>
              <a:t>▸  True level of effort and cost first identified at this point — NOT a project management oversight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611880"/>
            <a:ext cx="5833872" cy="32918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611880"/>
            <a:ext cx="5833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  ✅  WHAT WAS EVALUATED &amp; DECIDED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941063"/>
            <a:ext cx="5833872" cy="2377440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977639"/>
            <a:ext cx="565099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 b="0">
                <a:solidFill>
                  <a:srgbClr val="1F3964"/>
                </a:solidFill>
              </a:rPr>
              <a:t>▸  All available technology options reviewed at each of the 6 substations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1F3964"/>
                </a:solidFill>
              </a:rPr>
              <a:t>▸  NERC CIP compliance requirements assessed for each site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1F3964"/>
                </a:solidFill>
              </a:rPr>
              <a:t>▸  Only viable compliant solution confirmed: Iniven RC-30 intermediary device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1F3964"/>
                </a:solidFill>
              </a:rPr>
              <a:t>▸  Chakrapani's T&amp;D team engaged for engineering design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1F3964"/>
                </a:solidFill>
              </a:rPr>
              <a:t>▸  PO placed for RC-30 equipment — 8-week lead time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378644"/>
                </a:solidFill>
              </a:rPr>
              <a:t>▸  Proactively engaging ALL Phase 3 stakeholders now to prevent further scope gaps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 |  JMUX Replacement Program  |  PRJ13797  |  Confidential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PAR Circuit Migration — Schedule &amp; Financial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DD7EE"/>
                </a:solidFill>
              </a:rPr>
              <a:t>PRJ13797: JMUX Replacement  |  PSEG Long Island  |  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97280"/>
            <a:ext cx="11731752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0"/>
            <a:ext cx="11731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  💰  FINANCIAL IMPACT — ADDITIONAL UNBUDGETED FUNDING REQUIRED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44752"/>
            <a:ext cx="4297680" cy="29260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" y="1444752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Cost 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444752"/>
            <a:ext cx="4343400" cy="29260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6864" y="1444752"/>
            <a:ext cx="4251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Team Responsible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444752"/>
            <a:ext cx="1508760" cy="29260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15984" y="1444752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Est.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0" y="1444752"/>
            <a:ext cx="1463040" cy="29260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70464" y="144475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746504"/>
            <a:ext cx="4297680" cy="329184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" y="1764792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964"/>
                </a:solidFill>
              </a:rPr>
              <a:t>Iniven RC-30 Equipment (6 sites)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746504"/>
            <a:ext cx="4343400" cy="329184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764792"/>
            <a:ext cx="4251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3964"/>
                </a:solidFill>
              </a:rPr>
              <a:t>Iniven (Vendor)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746504"/>
            <a:ext cx="1508760" cy="329184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984" y="1764792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3964"/>
                </a:solidFill>
              </a:rPr>
              <a:t>~$60,000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0" y="1746504"/>
            <a:ext cx="1463040" cy="329184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70464" y="176479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3964"/>
                </a:solidFill>
              </a:rPr>
              <a:t>PO Placed 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075688"/>
            <a:ext cx="42976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" y="2093976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964"/>
                </a:solidFill>
              </a:rPr>
              <a:t>PAR Engineering Design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2075688"/>
            <a:ext cx="43434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4" y="2093976"/>
            <a:ext cx="4251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3964"/>
                </a:solidFill>
              </a:rPr>
              <a:t>Chakrapani / T&amp;D Team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2075688"/>
            <a:ext cx="15087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15984" y="2093976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3964"/>
                </a:solidFill>
              </a:rPr>
              <a:t>TBD *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15600" y="2075688"/>
            <a:ext cx="14630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70464" y="209397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3964"/>
                </a:solidFill>
              </a:rPr>
              <a:t>In Progress 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2404872"/>
            <a:ext cx="4297680" cy="329184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" y="2423160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964"/>
                </a:solidFill>
              </a:rPr>
              <a:t>Installation, Config &amp; Cutover Labor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2404872"/>
            <a:ext cx="4343400" cy="329184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26864" y="2423160"/>
            <a:ext cx="4251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3964"/>
                </a:solidFill>
              </a:rPr>
              <a:t>Relay Team — Johnny's Team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0" y="2404872"/>
            <a:ext cx="1508760" cy="329184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15984" y="2423160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3964"/>
                </a:solidFill>
              </a:rPr>
              <a:t>~$495,000 **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0" y="2404872"/>
            <a:ext cx="1463040" cy="329184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70464" y="2423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3964"/>
                </a:solidFill>
              </a:rPr>
              <a:t>Not Started 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2734056"/>
            <a:ext cx="4297680" cy="329184"/>
          </a:xfrm>
          <a:prstGeom prst="rect">
            <a:avLst/>
          </a:prstGeom>
          <a:solidFill>
            <a:srgbClr val="FFF2CC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3464" y="2752344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0000"/>
                </a:solidFill>
              </a:rPr>
              <a:t>TOTAL ADDITIONAL FUNDING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2734056"/>
            <a:ext cx="4343400" cy="329184"/>
          </a:xfrm>
          <a:prstGeom prst="rect">
            <a:avLst/>
          </a:prstGeom>
          <a:solidFill>
            <a:srgbClr val="FFF2CC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26864" y="2752344"/>
            <a:ext cx="4251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0000"/>
                </a:solidFill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0" y="2734056"/>
            <a:ext cx="1508760" cy="329184"/>
          </a:xfrm>
          <a:prstGeom prst="rect">
            <a:avLst/>
          </a:prstGeom>
          <a:solidFill>
            <a:srgbClr val="FFF2CC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15984" y="2752344"/>
            <a:ext cx="14173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0000"/>
                </a:solidFill>
              </a:rPr>
              <a:t>~$550,000+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515600" y="2734056"/>
            <a:ext cx="1463040" cy="329184"/>
          </a:xfrm>
          <a:prstGeom prst="rect">
            <a:avLst/>
          </a:prstGeom>
          <a:solidFill>
            <a:srgbClr val="FFF2CC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70464" y="27523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0000"/>
                </a:solidFill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8600" y="3090672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04040"/>
                </a:solidFill>
              </a:rPr>
              <a:t>* Engineering design cost TBD — to be confirmed once Chakrapani's team completes design scope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" y="3273552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04040"/>
                </a:solidFill>
              </a:rPr>
              <a:t>** Relay labor rate (~$1,100–$1,200/hr) and total hours per site being confirmed with Ethan &amp; Chad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8600" y="343814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</a:rPr>
              <a:t>⚠  Chad's current Apr–Jun forecast = $120K (equipment + design only). $495K relay labor NOT YET included — to be spread across months once design is complete.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3767328"/>
            <a:ext cx="5669280" cy="32918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8600" y="3767328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  📅  SCHEDULE IMPACT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" y="4096512"/>
            <a:ext cx="5669280" cy="2240280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0040" y="4133087"/>
            <a:ext cx="548640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 b="1">
                <a:solidFill>
                  <a:srgbClr val="1F3964"/>
                </a:solidFill>
              </a:rPr>
              <a:t>▸  Direct schedule impact: ~2–3 months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1F3964"/>
                </a:solidFill>
              </a:rPr>
              <a:t>▸  PAR work running IN PARALLEL with Phase 2 construction — not on critical path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1F3964"/>
                </a:solidFill>
              </a:rPr>
              <a:t>▸  Phase 3 site surveys &amp; detail design accelerated into Phase 2 staging window (~Aug 2026)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1F3964"/>
                </a:solidFill>
              </a:rPr>
              <a:t>▸  Ethan confirmed: Phase 3 engineering starts as soon as Phase 2 staging begins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1F3964"/>
                </a:solidFill>
              </a:rPr>
              <a:t>▸  B&amp;M Phase 3 design: estimated Jun–Dec 2026 (~$900K–$1.29M — to be confirmed)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378644"/>
                </a:solidFill>
              </a:rPr>
              <a:t>▸  Projected full recovery: End of 2026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767328"/>
            <a:ext cx="5833872" cy="329184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26480" y="3767328"/>
            <a:ext cx="5833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  🔄  RECOVERY PLAN &amp; ACTIONS TAKEN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4096512"/>
            <a:ext cx="5833872" cy="2240280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20" y="4133087"/>
            <a:ext cx="5650992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 b="0">
                <a:solidFill>
                  <a:srgbClr val="378644"/>
                </a:solidFill>
              </a:rPr>
              <a:t>✅  Iniven RC-30 PO placed — equipment on order, 8-week lead time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378644"/>
                </a:solidFill>
              </a:rPr>
              <a:t>✅  Chakrapani's team engaged for PAR engineering design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378644"/>
                </a:solidFill>
              </a:rPr>
              <a:t>✅  PAR migration parallelized — no impact to Phase 2 deployment critical path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378644"/>
                </a:solidFill>
              </a:rPr>
              <a:t>✅  Phase 3 engineering accelerated — site surveys start at Phase 2 staging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378644"/>
                </a:solidFill>
              </a:rPr>
              <a:t>✅  CIO (Greg) informed informally at All Hands — not a surprise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ED7D31"/>
                </a:solidFill>
              </a:rPr>
              <a:t>⏳  Formal budget Change Request to be submitted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ED7D31"/>
                </a:solidFill>
              </a:rPr>
              <a:t>⏳  Relay labor ($495K) to be spread across months once Chakrapani design complete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 |  JMUX Replacement Program  |  PRJ13797  |  Confidential  |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