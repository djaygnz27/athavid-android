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4"/>
  </p:sldMasterIdLst>
  <p:notesMasterIdLst>
    <p:notesMasterId r:id="rId19"/>
  </p:notesMasterIdLst>
  <p:sldIdLst>
    <p:sldId id="454" r:id="rId5"/>
    <p:sldId id="265" r:id="rId6"/>
    <p:sldId id="258" r:id="rId7"/>
    <p:sldId id="259" r:id="rId8"/>
    <p:sldId id="260" r:id="rId9"/>
    <p:sldId id="2147477446" r:id="rId26"/>
    <p:sldId id="2147477440" r:id="rId10"/>
    <p:sldId id="2147477445" r:id="rId11"/>
    <p:sldId id="2147477344" r:id="rId12"/>
    <p:sldId id="2147477433" r:id="rId13"/>
    <p:sldId id="2147477434" r:id="rId14"/>
    <p:sldId id="2147477435" r:id="rId15"/>
    <p:sldId id="2147477438" r:id="rId16"/>
    <p:sldId id="262"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F1BB82B-E214-404B-B4A1-D1B60B4AAF9F}">
          <p14:sldIdLst>
            <p14:sldId id="454"/>
          </p14:sldIdLst>
        </p14:section>
        <p14:section name="Divider Section" id="{E082A701-3AD9-4733-BB9A-2631BFCCDFFB}">
          <p14:sldIdLst/>
        </p14:section>
        <p14:section name="Content Section" id="{46443504-A548-4F26-B7C8-B462ABD4EFF0}">
          <p14:sldIdLst>
            <p14:sldId id="265"/>
            <p14:sldId id="258"/>
            <p14:sldId id="259"/>
            <p14:sldId id="260"/>
            <p14:sldId id="2147477440"/>
            <p14:sldId id="2147477445"/>
            <p14:sldId id="2147477344"/>
            <p14:sldId id="2147477433"/>
            <p14:sldId id="2147477434"/>
            <p14:sldId id="2147477435"/>
            <p14:sldId id="2147477438"/>
            <p14:sldId id="262"/>
            <p14:sldId id="264"/>
          </p14:sldIdLst>
        </p14:section>
        <p14:section name="Closing Section" id="{9F918853-CC87-4290-A67C-08F0CA27339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B8484E-85E5-B6BC-69A0-322218EBF286}" name="Treber, Kaitlin" initials="TK" userId="S::31439@icf.com::9dfe7150-1d09-491d-af00-d225e3736704" providerId="AD"/>
  <p188:author id="{62CAADDC-D9D2-520D-42C7-343811CAF82E}" name="Silverman, Matt" initials="SM" userId="S::40292@icf.com::0daebbd3-6099-4db6-b0ec-f7787efe94c9" providerId="AD"/>
  <p188:author id="{CD2442DD-B799-B0EB-47B7-2497D9B753F7}" name="Specht, George" initials="SG" userId="S::34756@icf.com::339283ee-a0bb-48e3-b124-8f63f8ac955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n, Carlotta" initials="CC" lastIdx="4" clrIdx="0">
    <p:extLst>
      <p:ext uri="{19B8F6BF-5375-455C-9EA6-DF929625EA0E}">
        <p15:presenceInfo xmlns:p15="http://schemas.microsoft.com/office/powerpoint/2012/main" userId="S-1-5-21-1876172974-742851678-1849977318-1503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E5EDF8"/>
    <a:srgbClr val="142C41"/>
    <a:srgbClr val="E1FF01"/>
    <a:srgbClr val="FCFC9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3690" autoAdjust="0"/>
  </p:normalViewPr>
  <p:slideViewPr>
    <p:cSldViewPr snapToGrid="0">
      <p:cViewPr>
        <p:scale>
          <a:sx n="60" d="100"/>
          <a:sy n="60" d="100"/>
        </p:scale>
        <p:origin x="280" y="6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notesMaster" Target="notesMasters/notesMaster1.xml"/><Relationship Id="rId20" Type="http://schemas.openxmlformats.org/officeDocument/2006/relationships/commentAuthors" Target="commentAuthor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 Id="rId2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693C9-38CA-445B-AEEA-616BD994FADC}"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523DC-AC0C-4CF5-B9CB-C3612BF693EF}" type="slidenum">
              <a:rPr lang="en-US" smtClean="0"/>
              <a:t>‹#›</a:t>
            </a:fld>
            <a:endParaRPr lang="en-US" dirty="0"/>
          </a:p>
        </p:txBody>
      </p:sp>
    </p:spTree>
    <p:extLst>
      <p:ext uri="{BB962C8B-B14F-4D97-AF65-F5344CB8AC3E}">
        <p14:creationId xmlns:p14="http://schemas.microsoft.com/office/powerpoint/2010/main" val="48964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OPENING — (~3 minutes)</a:t>
            </a:r>
          </a:p>
          <a:p/>
          <a:p>
            <a:r>
              <a:rPr sz="1200"/>
              <a:t>"Good [morning/afternoon] everyone. I'm Jay Gunaratne, Program Manager for the JMUX Replacement project — PRJ13797. Thank you for making time today.</a:t>
            </a:r>
          </a:p>
          <a:p/>
          <a:p>
            <a:r>
              <a:rPr sz="1200"/>
              <a:t>This update covers where we stand as of March 2026 across all three phases of the program. I'll walk you through our accomplishments, current status, the critical path, financials, risks, and our path to completion.</a:t>
            </a:r>
          </a:p>
          <a:p/>
          <a:p>
            <a:r>
              <a:rPr sz="1200"/>
              <a:t>I want to be direct and transparent with you — we have one active blocker right now that I'll address head-on in the schedule section, and I'll show you exactly what the recovery plan looks like.</a:t>
            </a:r>
          </a:p>
          <a:p/>
          <a:p>
            <a:r>
              <a:rPr sz="1200"/>
              <a:t>Let's get into it."</a:t>
            </a:r>
          </a:p>
          <a:p/>
          <a:p>
            <a:r>
              <a:rPr sz="1200"/>
              <a:t>[Pause. Make eye contact. Set the tone — confident, prepared, no surprises.]</a:t>
            </a:r>
          </a:p>
        </p:txBody>
      </p:sp>
      <p:sp>
        <p:nvSpPr>
          <p:cNvPr id="4" name="Slide Number Placeholder 3"/>
          <p:cNvSpPr>
            <a:spLocks noGrp="1"/>
          </p:cNvSpPr>
          <p:nvPr>
            <p:ph type="sldNum" sz="quarter" idx="10"/>
          </p:nvPr>
        </p:nvSpPr>
        <p:spPr/>
        <p:txBody>
          <a:bodyPr/>
          <a:lstStyle/>
          <a:p>
            <a:fld id="{DF0523DC-AC0C-4CF5-B9CB-C3612BF693EF}" type="slidenum">
              <a:rPr lang="en-US" smtClean="0"/>
              <a:t>1</a:t>
            </a:fld>
            <a:endParaRPr lang="en-US" dirty="0"/>
          </a:p>
        </p:txBody>
      </p:sp>
    </p:spTree>
    <p:extLst>
      <p:ext uri="{BB962C8B-B14F-4D97-AF65-F5344CB8AC3E}">
        <p14:creationId xmlns:p14="http://schemas.microsoft.com/office/powerpoint/2010/main" val="358010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PHASE 1 HIGHLIGHT ACCOMPLISHMENTS — (~3 minutes)</a:t>
            </a:r>
          </a:p>
          <a:p/>
          <a:p>
            <a:r>
              <a:rPr sz="1200"/>
              <a:t>"This slide is the detailed Phase 1 accomplishment log — it captures everything completed across engineering, procurement, construction, and deployment.</a:t>
            </a:r>
          </a:p>
          <a:p/>
          <a:p>
            <a:r>
              <a:rPr sz="1200"/>
              <a:t>I want to highlight a few things for this audience.</a:t>
            </a:r>
          </a:p>
          <a:p/>
          <a:p>
            <a:r>
              <a:rPr sz="1200"/>
              <a:t>On procurement and staging — Hawkeye completed staging September 29, 2025, and Nokia Phase 2 equipment arrived February 19, 2026. Both ahead of when we needed them.</a:t>
            </a:r>
          </a:p>
          <a:p/>
          <a:p>
            <a:r>
              <a:rPr sz="1200"/>
              <a:t>On construction — all 31 sites are installed. ACC cabling and fiber panel complete. CWDM cutover at Hicksville and ACC complete. Routers installed, NSP racked and powered at Melville and Hicksville. CMDB updated. OTDR testing done.</a:t>
            </a:r>
          </a:p>
          <a:p/>
          <a:p>
            <a:r>
              <a:rPr sz="1200"/>
              <a:t>On deployment — Wave 1 non-tie site cutovers ran December 8 through 18, 2025. Wave 2 tie-in site cutovers completed January 6 through 8, 2026. Both waves done.</a:t>
            </a:r>
          </a:p>
          <a:p/>
          <a:p>
            <a:r>
              <a:rPr sz="1200"/>
              <a:t>Again, I want to echo Vik's point — Phase 1 is not fully closed. The construction and cutovers we've completed represent roughly 65% of the full Phase 1 scope. The remaining 35% is the remote configuration and application/RTU cutover work. That's our June 2026 target."</a:t>
            </a:r>
          </a:p>
          <a:p/>
          <a:p>
            <a:r>
              <a:rPr sz="1200"/>
              <a:t>[Quick and factual. This is the evidence slide — let the checkmarks speak.]</a:t>
            </a:r>
          </a:p>
        </p:txBody>
      </p:sp>
      <p:sp>
        <p:nvSpPr>
          <p:cNvPr id="4" name="Slide Number Placeholder 3"/>
          <p:cNvSpPr>
            <a:spLocks noGrp="1"/>
          </p:cNvSpPr>
          <p:nvPr>
            <p:ph type="sldNum" sz="quarter" idx="5"/>
          </p:nvPr>
        </p:nvSpPr>
        <p:spPr/>
        <p:txBody>
          <a:bodyPr/>
          <a:lstStyle/>
          <a:p>
            <a:fld id="{DF0523DC-AC0C-4CF5-B9CB-C3612BF693EF}" type="slidenum">
              <a:rPr lang="en-US" smtClean="0"/>
              <a:t>6</a:t>
            </a:fld>
            <a:endParaRPr lang="en-US" dirty="0"/>
          </a:p>
        </p:txBody>
      </p:sp>
    </p:spTree>
    <p:extLst>
      <p:ext uri="{BB962C8B-B14F-4D97-AF65-F5344CB8AC3E}">
        <p14:creationId xmlns:p14="http://schemas.microsoft.com/office/powerpoint/2010/main" val="3927969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PHASE 1 — LAYER 1-3 CONFIGURATION NEXT STEPS — (~3 minutes)</a:t>
            </a:r>
          </a:p>
          <a:p/>
          <a:p>
            <a:r>
              <a:rPr sz="1200"/>
              <a:t>"This slide outlines the Layer 1 through Layer 3 configuration work that remains for Phase 1.</a:t>
            </a:r>
          </a:p>
          <a:p/>
          <a:p>
            <a:r>
              <a:rPr sz="1200"/>
              <a:t>Layer 1 — physical — is largely complete. Wire drops and fiber terminations are the last physical items in progress.</a:t>
            </a:r>
          </a:p>
          <a:p/>
          <a:p>
            <a:r>
              <a:rPr sz="1200"/>
              <a:t>Layer 2 and Layer 3 — this is where the ILO, BGP, and remote access work lives. Once ILO is unblocked and BGP is configured at Hicksville and Melville, Lee Blackman configures all 31 routers remotely. NSP and Layer 3 services follow from Nokia.</a:t>
            </a:r>
          </a:p>
          <a:p/>
          <a:p>
            <a:r>
              <a:rPr sz="1200"/>
              <a:t>This is the sequence we're executing against right now. The configuration work is well-defined, ownership is clear, and the team knows what to do. The only dependency is the ILO cable resolution, which is actively being worked."</a:t>
            </a:r>
          </a:p>
          <a:p/>
          <a:p>
            <a:r>
              <a:rPr sz="1200"/>
              <a:t>[Short and technical. Fine to spend 3 minutes here. The team on the call will appreciate the layer reference.]</a:t>
            </a:r>
          </a:p>
        </p:txBody>
      </p:sp>
      <p:sp>
        <p:nvSpPr>
          <p:cNvPr id="4" name="Slide Number Placeholder 3"/>
          <p:cNvSpPr>
            <a:spLocks noGrp="1"/>
          </p:cNvSpPr>
          <p:nvPr>
            <p:ph type="sldNum" sz="quarter" idx="5"/>
          </p:nvPr>
        </p:nvSpPr>
        <p:spPr/>
        <p:txBody>
          <a:bodyPr/>
          <a:lstStyle/>
          <a:p>
            <a:fld id="{DF0523DC-AC0C-4CF5-B9CB-C3612BF693EF}" type="slidenum">
              <a:rPr lang="en-US" smtClean="0"/>
              <a:t>7</a:t>
            </a:fld>
            <a:endParaRPr lang="en-US" dirty="0"/>
          </a:p>
        </p:txBody>
      </p:sp>
    </p:spTree>
    <p:extLst>
      <p:ext uri="{BB962C8B-B14F-4D97-AF65-F5344CB8AC3E}">
        <p14:creationId xmlns:p14="http://schemas.microsoft.com/office/powerpoint/2010/main" val="14496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PHASE 1 SUBSTATION SCHEDULE (continued) — (~2 minutes)</a:t>
            </a:r>
          </a:p>
          <a:p/>
          <a:p>
            <a:r>
              <a:rPr sz="1200"/>
              <a:t>"Continuation of the Phase 1 substation schedule.</a:t>
            </a:r>
          </a:p>
          <a:p/>
          <a:p>
            <a:r>
              <a:rPr sz="1200"/>
              <a:t>This view shows the second half of the 31-site roster. All sites accounted for, all construction complete.</a:t>
            </a:r>
          </a:p>
          <a:p/>
          <a:p>
            <a:r>
              <a:rPr sz="1200"/>
              <a:t>I'll note again — while construction is done at all 31, the remote configuration and cutover work for these sites is what remains. That's the April through June workstream."</a:t>
            </a:r>
          </a:p>
          <a:p/>
          <a:p>
            <a:r>
              <a:rPr sz="1200"/>
              <a:t>[Very brief. Keep momentum — don't linger here.]</a:t>
            </a:r>
          </a:p>
        </p:txBody>
      </p:sp>
      <p:sp>
        <p:nvSpPr>
          <p:cNvPr id="4" name="Slide Number Placeholder 3"/>
          <p:cNvSpPr>
            <a:spLocks noGrp="1"/>
          </p:cNvSpPr>
          <p:nvPr>
            <p:ph type="sldNum" sz="quarter" idx="5"/>
          </p:nvPr>
        </p:nvSpPr>
        <p:spPr/>
        <p:txBody>
          <a:bodyPr/>
          <a:lstStyle/>
          <a:p>
            <a:fld id="{DF0523DC-AC0C-4CF5-B9CB-C3612BF693EF}" type="slidenum">
              <a:rPr lang="en-US" smtClean="0"/>
              <a:t>10</a:t>
            </a:fld>
            <a:endParaRPr lang="en-US" dirty="0"/>
          </a:p>
        </p:txBody>
      </p:sp>
    </p:spTree>
    <p:extLst>
      <p:ext uri="{BB962C8B-B14F-4D97-AF65-F5344CB8AC3E}">
        <p14:creationId xmlns:p14="http://schemas.microsoft.com/office/powerpoint/2010/main" val="3138547304"/>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GOALS &amp; OBJECTIVES — (~4 minutes)</a:t>
            </a:r>
          </a:p>
          <a:p/>
          <a:p>
            <a:r>
              <a:rPr sz="1200"/>
              <a:t>"This slide frames what we're doing and why.</a:t>
            </a:r>
          </a:p>
          <a:p/>
          <a:p>
            <a:r>
              <a:rPr sz="1200"/>
              <a:t>The JMUX Replacement program is a full modernization of PSEG Long Island's substation communications network. GE announced end-of-life for the legacy Jungle MUX system at end of 2025 — so this is not optional. We are replacing 25-year-old infrastructure with a modern MPLS network across 129 substations total.</a:t>
            </a:r>
          </a:p>
          <a:p/>
          <a:p>
            <a:r>
              <a:rPr sz="1200"/>
              <a:t>The program is broken into three phases — 31 sites in Phase 1, 45 in Phase 2, and 35 in Phase 3. Total of 79 Nokia MPLS nodes across the entire program.</a:t>
            </a:r>
          </a:p>
          <a:p/>
          <a:p>
            <a:r>
              <a:rPr sz="1200"/>
              <a:t>On the engineering side — all Phase 1 surveys are complete, all rack elevations, power designs, and documentation are done and approved. Phase 2 surveys were completed ahead of schedule during Phase 1 — that was a big win.</a:t>
            </a:r>
          </a:p>
          <a:p/>
          <a:p>
            <a:r>
              <a:rPr sz="1200"/>
              <a:t>On procurement — all Phase 1 equipment was purchased, staged, and delivered. Nokia Phase 2 equipment arrived February 19th and is safely stored at the Hawkeye warehouse.</a:t>
            </a:r>
          </a:p>
          <a:p/>
          <a:p>
            <a:r>
              <a:rPr sz="1200"/>
              <a:t>On construction — all 31 Phase 1 sites have been installed and commissioned. SSP documentation is submitted and approved. We are now in the remote connectivity and cutover phase.</a:t>
            </a:r>
          </a:p>
          <a:p/>
          <a:p>
            <a:r>
              <a:rPr sz="1200"/>
              <a:t>The one item still in progress is remote connectivity to the nodes — that's our current critical path item, and I'll cover it on the schedule slide."</a:t>
            </a:r>
          </a:p>
          <a:p/>
          <a:p>
            <a:r>
              <a:rPr sz="1200"/>
              <a:t>[Advance to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PHASE 1 ACCOMPLISHMENTS — (~4 minutes)</a:t>
            </a:r>
          </a:p>
          <a:p/>
          <a:p>
            <a:r>
              <a:rPr sz="1200"/>
              <a:t>"Phase 1 covers all 31 substations — and I'm pleased to report that from a construction standpoint, we are done. All 31 sites installed and commissioned.</a:t>
            </a:r>
          </a:p>
          <a:p/>
          <a:p>
            <a:r>
              <a:rPr sz="1200"/>
              <a:t>Let me highlight the key milestones we've hit:</a:t>
            </a:r>
          </a:p>
          <a:p/>
          <a:p>
            <a:r>
              <a:rPr sz="1200"/>
              <a:t>Staging was completed at the Hawkeye warehouse on September 29th, 2025 — on schedule.</a:t>
            </a:r>
          </a:p>
          <a:p/>
          <a:p>
            <a:r>
              <a:rPr sz="1200"/>
              <a:t>Nokia Phase 2 equipment was delivered February 19th, 2026 — ahead of when we needed it, giving us good runway for Phase 2.</a:t>
            </a:r>
          </a:p>
          <a:p/>
          <a:p>
            <a:r>
              <a:rPr sz="1200"/>
              <a:t>CWDM cutover at Hicksville and ACC is complete. Routers installed in primary and secondary cabinets — done. NSP racked, powered, and running at both Melville and Hicksville — done. CMDB updated — done. OTDR testing from Hicksville to Syosset — complete.</a:t>
            </a:r>
          </a:p>
          <a:p/>
          <a:p>
            <a:r>
              <a:rPr sz="1200"/>
              <a:t>Now — I want to address something Vik raised on March 16th, and he's right. Phase 1 has multiple micro-phases, and while construction is 100% complete, the deployment and cutover micro-phases are still in progress. We've separated those out on this slide so you can see exactly where we are. Engineering and procurement are done. Construction is done. Deployment is roughly 5% started. App cutover and RTU cutover have not begun yet. That's the honest picture.</a:t>
            </a:r>
          </a:p>
          <a:p/>
          <a:p>
            <a:r>
              <a:rPr sz="1200"/>
              <a:t>The revised Phase 1 close target is June 2026."</a:t>
            </a:r>
          </a:p>
          <a:p/>
          <a:p>
            <a:r>
              <a:rPr sz="1200"/>
              <a:t>[Be direct. Don't over-explain. The CIO appreciates honesty.]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PHASE 2 STATUS — (~4 minutes)</a:t>
            </a:r>
          </a:p>
          <a:p/>
          <a:p>
            <a:r>
              <a:rPr sz="1200"/>
              <a:t>"Phase 2 covers 45 sites — Burns &amp; McDonnell's SOW is $1.37 million for engineering design.</a:t>
            </a:r>
          </a:p>
          <a:p/>
          <a:p>
            <a:r>
              <a:rPr sz="1200"/>
              <a:t>Where are we? Site surveys — complete. Nokia equipment delivered — complete. That's the good news.</a:t>
            </a:r>
          </a:p>
          <a:p/>
          <a:p>
            <a:r>
              <a:rPr sz="1200"/>
              <a:t>IFR design is in progress. Wave 1 — three sites, Far Rockaway, Valley Stream, and Cedarhurst — those IFRs have already been converted to IFC and uploaded to the shared drive. Wave 2 is currently in progress with BMcD.</a:t>
            </a:r>
          </a:p>
          <a:p/>
          <a:p>
            <a:r>
              <a:rPr sz="1200"/>
              <a:t>IFC design is also in progress. Wave 1 IFC is complete and approved. Wave 2 will follow the standard 4-week IFR plus 2-week review cycle.</a:t>
            </a:r>
          </a:p>
          <a:p/>
          <a:p>
            <a:r>
              <a:rPr sz="1200"/>
              <a:t>Construction and cutover for Phase 2 are not started — they're targeted for August through December 2026, pending IFC completion. That timeline is on track.</a:t>
            </a:r>
          </a:p>
          <a:p/>
          <a:p>
            <a:r>
              <a:rPr sz="1200"/>
              <a:t>The key message for Phase 2 is: we are executing in parallel. While we're closing out Phase 1 remote connectivity, the Phase 2 design machine is already moving. We are not waiting."</a:t>
            </a:r>
          </a:p>
          <a:p/>
          <a:p>
            <a:r>
              <a:rPr sz="1200"/>
              <a:t>[Keep this crisp — Phase 2 is a forward-looking story, not a problem 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SCHEDULE STATUS — (~5 minutes)</a:t>
            </a:r>
          </a:p>
          <a:p/>
          <a:p>
            <a:r>
              <a:rPr sz="1200"/>
              <a:t>"I want to be transparent about where we are on schedule. Our SPI — Schedule Performance Index — is 0.76. That puts us in the yellow band. Last month we were at 0.75, so we've stabilized, but we are not yet back to green.</a:t>
            </a:r>
          </a:p>
          <a:p/>
          <a:p>
            <a:r>
              <a:rPr sz="1200"/>
              <a:t>Let me explain the root causes honestly.</a:t>
            </a:r>
          </a:p>
          <a:p/>
          <a:p>
            <a:r>
              <a:rPr sz="1200"/>
              <a:t>SSP documentation went through a lengthy security review queue — that created a ripple effect. We also had CMDB coordination time, some inclement weather impacting field work, and the Crown Castle fiber issue at Hicksville which has since been resolved.</a:t>
            </a:r>
          </a:p>
          <a:p/>
          <a:p>
            <a:r>
              <a:rPr sz="1200"/>
              <a:t>The number one blocker right now — and I want to name it clearly — is ILO configuration. Bill from Burns &amp; McDonnell is working directly with Rahiq to resolve a console cable and firmware issue. That has been identified, cables are being sourced, and we expect that to be unblocked in the next 24 to 48 hours.</a:t>
            </a:r>
          </a:p>
          <a:p/>
          <a:p>
            <a:r>
              <a:rPr sz="1200"/>
              <a:t>Once ILO is resolved, the recovery sequence is clear: ILO complete → BGP configuration at Hicksville and Melville with Lee Blackman → Remote access to all 31 routers → Application cutovers → RTU cutovers → Phase 1 close June 2026.</a:t>
            </a:r>
          </a:p>
          <a:p/>
          <a:p>
            <a:r>
              <a:rPr sz="1200"/>
              <a:t>The timeline on this slide shows our program history and where we stand today. We started April 2024, completed Phase 1 construction, and we are now in the March 2026 deployment phase. Program completion target remains July 2027.</a:t>
            </a:r>
          </a:p>
          <a:p/>
          <a:p>
            <a:r>
              <a:rPr sz="1200"/>
              <a:t>Recovery plan is in place. I'm confident we can close Phase 1 by June."</a:t>
            </a:r>
          </a:p>
          <a:p/>
          <a:p>
            <a:r>
              <a:rPr sz="1200"/>
              <a:t>[This is your most important slide. Speak slowly, own the yellow status, pivot to the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CRITICAL PATH — NEXT 10 STEPS — (~5 minutes)</a:t>
            </a:r>
          </a:p>
          <a:p/>
          <a:p>
            <a:r>
              <a:rPr sz="1200"/>
              <a:t>"This is the most operationally important slide in this deck. I built this specifically to show you — step by step — exactly what the next 90 days look like and who owns each action.</a:t>
            </a:r>
          </a:p>
          <a:p/>
          <a:p>
            <a:r>
              <a:rPr sz="1200"/>
              <a:t>Step 1 — ILO console cable and firmware. Bill from B&amp;M called Rahiq, they've identified the issue, cables are being sourced. This is the gate that unlocks everything downstream.</a:t>
            </a:r>
          </a:p>
          <a:p/>
          <a:p>
            <a:r>
              <a:rPr sz="1200"/>
              <a:t>Step 2 — Once cables are in hand, Rahiq and Brianna configure the ILO management ports at Hicksville and Melville. Change ticket will be opened. Target March 21 through 24.</a:t>
            </a:r>
          </a:p>
          <a:p/>
          <a:p>
            <a:r>
              <a:rPr sz="1200"/>
              <a:t>Step 3 — Running in parallel, Jay and Hawkeye are completing wire drops from the LGX panels to the equipment. SFPs and a change order are needed for final termination. This runs alongside Step 2, not after it.</a:t>
            </a:r>
          </a:p>
          <a:p/>
          <a:p>
            <a:r>
              <a:rPr sz="1200"/>
              <a:t>Step 4 — Nokia training happened March 19th with Glenn from Nokia, Rahiq, and the PSEG LI team. That's done. ✅</a:t>
            </a:r>
          </a:p>
          <a:p/>
          <a:p>
            <a:r>
              <a:rPr sz="1200"/>
              <a:t>Step 5 — Week of March 23rd, I'm going out to Hawkeye with Vinny to physically reconcile the Phase 2 Nokia equipment against the BOM. We need to identify any supply chain gaps before we place orders.</a:t>
            </a:r>
          </a:p>
          <a:p/>
          <a:p>
            <a:r>
              <a:rPr sz="1200"/>
              <a:t>Step 6 — BGP configuration at Hicksville and Melville with Lee Blackman. Target March 24 through 28. This is the technical core — once ILO is done, Lee configures BGP and we have remote access to both hub sites.</a:t>
            </a:r>
          </a:p>
          <a:p/>
          <a:p>
            <a:r>
              <a:rPr sz="1200"/>
              <a:t>Step 7 — March 30th, BMcD submits IFR packages for Green Acres and Berry Street. Ethan Koch is on track.</a:t>
            </a:r>
          </a:p>
          <a:p/>
          <a:p>
            <a:r>
              <a:rPr sz="1200"/>
              <a:t>Step 8 — April 1 through 18, Lee configures remote access on all 31 routers. This is a big workstream — 31 devices, fully remote once BGP is validated at the hub sites.</a:t>
            </a:r>
          </a:p>
          <a:p/>
          <a:p>
            <a:r>
              <a:rPr sz="1200"/>
              <a:t>Step 9 — Mid to late April, Nokia activates NSP and Layer 3 services. Starting at Hicksville and Melville, then rolling site by site.</a:t>
            </a:r>
          </a:p>
          <a:p/>
          <a:p>
            <a:r>
              <a:rPr sz="1200"/>
              <a:t>Step 10 — May 2026, first wave of application and RTU cutovers begin. Phase 1 close target June 2026.</a:t>
            </a:r>
          </a:p>
          <a:p/>
          <a:p>
            <a:r>
              <a:rPr sz="1200"/>
              <a:t>This is a tight but achievable plan. The critical path is clear, ownership is assigned, and I'm tracking this weekly."</a:t>
            </a:r>
          </a:p>
          <a:p/>
          <a:p>
            <a:r>
              <a:rPr sz="1200"/>
              <a:t>[This is your showstopper slide. Walk through each step. The CIO and SVP will appreciate the granularity.]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PROJECT STATUS REPORT — (~4 minutes)</a:t>
            </a:r>
          </a:p>
          <a:p/>
          <a:p>
            <a:r>
              <a:rPr sz="1200"/>
              <a:t>"This is the formal project status report in the PSEG LI PMO format.</a:t>
            </a:r>
          </a:p>
          <a:p/>
          <a:p>
            <a:r>
              <a:rPr sz="1200"/>
              <a:t>A few key financials I want to call out. Total LIPA-approved budget is $6.6 million. Spend to date is $4.44 million. Estimate to complete is $2.16 million. Estimate at completion is $6.6 million — we are tracking at budget, no variance to report today.</a:t>
            </a:r>
          </a:p>
          <a:p/>
          <a:p>
            <a:r>
              <a:rPr sz="1200"/>
              <a:t>Project scope is 65% complete as of this reporting period.</a:t>
            </a:r>
          </a:p>
          <a:p/>
          <a:p>
            <a:r>
              <a:rPr sz="1200"/>
              <a:t>Timeline: planned baseline end was April 2027. Our current actual target is July 2027 — a three-month extension that reflects the micro-phase complexity Vik highlighted.</a:t>
            </a:r>
          </a:p>
          <a:p/>
          <a:p>
            <a:r>
              <a:rPr sz="1200"/>
              <a:t>On the major milestones for this period: BGP design was approved March 16th — Lee Blackman is proceeding with change documentation for Melville and Hicksville. ILO configuration is the active critical path blocker — Bill and Rahiq are on it. BGP config and remote access follow once ILO is resolved.</a:t>
            </a:r>
          </a:p>
          <a:p/>
          <a:p>
            <a:r>
              <a:rPr sz="1200"/>
              <a:t>Northport DC power issue — resolved March 18th. The relay team ran a new feed to the fuse, eliminating the tripping problem. That's off the risk register.</a:t>
            </a:r>
          </a:p>
          <a:p/>
          <a:p>
            <a:r>
              <a:rPr sz="1200"/>
              <a:t>Remediation plan for the yellow schedule status: complete remote configuration of all routers and testing to bring the schedule back to green."</a:t>
            </a:r>
          </a:p>
          <a:p/>
          <a:p>
            <a:r>
              <a:rPr sz="1200"/>
              <a:t>[Steady, factual delivery. The CIO will be looking at the financials — no surprises here is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PHASE 1 SUBSTATION SCHEDULE — (~3 minutes)</a:t>
            </a:r>
          </a:p>
          <a:p/>
          <a:p>
            <a:r>
              <a:rPr sz="1200"/>
              <a:t>"This slide shows the Phase 1 substation schedule for all 31 sites.</a:t>
            </a:r>
          </a:p>
          <a:p/>
          <a:p>
            <a:r>
              <a:rPr sz="1200"/>
              <a:t>All 31 sites are complete from a construction standpoint — you can see them all marked off here. This represents roughly 18 months of coordinated field work across PSEG LI substations on Long Island.</a:t>
            </a:r>
          </a:p>
          <a:p/>
          <a:p>
            <a:r>
              <a:rPr sz="1200"/>
              <a:t>Phase 2 site surveys — also shown here — are complete. We completed them proactively during Phase 1 to keep Phase 2 from being delayed. That decision is paying off now.</a:t>
            </a:r>
          </a:p>
          <a:p/>
          <a:p>
            <a:r>
              <a:rPr sz="1200"/>
              <a:t>The schedule tracker shows our progress wave by wave. No sites remain incomplete on the construction side."</a:t>
            </a:r>
          </a:p>
          <a:p/>
          <a:p>
            <a:r>
              <a:rPr sz="1200"/>
              <a:t>[This is a visual slide — let it do the work. Keep the commentary brief.]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PHASE 1 SUBSTATION SCHEDULE (continued) — (~2 minutes)</a:t>
            </a:r>
          </a:p>
          <a:p/>
          <a:p>
            <a:r>
              <a:rPr sz="1200"/>
              <a:t>"Final page of the Phase 1 substation schedule.</a:t>
            </a:r>
          </a:p>
          <a:p/>
          <a:p>
            <a:r>
              <a:rPr sz="1200"/>
              <a:t>Consistent picture throughout — construction complete across all sites. The work that remains is configuration and cutover, which is being managed centrally through Lee Blackman's remote access workstream.</a:t>
            </a:r>
          </a:p>
          <a:p/>
          <a:p>
            <a:r>
              <a:rPr sz="1200"/>
              <a:t>No field mobilization required for the remaining Phase 1 work — it's all remote configuration from this point forward."</a:t>
            </a:r>
          </a:p>
          <a:p/>
          <a:p>
            <a:r>
              <a:rPr sz="1200"/>
              <a:t>[Brief. Transition quickly to risks.]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CURRENT RISKS &amp; NEXT STEPS — (~4 minutes)</a:t>
            </a:r>
          </a:p>
          <a:p/>
          <a:p>
            <a:r>
              <a:rPr sz="1200"/>
              <a:t>"This slide summarizes our current risk picture and near-term next steps.</a:t>
            </a:r>
          </a:p>
          <a:p/>
          <a:p>
            <a:r>
              <a:rPr sz="1200"/>
              <a:t>On risks — the biggest ongoing concern is legacy equipment fragility. These JMUX units are 25 plus years old. We've already encountered faulty connectors that aren't readily available from vendors, brittle fiber patch panels and face plates. Our mitigation is careful cutover planning with dedicated B&amp;McD on-site support. Phase 1 construction is done, which reduces this risk significantly going into Phase 2.</a:t>
            </a:r>
          </a:p>
          <a:p/>
          <a:p>
            <a:r>
              <a:rPr sz="1200"/>
              <a:t>Weather delays and substation access conflicts remain a medium risk — we track those weekly and adjust mobilization plans as needed.</a:t>
            </a:r>
          </a:p>
          <a:p/>
          <a:p>
            <a:r>
              <a:rPr sz="1200"/>
              <a:t>On next steps — I want to highlight the wins first. Cat 6 complete March 4th. OTDR complete March 9th. BGP approved March 16th. Northport DC power resolved March 18th. Four significant items closed in the past two weeks.</a:t>
            </a:r>
          </a:p>
          <a:p/>
          <a:p>
            <a:r>
              <a:rPr sz="1200"/>
              <a:t>The three red items remaining are all connected: ILO configuration is the gate. Once that's done, BGP configuration at Hicksville and Melville follows with Lee. Once BGP is validated, Lee configures remote access on all 31 routers. That's the chain — ILO, BGP, remote access, cutover.</a:t>
            </a:r>
          </a:p>
          <a:p/>
          <a:p>
            <a:r>
              <a:rPr sz="1200"/>
              <a:t>Bill from B&amp;M is personally engaged on the ILO resolution. I'm tracking this daily."</a:t>
            </a:r>
          </a:p>
          <a:p/>
          <a:p>
            <a:r>
              <a:rPr sz="1200"/>
              <a:t>[Acknowledge the reds clearly. Show you're on top of it. Don't be defensive.]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RISKS &amp; ISSUES — (~4 minutes)</a:t>
            </a:r>
          </a:p>
          <a:p/>
          <a:p>
            <a:r>
              <a:rPr sz="1200"/>
              <a:t>"This is the formal risk and issues register.</a:t>
            </a:r>
          </a:p>
          <a:p/>
          <a:p>
            <a:r>
              <a:rPr sz="1200"/>
              <a:t>Active risks — I have three.</a:t>
            </a:r>
          </a:p>
          <a:p/>
          <a:p>
            <a:r>
              <a:rPr sz="1200"/>
              <a:t>HIGH risk: Legacy equipment fragility. 25-year-old JMUX equipment with faulty connectors and brittle fiber panels. Potential for unplanned outage during any cutover activity. Our mitigation is careful planning and dedicated B&amp;McD on-site support. Phase 1 construction being complete reduces this risk level going into Phase 2.</a:t>
            </a:r>
          </a:p>
          <a:p/>
          <a:p>
            <a:r>
              <a:rPr sz="1200"/>
              <a:t>MEDIUM risk: Substation access delays. Weather, scheduling conflicts, escort availability. We verify access weekly before mobilizing and adjust plans accordingly.</a:t>
            </a:r>
          </a:p>
          <a:p/>
          <a:p>
            <a:r>
              <a:rPr sz="1200"/>
              <a:t>MEDIUM risk: Phase 2 schedule slippage. The IFR to IFC design cycle is a 4-week IFR plus 2-week review plus 2-week IFC. That leaves limited buffer if any site design comes back with issues. Our mitigation is concurrent site design by B&amp;McD and weekly tracking.</a:t>
            </a:r>
          </a:p>
          <a:p/>
          <a:p>
            <a:r>
              <a:rPr sz="1200"/>
              <a:t>On the issues side — Crown Castle fiber issue at Hicksville. That is resolved. OTDR confirmed a bad filter on March 9th — no Crown Castle escalation needed. Closed.</a:t>
            </a:r>
          </a:p>
          <a:p/>
          <a:p>
            <a:r>
              <a:rPr sz="1200"/>
              <a:t>Cat 6 cabling at Hicksville NSP — complete, confirmed by Vinny at Hawkeye March 13th. Closed.</a:t>
            </a:r>
          </a:p>
          <a:p/>
          <a:p>
            <a:r>
              <a:rPr sz="1200"/>
              <a:t>OTDR testing at Hicksville — complete March 9th. Closed.</a:t>
            </a:r>
          </a:p>
          <a:p/>
          <a:p>
            <a:r>
              <a:rPr sz="1200"/>
              <a:t>Remote access for Phase 2 nodes — in progress. BGP approved March 16th. ILO is the current blocker — Bill and Rahiq are resolving. Once ILO is done, this moves rapidly.</a:t>
            </a:r>
          </a:p>
          <a:p/>
          <a:p>
            <a:r>
              <a:rPr sz="1200"/>
              <a:t>Phase 2 SSP and security reviews — all approved February 10th, 2026. Closed."</a:t>
            </a:r>
          </a:p>
          <a:p/>
          <a:p>
            <a:r>
              <a:rPr sz="1200"/>
              <a:t>[Methodical. The CIO wants to see that the risk register is current and being actively managed.]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NEXT STEPS &amp; PATH TO COMPLETION — (~5 minutes) — CLOSING</a:t>
            </a:r>
          </a:p>
          <a:p/>
          <a:p>
            <a:r>
              <a:rPr sz="1200"/>
              <a:t>"This final slide is the one I want to leave you with.</a:t>
            </a:r>
          </a:p>
          <a:p/>
          <a:p>
            <a:r>
              <a:rPr sz="1200"/>
              <a:t>In the immediate 30-day window: BGP design approved March 16th — Lee Blackman is moving on change documentation now. ILO blocker is being resolved by Bill and Rahiq — that unblocks everything downstream. Wave 1 IFCs for Far Rockaway, Valley Stream, and Cedarhurst are complete and approved. Wave 2 IFR packages are in progress. Weekly status calls with B&amp;McD continue.</a:t>
            </a:r>
          </a:p>
          <a:p/>
          <a:p>
            <a:r>
              <a:rPr sz="1200"/>
              <a:t>Looking at the full path to completion — Phase 1 operational June 2026. Phase 2 IFC completion by end of Q2 2026. Phase 2 construction mobilization Q2 to Q3. Phase 2 installations Q3 to Q4 2026. Phase 2 cutovers Wave 3 and Wave 4 Q4 2026. As-built documentation Q1 2027. Program complete — July 2027.</a:t>
            </a:r>
          </a:p>
          <a:p/>
          <a:p>
            <a:r>
              <a:rPr sz="1200"/>
              <a:t>I want to close with this: This is a complex, multi-phase program running across 129 substations on critical utility infrastructure. The team has executed Phase 1 construction flawlessly — 31 sites, on time, on budget. We have one active blocker right now that is being resolved. The recovery plan is detailed, ownership is clear, and I'm confident in the June 2026 Phase 1 close.</a:t>
            </a:r>
          </a:p>
          <a:p/>
          <a:p>
            <a:r>
              <a:rPr sz="1200"/>
              <a:t>I'm happy to take any questions."</a:t>
            </a:r>
          </a:p>
          <a:p/>
          <a:p>
            <a:r>
              <a:rPr sz="1200"/>
              <a:t>[Strong close. Confident tone. Leave them with the plan, not the problem.]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55744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64001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368018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415832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387927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42387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32259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60322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841254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77318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707474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Full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0" y="0"/>
            <a:ext cx="12192000" cy="6858000"/>
          </a:xfrm>
        </p:spPr>
        <p:txBody>
          <a:bodyP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763079"/>
            <a:ext cx="5969000" cy="1699591"/>
          </a:xfrm>
        </p:spPr>
        <p:txBody>
          <a:bodyPr anchor="t" anchorCtr="0">
            <a:normAutofit/>
          </a:bodyPr>
          <a:lstStyle>
            <a:lvl1pPr algn="l">
              <a:defRPr sz="4600">
                <a:solidFill>
                  <a:schemeClr val="accent1"/>
                </a:solidFill>
              </a:defRPr>
            </a:lvl1pPr>
          </a:lstStyle>
          <a:p>
            <a:r>
              <a:rPr lang="en-US"/>
              <a:t>Click to edit Master title style</a:t>
            </a:r>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5" name="Subtitle 2">
            <a:extLst>
              <a:ext uri="{FF2B5EF4-FFF2-40B4-BE49-F238E27FC236}">
                <a16:creationId xmlns:a16="http://schemas.microsoft.com/office/drawing/2014/main" id="{B85B803C-754B-909B-4478-4FBB175B3749}"/>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3" name="Picture 2">
            <a:extLst>
              <a:ext uri="{FF2B5EF4-FFF2-40B4-BE49-F238E27FC236}">
                <a16:creationId xmlns:a16="http://schemas.microsoft.com/office/drawing/2014/main" id="{8D96E424-0B0B-4906-94B5-B37E7E0C7E08}"/>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60526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 Steel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6" name="Rectangle 5">
            <a:extLst>
              <a:ext uri="{FF2B5EF4-FFF2-40B4-BE49-F238E27FC236}">
                <a16:creationId xmlns:a16="http://schemas.microsoft.com/office/drawing/2014/main" id="{6AB575AC-86C2-D337-14DF-FCF46DCC0708}"/>
              </a:ext>
            </a:extLst>
          </p:cNvPr>
          <p:cNvSpPr/>
          <p:nvPr userDrawn="1"/>
        </p:nvSpPr>
        <p:spPr>
          <a:xfrm>
            <a:off x="10591800" y="0"/>
            <a:ext cx="1600200" cy="68525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4" name="Slide Number Placeholder 5">
            <a:extLst>
              <a:ext uri="{FF2B5EF4-FFF2-40B4-BE49-F238E27FC236}">
                <a16:creationId xmlns:a16="http://schemas.microsoft.com/office/drawing/2014/main" id="{B3799BAE-1EDC-B379-8D6B-9DE8FD3A626A}"/>
              </a:ext>
            </a:extLst>
          </p:cNvPr>
          <p:cNvSpPr txBox="1">
            <a:spLocks/>
          </p:cNvSpPr>
          <p:nvPr userDrawn="1"/>
        </p:nvSpPr>
        <p:spPr>
          <a:xfrm>
            <a:off x="11892520" y="65247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469974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de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8214360" y="0"/>
            <a:ext cx="3977640" cy="6858000"/>
          </a:xfrm>
        </p:spPr>
        <p:txBody>
          <a:bodyPr/>
          <a:lstStyle/>
          <a:p>
            <a:endParaRPr lang="en-US" dirty="0"/>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4" name="Title 1">
            <a:extLst>
              <a:ext uri="{FF2B5EF4-FFF2-40B4-BE49-F238E27FC236}">
                <a16:creationId xmlns:a16="http://schemas.microsoft.com/office/drawing/2014/main" id="{0C698C27-9AFB-5139-37A3-B84E67D9F0B8}"/>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Subtitle 2">
            <a:extLst>
              <a:ext uri="{FF2B5EF4-FFF2-40B4-BE49-F238E27FC236}">
                <a16:creationId xmlns:a16="http://schemas.microsoft.com/office/drawing/2014/main" id="{89BDCC2C-E78C-0328-75E0-515B063111F3}"/>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6" name="Picture 5">
            <a:extLst>
              <a:ext uri="{FF2B5EF4-FFF2-40B4-BE49-F238E27FC236}">
                <a16:creationId xmlns:a16="http://schemas.microsoft.com/office/drawing/2014/main" id="{02650B90-B0BB-AE3C-F0AC-59812CE4D569}"/>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1983402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A51277D9-2ACD-423C-7F93-BB9DAF2C87B0}"/>
              </a:ext>
            </a:extLst>
          </p:cNvPr>
          <p:cNvSpPr>
            <a:spLocks noGrp="1"/>
          </p:cNvSpPr>
          <p:nvPr>
            <p:ph idx="12" hasCustomPrompt="1"/>
          </p:nvPr>
        </p:nvSpPr>
        <p:spPr>
          <a:xfrm>
            <a:off x="8891081" y="6445023"/>
            <a:ext cx="3095640" cy="278735"/>
          </a:xfrm>
        </p:spPr>
        <p:txBody>
          <a:bodyPr numCol="1" spcCol="0">
            <a:noAutofit/>
          </a:bodyPr>
          <a:lstStyle>
            <a:lvl1pPr algn="r">
              <a:spcBef>
                <a:spcPts val="300"/>
              </a:spcBef>
              <a:spcAft>
                <a:spcPts val="300"/>
              </a:spcAft>
              <a:defRPr sz="1000" i="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sp>
        <p:nvSpPr>
          <p:cNvPr id="4" name="Subtitle 2">
            <a:extLst>
              <a:ext uri="{FF2B5EF4-FFF2-40B4-BE49-F238E27FC236}">
                <a16:creationId xmlns:a16="http://schemas.microsoft.com/office/drawing/2014/main" id="{D32A9164-F04F-DDA7-649A-DE500A79FE37}"/>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7" name="Picture 6">
            <a:extLst>
              <a:ext uri="{FF2B5EF4-FFF2-40B4-BE49-F238E27FC236}">
                <a16:creationId xmlns:a16="http://schemas.microsoft.com/office/drawing/2014/main" id="{36CF2B6B-3475-1BC0-2928-40C8F4B6747D}"/>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3922401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teel">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136F65-5519-5748-58DD-F416FBE55DEB}"/>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4"/>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35871"/>
            <a:ext cx="6528786" cy="1548213"/>
          </a:xfrm>
        </p:spPr>
        <p:txBody>
          <a:bodyPr anchor="t" anchorCtr="0">
            <a:normAutofit/>
          </a:bodyPr>
          <a:lstStyle>
            <a:lvl1pPr algn="l">
              <a:defRPr sz="4600">
                <a:solidFill>
                  <a:schemeClr val="accent4"/>
                </a:solidFill>
              </a:defRPr>
            </a:lvl1pPr>
          </a:lstStyle>
          <a:p>
            <a:r>
              <a:rPr lang="en-US"/>
              <a:t>Click to edit Master title style</a:t>
            </a:r>
          </a:p>
        </p:txBody>
      </p:sp>
      <p:sp>
        <p:nvSpPr>
          <p:cNvPr id="6" name="Content Placeholder 2">
            <a:extLst>
              <a:ext uri="{FF2B5EF4-FFF2-40B4-BE49-F238E27FC236}">
                <a16:creationId xmlns:a16="http://schemas.microsoft.com/office/drawing/2014/main" id="{76D4CFEA-AD6E-3BEA-BD0D-AEDC252517C2}"/>
              </a:ext>
            </a:extLst>
          </p:cNvPr>
          <p:cNvSpPr>
            <a:spLocks noGrp="1"/>
          </p:cNvSpPr>
          <p:nvPr>
            <p:ph idx="12" hasCustomPrompt="1"/>
          </p:nvPr>
        </p:nvSpPr>
        <p:spPr>
          <a:xfrm>
            <a:off x="9523379" y="6445023"/>
            <a:ext cx="2463342" cy="278735"/>
          </a:xfrm>
        </p:spPr>
        <p:txBody>
          <a:bodyPr numCol="1" spcCol="0">
            <a:noAutofit/>
          </a:bodyPr>
          <a:lstStyle>
            <a:lvl1pPr algn="r">
              <a:spcBef>
                <a:spcPts val="300"/>
              </a:spcBef>
              <a:spcAft>
                <a:spcPts val="300"/>
              </a:spcAft>
              <a:defRPr sz="10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pic>
        <p:nvPicPr>
          <p:cNvPr id="4" name="Picture 3">
            <a:extLst>
              <a:ext uri="{FF2B5EF4-FFF2-40B4-BE49-F238E27FC236}">
                <a16:creationId xmlns:a16="http://schemas.microsoft.com/office/drawing/2014/main" id="{7CACBAA6-21A2-5DBB-5959-DE259AA1F55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17558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imag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898C888C-0B26-783E-C8DD-285EE5C7D0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1554967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image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0E369C34-77C0-8157-D7A7-2F31EFEE0A4E}"/>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613360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Full - Platinu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accent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tx1">
                    <a:lumMod val="50000"/>
                    <a:lumOff val="50000"/>
                  </a:schemeClr>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67C0CE33-76BB-3B40-58CF-691261A5ED5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7B531C2-AD84-2C53-671D-F31A87405A4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307696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Full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bg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accent3"/>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007DC57-4711-AB03-C8AF-2A14889A204C}"/>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496E1396-41C7-B1BB-5F02-6C1169B8AB33}"/>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3834668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Power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9863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 Power - 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rgbClr val="E5EDF8"/>
                </a:solidFill>
                <a:latin typeface="Outfit Light" pitchFamily="2" charset="0"/>
              </a:defRPr>
            </a:lvl1pPr>
          </a:lstStyle>
          <a:p>
            <a:r>
              <a:rPr lang="en-US" dirty="0"/>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3510949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ternal Slide w/text - Whit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66809D8-08F3-3C3E-A532-A1FC049D1B8D}"/>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7F73E556-955A-7C12-35AB-F8C217C888E9}"/>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987165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nternal Slide w/text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71334F36-E631-69B0-5A4E-6FE9878F2537}"/>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EA91E68D-B7A1-85CF-3F3E-DBBEA2EF6283}"/>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4251009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nal Slide w/text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bg1"/>
                </a:solidFill>
              </a:defRPr>
            </a:lvl1pPr>
          </a:lstStyle>
          <a:p>
            <a:r>
              <a:rPr lang="en-US"/>
              <a:t>Click to edit Master title style</a:t>
            </a:r>
          </a:p>
        </p:txBody>
      </p:sp>
      <p:sp>
        <p:nvSpPr>
          <p:cNvPr id="6" name="Freeform: Shape 54">
            <a:extLst>
              <a:ext uri="{FF2B5EF4-FFF2-40B4-BE49-F238E27FC236}">
                <a16:creationId xmlns:a16="http://schemas.microsoft.com/office/drawing/2014/main" id="{691EE3B5-4FBC-06F7-34D9-6D9EF2ABF31C}"/>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C1CBBB2E-C622-2202-821E-E3FA8E3F4FA5}"/>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8E2E9A8-DE4D-0203-CFA0-6C98829EE226}"/>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9FEC4438-1B2B-FCD7-77A7-439739D1300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6127786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hite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4">
            <a:extLst>
              <a:ext uri="{FF2B5EF4-FFF2-40B4-BE49-F238E27FC236}">
                <a16:creationId xmlns:a16="http://schemas.microsoft.com/office/drawing/2014/main" id="{DF29F394-EC6E-8834-E179-A8033F8FD8B2}"/>
              </a:ext>
            </a:extLst>
          </p:cNvPr>
          <p:cNvSpPr>
            <a:spLocks noGrp="1"/>
          </p:cNvSpPr>
          <p:nvPr>
            <p:ph type="pic" sz="quarter" idx="10"/>
          </p:nvPr>
        </p:nvSpPr>
        <p:spPr>
          <a:xfrm>
            <a:off x="10414000" y="0"/>
            <a:ext cx="1778000" cy="6858000"/>
          </a:xfrm>
        </p:spPr>
        <p:txBody>
          <a:bodyPr/>
          <a:lstStyle/>
          <a:p>
            <a:endParaRPr lang="en-US" dirty="0"/>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4192020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088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54759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 White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15817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Title and Content - Platinum Arrow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56810E-B3D1-AB29-F34A-C85AC8B6A909}"/>
              </a:ext>
            </a:extLst>
          </p:cNvPr>
          <p:cNvSpPr/>
          <p:nvPr userDrawn="1"/>
        </p:nvSpPr>
        <p:spPr>
          <a:xfrm>
            <a:off x="10591800" y="0"/>
            <a:ext cx="1600200" cy="68525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F699251-C167-B7FD-7B25-7FA7C75CBBF8}"/>
              </a:ext>
            </a:extLst>
          </p:cNvPr>
          <p:cNvGrpSpPr/>
          <p:nvPr userDrawn="1"/>
        </p:nvGrpSpPr>
        <p:grpSpPr>
          <a:xfrm>
            <a:off x="10701084" y="97530"/>
            <a:ext cx="1493520" cy="6760470"/>
            <a:chOff x="10701084" y="97530"/>
            <a:chExt cx="1493520" cy="6760470"/>
          </a:xfrm>
        </p:grpSpPr>
        <p:grpSp>
          <p:nvGrpSpPr>
            <p:cNvPr id="17" name="Group 16">
              <a:extLst>
                <a:ext uri="{FF2B5EF4-FFF2-40B4-BE49-F238E27FC236}">
                  <a16:creationId xmlns:a16="http://schemas.microsoft.com/office/drawing/2014/main" id="{579C48C7-0728-517B-6E7E-8B75A97052D8}"/>
                </a:ext>
              </a:extLst>
            </p:cNvPr>
            <p:cNvGrpSpPr/>
            <p:nvPr/>
          </p:nvGrpSpPr>
          <p:grpSpPr>
            <a:xfrm>
              <a:off x="10787679" y="97530"/>
              <a:ext cx="1264298" cy="1005053"/>
              <a:chOff x="8867133" y="-492224"/>
              <a:chExt cx="1264298" cy="1005053"/>
            </a:xfrm>
          </p:grpSpPr>
          <p:sp>
            <p:nvSpPr>
              <p:cNvPr id="343" name="Freeform: Shape 131">
                <a:extLst>
                  <a:ext uri="{FF2B5EF4-FFF2-40B4-BE49-F238E27FC236}">
                    <a16:creationId xmlns:a16="http://schemas.microsoft.com/office/drawing/2014/main" id="{57F42C08-33C6-5276-A883-403357D36EFD}"/>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4" name="Freeform: Shape 132">
                <a:extLst>
                  <a:ext uri="{FF2B5EF4-FFF2-40B4-BE49-F238E27FC236}">
                    <a16:creationId xmlns:a16="http://schemas.microsoft.com/office/drawing/2014/main" id="{D32CE52C-E208-B572-A603-D29B74212155}"/>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5" name="Freeform: Shape 133">
                <a:extLst>
                  <a:ext uri="{FF2B5EF4-FFF2-40B4-BE49-F238E27FC236}">
                    <a16:creationId xmlns:a16="http://schemas.microsoft.com/office/drawing/2014/main" id="{4F705B74-26BF-749C-FD3A-3ED23BA1A47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6" name="Freeform: Shape 134">
                <a:extLst>
                  <a:ext uri="{FF2B5EF4-FFF2-40B4-BE49-F238E27FC236}">
                    <a16:creationId xmlns:a16="http://schemas.microsoft.com/office/drawing/2014/main" id="{D9E35474-D126-93B2-8829-EE06E3D12A35}"/>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7" name="Freeform: Shape 135">
                <a:extLst>
                  <a:ext uri="{FF2B5EF4-FFF2-40B4-BE49-F238E27FC236}">
                    <a16:creationId xmlns:a16="http://schemas.microsoft.com/office/drawing/2014/main" id="{C98DE941-6BC6-23E9-5A03-B9CEAA1A9C63}"/>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8" name="Freeform: Shape 136">
                <a:extLst>
                  <a:ext uri="{FF2B5EF4-FFF2-40B4-BE49-F238E27FC236}">
                    <a16:creationId xmlns:a16="http://schemas.microsoft.com/office/drawing/2014/main" id="{BA2B2082-EBCD-D79F-2DBD-BD4BDA8BCF2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9" name="Freeform: Shape 137">
                <a:extLst>
                  <a:ext uri="{FF2B5EF4-FFF2-40B4-BE49-F238E27FC236}">
                    <a16:creationId xmlns:a16="http://schemas.microsoft.com/office/drawing/2014/main" id="{33EB1112-1B85-AF93-3BB8-EE0F5EE0C63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0" name="Freeform: Shape 138">
                <a:extLst>
                  <a:ext uri="{FF2B5EF4-FFF2-40B4-BE49-F238E27FC236}">
                    <a16:creationId xmlns:a16="http://schemas.microsoft.com/office/drawing/2014/main" id="{7E8B3184-1911-4203-4458-7D2632B590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1" name="Freeform: Shape 139">
                <a:extLst>
                  <a:ext uri="{FF2B5EF4-FFF2-40B4-BE49-F238E27FC236}">
                    <a16:creationId xmlns:a16="http://schemas.microsoft.com/office/drawing/2014/main" id="{57D5A795-E5C8-5F0B-C0B1-A6C4E6EAE366}"/>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2" name="Freeform: Shape 140">
                <a:extLst>
                  <a:ext uri="{FF2B5EF4-FFF2-40B4-BE49-F238E27FC236}">
                    <a16:creationId xmlns:a16="http://schemas.microsoft.com/office/drawing/2014/main" id="{E4A28CA3-B5EF-B0F3-7F07-C21248ECBE0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3" name="Freeform: Shape 141">
                <a:extLst>
                  <a:ext uri="{FF2B5EF4-FFF2-40B4-BE49-F238E27FC236}">
                    <a16:creationId xmlns:a16="http://schemas.microsoft.com/office/drawing/2014/main" id="{72F71302-C0D6-03F9-4300-52F017619BA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4" name="Freeform: Shape 142">
                <a:extLst>
                  <a:ext uri="{FF2B5EF4-FFF2-40B4-BE49-F238E27FC236}">
                    <a16:creationId xmlns:a16="http://schemas.microsoft.com/office/drawing/2014/main" id="{572A89E4-C617-B639-70C3-CFD4338C3069}"/>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5" name="Freeform: Shape 143">
                <a:extLst>
                  <a:ext uri="{FF2B5EF4-FFF2-40B4-BE49-F238E27FC236}">
                    <a16:creationId xmlns:a16="http://schemas.microsoft.com/office/drawing/2014/main" id="{AC9DD01C-9A87-CBCD-5855-424E7B7DE5FB}"/>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6" name="Freeform: Shape 144">
                <a:extLst>
                  <a:ext uri="{FF2B5EF4-FFF2-40B4-BE49-F238E27FC236}">
                    <a16:creationId xmlns:a16="http://schemas.microsoft.com/office/drawing/2014/main" id="{9E6D4C02-AE97-2E8C-6E8D-FA8DB963B66C}"/>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7" name="Freeform: Shape 145">
                <a:extLst>
                  <a:ext uri="{FF2B5EF4-FFF2-40B4-BE49-F238E27FC236}">
                    <a16:creationId xmlns:a16="http://schemas.microsoft.com/office/drawing/2014/main" id="{D2914DA8-A11D-AF59-68EA-C924B52D4B4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8" name="Freeform: Shape 146">
                <a:extLst>
                  <a:ext uri="{FF2B5EF4-FFF2-40B4-BE49-F238E27FC236}">
                    <a16:creationId xmlns:a16="http://schemas.microsoft.com/office/drawing/2014/main" id="{28C338A1-6190-AEB6-C71B-5B447FC422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9" name="Freeform: Shape 147">
                <a:extLst>
                  <a:ext uri="{FF2B5EF4-FFF2-40B4-BE49-F238E27FC236}">
                    <a16:creationId xmlns:a16="http://schemas.microsoft.com/office/drawing/2014/main" id="{6462718F-F039-0FF2-F76D-6D45609290A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0" name="Freeform: Shape 148">
                <a:extLst>
                  <a:ext uri="{FF2B5EF4-FFF2-40B4-BE49-F238E27FC236}">
                    <a16:creationId xmlns:a16="http://schemas.microsoft.com/office/drawing/2014/main" id="{97E5D18F-689E-2155-6D5C-88F25E1BCE58}"/>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1" name="Freeform: Shape 149">
                <a:extLst>
                  <a:ext uri="{FF2B5EF4-FFF2-40B4-BE49-F238E27FC236}">
                    <a16:creationId xmlns:a16="http://schemas.microsoft.com/office/drawing/2014/main" id="{A2558AC2-B66C-3BCA-4907-89AF62ED4E63}"/>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2" name="Freeform: Shape 150">
                <a:extLst>
                  <a:ext uri="{FF2B5EF4-FFF2-40B4-BE49-F238E27FC236}">
                    <a16:creationId xmlns:a16="http://schemas.microsoft.com/office/drawing/2014/main" id="{8BF15784-BA2B-0B80-5374-3EC98EF509F6}"/>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3" name="Freeform: Shape 151">
                <a:extLst>
                  <a:ext uri="{FF2B5EF4-FFF2-40B4-BE49-F238E27FC236}">
                    <a16:creationId xmlns:a16="http://schemas.microsoft.com/office/drawing/2014/main" id="{1B0EC508-4FD1-7E84-936B-98CE4D400357}"/>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4" name="Freeform: Shape 152">
                <a:extLst>
                  <a:ext uri="{FF2B5EF4-FFF2-40B4-BE49-F238E27FC236}">
                    <a16:creationId xmlns:a16="http://schemas.microsoft.com/office/drawing/2014/main" id="{B9EC03D4-8E18-4343-286B-08DE534442A9}"/>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5" name="Freeform: Shape 153">
                <a:extLst>
                  <a:ext uri="{FF2B5EF4-FFF2-40B4-BE49-F238E27FC236}">
                    <a16:creationId xmlns:a16="http://schemas.microsoft.com/office/drawing/2014/main" id="{5BEE624B-6E40-207E-70C7-F2AB3E09CEB5}"/>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6" name="Freeform: Shape 154">
                <a:extLst>
                  <a:ext uri="{FF2B5EF4-FFF2-40B4-BE49-F238E27FC236}">
                    <a16:creationId xmlns:a16="http://schemas.microsoft.com/office/drawing/2014/main" id="{EC1D97FC-20CE-D48A-E823-FE8D64014A5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7" name="Freeform: Shape 155">
                <a:extLst>
                  <a:ext uri="{FF2B5EF4-FFF2-40B4-BE49-F238E27FC236}">
                    <a16:creationId xmlns:a16="http://schemas.microsoft.com/office/drawing/2014/main" id="{2D73E1AD-19FB-7EB5-AD9E-DC1D28F519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68" name="Freeform: Shape 156">
                <a:extLst>
                  <a:ext uri="{FF2B5EF4-FFF2-40B4-BE49-F238E27FC236}">
                    <a16:creationId xmlns:a16="http://schemas.microsoft.com/office/drawing/2014/main" id="{1E310345-1008-9780-AB1F-664E669907D6}"/>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69" name="Freeform: Shape 157">
                <a:extLst>
                  <a:ext uri="{FF2B5EF4-FFF2-40B4-BE49-F238E27FC236}">
                    <a16:creationId xmlns:a16="http://schemas.microsoft.com/office/drawing/2014/main" id="{205467B6-94C0-6AEC-C445-2BB292DA3D7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70" name="Freeform: Shape 158">
                <a:extLst>
                  <a:ext uri="{FF2B5EF4-FFF2-40B4-BE49-F238E27FC236}">
                    <a16:creationId xmlns:a16="http://schemas.microsoft.com/office/drawing/2014/main" id="{E862B08B-C197-1C6D-7A6F-C0E30B5CA3C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1" name="Freeform: Shape 159">
                <a:extLst>
                  <a:ext uri="{FF2B5EF4-FFF2-40B4-BE49-F238E27FC236}">
                    <a16:creationId xmlns:a16="http://schemas.microsoft.com/office/drawing/2014/main" id="{9EAEB050-A861-7A11-01A5-875BE087365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2" name="Freeform: Shape 160">
                <a:extLst>
                  <a:ext uri="{FF2B5EF4-FFF2-40B4-BE49-F238E27FC236}">
                    <a16:creationId xmlns:a16="http://schemas.microsoft.com/office/drawing/2014/main" id="{920620D3-0163-7DE0-2775-B8B54805DAE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3" name="Group 192">
              <a:extLst>
                <a:ext uri="{FF2B5EF4-FFF2-40B4-BE49-F238E27FC236}">
                  <a16:creationId xmlns:a16="http://schemas.microsoft.com/office/drawing/2014/main" id="{103E6AAA-270B-0716-A572-481483B525DB}"/>
                </a:ext>
              </a:extLst>
            </p:cNvPr>
            <p:cNvGrpSpPr/>
            <p:nvPr/>
          </p:nvGrpSpPr>
          <p:grpSpPr>
            <a:xfrm>
              <a:off x="10787679" y="1260775"/>
              <a:ext cx="1264298" cy="1005053"/>
              <a:chOff x="8867133" y="-492224"/>
              <a:chExt cx="1264298" cy="1005053"/>
            </a:xfrm>
          </p:grpSpPr>
          <p:sp>
            <p:nvSpPr>
              <p:cNvPr id="313" name="Freeform: Shape 131">
                <a:extLst>
                  <a:ext uri="{FF2B5EF4-FFF2-40B4-BE49-F238E27FC236}">
                    <a16:creationId xmlns:a16="http://schemas.microsoft.com/office/drawing/2014/main" id="{3587C69E-229C-9E89-2C8F-BA1B4215FEA0}"/>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4" name="Freeform: Shape 132">
                <a:extLst>
                  <a:ext uri="{FF2B5EF4-FFF2-40B4-BE49-F238E27FC236}">
                    <a16:creationId xmlns:a16="http://schemas.microsoft.com/office/drawing/2014/main" id="{B096A9C5-5214-DDB3-A6A7-17BB545E275E}"/>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5" name="Freeform: Shape 133">
                <a:extLst>
                  <a:ext uri="{FF2B5EF4-FFF2-40B4-BE49-F238E27FC236}">
                    <a16:creationId xmlns:a16="http://schemas.microsoft.com/office/drawing/2014/main" id="{F3665446-98FC-BDAE-BD97-549A3DD883C7}"/>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6" name="Freeform: Shape 134">
                <a:extLst>
                  <a:ext uri="{FF2B5EF4-FFF2-40B4-BE49-F238E27FC236}">
                    <a16:creationId xmlns:a16="http://schemas.microsoft.com/office/drawing/2014/main" id="{4DCCA078-55E3-F6DA-3B85-9F7BE687B13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7" name="Freeform: Shape 135">
                <a:extLst>
                  <a:ext uri="{FF2B5EF4-FFF2-40B4-BE49-F238E27FC236}">
                    <a16:creationId xmlns:a16="http://schemas.microsoft.com/office/drawing/2014/main" id="{0A8DBE2F-D7B3-6A66-53F0-B27F0A6FCDF8}"/>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8" name="Freeform: Shape 136">
                <a:extLst>
                  <a:ext uri="{FF2B5EF4-FFF2-40B4-BE49-F238E27FC236}">
                    <a16:creationId xmlns:a16="http://schemas.microsoft.com/office/drawing/2014/main" id="{1C861F19-49AB-D6DF-C401-1F7F75613B0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9" name="Freeform: Shape 137">
                <a:extLst>
                  <a:ext uri="{FF2B5EF4-FFF2-40B4-BE49-F238E27FC236}">
                    <a16:creationId xmlns:a16="http://schemas.microsoft.com/office/drawing/2014/main" id="{CDA5B5BE-FD5E-6B58-9697-A844977A960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0" name="Freeform: Shape 138">
                <a:extLst>
                  <a:ext uri="{FF2B5EF4-FFF2-40B4-BE49-F238E27FC236}">
                    <a16:creationId xmlns:a16="http://schemas.microsoft.com/office/drawing/2014/main" id="{24C90700-1965-111C-1833-9BB686589E4C}"/>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1" name="Freeform: Shape 139">
                <a:extLst>
                  <a:ext uri="{FF2B5EF4-FFF2-40B4-BE49-F238E27FC236}">
                    <a16:creationId xmlns:a16="http://schemas.microsoft.com/office/drawing/2014/main" id="{E7D702E6-5FF1-1B41-EE84-DFA6DBFFBFC2}"/>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2" name="Freeform: Shape 140">
                <a:extLst>
                  <a:ext uri="{FF2B5EF4-FFF2-40B4-BE49-F238E27FC236}">
                    <a16:creationId xmlns:a16="http://schemas.microsoft.com/office/drawing/2014/main" id="{04A5BC54-6526-5F06-08C5-C4BEED8A529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3" name="Freeform: Shape 141">
                <a:extLst>
                  <a:ext uri="{FF2B5EF4-FFF2-40B4-BE49-F238E27FC236}">
                    <a16:creationId xmlns:a16="http://schemas.microsoft.com/office/drawing/2014/main" id="{42E9CB64-84A3-B916-B9ED-082835D0C2EB}"/>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4" name="Freeform: Shape 142">
                <a:extLst>
                  <a:ext uri="{FF2B5EF4-FFF2-40B4-BE49-F238E27FC236}">
                    <a16:creationId xmlns:a16="http://schemas.microsoft.com/office/drawing/2014/main" id="{109B1561-EF54-A6EC-3557-F34C7284C334}"/>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5" name="Freeform: Shape 143">
                <a:extLst>
                  <a:ext uri="{FF2B5EF4-FFF2-40B4-BE49-F238E27FC236}">
                    <a16:creationId xmlns:a16="http://schemas.microsoft.com/office/drawing/2014/main" id="{98356881-7665-7D78-DB10-CAE09196718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6" name="Freeform: Shape 144">
                <a:extLst>
                  <a:ext uri="{FF2B5EF4-FFF2-40B4-BE49-F238E27FC236}">
                    <a16:creationId xmlns:a16="http://schemas.microsoft.com/office/drawing/2014/main" id="{8EA6D433-9E78-A4AA-D603-A7C95C7963C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7" name="Freeform: Shape 145">
                <a:extLst>
                  <a:ext uri="{FF2B5EF4-FFF2-40B4-BE49-F238E27FC236}">
                    <a16:creationId xmlns:a16="http://schemas.microsoft.com/office/drawing/2014/main" id="{02B4CEB7-7851-C14B-4910-91F97431E4BB}"/>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8" name="Freeform: Shape 146">
                <a:extLst>
                  <a:ext uri="{FF2B5EF4-FFF2-40B4-BE49-F238E27FC236}">
                    <a16:creationId xmlns:a16="http://schemas.microsoft.com/office/drawing/2014/main" id="{8FD0B43B-49E8-0760-3BBC-73716FFB117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9" name="Freeform: Shape 147">
                <a:extLst>
                  <a:ext uri="{FF2B5EF4-FFF2-40B4-BE49-F238E27FC236}">
                    <a16:creationId xmlns:a16="http://schemas.microsoft.com/office/drawing/2014/main" id="{BEC4E3B0-A7F6-B81A-0C83-96122DC589DF}"/>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0" name="Freeform: Shape 148">
                <a:extLst>
                  <a:ext uri="{FF2B5EF4-FFF2-40B4-BE49-F238E27FC236}">
                    <a16:creationId xmlns:a16="http://schemas.microsoft.com/office/drawing/2014/main" id="{3D44FD96-A033-19CA-FC57-30302C8F6D93}"/>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1" name="Freeform: Shape 149">
                <a:extLst>
                  <a:ext uri="{FF2B5EF4-FFF2-40B4-BE49-F238E27FC236}">
                    <a16:creationId xmlns:a16="http://schemas.microsoft.com/office/drawing/2014/main" id="{1ECBB1E3-D490-04A8-E1B4-FEA01BAFAF1F}"/>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2" name="Freeform: Shape 150">
                <a:extLst>
                  <a:ext uri="{FF2B5EF4-FFF2-40B4-BE49-F238E27FC236}">
                    <a16:creationId xmlns:a16="http://schemas.microsoft.com/office/drawing/2014/main" id="{83AD7853-7768-6951-46C9-FF1A3C6897A8}"/>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3" name="Freeform: Shape 151">
                <a:extLst>
                  <a:ext uri="{FF2B5EF4-FFF2-40B4-BE49-F238E27FC236}">
                    <a16:creationId xmlns:a16="http://schemas.microsoft.com/office/drawing/2014/main" id="{64C07D1A-3616-583B-B9DD-D25A22983F7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4" name="Freeform: Shape 152">
                <a:extLst>
                  <a:ext uri="{FF2B5EF4-FFF2-40B4-BE49-F238E27FC236}">
                    <a16:creationId xmlns:a16="http://schemas.microsoft.com/office/drawing/2014/main" id="{670FEFBB-3740-CD89-C1FD-16F32710B30F}"/>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5" name="Freeform: Shape 153">
                <a:extLst>
                  <a:ext uri="{FF2B5EF4-FFF2-40B4-BE49-F238E27FC236}">
                    <a16:creationId xmlns:a16="http://schemas.microsoft.com/office/drawing/2014/main" id="{323CBE4B-2C2A-002D-56D3-F1A7589FBBF0}"/>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6" name="Freeform: Shape 154">
                <a:extLst>
                  <a:ext uri="{FF2B5EF4-FFF2-40B4-BE49-F238E27FC236}">
                    <a16:creationId xmlns:a16="http://schemas.microsoft.com/office/drawing/2014/main" id="{2EE0A93E-ECB1-76CA-3320-541A1CA68768}"/>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7" name="Freeform: Shape 155">
                <a:extLst>
                  <a:ext uri="{FF2B5EF4-FFF2-40B4-BE49-F238E27FC236}">
                    <a16:creationId xmlns:a16="http://schemas.microsoft.com/office/drawing/2014/main" id="{675EAD30-4B0A-A40E-93BB-981C683F816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38" name="Freeform: Shape 156">
                <a:extLst>
                  <a:ext uri="{FF2B5EF4-FFF2-40B4-BE49-F238E27FC236}">
                    <a16:creationId xmlns:a16="http://schemas.microsoft.com/office/drawing/2014/main" id="{8E755DEF-B640-9247-DD66-6DD48ABAD9A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39" name="Freeform: Shape 157">
                <a:extLst>
                  <a:ext uri="{FF2B5EF4-FFF2-40B4-BE49-F238E27FC236}">
                    <a16:creationId xmlns:a16="http://schemas.microsoft.com/office/drawing/2014/main" id="{4E46C120-B362-9F89-A276-E83256D3F9E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40" name="Freeform: Shape 158">
                <a:extLst>
                  <a:ext uri="{FF2B5EF4-FFF2-40B4-BE49-F238E27FC236}">
                    <a16:creationId xmlns:a16="http://schemas.microsoft.com/office/drawing/2014/main" id="{F2C59790-A6E8-312A-E946-31BE21587378}"/>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1" name="Freeform: Shape 159">
                <a:extLst>
                  <a:ext uri="{FF2B5EF4-FFF2-40B4-BE49-F238E27FC236}">
                    <a16:creationId xmlns:a16="http://schemas.microsoft.com/office/drawing/2014/main" id="{A884385C-0D17-0849-EDAA-B7B2A8722A2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2" name="Freeform: Shape 160">
                <a:extLst>
                  <a:ext uri="{FF2B5EF4-FFF2-40B4-BE49-F238E27FC236}">
                    <a16:creationId xmlns:a16="http://schemas.microsoft.com/office/drawing/2014/main" id="{EC2F6470-B4AB-2A31-25EF-9AC595E5FB8A}"/>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4" name="Group 193">
              <a:extLst>
                <a:ext uri="{FF2B5EF4-FFF2-40B4-BE49-F238E27FC236}">
                  <a16:creationId xmlns:a16="http://schemas.microsoft.com/office/drawing/2014/main" id="{B53F533C-BF04-CE80-2B2A-6E3BCDB0AC17}"/>
                </a:ext>
              </a:extLst>
            </p:cNvPr>
            <p:cNvGrpSpPr/>
            <p:nvPr/>
          </p:nvGrpSpPr>
          <p:grpSpPr>
            <a:xfrm>
              <a:off x="10787679" y="2413972"/>
              <a:ext cx="1264298" cy="1005053"/>
              <a:chOff x="8867133" y="-492224"/>
              <a:chExt cx="1264298" cy="1005053"/>
            </a:xfrm>
          </p:grpSpPr>
          <p:sp>
            <p:nvSpPr>
              <p:cNvPr id="283" name="Freeform: Shape 131">
                <a:extLst>
                  <a:ext uri="{FF2B5EF4-FFF2-40B4-BE49-F238E27FC236}">
                    <a16:creationId xmlns:a16="http://schemas.microsoft.com/office/drawing/2014/main" id="{A340DFDA-ACB7-DDD0-E9F6-43BB153485D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4" name="Freeform: Shape 132">
                <a:extLst>
                  <a:ext uri="{FF2B5EF4-FFF2-40B4-BE49-F238E27FC236}">
                    <a16:creationId xmlns:a16="http://schemas.microsoft.com/office/drawing/2014/main" id="{D0BB0720-C57A-656E-58B9-202C7DB8C09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5" name="Freeform: Shape 133">
                <a:extLst>
                  <a:ext uri="{FF2B5EF4-FFF2-40B4-BE49-F238E27FC236}">
                    <a16:creationId xmlns:a16="http://schemas.microsoft.com/office/drawing/2014/main" id="{20FFB692-03F4-3697-DDF9-8BA2CCB036A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6" name="Freeform: Shape 134">
                <a:extLst>
                  <a:ext uri="{FF2B5EF4-FFF2-40B4-BE49-F238E27FC236}">
                    <a16:creationId xmlns:a16="http://schemas.microsoft.com/office/drawing/2014/main" id="{61452AA2-52EB-B487-E43E-A52F9E42B5AF}"/>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7" name="Freeform: Shape 135">
                <a:extLst>
                  <a:ext uri="{FF2B5EF4-FFF2-40B4-BE49-F238E27FC236}">
                    <a16:creationId xmlns:a16="http://schemas.microsoft.com/office/drawing/2014/main" id="{47498E91-93F0-BAF3-4573-74A477E315C5}"/>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8" name="Freeform: Shape 136">
                <a:extLst>
                  <a:ext uri="{FF2B5EF4-FFF2-40B4-BE49-F238E27FC236}">
                    <a16:creationId xmlns:a16="http://schemas.microsoft.com/office/drawing/2014/main" id="{13B0C120-54E4-E0E8-F2D1-0E4EF31B9E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9" name="Freeform: Shape 137">
                <a:extLst>
                  <a:ext uri="{FF2B5EF4-FFF2-40B4-BE49-F238E27FC236}">
                    <a16:creationId xmlns:a16="http://schemas.microsoft.com/office/drawing/2014/main" id="{964E015A-8CE7-0A74-9AE2-8F826CAFD3C3}"/>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0" name="Freeform: Shape 138">
                <a:extLst>
                  <a:ext uri="{FF2B5EF4-FFF2-40B4-BE49-F238E27FC236}">
                    <a16:creationId xmlns:a16="http://schemas.microsoft.com/office/drawing/2014/main" id="{F45C2754-BA7D-B809-456D-F814411AAF11}"/>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1" name="Freeform: Shape 139">
                <a:extLst>
                  <a:ext uri="{FF2B5EF4-FFF2-40B4-BE49-F238E27FC236}">
                    <a16:creationId xmlns:a16="http://schemas.microsoft.com/office/drawing/2014/main" id="{BA9ABD14-2325-F6B0-DC4C-ACD23EE270A9}"/>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2" name="Freeform: Shape 140">
                <a:extLst>
                  <a:ext uri="{FF2B5EF4-FFF2-40B4-BE49-F238E27FC236}">
                    <a16:creationId xmlns:a16="http://schemas.microsoft.com/office/drawing/2014/main" id="{137078ED-08A9-0E71-57AD-945CF4F329F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3" name="Freeform: Shape 141">
                <a:extLst>
                  <a:ext uri="{FF2B5EF4-FFF2-40B4-BE49-F238E27FC236}">
                    <a16:creationId xmlns:a16="http://schemas.microsoft.com/office/drawing/2014/main" id="{4BACD203-C34C-442C-5E19-D242AB38B290}"/>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4" name="Freeform: Shape 142">
                <a:extLst>
                  <a:ext uri="{FF2B5EF4-FFF2-40B4-BE49-F238E27FC236}">
                    <a16:creationId xmlns:a16="http://schemas.microsoft.com/office/drawing/2014/main" id="{2692229D-527F-BD28-789E-DE0A3090421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5" name="Freeform: Shape 143">
                <a:extLst>
                  <a:ext uri="{FF2B5EF4-FFF2-40B4-BE49-F238E27FC236}">
                    <a16:creationId xmlns:a16="http://schemas.microsoft.com/office/drawing/2014/main" id="{4902D0CD-585D-B283-F20F-1497C42DE56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6" name="Freeform: Shape 144">
                <a:extLst>
                  <a:ext uri="{FF2B5EF4-FFF2-40B4-BE49-F238E27FC236}">
                    <a16:creationId xmlns:a16="http://schemas.microsoft.com/office/drawing/2014/main" id="{E7BDD6F4-9EA0-AACB-C560-107C3F8B69DB}"/>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7" name="Freeform: Shape 145">
                <a:extLst>
                  <a:ext uri="{FF2B5EF4-FFF2-40B4-BE49-F238E27FC236}">
                    <a16:creationId xmlns:a16="http://schemas.microsoft.com/office/drawing/2014/main" id="{5157DE42-1A13-FA92-424C-1F68A5F5279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8" name="Freeform: Shape 146">
                <a:extLst>
                  <a:ext uri="{FF2B5EF4-FFF2-40B4-BE49-F238E27FC236}">
                    <a16:creationId xmlns:a16="http://schemas.microsoft.com/office/drawing/2014/main" id="{CA2A9167-5B16-82FE-82AB-81DE4975240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9" name="Freeform: Shape 147">
                <a:extLst>
                  <a:ext uri="{FF2B5EF4-FFF2-40B4-BE49-F238E27FC236}">
                    <a16:creationId xmlns:a16="http://schemas.microsoft.com/office/drawing/2014/main" id="{5B9A7AA3-3856-3210-65D3-7BEA6F82505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0" name="Freeform: Shape 148">
                <a:extLst>
                  <a:ext uri="{FF2B5EF4-FFF2-40B4-BE49-F238E27FC236}">
                    <a16:creationId xmlns:a16="http://schemas.microsoft.com/office/drawing/2014/main" id="{E47671A7-1A7D-595C-230F-8E5CF0D57A5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1" name="Freeform: Shape 149">
                <a:extLst>
                  <a:ext uri="{FF2B5EF4-FFF2-40B4-BE49-F238E27FC236}">
                    <a16:creationId xmlns:a16="http://schemas.microsoft.com/office/drawing/2014/main" id="{AE325C95-9DB4-4ABC-64E2-C13625EA8F2C}"/>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2" name="Freeform: Shape 150">
                <a:extLst>
                  <a:ext uri="{FF2B5EF4-FFF2-40B4-BE49-F238E27FC236}">
                    <a16:creationId xmlns:a16="http://schemas.microsoft.com/office/drawing/2014/main" id="{70470266-8149-DB0F-31AB-D0D227AB518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3" name="Freeform: Shape 151">
                <a:extLst>
                  <a:ext uri="{FF2B5EF4-FFF2-40B4-BE49-F238E27FC236}">
                    <a16:creationId xmlns:a16="http://schemas.microsoft.com/office/drawing/2014/main" id="{C7DAE5ED-0241-8E68-BB8D-B58F31BD3B24}"/>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4" name="Freeform: Shape 152">
                <a:extLst>
                  <a:ext uri="{FF2B5EF4-FFF2-40B4-BE49-F238E27FC236}">
                    <a16:creationId xmlns:a16="http://schemas.microsoft.com/office/drawing/2014/main" id="{52D706E0-6868-E48E-0768-545A5EA16BD1}"/>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5" name="Freeform: Shape 153">
                <a:extLst>
                  <a:ext uri="{FF2B5EF4-FFF2-40B4-BE49-F238E27FC236}">
                    <a16:creationId xmlns:a16="http://schemas.microsoft.com/office/drawing/2014/main" id="{3DDF3FAE-C888-F360-DEC2-AC1DF699210C}"/>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6" name="Freeform: Shape 154">
                <a:extLst>
                  <a:ext uri="{FF2B5EF4-FFF2-40B4-BE49-F238E27FC236}">
                    <a16:creationId xmlns:a16="http://schemas.microsoft.com/office/drawing/2014/main" id="{94A932A9-A9E7-0A9D-A807-BA3C3F611946}"/>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7" name="Freeform: Shape 155">
                <a:extLst>
                  <a:ext uri="{FF2B5EF4-FFF2-40B4-BE49-F238E27FC236}">
                    <a16:creationId xmlns:a16="http://schemas.microsoft.com/office/drawing/2014/main" id="{A3B55091-63C6-729A-C27F-06A0FAF42C9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08" name="Freeform: Shape 156">
                <a:extLst>
                  <a:ext uri="{FF2B5EF4-FFF2-40B4-BE49-F238E27FC236}">
                    <a16:creationId xmlns:a16="http://schemas.microsoft.com/office/drawing/2014/main" id="{EFE4B22A-2167-0F87-9CD0-674492E83261}"/>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09" name="Freeform: Shape 157">
                <a:extLst>
                  <a:ext uri="{FF2B5EF4-FFF2-40B4-BE49-F238E27FC236}">
                    <a16:creationId xmlns:a16="http://schemas.microsoft.com/office/drawing/2014/main" id="{78A90422-BCAC-6DA6-D96A-830ADF74AA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10" name="Freeform: Shape 158">
                <a:extLst>
                  <a:ext uri="{FF2B5EF4-FFF2-40B4-BE49-F238E27FC236}">
                    <a16:creationId xmlns:a16="http://schemas.microsoft.com/office/drawing/2014/main" id="{7772D494-0CB8-F701-1287-9FA4C8D6FE0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1" name="Freeform: Shape 159">
                <a:extLst>
                  <a:ext uri="{FF2B5EF4-FFF2-40B4-BE49-F238E27FC236}">
                    <a16:creationId xmlns:a16="http://schemas.microsoft.com/office/drawing/2014/main" id="{7F0F2D36-127A-859C-76A1-D221BBF530FF}"/>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2" name="Freeform: Shape 160">
                <a:extLst>
                  <a:ext uri="{FF2B5EF4-FFF2-40B4-BE49-F238E27FC236}">
                    <a16:creationId xmlns:a16="http://schemas.microsoft.com/office/drawing/2014/main" id="{3EFB03EB-F6D2-DC77-46B7-5273B0D351F6}"/>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5" name="Group 194">
              <a:extLst>
                <a:ext uri="{FF2B5EF4-FFF2-40B4-BE49-F238E27FC236}">
                  <a16:creationId xmlns:a16="http://schemas.microsoft.com/office/drawing/2014/main" id="{9FF5EF6B-BE6B-08C7-8FC9-3F61FF01A694}"/>
                </a:ext>
              </a:extLst>
            </p:cNvPr>
            <p:cNvGrpSpPr/>
            <p:nvPr/>
          </p:nvGrpSpPr>
          <p:grpSpPr>
            <a:xfrm>
              <a:off x="10787679" y="3577217"/>
              <a:ext cx="1264298" cy="1005053"/>
              <a:chOff x="8867133" y="-492224"/>
              <a:chExt cx="1264298" cy="1005053"/>
            </a:xfrm>
          </p:grpSpPr>
          <p:sp>
            <p:nvSpPr>
              <p:cNvPr id="253" name="Freeform: Shape 131">
                <a:extLst>
                  <a:ext uri="{FF2B5EF4-FFF2-40B4-BE49-F238E27FC236}">
                    <a16:creationId xmlns:a16="http://schemas.microsoft.com/office/drawing/2014/main" id="{2F966702-0E74-EDBB-323B-8408DA20831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4" name="Freeform: Shape 132">
                <a:extLst>
                  <a:ext uri="{FF2B5EF4-FFF2-40B4-BE49-F238E27FC236}">
                    <a16:creationId xmlns:a16="http://schemas.microsoft.com/office/drawing/2014/main" id="{1F1341CA-5706-51C2-9232-4BDC9E9173F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5" name="Freeform: Shape 133">
                <a:extLst>
                  <a:ext uri="{FF2B5EF4-FFF2-40B4-BE49-F238E27FC236}">
                    <a16:creationId xmlns:a16="http://schemas.microsoft.com/office/drawing/2014/main" id="{4C7E1104-2709-9E57-5948-246B6B5152C5}"/>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6" name="Freeform: Shape 134">
                <a:extLst>
                  <a:ext uri="{FF2B5EF4-FFF2-40B4-BE49-F238E27FC236}">
                    <a16:creationId xmlns:a16="http://schemas.microsoft.com/office/drawing/2014/main" id="{F301332F-E56B-3CC3-30E6-49C93B40DC36}"/>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7" name="Freeform: Shape 135">
                <a:extLst>
                  <a:ext uri="{FF2B5EF4-FFF2-40B4-BE49-F238E27FC236}">
                    <a16:creationId xmlns:a16="http://schemas.microsoft.com/office/drawing/2014/main" id="{41F265F0-B8F1-015D-BCC0-97B113B619E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8" name="Freeform: Shape 136">
                <a:extLst>
                  <a:ext uri="{FF2B5EF4-FFF2-40B4-BE49-F238E27FC236}">
                    <a16:creationId xmlns:a16="http://schemas.microsoft.com/office/drawing/2014/main" id="{960EDF1E-2D4E-4CF2-F034-B14441F097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9" name="Freeform: Shape 137">
                <a:extLst>
                  <a:ext uri="{FF2B5EF4-FFF2-40B4-BE49-F238E27FC236}">
                    <a16:creationId xmlns:a16="http://schemas.microsoft.com/office/drawing/2014/main" id="{8219C2D0-3D15-92BC-7A08-F593D2B0705E}"/>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0" name="Freeform: Shape 138">
                <a:extLst>
                  <a:ext uri="{FF2B5EF4-FFF2-40B4-BE49-F238E27FC236}">
                    <a16:creationId xmlns:a16="http://schemas.microsoft.com/office/drawing/2014/main" id="{FC446D3A-93F5-A7B2-CB8A-CF350A9739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1" name="Freeform: Shape 139">
                <a:extLst>
                  <a:ext uri="{FF2B5EF4-FFF2-40B4-BE49-F238E27FC236}">
                    <a16:creationId xmlns:a16="http://schemas.microsoft.com/office/drawing/2014/main" id="{ED0AE599-36DC-C779-194C-7093CCF4F207}"/>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2" name="Freeform: Shape 140">
                <a:extLst>
                  <a:ext uri="{FF2B5EF4-FFF2-40B4-BE49-F238E27FC236}">
                    <a16:creationId xmlns:a16="http://schemas.microsoft.com/office/drawing/2014/main" id="{FD1CF0C5-F958-B124-D51E-218915F636F1}"/>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3" name="Freeform: Shape 141">
                <a:extLst>
                  <a:ext uri="{FF2B5EF4-FFF2-40B4-BE49-F238E27FC236}">
                    <a16:creationId xmlns:a16="http://schemas.microsoft.com/office/drawing/2014/main" id="{FBB77B73-BE23-4E32-E55B-84BED8CAA3F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4" name="Freeform: Shape 142">
                <a:extLst>
                  <a:ext uri="{FF2B5EF4-FFF2-40B4-BE49-F238E27FC236}">
                    <a16:creationId xmlns:a16="http://schemas.microsoft.com/office/drawing/2014/main" id="{3D966FF4-8901-796C-FEDA-93A9FC5BF2CF}"/>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5" name="Freeform: Shape 143">
                <a:extLst>
                  <a:ext uri="{FF2B5EF4-FFF2-40B4-BE49-F238E27FC236}">
                    <a16:creationId xmlns:a16="http://schemas.microsoft.com/office/drawing/2014/main" id="{9963E82D-64D1-CE96-9AB2-4D48F3EF2514}"/>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6" name="Freeform: Shape 144">
                <a:extLst>
                  <a:ext uri="{FF2B5EF4-FFF2-40B4-BE49-F238E27FC236}">
                    <a16:creationId xmlns:a16="http://schemas.microsoft.com/office/drawing/2014/main" id="{202902B0-2314-D6F0-4822-EF986647120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7" name="Freeform: Shape 145">
                <a:extLst>
                  <a:ext uri="{FF2B5EF4-FFF2-40B4-BE49-F238E27FC236}">
                    <a16:creationId xmlns:a16="http://schemas.microsoft.com/office/drawing/2014/main" id="{B890E0B9-9DB0-6AF8-DA0B-2E13F9CE8794}"/>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8" name="Freeform: Shape 146">
                <a:extLst>
                  <a:ext uri="{FF2B5EF4-FFF2-40B4-BE49-F238E27FC236}">
                    <a16:creationId xmlns:a16="http://schemas.microsoft.com/office/drawing/2014/main" id="{73593DB9-3722-596D-9FAB-0EA88B852D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9" name="Freeform: Shape 147">
                <a:extLst>
                  <a:ext uri="{FF2B5EF4-FFF2-40B4-BE49-F238E27FC236}">
                    <a16:creationId xmlns:a16="http://schemas.microsoft.com/office/drawing/2014/main" id="{2318831A-ADAF-D87A-D4F6-EB76D5D9DC0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0" name="Freeform: Shape 148">
                <a:extLst>
                  <a:ext uri="{FF2B5EF4-FFF2-40B4-BE49-F238E27FC236}">
                    <a16:creationId xmlns:a16="http://schemas.microsoft.com/office/drawing/2014/main" id="{B4219E9B-FE83-1E92-D605-3C7B484AEAC5}"/>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1" name="Freeform: Shape 149">
                <a:extLst>
                  <a:ext uri="{FF2B5EF4-FFF2-40B4-BE49-F238E27FC236}">
                    <a16:creationId xmlns:a16="http://schemas.microsoft.com/office/drawing/2014/main" id="{49D5BA8F-0278-79EE-B1E7-FE80E5DF6CC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2" name="Freeform: Shape 150">
                <a:extLst>
                  <a:ext uri="{FF2B5EF4-FFF2-40B4-BE49-F238E27FC236}">
                    <a16:creationId xmlns:a16="http://schemas.microsoft.com/office/drawing/2014/main" id="{C49E4EE3-0FFE-CB9E-CC73-2A1AFC71B8A7}"/>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3" name="Freeform: Shape 151">
                <a:extLst>
                  <a:ext uri="{FF2B5EF4-FFF2-40B4-BE49-F238E27FC236}">
                    <a16:creationId xmlns:a16="http://schemas.microsoft.com/office/drawing/2014/main" id="{D786AF54-38CE-0657-338E-6EEFBC8BE2B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4" name="Freeform: Shape 152">
                <a:extLst>
                  <a:ext uri="{FF2B5EF4-FFF2-40B4-BE49-F238E27FC236}">
                    <a16:creationId xmlns:a16="http://schemas.microsoft.com/office/drawing/2014/main" id="{BAAA88C8-ADC8-FDA0-56DC-1AD099FE49B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5" name="Freeform: Shape 153">
                <a:extLst>
                  <a:ext uri="{FF2B5EF4-FFF2-40B4-BE49-F238E27FC236}">
                    <a16:creationId xmlns:a16="http://schemas.microsoft.com/office/drawing/2014/main" id="{7F016FFF-9C30-2706-94DE-E99446C82EAE}"/>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6" name="Freeform: Shape 154">
                <a:extLst>
                  <a:ext uri="{FF2B5EF4-FFF2-40B4-BE49-F238E27FC236}">
                    <a16:creationId xmlns:a16="http://schemas.microsoft.com/office/drawing/2014/main" id="{785E9A80-4398-E072-7E55-73F370C2DE6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7" name="Freeform: Shape 155">
                <a:extLst>
                  <a:ext uri="{FF2B5EF4-FFF2-40B4-BE49-F238E27FC236}">
                    <a16:creationId xmlns:a16="http://schemas.microsoft.com/office/drawing/2014/main" id="{807B3314-E6F2-45BC-DA08-A6B33C2B8CD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78" name="Freeform: Shape 156">
                <a:extLst>
                  <a:ext uri="{FF2B5EF4-FFF2-40B4-BE49-F238E27FC236}">
                    <a16:creationId xmlns:a16="http://schemas.microsoft.com/office/drawing/2014/main" id="{7EC15654-E5FD-F098-04B5-AD3B44049F9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79" name="Freeform: Shape 157">
                <a:extLst>
                  <a:ext uri="{FF2B5EF4-FFF2-40B4-BE49-F238E27FC236}">
                    <a16:creationId xmlns:a16="http://schemas.microsoft.com/office/drawing/2014/main" id="{84FF780F-546E-C892-EF4C-D62E02A7ED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80" name="Freeform: Shape 158">
                <a:extLst>
                  <a:ext uri="{FF2B5EF4-FFF2-40B4-BE49-F238E27FC236}">
                    <a16:creationId xmlns:a16="http://schemas.microsoft.com/office/drawing/2014/main" id="{078905F8-B95A-2FB3-DF5E-B4389AE7D50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1" name="Freeform: Shape 159">
                <a:extLst>
                  <a:ext uri="{FF2B5EF4-FFF2-40B4-BE49-F238E27FC236}">
                    <a16:creationId xmlns:a16="http://schemas.microsoft.com/office/drawing/2014/main" id="{6189FBFB-389B-B278-2553-FC5F28D9BE7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2" name="Freeform: Shape 160">
                <a:extLst>
                  <a:ext uri="{FF2B5EF4-FFF2-40B4-BE49-F238E27FC236}">
                    <a16:creationId xmlns:a16="http://schemas.microsoft.com/office/drawing/2014/main" id="{B9582A29-926B-4022-74E9-E80BCDF41A62}"/>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6" name="Group 195">
              <a:extLst>
                <a:ext uri="{FF2B5EF4-FFF2-40B4-BE49-F238E27FC236}">
                  <a16:creationId xmlns:a16="http://schemas.microsoft.com/office/drawing/2014/main" id="{7765B2B6-F687-B1A0-C8CB-B480269B7D5D}"/>
                </a:ext>
              </a:extLst>
            </p:cNvPr>
            <p:cNvGrpSpPr/>
            <p:nvPr/>
          </p:nvGrpSpPr>
          <p:grpSpPr>
            <a:xfrm>
              <a:off x="10790283" y="4770606"/>
              <a:ext cx="1264298" cy="1005053"/>
              <a:chOff x="8867133" y="-492224"/>
              <a:chExt cx="1264298" cy="1005053"/>
            </a:xfrm>
          </p:grpSpPr>
          <p:sp>
            <p:nvSpPr>
              <p:cNvPr id="223" name="Freeform: Shape 131">
                <a:extLst>
                  <a:ext uri="{FF2B5EF4-FFF2-40B4-BE49-F238E27FC236}">
                    <a16:creationId xmlns:a16="http://schemas.microsoft.com/office/drawing/2014/main" id="{A18B3889-AB13-53BE-2D2C-5F3058D92D73}"/>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4" name="Freeform: Shape 132">
                <a:extLst>
                  <a:ext uri="{FF2B5EF4-FFF2-40B4-BE49-F238E27FC236}">
                    <a16:creationId xmlns:a16="http://schemas.microsoft.com/office/drawing/2014/main" id="{0B197A8F-A1CF-9810-93C5-874DAAE3B85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5" name="Freeform: Shape 133">
                <a:extLst>
                  <a:ext uri="{FF2B5EF4-FFF2-40B4-BE49-F238E27FC236}">
                    <a16:creationId xmlns:a16="http://schemas.microsoft.com/office/drawing/2014/main" id="{9D9D23BA-BB7A-4533-A18F-A978297A75D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6" name="Freeform: Shape 134">
                <a:extLst>
                  <a:ext uri="{FF2B5EF4-FFF2-40B4-BE49-F238E27FC236}">
                    <a16:creationId xmlns:a16="http://schemas.microsoft.com/office/drawing/2014/main" id="{BBA049FF-0CA9-5777-F3EC-9CBF878B188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7" name="Freeform: Shape 135">
                <a:extLst>
                  <a:ext uri="{FF2B5EF4-FFF2-40B4-BE49-F238E27FC236}">
                    <a16:creationId xmlns:a16="http://schemas.microsoft.com/office/drawing/2014/main" id="{9EB985FC-006E-6E22-D801-FFF1C621D466}"/>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8" name="Freeform: Shape 136">
                <a:extLst>
                  <a:ext uri="{FF2B5EF4-FFF2-40B4-BE49-F238E27FC236}">
                    <a16:creationId xmlns:a16="http://schemas.microsoft.com/office/drawing/2014/main" id="{16F63C8C-77B6-ED30-7F41-34F662BFBFFE}"/>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9" name="Freeform: Shape 137">
                <a:extLst>
                  <a:ext uri="{FF2B5EF4-FFF2-40B4-BE49-F238E27FC236}">
                    <a16:creationId xmlns:a16="http://schemas.microsoft.com/office/drawing/2014/main" id="{0737BEA7-5D85-2AD8-00E7-04CCFFA895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0" name="Freeform: Shape 138">
                <a:extLst>
                  <a:ext uri="{FF2B5EF4-FFF2-40B4-BE49-F238E27FC236}">
                    <a16:creationId xmlns:a16="http://schemas.microsoft.com/office/drawing/2014/main" id="{BF8C2B69-152E-74FE-9E61-7235B8B48C2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1" name="Freeform: Shape 139">
                <a:extLst>
                  <a:ext uri="{FF2B5EF4-FFF2-40B4-BE49-F238E27FC236}">
                    <a16:creationId xmlns:a16="http://schemas.microsoft.com/office/drawing/2014/main" id="{A7DBE652-36DF-9163-08EA-EA412F47EA5D}"/>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2" name="Freeform: Shape 140">
                <a:extLst>
                  <a:ext uri="{FF2B5EF4-FFF2-40B4-BE49-F238E27FC236}">
                    <a16:creationId xmlns:a16="http://schemas.microsoft.com/office/drawing/2014/main" id="{D80C1650-9F41-3245-43E5-4DB873E10329}"/>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3" name="Freeform: Shape 141">
                <a:extLst>
                  <a:ext uri="{FF2B5EF4-FFF2-40B4-BE49-F238E27FC236}">
                    <a16:creationId xmlns:a16="http://schemas.microsoft.com/office/drawing/2014/main" id="{CAF9A948-8F72-203E-3516-C758594DB9F5}"/>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4" name="Freeform: Shape 142">
                <a:extLst>
                  <a:ext uri="{FF2B5EF4-FFF2-40B4-BE49-F238E27FC236}">
                    <a16:creationId xmlns:a16="http://schemas.microsoft.com/office/drawing/2014/main" id="{1EAD676A-689E-D3C3-7D9D-C4651E466E7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5" name="Freeform: Shape 143">
                <a:extLst>
                  <a:ext uri="{FF2B5EF4-FFF2-40B4-BE49-F238E27FC236}">
                    <a16:creationId xmlns:a16="http://schemas.microsoft.com/office/drawing/2014/main" id="{4E638940-93C1-F526-9CD1-DCD4ED73149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6" name="Freeform: Shape 144">
                <a:extLst>
                  <a:ext uri="{FF2B5EF4-FFF2-40B4-BE49-F238E27FC236}">
                    <a16:creationId xmlns:a16="http://schemas.microsoft.com/office/drawing/2014/main" id="{B1D81BAB-ECCC-A195-ECC8-C46CF423AA5E}"/>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7" name="Freeform: Shape 145">
                <a:extLst>
                  <a:ext uri="{FF2B5EF4-FFF2-40B4-BE49-F238E27FC236}">
                    <a16:creationId xmlns:a16="http://schemas.microsoft.com/office/drawing/2014/main" id="{05C89757-E599-FECF-2D50-5955585297AC}"/>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8" name="Freeform: Shape 146">
                <a:extLst>
                  <a:ext uri="{FF2B5EF4-FFF2-40B4-BE49-F238E27FC236}">
                    <a16:creationId xmlns:a16="http://schemas.microsoft.com/office/drawing/2014/main" id="{E1360129-27B1-BD79-C8AA-8F44DB5A3B33}"/>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9" name="Freeform: Shape 147">
                <a:extLst>
                  <a:ext uri="{FF2B5EF4-FFF2-40B4-BE49-F238E27FC236}">
                    <a16:creationId xmlns:a16="http://schemas.microsoft.com/office/drawing/2014/main" id="{13DFD579-809B-8474-883A-4B55CDD32D9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0" name="Freeform: Shape 148">
                <a:extLst>
                  <a:ext uri="{FF2B5EF4-FFF2-40B4-BE49-F238E27FC236}">
                    <a16:creationId xmlns:a16="http://schemas.microsoft.com/office/drawing/2014/main" id="{88EA25CE-7CB4-5194-ED47-61E059C6944B}"/>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1" name="Freeform: Shape 149">
                <a:extLst>
                  <a:ext uri="{FF2B5EF4-FFF2-40B4-BE49-F238E27FC236}">
                    <a16:creationId xmlns:a16="http://schemas.microsoft.com/office/drawing/2014/main" id="{2D8D8CE6-E1B7-587A-847C-5941ACB9AC15}"/>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2" name="Freeform: Shape 150">
                <a:extLst>
                  <a:ext uri="{FF2B5EF4-FFF2-40B4-BE49-F238E27FC236}">
                    <a16:creationId xmlns:a16="http://schemas.microsoft.com/office/drawing/2014/main" id="{8BC5CBC6-9EE9-39D7-ED8F-07710A360E0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3" name="Freeform: Shape 151">
                <a:extLst>
                  <a:ext uri="{FF2B5EF4-FFF2-40B4-BE49-F238E27FC236}">
                    <a16:creationId xmlns:a16="http://schemas.microsoft.com/office/drawing/2014/main" id="{1B3D5177-AF08-AB1C-DC75-17BBB1F301E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4" name="Freeform: Shape 152">
                <a:extLst>
                  <a:ext uri="{FF2B5EF4-FFF2-40B4-BE49-F238E27FC236}">
                    <a16:creationId xmlns:a16="http://schemas.microsoft.com/office/drawing/2014/main" id="{1A722BFE-03A6-890F-92C9-AABC3C35AF7A}"/>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5" name="Freeform: Shape 153">
                <a:extLst>
                  <a:ext uri="{FF2B5EF4-FFF2-40B4-BE49-F238E27FC236}">
                    <a16:creationId xmlns:a16="http://schemas.microsoft.com/office/drawing/2014/main" id="{78053181-E1FD-7EC5-8947-FB4A54AA7E5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6" name="Freeform: Shape 154">
                <a:extLst>
                  <a:ext uri="{FF2B5EF4-FFF2-40B4-BE49-F238E27FC236}">
                    <a16:creationId xmlns:a16="http://schemas.microsoft.com/office/drawing/2014/main" id="{9ED2E186-9CFC-81CF-7691-8085C576E840}"/>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7" name="Freeform: Shape 155">
                <a:extLst>
                  <a:ext uri="{FF2B5EF4-FFF2-40B4-BE49-F238E27FC236}">
                    <a16:creationId xmlns:a16="http://schemas.microsoft.com/office/drawing/2014/main" id="{9EB89204-39A6-4131-F605-2828D960BF1C}"/>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48" name="Freeform: Shape 156">
                <a:extLst>
                  <a:ext uri="{FF2B5EF4-FFF2-40B4-BE49-F238E27FC236}">
                    <a16:creationId xmlns:a16="http://schemas.microsoft.com/office/drawing/2014/main" id="{4ADB8665-025E-D139-05C5-F5C3012D55A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49" name="Freeform: Shape 157">
                <a:extLst>
                  <a:ext uri="{FF2B5EF4-FFF2-40B4-BE49-F238E27FC236}">
                    <a16:creationId xmlns:a16="http://schemas.microsoft.com/office/drawing/2014/main" id="{8131E12C-599B-E502-7A80-678C7CEC1AC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50" name="Freeform: Shape 158">
                <a:extLst>
                  <a:ext uri="{FF2B5EF4-FFF2-40B4-BE49-F238E27FC236}">
                    <a16:creationId xmlns:a16="http://schemas.microsoft.com/office/drawing/2014/main" id="{C0E3567B-CB0B-EB69-D811-09D763F85B6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1" name="Freeform: Shape 159">
                <a:extLst>
                  <a:ext uri="{FF2B5EF4-FFF2-40B4-BE49-F238E27FC236}">
                    <a16:creationId xmlns:a16="http://schemas.microsoft.com/office/drawing/2014/main" id="{6BFF59CA-0AB7-F3D3-766B-50E9FF642A78}"/>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2" name="Freeform: Shape 160">
                <a:extLst>
                  <a:ext uri="{FF2B5EF4-FFF2-40B4-BE49-F238E27FC236}">
                    <a16:creationId xmlns:a16="http://schemas.microsoft.com/office/drawing/2014/main" id="{CFF006CC-2504-600E-8C8D-061BF611536F}"/>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7" name="Group 196">
              <a:extLst>
                <a:ext uri="{FF2B5EF4-FFF2-40B4-BE49-F238E27FC236}">
                  <a16:creationId xmlns:a16="http://schemas.microsoft.com/office/drawing/2014/main" id="{20FAEAC8-7633-C0ED-16D8-85DD90DB6BA7}"/>
                </a:ext>
              </a:extLst>
            </p:cNvPr>
            <p:cNvGrpSpPr/>
            <p:nvPr/>
          </p:nvGrpSpPr>
          <p:grpSpPr>
            <a:xfrm>
              <a:off x="10701084" y="5836321"/>
              <a:ext cx="1493520" cy="1021679"/>
              <a:chOff x="10698480" y="0"/>
              <a:chExt cx="1493520" cy="1021679"/>
            </a:xfrm>
          </p:grpSpPr>
          <p:sp>
            <p:nvSpPr>
              <p:cNvPr id="198" name="Rectangle 197">
                <a:extLst>
                  <a:ext uri="{FF2B5EF4-FFF2-40B4-BE49-F238E27FC236}">
                    <a16:creationId xmlns:a16="http://schemas.microsoft.com/office/drawing/2014/main" id="{EBCF0B54-351D-C38D-7663-135FEC1FF921}"/>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9" name="Group 198">
                <a:extLst>
                  <a:ext uri="{FF2B5EF4-FFF2-40B4-BE49-F238E27FC236}">
                    <a16:creationId xmlns:a16="http://schemas.microsoft.com/office/drawing/2014/main" id="{AA008DC5-5FFA-3CA6-E50E-455ED3A807FA}"/>
                  </a:ext>
                </a:extLst>
              </p:cNvPr>
              <p:cNvGrpSpPr/>
              <p:nvPr/>
            </p:nvGrpSpPr>
            <p:grpSpPr>
              <a:xfrm>
                <a:off x="10787679" y="97530"/>
                <a:ext cx="1264298" cy="769086"/>
                <a:chOff x="8867133" y="-492224"/>
                <a:chExt cx="1264298" cy="769086"/>
              </a:xfrm>
            </p:grpSpPr>
            <p:sp>
              <p:nvSpPr>
                <p:cNvPr id="200" name="Freeform: Shape 131">
                  <a:extLst>
                    <a:ext uri="{FF2B5EF4-FFF2-40B4-BE49-F238E27FC236}">
                      <a16:creationId xmlns:a16="http://schemas.microsoft.com/office/drawing/2014/main" id="{614D64B0-A2BB-D2A1-7B26-719E2968FB7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1" name="Freeform: Shape 132">
                  <a:extLst>
                    <a:ext uri="{FF2B5EF4-FFF2-40B4-BE49-F238E27FC236}">
                      <a16:creationId xmlns:a16="http://schemas.microsoft.com/office/drawing/2014/main" id="{324D23FB-7C6E-2B25-2737-824F9C2827AA}"/>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2" name="Freeform: Shape 133">
                  <a:extLst>
                    <a:ext uri="{FF2B5EF4-FFF2-40B4-BE49-F238E27FC236}">
                      <a16:creationId xmlns:a16="http://schemas.microsoft.com/office/drawing/2014/main" id="{291001BA-A2AD-02D8-95F8-1AFD49B5200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3" name="Freeform: Shape 134">
                  <a:extLst>
                    <a:ext uri="{FF2B5EF4-FFF2-40B4-BE49-F238E27FC236}">
                      <a16:creationId xmlns:a16="http://schemas.microsoft.com/office/drawing/2014/main" id="{95E36737-AF0F-ADF0-EC67-4A0287AEF07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4" name="Freeform: Shape 135">
                  <a:extLst>
                    <a:ext uri="{FF2B5EF4-FFF2-40B4-BE49-F238E27FC236}">
                      <a16:creationId xmlns:a16="http://schemas.microsoft.com/office/drawing/2014/main" id="{9006DC27-8FCF-44EE-A555-031F1AB4597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5" name="Freeform: Shape 136">
                  <a:extLst>
                    <a:ext uri="{FF2B5EF4-FFF2-40B4-BE49-F238E27FC236}">
                      <a16:creationId xmlns:a16="http://schemas.microsoft.com/office/drawing/2014/main" id="{DDF25CA9-EE35-7569-A3D5-3C55FEF10432}"/>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6" name="Freeform: Shape 137">
                  <a:extLst>
                    <a:ext uri="{FF2B5EF4-FFF2-40B4-BE49-F238E27FC236}">
                      <a16:creationId xmlns:a16="http://schemas.microsoft.com/office/drawing/2014/main" id="{E79EEFAE-90A4-0F6A-627E-57F7B43CFA26}"/>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7" name="Freeform: Shape 138">
                  <a:extLst>
                    <a:ext uri="{FF2B5EF4-FFF2-40B4-BE49-F238E27FC236}">
                      <a16:creationId xmlns:a16="http://schemas.microsoft.com/office/drawing/2014/main" id="{877D0A70-5296-AF0A-A358-0EC98CD2AD16}"/>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8" name="Freeform: Shape 139">
                  <a:extLst>
                    <a:ext uri="{FF2B5EF4-FFF2-40B4-BE49-F238E27FC236}">
                      <a16:creationId xmlns:a16="http://schemas.microsoft.com/office/drawing/2014/main" id="{A4254E57-33F3-3BAD-FF68-22B91BE861E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9" name="Freeform: Shape 140">
                  <a:extLst>
                    <a:ext uri="{FF2B5EF4-FFF2-40B4-BE49-F238E27FC236}">
                      <a16:creationId xmlns:a16="http://schemas.microsoft.com/office/drawing/2014/main" id="{94B6A35E-F6A5-0526-3F52-2DBC259D906E}"/>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0" name="Freeform: Shape 141">
                  <a:extLst>
                    <a:ext uri="{FF2B5EF4-FFF2-40B4-BE49-F238E27FC236}">
                      <a16:creationId xmlns:a16="http://schemas.microsoft.com/office/drawing/2014/main" id="{110BD815-9C88-3C27-3EFA-5D4E89D776D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1" name="Freeform: Shape 142">
                  <a:extLst>
                    <a:ext uri="{FF2B5EF4-FFF2-40B4-BE49-F238E27FC236}">
                      <a16:creationId xmlns:a16="http://schemas.microsoft.com/office/drawing/2014/main" id="{4F9E96E1-8F79-42DD-3D00-2076779EAE38}"/>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2" name="Freeform: Shape 143">
                  <a:extLst>
                    <a:ext uri="{FF2B5EF4-FFF2-40B4-BE49-F238E27FC236}">
                      <a16:creationId xmlns:a16="http://schemas.microsoft.com/office/drawing/2014/main" id="{E4DA058D-277D-CDF6-04B1-63B3BD9C9A0A}"/>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3" name="Freeform: Shape 144">
                  <a:extLst>
                    <a:ext uri="{FF2B5EF4-FFF2-40B4-BE49-F238E27FC236}">
                      <a16:creationId xmlns:a16="http://schemas.microsoft.com/office/drawing/2014/main" id="{6F10E194-1BD8-3EDC-7EE8-7E8405DF57D5}"/>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4" name="Freeform: Shape 145">
                  <a:extLst>
                    <a:ext uri="{FF2B5EF4-FFF2-40B4-BE49-F238E27FC236}">
                      <a16:creationId xmlns:a16="http://schemas.microsoft.com/office/drawing/2014/main" id="{29D06D89-63A6-FE9F-3E58-F2D4B46839EF}"/>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5" name="Freeform: Shape 146">
                  <a:extLst>
                    <a:ext uri="{FF2B5EF4-FFF2-40B4-BE49-F238E27FC236}">
                      <a16:creationId xmlns:a16="http://schemas.microsoft.com/office/drawing/2014/main" id="{32051BFF-00A7-EA0F-73E4-61C59544F79F}"/>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6" name="Freeform: Shape 147">
                  <a:extLst>
                    <a:ext uri="{FF2B5EF4-FFF2-40B4-BE49-F238E27FC236}">
                      <a16:creationId xmlns:a16="http://schemas.microsoft.com/office/drawing/2014/main" id="{9B9F7A47-A865-B219-73AD-8FA60BD49DC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7" name="Freeform: Shape 155">
                  <a:extLst>
                    <a:ext uri="{FF2B5EF4-FFF2-40B4-BE49-F238E27FC236}">
                      <a16:creationId xmlns:a16="http://schemas.microsoft.com/office/drawing/2014/main" id="{B529A8E0-4EBA-B745-FF64-0C7EB1DAAB0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18" name="Freeform: Shape 156">
                  <a:extLst>
                    <a:ext uri="{FF2B5EF4-FFF2-40B4-BE49-F238E27FC236}">
                      <a16:creationId xmlns:a16="http://schemas.microsoft.com/office/drawing/2014/main" id="{D732A7E1-68DA-2E1E-96AF-14C8FA7FE6FA}"/>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19" name="Freeform: Shape 157">
                  <a:extLst>
                    <a:ext uri="{FF2B5EF4-FFF2-40B4-BE49-F238E27FC236}">
                      <a16:creationId xmlns:a16="http://schemas.microsoft.com/office/drawing/2014/main" id="{636C6756-93AE-738D-2BDB-946C87602CB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20" name="Freeform: Shape 158">
                  <a:extLst>
                    <a:ext uri="{FF2B5EF4-FFF2-40B4-BE49-F238E27FC236}">
                      <a16:creationId xmlns:a16="http://schemas.microsoft.com/office/drawing/2014/main" id="{9FB60ACC-4591-B6D6-CEA9-4A460BE73A1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1" name="Freeform: Shape 159">
                  <a:extLst>
                    <a:ext uri="{FF2B5EF4-FFF2-40B4-BE49-F238E27FC236}">
                      <a16:creationId xmlns:a16="http://schemas.microsoft.com/office/drawing/2014/main" id="{EB34CB89-D635-0812-1F6D-50E856B3878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2" name="Freeform: Shape 160">
                  <a:extLst>
                    <a:ext uri="{FF2B5EF4-FFF2-40B4-BE49-F238E27FC236}">
                      <a16:creationId xmlns:a16="http://schemas.microsoft.com/office/drawing/2014/main" id="{ED8CA160-B795-D671-8597-3F60E34FAA0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76379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Picture Left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787286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Picture Left Content Blu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3088580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Power Word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7864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52802540-9D17-2CC9-FBE9-CFED3230EE4F}"/>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05356E6B-0EA2-F6E9-AF30-A3A66A25F2BD}"/>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605273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Power Word - white/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1"/>
                </a:solidFill>
                <a:latin typeface="Outfit Light" pitchFamily="2" charset="0"/>
              </a:defRPr>
            </a:lvl1pPr>
          </a:lstStyle>
          <a:p>
            <a:r>
              <a:rPr lang="en-US" dirty="0"/>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BB43FACA-FBC2-0633-CE89-84238C1DAAC3}"/>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F33B0035-E6A3-AD30-2EF3-23D401CF2E9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0781082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Power Word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6813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3"/>
            <a:ext cx="8993309" cy="1327112"/>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45634395-AFB9-1964-945B-EAB79638442D}"/>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6F8408E-8DC5-BC4F-218E-F4A49E63081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05761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6"/>
            <a:ext cx="9006010" cy="2452522"/>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bg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0" name="Content Placeholder 2">
            <a:extLst>
              <a:ext uri="{FF2B5EF4-FFF2-40B4-BE49-F238E27FC236}">
                <a16:creationId xmlns:a16="http://schemas.microsoft.com/office/drawing/2014/main" id="{E29E37D8-5073-8420-E497-7D71636ABDB7}"/>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3" name="Slide Number Placeholder 5">
            <a:extLst>
              <a:ext uri="{FF2B5EF4-FFF2-40B4-BE49-F238E27FC236}">
                <a16:creationId xmlns:a16="http://schemas.microsoft.com/office/drawing/2014/main" id="{AF93878B-70D6-3441-AFD9-B2506613940C}"/>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1443103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sz="2000">
                <a:solidFill>
                  <a:schemeClr val="accent1"/>
                </a:solidFill>
              </a:defRPr>
            </a:lvl1pPr>
            <a:lvl2pPr>
              <a:spcBef>
                <a:spcPts val="300"/>
              </a:spcBef>
              <a:spcAft>
                <a:spcPts val="300"/>
              </a:spcAft>
              <a:defRPr sz="1800">
                <a:solidFill>
                  <a:schemeClr val="accent1"/>
                </a:solidFill>
              </a:defRPr>
            </a:lvl2pPr>
            <a:lvl3pPr>
              <a:spcBef>
                <a:spcPts val="300"/>
              </a:spcBef>
              <a:spcAft>
                <a:spcPts val="300"/>
              </a:spcAft>
              <a:defRPr sz="1600">
                <a:solidFill>
                  <a:schemeClr val="accent1"/>
                </a:solidFill>
              </a:defRPr>
            </a:lvl3pPr>
            <a:lvl4pPr>
              <a:spcBef>
                <a:spcPts val="300"/>
              </a:spcBef>
              <a:spcAft>
                <a:spcPts val="300"/>
              </a:spcAft>
              <a:defRPr sz="1400">
                <a:solidFill>
                  <a:schemeClr val="accent1"/>
                </a:solidFill>
              </a:defRPr>
            </a:lvl4pPr>
            <a:lvl5pPr>
              <a:spcBef>
                <a:spcPts val="300"/>
              </a:spcBef>
              <a:spcAft>
                <a:spcPts val="300"/>
              </a:spcAf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reeform: Shape 18">
            <a:extLst>
              <a:ext uri="{FF2B5EF4-FFF2-40B4-BE49-F238E27FC236}">
                <a16:creationId xmlns:a16="http://schemas.microsoft.com/office/drawing/2014/main" id="{6B61184C-B93E-ECFD-8108-B0FDA2FECBC8}"/>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7" name="Content Placeholder 2">
            <a:extLst>
              <a:ext uri="{FF2B5EF4-FFF2-40B4-BE49-F238E27FC236}">
                <a16:creationId xmlns:a16="http://schemas.microsoft.com/office/drawing/2014/main" id="{087513A7-C127-FBA9-2411-6DACB506A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9B555C45-BF68-6D27-B96D-DE13828713FA}"/>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4741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Image - platinum">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A1523-308A-20BA-325B-DCC6C201399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1" name="Content Placeholder 2">
            <a:extLst>
              <a:ext uri="{FF2B5EF4-FFF2-40B4-BE49-F238E27FC236}">
                <a16:creationId xmlns:a16="http://schemas.microsoft.com/office/drawing/2014/main" id="{7E98F8E5-8778-FB43-3984-0633BD1FC678}"/>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6692FD45-83AD-586A-3C9B-63B66CF6209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69222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de Title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8402" y="252345"/>
            <a:ext cx="2590800" cy="1609859"/>
          </a:xfrm>
        </p:spPr>
        <p:txBody>
          <a:bodyPr anchor="ctr" anchorCtr="0">
            <a:normAutofit/>
          </a:bodyPr>
          <a:lstStyle>
            <a:lvl1pPr>
              <a:defRPr sz="3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4217828" y="436105"/>
            <a:ext cx="3814184" cy="5308536"/>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8C6D6D2-5187-5271-139E-B580F38E349B}"/>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83D52FB8-BE38-3892-4C76-249A2A904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3155EEF-2E74-6BBF-AD6A-BF979CC9E5B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034925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image - Power Word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5031979"/>
            <a:ext cx="9478778" cy="3125787"/>
          </a:xfrm>
        </p:spPr>
        <p:txBody>
          <a:bodyPr anchor="t" anchorCtr="0">
            <a:noAutofit/>
          </a:bodyPr>
          <a:lstStyle>
            <a:lvl1pPr algn="l">
              <a:defRPr sz="20000" b="0" i="0">
                <a:solidFill>
                  <a:schemeClr val="accent2"/>
                </a:solidFill>
                <a:latin typeface="Outfit Light" pitchFamily="2" charset="0"/>
              </a:defRPr>
            </a:lvl1pPr>
          </a:lstStyle>
          <a:p>
            <a:r>
              <a:rPr lang="en-US"/>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6" name="Picture Placeholder 4">
            <a:extLst>
              <a:ext uri="{FF2B5EF4-FFF2-40B4-BE49-F238E27FC236}">
                <a16:creationId xmlns:a16="http://schemas.microsoft.com/office/drawing/2014/main" id="{C851EF96-4DAA-EDF0-DAED-FE2994C21D9E}"/>
              </a:ext>
            </a:extLst>
          </p:cNvPr>
          <p:cNvSpPr>
            <a:spLocks noGrp="1"/>
          </p:cNvSpPr>
          <p:nvPr>
            <p:ph type="pic" sz="quarter" idx="10"/>
          </p:nvPr>
        </p:nvSpPr>
        <p:spPr>
          <a:xfrm>
            <a:off x="0" y="2346325"/>
            <a:ext cx="5670550" cy="3165475"/>
          </a:xfrm>
        </p:spPr>
        <p:txBody>
          <a:bodyPr/>
          <a:lstStyle/>
          <a:p>
            <a:endParaRPr lang="en-US" dirty="0"/>
          </a:p>
        </p:txBody>
      </p:sp>
      <p:sp>
        <p:nvSpPr>
          <p:cNvPr id="18" name="Content Placeholder 2">
            <a:extLst>
              <a:ext uri="{FF2B5EF4-FFF2-40B4-BE49-F238E27FC236}">
                <a16:creationId xmlns:a16="http://schemas.microsoft.com/office/drawing/2014/main" id="{5B47BB93-F99A-7109-8396-BB6AC4EC1AD1}"/>
              </a:ext>
            </a:extLst>
          </p:cNvPr>
          <p:cNvSpPr>
            <a:spLocks noGrp="1"/>
          </p:cNvSpPr>
          <p:nvPr>
            <p:ph idx="1"/>
          </p:nvPr>
        </p:nvSpPr>
        <p:spPr>
          <a:xfrm>
            <a:off x="5883515" y="2346325"/>
            <a:ext cx="5397629" cy="3178175"/>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ED5414B8-AF52-83E1-7CDB-47BDE5877B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2C92FFAD-E8D6-7BAD-44AA-3FCC1191272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677523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 Bullets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E7F10388-2644-4BA8-473A-44E06DFCABC1}"/>
              </a:ext>
            </a:extLst>
          </p:cNvPr>
          <p:cNvSpPr>
            <a:spLocks noGrp="1"/>
          </p:cNvSpPr>
          <p:nvPr>
            <p:ph idx="1"/>
          </p:nvPr>
        </p:nvSpPr>
        <p:spPr>
          <a:xfrm>
            <a:off x="5883515" y="2346325"/>
            <a:ext cx="5397629" cy="414655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Slide Number Placeholder 5">
            <a:extLst>
              <a:ext uri="{FF2B5EF4-FFF2-40B4-BE49-F238E27FC236}">
                <a16:creationId xmlns:a16="http://schemas.microsoft.com/office/drawing/2014/main" id="{98C049C0-7552-0F48-9188-024C24F2A9E3}"/>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9" name="Picture Placeholder 4">
            <a:extLst>
              <a:ext uri="{FF2B5EF4-FFF2-40B4-BE49-F238E27FC236}">
                <a16:creationId xmlns:a16="http://schemas.microsoft.com/office/drawing/2014/main" id="{DB21F27A-8A19-6AD5-0134-4D11D1CB3185}"/>
              </a:ext>
            </a:extLst>
          </p:cNvPr>
          <p:cNvSpPr>
            <a:spLocks noGrp="1"/>
          </p:cNvSpPr>
          <p:nvPr>
            <p:ph type="pic" sz="quarter" idx="10"/>
          </p:nvPr>
        </p:nvSpPr>
        <p:spPr>
          <a:xfrm>
            <a:off x="0" y="2346325"/>
            <a:ext cx="5670550" cy="4511675"/>
          </a:xfrm>
          <a:solidFill>
            <a:schemeClr val="accent4"/>
          </a:solidFill>
        </p:spPr>
        <p:txBody>
          <a:bodyPr/>
          <a:lstStyle/>
          <a:p>
            <a:endParaRPr lang="en-US" dirty="0"/>
          </a:p>
        </p:txBody>
      </p:sp>
      <p:sp>
        <p:nvSpPr>
          <p:cNvPr id="16" name="Content Placeholder 2">
            <a:extLst>
              <a:ext uri="{FF2B5EF4-FFF2-40B4-BE49-F238E27FC236}">
                <a16:creationId xmlns:a16="http://schemas.microsoft.com/office/drawing/2014/main" id="{36EA7EA7-BF43-E670-B282-9BFD78936CE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2" name="Slide Number Placeholder 5">
            <a:extLst>
              <a:ext uri="{FF2B5EF4-FFF2-40B4-BE49-F238E27FC236}">
                <a16:creationId xmlns:a16="http://schemas.microsoft.com/office/drawing/2014/main" id="{9D007173-AFB4-9AD5-B2A4-A1719ED8BE6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8709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4030256" y="2416372"/>
            <a:ext cx="6793688" cy="1624005"/>
          </a:xfrm>
        </p:spPr>
        <p:txBody>
          <a:bodyPr anchor="t" anchorCtr="0">
            <a:noAutofit/>
          </a:bodyPr>
          <a:lstStyle>
            <a:lvl1pPr algn="l">
              <a:lnSpc>
                <a:spcPct val="60000"/>
              </a:lnSpc>
              <a:defRPr sz="13000" b="1" i="0">
                <a:solidFill>
                  <a:schemeClr val="bg1"/>
                </a:solidFill>
                <a:latin typeface="Outfit SemiBold" pitchFamily="2" charset="0"/>
              </a:defRPr>
            </a:lvl1pPr>
          </a:lstStyle>
          <a:p>
            <a:r>
              <a:rPr lang="en-US" dirty="0"/>
              <a:t>Thank        </a:t>
            </a:r>
          </a:p>
        </p:txBody>
      </p:sp>
      <p:pic>
        <p:nvPicPr>
          <p:cNvPr id="9" name="Picture 8">
            <a:extLst>
              <a:ext uri="{FF2B5EF4-FFF2-40B4-BE49-F238E27FC236}">
                <a16:creationId xmlns:a16="http://schemas.microsoft.com/office/drawing/2014/main" id="{53480EDC-732B-3B90-A0BD-9F3FB34BDA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67800" y="2203480"/>
            <a:ext cx="1921953" cy="1921953"/>
          </a:xfrm>
          <a:prstGeom prst="rect">
            <a:avLst/>
          </a:prstGeom>
        </p:spPr>
      </p:pic>
      <p:sp>
        <p:nvSpPr>
          <p:cNvPr id="10" name="Content Placeholder 2">
            <a:extLst>
              <a:ext uri="{FF2B5EF4-FFF2-40B4-BE49-F238E27FC236}">
                <a16:creationId xmlns:a16="http://schemas.microsoft.com/office/drawing/2014/main" id="{35F8EBD3-094C-1237-3D91-07BF2B96448C}"/>
              </a:ext>
            </a:extLst>
          </p:cNvPr>
          <p:cNvSpPr>
            <a:spLocks noGrp="1"/>
          </p:cNvSpPr>
          <p:nvPr>
            <p:ph idx="1" hasCustomPrompt="1"/>
          </p:nvPr>
        </p:nvSpPr>
        <p:spPr>
          <a:xfrm>
            <a:off x="1967801" y="4830040"/>
            <a:ext cx="3624926" cy="1273048"/>
          </a:xfrm>
        </p:spPr>
        <p:txBody>
          <a:bodyPr tIns="0" numCol="1" spcCol="0">
            <a:noAutofit/>
          </a:bodyPr>
          <a:lstStyle>
            <a:lvl1pPr>
              <a:spcBef>
                <a:spcPts val="300"/>
              </a:spcBef>
              <a:spcAft>
                <a:spcPts val="300"/>
              </a:spcAft>
              <a:defRPr>
                <a:solidFill>
                  <a:schemeClr val="accent4"/>
                </a:solidFill>
              </a:defRPr>
            </a:lvl1pPr>
            <a:lvl2pPr>
              <a:spcBef>
                <a:spcPts val="300"/>
              </a:spcBef>
              <a:spcAft>
                <a:spcPts val="300"/>
              </a:spcAft>
              <a:defRPr>
                <a:solidFill>
                  <a:schemeClr val="accent4"/>
                </a:solidFill>
              </a:defRPr>
            </a:lvl2pPr>
            <a:lvl3pPr>
              <a:spcBef>
                <a:spcPts val="300"/>
              </a:spcBef>
              <a:spcAft>
                <a:spcPts val="300"/>
              </a:spcAft>
              <a:defRPr>
                <a:solidFill>
                  <a:schemeClr val="accent4"/>
                </a:solidFill>
              </a:defRPr>
            </a:lvl3pPr>
            <a:lvl4pPr>
              <a:spcBef>
                <a:spcPts val="300"/>
              </a:spcBef>
              <a:spcAft>
                <a:spcPts val="300"/>
              </a:spcAft>
              <a:defRPr>
                <a:solidFill>
                  <a:schemeClr val="accent4"/>
                </a:solidFill>
              </a:defRPr>
            </a:lvl4pPr>
            <a:lvl5pPr>
              <a:spcBef>
                <a:spcPts val="300"/>
              </a:spcBef>
              <a:spcAft>
                <a:spcPts val="300"/>
              </a:spcAft>
              <a:defRPr>
                <a:solidFill>
                  <a:schemeClr val="accent4"/>
                </a:solidFill>
              </a:defRPr>
            </a:lvl5pPr>
          </a:lstStyle>
          <a:p>
            <a:pPr lvl="0"/>
            <a:r>
              <a:rPr lang="en-US"/>
              <a:t>Contact Name</a:t>
            </a:r>
          </a:p>
          <a:p>
            <a:pPr lvl="0"/>
            <a:r>
              <a:rPr lang="en-US"/>
              <a:t>Email</a:t>
            </a:r>
          </a:p>
          <a:p>
            <a:pPr lvl="0"/>
            <a:r>
              <a:rPr lang="en-US"/>
              <a:t>Phone</a:t>
            </a:r>
          </a:p>
        </p:txBody>
      </p:sp>
      <p:sp>
        <p:nvSpPr>
          <p:cNvPr id="4" name="Slide Number Placeholder 5">
            <a:extLst>
              <a:ext uri="{FF2B5EF4-FFF2-40B4-BE49-F238E27FC236}">
                <a16:creationId xmlns:a16="http://schemas.microsoft.com/office/drawing/2014/main" id="{165412F6-6CFA-B25B-605C-0D1408B6D376}"/>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
        <p:nvSpPr>
          <p:cNvPr id="5" name="TextBox 4">
            <a:extLst>
              <a:ext uri="{FF2B5EF4-FFF2-40B4-BE49-F238E27FC236}">
                <a16:creationId xmlns:a16="http://schemas.microsoft.com/office/drawing/2014/main" id="{AF6EEB09-6D28-0349-00D3-ABC8EB2B59E2}"/>
              </a:ext>
            </a:extLst>
          </p:cNvPr>
          <p:cNvSpPr txBox="1"/>
          <p:nvPr userDrawn="1"/>
        </p:nvSpPr>
        <p:spPr>
          <a:xfrm>
            <a:off x="7408731" y="2896862"/>
            <a:ext cx="6094476" cy="2092881"/>
          </a:xfrm>
          <a:prstGeom prst="rect">
            <a:avLst/>
          </a:prstGeom>
          <a:noFill/>
        </p:spPr>
        <p:txBody>
          <a:bodyPr wrap="square">
            <a:spAutoFit/>
          </a:bodyPr>
          <a:lstStyle/>
          <a:p>
            <a:r>
              <a:rPr lang="en-US" sz="13000" i="1" dirty="0">
                <a:solidFill>
                  <a:schemeClr val="accent2"/>
                </a:solidFill>
                <a:latin typeface="DM Serif Display" pitchFamily="2" charset="0"/>
              </a:rPr>
              <a:t>you</a:t>
            </a:r>
          </a:p>
        </p:txBody>
      </p:sp>
      <p:pic>
        <p:nvPicPr>
          <p:cNvPr id="7" name="Picture 6">
            <a:extLst>
              <a:ext uri="{FF2B5EF4-FFF2-40B4-BE49-F238E27FC236}">
                <a16:creationId xmlns:a16="http://schemas.microsoft.com/office/drawing/2014/main" id="{15557FE9-F7F0-F7C7-38FF-831E9C340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2431274" y="1218128"/>
            <a:ext cx="2981692" cy="920896"/>
          </a:xfrm>
          <a:prstGeom prst="rect">
            <a:avLst/>
          </a:prstGeom>
        </p:spPr>
      </p:pic>
    </p:spTree>
    <p:extLst>
      <p:ext uri="{BB962C8B-B14F-4D97-AF65-F5344CB8AC3E}">
        <p14:creationId xmlns:p14="http://schemas.microsoft.com/office/powerpoint/2010/main" val="3112207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6085891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
        <p:nvSpPr>
          <p:cNvPr id="7" name="Slide Number Placeholder 5">
            <a:extLst>
              <a:ext uri="{FF2B5EF4-FFF2-40B4-BE49-F238E27FC236}">
                <a16:creationId xmlns:a16="http://schemas.microsoft.com/office/drawing/2014/main" id="{57D1E85A-45C3-46D5-6AB0-132D0C17E0B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95366147"/>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668" r:id="rId14"/>
    <p:sldLayoutId id="2147483669" r:id="rId15"/>
    <p:sldLayoutId id="2147483670" r:id="rId16"/>
    <p:sldLayoutId id="2147483686" r:id="rId17"/>
    <p:sldLayoutId id="2147483671" r:id="rId18"/>
    <p:sldLayoutId id="2147483689" r:id="rId19"/>
    <p:sldLayoutId id="2147483688" r:id="rId20"/>
    <p:sldLayoutId id="2147483674" r:id="rId21"/>
    <p:sldLayoutId id="2147483712" r:id="rId22"/>
    <p:sldLayoutId id="2147483710" r:id="rId23"/>
    <p:sldLayoutId id="2147483711" r:id="rId24"/>
    <p:sldLayoutId id="2147483687" r:id="rId25"/>
    <p:sldLayoutId id="2147483682" r:id="rId26"/>
    <p:sldLayoutId id="2147483715" r:id="rId27"/>
    <p:sldLayoutId id="2147483717" r:id="rId28"/>
    <p:sldLayoutId id="2147483713" r:id="rId29"/>
    <p:sldLayoutId id="2147483716" r:id="rId30"/>
    <p:sldLayoutId id="2147483718" r:id="rId31"/>
    <p:sldLayoutId id="2147483719" r:id="rId32"/>
    <p:sldLayoutId id="2147483695" r:id="rId33"/>
    <p:sldLayoutId id="2147483696" r:id="rId34"/>
    <p:sldLayoutId id="2147483694" r:id="rId35"/>
    <p:sldLayoutId id="2147483697" r:id="rId36"/>
    <p:sldLayoutId id="2147483681" r:id="rId37"/>
    <p:sldLayoutId id="2147483700" r:id="rId38"/>
    <p:sldLayoutId id="2147483684" r:id="rId39"/>
    <p:sldLayoutId id="2147483703" r:id="rId40"/>
    <p:sldLayoutId id="2147483706" r:id="rId41"/>
    <p:sldLayoutId id="2147483709" r:id="rId42"/>
    <p:sldLayoutId id="2147483847" r:id="rId4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F8ED0DA0-EE44-6A25-92A6-1464D7BF9C60}"/>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t="119" b="119"/>
          <a:stretch/>
        </p:blipFill>
        <p:spPr/>
      </p:pic>
      <p:sp>
        <p:nvSpPr>
          <p:cNvPr id="7" name="Title 6">
            <a:extLst>
              <a:ext uri="{FF2B5EF4-FFF2-40B4-BE49-F238E27FC236}">
                <a16:creationId xmlns:a16="http://schemas.microsoft.com/office/drawing/2014/main" id="{F061BD6C-4759-C293-5CA3-F972D28C1D81}"/>
              </a:ext>
            </a:extLst>
          </p:cNvPr>
          <p:cNvSpPr>
            <a:spLocks noGrp="1"/>
          </p:cNvSpPr>
          <p:nvPr>
            <p:ph type="ctrTitle"/>
          </p:nvPr>
        </p:nvSpPr>
        <p:spPr>
          <a:xfrm>
            <a:off x="1875918" y="2232137"/>
            <a:ext cx="6065445" cy="1552251"/>
          </a:xfrm>
        </p:spPr>
        <p:txBody>
          <a:bodyPr>
            <a:normAutofit fontScale="90000"/>
          </a:bodyPr>
          <a:lstStyle/>
          <a:p>
            <a:r>
              <a:rPr lang="en-US" sz="2700" dirty="0">
                <a:solidFill>
                  <a:schemeClr val="bg1"/>
                </a:solidFill>
              </a:rPr>
              <a:t>PRJ13797: JMUX Replacement Update</a:t>
            </a:r>
            <a:br>
              <a:rPr lang="en-US" sz="2700" dirty="0">
                <a:solidFill>
                  <a:schemeClr val="bg1"/>
                </a:solidFill>
              </a:rPr>
            </a:br>
            <a:r>
              <a:rPr lang="en-US" sz="2700" dirty="0">
                <a:solidFill>
                  <a:schemeClr val="bg1"/>
                </a:solidFill>
              </a:rPr>
              <a:t>Project Manager : Dhananjaya Gunaratne </a:t>
            </a:r>
            <a:br>
              <a:rPr lang="en-US" sz="2700" dirty="0">
                <a:solidFill>
                  <a:schemeClr val="bg1"/>
                </a:solidFill>
              </a:rPr>
            </a:br>
            <a:br>
              <a:rPr lang="en-US" dirty="0">
                <a:solidFill>
                  <a:schemeClr val="bg1"/>
                </a:solidFill>
              </a:rPr>
            </a:br>
            <a:endParaRPr lang="en-US" dirty="0">
              <a:solidFill>
                <a:schemeClr val="bg1"/>
              </a:solidFill>
            </a:endParaRPr>
          </a:p>
        </p:txBody>
      </p:sp>
      <p:sp>
        <p:nvSpPr>
          <p:cNvPr id="8" name="Subtitle 7">
            <a:extLst>
              <a:ext uri="{FF2B5EF4-FFF2-40B4-BE49-F238E27FC236}">
                <a16:creationId xmlns:a16="http://schemas.microsoft.com/office/drawing/2014/main" id="{EE993FB0-36D8-46A2-29A8-EE8A722FA73C}"/>
              </a:ext>
            </a:extLst>
          </p:cNvPr>
          <p:cNvSpPr>
            <a:spLocks noGrp="1"/>
          </p:cNvSpPr>
          <p:nvPr>
            <p:ph type="subTitle" idx="1"/>
          </p:nvPr>
        </p:nvSpPr>
        <p:spPr>
          <a:xfrm>
            <a:off x="1875919" y="4739601"/>
            <a:ext cx="6065445" cy="923779"/>
          </a:xfrm>
        </p:spPr>
        <p:txBody>
          <a:bodyPr/>
          <a:lstStyle/>
          <a:p>
            <a:br>
              <a:rPr lang="en-US" dirty="0">
                <a:solidFill>
                  <a:schemeClr val="bg1"/>
                </a:solidFill>
              </a:rPr>
            </a:br>
            <a:endParaRPr lang="en-US" sz="1200" dirty="0">
              <a:solidFill>
                <a:schemeClr val="bg1"/>
              </a:solidFill>
            </a:endParaRPr>
          </a:p>
        </p:txBody>
      </p:sp>
      <p:sp>
        <p:nvSpPr>
          <p:cNvPr id="5" name="Content Placeholder 2">
            <a:extLst>
              <a:ext uri="{FF2B5EF4-FFF2-40B4-BE49-F238E27FC236}">
                <a16:creationId xmlns:a16="http://schemas.microsoft.com/office/drawing/2014/main" id="{CB334AD1-9FAC-24C9-CD9B-3DC36EC1A1FB}"/>
              </a:ext>
            </a:extLst>
          </p:cNvPr>
          <p:cNvSpPr txBox="1">
            <a:spLocks/>
          </p:cNvSpPr>
          <p:nvPr/>
        </p:nvSpPr>
        <p:spPr>
          <a:xfrm>
            <a:off x="8891081" y="6264048"/>
            <a:ext cx="3095640" cy="278735"/>
          </a:xfrm>
          <a:prstGeom prst="rect">
            <a:avLst/>
          </a:prstGeom>
        </p:spPr>
        <p:txBody>
          <a:bodyPr numCol="1" spcCol="0">
            <a:noAutofit/>
          </a:bodyPr>
          <a:lstStyle>
            <a:lvl1pPr marL="0" indent="0" algn="r" defTabSz="914400" rtl="0" eaLnBrk="1" latinLnBrk="0" hangingPunct="1">
              <a:lnSpc>
                <a:spcPct val="120000"/>
              </a:lnSpc>
              <a:spcBef>
                <a:spcPts val="300"/>
              </a:spcBef>
              <a:spcAft>
                <a:spcPts val="300"/>
              </a:spcAft>
              <a:buFont typeface="Arial" panose="020B0604020202020204" pitchFamily="34" charset="0"/>
              <a:buNone/>
              <a:defRPr sz="1000" i="1" kern="1200">
                <a:solidFill>
                  <a:schemeClr val="accent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March 2026</a:t>
            </a:r>
          </a:p>
        </p:txBody>
      </p:sp>
      <p:pic>
        <p:nvPicPr>
          <p:cNvPr id="6" name="Picture 5">
            <a:extLst>
              <a:ext uri="{FF2B5EF4-FFF2-40B4-BE49-F238E27FC236}">
                <a16:creationId xmlns:a16="http://schemas.microsoft.com/office/drawing/2014/main" id="{5797CDCD-E6FC-9247-80E4-BBF1747843EF}"/>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358660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Goals &amp; Objectives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chemeClr val="bg1"/>
                </a:solidFill>
              </a:rPr>
              <a:t>JMUX Replacement: Private Field Area Network</a:t>
            </a:r>
          </a:p>
        </p:txBody>
      </p:sp>
      <p:sp>
        <p:nvSpPr>
          <p:cNvPr id="6" name="Rectangle 5"/>
          <p:cNvSpPr/>
          <p:nvPr/>
        </p:nvSpPr>
        <p:spPr>
          <a:xfrm>
            <a:off x="0" y="6743171"/>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0700" y="6274200"/>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30701" y="954233"/>
            <a:ext cx="11612880" cy="365760"/>
          </a:xfrm>
          <a:prstGeom prst="rect">
            <a:avLst/>
          </a:prstGeom>
          <a:solidFill>
            <a:srgbClr val="F2F2F2"/>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042415"/>
            <a:ext cx="11247120" cy="276999"/>
          </a:xfrm>
          <a:prstGeom prst="rect">
            <a:avLst/>
          </a:prstGeom>
          <a:noFill/>
        </p:spPr>
        <p:txBody>
          <a:bodyPr wrap="square">
            <a:spAutoFit/>
          </a:bodyPr>
          <a:lstStyle/>
          <a:p>
            <a:pPr algn="l"/>
            <a:r>
              <a:rPr sz="1200" b="0" i="1" dirty="0"/>
              <a:t>Modernize PSEG LI's substation communications by replacing legacy JMUX with MPLS nodes to deliver a reliable, scalable, and future-ready network.</a:t>
            </a:r>
          </a:p>
        </p:txBody>
      </p:sp>
      <p:sp>
        <p:nvSpPr>
          <p:cNvPr id="10" name="Rectangle 9"/>
          <p:cNvSpPr/>
          <p:nvPr/>
        </p:nvSpPr>
        <p:spPr>
          <a:xfrm>
            <a:off x="23070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0701" y="1435608"/>
            <a:ext cx="3566160" cy="365760"/>
          </a:xfrm>
          <a:prstGeom prst="rect">
            <a:avLst/>
          </a:prstGeom>
          <a:noFill/>
        </p:spPr>
        <p:txBody>
          <a:bodyPr wrap="square">
            <a:spAutoFit/>
          </a:bodyPr>
          <a:lstStyle/>
          <a:p>
            <a:pPr algn="l"/>
            <a:r>
              <a:rPr sz="1200" b="1" i="0">
                <a:solidFill>
                  <a:srgbClr val="FFFFFF"/>
                </a:solidFill>
              </a:rPr>
              <a:t>🔧  Engineering Services</a:t>
            </a:r>
          </a:p>
        </p:txBody>
      </p:sp>
      <p:sp>
        <p:nvSpPr>
          <p:cNvPr id="12" name="Rectangle 11"/>
          <p:cNvSpPr/>
          <p:nvPr/>
        </p:nvSpPr>
        <p:spPr>
          <a:xfrm>
            <a:off x="230701" y="1816501"/>
            <a:ext cx="3749039" cy="3200400"/>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429" y="1935374"/>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4" name="TextBox 13"/>
          <p:cNvSpPr txBox="1"/>
          <p:nvPr/>
        </p:nvSpPr>
        <p:spPr>
          <a:xfrm>
            <a:off x="596461" y="1880510"/>
            <a:ext cx="3291840" cy="365760"/>
          </a:xfrm>
          <a:prstGeom prst="rect">
            <a:avLst/>
          </a:prstGeom>
          <a:noFill/>
        </p:spPr>
        <p:txBody>
          <a:bodyPr wrap="square">
            <a:spAutoFit/>
          </a:bodyPr>
          <a:lstStyle/>
          <a:p>
            <a:pPr algn="l"/>
            <a:r>
              <a:rPr sz="1000" b="0" i="0" dirty="0">
                <a:solidFill>
                  <a:srgbClr val="404040"/>
                </a:solidFill>
              </a:rPr>
              <a:t>Detailed site surveys at all substations</a:t>
            </a:r>
          </a:p>
        </p:txBody>
      </p:sp>
      <p:sp>
        <p:nvSpPr>
          <p:cNvPr id="15" name="Rectangle 14"/>
          <p:cNvSpPr/>
          <p:nvPr/>
        </p:nvSpPr>
        <p:spPr>
          <a:xfrm>
            <a:off x="340429" y="2314850"/>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6" name="TextBox 15"/>
          <p:cNvSpPr txBox="1"/>
          <p:nvPr/>
        </p:nvSpPr>
        <p:spPr>
          <a:xfrm>
            <a:off x="596461" y="2259986"/>
            <a:ext cx="3291840" cy="365760"/>
          </a:xfrm>
          <a:prstGeom prst="rect">
            <a:avLst/>
          </a:prstGeom>
          <a:noFill/>
        </p:spPr>
        <p:txBody>
          <a:bodyPr wrap="square">
            <a:spAutoFit/>
          </a:bodyPr>
          <a:lstStyle/>
          <a:p>
            <a:pPr algn="l"/>
            <a:r>
              <a:rPr sz="1000" b="0" i="0">
                <a:solidFill>
                  <a:srgbClr val="404040"/>
                </a:solidFill>
              </a:rPr>
              <a:t>Rack elevations, power design &amp; supplemental docs</a:t>
            </a:r>
          </a:p>
        </p:txBody>
      </p:sp>
      <p:sp>
        <p:nvSpPr>
          <p:cNvPr id="17" name="Rectangle 16"/>
          <p:cNvSpPr/>
          <p:nvPr/>
        </p:nvSpPr>
        <p:spPr>
          <a:xfrm>
            <a:off x="340429" y="2694326"/>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9" name="Rectangle 18"/>
          <p:cNvSpPr/>
          <p:nvPr/>
        </p:nvSpPr>
        <p:spPr>
          <a:xfrm>
            <a:off x="340429" y="3073802"/>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20" name="TextBox 19"/>
          <p:cNvSpPr txBox="1"/>
          <p:nvPr/>
        </p:nvSpPr>
        <p:spPr>
          <a:xfrm>
            <a:off x="596434" y="2666531"/>
            <a:ext cx="3291840" cy="365760"/>
          </a:xfrm>
          <a:prstGeom prst="rect">
            <a:avLst/>
          </a:prstGeom>
          <a:noFill/>
        </p:spPr>
        <p:txBody>
          <a:bodyPr wrap="square">
            <a:spAutoFit/>
          </a:bodyPr>
          <a:lstStyle/>
          <a:p>
            <a:pPr algn="l"/>
            <a:r>
              <a:rPr sz="1000" b="0" i="0" dirty="0">
                <a:solidFill>
                  <a:srgbClr val="404040"/>
                </a:solidFill>
              </a:rPr>
              <a:t>All substations aligned to PSEG LI standards</a:t>
            </a:r>
          </a:p>
        </p:txBody>
      </p:sp>
      <p:sp>
        <p:nvSpPr>
          <p:cNvPr id="24" name="TextBox 23"/>
          <p:cNvSpPr txBox="1"/>
          <p:nvPr/>
        </p:nvSpPr>
        <p:spPr>
          <a:xfrm>
            <a:off x="596448" y="3063240"/>
            <a:ext cx="3291840" cy="365760"/>
          </a:xfrm>
          <a:prstGeom prst="rect">
            <a:avLst/>
          </a:prstGeom>
          <a:noFill/>
        </p:spPr>
        <p:txBody>
          <a:bodyPr wrap="square">
            <a:spAutoFit/>
          </a:bodyPr>
          <a:lstStyle/>
          <a:p>
            <a:pPr algn="l"/>
            <a:r>
              <a:rPr sz="1000" b="0" i="0" dirty="0">
                <a:solidFill>
                  <a:srgbClr val="404040"/>
                </a:solidFill>
              </a:rPr>
              <a:t>Phase 2 surveys: Completed during Phase 1</a:t>
            </a:r>
          </a:p>
        </p:txBody>
      </p:sp>
      <p:sp>
        <p:nvSpPr>
          <p:cNvPr id="26" name="TextBox 25"/>
          <p:cNvSpPr txBox="1"/>
          <p:nvPr/>
        </p:nvSpPr>
        <p:spPr>
          <a:xfrm>
            <a:off x="596448" y="3442716"/>
            <a:ext cx="3291840" cy="365760"/>
          </a:xfrm>
          <a:prstGeom prst="rect">
            <a:avLst/>
          </a:prstGeom>
          <a:noFill/>
        </p:spPr>
        <p:txBody>
          <a:bodyPr wrap="square">
            <a:spAutoFit/>
          </a:bodyPr>
          <a:lstStyle/>
          <a:p>
            <a:pPr algn="l"/>
            <a:r>
              <a:rPr sz="1000" b="0" i="0">
                <a:solidFill>
                  <a:srgbClr val="404040"/>
                </a:solidFill>
              </a:rPr>
              <a:t>Phase 2 IFRs: Being issued by BMcD</a:t>
            </a:r>
          </a:p>
        </p:txBody>
      </p:sp>
      <p:sp>
        <p:nvSpPr>
          <p:cNvPr id="28" name="TextBox 27"/>
          <p:cNvSpPr txBox="1"/>
          <p:nvPr/>
        </p:nvSpPr>
        <p:spPr>
          <a:xfrm>
            <a:off x="596434" y="3789761"/>
            <a:ext cx="3291840" cy="365760"/>
          </a:xfrm>
          <a:prstGeom prst="rect">
            <a:avLst/>
          </a:prstGeom>
          <a:noFill/>
        </p:spPr>
        <p:txBody>
          <a:bodyPr wrap="square">
            <a:spAutoFit/>
          </a:bodyPr>
          <a:lstStyle/>
          <a:p>
            <a:pPr algn="l"/>
            <a:r>
              <a:rPr sz="1000" b="0" i="0">
                <a:solidFill>
                  <a:srgbClr val="404040"/>
                </a:solidFill>
              </a:rPr>
              <a:t>Phase 2 IFCs: In progress</a:t>
            </a:r>
          </a:p>
        </p:txBody>
      </p:sp>
      <p:sp>
        <p:nvSpPr>
          <p:cNvPr id="29" name="Rectangle 28"/>
          <p:cNvSpPr/>
          <p:nvPr/>
        </p:nvSpPr>
        <p:spPr>
          <a:xfrm>
            <a:off x="416262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4060" y="1405022"/>
            <a:ext cx="3566160" cy="365760"/>
          </a:xfrm>
          <a:prstGeom prst="rect">
            <a:avLst/>
          </a:prstGeom>
          <a:noFill/>
        </p:spPr>
        <p:txBody>
          <a:bodyPr wrap="square">
            <a:spAutoFit/>
          </a:bodyPr>
          <a:lstStyle/>
          <a:p>
            <a:pPr algn="l"/>
            <a:r>
              <a:rPr sz="1200" b="1" i="0" dirty="0">
                <a:solidFill>
                  <a:srgbClr val="FFFFFF"/>
                </a:solidFill>
              </a:rPr>
              <a:t>📦  Procurement &amp; Staging</a:t>
            </a:r>
          </a:p>
        </p:txBody>
      </p:sp>
      <p:sp>
        <p:nvSpPr>
          <p:cNvPr id="31" name="Rectangle 30"/>
          <p:cNvSpPr/>
          <p:nvPr/>
        </p:nvSpPr>
        <p:spPr>
          <a:xfrm>
            <a:off x="4154611" y="1825593"/>
            <a:ext cx="3749039" cy="3200400"/>
          </a:xfrm>
          <a:prstGeom prst="rect">
            <a:avLst/>
          </a:prstGeom>
          <a:solidFill>
            <a:schemeClr val="bg1"/>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Wingdings" panose="05000000000000000000" pitchFamily="2" charset="2"/>
              <a:buChar char="q"/>
            </a:pPr>
            <a:endParaRPr dirty="0"/>
          </a:p>
        </p:txBody>
      </p:sp>
      <p:sp>
        <p:nvSpPr>
          <p:cNvPr id="32" name="Rectangle 31"/>
          <p:cNvSpPr/>
          <p:nvPr/>
        </p:nvSpPr>
        <p:spPr>
          <a:xfrm>
            <a:off x="4272349" y="1935374"/>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3" name="TextBox 32"/>
          <p:cNvSpPr txBox="1"/>
          <p:nvPr/>
        </p:nvSpPr>
        <p:spPr>
          <a:xfrm>
            <a:off x="4528381" y="1880510"/>
            <a:ext cx="3291840" cy="365760"/>
          </a:xfrm>
          <a:prstGeom prst="rect">
            <a:avLst/>
          </a:prstGeom>
          <a:noFill/>
        </p:spPr>
        <p:txBody>
          <a:bodyPr wrap="square">
            <a:spAutoFit/>
          </a:bodyPr>
          <a:lstStyle/>
          <a:p>
            <a:pPr algn="l"/>
            <a:r>
              <a:rPr sz="1000" b="0" i="0">
                <a:solidFill>
                  <a:srgbClr val="404040"/>
                </a:solidFill>
              </a:rPr>
              <a:t>All Phase 1 equipment purchased by PSEG LI</a:t>
            </a:r>
          </a:p>
        </p:txBody>
      </p:sp>
      <p:sp>
        <p:nvSpPr>
          <p:cNvPr id="34" name="Rectangle 33"/>
          <p:cNvSpPr/>
          <p:nvPr/>
        </p:nvSpPr>
        <p:spPr>
          <a:xfrm>
            <a:off x="4272349" y="2314850"/>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6" name="Rectangle 35"/>
          <p:cNvSpPr/>
          <p:nvPr/>
        </p:nvSpPr>
        <p:spPr>
          <a:xfrm>
            <a:off x="4272349" y="2694326"/>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7" name="TextBox 36"/>
          <p:cNvSpPr txBox="1"/>
          <p:nvPr/>
        </p:nvSpPr>
        <p:spPr>
          <a:xfrm>
            <a:off x="4546669" y="2279246"/>
            <a:ext cx="3291840" cy="365760"/>
          </a:xfrm>
          <a:prstGeom prst="rect">
            <a:avLst/>
          </a:prstGeom>
          <a:noFill/>
        </p:spPr>
        <p:txBody>
          <a:bodyPr wrap="square">
            <a:spAutoFit/>
          </a:bodyPr>
          <a:lstStyle/>
          <a:p>
            <a:pPr algn="l"/>
            <a:r>
              <a:rPr sz="1000" b="0" i="0" dirty="0">
                <a:solidFill>
                  <a:srgbClr val="404040"/>
                </a:solidFill>
              </a:rPr>
              <a:t>Phase 1 staging completed: Sept 29, 2025</a:t>
            </a:r>
          </a:p>
        </p:txBody>
      </p:sp>
      <p:sp>
        <p:nvSpPr>
          <p:cNvPr id="38" name="Rectangle 37"/>
          <p:cNvSpPr/>
          <p:nvPr/>
        </p:nvSpPr>
        <p:spPr>
          <a:xfrm>
            <a:off x="4272349" y="3073802"/>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9" name="TextBox 38"/>
          <p:cNvSpPr txBox="1"/>
          <p:nvPr/>
        </p:nvSpPr>
        <p:spPr>
          <a:xfrm>
            <a:off x="4546669" y="2658722"/>
            <a:ext cx="3291840" cy="365760"/>
          </a:xfrm>
          <a:prstGeom prst="rect">
            <a:avLst/>
          </a:prstGeom>
          <a:noFill/>
        </p:spPr>
        <p:txBody>
          <a:bodyPr wrap="square">
            <a:spAutoFit/>
          </a:bodyPr>
          <a:lstStyle/>
          <a:p>
            <a:pPr algn="l"/>
            <a:r>
              <a:rPr sz="1000" b="0" i="0" dirty="0">
                <a:solidFill>
                  <a:srgbClr val="404040"/>
                </a:solidFill>
              </a:rPr>
              <a:t>Nokia Phase 2 equipment delivered: Feb 19, 2026</a:t>
            </a:r>
          </a:p>
        </p:txBody>
      </p:sp>
      <p:sp>
        <p:nvSpPr>
          <p:cNvPr id="41" name="TextBox 40"/>
          <p:cNvSpPr txBox="1"/>
          <p:nvPr/>
        </p:nvSpPr>
        <p:spPr>
          <a:xfrm>
            <a:off x="4546669" y="3038198"/>
            <a:ext cx="3291840" cy="365760"/>
          </a:xfrm>
          <a:prstGeom prst="rect">
            <a:avLst/>
          </a:prstGeom>
          <a:noFill/>
        </p:spPr>
        <p:txBody>
          <a:bodyPr wrap="square">
            <a:spAutoFit/>
          </a:bodyPr>
          <a:lstStyle/>
          <a:p>
            <a:pPr algn="l"/>
            <a:r>
              <a:rPr sz="1000" b="0" i="0" dirty="0">
                <a:solidFill>
                  <a:srgbClr val="404040"/>
                </a:solidFill>
              </a:rPr>
              <a:t>Equipment safely stored at Hawkeye warehouse</a:t>
            </a:r>
          </a:p>
        </p:txBody>
      </p:sp>
      <p:sp>
        <p:nvSpPr>
          <p:cNvPr id="42" name="Rectangle 41"/>
          <p:cNvSpPr/>
          <p:nvPr/>
        </p:nvSpPr>
        <p:spPr>
          <a:xfrm>
            <a:off x="809454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85981" y="1369705"/>
            <a:ext cx="3665590" cy="276999"/>
          </a:xfrm>
          <a:prstGeom prst="rect">
            <a:avLst/>
          </a:prstGeom>
          <a:noFill/>
        </p:spPr>
        <p:txBody>
          <a:bodyPr wrap="square">
            <a:spAutoFit/>
          </a:bodyPr>
          <a:lstStyle/>
          <a:p>
            <a:pPr algn="l"/>
            <a:r>
              <a:rPr sz="1200" b="1" i="0">
                <a:solidFill>
                  <a:srgbClr val="FFFFFF"/>
                </a:solidFill>
              </a:rPr>
              <a:t>🏗  Construction &amp; Installation</a:t>
            </a:r>
          </a:p>
        </p:txBody>
      </p:sp>
      <p:sp>
        <p:nvSpPr>
          <p:cNvPr id="44" name="Rectangle 43"/>
          <p:cNvSpPr/>
          <p:nvPr/>
        </p:nvSpPr>
        <p:spPr>
          <a:xfrm>
            <a:off x="8102532" y="1830216"/>
            <a:ext cx="3749039" cy="3200400"/>
          </a:xfrm>
          <a:prstGeom prst="rect">
            <a:avLst/>
          </a:prstGeom>
          <a:solidFill>
            <a:srgbClr val="FFFFFF"/>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Rectangle 44"/>
          <p:cNvSpPr/>
          <p:nvPr/>
        </p:nvSpPr>
        <p:spPr>
          <a:xfrm>
            <a:off x="8204269" y="193537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6" name="TextBox 45"/>
          <p:cNvSpPr txBox="1"/>
          <p:nvPr/>
        </p:nvSpPr>
        <p:spPr>
          <a:xfrm>
            <a:off x="8460301" y="1880510"/>
            <a:ext cx="3291840" cy="365760"/>
          </a:xfrm>
          <a:prstGeom prst="rect">
            <a:avLst/>
          </a:prstGeom>
          <a:noFill/>
        </p:spPr>
        <p:txBody>
          <a:bodyPr wrap="square">
            <a:spAutoFit/>
          </a:bodyPr>
          <a:lstStyle/>
          <a:p>
            <a:pPr algn="l"/>
            <a:r>
              <a:rPr sz="1000" b="0" i="0">
                <a:solidFill>
                  <a:srgbClr val="404040"/>
                </a:solidFill>
              </a:rPr>
              <a:t>BMcD on-site coordination throughout Phase 1</a:t>
            </a:r>
          </a:p>
        </p:txBody>
      </p:sp>
      <p:sp>
        <p:nvSpPr>
          <p:cNvPr id="47" name="Rectangle 46"/>
          <p:cNvSpPr/>
          <p:nvPr/>
        </p:nvSpPr>
        <p:spPr>
          <a:xfrm>
            <a:off x="8204269" y="231485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9" name="Rectangle 48"/>
          <p:cNvSpPr/>
          <p:nvPr/>
        </p:nvSpPr>
        <p:spPr>
          <a:xfrm>
            <a:off x="8204269" y="269432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0" name="TextBox 49"/>
          <p:cNvSpPr txBox="1"/>
          <p:nvPr/>
        </p:nvSpPr>
        <p:spPr>
          <a:xfrm>
            <a:off x="8460301" y="2264558"/>
            <a:ext cx="3291840" cy="365760"/>
          </a:xfrm>
          <a:prstGeom prst="rect">
            <a:avLst/>
          </a:prstGeom>
          <a:noFill/>
        </p:spPr>
        <p:txBody>
          <a:bodyPr wrap="square">
            <a:spAutoFit/>
          </a:bodyPr>
          <a:lstStyle/>
          <a:p>
            <a:pPr algn="l"/>
            <a:r>
              <a:rPr sz="1000" b="0" i="0">
                <a:solidFill>
                  <a:srgbClr val="404040"/>
                </a:solidFill>
              </a:rPr>
              <a:t>31/31 Phase 1 sites installed &amp; commissioned</a:t>
            </a:r>
          </a:p>
        </p:txBody>
      </p:sp>
      <p:sp>
        <p:nvSpPr>
          <p:cNvPr id="52" name="TextBox 51"/>
          <p:cNvSpPr txBox="1"/>
          <p:nvPr/>
        </p:nvSpPr>
        <p:spPr>
          <a:xfrm>
            <a:off x="8460301" y="2644034"/>
            <a:ext cx="3291840" cy="365760"/>
          </a:xfrm>
          <a:prstGeom prst="rect">
            <a:avLst/>
          </a:prstGeom>
          <a:noFill/>
        </p:spPr>
        <p:txBody>
          <a:bodyPr wrap="square">
            <a:spAutoFit/>
          </a:bodyPr>
          <a:lstStyle/>
          <a:p>
            <a:pPr algn="l"/>
            <a:r>
              <a:rPr sz="1000" b="0" i="0">
                <a:solidFill>
                  <a:srgbClr val="404040"/>
                </a:solidFill>
              </a:rPr>
              <a:t>SSP documentation: Submitted &amp; approved</a:t>
            </a:r>
          </a:p>
        </p:txBody>
      </p:sp>
      <p:sp>
        <p:nvSpPr>
          <p:cNvPr id="54" name="TextBox 53"/>
          <p:cNvSpPr txBox="1"/>
          <p:nvPr/>
        </p:nvSpPr>
        <p:spPr>
          <a:xfrm>
            <a:off x="8506021" y="3508140"/>
            <a:ext cx="3291840" cy="365760"/>
          </a:xfrm>
          <a:prstGeom prst="rect">
            <a:avLst/>
          </a:prstGeom>
          <a:noFill/>
        </p:spPr>
        <p:txBody>
          <a:bodyPr wrap="square">
            <a:spAutoFit/>
          </a:bodyPr>
          <a:lstStyle/>
          <a:p>
            <a:pPr algn="l"/>
            <a:r>
              <a:rPr sz="1000" b="0" i="0" dirty="0">
                <a:solidFill>
                  <a:srgbClr val="404040"/>
                </a:solidFill>
              </a:rPr>
              <a:t>Remote connectivity to nodes: In progress</a:t>
            </a:r>
          </a:p>
        </p:txBody>
      </p:sp>
      <p:sp>
        <p:nvSpPr>
          <p:cNvPr id="55" name="Rectangle 54"/>
          <p:cNvSpPr/>
          <p:nvPr/>
        </p:nvSpPr>
        <p:spPr>
          <a:xfrm>
            <a:off x="8222557" y="31084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p:cNvSpPr/>
          <p:nvPr/>
        </p:nvSpPr>
        <p:spPr>
          <a:xfrm>
            <a:off x="230700" y="5067192"/>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84981" y="5085533"/>
            <a:ext cx="3657600" cy="230832"/>
          </a:xfrm>
          <a:prstGeom prst="rect">
            <a:avLst/>
          </a:prstGeom>
          <a:noFill/>
        </p:spPr>
        <p:txBody>
          <a:bodyPr wrap="square">
            <a:spAutoFit/>
          </a:bodyPr>
          <a:lstStyle/>
          <a:p>
            <a:pPr algn="l"/>
            <a:r>
              <a:rPr sz="900" b="1" i="0" dirty="0">
                <a:solidFill>
                  <a:srgbClr val="FFFFFF"/>
                </a:solidFill>
              </a:rPr>
              <a:t>PROGRAM SCOPE SUMMARY</a:t>
            </a:r>
          </a:p>
        </p:txBody>
      </p:sp>
      <p:sp>
        <p:nvSpPr>
          <p:cNvPr id="60" name="TextBox 59"/>
          <p:cNvSpPr txBox="1"/>
          <p:nvPr/>
        </p:nvSpPr>
        <p:spPr>
          <a:xfrm>
            <a:off x="1785181" y="5094624"/>
            <a:ext cx="2011680" cy="274320"/>
          </a:xfrm>
          <a:prstGeom prst="rect">
            <a:avLst/>
          </a:prstGeom>
          <a:noFill/>
        </p:spPr>
        <p:txBody>
          <a:bodyPr wrap="square">
            <a:spAutoFit/>
          </a:bodyPr>
          <a:lstStyle/>
          <a:p>
            <a:pPr algn="ctr"/>
            <a:r>
              <a:rPr sz="900" b="1" i="0" dirty="0">
                <a:solidFill>
                  <a:srgbClr val="FFFFFF"/>
                </a:solidFill>
              </a:rPr>
              <a:t>Total Substations</a:t>
            </a:r>
          </a:p>
        </p:txBody>
      </p:sp>
      <p:sp>
        <p:nvSpPr>
          <p:cNvPr id="61" name="TextBox 60"/>
          <p:cNvSpPr txBox="1"/>
          <p:nvPr/>
        </p:nvSpPr>
        <p:spPr>
          <a:xfrm>
            <a:off x="3659700" y="5094624"/>
            <a:ext cx="1737360" cy="274320"/>
          </a:xfrm>
          <a:prstGeom prst="rect">
            <a:avLst/>
          </a:prstGeom>
          <a:noFill/>
        </p:spPr>
        <p:txBody>
          <a:bodyPr wrap="square">
            <a:spAutoFit/>
          </a:bodyPr>
          <a:lstStyle/>
          <a:p>
            <a:pPr algn="ctr"/>
            <a:r>
              <a:rPr sz="900" b="1" i="0">
                <a:solidFill>
                  <a:srgbClr val="FFFFFF"/>
                </a:solidFill>
              </a:rPr>
              <a:t>MPLS Sites</a:t>
            </a:r>
          </a:p>
        </p:txBody>
      </p:sp>
      <p:sp>
        <p:nvSpPr>
          <p:cNvPr id="62" name="TextBox 61"/>
          <p:cNvSpPr txBox="1"/>
          <p:nvPr/>
        </p:nvSpPr>
        <p:spPr>
          <a:xfrm>
            <a:off x="5397060" y="5094624"/>
            <a:ext cx="1737360" cy="274320"/>
          </a:xfrm>
          <a:prstGeom prst="rect">
            <a:avLst/>
          </a:prstGeom>
          <a:noFill/>
        </p:spPr>
        <p:txBody>
          <a:bodyPr wrap="square">
            <a:spAutoFit/>
          </a:bodyPr>
          <a:lstStyle/>
          <a:p>
            <a:pPr algn="ctr"/>
            <a:r>
              <a:rPr sz="900" b="1" i="0">
                <a:solidFill>
                  <a:srgbClr val="FFFFFF"/>
                </a:solidFill>
              </a:rPr>
              <a:t>DF RTU Sites</a:t>
            </a:r>
          </a:p>
        </p:txBody>
      </p:sp>
      <p:sp>
        <p:nvSpPr>
          <p:cNvPr id="63" name="TextBox 62"/>
          <p:cNvSpPr txBox="1"/>
          <p:nvPr/>
        </p:nvSpPr>
        <p:spPr>
          <a:xfrm>
            <a:off x="7134420" y="5094624"/>
            <a:ext cx="2103120" cy="274320"/>
          </a:xfrm>
          <a:prstGeom prst="rect">
            <a:avLst/>
          </a:prstGeom>
          <a:noFill/>
        </p:spPr>
        <p:txBody>
          <a:bodyPr wrap="square">
            <a:spAutoFit/>
          </a:bodyPr>
          <a:lstStyle/>
          <a:p>
            <a:pPr algn="ctr"/>
            <a:r>
              <a:rPr sz="900" b="1" i="0">
                <a:solidFill>
                  <a:srgbClr val="FFFFFF"/>
                </a:solidFill>
              </a:rPr>
              <a:t>Radio Shelter Sites</a:t>
            </a:r>
          </a:p>
        </p:txBody>
      </p:sp>
      <p:sp>
        <p:nvSpPr>
          <p:cNvPr id="64" name="TextBox 63"/>
          <p:cNvSpPr txBox="1"/>
          <p:nvPr/>
        </p:nvSpPr>
        <p:spPr>
          <a:xfrm>
            <a:off x="9237540" y="5094624"/>
            <a:ext cx="2194560" cy="274320"/>
          </a:xfrm>
          <a:prstGeom prst="rect">
            <a:avLst/>
          </a:prstGeom>
          <a:noFill/>
        </p:spPr>
        <p:txBody>
          <a:bodyPr wrap="square">
            <a:spAutoFit/>
          </a:bodyPr>
          <a:lstStyle/>
          <a:p>
            <a:pPr algn="ctr"/>
            <a:r>
              <a:rPr sz="900" b="1" i="0" dirty="0">
                <a:solidFill>
                  <a:srgbClr val="FFFFFF"/>
                </a:solidFill>
              </a:rPr>
              <a:t>Nokia MPLS Nodes</a:t>
            </a:r>
          </a:p>
        </p:txBody>
      </p:sp>
      <p:sp>
        <p:nvSpPr>
          <p:cNvPr id="65" name="Rectangle 64"/>
          <p:cNvSpPr/>
          <p:nvPr/>
        </p:nvSpPr>
        <p:spPr>
          <a:xfrm>
            <a:off x="230700" y="545124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00" y="5486836"/>
            <a:ext cx="1371600" cy="246221"/>
          </a:xfrm>
          <a:prstGeom prst="rect">
            <a:avLst/>
          </a:prstGeom>
          <a:noFill/>
        </p:spPr>
        <p:txBody>
          <a:bodyPr wrap="square">
            <a:spAutoFit/>
          </a:bodyPr>
          <a:lstStyle/>
          <a:p>
            <a:pPr algn="ctr"/>
            <a:r>
              <a:rPr lang="en-US" sz="1000" dirty="0">
                <a:solidFill>
                  <a:srgbClr val="008000"/>
                </a:solidFill>
              </a:rPr>
              <a:t>✅        </a:t>
            </a:r>
            <a:r>
              <a:rPr lang="en-US" sz="1000" dirty="0"/>
              <a:t>Phase 1</a:t>
            </a:r>
            <a:endParaRPr sz="1000" b="0" i="0" dirty="0"/>
          </a:p>
        </p:txBody>
      </p:sp>
      <p:sp>
        <p:nvSpPr>
          <p:cNvPr id="67" name="TextBox 66"/>
          <p:cNvSpPr txBox="1"/>
          <p:nvPr/>
        </p:nvSpPr>
        <p:spPr>
          <a:xfrm>
            <a:off x="1648020" y="5487816"/>
            <a:ext cx="2011680" cy="237744"/>
          </a:xfrm>
          <a:prstGeom prst="rect">
            <a:avLst/>
          </a:prstGeom>
          <a:noFill/>
        </p:spPr>
        <p:txBody>
          <a:bodyPr wrap="square">
            <a:spAutoFit/>
          </a:bodyPr>
          <a:lstStyle/>
          <a:p>
            <a:pPr algn="ctr"/>
            <a:r>
              <a:rPr sz="1000" b="0" i="0" dirty="0">
                <a:solidFill>
                  <a:srgbClr val="404040"/>
                </a:solidFill>
              </a:rPr>
              <a:t>49</a:t>
            </a:r>
          </a:p>
        </p:txBody>
      </p:sp>
      <p:sp>
        <p:nvSpPr>
          <p:cNvPr id="68" name="TextBox 67"/>
          <p:cNvSpPr txBox="1"/>
          <p:nvPr/>
        </p:nvSpPr>
        <p:spPr>
          <a:xfrm>
            <a:off x="3659700" y="5487816"/>
            <a:ext cx="1737360" cy="237744"/>
          </a:xfrm>
          <a:prstGeom prst="rect">
            <a:avLst/>
          </a:prstGeom>
          <a:noFill/>
        </p:spPr>
        <p:txBody>
          <a:bodyPr wrap="square">
            <a:spAutoFit/>
          </a:bodyPr>
          <a:lstStyle/>
          <a:p>
            <a:pPr algn="ctr"/>
            <a:r>
              <a:rPr sz="1000" b="0" i="0">
                <a:solidFill>
                  <a:srgbClr val="404040"/>
                </a:solidFill>
              </a:rPr>
              <a:t>26</a:t>
            </a:r>
          </a:p>
        </p:txBody>
      </p:sp>
      <p:sp>
        <p:nvSpPr>
          <p:cNvPr id="69" name="TextBox 68"/>
          <p:cNvSpPr txBox="1"/>
          <p:nvPr/>
        </p:nvSpPr>
        <p:spPr>
          <a:xfrm>
            <a:off x="5397060" y="5487816"/>
            <a:ext cx="1737360" cy="237744"/>
          </a:xfrm>
          <a:prstGeom prst="rect">
            <a:avLst/>
          </a:prstGeom>
          <a:noFill/>
        </p:spPr>
        <p:txBody>
          <a:bodyPr wrap="square">
            <a:spAutoFit/>
          </a:bodyPr>
          <a:lstStyle/>
          <a:p>
            <a:pPr algn="ctr"/>
            <a:r>
              <a:rPr sz="1000" b="0" i="0">
                <a:solidFill>
                  <a:srgbClr val="404040"/>
                </a:solidFill>
              </a:rPr>
              <a:t>17</a:t>
            </a:r>
          </a:p>
        </p:txBody>
      </p:sp>
      <p:sp>
        <p:nvSpPr>
          <p:cNvPr id="70" name="TextBox 69"/>
          <p:cNvSpPr txBox="1"/>
          <p:nvPr/>
        </p:nvSpPr>
        <p:spPr>
          <a:xfrm>
            <a:off x="7134420" y="5487816"/>
            <a:ext cx="2103120" cy="237744"/>
          </a:xfrm>
          <a:prstGeom prst="rect">
            <a:avLst/>
          </a:prstGeom>
          <a:noFill/>
        </p:spPr>
        <p:txBody>
          <a:bodyPr wrap="square">
            <a:spAutoFit/>
          </a:bodyPr>
          <a:lstStyle/>
          <a:p>
            <a:pPr algn="ctr"/>
            <a:r>
              <a:rPr sz="1000" b="0" i="0">
                <a:solidFill>
                  <a:srgbClr val="404040"/>
                </a:solidFill>
              </a:rPr>
              <a:t>6</a:t>
            </a:r>
          </a:p>
        </p:txBody>
      </p:sp>
      <p:sp>
        <p:nvSpPr>
          <p:cNvPr id="71" name="TextBox 70"/>
          <p:cNvSpPr txBox="1"/>
          <p:nvPr/>
        </p:nvSpPr>
        <p:spPr>
          <a:xfrm>
            <a:off x="9237540" y="5487816"/>
            <a:ext cx="2194560" cy="237744"/>
          </a:xfrm>
          <a:prstGeom prst="rect">
            <a:avLst/>
          </a:prstGeom>
          <a:noFill/>
        </p:spPr>
        <p:txBody>
          <a:bodyPr wrap="square">
            <a:spAutoFit/>
          </a:bodyPr>
          <a:lstStyle/>
          <a:p>
            <a:pPr algn="ctr"/>
            <a:r>
              <a:rPr sz="1000" b="0" i="0">
                <a:solidFill>
                  <a:srgbClr val="404040"/>
                </a:solidFill>
              </a:rPr>
              <a:t>31</a:t>
            </a:r>
          </a:p>
        </p:txBody>
      </p:sp>
      <p:sp>
        <p:nvSpPr>
          <p:cNvPr id="72" name="Rectangle 71"/>
          <p:cNvSpPr/>
          <p:nvPr/>
        </p:nvSpPr>
        <p:spPr>
          <a:xfrm>
            <a:off x="230700" y="5771280"/>
            <a:ext cx="1161288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4320" y="5843016"/>
            <a:ext cx="1371600" cy="237744"/>
          </a:xfrm>
          <a:prstGeom prst="rect">
            <a:avLst/>
          </a:prstGeom>
          <a:noFill/>
        </p:spPr>
        <p:txBody>
          <a:bodyPr wrap="square">
            <a:spAutoFit/>
          </a:bodyPr>
          <a:lstStyle/>
          <a:p>
            <a:pPr algn="ctr"/>
            <a:r>
              <a:rPr sz="1000" b="0" i="0">
                <a:solidFill>
                  <a:srgbClr val="404040"/>
                </a:solidFill>
              </a:rPr>
              <a:t>Phase 2</a:t>
            </a:r>
          </a:p>
        </p:txBody>
      </p:sp>
      <p:sp>
        <p:nvSpPr>
          <p:cNvPr id="74" name="TextBox 73"/>
          <p:cNvSpPr txBox="1"/>
          <p:nvPr/>
        </p:nvSpPr>
        <p:spPr>
          <a:xfrm>
            <a:off x="1648020" y="5807856"/>
            <a:ext cx="2011680" cy="237744"/>
          </a:xfrm>
          <a:prstGeom prst="rect">
            <a:avLst/>
          </a:prstGeom>
          <a:noFill/>
        </p:spPr>
        <p:txBody>
          <a:bodyPr wrap="square">
            <a:spAutoFit/>
          </a:bodyPr>
          <a:lstStyle/>
          <a:p>
            <a:pPr algn="ctr"/>
            <a:r>
              <a:rPr sz="1000" b="0" i="0">
                <a:solidFill>
                  <a:srgbClr val="404040"/>
                </a:solidFill>
              </a:rPr>
              <a:t>45</a:t>
            </a:r>
          </a:p>
        </p:txBody>
      </p:sp>
      <p:sp>
        <p:nvSpPr>
          <p:cNvPr id="75" name="TextBox 74"/>
          <p:cNvSpPr txBox="1"/>
          <p:nvPr/>
        </p:nvSpPr>
        <p:spPr>
          <a:xfrm>
            <a:off x="3659700" y="5807856"/>
            <a:ext cx="1737360" cy="237744"/>
          </a:xfrm>
          <a:prstGeom prst="rect">
            <a:avLst/>
          </a:prstGeom>
          <a:noFill/>
        </p:spPr>
        <p:txBody>
          <a:bodyPr wrap="square">
            <a:spAutoFit/>
          </a:bodyPr>
          <a:lstStyle/>
          <a:p>
            <a:pPr algn="ctr"/>
            <a:r>
              <a:rPr sz="1000" b="0" i="0">
                <a:solidFill>
                  <a:srgbClr val="404040"/>
                </a:solidFill>
              </a:rPr>
              <a:t>26</a:t>
            </a:r>
          </a:p>
        </p:txBody>
      </p:sp>
      <p:sp>
        <p:nvSpPr>
          <p:cNvPr id="76" name="TextBox 75"/>
          <p:cNvSpPr txBox="1"/>
          <p:nvPr/>
        </p:nvSpPr>
        <p:spPr>
          <a:xfrm>
            <a:off x="5397060" y="5807856"/>
            <a:ext cx="1737360" cy="237744"/>
          </a:xfrm>
          <a:prstGeom prst="rect">
            <a:avLst/>
          </a:prstGeom>
          <a:noFill/>
        </p:spPr>
        <p:txBody>
          <a:bodyPr wrap="square">
            <a:spAutoFit/>
          </a:bodyPr>
          <a:lstStyle/>
          <a:p>
            <a:pPr algn="ctr"/>
            <a:r>
              <a:rPr sz="1000" b="0" i="0">
                <a:solidFill>
                  <a:srgbClr val="404040"/>
                </a:solidFill>
              </a:rPr>
              <a:t>12</a:t>
            </a:r>
          </a:p>
        </p:txBody>
      </p:sp>
      <p:sp>
        <p:nvSpPr>
          <p:cNvPr id="77" name="TextBox 76"/>
          <p:cNvSpPr txBox="1"/>
          <p:nvPr/>
        </p:nvSpPr>
        <p:spPr>
          <a:xfrm>
            <a:off x="7134420" y="5807856"/>
            <a:ext cx="2103120" cy="237744"/>
          </a:xfrm>
          <a:prstGeom prst="rect">
            <a:avLst/>
          </a:prstGeom>
          <a:noFill/>
        </p:spPr>
        <p:txBody>
          <a:bodyPr wrap="square">
            <a:spAutoFit/>
          </a:bodyPr>
          <a:lstStyle/>
          <a:p>
            <a:pPr algn="ctr"/>
            <a:r>
              <a:rPr sz="1000" b="0" i="0">
                <a:solidFill>
                  <a:srgbClr val="404040"/>
                </a:solidFill>
              </a:rPr>
              <a:t>7</a:t>
            </a:r>
          </a:p>
        </p:txBody>
      </p:sp>
      <p:sp>
        <p:nvSpPr>
          <p:cNvPr id="78" name="TextBox 77"/>
          <p:cNvSpPr txBox="1"/>
          <p:nvPr/>
        </p:nvSpPr>
        <p:spPr>
          <a:xfrm>
            <a:off x="9237540" y="5807856"/>
            <a:ext cx="2194560" cy="237744"/>
          </a:xfrm>
          <a:prstGeom prst="rect">
            <a:avLst/>
          </a:prstGeom>
          <a:noFill/>
        </p:spPr>
        <p:txBody>
          <a:bodyPr wrap="square">
            <a:spAutoFit/>
          </a:bodyPr>
          <a:lstStyle/>
          <a:p>
            <a:pPr algn="ctr"/>
            <a:r>
              <a:rPr sz="1000" b="0" i="0">
                <a:solidFill>
                  <a:srgbClr val="404040"/>
                </a:solidFill>
              </a:rPr>
              <a:t>26</a:t>
            </a:r>
          </a:p>
        </p:txBody>
      </p:sp>
      <p:sp>
        <p:nvSpPr>
          <p:cNvPr id="79" name="Rectangle 78"/>
          <p:cNvSpPr/>
          <p:nvPr/>
        </p:nvSpPr>
        <p:spPr>
          <a:xfrm>
            <a:off x="230700" y="609132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420" y="6127896"/>
            <a:ext cx="1371600" cy="237744"/>
          </a:xfrm>
          <a:prstGeom prst="rect">
            <a:avLst/>
          </a:prstGeom>
          <a:noFill/>
        </p:spPr>
        <p:txBody>
          <a:bodyPr wrap="square">
            <a:spAutoFit/>
          </a:bodyPr>
          <a:lstStyle/>
          <a:p>
            <a:pPr algn="ctr"/>
            <a:r>
              <a:rPr sz="1000" b="0" i="0">
                <a:solidFill>
                  <a:srgbClr val="404040"/>
                </a:solidFill>
              </a:rPr>
              <a:t>Phase 3</a:t>
            </a:r>
          </a:p>
        </p:txBody>
      </p:sp>
      <p:sp>
        <p:nvSpPr>
          <p:cNvPr id="81" name="TextBox 80"/>
          <p:cNvSpPr txBox="1"/>
          <p:nvPr/>
        </p:nvSpPr>
        <p:spPr>
          <a:xfrm>
            <a:off x="1648020" y="6190488"/>
            <a:ext cx="2011680" cy="237744"/>
          </a:xfrm>
          <a:prstGeom prst="rect">
            <a:avLst/>
          </a:prstGeom>
          <a:noFill/>
        </p:spPr>
        <p:txBody>
          <a:bodyPr wrap="square">
            <a:spAutoFit/>
          </a:bodyPr>
          <a:lstStyle/>
          <a:p>
            <a:pPr algn="ctr"/>
            <a:r>
              <a:rPr sz="1000" b="0" i="0">
                <a:solidFill>
                  <a:srgbClr val="404040"/>
                </a:solidFill>
              </a:rPr>
              <a:t>35</a:t>
            </a:r>
          </a:p>
        </p:txBody>
      </p:sp>
      <p:sp>
        <p:nvSpPr>
          <p:cNvPr id="82" name="TextBox 81"/>
          <p:cNvSpPr txBox="1"/>
          <p:nvPr/>
        </p:nvSpPr>
        <p:spPr>
          <a:xfrm>
            <a:off x="3659700" y="6127896"/>
            <a:ext cx="1737360" cy="237744"/>
          </a:xfrm>
          <a:prstGeom prst="rect">
            <a:avLst/>
          </a:prstGeom>
          <a:noFill/>
        </p:spPr>
        <p:txBody>
          <a:bodyPr wrap="square">
            <a:spAutoFit/>
          </a:bodyPr>
          <a:lstStyle/>
          <a:p>
            <a:pPr algn="ctr"/>
            <a:r>
              <a:rPr sz="1000" b="0" i="0">
                <a:solidFill>
                  <a:srgbClr val="404040"/>
                </a:solidFill>
              </a:rPr>
              <a:t>22</a:t>
            </a:r>
          </a:p>
        </p:txBody>
      </p:sp>
      <p:sp>
        <p:nvSpPr>
          <p:cNvPr id="83" name="TextBox 82"/>
          <p:cNvSpPr txBox="1"/>
          <p:nvPr/>
        </p:nvSpPr>
        <p:spPr>
          <a:xfrm>
            <a:off x="5397060" y="6127896"/>
            <a:ext cx="1737360" cy="237744"/>
          </a:xfrm>
          <a:prstGeom prst="rect">
            <a:avLst/>
          </a:prstGeom>
          <a:noFill/>
        </p:spPr>
        <p:txBody>
          <a:bodyPr wrap="square">
            <a:spAutoFit/>
          </a:bodyPr>
          <a:lstStyle/>
          <a:p>
            <a:pPr algn="ctr"/>
            <a:r>
              <a:rPr sz="1000" b="0" i="0">
                <a:solidFill>
                  <a:srgbClr val="404040"/>
                </a:solidFill>
              </a:rPr>
              <a:t>7</a:t>
            </a:r>
          </a:p>
        </p:txBody>
      </p:sp>
      <p:sp>
        <p:nvSpPr>
          <p:cNvPr id="84" name="TextBox 83"/>
          <p:cNvSpPr txBox="1"/>
          <p:nvPr/>
        </p:nvSpPr>
        <p:spPr>
          <a:xfrm>
            <a:off x="7134420" y="6127896"/>
            <a:ext cx="2103120" cy="237744"/>
          </a:xfrm>
          <a:prstGeom prst="rect">
            <a:avLst/>
          </a:prstGeom>
          <a:noFill/>
        </p:spPr>
        <p:txBody>
          <a:bodyPr wrap="square">
            <a:spAutoFit/>
          </a:bodyPr>
          <a:lstStyle/>
          <a:p>
            <a:pPr algn="ctr"/>
            <a:r>
              <a:rPr sz="1000" b="0" i="0">
                <a:solidFill>
                  <a:srgbClr val="404040"/>
                </a:solidFill>
              </a:rPr>
              <a:t>6</a:t>
            </a:r>
          </a:p>
        </p:txBody>
      </p:sp>
      <p:sp>
        <p:nvSpPr>
          <p:cNvPr id="85" name="TextBox 84"/>
          <p:cNvSpPr txBox="1"/>
          <p:nvPr/>
        </p:nvSpPr>
        <p:spPr>
          <a:xfrm>
            <a:off x="9237540" y="6127896"/>
            <a:ext cx="2194560" cy="237744"/>
          </a:xfrm>
          <a:prstGeom prst="rect">
            <a:avLst/>
          </a:prstGeom>
          <a:noFill/>
        </p:spPr>
        <p:txBody>
          <a:bodyPr wrap="square">
            <a:spAutoFit/>
          </a:bodyPr>
          <a:lstStyle/>
          <a:p>
            <a:pPr algn="ctr"/>
            <a:r>
              <a:rPr sz="1000" b="0" i="0">
                <a:solidFill>
                  <a:srgbClr val="404040"/>
                </a:solidFill>
              </a:rPr>
              <a:t>22</a:t>
            </a:r>
          </a:p>
        </p:txBody>
      </p:sp>
      <p:sp>
        <p:nvSpPr>
          <p:cNvPr id="86" name="Rectangle 85"/>
          <p:cNvSpPr/>
          <p:nvPr/>
        </p:nvSpPr>
        <p:spPr>
          <a:xfrm>
            <a:off x="230700" y="6411360"/>
            <a:ext cx="11612880" cy="301752"/>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76420" y="6447936"/>
            <a:ext cx="1371600" cy="237744"/>
          </a:xfrm>
          <a:prstGeom prst="rect">
            <a:avLst/>
          </a:prstGeom>
          <a:noFill/>
        </p:spPr>
        <p:txBody>
          <a:bodyPr wrap="square">
            <a:spAutoFit/>
          </a:bodyPr>
          <a:lstStyle/>
          <a:p>
            <a:pPr algn="ctr"/>
            <a:r>
              <a:rPr sz="1000" b="1" i="0">
                <a:solidFill>
                  <a:srgbClr val="003387"/>
                </a:solidFill>
              </a:rPr>
              <a:t>TOTAL</a:t>
            </a:r>
          </a:p>
        </p:txBody>
      </p:sp>
      <p:sp>
        <p:nvSpPr>
          <p:cNvPr id="88" name="TextBox 87"/>
          <p:cNvSpPr txBox="1"/>
          <p:nvPr/>
        </p:nvSpPr>
        <p:spPr>
          <a:xfrm>
            <a:off x="1648020" y="6447936"/>
            <a:ext cx="2011680" cy="237744"/>
          </a:xfrm>
          <a:prstGeom prst="rect">
            <a:avLst/>
          </a:prstGeom>
          <a:noFill/>
        </p:spPr>
        <p:txBody>
          <a:bodyPr wrap="square">
            <a:spAutoFit/>
          </a:bodyPr>
          <a:lstStyle/>
          <a:p>
            <a:pPr algn="ctr"/>
            <a:r>
              <a:rPr sz="1000" b="1" i="0">
                <a:solidFill>
                  <a:srgbClr val="003387"/>
                </a:solidFill>
              </a:rPr>
              <a:t>129</a:t>
            </a:r>
          </a:p>
        </p:txBody>
      </p:sp>
      <p:sp>
        <p:nvSpPr>
          <p:cNvPr id="89" name="TextBox 88"/>
          <p:cNvSpPr txBox="1"/>
          <p:nvPr/>
        </p:nvSpPr>
        <p:spPr>
          <a:xfrm>
            <a:off x="3659700" y="6447936"/>
            <a:ext cx="1737360" cy="237744"/>
          </a:xfrm>
          <a:prstGeom prst="rect">
            <a:avLst/>
          </a:prstGeom>
          <a:noFill/>
        </p:spPr>
        <p:txBody>
          <a:bodyPr wrap="square">
            <a:spAutoFit/>
          </a:bodyPr>
          <a:lstStyle/>
          <a:p>
            <a:pPr algn="ctr"/>
            <a:r>
              <a:rPr sz="1000" b="1" i="0">
                <a:solidFill>
                  <a:srgbClr val="003387"/>
                </a:solidFill>
              </a:rPr>
              <a:t>74</a:t>
            </a:r>
          </a:p>
        </p:txBody>
      </p:sp>
      <p:sp>
        <p:nvSpPr>
          <p:cNvPr id="90" name="TextBox 89"/>
          <p:cNvSpPr txBox="1"/>
          <p:nvPr/>
        </p:nvSpPr>
        <p:spPr>
          <a:xfrm>
            <a:off x="5397060" y="6447936"/>
            <a:ext cx="1737360" cy="237744"/>
          </a:xfrm>
          <a:prstGeom prst="rect">
            <a:avLst/>
          </a:prstGeom>
          <a:noFill/>
        </p:spPr>
        <p:txBody>
          <a:bodyPr wrap="square">
            <a:spAutoFit/>
          </a:bodyPr>
          <a:lstStyle/>
          <a:p>
            <a:pPr algn="ctr"/>
            <a:r>
              <a:rPr sz="1000" b="1" i="0">
                <a:solidFill>
                  <a:srgbClr val="003387"/>
                </a:solidFill>
              </a:rPr>
              <a:t>36</a:t>
            </a:r>
          </a:p>
        </p:txBody>
      </p:sp>
      <p:sp>
        <p:nvSpPr>
          <p:cNvPr id="91" name="TextBox 90"/>
          <p:cNvSpPr txBox="1"/>
          <p:nvPr/>
        </p:nvSpPr>
        <p:spPr>
          <a:xfrm>
            <a:off x="7134420" y="6447936"/>
            <a:ext cx="2103120" cy="237744"/>
          </a:xfrm>
          <a:prstGeom prst="rect">
            <a:avLst/>
          </a:prstGeom>
          <a:noFill/>
        </p:spPr>
        <p:txBody>
          <a:bodyPr wrap="square">
            <a:spAutoFit/>
          </a:bodyPr>
          <a:lstStyle/>
          <a:p>
            <a:pPr algn="ctr"/>
            <a:r>
              <a:rPr sz="1000" b="1" i="0">
                <a:solidFill>
                  <a:srgbClr val="003387"/>
                </a:solidFill>
              </a:rPr>
              <a:t>19</a:t>
            </a:r>
          </a:p>
        </p:txBody>
      </p:sp>
      <p:sp>
        <p:nvSpPr>
          <p:cNvPr id="92" name="TextBox 91"/>
          <p:cNvSpPr txBox="1"/>
          <p:nvPr/>
        </p:nvSpPr>
        <p:spPr>
          <a:xfrm>
            <a:off x="9237540" y="6447936"/>
            <a:ext cx="2194560" cy="237744"/>
          </a:xfrm>
          <a:prstGeom prst="rect">
            <a:avLst/>
          </a:prstGeom>
          <a:noFill/>
        </p:spPr>
        <p:txBody>
          <a:bodyPr wrap="square">
            <a:spAutoFit/>
          </a:bodyPr>
          <a:lstStyle/>
          <a:p>
            <a:pPr algn="ctr"/>
            <a:r>
              <a:rPr sz="1000" b="1" i="0">
                <a:solidFill>
                  <a:srgbClr val="003387"/>
                </a:solidFill>
              </a:rPr>
              <a:t>79</a:t>
            </a:r>
          </a:p>
        </p:txBody>
      </p:sp>
      <p:sp>
        <p:nvSpPr>
          <p:cNvPr id="95" name="TextBox 94">
            <a:extLst>
              <a:ext uri="{FF2B5EF4-FFF2-40B4-BE49-F238E27FC236}">
                <a16:creationId xmlns:a16="http://schemas.microsoft.com/office/drawing/2014/main" id="{3B15B81E-CC47-D1BB-FB05-95EBF0371DE3}"/>
              </a:ext>
            </a:extLst>
          </p:cNvPr>
          <p:cNvSpPr txBox="1"/>
          <p:nvPr/>
        </p:nvSpPr>
        <p:spPr>
          <a:xfrm>
            <a:off x="8478589" y="3054482"/>
            <a:ext cx="3025697" cy="246221"/>
          </a:xfrm>
          <a:prstGeom prst="rect">
            <a:avLst/>
          </a:prstGeom>
          <a:noFill/>
        </p:spPr>
        <p:txBody>
          <a:bodyPr wrap="square" rtlCol="0">
            <a:spAutoFit/>
          </a:bodyPr>
          <a:lstStyle/>
          <a:p>
            <a:r>
              <a:rPr lang="en-US" sz="1000" dirty="0"/>
              <a:t>OTDR testing from Hicksville to Syosset</a:t>
            </a:r>
            <a:endParaRPr lang="en-US" dirty="0"/>
          </a:p>
        </p:txBody>
      </p:sp>
      <p:sp>
        <p:nvSpPr>
          <p:cNvPr id="98" name="TextBox 97">
            <a:extLst>
              <a:ext uri="{FF2B5EF4-FFF2-40B4-BE49-F238E27FC236}">
                <a16:creationId xmlns:a16="http://schemas.microsoft.com/office/drawing/2014/main" id="{28B3DF57-4DE9-EAAC-C619-67704B496FAA}"/>
              </a:ext>
            </a:extLst>
          </p:cNvPr>
          <p:cNvSpPr txBox="1"/>
          <p:nvPr/>
        </p:nvSpPr>
        <p:spPr>
          <a:xfrm>
            <a:off x="8185980" y="3848273"/>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99" name="TextBox 98">
            <a:extLst>
              <a:ext uri="{FF2B5EF4-FFF2-40B4-BE49-F238E27FC236}">
                <a16:creationId xmlns:a16="http://schemas.microsoft.com/office/drawing/2014/main" id="{79A606F6-3D1B-BCE5-572C-CDB01FA5D973}"/>
              </a:ext>
            </a:extLst>
          </p:cNvPr>
          <p:cNvSpPr txBox="1"/>
          <p:nvPr/>
        </p:nvSpPr>
        <p:spPr>
          <a:xfrm>
            <a:off x="8181038" y="3463421"/>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0" name="TextBox 99">
            <a:extLst>
              <a:ext uri="{FF2B5EF4-FFF2-40B4-BE49-F238E27FC236}">
                <a16:creationId xmlns:a16="http://schemas.microsoft.com/office/drawing/2014/main" id="{55ADC1A2-EFF1-D285-C45D-C04AC2133770}"/>
              </a:ext>
            </a:extLst>
          </p:cNvPr>
          <p:cNvSpPr txBox="1"/>
          <p:nvPr/>
        </p:nvSpPr>
        <p:spPr>
          <a:xfrm>
            <a:off x="266913" y="3403958"/>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1" name="TextBox 100">
            <a:extLst>
              <a:ext uri="{FF2B5EF4-FFF2-40B4-BE49-F238E27FC236}">
                <a16:creationId xmlns:a16="http://schemas.microsoft.com/office/drawing/2014/main" id="{8B3832DE-8459-0230-A772-DA2CE09602C7}"/>
              </a:ext>
            </a:extLst>
          </p:cNvPr>
          <p:cNvSpPr txBox="1"/>
          <p:nvPr/>
        </p:nvSpPr>
        <p:spPr>
          <a:xfrm>
            <a:off x="277546" y="3757869"/>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1 Accomplishments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31 Substations | Complete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28599" y="1069848"/>
            <a:ext cx="7498079"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79" y="1005840"/>
            <a:ext cx="39319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05840"/>
            <a:ext cx="7498079"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42415"/>
            <a:ext cx="7315200" cy="347472"/>
          </a:xfrm>
          <a:prstGeom prst="rect">
            <a:avLst/>
          </a:prstGeom>
          <a:noFill/>
        </p:spPr>
        <p:txBody>
          <a:bodyPr wrap="square">
            <a:spAutoFit/>
          </a:bodyPr>
          <a:lstStyle/>
          <a:p>
            <a:pPr algn="l"/>
            <a:r>
              <a:rPr sz="1200" b="1" i="0">
                <a:solidFill>
                  <a:srgbClr val="FFFFFF"/>
                </a:solidFill>
              </a:rPr>
              <a:t>KEY ACCOMPLISHMENTS</a:t>
            </a:r>
          </a:p>
        </p:txBody>
      </p:sp>
      <p:sp>
        <p:nvSpPr>
          <p:cNvPr id="13" name="TextBox 12"/>
          <p:cNvSpPr txBox="1"/>
          <p:nvPr/>
        </p:nvSpPr>
        <p:spPr>
          <a:xfrm>
            <a:off x="640080" y="1490472"/>
            <a:ext cx="6949440" cy="261610"/>
          </a:xfrm>
          <a:prstGeom prst="rect">
            <a:avLst/>
          </a:prstGeom>
          <a:noFill/>
        </p:spPr>
        <p:txBody>
          <a:bodyPr wrap="square">
            <a:spAutoFit/>
          </a:bodyPr>
          <a:lstStyle/>
          <a:p>
            <a:pPr algn="l"/>
            <a:r>
              <a:rPr lang="en-US" sz="1100" b="0" i="0" dirty="0">
                <a:solidFill>
                  <a:srgbClr val="404040"/>
                </a:solidFill>
              </a:rPr>
              <a:t>Staging completed at Hawkeye Warehouse  - Work Completed - 9/29/2025</a:t>
            </a:r>
          </a:p>
        </p:txBody>
      </p:sp>
      <p:sp>
        <p:nvSpPr>
          <p:cNvPr id="15" name="TextBox 14"/>
          <p:cNvSpPr txBox="1"/>
          <p:nvPr/>
        </p:nvSpPr>
        <p:spPr>
          <a:xfrm>
            <a:off x="640080" y="1929384"/>
            <a:ext cx="6949440" cy="261610"/>
          </a:xfrm>
          <a:prstGeom prst="rect">
            <a:avLst/>
          </a:prstGeom>
          <a:noFill/>
        </p:spPr>
        <p:txBody>
          <a:bodyPr wrap="square">
            <a:spAutoFit/>
          </a:bodyPr>
          <a:lstStyle/>
          <a:p>
            <a:pPr algn="l"/>
            <a:r>
              <a:rPr lang="en-US" sz="1100" b="0" i="0" dirty="0">
                <a:solidFill>
                  <a:srgbClr val="404040"/>
                </a:solidFill>
              </a:rPr>
              <a:t>Nokia equipment for Phase 2 has been delivered – Work Completed - 2/19/2026</a:t>
            </a:r>
          </a:p>
        </p:txBody>
      </p:sp>
      <p:sp>
        <p:nvSpPr>
          <p:cNvPr id="17" name="TextBox 16"/>
          <p:cNvSpPr txBox="1"/>
          <p:nvPr/>
        </p:nvSpPr>
        <p:spPr>
          <a:xfrm>
            <a:off x="640080" y="2368296"/>
            <a:ext cx="6949440" cy="261610"/>
          </a:xfrm>
          <a:prstGeom prst="rect">
            <a:avLst/>
          </a:prstGeom>
          <a:noFill/>
        </p:spPr>
        <p:txBody>
          <a:bodyPr wrap="square">
            <a:spAutoFit/>
          </a:bodyPr>
          <a:lstStyle/>
          <a:p>
            <a:pPr algn="l"/>
            <a:r>
              <a:rPr lang="en-US" sz="1100" b="0" i="0" dirty="0">
                <a:solidFill>
                  <a:srgbClr val="404040"/>
                </a:solidFill>
              </a:rPr>
              <a:t>Complete CWDM cutover at Hicksville and ACC -  Work completed </a:t>
            </a:r>
          </a:p>
        </p:txBody>
      </p:sp>
      <p:sp>
        <p:nvSpPr>
          <p:cNvPr id="19" name="TextBox 18"/>
          <p:cNvSpPr txBox="1"/>
          <p:nvPr/>
        </p:nvSpPr>
        <p:spPr>
          <a:xfrm>
            <a:off x="640080" y="2807208"/>
            <a:ext cx="6949440" cy="261610"/>
          </a:xfrm>
          <a:prstGeom prst="rect">
            <a:avLst/>
          </a:prstGeom>
          <a:noFill/>
        </p:spPr>
        <p:txBody>
          <a:bodyPr wrap="square">
            <a:spAutoFit/>
          </a:bodyPr>
          <a:lstStyle/>
          <a:p>
            <a:pPr algn="l"/>
            <a:r>
              <a:rPr lang="en-US" sz="1100" b="0" i="0" dirty="0">
                <a:solidFill>
                  <a:srgbClr val="404040"/>
                </a:solidFill>
              </a:rPr>
              <a:t>Install routers in the primary &amp; secondary cabinet – Work Completed </a:t>
            </a:r>
          </a:p>
        </p:txBody>
      </p:sp>
      <p:sp>
        <p:nvSpPr>
          <p:cNvPr id="21" name="TextBox 20"/>
          <p:cNvSpPr txBox="1"/>
          <p:nvPr/>
        </p:nvSpPr>
        <p:spPr>
          <a:xfrm>
            <a:off x="640080" y="4557277"/>
            <a:ext cx="6949440" cy="261610"/>
          </a:xfrm>
          <a:prstGeom prst="rect">
            <a:avLst/>
          </a:prstGeom>
          <a:noFill/>
        </p:spPr>
        <p:txBody>
          <a:bodyPr wrap="square">
            <a:spAutoFit/>
          </a:bodyPr>
          <a:lstStyle/>
          <a:p>
            <a:pPr algn="l"/>
            <a:r>
              <a:rPr lang="en-US" sz="1100" b="0" i="0" dirty="0">
                <a:solidFill>
                  <a:srgbClr val="404040"/>
                </a:solidFill>
              </a:rPr>
              <a:t>NSP installed racked &amp; powered up in Melville and Hicksville – Work Completed </a:t>
            </a:r>
          </a:p>
        </p:txBody>
      </p:sp>
      <p:sp>
        <p:nvSpPr>
          <p:cNvPr id="23" name="TextBox 22"/>
          <p:cNvSpPr txBox="1"/>
          <p:nvPr/>
        </p:nvSpPr>
        <p:spPr>
          <a:xfrm>
            <a:off x="640080" y="4996189"/>
            <a:ext cx="6949440" cy="261610"/>
          </a:xfrm>
          <a:prstGeom prst="rect">
            <a:avLst/>
          </a:prstGeom>
          <a:noFill/>
        </p:spPr>
        <p:txBody>
          <a:bodyPr wrap="square">
            <a:spAutoFit/>
          </a:bodyPr>
          <a:lstStyle/>
          <a:p>
            <a:pPr algn="l"/>
            <a:r>
              <a:rPr sz="1100" b="0" i="0" dirty="0">
                <a:solidFill>
                  <a:srgbClr val="404040"/>
                </a:solidFill>
              </a:rPr>
              <a:t>Staging </a:t>
            </a:r>
            <a:r>
              <a:rPr lang="en-US" sz="1100" b="0" i="0" dirty="0">
                <a:solidFill>
                  <a:srgbClr val="404040"/>
                </a:solidFill>
              </a:rPr>
              <a:t>CMDB document updated and added to CMDB database – Work Completed </a:t>
            </a:r>
          </a:p>
        </p:txBody>
      </p:sp>
      <p:sp>
        <p:nvSpPr>
          <p:cNvPr id="25" name="TextBox 24"/>
          <p:cNvSpPr txBox="1"/>
          <p:nvPr/>
        </p:nvSpPr>
        <p:spPr>
          <a:xfrm>
            <a:off x="640080" y="5435101"/>
            <a:ext cx="6949440" cy="261610"/>
          </a:xfrm>
          <a:prstGeom prst="rect">
            <a:avLst/>
          </a:prstGeom>
          <a:noFill/>
        </p:spPr>
        <p:txBody>
          <a:bodyPr wrap="square">
            <a:spAutoFit/>
          </a:bodyPr>
          <a:lstStyle/>
          <a:p>
            <a:pPr algn="l"/>
            <a:r>
              <a:rPr lang="en-US" sz="1100" b="0" i="0" dirty="0">
                <a:solidFill>
                  <a:srgbClr val="404040"/>
                </a:solidFill>
              </a:rPr>
              <a:t>OTDR testing from Hicksville to Syosset – Work Completed </a:t>
            </a:r>
          </a:p>
        </p:txBody>
      </p:sp>
      <p:sp>
        <p:nvSpPr>
          <p:cNvPr id="32" name="Rectangle 31"/>
          <p:cNvSpPr/>
          <p:nvPr/>
        </p:nvSpPr>
        <p:spPr>
          <a:xfrm>
            <a:off x="7955279" y="1005840"/>
            <a:ext cx="3931920" cy="411480"/>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0" y="1042415"/>
            <a:ext cx="3749039" cy="276999"/>
          </a:xfrm>
          <a:prstGeom prst="rect">
            <a:avLst/>
          </a:prstGeom>
          <a:noFill/>
        </p:spPr>
        <p:txBody>
          <a:bodyPr wrap="square">
            <a:spAutoFit/>
          </a:bodyPr>
          <a:lstStyle/>
          <a:p>
            <a:pPr algn="l"/>
            <a:r>
              <a:rPr sz="1200" b="1" i="0" dirty="0">
                <a:solidFill>
                  <a:srgbClr val="FFFFFF"/>
                </a:solidFill>
              </a:rPr>
              <a:t>PHASE 1 AT A GLANCE</a:t>
            </a:r>
            <a:r>
              <a:rPr lang="en-US" sz="1200" b="1" i="0" dirty="0">
                <a:solidFill>
                  <a:srgbClr val="FFFFFF"/>
                </a:solidFill>
              </a:rPr>
              <a:t> - Completion</a:t>
            </a:r>
            <a:endParaRPr sz="1200" b="1" i="0" dirty="0">
              <a:solidFill>
                <a:srgbClr val="FFFFFF"/>
              </a:solidFill>
            </a:endParaRPr>
          </a:p>
        </p:txBody>
      </p:sp>
      <p:sp>
        <p:nvSpPr>
          <p:cNvPr id="34" name="Rectangle 33"/>
          <p:cNvSpPr/>
          <p:nvPr/>
        </p:nvSpPr>
        <p:spPr>
          <a:xfrm>
            <a:off x="8001000" y="15087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0" y="1527048"/>
            <a:ext cx="3749039" cy="347472"/>
          </a:xfrm>
          <a:prstGeom prst="rect">
            <a:avLst/>
          </a:prstGeom>
          <a:noFill/>
        </p:spPr>
        <p:txBody>
          <a:bodyPr wrap="square">
            <a:spAutoFit/>
          </a:bodyPr>
          <a:lstStyle/>
          <a:p>
            <a:pPr algn="ctr"/>
            <a:r>
              <a:rPr sz="1800" b="1" i="0">
                <a:solidFill>
                  <a:srgbClr val="003387"/>
                </a:solidFill>
              </a:rPr>
              <a:t>31 / 31</a:t>
            </a:r>
          </a:p>
        </p:txBody>
      </p:sp>
      <p:sp>
        <p:nvSpPr>
          <p:cNvPr id="36" name="TextBox 35"/>
          <p:cNvSpPr txBox="1"/>
          <p:nvPr/>
        </p:nvSpPr>
        <p:spPr>
          <a:xfrm>
            <a:off x="8046720" y="1856231"/>
            <a:ext cx="3749039" cy="274320"/>
          </a:xfrm>
          <a:prstGeom prst="rect">
            <a:avLst/>
          </a:prstGeom>
          <a:noFill/>
        </p:spPr>
        <p:txBody>
          <a:bodyPr wrap="square">
            <a:spAutoFit/>
          </a:bodyPr>
          <a:lstStyle/>
          <a:p>
            <a:pPr algn="ctr"/>
            <a:r>
              <a:rPr sz="1000" b="0" i="0">
                <a:solidFill>
                  <a:srgbClr val="404040"/>
                </a:solidFill>
              </a:rPr>
              <a:t>Sites Complete</a:t>
            </a:r>
          </a:p>
        </p:txBody>
      </p:sp>
      <p:sp>
        <p:nvSpPr>
          <p:cNvPr id="37" name="Rectangle 36"/>
          <p:cNvSpPr/>
          <p:nvPr/>
        </p:nvSpPr>
        <p:spPr>
          <a:xfrm>
            <a:off x="8001000" y="228600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20" y="2304288"/>
            <a:ext cx="3749039" cy="347472"/>
          </a:xfrm>
          <a:prstGeom prst="rect">
            <a:avLst/>
          </a:prstGeom>
          <a:noFill/>
        </p:spPr>
        <p:txBody>
          <a:bodyPr wrap="square">
            <a:spAutoFit/>
          </a:bodyPr>
          <a:lstStyle/>
          <a:p>
            <a:pPr algn="ctr"/>
            <a:r>
              <a:rPr sz="1800" b="1" i="0">
                <a:solidFill>
                  <a:srgbClr val="F7941D"/>
                </a:solidFill>
              </a:rPr>
              <a:t>~65%</a:t>
            </a:r>
          </a:p>
        </p:txBody>
      </p:sp>
      <p:sp>
        <p:nvSpPr>
          <p:cNvPr id="39" name="TextBox 38"/>
          <p:cNvSpPr txBox="1"/>
          <p:nvPr/>
        </p:nvSpPr>
        <p:spPr>
          <a:xfrm>
            <a:off x="8046720" y="2633472"/>
            <a:ext cx="3749039" cy="274320"/>
          </a:xfrm>
          <a:prstGeom prst="rect">
            <a:avLst/>
          </a:prstGeom>
          <a:noFill/>
        </p:spPr>
        <p:txBody>
          <a:bodyPr wrap="square">
            <a:spAutoFit/>
          </a:bodyPr>
          <a:lstStyle/>
          <a:p>
            <a:pPr algn="ctr"/>
            <a:r>
              <a:rPr sz="1000" b="0" i="0">
                <a:solidFill>
                  <a:srgbClr val="404040"/>
                </a:solidFill>
              </a:rPr>
              <a:t>Phase 1 Complete</a:t>
            </a:r>
          </a:p>
        </p:txBody>
      </p:sp>
      <p:sp>
        <p:nvSpPr>
          <p:cNvPr id="40" name="Rectangle 39"/>
          <p:cNvSpPr/>
          <p:nvPr/>
        </p:nvSpPr>
        <p:spPr>
          <a:xfrm>
            <a:off x="8001000" y="306323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46720" y="3081527"/>
            <a:ext cx="3749039" cy="347472"/>
          </a:xfrm>
          <a:prstGeom prst="rect">
            <a:avLst/>
          </a:prstGeom>
          <a:noFill/>
        </p:spPr>
        <p:txBody>
          <a:bodyPr wrap="square">
            <a:spAutoFit/>
          </a:bodyPr>
          <a:lstStyle/>
          <a:p>
            <a:pPr algn="ctr"/>
            <a:r>
              <a:rPr sz="1800" b="1" i="0">
                <a:solidFill>
                  <a:srgbClr val="003387"/>
                </a:solidFill>
              </a:rPr>
              <a:t>2</a:t>
            </a:r>
          </a:p>
        </p:txBody>
      </p:sp>
      <p:sp>
        <p:nvSpPr>
          <p:cNvPr id="42" name="TextBox 41"/>
          <p:cNvSpPr txBox="1"/>
          <p:nvPr/>
        </p:nvSpPr>
        <p:spPr>
          <a:xfrm>
            <a:off x="8046720" y="3410711"/>
            <a:ext cx="3749039" cy="246221"/>
          </a:xfrm>
          <a:prstGeom prst="rect">
            <a:avLst/>
          </a:prstGeom>
          <a:noFill/>
        </p:spPr>
        <p:txBody>
          <a:bodyPr wrap="square">
            <a:spAutoFit/>
          </a:bodyPr>
          <a:lstStyle/>
          <a:p>
            <a:pPr algn="ctr"/>
            <a:r>
              <a:rPr lang="en-US" sz="1000" b="0" i="0" dirty="0">
                <a:solidFill>
                  <a:srgbClr val="404040"/>
                </a:solidFill>
              </a:rPr>
              <a:t>Network Ring - 1 &amp; 6</a:t>
            </a:r>
            <a:endParaRPr sz="1000" b="0" i="0" dirty="0">
              <a:solidFill>
                <a:srgbClr val="404040"/>
              </a:solidFill>
            </a:endParaRPr>
          </a:p>
        </p:txBody>
      </p:sp>
      <p:sp>
        <p:nvSpPr>
          <p:cNvPr id="43" name="Rectangle 42"/>
          <p:cNvSpPr/>
          <p:nvPr/>
        </p:nvSpPr>
        <p:spPr>
          <a:xfrm>
            <a:off x="8001000" y="384047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858767"/>
            <a:ext cx="3749039" cy="369332"/>
          </a:xfrm>
          <a:prstGeom prst="rect">
            <a:avLst/>
          </a:prstGeom>
          <a:noFill/>
        </p:spPr>
        <p:txBody>
          <a:bodyPr wrap="square">
            <a:spAutoFit/>
          </a:bodyPr>
          <a:lstStyle/>
          <a:p>
            <a:pPr algn="ctr"/>
            <a:r>
              <a:rPr lang="en-US" sz="1800" b="1" i="0" dirty="0">
                <a:solidFill>
                  <a:srgbClr val="003387"/>
                </a:solidFill>
              </a:rPr>
              <a:t>Deployment &amp; Cutover</a:t>
            </a:r>
            <a:endParaRPr sz="1800" b="1" i="0" dirty="0">
              <a:solidFill>
                <a:srgbClr val="003387"/>
              </a:solidFill>
            </a:endParaRPr>
          </a:p>
        </p:txBody>
      </p:sp>
      <p:sp>
        <p:nvSpPr>
          <p:cNvPr id="45" name="TextBox 44"/>
          <p:cNvSpPr txBox="1"/>
          <p:nvPr/>
        </p:nvSpPr>
        <p:spPr>
          <a:xfrm>
            <a:off x="8046720" y="4187951"/>
            <a:ext cx="3749039" cy="246221"/>
          </a:xfrm>
          <a:prstGeom prst="rect">
            <a:avLst/>
          </a:prstGeom>
          <a:noFill/>
        </p:spPr>
        <p:txBody>
          <a:bodyPr wrap="square">
            <a:spAutoFit/>
          </a:bodyPr>
          <a:lstStyle/>
          <a:p>
            <a:pPr algn="ctr"/>
            <a:r>
              <a:rPr lang="en-US" sz="1000" dirty="0">
                <a:solidFill>
                  <a:srgbClr val="404040"/>
                </a:solidFill>
              </a:rPr>
              <a:t>non-tie and tie sites</a:t>
            </a:r>
            <a:endParaRPr sz="1000" b="0" i="0" dirty="0">
              <a:solidFill>
                <a:srgbClr val="404040"/>
              </a:solidFill>
            </a:endParaRPr>
          </a:p>
        </p:txBody>
      </p:sp>
      <p:sp>
        <p:nvSpPr>
          <p:cNvPr id="46" name="Rectangle 45"/>
          <p:cNvSpPr/>
          <p:nvPr/>
        </p:nvSpPr>
        <p:spPr>
          <a:xfrm>
            <a:off x="8001000" y="461772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046720" y="4636007"/>
            <a:ext cx="3749039" cy="347472"/>
          </a:xfrm>
          <a:prstGeom prst="rect">
            <a:avLst/>
          </a:prstGeom>
          <a:noFill/>
        </p:spPr>
        <p:txBody>
          <a:bodyPr wrap="square">
            <a:spAutoFit/>
          </a:bodyPr>
          <a:lstStyle/>
          <a:p>
            <a:pPr algn="ctr"/>
            <a:r>
              <a:rPr sz="1800" b="1" i="0">
                <a:solidFill>
                  <a:srgbClr val="003387"/>
                </a:solidFill>
              </a:rPr>
              <a:t>Jan 2026</a:t>
            </a:r>
          </a:p>
        </p:txBody>
      </p:sp>
      <p:sp>
        <p:nvSpPr>
          <p:cNvPr id="48" name="TextBox 47"/>
          <p:cNvSpPr txBox="1"/>
          <p:nvPr/>
        </p:nvSpPr>
        <p:spPr>
          <a:xfrm>
            <a:off x="8046720" y="4965192"/>
            <a:ext cx="3749039" cy="246221"/>
          </a:xfrm>
          <a:prstGeom prst="rect">
            <a:avLst/>
          </a:prstGeom>
          <a:noFill/>
        </p:spPr>
        <p:txBody>
          <a:bodyPr wrap="square">
            <a:spAutoFit/>
          </a:bodyPr>
          <a:lstStyle/>
          <a:p>
            <a:pPr algn="ctr"/>
            <a:r>
              <a:rPr sz="1000" b="0" i="0" dirty="0">
                <a:solidFill>
                  <a:srgbClr val="404040"/>
                </a:solidFill>
              </a:rPr>
              <a:t>Final </a:t>
            </a:r>
            <a:r>
              <a:rPr lang="en-US" sz="1000" b="0" i="0" dirty="0">
                <a:solidFill>
                  <a:srgbClr val="404040"/>
                </a:solidFill>
              </a:rPr>
              <a:t>Phase 1 Cutover</a:t>
            </a:r>
            <a:endParaRPr sz="1000" b="0" i="0" dirty="0">
              <a:solidFill>
                <a:srgbClr val="404040"/>
              </a:solidFill>
            </a:endParaRPr>
          </a:p>
        </p:txBody>
      </p:sp>
      <p:sp>
        <p:nvSpPr>
          <p:cNvPr id="49" name="Rectangle 48"/>
          <p:cNvSpPr/>
          <p:nvPr/>
        </p:nvSpPr>
        <p:spPr>
          <a:xfrm>
            <a:off x="8001000" y="53949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6720" y="5413248"/>
            <a:ext cx="3749039" cy="347472"/>
          </a:xfrm>
          <a:prstGeom prst="rect">
            <a:avLst/>
          </a:prstGeom>
          <a:noFill/>
        </p:spPr>
        <p:txBody>
          <a:bodyPr wrap="square">
            <a:spAutoFit/>
          </a:bodyPr>
          <a:lstStyle/>
          <a:p>
            <a:pPr algn="ctr"/>
            <a:r>
              <a:rPr sz="1800" b="1" i="0">
                <a:solidFill>
                  <a:srgbClr val="003387"/>
                </a:solidFill>
              </a:rPr>
              <a:t>$4.44M</a:t>
            </a:r>
          </a:p>
        </p:txBody>
      </p:sp>
      <p:sp>
        <p:nvSpPr>
          <p:cNvPr id="51" name="TextBox 50"/>
          <p:cNvSpPr txBox="1"/>
          <p:nvPr/>
        </p:nvSpPr>
        <p:spPr>
          <a:xfrm>
            <a:off x="8046720" y="5742432"/>
            <a:ext cx="3749039" cy="274320"/>
          </a:xfrm>
          <a:prstGeom prst="rect">
            <a:avLst/>
          </a:prstGeom>
          <a:noFill/>
        </p:spPr>
        <p:txBody>
          <a:bodyPr wrap="square">
            <a:spAutoFit/>
          </a:bodyPr>
          <a:lstStyle/>
          <a:p>
            <a:pPr algn="ctr"/>
            <a:r>
              <a:rPr sz="1000" b="0" i="0">
                <a:solidFill>
                  <a:srgbClr val="404040"/>
                </a:solidFill>
              </a:rPr>
              <a:t>Spent to Date</a:t>
            </a:r>
          </a:p>
        </p:txBody>
      </p:sp>
      <p:sp>
        <p:nvSpPr>
          <p:cNvPr id="27" name="Rectangle 26">
            <a:extLst>
              <a:ext uri="{FF2B5EF4-FFF2-40B4-BE49-F238E27FC236}">
                <a16:creationId xmlns:a16="http://schemas.microsoft.com/office/drawing/2014/main" id="{2E6ECA06-86F9-227F-68F6-C7B15F17688D}"/>
              </a:ext>
            </a:extLst>
          </p:cNvPr>
          <p:cNvSpPr/>
          <p:nvPr/>
        </p:nvSpPr>
        <p:spPr>
          <a:xfrm>
            <a:off x="396241" y="151790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29" name="Rectangle 28">
            <a:extLst>
              <a:ext uri="{FF2B5EF4-FFF2-40B4-BE49-F238E27FC236}">
                <a16:creationId xmlns:a16="http://schemas.microsoft.com/office/drawing/2014/main" id="{1001BEDE-AAB7-09B2-A8A6-6C07194DB742}"/>
              </a:ext>
            </a:extLst>
          </p:cNvPr>
          <p:cNvSpPr/>
          <p:nvPr/>
        </p:nvSpPr>
        <p:spPr>
          <a:xfrm>
            <a:off x="396241" y="196595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31" name="Rectangle 30">
            <a:extLst>
              <a:ext uri="{FF2B5EF4-FFF2-40B4-BE49-F238E27FC236}">
                <a16:creationId xmlns:a16="http://schemas.microsoft.com/office/drawing/2014/main" id="{D2738422-3D3E-8214-9370-0B3001D41C79}"/>
              </a:ext>
            </a:extLst>
          </p:cNvPr>
          <p:cNvSpPr/>
          <p:nvPr/>
        </p:nvSpPr>
        <p:spPr>
          <a:xfrm>
            <a:off x="396241" y="242770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2" name="Rectangle 51">
            <a:extLst>
              <a:ext uri="{FF2B5EF4-FFF2-40B4-BE49-F238E27FC236}">
                <a16:creationId xmlns:a16="http://schemas.microsoft.com/office/drawing/2014/main" id="{0BDA7391-2DE8-1321-6C96-AB9A4734A0D7}"/>
              </a:ext>
            </a:extLst>
          </p:cNvPr>
          <p:cNvSpPr/>
          <p:nvPr/>
        </p:nvSpPr>
        <p:spPr>
          <a:xfrm>
            <a:off x="396241" y="286666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3" name="Rectangle 52">
            <a:extLst>
              <a:ext uri="{FF2B5EF4-FFF2-40B4-BE49-F238E27FC236}">
                <a16:creationId xmlns:a16="http://schemas.microsoft.com/office/drawing/2014/main" id="{E63F1B6F-7F67-A85F-3725-647E2E66A9CB}"/>
              </a:ext>
            </a:extLst>
          </p:cNvPr>
          <p:cNvSpPr/>
          <p:nvPr/>
        </p:nvSpPr>
        <p:spPr>
          <a:xfrm>
            <a:off x="384048" y="46281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4" name="Rectangle 53">
            <a:extLst>
              <a:ext uri="{FF2B5EF4-FFF2-40B4-BE49-F238E27FC236}">
                <a16:creationId xmlns:a16="http://schemas.microsoft.com/office/drawing/2014/main" id="{A685FAD6-CFA7-FD48-1B9E-B72276E6242A}"/>
              </a:ext>
            </a:extLst>
          </p:cNvPr>
          <p:cNvSpPr/>
          <p:nvPr/>
        </p:nvSpPr>
        <p:spPr>
          <a:xfrm>
            <a:off x="399996" y="504953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5" name="Rectangle 54">
            <a:extLst>
              <a:ext uri="{FF2B5EF4-FFF2-40B4-BE49-F238E27FC236}">
                <a16:creationId xmlns:a16="http://schemas.microsoft.com/office/drawing/2014/main" id="{4742FC2C-6BAF-6EF6-2279-5EC326DAF97E}"/>
              </a:ext>
            </a:extLst>
          </p:cNvPr>
          <p:cNvSpPr/>
          <p:nvPr/>
        </p:nvSpPr>
        <p:spPr>
          <a:xfrm>
            <a:off x="399996" y="5511278"/>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6" name="Rectangle 55">
            <a:extLst>
              <a:ext uri="{FF2B5EF4-FFF2-40B4-BE49-F238E27FC236}">
                <a16:creationId xmlns:a16="http://schemas.microsoft.com/office/drawing/2014/main" id="{BED1DCA2-8A19-34F3-11E0-C1D8E0BB862E}"/>
              </a:ext>
            </a:extLst>
          </p:cNvPr>
          <p:cNvSpPr/>
          <p:nvPr/>
        </p:nvSpPr>
        <p:spPr>
          <a:xfrm>
            <a:off x="396241" y="3241905"/>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a:extLst>
              <a:ext uri="{FF2B5EF4-FFF2-40B4-BE49-F238E27FC236}">
                <a16:creationId xmlns:a16="http://schemas.microsoft.com/office/drawing/2014/main" id="{8FB1C231-EA10-006E-FB9D-519D15DBE688}"/>
              </a:ext>
            </a:extLst>
          </p:cNvPr>
          <p:cNvSpPr/>
          <p:nvPr/>
        </p:nvSpPr>
        <p:spPr>
          <a:xfrm>
            <a:off x="384048" y="361477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8" name="TextBox 57">
            <a:extLst>
              <a:ext uri="{FF2B5EF4-FFF2-40B4-BE49-F238E27FC236}">
                <a16:creationId xmlns:a16="http://schemas.microsoft.com/office/drawing/2014/main" id="{8277783C-1A81-A45E-3A31-B82A4A6B712B}"/>
              </a:ext>
            </a:extLst>
          </p:cNvPr>
          <p:cNvSpPr txBox="1"/>
          <p:nvPr/>
        </p:nvSpPr>
        <p:spPr>
          <a:xfrm>
            <a:off x="640080" y="3193396"/>
            <a:ext cx="6949440" cy="261610"/>
          </a:xfrm>
          <a:prstGeom prst="rect">
            <a:avLst/>
          </a:prstGeom>
          <a:noFill/>
        </p:spPr>
        <p:txBody>
          <a:bodyPr wrap="square">
            <a:spAutoFit/>
          </a:bodyPr>
          <a:lstStyle/>
          <a:p>
            <a:pPr algn="l"/>
            <a:r>
              <a:rPr lang="en-US" sz="1100" b="0" i="0" dirty="0">
                <a:solidFill>
                  <a:srgbClr val="404040"/>
                </a:solidFill>
              </a:rPr>
              <a:t>Wave 1 – non-tie sites – Ring 6 </a:t>
            </a:r>
          </a:p>
        </p:txBody>
      </p:sp>
      <p:sp>
        <p:nvSpPr>
          <p:cNvPr id="59" name="TextBox 58">
            <a:extLst>
              <a:ext uri="{FF2B5EF4-FFF2-40B4-BE49-F238E27FC236}">
                <a16:creationId xmlns:a16="http://schemas.microsoft.com/office/drawing/2014/main" id="{67289DA8-387A-32C1-9483-518790BB8B09}"/>
              </a:ext>
            </a:extLst>
          </p:cNvPr>
          <p:cNvSpPr txBox="1"/>
          <p:nvPr/>
        </p:nvSpPr>
        <p:spPr>
          <a:xfrm>
            <a:off x="640080" y="3563191"/>
            <a:ext cx="6949440" cy="261610"/>
          </a:xfrm>
          <a:prstGeom prst="rect">
            <a:avLst/>
          </a:prstGeom>
          <a:noFill/>
        </p:spPr>
        <p:txBody>
          <a:bodyPr wrap="square">
            <a:spAutoFit/>
          </a:bodyPr>
          <a:lstStyle/>
          <a:p>
            <a:pPr algn="l"/>
            <a:r>
              <a:rPr lang="en-US" sz="1100" b="0" i="0" dirty="0">
                <a:solidFill>
                  <a:srgbClr val="404040"/>
                </a:solidFill>
              </a:rPr>
              <a:t>Wave 2 – non-tie sites – Ring 1</a:t>
            </a:r>
          </a:p>
        </p:txBody>
      </p:sp>
      <p:sp>
        <p:nvSpPr>
          <p:cNvPr id="60" name="TextBox 59"/>
          <p:cNvSpPr txBox="1"/>
          <p:nvPr/>
        </p:nvSpPr>
        <p:spPr>
          <a:xfrm>
            <a:off x="228600" y="2999232"/>
            <a:ext cx="8412480" cy="201168"/>
          </a:xfrm>
          <a:prstGeom prst="rect">
            <a:avLst/>
          </a:prstGeom>
          <a:noFill/>
        </p:spPr>
        <p:txBody>
          <a:bodyPr wrap="square">
            <a:spAutoFit/>
          </a:bodyPr>
          <a:lstStyle/>
          <a:p>
            <a:pPr algn="l"/>
            <a:r>
              <a:rPr b="1" sz="800" i="0">
                <a:solidFill>
                  <a:srgbClr val="003387"/>
                </a:solidFill>
              </a:rPr>
              <a:t>PHASE 1 — MICRO-PHASE BREAKDOWN  |  Vik Vohra directive · Mar 16, 2026</a:t>
            </a:r>
          </a:p>
        </p:txBody>
      </p:sp>
      <p:sp>
        <p:nvSpPr>
          <p:cNvPr id="61" name="Rectangle 60"/>
          <p:cNvSpPr/>
          <p:nvPr/>
        </p:nvSpPr>
        <p:spPr>
          <a:xfrm>
            <a:off x="228600" y="3200400"/>
            <a:ext cx="8412480" cy="3810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2" name="Table 61"/>
          <p:cNvGraphicFramePr>
            <a:graphicFrameLocks noGrp="1"/>
          </p:cNvGraphicFramePr>
          <p:nvPr/>
        </p:nvGraphicFramePr>
        <p:xfrm>
          <a:off x="228600" y="3255264"/>
          <a:ext cx="8412480" cy="2788920"/>
        </p:xfrm>
        <a:graphic>
          <a:graphicData uri="http://schemas.openxmlformats.org/drawingml/2006/table">
            <a:tbl>
              <a:tblPr firstRow="1" bandRow="1">
                <a:tableStyleId>{5C22544A-7EE6-4342-B048-85BDC9FD1C3A}</a:tableStyleId>
              </a:tblPr>
              <a:tblGrid>
                <a:gridCol w="201168"/>
                <a:gridCol w="1920240"/>
                <a:gridCol w="713232"/>
                <a:gridCol w="3840480"/>
                <a:gridCol w="1737360"/>
              </a:tblGrid>
              <a:tr h="309880">
                <a:tc>
                  <a:txBody>
                    <a:bodyPr wrap="square"/>
                    <a:lstStyle/>
                    <a:p>
                      <a:pPr algn="ctr"/>
                      <a:r>
                        <a:rPr b="1" sz="800" i="0">
                          <a:solidFill>
                            <a:srgbClr val="FFFFFF"/>
                          </a:solidFill>
                        </a:rPr>
                        <a:t>#</a:t>
                      </a:r>
                    </a:p>
                  </a:txBody>
                  <a:tcPr>
                    <a:solidFill>
                      <a:srgbClr val="003387"/>
                    </a:solidFill>
                  </a:tcPr>
                </a:tc>
                <a:tc>
                  <a:txBody>
                    <a:bodyPr wrap="square"/>
                    <a:lstStyle/>
                    <a:p>
                      <a:pPr algn="l"/>
                      <a:r>
                        <a:rPr b="1" sz="800" i="0">
                          <a:solidFill>
                            <a:srgbClr val="FFFFFF"/>
                          </a:solidFill>
                        </a:rPr>
                        <a:t>MICRO-PHASE</a:t>
                      </a:r>
                    </a:p>
                  </a:txBody>
                  <a:tcPr>
                    <a:solidFill>
                      <a:srgbClr val="003387"/>
                    </a:solidFill>
                  </a:tcPr>
                </a:tc>
                <a:tc>
                  <a:txBody>
                    <a:bodyPr wrap="square"/>
                    <a:lstStyle/>
                    <a:p>
                      <a:pPr algn="ctr"/>
                      <a:r>
                        <a:rPr b="1" sz="800" i="0">
                          <a:solidFill>
                            <a:srgbClr val="FFFFFF"/>
                          </a:solidFill>
                        </a:rPr>
                        <a:t>STATUS</a:t>
                      </a:r>
                    </a:p>
                  </a:txBody>
                  <a:tcPr>
                    <a:solidFill>
                      <a:srgbClr val="003387"/>
                    </a:solidFill>
                  </a:tcPr>
                </a:tc>
                <a:tc>
                  <a:txBody>
                    <a:bodyPr wrap="square"/>
                    <a:lstStyle/>
                    <a:p>
                      <a:pPr algn="l"/>
                      <a:r>
                        <a:rPr b="1" sz="800" i="0">
                          <a:solidFill>
                            <a:srgbClr val="FFFFFF"/>
                          </a:solidFill>
                        </a:rPr>
                        <a:t>WHAT VIK SAID  ·  DETAIL</a:t>
                      </a:r>
                    </a:p>
                  </a:txBody>
                  <a:tcPr>
                    <a:solidFill>
                      <a:srgbClr val="003387"/>
                    </a:solidFill>
                  </a:tcPr>
                </a:tc>
                <a:tc>
                  <a:txBody>
                    <a:bodyPr wrap="square"/>
                    <a:lstStyle/>
                    <a:p>
                      <a:pPr algn="ctr"/>
                      <a:r>
                        <a:rPr b="1" sz="800" i="0">
                          <a:solidFill>
                            <a:srgbClr val="FFFFFF"/>
                          </a:solidFill>
                        </a:rPr>
                        <a:t>OWNER / DUE</a:t>
                      </a:r>
                    </a:p>
                  </a:txBody>
                  <a:tcPr>
                    <a:solidFill>
                      <a:srgbClr val="003387"/>
                    </a:solidFill>
                  </a:tcPr>
                </a:tc>
              </a:tr>
              <a:tr h="309880">
                <a:tc>
                  <a:txBody>
                    <a:bodyPr wrap="square"/>
                    <a:lstStyle/>
                    <a:p>
                      <a:pPr algn="ctr"/>
                      <a:r>
                        <a:rPr b="1" sz="800" i="0">
                          <a:solidFill>
                            <a:srgbClr val="155724"/>
                          </a:solidFill>
                        </a:rPr>
                        <a:t>1</a:t>
                      </a:r>
                    </a:p>
                  </a:txBody>
                  <a:tcPr>
                    <a:solidFill>
                      <a:srgbClr val="D4EDDA"/>
                    </a:solidFill>
                  </a:tcPr>
                </a:tc>
                <a:tc>
                  <a:txBody>
                    <a:bodyPr wrap="square"/>
                    <a:lstStyle/>
                    <a:p>
                      <a:pPr algn="l"/>
                      <a:r>
                        <a:rPr b="1" sz="800" i="0">
                          <a:solidFill>
                            <a:srgbClr val="155724"/>
                          </a:solidFill>
                        </a:rPr>
                        <a:t>Engineering &amp; Design</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"Engineering 100% done" — Vik confirmed. Site surveys, IFRs, IFCs, HLD all complete for 31 sites.</a:t>
                      </a:r>
                    </a:p>
                  </a:txBody>
                  <a:tcPr>
                    <a:solidFill>
                      <a:srgbClr val="FFFFFF"/>
                    </a:solidFill>
                  </a:tcPr>
                </a:tc>
                <a:tc>
                  <a:txBody>
                    <a:bodyPr wrap="square"/>
                    <a:lstStyle/>
                    <a:p>
                      <a:pPr algn="ctr"/>
                      <a:r>
                        <a:rPr b="0" sz="750" i="0">
                          <a:solidFill>
                            <a:srgbClr val="003387"/>
                          </a:solidFill>
                        </a:rPr>
                        <a:t>B&amp;M ✅ Complete</a:t>
                      </a:r>
                    </a:p>
                  </a:txBody>
                  <a:tcPr>
                    <a:solidFill>
                      <a:srgbClr val="F4F6FA"/>
                    </a:solidFill>
                  </a:tcPr>
                </a:tc>
              </a:tr>
              <a:tr h="309880">
                <a:tc>
                  <a:txBody>
                    <a:bodyPr wrap="square"/>
                    <a:lstStyle/>
                    <a:p>
                      <a:pPr algn="ctr"/>
                      <a:r>
                        <a:rPr b="1" sz="800" i="0">
                          <a:solidFill>
                            <a:srgbClr val="155724"/>
                          </a:solidFill>
                        </a:rPr>
                        <a:t>2</a:t>
                      </a:r>
                    </a:p>
                  </a:txBody>
                  <a:tcPr>
                    <a:solidFill>
                      <a:srgbClr val="D4EDDA"/>
                    </a:solidFill>
                  </a:tcPr>
                </a:tc>
                <a:tc>
                  <a:txBody>
                    <a:bodyPr wrap="square"/>
                    <a:lstStyle/>
                    <a:p>
                      <a:pPr algn="l"/>
                      <a:r>
                        <a:rPr b="1" sz="800" i="0">
                          <a:solidFill>
                            <a:srgbClr val="155724"/>
                          </a:solidFill>
                        </a:rPr>
                        <a:t>Procurement &amp; Staging</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Equipment purchased, staged &amp; tested (9/29/25). Ph2 Nokia equip delivered 2/19/26. Identify Phase 1 leftover equipment with Vinnie before Ph2 procurement.</a:t>
                      </a:r>
                    </a:p>
                  </a:txBody>
                  <a:tcPr>
                    <a:solidFill>
                      <a:srgbClr val="FFFFFF"/>
                    </a:solidFill>
                  </a:tcPr>
                </a:tc>
                <a:tc>
                  <a:txBody>
                    <a:bodyPr wrap="square"/>
                    <a:lstStyle/>
                    <a:p>
                      <a:pPr algn="ctr"/>
                      <a:r>
                        <a:rPr b="0" sz="750" i="0">
                          <a:solidFill>
                            <a:srgbClr val="003387"/>
                          </a:solidFill>
                        </a:rPr>
                        <a:t>PSEG LI / Hawkeye ✅</a:t>
                      </a:r>
                    </a:p>
                  </a:txBody>
                  <a:tcPr>
                    <a:solidFill>
                      <a:srgbClr val="F4F6FA"/>
                    </a:solidFill>
                  </a:tcPr>
                </a:tc>
              </a:tr>
              <a:tr h="309880">
                <a:tc>
                  <a:txBody>
                    <a:bodyPr wrap="square"/>
                    <a:lstStyle/>
                    <a:p>
                      <a:pPr algn="ctr"/>
                      <a:r>
                        <a:rPr b="1" sz="800" i="0">
                          <a:solidFill>
                            <a:srgbClr val="155724"/>
                          </a:solidFill>
                        </a:rPr>
                        <a:t>3</a:t>
                      </a:r>
                    </a:p>
                  </a:txBody>
                  <a:tcPr>
                    <a:solidFill>
                      <a:srgbClr val="D4EDDA"/>
                    </a:solidFill>
                  </a:tcPr>
                </a:tc>
                <a:tc>
                  <a:txBody>
                    <a:bodyPr wrap="square"/>
                    <a:lstStyle/>
                    <a:p>
                      <a:pPr algn="l"/>
                      <a:r>
                        <a:rPr b="1" sz="800" i="0">
                          <a:solidFill>
                            <a:srgbClr val="155724"/>
                          </a:solidFill>
                        </a:rPr>
                        <a:t>Construction &amp; Installation</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31/31 sites installed. CWDM cutovers Oct–Jan. Cat6 done 3/4. "What's done is done — don't report on it." BGP design approved today 3/16 ✅</a:t>
                      </a:r>
                    </a:p>
                  </a:txBody>
                  <a:tcPr>
                    <a:solidFill>
                      <a:srgbClr val="FFFFFF"/>
                    </a:solidFill>
                  </a:tcPr>
                </a:tc>
                <a:tc>
                  <a:txBody>
                    <a:bodyPr wrap="square"/>
                    <a:lstStyle/>
                    <a:p>
                      <a:pPr algn="ctr"/>
                      <a:r>
                        <a:rPr b="0" sz="750" i="0">
                          <a:solidFill>
                            <a:srgbClr val="003387"/>
                          </a:solidFill>
                        </a:rPr>
                        <a:t>Hawkeye ✅ Complete</a:t>
                      </a:r>
                    </a:p>
                  </a:txBody>
                  <a:tcPr>
                    <a:solidFill>
                      <a:srgbClr val="F4F6FA"/>
                    </a:solidFill>
                  </a:tcPr>
                </a:tc>
              </a:tr>
              <a:tr h="309880">
                <a:tc>
                  <a:txBody>
                    <a:bodyPr wrap="square"/>
                    <a:lstStyle/>
                    <a:p>
                      <a:pPr algn="ctr"/>
                      <a:r>
                        <a:rPr b="1" sz="800" i="0">
                          <a:solidFill>
                            <a:srgbClr val="721C24"/>
                          </a:solidFill>
                        </a:rPr>
                        <a:t>4</a:t>
                      </a:r>
                    </a:p>
                  </a:txBody>
                  <a:tcPr>
                    <a:solidFill>
                      <a:srgbClr val="F8D7DA"/>
                    </a:solidFill>
                  </a:tcPr>
                </a:tc>
                <a:tc>
                  <a:txBody>
                    <a:bodyPr wrap="square"/>
                    <a:lstStyle/>
                    <a:p>
                      <a:pPr algn="l"/>
                      <a:r>
                        <a:rPr b="1" sz="800" i="0">
                          <a:solidFill>
                            <a:srgbClr val="721C24"/>
                          </a:solidFill>
                        </a:rPr>
                        <a:t>Deployment / Pre-Cutover</a:t>
                      </a:r>
                    </a:p>
                  </a:txBody>
                  <a:tcPr>
                    <a:solidFill>
                      <a:srgbClr val="F8D7DA"/>
                    </a:solidFill>
                  </a:tcPr>
                </a:tc>
                <a:tc>
                  <a:txBody>
                    <a:bodyPr wrap="square"/>
                    <a:lstStyle/>
                    <a:p>
                      <a:pPr algn="ctr"/>
                      <a:r>
                        <a:rPr b="1" sz="800" i="0">
                          <a:solidFill>
                            <a:srgbClr val="721C24"/>
                          </a:solidFill>
                        </a:rPr>
                        <a:t>🔴 ~5%</a:t>
                      </a:r>
                    </a:p>
                  </a:txBody>
                  <a:tcPr>
                    <a:solidFill>
                      <a:srgbClr val="F8D7DA"/>
                    </a:solidFill>
                  </a:tcPr>
                </a:tc>
                <a:tc>
                  <a:txBody>
                    <a:bodyPr wrap="square"/>
                    <a:lstStyle/>
                    <a:p>
                      <a:pPr algn="l"/>
                      <a:r>
                        <a:rPr b="0" sz="700" i="0">
                          <a:solidFill>
                            <a:srgbClr val="222222"/>
                          </a:solidFill>
                        </a:rPr>
                        <a:t>"Deployment only 5% done." BGP ✅ approved 3/16. BLOCKED on NSP software install — Nokia critical path. Connectivity to production apps not yet established. Target: Jun 2026.</a:t>
                      </a:r>
                    </a:p>
                  </a:txBody>
                  <a:tcPr>
                    <a:solidFill>
                      <a:srgbClr val="FFFFFF"/>
                    </a:solidFill>
                  </a:tcPr>
                </a:tc>
                <a:tc>
                  <a:txBody>
                    <a:bodyPr wrap="square"/>
                    <a:lstStyle/>
                    <a:p>
                      <a:pPr algn="ctr"/>
                      <a:r>
                        <a:rPr b="0" sz="750" i="0">
                          <a:solidFill>
                            <a:srgbClr val="003387"/>
                          </a:solidFill>
                        </a:rPr>
                        <a:t>Nokia → Lee B. 🔴 Jun 2026</a:t>
                      </a:r>
                    </a:p>
                  </a:txBody>
                  <a:tcPr>
                    <a:solidFill>
                      <a:srgbClr val="F4F6FA"/>
                    </a:solidFill>
                  </a:tcPr>
                </a:tc>
              </a:tr>
              <a:tr h="309880">
                <a:tc>
                  <a:txBody>
                    <a:bodyPr wrap="square"/>
                    <a:lstStyle/>
                    <a:p>
                      <a:pPr algn="ctr"/>
                      <a:r>
                        <a:rPr b="1" sz="800" i="0">
                          <a:solidFill>
                            <a:srgbClr val="721C24"/>
                          </a:solidFill>
                        </a:rPr>
                        <a:t>5</a:t>
                      </a:r>
                    </a:p>
                  </a:txBody>
                  <a:tcPr>
                    <a:solidFill>
                      <a:srgbClr val="F8D7DA"/>
                    </a:solidFill>
                  </a:tcPr>
                </a:tc>
                <a:tc>
                  <a:txBody>
                    <a:bodyPr wrap="square"/>
                    <a:lstStyle/>
                    <a:p>
                      <a:pPr algn="l"/>
                      <a:r>
                        <a:rPr b="1" sz="800" i="0">
                          <a:solidFill>
                            <a:srgbClr val="721C24"/>
                          </a:solidFill>
                        </a:rPr>
                        <a:t>Application Layer 3 Cutover</a:t>
                      </a:r>
                    </a:p>
                  </a:txBody>
                  <a:tcPr>
                    <a:solidFill>
                      <a:srgbClr val="F8D7DA"/>
                    </a:solidFill>
                  </a:tcPr>
                </a:tc>
                <a:tc>
                  <a:txBody>
                    <a:bodyPr wrap="square"/>
                    <a:lstStyle/>
                    <a:p>
                      <a:pPr algn="ctr"/>
                      <a:r>
                        <a:rPr b="1" sz="800" i="0">
                          <a:solidFill>
                            <a:srgbClr val="721C24"/>
                          </a:solidFill>
                        </a:rPr>
                        <a:t>🔴 0%</a:t>
                      </a:r>
                    </a:p>
                  </a:txBody>
                  <a:tcPr>
                    <a:solidFill>
                      <a:srgbClr val="F8D7DA"/>
                    </a:solidFill>
                  </a:tcPr>
                </a:tc>
                <a:tc>
                  <a:txBody>
                    <a:bodyPr wrap="square"/>
                    <a:lstStyle/>
                    <a:p>
                      <a:pPr algn="l"/>
                      <a:r>
                        <a:rPr b="0" sz="700" i="0">
                          <a:solidFill>
                            <a:srgbClr val="222222"/>
                          </a:solidFill>
                        </a:rPr>
                        <a:t>5 apps: 2-way radio, DA radio, dSCADA, MicroPAQ, Security. "Accelerate app cutover PREP into Phase 2." Production traffic migration stays Phase 3. Pilot: Syosset first.</a:t>
                      </a:r>
                    </a:p>
                  </a:txBody>
                  <a:tcPr>
                    <a:solidFill>
                      <a:srgbClr val="FFFFFF"/>
                    </a:solidFill>
                  </a:tcPr>
                </a:tc>
                <a:tc>
                  <a:txBody>
                    <a:bodyPr wrap="square"/>
                    <a:lstStyle/>
                    <a:p>
                      <a:pPr algn="ctr"/>
                      <a:r>
                        <a:rPr b="0" sz="750" i="0">
                          <a:solidFill>
                            <a:srgbClr val="003387"/>
                          </a:solidFill>
                        </a:rPr>
                        <a:t>B&amp;M + App Owners 🔴</a:t>
                      </a:r>
                    </a:p>
                  </a:txBody>
                  <a:tcPr>
                    <a:solidFill>
                      <a:srgbClr val="F4F6FA"/>
                    </a:solidFill>
                  </a:tcPr>
                </a:tc>
              </a:tr>
              <a:tr h="309880">
                <a:tc>
                  <a:txBody>
                    <a:bodyPr wrap="square"/>
                    <a:lstStyle/>
                    <a:p>
                      <a:pPr algn="ctr"/>
                      <a:r>
                        <a:rPr b="1" sz="800" i="0">
                          <a:solidFill>
                            <a:srgbClr val="721C24"/>
                          </a:solidFill>
                        </a:rPr>
                        <a:t>6</a:t>
                      </a:r>
                    </a:p>
                  </a:txBody>
                  <a:tcPr>
                    <a:solidFill>
                      <a:srgbClr val="F8D7DA"/>
                    </a:solidFill>
                  </a:tcPr>
                </a:tc>
                <a:tc>
                  <a:txBody>
                    <a:bodyPr wrap="square"/>
                    <a:lstStyle/>
                    <a:p>
                      <a:pPr algn="l"/>
                      <a:r>
                        <a:rPr b="1" sz="800" i="0">
                          <a:solidFill>
                            <a:srgbClr val="721C24"/>
                          </a:solidFill>
                        </a:rPr>
                        <a:t>RTU / Layer 2 Cutover</a:t>
                      </a:r>
                    </a:p>
                  </a:txBody>
                  <a:tcPr>
                    <a:solidFill>
                      <a:srgbClr val="F8D7DA"/>
                    </a:solidFill>
                  </a:tcPr>
                </a:tc>
                <a:tc>
                  <a:txBody>
                    <a:bodyPr wrap="square"/>
                    <a:lstStyle/>
                    <a:p>
                      <a:pPr algn="ctr"/>
                      <a:r>
                        <a:rPr b="1" sz="800" i="0">
                          <a:solidFill>
                            <a:srgbClr val="721C24"/>
                          </a:solidFill>
                        </a:rPr>
                        <a:t>🔴 0%</a:t>
                      </a:r>
                    </a:p>
                  </a:txBody>
                  <a:tcPr>
                    <a:solidFill>
                      <a:srgbClr val="F8D7DA"/>
                    </a:solidFill>
                  </a:tcPr>
                </a:tc>
                <a:tc>
                  <a:txBody>
                    <a:bodyPr wrap="square"/>
                    <a:lstStyle/>
                    <a:p>
                      <a:pPr algn="l"/>
                      <a:r>
                        <a:rPr b="0" sz="700" i="0">
                          <a:solidFill>
                            <a:srgbClr val="222222"/>
                          </a:solidFill>
                        </a:rPr>
                        <a:t>On-site only — physical cable migration. "RTU and security/radio aspects are part of Phase 1, not separate phases." ~32 days effort. Sequential: must follow Layer 3.</a:t>
                      </a:r>
                    </a:p>
                  </a:txBody>
                  <a:tcPr>
                    <a:solidFill>
                      <a:srgbClr val="FFFFFF"/>
                    </a:solidFill>
                  </a:tcPr>
                </a:tc>
                <a:tc>
                  <a:txBody>
                    <a:bodyPr wrap="square"/>
                    <a:lstStyle/>
                    <a:p>
                      <a:pPr algn="ctr"/>
                      <a:r>
                        <a:rPr b="0" sz="750" i="0">
                          <a:solidFill>
                            <a:srgbClr val="003387"/>
                          </a:solidFill>
                        </a:rPr>
                        <a:t>PSEG LI Relay 🔴</a:t>
                      </a:r>
                    </a:p>
                  </a:txBody>
                  <a:tcPr>
                    <a:solidFill>
                      <a:srgbClr val="F4F6FA"/>
                    </a:solidFill>
                  </a:tcPr>
                </a:tc>
              </a:tr>
              <a:tr h="309880">
                <a:tc>
                  <a:txBody>
                    <a:bodyPr wrap="square"/>
                    <a:lstStyle/>
                    <a:p>
                      <a:pPr algn="ctr"/>
                      <a:r>
                        <a:rPr b="1" sz="800" i="0">
                          <a:solidFill>
                            <a:srgbClr val="856404"/>
                          </a:solidFill>
                        </a:rPr>
                        <a:t>7</a:t>
                      </a:r>
                    </a:p>
                  </a:txBody>
                  <a:tcPr>
                    <a:solidFill>
                      <a:srgbClr val="FFF3CD"/>
                    </a:solidFill>
                  </a:tcPr>
                </a:tc>
                <a:tc>
                  <a:txBody>
                    <a:bodyPr wrap="square"/>
                    <a:lstStyle/>
                    <a:p>
                      <a:pPr algn="l"/>
                      <a:r>
                        <a:rPr b="1" sz="800" i="0">
                          <a:solidFill>
                            <a:srgbClr val="856404"/>
                          </a:solidFill>
                        </a:rPr>
                        <a:t>As-Builts &amp; Decommission</a:t>
                      </a:r>
                    </a:p>
                  </a:txBody>
                  <a:tcPr>
                    <a:solidFill>
                      <a:srgbClr val="FFF3CD"/>
                    </a:solidFill>
                  </a:tcPr>
                </a:tc>
                <a:tc>
                  <a:txBody>
                    <a:bodyPr wrap="square"/>
                    <a:lstStyle/>
                    <a:p>
                      <a:pPr algn="ctr"/>
                      <a:r>
                        <a:rPr b="1" sz="800" i="0">
                          <a:solidFill>
                            <a:srgbClr val="856404"/>
                          </a:solidFill>
                        </a:rPr>
                        <a:t>⏳ 2027</a:t>
                      </a:r>
                    </a:p>
                  </a:txBody>
                  <a:tcPr>
                    <a:solidFill>
                      <a:srgbClr val="FFF3CD"/>
                    </a:solidFill>
                  </a:tcPr>
                </a:tc>
                <a:tc>
                  <a:txBody>
                    <a:bodyPr wrap="square"/>
                    <a:lstStyle/>
                    <a:p>
                      <a:pPr algn="l"/>
                      <a:r>
                        <a:rPr b="0" sz="700" i="0">
                          <a:solidFill>
                            <a:srgbClr val="222222"/>
                          </a:solidFill>
                        </a:rPr>
                        <a:t>"Funding for app transitioning and decommissioning is in 2027." Exclude as-built dates from weekly report — too many changes. JMUX Ring 1 decommission = post-Phase 3.</a:t>
                      </a:r>
                    </a:p>
                  </a:txBody>
                  <a:tcPr>
                    <a:solidFill>
                      <a:srgbClr val="FFFFFF"/>
                    </a:solidFill>
                  </a:tcPr>
                </a:tc>
                <a:tc>
                  <a:txBody>
                    <a:bodyPr wrap="square"/>
                    <a:lstStyle/>
                    <a:p>
                      <a:pPr algn="ctr"/>
                      <a:r>
                        <a:rPr b="0" sz="750" i="0">
                          <a:solidFill>
                            <a:srgbClr val="003387"/>
                          </a:solidFill>
                        </a:rPr>
                        <a:t>B&amp;M / Hawkeye ⏳ 2027</a:t>
                      </a:r>
                    </a:p>
                  </a:txBody>
                  <a:tcPr>
                    <a:solidFill>
                      <a:srgbClr val="F4F6FA"/>
                    </a:solidFill>
                  </a:tcPr>
                </a:tc>
              </a:tr>
              <a:tr h="309880">
                <a:tc>
                  <a:txBody>
                    <a:bodyPr wrap="square"/>
                    <a:lstStyle/>
                    <a:p>
                      <a:pPr algn="l"/>
                      <a:r>
                        <a:rPr b="0" sz="800" i="0">
                          <a:solidFill>
                            <a:srgbClr val="FFFFFF"/>
                          </a:solidFill>
                        </a:rPr>
                        <a:t/>
                      </a:r>
                    </a:p>
                  </a:txBody>
                  <a:tcPr>
                    <a:solidFill>
                      <a:srgbClr val="003387"/>
                    </a:solidFill>
                  </a:tcPr>
                </a:tc>
                <a:tc>
                  <a:txBody>
                    <a:bodyPr wrap="square"/>
                    <a:lstStyle/>
                    <a:p>
                      <a:pPr algn="l"/>
                      <a:r>
                        <a:rPr b="1" sz="900" i="0">
                          <a:solidFill>
                            <a:srgbClr val="FFFFFF"/>
                          </a:solidFill>
                        </a:rPr>
                        <a:t>PHASE 1 OVERALL</a:t>
                      </a:r>
                    </a:p>
                  </a:txBody>
                  <a:tcPr>
                    <a:solidFill>
                      <a:srgbClr val="003387"/>
                    </a:solidFill>
                  </a:tcPr>
                </a:tc>
                <a:tc>
                  <a:txBody>
                    <a:bodyPr wrap="square"/>
                    <a:lstStyle/>
                    <a:p>
                      <a:pPr algn="ctr"/>
                      <a:r>
                        <a:rPr b="1" sz="900" i="0">
                          <a:solidFill>
                            <a:srgbClr val="F7941D"/>
                          </a:solidFill>
                        </a:rPr>
                        <a:t>🟡 ~65%</a:t>
                      </a:r>
                    </a:p>
                  </a:txBody>
                  <a:tcPr>
                    <a:solidFill>
                      <a:srgbClr val="003387"/>
                    </a:solidFill>
                  </a:tcPr>
                </a:tc>
                <a:tc>
                  <a:txBody>
                    <a:bodyPr wrap="square"/>
                    <a:lstStyle/>
                    <a:p>
                      <a:pPr algn="l"/>
                      <a:r>
                        <a:rPr b="0" sz="750" i="1">
                          <a:solidFill>
                            <a:srgbClr val="F7941D"/>
                          </a:solidFill>
                        </a:rPr>
                        <a:t>"Phase One needs to be broken into micro-phases. The entire phase is not complete." — Vik Vohra · Mar 16, 2026  |  Target: June 2026  |  Critical path: NSP (Nokia)</a:t>
                      </a:r>
                    </a:p>
                  </a:txBody>
                  <a:tcPr>
                    <a:solidFill>
                      <a:srgbClr val="003387"/>
                    </a:solidFill>
                  </a:tcPr>
                </a:tc>
                <a:tc>
                  <a:txBody>
                    <a:bodyPr wrap="square"/>
                    <a:lstStyle/>
                    <a:p>
                      <a:pPr algn="ctr"/>
                      <a:r>
                        <a:rPr b="1" sz="800" i="0">
                          <a:solidFill>
                            <a:srgbClr val="F7941D"/>
                          </a:solidFill>
                        </a:rPr>
                        <a:t>PM: Jaya · SPI: 0.76</a:t>
                      </a:r>
                    </a:p>
                  </a:txBody>
                  <a:tcPr>
                    <a:solidFill>
                      <a:srgbClr val="003387"/>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2 Status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rgbClr val="F7941D"/>
                </a:solidFill>
              </a:rPr>
              <a:t>3</a:t>
            </a:r>
            <a:r>
              <a:rPr lang="en-US" sz="1200" dirty="0">
                <a:solidFill>
                  <a:srgbClr val="F7941D"/>
                </a:solidFill>
              </a:rPr>
              <a:t>4</a:t>
            </a:r>
            <a:r>
              <a:rPr sz="1200" b="0" i="0" dirty="0">
                <a:solidFill>
                  <a:srgbClr val="F7941D"/>
                </a:solidFill>
              </a:rPr>
              <a:t> Sites | Engineering Design Underway | Burns &amp; McDonnell SOW: $1.37M</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60704"/>
            <a:ext cx="1737360" cy="256032"/>
          </a:xfrm>
          <a:prstGeom prst="rect">
            <a:avLst/>
          </a:prstGeom>
          <a:noFill/>
        </p:spPr>
        <p:txBody>
          <a:bodyPr wrap="square">
            <a:spAutoFit/>
          </a:bodyPr>
          <a:lstStyle/>
          <a:p>
            <a:pPr algn="ctr"/>
            <a:r>
              <a:rPr sz="900" b="1" i="0">
                <a:solidFill>
                  <a:srgbClr val="FFFFFF"/>
                </a:solidFill>
              </a:rPr>
              <a:t>Site Surveys</a:t>
            </a:r>
          </a:p>
        </p:txBody>
      </p:sp>
      <p:sp>
        <p:nvSpPr>
          <p:cNvPr id="10" name="TextBox 9"/>
          <p:cNvSpPr txBox="1"/>
          <p:nvPr/>
        </p:nvSpPr>
        <p:spPr>
          <a:xfrm>
            <a:off x="320040"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1" name="Rectangle 10"/>
          <p:cNvSpPr/>
          <p:nvPr/>
        </p:nvSpPr>
        <p:spPr>
          <a:xfrm>
            <a:off x="2240279"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5999" y="1060704"/>
            <a:ext cx="1737360" cy="256032"/>
          </a:xfrm>
          <a:prstGeom prst="rect">
            <a:avLst/>
          </a:prstGeom>
          <a:noFill/>
        </p:spPr>
        <p:txBody>
          <a:bodyPr wrap="square">
            <a:spAutoFit/>
          </a:bodyPr>
          <a:lstStyle/>
          <a:p>
            <a:pPr algn="ctr"/>
            <a:r>
              <a:rPr sz="900" b="1" i="0">
                <a:solidFill>
                  <a:srgbClr val="FFFFFF"/>
                </a:solidFill>
              </a:rPr>
              <a:t>Nokia Equip. Delivery</a:t>
            </a:r>
          </a:p>
        </p:txBody>
      </p:sp>
      <p:sp>
        <p:nvSpPr>
          <p:cNvPr id="13" name="TextBox 12"/>
          <p:cNvSpPr txBox="1"/>
          <p:nvPr/>
        </p:nvSpPr>
        <p:spPr>
          <a:xfrm>
            <a:off x="2285999"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4" name="Rectangle 13"/>
          <p:cNvSpPr/>
          <p:nvPr/>
        </p:nvSpPr>
        <p:spPr>
          <a:xfrm>
            <a:off x="4206240"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1060704"/>
            <a:ext cx="1737360" cy="256032"/>
          </a:xfrm>
          <a:prstGeom prst="rect">
            <a:avLst/>
          </a:prstGeom>
          <a:noFill/>
        </p:spPr>
        <p:txBody>
          <a:bodyPr wrap="square">
            <a:spAutoFit/>
          </a:bodyPr>
          <a:lstStyle/>
          <a:p>
            <a:pPr algn="ctr"/>
            <a:r>
              <a:rPr sz="900" b="1" i="0">
                <a:solidFill>
                  <a:srgbClr val="FFFFFF"/>
                </a:solidFill>
              </a:rPr>
              <a:t>IFR Design (B&amp;McD)</a:t>
            </a:r>
          </a:p>
        </p:txBody>
      </p:sp>
      <p:sp>
        <p:nvSpPr>
          <p:cNvPr id="16" name="TextBox 15"/>
          <p:cNvSpPr txBox="1"/>
          <p:nvPr/>
        </p:nvSpPr>
        <p:spPr>
          <a:xfrm>
            <a:off x="425195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17" name="Rectangle 16"/>
          <p:cNvSpPr/>
          <p:nvPr/>
        </p:nvSpPr>
        <p:spPr>
          <a:xfrm>
            <a:off x="6172199"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19" y="1060704"/>
            <a:ext cx="1737360" cy="256032"/>
          </a:xfrm>
          <a:prstGeom prst="rect">
            <a:avLst/>
          </a:prstGeom>
          <a:noFill/>
        </p:spPr>
        <p:txBody>
          <a:bodyPr wrap="square">
            <a:spAutoFit/>
          </a:bodyPr>
          <a:lstStyle/>
          <a:p>
            <a:pPr algn="ctr"/>
            <a:r>
              <a:rPr sz="900" b="1" i="0">
                <a:solidFill>
                  <a:srgbClr val="FFFFFF"/>
                </a:solidFill>
              </a:rPr>
              <a:t>IFC Design</a:t>
            </a:r>
          </a:p>
        </p:txBody>
      </p:sp>
      <p:sp>
        <p:nvSpPr>
          <p:cNvPr id="19" name="TextBox 18"/>
          <p:cNvSpPr txBox="1"/>
          <p:nvPr/>
        </p:nvSpPr>
        <p:spPr>
          <a:xfrm>
            <a:off x="621791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20" name="Rectangle 19"/>
          <p:cNvSpPr/>
          <p:nvPr/>
        </p:nvSpPr>
        <p:spPr>
          <a:xfrm>
            <a:off x="813816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80" y="1060704"/>
            <a:ext cx="1737360" cy="256032"/>
          </a:xfrm>
          <a:prstGeom prst="rect">
            <a:avLst/>
          </a:prstGeom>
          <a:noFill/>
        </p:spPr>
        <p:txBody>
          <a:bodyPr wrap="square">
            <a:spAutoFit/>
          </a:bodyPr>
          <a:lstStyle/>
          <a:p>
            <a:pPr algn="ctr"/>
            <a:r>
              <a:rPr sz="900" b="1" i="0">
                <a:solidFill>
                  <a:srgbClr val="FFFFFF"/>
                </a:solidFill>
              </a:rPr>
              <a:t>Construction</a:t>
            </a:r>
          </a:p>
        </p:txBody>
      </p:sp>
      <p:sp>
        <p:nvSpPr>
          <p:cNvPr id="22" name="TextBox 21"/>
          <p:cNvSpPr txBox="1"/>
          <p:nvPr/>
        </p:nvSpPr>
        <p:spPr>
          <a:xfrm>
            <a:off x="818388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3" name="Rectangle 22"/>
          <p:cNvSpPr/>
          <p:nvPr/>
        </p:nvSpPr>
        <p:spPr>
          <a:xfrm>
            <a:off x="1010412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49840" y="1060704"/>
            <a:ext cx="1737360" cy="256032"/>
          </a:xfrm>
          <a:prstGeom prst="rect">
            <a:avLst/>
          </a:prstGeom>
          <a:noFill/>
        </p:spPr>
        <p:txBody>
          <a:bodyPr wrap="square">
            <a:spAutoFit/>
          </a:bodyPr>
          <a:lstStyle/>
          <a:p>
            <a:pPr algn="ctr"/>
            <a:r>
              <a:rPr sz="900" b="1" i="0">
                <a:solidFill>
                  <a:srgbClr val="FFFFFF"/>
                </a:solidFill>
              </a:rPr>
              <a:t>Cutover</a:t>
            </a:r>
          </a:p>
        </p:txBody>
      </p:sp>
      <p:sp>
        <p:nvSpPr>
          <p:cNvPr id="25" name="TextBox 24"/>
          <p:cNvSpPr txBox="1"/>
          <p:nvPr/>
        </p:nvSpPr>
        <p:spPr>
          <a:xfrm>
            <a:off x="1014984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6" name="Rectangle 25"/>
          <p:cNvSpPr/>
          <p:nvPr/>
        </p:nvSpPr>
        <p:spPr>
          <a:xfrm>
            <a:off x="274320" y="1691640"/>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1709928"/>
            <a:ext cx="3657600" cy="292608"/>
          </a:xfrm>
          <a:prstGeom prst="rect">
            <a:avLst/>
          </a:prstGeom>
          <a:noFill/>
        </p:spPr>
        <p:txBody>
          <a:bodyPr wrap="square">
            <a:spAutoFit/>
          </a:bodyPr>
          <a:lstStyle/>
          <a:p>
            <a:pPr algn="l"/>
            <a:r>
              <a:rPr sz="1100" b="1" i="0">
                <a:solidFill>
                  <a:srgbClr val="FFFFFF"/>
                </a:solidFill>
              </a:rPr>
              <a:t>Milestone</a:t>
            </a:r>
          </a:p>
        </p:txBody>
      </p:sp>
      <p:sp>
        <p:nvSpPr>
          <p:cNvPr id="28" name="TextBox 27"/>
          <p:cNvSpPr txBox="1"/>
          <p:nvPr/>
        </p:nvSpPr>
        <p:spPr>
          <a:xfrm>
            <a:off x="3977639" y="1709928"/>
            <a:ext cx="2011680" cy="292608"/>
          </a:xfrm>
          <a:prstGeom prst="rect">
            <a:avLst/>
          </a:prstGeom>
          <a:noFill/>
        </p:spPr>
        <p:txBody>
          <a:bodyPr wrap="square">
            <a:spAutoFit/>
          </a:bodyPr>
          <a:lstStyle/>
          <a:p>
            <a:pPr algn="l"/>
            <a:r>
              <a:rPr sz="1100" b="1" i="0">
                <a:solidFill>
                  <a:srgbClr val="FFFFFF"/>
                </a:solidFill>
              </a:rPr>
              <a:t>Contract Date</a:t>
            </a:r>
          </a:p>
        </p:txBody>
      </p:sp>
      <p:sp>
        <p:nvSpPr>
          <p:cNvPr id="29" name="TextBox 28"/>
          <p:cNvSpPr txBox="1"/>
          <p:nvPr/>
        </p:nvSpPr>
        <p:spPr>
          <a:xfrm>
            <a:off x="5989320" y="1709928"/>
            <a:ext cx="1828800" cy="292608"/>
          </a:xfrm>
          <a:prstGeom prst="rect">
            <a:avLst/>
          </a:prstGeom>
          <a:noFill/>
        </p:spPr>
        <p:txBody>
          <a:bodyPr wrap="square">
            <a:spAutoFit/>
          </a:bodyPr>
          <a:lstStyle/>
          <a:p>
            <a:pPr algn="l"/>
            <a:r>
              <a:rPr sz="1100" b="1" i="0">
                <a:solidFill>
                  <a:srgbClr val="FFFFFF"/>
                </a:solidFill>
              </a:rPr>
              <a:t>Status</a:t>
            </a:r>
          </a:p>
        </p:txBody>
      </p:sp>
      <p:sp>
        <p:nvSpPr>
          <p:cNvPr id="30" name="TextBox 29"/>
          <p:cNvSpPr txBox="1"/>
          <p:nvPr/>
        </p:nvSpPr>
        <p:spPr>
          <a:xfrm>
            <a:off x="7818120" y="1709928"/>
            <a:ext cx="4114800" cy="292608"/>
          </a:xfrm>
          <a:prstGeom prst="rect">
            <a:avLst/>
          </a:prstGeom>
          <a:noFill/>
        </p:spPr>
        <p:txBody>
          <a:bodyPr wrap="square">
            <a:spAutoFit/>
          </a:bodyPr>
          <a:lstStyle/>
          <a:p>
            <a:pPr algn="l"/>
            <a:r>
              <a:rPr sz="1100" b="1" i="0">
                <a:solidFill>
                  <a:srgbClr val="FFFFFF"/>
                </a:solidFill>
              </a:rPr>
              <a:t>Notes</a:t>
            </a:r>
          </a:p>
        </p:txBody>
      </p:sp>
      <p:sp>
        <p:nvSpPr>
          <p:cNvPr id="31" name="Rectangle 30"/>
          <p:cNvSpPr/>
          <p:nvPr/>
        </p:nvSpPr>
        <p:spPr>
          <a:xfrm>
            <a:off x="274320" y="2103120"/>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2761487"/>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74320" y="3419856"/>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2907792"/>
            <a:ext cx="3566160" cy="530352"/>
          </a:xfrm>
          <a:prstGeom prst="rect">
            <a:avLst/>
          </a:prstGeom>
          <a:noFill/>
        </p:spPr>
        <p:txBody>
          <a:bodyPr wrap="square">
            <a:spAutoFit/>
          </a:bodyPr>
          <a:lstStyle/>
          <a:p>
            <a:pPr algn="l"/>
            <a:r>
              <a:rPr sz="1000" b="0" i="0" dirty="0">
                <a:solidFill>
                  <a:srgbClr val="404040"/>
                </a:solidFill>
              </a:rPr>
              <a:t>Substation Site Surveys (Phase 2)</a:t>
            </a:r>
          </a:p>
        </p:txBody>
      </p:sp>
      <p:sp>
        <p:nvSpPr>
          <p:cNvPr id="43" name="TextBox 42"/>
          <p:cNvSpPr txBox="1"/>
          <p:nvPr/>
        </p:nvSpPr>
        <p:spPr>
          <a:xfrm>
            <a:off x="3931919" y="2907792"/>
            <a:ext cx="1920240" cy="530352"/>
          </a:xfrm>
          <a:prstGeom prst="rect">
            <a:avLst/>
          </a:prstGeom>
          <a:noFill/>
        </p:spPr>
        <p:txBody>
          <a:bodyPr wrap="square">
            <a:spAutoFit/>
          </a:bodyPr>
          <a:lstStyle/>
          <a:p>
            <a:pPr algn="l"/>
            <a:r>
              <a:rPr sz="1000" b="0" i="0">
                <a:solidFill>
                  <a:srgbClr val="404040"/>
                </a:solidFill>
              </a:rPr>
              <a:t>2/27/2026</a:t>
            </a:r>
          </a:p>
        </p:txBody>
      </p:sp>
      <p:sp>
        <p:nvSpPr>
          <p:cNvPr id="44" name="TextBox 43"/>
          <p:cNvSpPr txBox="1"/>
          <p:nvPr/>
        </p:nvSpPr>
        <p:spPr>
          <a:xfrm>
            <a:off x="5943600" y="2907792"/>
            <a:ext cx="1737360" cy="530352"/>
          </a:xfrm>
          <a:prstGeom prst="rect">
            <a:avLst/>
          </a:prstGeom>
          <a:noFill/>
        </p:spPr>
        <p:txBody>
          <a:bodyPr wrap="square">
            <a:spAutoFit/>
          </a:bodyPr>
          <a:lstStyle/>
          <a:p>
            <a:pPr algn="l"/>
            <a:r>
              <a:rPr sz="1000" b="0" i="0" dirty="0">
                <a:solidFill>
                  <a:srgbClr val="008000"/>
                </a:solidFill>
              </a:rPr>
              <a:t>✅ Complete</a:t>
            </a:r>
          </a:p>
        </p:txBody>
      </p:sp>
      <p:sp>
        <p:nvSpPr>
          <p:cNvPr id="45" name="TextBox 44"/>
          <p:cNvSpPr txBox="1"/>
          <p:nvPr/>
        </p:nvSpPr>
        <p:spPr>
          <a:xfrm>
            <a:off x="7772400" y="2907792"/>
            <a:ext cx="4023360" cy="530352"/>
          </a:xfrm>
          <a:prstGeom prst="rect">
            <a:avLst/>
          </a:prstGeom>
          <a:noFill/>
        </p:spPr>
        <p:txBody>
          <a:bodyPr wrap="square">
            <a:spAutoFit/>
          </a:bodyPr>
          <a:lstStyle/>
          <a:p>
            <a:pPr algn="l"/>
            <a:r>
              <a:rPr sz="1000" b="0" i="0">
                <a:solidFill>
                  <a:srgbClr val="404040"/>
                </a:solidFill>
              </a:rPr>
              <a:t>Completed during Phase 1 — ahead of schedule</a:t>
            </a:r>
          </a:p>
        </p:txBody>
      </p:sp>
      <p:sp>
        <p:nvSpPr>
          <p:cNvPr id="46" name="Rectangle 45"/>
          <p:cNvSpPr/>
          <p:nvPr/>
        </p:nvSpPr>
        <p:spPr>
          <a:xfrm>
            <a:off x="274320" y="4078224"/>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 y="3566161"/>
            <a:ext cx="3566160" cy="530352"/>
          </a:xfrm>
          <a:prstGeom prst="rect">
            <a:avLst/>
          </a:prstGeom>
          <a:noFill/>
        </p:spPr>
        <p:txBody>
          <a:bodyPr wrap="square">
            <a:spAutoFit/>
          </a:bodyPr>
          <a:lstStyle/>
          <a:p>
            <a:pPr algn="l"/>
            <a:r>
              <a:rPr sz="1000" b="0" i="0" dirty="0">
                <a:solidFill>
                  <a:srgbClr val="404040"/>
                </a:solidFill>
              </a:rPr>
              <a:t>MPLS Network Node Design — IFR</a:t>
            </a:r>
          </a:p>
        </p:txBody>
      </p:sp>
      <p:sp>
        <p:nvSpPr>
          <p:cNvPr id="48" name="TextBox 47"/>
          <p:cNvSpPr txBox="1"/>
          <p:nvPr/>
        </p:nvSpPr>
        <p:spPr>
          <a:xfrm>
            <a:off x="3931919" y="3566161"/>
            <a:ext cx="1920240" cy="530352"/>
          </a:xfrm>
          <a:prstGeom prst="rect">
            <a:avLst/>
          </a:prstGeom>
          <a:noFill/>
        </p:spPr>
        <p:txBody>
          <a:bodyPr wrap="square">
            <a:spAutoFit/>
          </a:bodyPr>
          <a:lstStyle/>
          <a:p>
            <a:pPr algn="l"/>
            <a:r>
              <a:rPr sz="1000" b="0" i="0">
                <a:solidFill>
                  <a:srgbClr val="404040"/>
                </a:solidFill>
              </a:rPr>
              <a:t>Wave 1: 2/23/26</a:t>
            </a:r>
          </a:p>
        </p:txBody>
      </p:sp>
      <p:sp>
        <p:nvSpPr>
          <p:cNvPr id="49" name="TextBox 48"/>
          <p:cNvSpPr txBox="1"/>
          <p:nvPr/>
        </p:nvSpPr>
        <p:spPr>
          <a:xfrm>
            <a:off x="5943600" y="3566161"/>
            <a:ext cx="1737360" cy="530352"/>
          </a:xfrm>
          <a:prstGeom prst="rect">
            <a:avLst/>
          </a:prstGeom>
          <a:noFill/>
        </p:spPr>
        <p:txBody>
          <a:bodyPr wrap="square">
            <a:spAutoFit/>
          </a:bodyPr>
          <a:lstStyle/>
          <a:p>
            <a:pPr algn="l"/>
            <a:r>
              <a:rPr sz="1000" b="0" i="0" dirty="0">
                <a:solidFill>
                  <a:srgbClr val="FFC000"/>
                </a:solidFill>
              </a:rPr>
              <a:t>🟡 In Progress</a:t>
            </a:r>
          </a:p>
        </p:txBody>
      </p:sp>
      <p:sp>
        <p:nvSpPr>
          <p:cNvPr id="50" name="TextBox 49"/>
          <p:cNvSpPr txBox="1"/>
          <p:nvPr/>
        </p:nvSpPr>
        <p:spPr>
          <a:xfrm>
            <a:off x="7772400" y="3566161"/>
            <a:ext cx="4023360" cy="530352"/>
          </a:xfrm>
          <a:prstGeom prst="rect">
            <a:avLst/>
          </a:prstGeom>
          <a:noFill/>
        </p:spPr>
        <p:txBody>
          <a:bodyPr wrap="square">
            <a:spAutoFit/>
          </a:bodyPr>
          <a:lstStyle/>
          <a:p>
            <a:pPr algn="l"/>
            <a:r>
              <a:rPr sz="1000" b="0" i="0">
                <a:solidFill>
                  <a:srgbClr val="404040"/>
                </a:solidFill>
              </a:rPr>
              <a:t>Wave 1 (3 sites) ✅ Approved &amp; IFC uploaded. Wave 2 in progress.</a:t>
            </a:r>
          </a:p>
        </p:txBody>
      </p:sp>
      <p:sp>
        <p:nvSpPr>
          <p:cNvPr id="51" name="Rectangle 50"/>
          <p:cNvSpPr/>
          <p:nvPr/>
        </p:nvSpPr>
        <p:spPr>
          <a:xfrm>
            <a:off x="274320" y="4736592"/>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4320" y="4224529"/>
            <a:ext cx="3566160" cy="530352"/>
          </a:xfrm>
          <a:prstGeom prst="rect">
            <a:avLst/>
          </a:prstGeom>
          <a:noFill/>
        </p:spPr>
        <p:txBody>
          <a:bodyPr wrap="square">
            <a:spAutoFit/>
          </a:bodyPr>
          <a:lstStyle/>
          <a:p>
            <a:pPr algn="l"/>
            <a:r>
              <a:rPr sz="1000" b="0" i="0">
                <a:solidFill>
                  <a:srgbClr val="404040"/>
                </a:solidFill>
              </a:rPr>
              <a:t>MPLS Network Node Design — IFC</a:t>
            </a:r>
          </a:p>
        </p:txBody>
      </p:sp>
      <p:sp>
        <p:nvSpPr>
          <p:cNvPr id="53" name="TextBox 52"/>
          <p:cNvSpPr txBox="1"/>
          <p:nvPr/>
        </p:nvSpPr>
        <p:spPr>
          <a:xfrm>
            <a:off x="3931919" y="4224529"/>
            <a:ext cx="1920240" cy="530352"/>
          </a:xfrm>
          <a:prstGeom prst="rect">
            <a:avLst/>
          </a:prstGeom>
          <a:noFill/>
        </p:spPr>
        <p:txBody>
          <a:bodyPr wrap="square">
            <a:spAutoFit/>
          </a:bodyPr>
          <a:lstStyle/>
          <a:p>
            <a:pPr algn="l"/>
            <a:r>
              <a:rPr sz="1000" b="0" i="0">
                <a:solidFill>
                  <a:srgbClr val="404040"/>
                </a:solidFill>
              </a:rPr>
              <a:t>Wave 1: 3/23/26</a:t>
            </a:r>
          </a:p>
        </p:txBody>
      </p:sp>
      <p:sp>
        <p:nvSpPr>
          <p:cNvPr id="55" name="TextBox 54"/>
          <p:cNvSpPr txBox="1"/>
          <p:nvPr/>
        </p:nvSpPr>
        <p:spPr>
          <a:xfrm>
            <a:off x="7772400" y="4224529"/>
            <a:ext cx="4023360" cy="530352"/>
          </a:xfrm>
          <a:prstGeom prst="rect">
            <a:avLst/>
          </a:prstGeom>
          <a:noFill/>
        </p:spPr>
        <p:txBody>
          <a:bodyPr wrap="square">
            <a:spAutoFit/>
          </a:bodyPr>
          <a:lstStyle/>
          <a:p>
            <a:pPr algn="l"/>
            <a:r>
              <a:rPr sz="1000" b="0" i="0">
                <a:solidFill>
                  <a:srgbClr val="00B050"/>
                </a:solidFill>
              </a:rPr>
              <a:t>Wave 1 IFC COMPLETE ✅ — Far Rockaway, Valley Stream, Cedarhurst uploaded to shared drive</a:t>
            </a:r>
          </a:p>
        </p:txBody>
      </p:sp>
      <p:sp>
        <p:nvSpPr>
          <p:cNvPr id="56" name="Rectangle 55"/>
          <p:cNvSpPr/>
          <p:nvPr/>
        </p:nvSpPr>
        <p:spPr>
          <a:xfrm>
            <a:off x="274320" y="5394959"/>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320" y="4882896"/>
            <a:ext cx="3566160" cy="530352"/>
          </a:xfrm>
          <a:prstGeom prst="rect">
            <a:avLst/>
          </a:prstGeom>
          <a:noFill/>
        </p:spPr>
        <p:txBody>
          <a:bodyPr wrap="square">
            <a:spAutoFit/>
          </a:bodyPr>
          <a:lstStyle/>
          <a:p>
            <a:pPr algn="l"/>
            <a:r>
              <a:rPr sz="1000" b="0" i="0">
                <a:solidFill>
                  <a:srgbClr val="404040"/>
                </a:solidFill>
              </a:rPr>
              <a:t>Construction &amp; Installation</a:t>
            </a:r>
          </a:p>
        </p:txBody>
      </p:sp>
      <p:sp>
        <p:nvSpPr>
          <p:cNvPr id="58" name="TextBox 57"/>
          <p:cNvSpPr txBox="1"/>
          <p:nvPr/>
        </p:nvSpPr>
        <p:spPr>
          <a:xfrm>
            <a:off x="3931919" y="4882896"/>
            <a:ext cx="1920240" cy="530352"/>
          </a:xfrm>
          <a:prstGeom prst="rect">
            <a:avLst/>
          </a:prstGeom>
          <a:noFill/>
        </p:spPr>
        <p:txBody>
          <a:bodyPr wrap="square">
            <a:spAutoFit/>
          </a:bodyPr>
          <a:lstStyle/>
          <a:p>
            <a:pPr algn="l"/>
            <a:r>
              <a:rPr sz="1000" b="0" i="0">
                <a:solidFill>
                  <a:srgbClr val="404040"/>
                </a:solidFill>
              </a:rPr>
              <a:t>Aug–Dec 2026</a:t>
            </a:r>
          </a:p>
        </p:txBody>
      </p:sp>
      <p:sp>
        <p:nvSpPr>
          <p:cNvPr id="59" name="TextBox 58"/>
          <p:cNvSpPr txBox="1"/>
          <p:nvPr/>
        </p:nvSpPr>
        <p:spPr>
          <a:xfrm>
            <a:off x="5943600" y="4882896"/>
            <a:ext cx="1737360" cy="530352"/>
          </a:xfrm>
          <a:prstGeom prst="rect">
            <a:avLst/>
          </a:prstGeom>
          <a:noFill/>
        </p:spPr>
        <p:txBody>
          <a:bodyPr wrap="square">
            <a:spAutoFit/>
          </a:bodyPr>
          <a:lstStyle/>
          <a:p>
            <a:pPr algn="l"/>
            <a:r>
              <a:rPr sz="1000" b="0" i="0">
                <a:solidFill>
                  <a:srgbClr val="404040"/>
                </a:solidFill>
              </a:rPr>
              <a:t>⏳ Not Started</a:t>
            </a:r>
          </a:p>
        </p:txBody>
      </p:sp>
      <p:sp>
        <p:nvSpPr>
          <p:cNvPr id="60" name="TextBox 59"/>
          <p:cNvSpPr txBox="1"/>
          <p:nvPr/>
        </p:nvSpPr>
        <p:spPr>
          <a:xfrm>
            <a:off x="7772400" y="4882896"/>
            <a:ext cx="4023360" cy="530352"/>
          </a:xfrm>
          <a:prstGeom prst="rect">
            <a:avLst/>
          </a:prstGeom>
          <a:noFill/>
        </p:spPr>
        <p:txBody>
          <a:bodyPr wrap="square">
            <a:spAutoFit/>
          </a:bodyPr>
          <a:lstStyle/>
          <a:p>
            <a:pPr algn="l"/>
            <a:r>
              <a:rPr sz="1000" b="0" i="0">
                <a:solidFill>
                  <a:srgbClr val="404040"/>
                </a:solidFill>
              </a:rPr>
              <a:t>Pending IFC completion</a:t>
            </a:r>
          </a:p>
        </p:txBody>
      </p:sp>
      <p:sp>
        <p:nvSpPr>
          <p:cNvPr id="61" name="TextBox 60">
            <a:extLst>
              <a:ext uri="{FF2B5EF4-FFF2-40B4-BE49-F238E27FC236}">
                <a16:creationId xmlns:a16="http://schemas.microsoft.com/office/drawing/2014/main" id="{2263C558-1343-251C-9BD8-E1E433828654}"/>
              </a:ext>
            </a:extLst>
          </p:cNvPr>
          <p:cNvSpPr txBox="1"/>
          <p:nvPr/>
        </p:nvSpPr>
        <p:spPr>
          <a:xfrm>
            <a:off x="320040" y="2258568"/>
            <a:ext cx="3566160" cy="400110"/>
          </a:xfrm>
          <a:prstGeom prst="rect">
            <a:avLst/>
          </a:prstGeom>
          <a:noFill/>
        </p:spPr>
        <p:txBody>
          <a:bodyPr wrap="square">
            <a:spAutoFit/>
          </a:bodyPr>
          <a:lstStyle/>
          <a:p>
            <a:r>
              <a:rPr lang="en-US" sz="1000" dirty="0">
                <a:solidFill>
                  <a:srgbClr val="404040"/>
                </a:solidFill>
              </a:rPr>
              <a:t>Nokia equipment for Phase 2 has been delivered – Work Completed - 2/19/2026</a:t>
            </a:r>
          </a:p>
        </p:txBody>
      </p:sp>
      <p:sp>
        <p:nvSpPr>
          <p:cNvPr id="63" name="TextBox 62">
            <a:extLst>
              <a:ext uri="{FF2B5EF4-FFF2-40B4-BE49-F238E27FC236}">
                <a16:creationId xmlns:a16="http://schemas.microsoft.com/office/drawing/2014/main" id="{BB8BC7D2-0DD4-D28C-B992-202E71C28A13}"/>
              </a:ext>
            </a:extLst>
          </p:cNvPr>
          <p:cNvSpPr txBox="1"/>
          <p:nvPr/>
        </p:nvSpPr>
        <p:spPr>
          <a:xfrm>
            <a:off x="3886200" y="2231801"/>
            <a:ext cx="931057" cy="246221"/>
          </a:xfrm>
          <a:prstGeom prst="rect">
            <a:avLst/>
          </a:prstGeom>
          <a:noFill/>
        </p:spPr>
        <p:txBody>
          <a:bodyPr wrap="square">
            <a:spAutoFit/>
          </a:bodyPr>
          <a:lstStyle/>
          <a:p>
            <a:r>
              <a:rPr lang="en-US" sz="1000" dirty="0">
                <a:solidFill>
                  <a:srgbClr val="404040"/>
                </a:solidFill>
              </a:rPr>
              <a:t> 2/19/2026</a:t>
            </a:r>
          </a:p>
        </p:txBody>
      </p:sp>
      <p:sp>
        <p:nvSpPr>
          <p:cNvPr id="65" name="TextBox 64">
            <a:extLst>
              <a:ext uri="{FF2B5EF4-FFF2-40B4-BE49-F238E27FC236}">
                <a16:creationId xmlns:a16="http://schemas.microsoft.com/office/drawing/2014/main" id="{9D76885D-1CCF-5D63-AB03-03E827C7C174}"/>
              </a:ext>
            </a:extLst>
          </p:cNvPr>
          <p:cNvSpPr txBox="1"/>
          <p:nvPr/>
        </p:nvSpPr>
        <p:spPr>
          <a:xfrm>
            <a:off x="5943600" y="2231135"/>
            <a:ext cx="1737360" cy="530352"/>
          </a:xfrm>
          <a:prstGeom prst="rect">
            <a:avLst/>
          </a:prstGeom>
          <a:noFill/>
        </p:spPr>
        <p:txBody>
          <a:bodyPr wrap="square">
            <a:spAutoFit/>
          </a:bodyPr>
          <a:lstStyle/>
          <a:p>
            <a:pPr algn="l"/>
            <a:r>
              <a:rPr sz="1000" b="0" i="0" dirty="0">
                <a:solidFill>
                  <a:srgbClr val="008000"/>
                </a:solidFill>
              </a:rPr>
              <a:t>✅ Complete</a:t>
            </a:r>
          </a:p>
        </p:txBody>
      </p:sp>
      <p:sp>
        <p:nvSpPr>
          <p:cNvPr id="66" name="TextBox 65">
            <a:extLst>
              <a:ext uri="{FF2B5EF4-FFF2-40B4-BE49-F238E27FC236}">
                <a16:creationId xmlns:a16="http://schemas.microsoft.com/office/drawing/2014/main" id="{DB240B93-4719-2197-34B9-A76497E1B436}"/>
              </a:ext>
            </a:extLst>
          </p:cNvPr>
          <p:cNvSpPr txBox="1"/>
          <p:nvPr/>
        </p:nvSpPr>
        <p:spPr>
          <a:xfrm>
            <a:off x="5943600" y="4251959"/>
            <a:ext cx="1737360" cy="530352"/>
          </a:xfrm>
          <a:prstGeom prst="rect">
            <a:avLst/>
          </a:prstGeom>
          <a:noFill/>
        </p:spPr>
        <p:txBody>
          <a:bodyPr wrap="square">
            <a:spAutoFit/>
          </a:bodyPr>
          <a:lstStyle/>
          <a:p>
            <a:pPr algn="l"/>
            <a:r>
              <a:rPr sz="1000" b="0" i="0" dirty="0">
                <a:solidFill>
                  <a:srgbClr val="FFC000"/>
                </a:solidFill>
              </a:rPr>
              <a:t>🟡 In Progress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Schedule Status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Overall: 🟡 Yellow | Recovery Plan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304800" y="982777"/>
            <a:ext cx="53035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005840"/>
            <a:ext cx="612648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880360"/>
            <a:ext cx="4937760" cy="320040"/>
          </a:xfrm>
          <a:prstGeom prst="rect">
            <a:avLst/>
          </a:prstGeom>
          <a:noFill/>
        </p:spPr>
        <p:txBody>
          <a:bodyPr wrap="square">
            <a:spAutoFit/>
          </a:bodyPr>
          <a:lstStyle/>
          <a:p>
            <a:pPr algn="l"/>
            <a:r>
              <a:rPr sz="1200" b="1" i="0">
                <a:solidFill>
                  <a:srgbClr val="404040"/>
                </a:solidFill>
              </a:rPr>
              <a:t>Root Causes:</a:t>
            </a:r>
          </a:p>
        </p:txBody>
      </p:sp>
      <p:sp>
        <p:nvSpPr>
          <p:cNvPr id="15" name="TextBox 14"/>
          <p:cNvSpPr txBox="1"/>
          <p:nvPr/>
        </p:nvSpPr>
        <p:spPr>
          <a:xfrm>
            <a:off x="457200" y="3246120"/>
            <a:ext cx="4937760" cy="384048"/>
          </a:xfrm>
          <a:prstGeom prst="rect">
            <a:avLst/>
          </a:prstGeom>
          <a:noFill/>
        </p:spPr>
        <p:txBody>
          <a:bodyPr wrap="square">
            <a:spAutoFit/>
          </a:bodyPr>
          <a:lstStyle/>
          <a:p>
            <a:pPr algn="l"/>
            <a:r>
              <a:rPr sz="1000" b="0" i="0">
                <a:solidFill>
                  <a:srgbClr val="404040"/>
                </a:solidFill>
              </a:rPr>
              <a:t>• SSP documentation delays (security review queue)</a:t>
            </a:r>
          </a:p>
        </p:txBody>
      </p:sp>
      <p:sp>
        <p:nvSpPr>
          <p:cNvPr id="16" name="TextBox 15"/>
          <p:cNvSpPr txBox="1"/>
          <p:nvPr/>
        </p:nvSpPr>
        <p:spPr>
          <a:xfrm>
            <a:off x="457200" y="3657600"/>
            <a:ext cx="4937760" cy="384048"/>
          </a:xfrm>
          <a:prstGeom prst="rect">
            <a:avLst/>
          </a:prstGeom>
          <a:noFill/>
        </p:spPr>
        <p:txBody>
          <a:bodyPr wrap="square">
            <a:spAutoFit/>
          </a:bodyPr>
          <a:lstStyle/>
          <a:p>
            <a:pPr algn="l"/>
            <a:r>
              <a:rPr sz="1000" b="0" i="0">
                <a:solidFill>
                  <a:srgbClr val="404040"/>
                </a:solidFill>
              </a:rPr>
              <a:t>• CMDB update coordination time</a:t>
            </a:r>
          </a:p>
        </p:txBody>
      </p:sp>
      <p:sp>
        <p:nvSpPr>
          <p:cNvPr id="17" name="TextBox 16"/>
          <p:cNvSpPr txBox="1"/>
          <p:nvPr/>
        </p:nvSpPr>
        <p:spPr>
          <a:xfrm>
            <a:off x="457200" y="4069080"/>
            <a:ext cx="4937760" cy="384048"/>
          </a:xfrm>
          <a:prstGeom prst="rect">
            <a:avLst/>
          </a:prstGeom>
          <a:noFill/>
        </p:spPr>
        <p:txBody>
          <a:bodyPr wrap="square">
            <a:spAutoFit/>
          </a:bodyPr>
          <a:lstStyle/>
          <a:p>
            <a:pPr algn="l"/>
            <a:r>
              <a:rPr sz="1000" b="0" i="0">
                <a:solidFill>
                  <a:srgbClr val="404040"/>
                </a:solidFill>
              </a:rPr>
              <a:t>• Inclement weather affecting field work</a:t>
            </a:r>
          </a:p>
        </p:txBody>
      </p:sp>
      <p:sp>
        <p:nvSpPr>
          <p:cNvPr id="18" name="TextBox 17"/>
          <p:cNvSpPr txBox="1"/>
          <p:nvPr/>
        </p:nvSpPr>
        <p:spPr>
          <a:xfrm>
            <a:off x="457200" y="4480560"/>
            <a:ext cx="4937760" cy="384048"/>
          </a:xfrm>
          <a:prstGeom prst="rect">
            <a:avLst/>
          </a:prstGeom>
          <a:noFill/>
        </p:spPr>
        <p:txBody>
          <a:bodyPr wrap="square">
            <a:spAutoFit/>
          </a:bodyPr>
          <a:lstStyle/>
          <a:p>
            <a:pPr algn="l"/>
            <a:r>
              <a:rPr sz="1000" b="0" i="0">
                <a:solidFill>
                  <a:srgbClr val="404040"/>
                </a:solidFill>
              </a:rPr>
              <a:t>• Crown Castle fiber issue at Hicksville (OTDR testing pending)</a:t>
            </a:r>
          </a:p>
        </p:txBody>
      </p:sp>
      <p:sp>
        <p:nvSpPr>
          <p:cNvPr id="19" name="TextBox 18"/>
          <p:cNvSpPr txBox="1"/>
          <p:nvPr/>
        </p:nvSpPr>
        <p:spPr>
          <a:xfrm>
            <a:off x="457200" y="5074920"/>
            <a:ext cx="4937760" cy="320040"/>
          </a:xfrm>
          <a:prstGeom prst="rect">
            <a:avLst/>
          </a:prstGeom>
          <a:noFill/>
        </p:spPr>
        <p:txBody>
          <a:bodyPr wrap="square">
            <a:spAutoFit/>
          </a:bodyPr>
          <a:lstStyle/>
          <a:p>
            <a:pPr algn="l"/>
            <a:r>
              <a:rPr sz="1200" b="1" i="0" dirty="0">
                <a:solidFill>
                  <a:srgbClr val="003387"/>
                </a:solidFill>
              </a:rPr>
              <a:t>Recovery Actions:</a:t>
            </a:r>
          </a:p>
        </p:txBody>
      </p:sp>
      <p:sp>
        <p:nvSpPr>
          <p:cNvPr id="20" name="TextBox 19"/>
          <p:cNvSpPr txBox="1"/>
          <p:nvPr/>
        </p:nvSpPr>
        <p:spPr>
          <a:xfrm>
            <a:off x="274320" y="5324729"/>
            <a:ext cx="4937760" cy="707886"/>
          </a:xfrm>
          <a:prstGeom prst="rect">
            <a:avLst/>
          </a:prstGeom>
          <a:noFill/>
        </p:spPr>
        <p:txBody>
          <a:bodyPr wrap="square">
            <a:spAutoFit/>
          </a:bodyPr>
          <a:lstStyle/>
          <a:p>
            <a:pPr marL="171450" indent="-171450" algn="l">
              <a:buFont typeface="Arial" panose="020B0604020202020204" pitchFamily="34" charset="0"/>
              <a:buChar char="•"/>
            </a:pPr>
            <a:r>
              <a:rPr lang="en-US" sz="800" b="0" i="0" dirty="0">
                <a:solidFill>
                  <a:srgbClr val="404040"/>
                </a:solidFill>
              </a:rPr>
              <a:t>ILO config (Bill/Rahiq — #1 BLOCKER) → BGP config Hicksville &amp; Melville (Lee) → Remote access config 31 routers → App cutovers → RTU cutovers → Phase 1 close Jun 2026</a:t>
            </a:r>
          </a:p>
          <a:p>
            <a:pPr marL="171450" indent="-171450" algn="l">
              <a:buFont typeface="Arial" panose="020B0604020202020204" pitchFamily="34" charset="0"/>
              <a:buChar char="•"/>
            </a:pPr>
            <a:r>
              <a:rPr sz="800" b="0" i="0" dirty="0">
                <a:solidFill>
                  <a:srgbClr val="F7941D"/>
                </a:solidFill>
              </a:rPr>
              <a:t>SPI = 0.76 (Yellow). ILO config is #1 critical path blocker — Bill (B&amp;M) working with Rahiq to resolve console cable &amp; firmware. Northport DC power RESOLVED ✅. Phase 1 construction 100% done; deployment micro-phase ~5%. June 2026 revised target.</a:t>
            </a:r>
            <a:endParaRPr lang="en-US" sz="1000" b="0" i="0" dirty="0">
              <a:solidFill>
                <a:srgbClr val="404040"/>
              </a:solidFill>
            </a:endParaRPr>
          </a:p>
          <a:p>
            <a:pPr marL="171450" indent="-171450" algn="l">
              <a:buFont typeface="Arial" panose="020B0604020202020204" pitchFamily="34" charset="0"/>
              <a:buChar char="•"/>
            </a:pPr>
            <a:r>
              <a:rPr sz="1000" b="0" i="0" dirty="0">
                <a:solidFill>
                  <a:srgbClr val="404040"/>
                </a:solidFill>
              </a:rPr>
              <a:t>Phase 2 IFR/IFC design on track.</a:t>
            </a:r>
          </a:p>
        </p:txBody>
      </p:sp>
      <p:sp>
        <p:nvSpPr>
          <p:cNvPr id="21" name="Rectangle 20"/>
          <p:cNvSpPr/>
          <p:nvPr/>
        </p:nvSpPr>
        <p:spPr>
          <a:xfrm>
            <a:off x="5760720" y="1005840"/>
            <a:ext cx="6126480"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60" y="1033271"/>
            <a:ext cx="5943600" cy="347472"/>
          </a:xfrm>
          <a:prstGeom prst="rect">
            <a:avLst/>
          </a:prstGeom>
          <a:noFill/>
        </p:spPr>
        <p:txBody>
          <a:bodyPr wrap="square">
            <a:spAutoFit/>
          </a:bodyPr>
          <a:lstStyle/>
          <a:p>
            <a:pPr algn="l"/>
            <a:r>
              <a:rPr sz="1100" b="1" i="0">
                <a:solidFill>
                  <a:srgbClr val="FFFFFF"/>
                </a:solidFill>
              </a:rPr>
              <a:t>PROGRAM TIMELINE</a:t>
            </a:r>
          </a:p>
        </p:txBody>
      </p:sp>
      <p:sp>
        <p:nvSpPr>
          <p:cNvPr id="24" name="TextBox 23"/>
          <p:cNvSpPr txBox="1"/>
          <p:nvPr/>
        </p:nvSpPr>
        <p:spPr>
          <a:xfrm>
            <a:off x="6080760" y="1490472"/>
            <a:ext cx="5669280" cy="347472"/>
          </a:xfrm>
          <a:prstGeom prst="rect">
            <a:avLst/>
          </a:prstGeom>
          <a:noFill/>
        </p:spPr>
        <p:txBody>
          <a:bodyPr wrap="square">
            <a:spAutoFit/>
          </a:bodyPr>
          <a:lstStyle/>
          <a:p>
            <a:pPr algn="l"/>
            <a:r>
              <a:rPr sz="1000" b="0" i="0">
                <a:solidFill>
                  <a:srgbClr val="404040"/>
                </a:solidFill>
              </a:rPr>
              <a:t>Apr 2024  —  Project Start</a:t>
            </a:r>
          </a:p>
        </p:txBody>
      </p:sp>
      <p:sp>
        <p:nvSpPr>
          <p:cNvPr id="26" name="TextBox 25"/>
          <p:cNvSpPr txBox="1"/>
          <p:nvPr/>
        </p:nvSpPr>
        <p:spPr>
          <a:xfrm>
            <a:off x="6080760" y="1947672"/>
            <a:ext cx="5669280" cy="347472"/>
          </a:xfrm>
          <a:prstGeom prst="rect">
            <a:avLst/>
          </a:prstGeom>
          <a:noFill/>
        </p:spPr>
        <p:txBody>
          <a:bodyPr wrap="square">
            <a:spAutoFit/>
          </a:bodyPr>
          <a:lstStyle/>
          <a:p>
            <a:pPr algn="l"/>
            <a:r>
              <a:rPr sz="1000" b="0" i="0">
                <a:solidFill>
                  <a:srgbClr val="404040"/>
                </a:solidFill>
              </a:rPr>
              <a:t>Oct 2024  —  RFP Award &amp; SOW Executed</a:t>
            </a:r>
          </a:p>
        </p:txBody>
      </p:sp>
      <p:sp>
        <p:nvSpPr>
          <p:cNvPr id="28" name="TextBox 27"/>
          <p:cNvSpPr txBox="1"/>
          <p:nvPr/>
        </p:nvSpPr>
        <p:spPr>
          <a:xfrm>
            <a:off x="6080760" y="2404872"/>
            <a:ext cx="5669280" cy="347472"/>
          </a:xfrm>
          <a:prstGeom prst="rect">
            <a:avLst/>
          </a:prstGeom>
          <a:noFill/>
        </p:spPr>
        <p:txBody>
          <a:bodyPr wrap="square">
            <a:spAutoFit/>
          </a:bodyPr>
          <a:lstStyle/>
          <a:p>
            <a:pPr algn="l"/>
            <a:r>
              <a:rPr sz="1000" b="0" i="0">
                <a:solidFill>
                  <a:srgbClr val="404040"/>
                </a:solidFill>
              </a:rPr>
              <a:t>Jan 2025  —  Phase 1 Detailed Design Start</a:t>
            </a:r>
          </a:p>
        </p:txBody>
      </p:sp>
      <p:sp>
        <p:nvSpPr>
          <p:cNvPr id="30" name="TextBox 29"/>
          <p:cNvSpPr txBox="1"/>
          <p:nvPr/>
        </p:nvSpPr>
        <p:spPr>
          <a:xfrm>
            <a:off x="6080760" y="2862072"/>
            <a:ext cx="5669280" cy="347472"/>
          </a:xfrm>
          <a:prstGeom prst="rect">
            <a:avLst/>
          </a:prstGeom>
          <a:noFill/>
        </p:spPr>
        <p:txBody>
          <a:bodyPr wrap="square">
            <a:spAutoFit/>
          </a:bodyPr>
          <a:lstStyle/>
          <a:p>
            <a:pPr algn="l"/>
            <a:r>
              <a:rPr sz="1000" b="0" i="0">
                <a:solidFill>
                  <a:srgbClr val="404040"/>
                </a:solidFill>
              </a:rPr>
              <a:t>Sep 2025  —  Staging Complete (Hawkeye)</a:t>
            </a:r>
          </a:p>
        </p:txBody>
      </p:sp>
      <p:sp>
        <p:nvSpPr>
          <p:cNvPr id="32" name="TextBox 31"/>
          <p:cNvSpPr txBox="1"/>
          <p:nvPr/>
        </p:nvSpPr>
        <p:spPr>
          <a:xfrm>
            <a:off x="6080760" y="3319272"/>
            <a:ext cx="5669280" cy="347472"/>
          </a:xfrm>
          <a:prstGeom prst="rect">
            <a:avLst/>
          </a:prstGeom>
          <a:noFill/>
        </p:spPr>
        <p:txBody>
          <a:bodyPr wrap="square">
            <a:spAutoFit/>
          </a:bodyPr>
          <a:lstStyle/>
          <a:p>
            <a:pPr algn="l"/>
            <a:r>
              <a:rPr sz="1000" b="0" i="0">
                <a:solidFill>
                  <a:srgbClr val="404040"/>
                </a:solidFill>
              </a:rPr>
              <a:t>Oct 2025  —  Phase 1 Construction Start</a:t>
            </a:r>
          </a:p>
        </p:txBody>
      </p:sp>
      <p:sp>
        <p:nvSpPr>
          <p:cNvPr id="34" name="TextBox 33"/>
          <p:cNvSpPr txBox="1"/>
          <p:nvPr/>
        </p:nvSpPr>
        <p:spPr>
          <a:xfrm>
            <a:off x="6080760" y="3776472"/>
            <a:ext cx="5669280" cy="347472"/>
          </a:xfrm>
          <a:prstGeom prst="rect">
            <a:avLst/>
          </a:prstGeom>
          <a:noFill/>
        </p:spPr>
        <p:txBody>
          <a:bodyPr wrap="square">
            <a:spAutoFit/>
          </a:bodyPr>
          <a:lstStyle/>
          <a:p>
            <a:pPr algn="l"/>
            <a:r>
              <a:rPr sz="1000" b="0" i="0" dirty="0">
                <a:solidFill>
                  <a:srgbClr val="404040"/>
                </a:solidFill>
              </a:rPr>
              <a:t>Dec 2025 – Jan 2026  —  Wave 1 &amp; 2 Cutovers Complete</a:t>
            </a:r>
          </a:p>
        </p:txBody>
      </p:sp>
      <p:sp>
        <p:nvSpPr>
          <p:cNvPr id="36" name="TextBox 35"/>
          <p:cNvSpPr txBox="1"/>
          <p:nvPr/>
        </p:nvSpPr>
        <p:spPr>
          <a:xfrm>
            <a:off x="6080760" y="4233672"/>
            <a:ext cx="5669280" cy="347472"/>
          </a:xfrm>
          <a:prstGeom prst="rect">
            <a:avLst/>
          </a:prstGeom>
          <a:noFill/>
        </p:spPr>
        <p:txBody>
          <a:bodyPr wrap="square">
            <a:spAutoFit/>
          </a:bodyPr>
          <a:lstStyle/>
          <a:p>
            <a:pPr algn="l"/>
            <a:r>
              <a:rPr sz="1000" b="0" i="0" dirty="0">
                <a:solidFill>
                  <a:srgbClr val="404040"/>
                </a:solidFill>
              </a:rPr>
              <a:t>Feb 2026  —  Nokia Phase 2 Equipment Delivered</a:t>
            </a:r>
          </a:p>
        </p:txBody>
      </p:sp>
      <p:sp>
        <p:nvSpPr>
          <p:cNvPr id="37" name="Rectangle 36"/>
          <p:cNvSpPr/>
          <p:nvPr/>
        </p:nvSpPr>
        <p:spPr>
          <a:xfrm>
            <a:off x="5806440" y="4709160"/>
            <a:ext cx="182880" cy="2560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80760" y="4690872"/>
            <a:ext cx="5669280" cy="347472"/>
          </a:xfrm>
          <a:prstGeom prst="rect">
            <a:avLst/>
          </a:prstGeom>
          <a:noFill/>
        </p:spPr>
        <p:txBody>
          <a:bodyPr wrap="square">
            <a:spAutoFit/>
          </a:bodyPr>
          <a:lstStyle/>
          <a:p>
            <a:pPr algn="l"/>
            <a:r>
              <a:rPr sz="1000" b="1" i="0" dirty="0">
                <a:solidFill>
                  <a:srgbClr val="F7941D"/>
                </a:solidFill>
              </a:rPr>
              <a:t>Mar 2026  —  Phase 2 IFR Design in Progress  ◀ NOW</a:t>
            </a:r>
          </a:p>
        </p:txBody>
      </p:sp>
      <p:sp>
        <p:nvSpPr>
          <p:cNvPr id="39" name="Rectangle 38"/>
          <p:cNvSpPr/>
          <p:nvPr/>
        </p:nvSpPr>
        <p:spPr>
          <a:xfrm>
            <a:off x="5806440" y="51663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80760" y="5148072"/>
            <a:ext cx="5669280" cy="347472"/>
          </a:xfrm>
          <a:prstGeom prst="rect">
            <a:avLst/>
          </a:prstGeom>
          <a:noFill/>
        </p:spPr>
        <p:txBody>
          <a:bodyPr wrap="square">
            <a:spAutoFit/>
          </a:bodyPr>
          <a:lstStyle/>
          <a:p>
            <a:pPr algn="l"/>
            <a:r>
              <a:rPr sz="1000" b="1" i="0">
                <a:solidFill>
                  <a:srgbClr val="404040"/>
                </a:solidFill>
              </a:rPr>
              <a:t>Mar–Jul 2026  —  Phase 2 IFC Design &amp; Review</a:t>
            </a:r>
          </a:p>
        </p:txBody>
      </p:sp>
      <p:sp>
        <p:nvSpPr>
          <p:cNvPr id="41" name="Rectangle 40"/>
          <p:cNvSpPr/>
          <p:nvPr/>
        </p:nvSpPr>
        <p:spPr>
          <a:xfrm>
            <a:off x="5806440" y="56235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80760" y="5605272"/>
            <a:ext cx="5669280" cy="347472"/>
          </a:xfrm>
          <a:prstGeom prst="rect">
            <a:avLst/>
          </a:prstGeom>
          <a:noFill/>
        </p:spPr>
        <p:txBody>
          <a:bodyPr wrap="square">
            <a:spAutoFit/>
          </a:bodyPr>
          <a:lstStyle/>
          <a:p>
            <a:pPr algn="l"/>
            <a:r>
              <a:rPr sz="1000" b="1" i="0">
                <a:solidFill>
                  <a:srgbClr val="404040"/>
                </a:solidFill>
              </a:rPr>
              <a:t>Aug–Dec 2026  —  Phase 2 Construction</a:t>
            </a:r>
          </a:p>
        </p:txBody>
      </p:sp>
      <p:sp>
        <p:nvSpPr>
          <p:cNvPr id="43" name="Rectangle 42"/>
          <p:cNvSpPr/>
          <p:nvPr/>
        </p:nvSpPr>
        <p:spPr>
          <a:xfrm>
            <a:off x="5806440" y="60807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80760" y="6062472"/>
            <a:ext cx="5669280" cy="347472"/>
          </a:xfrm>
          <a:prstGeom prst="rect">
            <a:avLst/>
          </a:prstGeom>
          <a:noFill/>
        </p:spPr>
        <p:txBody>
          <a:bodyPr wrap="square">
            <a:spAutoFit/>
          </a:bodyPr>
          <a:lstStyle/>
          <a:p>
            <a:pPr algn="l"/>
            <a:r>
              <a:rPr sz="1000" b="1" i="0">
                <a:solidFill>
                  <a:srgbClr val="404040"/>
                </a:solidFill>
              </a:rPr>
              <a:t>Jul 2027  —  Program Completion (Target)</a:t>
            </a:r>
          </a:p>
        </p:txBody>
      </p:sp>
      <p:sp>
        <p:nvSpPr>
          <p:cNvPr id="45" name="Rectangle 44"/>
          <p:cNvSpPr/>
          <p:nvPr/>
        </p:nvSpPr>
        <p:spPr>
          <a:xfrm>
            <a:off x="274320" y="1143000"/>
            <a:ext cx="5212080" cy="396745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92608" y="1154857"/>
            <a:ext cx="5212080" cy="36576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4800" y="1184523"/>
            <a:ext cx="5029200" cy="310896"/>
          </a:xfrm>
          <a:prstGeom prst="rect">
            <a:avLst/>
          </a:prstGeom>
          <a:noFill/>
        </p:spPr>
        <p:txBody>
          <a:bodyPr wrap="square">
            <a:spAutoFit/>
          </a:bodyPr>
          <a:lstStyle/>
          <a:p>
            <a:pPr algn="l"/>
            <a:r>
              <a:rPr sz="1100" b="1" i="0">
                <a:solidFill>
                  <a:srgbClr val="FFFFFF"/>
                </a:solidFill>
              </a:rPr>
              <a:t>SCHEDULE PERFORMANCE INDEX (SPI)</a:t>
            </a:r>
          </a:p>
        </p:txBody>
      </p:sp>
      <p:sp>
        <p:nvSpPr>
          <p:cNvPr id="48" name="Oval 47"/>
          <p:cNvSpPr/>
          <p:nvPr/>
        </p:nvSpPr>
        <p:spPr>
          <a:xfrm>
            <a:off x="2385935" y="24630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369330" y="24304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352725" y="239786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336120" y="2365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319515" y="23326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302910" y="230009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286304" y="226750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33847" y="249140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315476" y="24597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297105" y="24281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2278734" y="23965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260364" y="23648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2241993" y="2333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2223622" y="23016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2283396" y="25225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2263315" y="24920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2243234" y="24614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2223153" y="24308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2203072" y="24003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2182991" y="236974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162910" y="23391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234736" y="255651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213005" y="252709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191274" y="24976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169544" y="2468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147813" y="243882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2126083" y="240940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104352" y="23799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2188012" y="25930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2164698" y="2564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2141383" y="2536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118069" y="250850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094754" y="24803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071440" y="24521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048126" y="2423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143367" y="263209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118539" y="260524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093711" y="25783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2068883" y="25515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2044056" y="252466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019228" y="24978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1994400" y="247094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2100935" y="26735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2074669" y="26480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2048403" y="262263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2022136" y="25971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995870" y="25717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1969604" y="25462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943338" y="25208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2060844" y="27172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2033219" y="26932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2005594" y="26693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977969" y="264534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50344" y="26213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922719" y="259739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895093" y="25734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023217" y="27631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994316" y="27406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965415" y="2718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936514" y="26958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907614" y="267343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878713" y="26510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1849812" y="262860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1988165" y="281095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1958076" y="279015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1927987" y="276936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897898" y="274856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867809" y="27277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837720" y="27069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807632" y="2686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955796" y="28606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924609" y="284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1893423" y="282243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1862237" y="28033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1831051" y="27842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1799865" y="27651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1768679" y="274599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1926206" y="29120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1894017" y="289469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1861828" y="28773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1829639" y="2859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797449" y="28425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765260" y="282522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733071" y="280785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899486" y="296501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866391" y="29494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833296" y="2933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800201" y="29182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767107" y="290272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1734012" y="28871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1700917" y="28715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1875717" y="30193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1841816" y="300562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1807915" y="29918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1774015" y="297816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1740114" y="296443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706213" y="29507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1672312" y="2936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1854969" y="30749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1820365" y="30630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1785761" y="30512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1751157" y="30393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716553" y="30275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681949" y="3015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1647345" y="30038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837306" y="313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802103" y="31216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1766900" y="31116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1731698" y="31017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1696495" y="30918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1661292" y="308190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1626089" y="30719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1822781" y="31890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1787086" y="318107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1751391" y="31730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1715696" y="31651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1680001" y="3157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1644305" y="314915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1608610" y="3141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1811438" y="32472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1775359" y="324126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1739279" y="32352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1703199" y="322925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1667120" y="3223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1631040" y="32172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1594960" y="32112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1803312" y="33060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1766956" y="330201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1730601" y="32979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1694246" y="32939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1657891" y="3289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1621536" y="32859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1585181" y="32819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1798426" y="3365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1761905" y="33631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1725384" y="33611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688864" y="335910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1652343" y="335709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p:cNvSpPr/>
          <p:nvPr/>
        </p:nvSpPr>
        <p:spPr>
          <a:xfrm>
            <a:off x="1615822" y="33550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p:cNvSpPr/>
          <p:nvPr/>
        </p:nvSpPr>
        <p:spPr>
          <a:xfrm>
            <a:off x="1579301" y="335307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p:cNvSpPr/>
          <p:nvPr/>
        </p:nvSpPr>
        <p:spPr>
          <a:xfrm>
            <a:off x="179679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176022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1723644"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1687068"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1650492"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161391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157734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2706996" y="235872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195"/>
          <p:cNvSpPr/>
          <p:nvPr/>
        </p:nvSpPr>
        <p:spPr>
          <a:xfrm>
            <a:off x="2701274" y="232259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2695552" y="228646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2689831" y="22503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2684109" y="221421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2678387" y="2178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2672665" y="214196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val 201"/>
          <p:cNvSpPr/>
          <p:nvPr/>
        </p:nvSpPr>
        <p:spPr>
          <a:xfrm>
            <a:off x="2640413" y="237142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2632434" y="233572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2624455" y="2300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2616476" y="22643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val 205"/>
          <p:cNvSpPr/>
          <p:nvPr/>
        </p:nvSpPr>
        <p:spPr>
          <a:xfrm>
            <a:off x="2608497" y="222864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val 206"/>
          <p:cNvSpPr/>
          <p:nvPr/>
        </p:nvSpPr>
        <p:spPr>
          <a:xfrm>
            <a:off x="2600519" y="219294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val 207"/>
          <p:cNvSpPr/>
          <p:nvPr/>
        </p:nvSpPr>
        <p:spPr>
          <a:xfrm>
            <a:off x="2592540" y="215725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val 208"/>
          <p:cNvSpPr/>
          <p:nvPr/>
        </p:nvSpPr>
        <p:spPr>
          <a:xfrm>
            <a:off x="2574758" y="23882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val 209"/>
          <p:cNvSpPr/>
          <p:nvPr/>
        </p:nvSpPr>
        <p:spPr>
          <a:xfrm>
            <a:off x="2564554" y="235315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val 210"/>
          <p:cNvSpPr/>
          <p:nvPr/>
        </p:nvSpPr>
        <p:spPr>
          <a:xfrm>
            <a:off x="2554350" y="2318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val 211"/>
          <p:cNvSpPr/>
          <p:nvPr/>
        </p:nvSpPr>
        <p:spPr>
          <a:xfrm>
            <a:off x="2544145" y="228290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val 212"/>
          <p:cNvSpPr/>
          <p:nvPr/>
        </p:nvSpPr>
        <p:spPr>
          <a:xfrm>
            <a:off x="2533941" y="224778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val 213"/>
          <p:cNvSpPr/>
          <p:nvPr/>
        </p:nvSpPr>
        <p:spPr>
          <a:xfrm>
            <a:off x="2523736" y="22126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val 214"/>
          <p:cNvSpPr/>
          <p:nvPr/>
        </p:nvSpPr>
        <p:spPr>
          <a:xfrm>
            <a:off x="2513532" y="21775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val 215"/>
          <p:cNvSpPr/>
          <p:nvPr/>
        </p:nvSpPr>
        <p:spPr>
          <a:xfrm>
            <a:off x="2510292" y="240922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val 216"/>
          <p:cNvSpPr/>
          <p:nvPr/>
        </p:nvSpPr>
        <p:spPr>
          <a:xfrm>
            <a:off x="2497902" y="237481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val 217"/>
          <p:cNvSpPr/>
          <p:nvPr/>
        </p:nvSpPr>
        <p:spPr>
          <a:xfrm>
            <a:off x="2485513" y="234039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val 218"/>
          <p:cNvSpPr/>
          <p:nvPr/>
        </p:nvSpPr>
        <p:spPr>
          <a:xfrm>
            <a:off x="2473123" y="230598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val 219"/>
          <p:cNvSpPr/>
          <p:nvPr/>
        </p:nvSpPr>
        <p:spPr>
          <a:xfrm>
            <a:off x="2460733" y="22715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val 220"/>
          <p:cNvSpPr/>
          <p:nvPr/>
        </p:nvSpPr>
        <p:spPr>
          <a:xfrm>
            <a:off x="2448344" y="223715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val 221"/>
          <p:cNvSpPr/>
          <p:nvPr/>
        </p:nvSpPr>
        <p:spPr>
          <a:xfrm>
            <a:off x="2435954" y="22027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val 222"/>
          <p:cNvSpPr/>
          <p:nvPr/>
        </p:nvSpPr>
        <p:spPr>
          <a:xfrm>
            <a:off x="2447268" y="24341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val 223"/>
          <p:cNvSpPr/>
          <p:nvPr/>
        </p:nvSpPr>
        <p:spPr>
          <a:xfrm>
            <a:off x="2432742" y="240061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val 224"/>
          <p:cNvSpPr/>
          <p:nvPr/>
        </p:nvSpPr>
        <p:spPr>
          <a:xfrm>
            <a:off x="2418216" y="236704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val 225"/>
          <p:cNvSpPr/>
          <p:nvPr/>
        </p:nvSpPr>
        <p:spPr>
          <a:xfrm>
            <a:off x="2403690" y="233347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2389164" y="229990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val 227"/>
          <p:cNvSpPr/>
          <p:nvPr/>
        </p:nvSpPr>
        <p:spPr>
          <a:xfrm>
            <a:off x="2374638" y="22663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val 228"/>
          <p:cNvSpPr/>
          <p:nvPr/>
        </p:nvSpPr>
        <p:spPr>
          <a:xfrm>
            <a:off x="2360112" y="223277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val 229"/>
          <p:cNvSpPr/>
          <p:nvPr/>
        </p:nvSpPr>
        <p:spPr>
          <a:xfrm>
            <a:off x="2385935" y="24630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val 230"/>
          <p:cNvSpPr/>
          <p:nvPr/>
        </p:nvSpPr>
        <p:spPr>
          <a:xfrm>
            <a:off x="2369330" y="243044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val 231"/>
          <p:cNvSpPr/>
          <p:nvPr/>
        </p:nvSpPr>
        <p:spPr>
          <a:xfrm>
            <a:off x="2352725" y="23978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val 232"/>
          <p:cNvSpPr/>
          <p:nvPr/>
        </p:nvSpPr>
        <p:spPr>
          <a:xfrm>
            <a:off x="2336120" y="23652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val 233"/>
          <p:cNvSpPr/>
          <p:nvPr/>
        </p:nvSpPr>
        <p:spPr>
          <a:xfrm>
            <a:off x="2319515" y="233268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val 234"/>
          <p:cNvSpPr/>
          <p:nvPr/>
        </p:nvSpPr>
        <p:spPr>
          <a:xfrm>
            <a:off x="2302910" y="2300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val 235"/>
          <p:cNvSpPr/>
          <p:nvPr/>
        </p:nvSpPr>
        <p:spPr>
          <a:xfrm>
            <a:off x="2286304" y="226750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val 236"/>
          <p:cNvSpPr/>
          <p:nvPr/>
        </p:nvSpPr>
        <p:spPr>
          <a:xfrm>
            <a:off x="3044579"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val 237"/>
          <p:cNvSpPr/>
          <p:nvPr/>
        </p:nvSpPr>
        <p:spPr>
          <a:xfrm>
            <a:off x="3050301"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val 238"/>
          <p:cNvSpPr/>
          <p:nvPr/>
        </p:nvSpPr>
        <p:spPr>
          <a:xfrm>
            <a:off x="3056023"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val 239"/>
          <p:cNvSpPr/>
          <p:nvPr/>
        </p:nvSpPr>
        <p:spPr>
          <a:xfrm>
            <a:off x="3061744"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val 240"/>
          <p:cNvSpPr/>
          <p:nvPr/>
        </p:nvSpPr>
        <p:spPr>
          <a:xfrm>
            <a:off x="3067466"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val 241"/>
          <p:cNvSpPr/>
          <p:nvPr/>
        </p:nvSpPr>
        <p:spPr>
          <a:xfrm>
            <a:off x="3073188"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val 242"/>
          <p:cNvSpPr/>
          <p:nvPr/>
        </p:nvSpPr>
        <p:spPr>
          <a:xfrm>
            <a:off x="3078910"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val 243"/>
          <p:cNvSpPr/>
          <p:nvPr/>
        </p:nvSpPr>
        <p:spPr>
          <a:xfrm>
            <a:off x="2988573"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val 244"/>
          <p:cNvSpPr/>
          <p:nvPr/>
        </p:nvSpPr>
        <p:spPr>
          <a:xfrm>
            <a:off x="2992396"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val 245"/>
          <p:cNvSpPr/>
          <p:nvPr/>
        </p:nvSpPr>
        <p:spPr>
          <a:xfrm>
            <a:off x="2996219"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val 246"/>
          <p:cNvSpPr/>
          <p:nvPr/>
        </p:nvSpPr>
        <p:spPr>
          <a:xfrm>
            <a:off x="3000043"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val 247"/>
          <p:cNvSpPr/>
          <p:nvPr/>
        </p:nvSpPr>
        <p:spPr>
          <a:xfrm>
            <a:off x="3003866"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val 248"/>
          <p:cNvSpPr/>
          <p:nvPr/>
        </p:nvSpPr>
        <p:spPr>
          <a:xfrm>
            <a:off x="3007689"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val 249"/>
          <p:cNvSpPr/>
          <p:nvPr/>
        </p:nvSpPr>
        <p:spPr>
          <a:xfrm>
            <a:off x="3011512"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val 250"/>
          <p:cNvSpPr/>
          <p:nvPr/>
        </p:nvSpPr>
        <p:spPr>
          <a:xfrm>
            <a:off x="2932258"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val 251"/>
          <p:cNvSpPr/>
          <p:nvPr/>
        </p:nvSpPr>
        <p:spPr>
          <a:xfrm>
            <a:off x="2934172"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val 252"/>
          <p:cNvSpPr/>
          <p:nvPr/>
        </p:nvSpPr>
        <p:spPr>
          <a:xfrm>
            <a:off x="2936086"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val 253"/>
          <p:cNvSpPr/>
          <p:nvPr/>
        </p:nvSpPr>
        <p:spPr>
          <a:xfrm>
            <a:off x="2938000"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val 254"/>
          <p:cNvSpPr/>
          <p:nvPr/>
        </p:nvSpPr>
        <p:spPr>
          <a:xfrm>
            <a:off x="2939915"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val 255"/>
          <p:cNvSpPr/>
          <p:nvPr/>
        </p:nvSpPr>
        <p:spPr>
          <a:xfrm>
            <a:off x="2941829"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val 256"/>
          <p:cNvSpPr/>
          <p:nvPr/>
        </p:nvSpPr>
        <p:spPr>
          <a:xfrm>
            <a:off x="2943743"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val 257"/>
          <p:cNvSpPr/>
          <p:nvPr/>
        </p:nvSpPr>
        <p:spPr>
          <a:xfrm>
            <a:off x="2875788" y="234543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val 258"/>
          <p:cNvSpPr/>
          <p:nvPr/>
        </p:nvSpPr>
        <p:spPr>
          <a:xfrm>
            <a:off x="2875788" y="230886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val 259"/>
          <p:cNvSpPr/>
          <p:nvPr/>
        </p:nvSpPr>
        <p:spPr>
          <a:xfrm>
            <a:off x="2875788" y="227228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val 260"/>
          <p:cNvSpPr/>
          <p:nvPr/>
        </p:nvSpPr>
        <p:spPr>
          <a:xfrm>
            <a:off x="2875788" y="223570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val 261"/>
          <p:cNvSpPr/>
          <p:nvPr/>
        </p:nvSpPr>
        <p:spPr>
          <a:xfrm>
            <a:off x="2875788" y="219913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val 262"/>
          <p:cNvSpPr/>
          <p:nvPr/>
        </p:nvSpPr>
        <p:spPr>
          <a:xfrm>
            <a:off x="2875788" y="216255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val 263"/>
          <p:cNvSpPr/>
          <p:nvPr/>
        </p:nvSpPr>
        <p:spPr>
          <a:xfrm>
            <a:off x="2875788" y="212597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val 264"/>
          <p:cNvSpPr/>
          <p:nvPr/>
        </p:nvSpPr>
        <p:spPr>
          <a:xfrm>
            <a:off x="2819317"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val 265"/>
          <p:cNvSpPr/>
          <p:nvPr/>
        </p:nvSpPr>
        <p:spPr>
          <a:xfrm>
            <a:off x="2817403"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val 266"/>
          <p:cNvSpPr/>
          <p:nvPr/>
        </p:nvSpPr>
        <p:spPr>
          <a:xfrm>
            <a:off x="2815489"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val 267"/>
          <p:cNvSpPr/>
          <p:nvPr/>
        </p:nvSpPr>
        <p:spPr>
          <a:xfrm>
            <a:off x="2813575"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val 268"/>
          <p:cNvSpPr/>
          <p:nvPr/>
        </p:nvSpPr>
        <p:spPr>
          <a:xfrm>
            <a:off x="2811660"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val 269"/>
          <p:cNvSpPr/>
          <p:nvPr/>
        </p:nvSpPr>
        <p:spPr>
          <a:xfrm>
            <a:off x="2809746"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val 270"/>
          <p:cNvSpPr/>
          <p:nvPr/>
        </p:nvSpPr>
        <p:spPr>
          <a:xfrm>
            <a:off x="2807832"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val 271"/>
          <p:cNvSpPr/>
          <p:nvPr/>
        </p:nvSpPr>
        <p:spPr>
          <a:xfrm>
            <a:off x="2763002"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val 272"/>
          <p:cNvSpPr/>
          <p:nvPr/>
        </p:nvSpPr>
        <p:spPr>
          <a:xfrm>
            <a:off x="2759179"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val 273"/>
          <p:cNvSpPr/>
          <p:nvPr/>
        </p:nvSpPr>
        <p:spPr>
          <a:xfrm>
            <a:off x="2755356"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val 274"/>
          <p:cNvSpPr/>
          <p:nvPr/>
        </p:nvSpPr>
        <p:spPr>
          <a:xfrm>
            <a:off x="2751532"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val 275"/>
          <p:cNvSpPr/>
          <p:nvPr/>
        </p:nvSpPr>
        <p:spPr>
          <a:xfrm>
            <a:off x="2747709"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val 276"/>
          <p:cNvSpPr/>
          <p:nvPr/>
        </p:nvSpPr>
        <p:spPr>
          <a:xfrm>
            <a:off x="2743886"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val 277"/>
          <p:cNvSpPr/>
          <p:nvPr/>
        </p:nvSpPr>
        <p:spPr>
          <a:xfrm>
            <a:off x="2740063"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val 278"/>
          <p:cNvSpPr/>
          <p:nvPr/>
        </p:nvSpPr>
        <p:spPr>
          <a:xfrm>
            <a:off x="2706996"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val 279"/>
          <p:cNvSpPr/>
          <p:nvPr/>
        </p:nvSpPr>
        <p:spPr>
          <a:xfrm>
            <a:off x="2701274"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val 280"/>
          <p:cNvSpPr/>
          <p:nvPr/>
        </p:nvSpPr>
        <p:spPr>
          <a:xfrm>
            <a:off x="2695552"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val 281"/>
          <p:cNvSpPr/>
          <p:nvPr/>
        </p:nvSpPr>
        <p:spPr>
          <a:xfrm>
            <a:off x="2689831"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val 282"/>
          <p:cNvSpPr/>
          <p:nvPr/>
        </p:nvSpPr>
        <p:spPr>
          <a:xfrm>
            <a:off x="2684109"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val 283"/>
          <p:cNvSpPr/>
          <p:nvPr/>
        </p:nvSpPr>
        <p:spPr>
          <a:xfrm>
            <a:off x="2678387"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val 284"/>
          <p:cNvSpPr/>
          <p:nvPr/>
        </p:nvSpPr>
        <p:spPr>
          <a:xfrm>
            <a:off x="2672665"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val 285"/>
          <p:cNvSpPr/>
          <p:nvPr/>
        </p:nvSpPr>
        <p:spPr>
          <a:xfrm>
            <a:off x="395478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val 286"/>
          <p:cNvSpPr/>
          <p:nvPr/>
        </p:nvSpPr>
        <p:spPr>
          <a:xfrm>
            <a:off x="399135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val 287"/>
          <p:cNvSpPr/>
          <p:nvPr/>
        </p:nvSpPr>
        <p:spPr>
          <a:xfrm>
            <a:off x="4027932"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val 288"/>
          <p:cNvSpPr/>
          <p:nvPr/>
        </p:nvSpPr>
        <p:spPr>
          <a:xfrm>
            <a:off x="4064508"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val 289"/>
          <p:cNvSpPr/>
          <p:nvPr/>
        </p:nvSpPr>
        <p:spPr>
          <a:xfrm>
            <a:off x="4101084"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val 290"/>
          <p:cNvSpPr/>
          <p:nvPr/>
        </p:nvSpPr>
        <p:spPr>
          <a:xfrm>
            <a:off x="413766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val 291"/>
          <p:cNvSpPr/>
          <p:nvPr/>
        </p:nvSpPr>
        <p:spPr>
          <a:xfrm>
            <a:off x="417423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val 292"/>
          <p:cNvSpPr/>
          <p:nvPr/>
        </p:nvSpPr>
        <p:spPr>
          <a:xfrm>
            <a:off x="3953185" y="33657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val 293"/>
          <p:cNvSpPr/>
          <p:nvPr/>
        </p:nvSpPr>
        <p:spPr>
          <a:xfrm>
            <a:off x="3989707" y="33638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val 294"/>
          <p:cNvSpPr/>
          <p:nvPr/>
        </p:nvSpPr>
        <p:spPr>
          <a:xfrm>
            <a:off x="4026229" y="33618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val 295"/>
          <p:cNvSpPr/>
          <p:nvPr/>
        </p:nvSpPr>
        <p:spPr>
          <a:xfrm>
            <a:off x="4062751" y="33598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val 296"/>
          <p:cNvSpPr/>
          <p:nvPr/>
        </p:nvSpPr>
        <p:spPr>
          <a:xfrm>
            <a:off x="4099273" y="33578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val 297"/>
          <p:cNvSpPr/>
          <p:nvPr/>
        </p:nvSpPr>
        <p:spPr>
          <a:xfrm>
            <a:off x="4135795" y="33558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val 298"/>
          <p:cNvSpPr/>
          <p:nvPr/>
        </p:nvSpPr>
        <p:spPr>
          <a:xfrm>
            <a:off x="4172317" y="3353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val 299"/>
          <p:cNvSpPr/>
          <p:nvPr/>
        </p:nvSpPr>
        <p:spPr>
          <a:xfrm>
            <a:off x="3948406" y="330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val 300"/>
          <p:cNvSpPr/>
          <p:nvPr/>
        </p:nvSpPr>
        <p:spPr>
          <a:xfrm>
            <a:off x="3984766" y="330335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val 301"/>
          <p:cNvSpPr/>
          <p:nvPr/>
        </p:nvSpPr>
        <p:spPr>
          <a:xfrm>
            <a:off x="4021126" y="32993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val 302"/>
          <p:cNvSpPr/>
          <p:nvPr/>
        </p:nvSpPr>
        <p:spPr>
          <a:xfrm>
            <a:off x="4057486" y="32954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val 303"/>
          <p:cNvSpPr/>
          <p:nvPr/>
        </p:nvSpPr>
        <p:spPr>
          <a:xfrm>
            <a:off x="4093845" y="32914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val 304"/>
          <p:cNvSpPr/>
          <p:nvPr/>
        </p:nvSpPr>
        <p:spPr>
          <a:xfrm>
            <a:off x="4130205" y="32874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val 305"/>
          <p:cNvSpPr/>
          <p:nvPr/>
        </p:nvSpPr>
        <p:spPr>
          <a:xfrm>
            <a:off x="4166565" y="32835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val 306"/>
          <p:cNvSpPr/>
          <p:nvPr/>
        </p:nvSpPr>
        <p:spPr>
          <a:xfrm>
            <a:off x="3940456" y="324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val 307"/>
          <p:cNvSpPr/>
          <p:nvPr/>
        </p:nvSpPr>
        <p:spPr>
          <a:xfrm>
            <a:off x="3976547" y="32432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val 308"/>
          <p:cNvSpPr/>
          <p:nvPr/>
        </p:nvSpPr>
        <p:spPr>
          <a:xfrm>
            <a:off x="4012637" y="323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val 309"/>
          <p:cNvSpPr/>
          <p:nvPr/>
        </p:nvSpPr>
        <p:spPr>
          <a:xfrm>
            <a:off x="4048728" y="32313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val 310"/>
          <p:cNvSpPr/>
          <p:nvPr/>
        </p:nvSpPr>
        <p:spPr>
          <a:xfrm>
            <a:off x="4084818" y="32254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val 311"/>
          <p:cNvSpPr/>
          <p:nvPr/>
        </p:nvSpPr>
        <p:spPr>
          <a:xfrm>
            <a:off x="4120908" y="32195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val 312"/>
          <p:cNvSpPr/>
          <p:nvPr/>
        </p:nvSpPr>
        <p:spPr>
          <a:xfrm>
            <a:off x="4156999" y="3213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val 313"/>
          <p:cNvSpPr/>
          <p:nvPr/>
        </p:nvSpPr>
        <p:spPr>
          <a:xfrm>
            <a:off x="3929360" y="319159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val 314"/>
          <p:cNvSpPr/>
          <p:nvPr/>
        </p:nvSpPr>
        <p:spPr>
          <a:xfrm>
            <a:off x="3965074" y="318370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val 315"/>
          <p:cNvSpPr/>
          <p:nvPr/>
        </p:nvSpPr>
        <p:spPr>
          <a:xfrm>
            <a:off x="4000788" y="31758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val 316"/>
          <p:cNvSpPr/>
          <p:nvPr/>
        </p:nvSpPr>
        <p:spPr>
          <a:xfrm>
            <a:off x="4036503" y="31679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val 317"/>
          <p:cNvSpPr/>
          <p:nvPr/>
        </p:nvSpPr>
        <p:spPr>
          <a:xfrm>
            <a:off x="4072217" y="3160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val 318"/>
          <p:cNvSpPr/>
          <p:nvPr/>
        </p:nvSpPr>
        <p:spPr>
          <a:xfrm>
            <a:off x="4107931" y="315213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val 319"/>
          <p:cNvSpPr/>
          <p:nvPr/>
        </p:nvSpPr>
        <p:spPr>
          <a:xfrm>
            <a:off x="4143645" y="31442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val 320"/>
          <p:cNvSpPr/>
          <p:nvPr/>
        </p:nvSpPr>
        <p:spPr>
          <a:xfrm>
            <a:off x="3915149" y="31346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val 321"/>
          <p:cNvSpPr/>
          <p:nvPr/>
        </p:nvSpPr>
        <p:spPr>
          <a:xfrm>
            <a:off x="3950382" y="31248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val 322"/>
          <p:cNvSpPr/>
          <p:nvPr/>
        </p:nvSpPr>
        <p:spPr>
          <a:xfrm>
            <a:off x="3985614" y="31150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val 323"/>
          <p:cNvSpPr/>
          <p:nvPr/>
        </p:nvSpPr>
        <p:spPr>
          <a:xfrm>
            <a:off x="4020847" y="310521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val 324"/>
          <p:cNvSpPr/>
          <p:nvPr/>
        </p:nvSpPr>
        <p:spPr>
          <a:xfrm>
            <a:off x="4056079" y="30953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4091312" y="308557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4126545" y="30757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3897866" y="30786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3932513" y="30669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3967160" y="30551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4001806" y="3043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4036453" y="303173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val 332"/>
          <p:cNvSpPr/>
          <p:nvPr/>
        </p:nvSpPr>
        <p:spPr>
          <a:xfrm>
            <a:off x="4071100" y="30200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val 333"/>
          <p:cNvSpPr/>
          <p:nvPr/>
        </p:nvSpPr>
        <p:spPr>
          <a:xfrm>
            <a:off x="4105747" y="30082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val 334"/>
          <p:cNvSpPr/>
          <p:nvPr/>
        </p:nvSpPr>
        <p:spPr>
          <a:xfrm>
            <a:off x="3877562" y="30235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val 335"/>
          <p:cNvSpPr/>
          <p:nvPr/>
        </p:nvSpPr>
        <p:spPr>
          <a:xfrm>
            <a:off x="3911521" y="30100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val 336"/>
          <p:cNvSpPr/>
          <p:nvPr/>
        </p:nvSpPr>
        <p:spPr>
          <a:xfrm>
            <a:off x="3945479" y="29964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val 337"/>
          <p:cNvSpPr/>
          <p:nvPr/>
        </p:nvSpPr>
        <p:spPr>
          <a:xfrm>
            <a:off x="3979438" y="29828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val 338"/>
          <p:cNvSpPr/>
          <p:nvPr/>
        </p:nvSpPr>
        <p:spPr>
          <a:xfrm>
            <a:off x="4013396" y="2969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val 339"/>
          <p:cNvSpPr/>
          <p:nvPr/>
        </p:nvSpPr>
        <p:spPr>
          <a:xfrm>
            <a:off x="4047355" y="29556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val 340"/>
          <p:cNvSpPr/>
          <p:nvPr/>
        </p:nvSpPr>
        <p:spPr>
          <a:xfrm>
            <a:off x="4081313" y="294206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val 341"/>
          <p:cNvSpPr/>
          <p:nvPr/>
        </p:nvSpPr>
        <p:spPr>
          <a:xfrm>
            <a:off x="3854298" y="29697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val 342"/>
          <p:cNvSpPr/>
          <p:nvPr/>
        </p:nvSpPr>
        <p:spPr>
          <a:xfrm>
            <a:off x="3887468" y="29543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val 343"/>
          <p:cNvSpPr/>
          <p:nvPr/>
        </p:nvSpPr>
        <p:spPr>
          <a:xfrm>
            <a:off x="3920637" y="29389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val 344"/>
          <p:cNvSpPr/>
          <p:nvPr/>
        </p:nvSpPr>
        <p:spPr>
          <a:xfrm>
            <a:off x="3953807" y="29235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val 345"/>
          <p:cNvSpPr/>
          <p:nvPr/>
        </p:nvSpPr>
        <p:spPr>
          <a:xfrm>
            <a:off x="3986977" y="290808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val 346"/>
          <p:cNvSpPr/>
          <p:nvPr/>
        </p:nvSpPr>
        <p:spPr>
          <a:xfrm>
            <a:off x="4020147" y="289267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val 347"/>
          <p:cNvSpPr/>
          <p:nvPr/>
        </p:nvSpPr>
        <p:spPr>
          <a:xfrm>
            <a:off x="4053317" y="28772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348"/>
          <p:cNvSpPr/>
          <p:nvPr/>
        </p:nvSpPr>
        <p:spPr>
          <a:xfrm>
            <a:off x="3828141" y="29172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val 349"/>
          <p:cNvSpPr/>
          <p:nvPr/>
        </p:nvSpPr>
        <p:spPr>
          <a:xfrm>
            <a:off x="3860424" y="29000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val 350"/>
          <p:cNvSpPr/>
          <p:nvPr/>
        </p:nvSpPr>
        <p:spPr>
          <a:xfrm>
            <a:off x="3892707" y="28828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val 351"/>
          <p:cNvSpPr/>
          <p:nvPr/>
        </p:nvSpPr>
        <p:spPr>
          <a:xfrm>
            <a:off x="3924990" y="28656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val 352"/>
          <p:cNvSpPr/>
          <p:nvPr/>
        </p:nvSpPr>
        <p:spPr>
          <a:xfrm>
            <a:off x="3957273" y="2848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val 353"/>
          <p:cNvSpPr/>
          <p:nvPr/>
        </p:nvSpPr>
        <p:spPr>
          <a:xfrm>
            <a:off x="3989556" y="283126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val 354"/>
          <p:cNvSpPr/>
          <p:nvPr/>
        </p:nvSpPr>
        <p:spPr>
          <a:xfrm>
            <a:off x="4021840" y="28140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val 355"/>
          <p:cNvSpPr/>
          <p:nvPr/>
        </p:nvSpPr>
        <p:spPr>
          <a:xfrm>
            <a:off x="3799169" y="28662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val 356"/>
          <p:cNvSpPr/>
          <p:nvPr/>
        </p:nvSpPr>
        <p:spPr>
          <a:xfrm>
            <a:off x="3830470" y="28473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val 357"/>
          <p:cNvSpPr/>
          <p:nvPr/>
        </p:nvSpPr>
        <p:spPr>
          <a:xfrm>
            <a:off x="3861771" y="28283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val 358"/>
          <p:cNvSpPr/>
          <p:nvPr/>
        </p:nvSpPr>
        <p:spPr>
          <a:xfrm>
            <a:off x="3893072" y="28094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val 359"/>
          <p:cNvSpPr/>
          <p:nvPr/>
        </p:nvSpPr>
        <p:spPr>
          <a:xfrm>
            <a:off x="3924373" y="27905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val 360"/>
          <p:cNvSpPr/>
          <p:nvPr/>
        </p:nvSpPr>
        <p:spPr>
          <a:xfrm>
            <a:off x="3955674" y="27716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val 361"/>
          <p:cNvSpPr/>
          <p:nvPr/>
        </p:nvSpPr>
        <p:spPr>
          <a:xfrm>
            <a:off x="3986975" y="2752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val 362"/>
          <p:cNvSpPr/>
          <p:nvPr/>
        </p:nvSpPr>
        <p:spPr>
          <a:xfrm>
            <a:off x="3767467" y="28168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val 363"/>
          <p:cNvSpPr/>
          <p:nvPr/>
        </p:nvSpPr>
        <p:spPr>
          <a:xfrm>
            <a:off x="3797694" y="27962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val 364"/>
          <p:cNvSpPr/>
          <p:nvPr/>
        </p:nvSpPr>
        <p:spPr>
          <a:xfrm>
            <a:off x="3827920" y="27756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val 365"/>
          <p:cNvSpPr/>
          <p:nvPr/>
        </p:nvSpPr>
        <p:spPr>
          <a:xfrm>
            <a:off x="3858147" y="27550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val 366"/>
          <p:cNvSpPr/>
          <p:nvPr/>
        </p:nvSpPr>
        <p:spPr>
          <a:xfrm>
            <a:off x="3888373" y="273448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val 367"/>
          <p:cNvSpPr/>
          <p:nvPr/>
        </p:nvSpPr>
        <p:spPr>
          <a:xfrm>
            <a:off x="3918600" y="27138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val 368"/>
          <p:cNvSpPr/>
          <p:nvPr/>
        </p:nvSpPr>
        <p:spPr>
          <a:xfrm>
            <a:off x="3948826" y="26932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val 369"/>
          <p:cNvSpPr/>
          <p:nvPr/>
        </p:nvSpPr>
        <p:spPr>
          <a:xfrm>
            <a:off x="3733130" y="27693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val 370"/>
          <p:cNvSpPr/>
          <p:nvPr/>
        </p:nvSpPr>
        <p:spPr>
          <a:xfrm>
            <a:off x="3762193" y="27470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val 371"/>
          <p:cNvSpPr/>
          <p:nvPr/>
        </p:nvSpPr>
        <p:spPr>
          <a:xfrm>
            <a:off x="3791255" y="27248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val 372"/>
          <p:cNvSpPr/>
          <p:nvPr/>
        </p:nvSpPr>
        <p:spPr>
          <a:xfrm>
            <a:off x="3820318" y="27026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val 373"/>
          <p:cNvSpPr/>
          <p:nvPr/>
        </p:nvSpPr>
        <p:spPr>
          <a:xfrm>
            <a:off x="3849380" y="26804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val 374"/>
          <p:cNvSpPr/>
          <p:nvPr/>
        </p:nvSpPr>
        <p:spPr>
          <a:xfrm>
            <a:off x="3878443" y="26582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val 375"/>
          <p:cNvSpPr/>
          <p:nvPr/>
        </p:nvSpPr>
        <p:spPr>
          <a:xfrm>
            <a:off x="3907505" y="26360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val 376"/>
          <p:cNvSpPr/>
          <p:nvPr/>
        </p:nvSpPr>
        <p:spPr>
          <a:xfrm>
            <a:off x="3696259" y="27236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val 377"/>
          <p:cNvSpPr/>
          <p:nvPr/>
        </p:nvSpPr>
        <p:spPr>
          <a:xfrm>
            <a:off x="3724072" y="26999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val 378"/>
          <p:cNvSpPr/>
          <p:nvPr/>
        </p:nvSpPr>
        <p:spPr>
          <a:xfrm>
            <a:off x="3751885" y="26761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val 379"/>
          <p:cNvSpPr/>
          <p:nvPr/>
        </p:nvSpPr>
        <p:spPr>
          <a:xfrm>
            <a:off x="3779697" y="265241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val 380"/>
          <p:cNvSpPr/>
          <p:nvPr/>
        </p:nvSpPr>
        <p:spPr>
          <a:xfrm>
            <a:off x="3807510" y="2628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val 381"/>
          <p:cNvSpPr/>
          <p:nvPr/>
        </p:nvSpPr>
        <p:spPr>
          <a:xfrm>
            <a:off x="3835322" y="26049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val 382"/>
          <p:cNvSpPr/>
          <p:nvPr/>
        </p:nvSpPr>
        <p:spPr>
          <a:xfrm>
            <a:off x="3863135" y="25811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val 383"/>
          <p:cNvSpPr/>
          <p:nvPr/>
        </p:nvSpPr>
        <p:spPr>
          <a:xfrm>
            <a:off x="3656963" y="26801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val 384"/>
          <p:cNvSpPr/>
          <p:nvPr/>
        </p:nvSpPr>
        <p:spPr>
          <a:xfrm>
            <a:off x="3683444" y="26548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val 385"/>
          <p:cNvSpPr/>
          <p:nvPr/>
        </p:nvSpPr>
        <p:spPr>
          <a:xfrm>
            <a:off x="3709924" y="26296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val 386"/>
          <p:cNvSpPr/>
          <p:nvPr/>
        </p:nvSpPr>
        <p:spPr>
          <a:xfrm>
            <a:off x="3736405" y="26044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val 387"/>
          <p:cNvSpPr/>
          <p:nvPr/>
        </p:nvSpPr>
        <p:spPr>
          <a:xfrm>
            <a:off x="3762885" y="257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Oval 388"/>
          <p:cNvSpPr/>
          <p:nvPr/>
        </p:nvSpPr>
        <p:spPr>
          <a:xfrm>
            <a:off x="3789366" y="25539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val 389"/>
          <p:cNvSpPr/>
          <p:nvPr/>
        </p:nvSpPr>
        <p:spPr>
          <a:xfrm>
            <a:off x="3815847" y="25287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val 390"/>
          <p:cNvSpPr/>
          <p:nvPr/>
        </p:nvSpPr>
        <p:spPr>
          <a:xfrm>
            <a:off x="3615358" y="26387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val 391"/>
          <p:cNvSpPr/>
          <p:nvPr/>
        </p:nvSpPr>
        <p:spPr>
          <a:xfrm>
            <a:off x="3640428" y="26121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val 392"/>
          <p:cNvSpPr/>
          <p:nvPr/>
        </p:nvSpPr>
        <p:spPr>
          <a:xfrm>
            <a:off x="3665499" y="25855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val 393"/>
          <p:cNvSpPr/>
          <p:nvPr/>
        </p:nvSpPr>
        <p:spPr>
          <a:xfrm>
            <a:off x="3690569" y="25588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Oval 394"/>
          <p:cNvSpPr/>
          <p:nvPr/>
        </p:nvSpPr>
        <p:spPr>
          <a:xfrm>
            <a:off x="3715639" y="2532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val 395"/>
          <p:cNvSpPr/>
          <p:nvPr/>
        </p:nvSpPr>
        <p:spPr>
          <a:xfrm>
            <a:off x="3740709" y="25056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Oval 396"/>
          <p:cNvSpPr/>
          <p:nvPr/>
        </p:nvSpPr>
        <p:spPr>
          <a:xfrm>
            <a:off x="3765779" y="24789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val 397"/>
          <p:cNvSpPr/>
          <p:nvPr/>
        </p:nvSpPr>
        <p:spPr>
          <a:xfrm>
            <a:off x="3571567" y="25997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val 398"/>
          <p:cNvSpPr/>
          <p:nvPr/>
        </p:nvSpPr>
        <p:spPr>
          <a:xfrm>
            <a:off x="3595153" y="25717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val 399"/>
          <p:cNvSpPr/>
          <p:nvPr/>
        </p:nvSpPr>
        <p:spPr>
          <a:xfrm>
            <a:off x="3618739" y="25438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val 400"/>
          <p:cNvSpPr/>
          <p:nvPr/>
        </p:nvSpPr>
        <p:spPr>
          <a:xfrm>
            <a:off x="3642324" y="25158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val 401"/>
          <p:cNvSpPr/>
          <p:nvPr/>
        </p:nvSpPr>
        <p:spPr>
          <a:xfrm>
            <a:off x="3665910" y="24879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val 402"/>
          <p:cNvSpPr/>
          <p:nvPr/>
        </p:nvSpPr>
        <p:spPr>
          <a:xfrm>
            <a:off x="3689496" y="24599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val 403"/>
          <p:cNvSpPr/>
          <p:nvPr/>
        </p:nvSpPr>
        <p:spPr>
          <a:xfrm>
            <a:off x="3713082" y="24320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val 404"/>
          <p:cNvSpPr/>
          <p:nvPr/>
        </p:nvSpPr>
        <p:spPr>
          <a:xfrm>
            <a:off x="3525719" y="25631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val 405"/>
          <p:cNvSpPr/>
          <p:nvPr/>
        </p:nvSpPr>
        <p:spPr>
          <a:xfrm>
            <a:off x="3547751" y="25339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val 406"/>
          <p:cNvSpPr/>
          <p:nvPr/>
        </p:nvSpPr>
        <p:spPr>
          <a:xfrm>
            <a:off x="3569783" y="250475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val 407"/>
          <p:cNvSpPr/>
          <p:nvPr/>
        </p:nvSpPr>
        <p:spPr>
          <a:xfrm>
            <a:off x="3591814" y="247555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val 408"/>
          <p:cNvSpPr/>
          <p:nvPr/>
        </p:nvSpPr>
        <p:spPr>
          <a:xfrm>
            <a:off x="3613846" y="24463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val 409"/>
          <p:cNvSpPr/>
          <p:nvPr/>
        </p:nvSpPr>
        <p:spPr>
          <a:xfrm>
            <a:off x="3635877" y="24171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val 410"/>
          <p:cNvSpPr/>
          <p:nvPr/>
        </p:nvSpPr>
        <p:spPr>
          <a:xfrm>
            <a:off x="3657909" y="2387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val 411"/>
          <p:cNvSpPr/>
          <p:nvPr/>
        </p:nvSpPr>
        <p:spPr>
          <a:xfrm>
            <a:off x="3477951" y="25290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val 412"/>
          <p:cNvSpPr/>
          <p:nvPr/>
        </p:nvSpPr>
        <p:spPr>
          <a:xfrm>
            <a:off x="3498363" y="24987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val 413"/>
          <p:cNvSpPr/>
          <p:nvPr/>
        </p:nvSpPr>
        <p:spPr>
          <a:xfrm>
            <a:off x="3518775" y="24683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val 414"/>
          <p:cNvSpPr/>
          <p:nvPr/>
        </p:nvSpPr>
        <p:spPr>
          <a:xfrm>
            <a:off x="3539188" y="24380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val 415"/>
          <p:cNvSpPr/>
          <p:nvPr/>
        </p:nvSpPr>
        <p:spPr>
          <a:xfrm>
            <a:off x="3559600" y="240769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val 416"/>
          <p:cNvSpPr/>
          <p:nvPr/>
        </p:nvSpPr>
        <p:spPr>
          <a:xfrm>
            <a:off x="3580012" y="23773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val 417"/>
          <p:cNvSpPr/>
          <p:nvPr/>
        </p:nvSpPr>
        <p:spPr>
          <a:xfrm>
            <a:off x="3600425" y="23469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val 418"/>
          <p:cNvSpPr/>
          <p:nvPr/>
        </p:nvSpPr>
        <p:spPr>
          <a:xfrm>
            <a:off x="3428402" y="2497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val 419"/>
          <p:cNvSpPr/>
          <p:nvPr/>
        </p:nvSpPr>
        <p:spPr>
          <a:xfrm>
            <a:off x="3447135" y="24662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val 420"/>
          <p:cNvSpPr/>
          <p:nvPr/>
        </p:nvSpPr>
        <p:spPr>
          <a:xfrm>
            <a:off x="3465867" y="2434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val 421"/>
          <p:cNvSpPr/>
          <p:nvPr/>
        </p:nvSpPr>
        <p:spPr>
          <a:xfrm>
            <a:off x="3484600" y="24034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val 422"/>
          <p:cNvSpPr/>
          <p:nvPr/>
        </p:nvSpPr>
        <p:spPr>
          <a:xfrm>
            <a:off x="3503333" y="23720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val 423"/>
          <p:cNvSpPr/>
          <p:nvPr/>
        </p:nvSpPr>
        <p:spPr>
          <a:xfrm>
            <a:off x="3522066" y="23406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val 424"/>
          <p:cNvSpPr/>
          <p:nvPr/>
        </p:nvSpPr>
        <p:spPr>
          <a:xfrm>
            <a:off x="3540798" y="23092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val 425"/>
          <p:cNvSpPr/>
          <p:nvPr/>
        </p:nvSpPr>
        <p:spPr>
          <a:xfrm>
            <a:off x="3377220" y="2469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val 426"/>
          <p:cNvSpPr/>
          <p:nvPr/>
        </p:nvSpPr>
        <p:spPr>
          <a:xfrm>
            <a:off x="3394218" y="24366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val 427"/>
          <p:cNvSpPr/>
          <p:nvPr/>
        </p:nvSpPr>
        <p:spPr>
          <a:xfrm>
            <a:off x="3411216" y="240425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val 428"/>
          <p:cNvSpPr/>
          <p:nvPr/>
        </p:nvSpPr>
        <p:spPr>
          <a:xfrm>
            <a:off x="3428213" y="23718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val 429"/>
          <p:cNvSpPr/>
          <p:nvPr/>
        </p:nvSpPr>
        <p:spPr>
          <a:xfrm>
            <a:off x="3445211" y="23394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val 430"/>
          <p:cNvSpPr/>
          <p:nvPr/>
        </p:nvSpPr>
        <p:spPr>
          <a:xfrm>
            <a:off x="3462209" y="230709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val 431"/>
          <p:cNvSpPr/>
          <p:nvPr/>
        </p:nvSpPr>
        <p:spPr>
          <a:xfrm>
            <a:off x="3479206" y="22747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val 432"/>
          <p:cNvSpPr/>
          <p:nvPr/>
        </p:nvSpPr>
        <p:spPr>
          <a:xfrm>
            <a:off x="3324556" y="24431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val 433"/>
          <p:cNvSpPr/>
          <p:nvPr/>
        </p:nvSpPr>
        <p:spPr>
          <a:xfrm>
            <a:off x="3339768" y="24099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val 434"/>
          <p:cNvSpPr/>
          <p:nvPr/>
        </p:nvSpPr>
        <p:spPr>
          <a:xfrm>
            <a:off x="3354981" y="237666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val 435"/>
          <p:cNvSpPr/>
          <p:nvPr/>
        </p:nvSpPr>
        <p:spPr>
          <a:xfrm>
            <a:off x="3370193" y="23434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val 436"/>
          <p:cNvSpPr/>
          <p:nvPr/>
        </p:nvSpPr>
        <p:spPr>
          <a:xfrm>
            <a:off x="3385406" y="23101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val 437"/>
          <p:cNvSpPr/>
          <p:nvPr/>
        </p:nvSpPr>
        <p:spPr>
          <a:xfrm>
            <a:off x="3400618" y="22768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val 438"/>
          <p:cNvSpPr/>
          <p:nvPr/>
        </p:nvSpPr>
        <p:spPr>
          <a:xfrm>
            <a:off x="3415831" y="224361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val 439"/>
          <p:cNvSpPr/>
          <p:nvPr/>
        </p:nvSpPr>
        <p:spPr>
          <a:xfrm>
            <a:off x="3270565" y="24202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val 440"/>
          <p:cNvSpPr/>
          <p:nvPr/>
        </p:nvSpPr>
        <p:spPr>
          <a:xfrm>
            <a:off x="3283948" y="23862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val 441"/>
          <p:cNvSpPr/>
          <p:nvPr/>
        </p:nvSpPr>
        <p:spPr>
          <a:xfrm>
            <a:off x="3297330" y="235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val 442"/>
          <p:cNvSpPr/>
          <p:nvPr/>
        </p:nvSpPr>
        <p:spPr>
          <a:xfrm>
            <a:off x="3310712" y="231812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val 443"/>
          <p:cNvSpPr/>
          <p:nvPr/>
        </p:nvSpPr>
        <p:spPr>
          <a:xfrm>
            <a:off x="3324095" y="22840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val 444"/>
          <p:cNvSpPr/>
          <p:nvPr/>
        </p:nvSpPr>
        <p:spPr>
          <a:xfrm>
            <a:off x="3337477" y="22500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val 445"/>
          <p:cNvSpPr/>
          <p:nvPr/>
        </p:nvSpPr>
        <p:spPr>
          <a:xfrm>
            <a:off x="3350859" y="22160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val 446"/>
          <p:cNvSpPr/>
          <p:nvPr/>
        </p:nvSpPr>
        <p:spPr>
          <a:xfrm>
            <a:off x="3215408" y="24002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val 447"/>
          <p:cNvSpPr/>
          <p:nvPr/>
        </p:nvSpPr>
        <p:spPr>
          <a:xfrm>
            <a:off x="3226921" y="2365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val 448"/>
          <p:cNvSpPr/>
          <p:nvPr/>
        </p:nvSpPr>
        <p:spPr>
          <a:xfrm>
            <a:off x="3238433" y="233084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val 449"/>
          <p:cNvSpPr/>
          <p:nvPr/>
        </p:nvSpPr>
        <p:spPr>
          <a:xfrm>
            <a:off x="3249946" y="22961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val 450"/>
          <p:cNvSpPr/>
          <p:nvPr/>
        </p:nvSpPr>
        <p:spPr>
          <a:xfrm>
            <a:off x="3261458" y="226141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val 451"/>
          <p:cNvSpPr/>
          <p:nvPr/>
        </p:nvSpPr>
        <p:spPr>
          <a:xfrm>
            <a:off x="3272971" y="22266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val 452"/>
          <p:cNvSpPr/>
          <p:nvPr/>
        </p:nvSpPr>
        <p:spPr>
          <a:xfrm>
            <a:off x="3284483" y="219197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val 453"/>
          <p:cNvSpPr/>
          <p:nvPr/>
        </p:nvSpPr>
        <p:spPr>
          <a:xfrm>
            <a:off x="3159247" y="238333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val 454"/>
          <p:cNvSpPr/>
          <p:nvPr/>
        </p:nvSpPr>
        <p:spPr>
          <a:xfrm>
            <a:off x="3168855" y="23480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val 455"/>
          <p:cNvSpPr/>
          <p:nvPr/>
        </p:nvSpPr>
        <p:spPr>
          <a:xfrm>
            <a:off x="3178464" y="23127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val 456"/>
          <p:cNvSpPr/>
          <p:nvPr/>
        </p:nvSpPr>
        <p:spPr>
          <a:xfrm>
            <a:off x="3188073" y="22774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val 457"/>
          <p:cNvSpPr/>
          <p:nvPr/>
        </p:nvSpPr>
        <p:spPr>
          <a:xfrm>
            <a:off x="3197682" y="224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val 458"/>
          <p:cNvSpPr/>
          <p:nvPr/>
        </p:nvSpPr>
        <p:spPr>
          <a:xfrm>
            <a:off x="3207291" y="22068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val 459"/>
          <p:cNvSpPr/>
          <p:nvPr/>
        </p:nvSpPr>
        <p:spPr>
          <a:xfrm>
            <a:off x="3216899" y="217158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val 460"/>
          <p:cNvSpPr/>
          <p:nvPr/>
        </p:nvSpPr>
        <p:spPr>
          <a:xfrm>
            <a:off x="3102248" y="2369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val 461"/>
          <p:cNvSpPr/>
          <p:nvPr/>
        </p:nvSpPr>
        <p:spPr>
          <a:xfrm>
            <a:off x="3109924" y="23337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val 462"/>
          <p:cNvSpPr/>
          <p:nvPr/>
        </p:nvSpPr>
        <p:spPr>
          <a:xfrm>
            <a:off x="3117601" y="229794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val 463"/>
          <p:cNvSpPr/>
          <p:nvPr/>
        </p:nvSpPr>
        <p:spPr>
          <a:xfrm>
            <a:off x="3125277" y="22621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val 464"/>
          <p:cNvSpPr/>
          <p:nvPr/>
        </p:nvSpPr>
        <p:spPr>
          <a:xfrm>
            <a:off x="3132954" y="222642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val 465"/>
          <p:cNvSpPr/>
          <p:nvPr/>
        </p:nvSpPr>
        <p:spPr>
          <a:xfrm>
            <a:off x="3140631" y="2190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val 466"/>
          <p:cNvSpPr/>
          <p:nvPr/>
        </p:nvSpPr>
        <p:spPr>
          <a:xfrm>
            <a:off x="3148307" y="21549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val 467"/>
          <p:cNvSpPr/>
          <p:nvPr/>
        </p:nvSpPr>
        <p:spPr>
          <a:xfrm>
            <a:off x="3044579" y="235872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val 468"/>
          <p:cNvSpPr/>
          <p:nvPr/>
        </p:nvSpPr>
        <p:spPr>
          <a:xfrm>
            <a:off x="3050301" y="23225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val 469"/>
          <p:cNvSpPr/>
          <p:nvPr/>
        </p:nvSpPr>
        <p:spPr>
          <a:xfrm>
            <a:off x="3056023" y="2286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val 470"/>
          <p:cNvSpPr/>
          <p:nvPr/>
        </p:nvSpPr>
        <p:spPr>
          <a:xfrm>
            <a:off x="3061744" y="22503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val 471"/>
          <p:cNvSpPr/>
          <p:nvPr/>
        </p:nvSpPr>
        <p:spPr>
          <a:xfrm>
            <a:off x="3067466" y="22142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val 472"/>
          <p:cNvSpPr/>
          <p:nvPr/>
        </p:nvSpPr>
        <p:spPr>
          <a:xfrm>
            <a:off x="3073188" y="21780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val 473"/>
          <p:cNvSpPr/>
          <p:nvPr/>
        </p:nvSpPr>
        <p:spPr>
          <a:xfrm>
            <a:off x="3078910" y="2141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val 474"/>
          <p:cNvSpPr/>
          <p:nvPr/>
        </p:nvSpPr>
        <p:spPr>
          <a:xfrm>
            <a:off x="191566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val 475"/>
          <p:cNvSpPr/>
          <p:nvPr/>
        </p:nvSpPr>
        <p:spPr>
          <a:xfrm>
            <a:off x="186537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val 476"/>
          <p:cNvSpPr/>
          <p:nvPr/>
        </p:nvSpPr>
        <p:spPr>
          <a:xfrm>
            <a:off x="181508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val 477"/>
          <p:cNvSpPr/>
          <p:nvPr/>
        </p:nvSpPr>
        <p:spPr>
          <a:xfrm>
            <a:off x="176479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val 478"/>
          <p:cNvSpPr/>
          <p:nvPr/>
        </p:nvSpPr>
        <p:spPr>
          <a:xfrm>
            <a:off x="1714500"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val 479"/>
          <p:cNvSpPr/>
          <p:nvPr/>
        </p:nvSpPr>
        <p:spPr>
          <a:xfrm>
            <a:off x="16642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val 480"/>
          <p:cNvSpPr/>
          <p:nvPr/>
        </p:nvSpPr>
        <p:spPr>
          <a:xfrm>
            <a:off x="16139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val 481"/>
          <p:cNvSpPr/>
          <p:nvPr/>
        </p:nvSpPr>
        <p:spPr>
          <a:xfrm>
            <a:off x="15636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val 482"/>
          <p:cNvSpPr/>
          <p:nvPr/>
        </p:nvSpPr>
        <p:spPr>
          <a:xfrm>
            <a:off x="15133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TextBox 483"/>
          <p:cNvSpPr txBox="1"/>
          <p:nvPr/>
        </p:nvSpPr>
        <p:spPr>
          <a:xfrm>
            <a:off x="1170432" y="3364991"/>
            <a:ext cx="365760" cy="219456"/>
          </a:xfrm>
          <a:prstGeom prst="rect">
            <a:avLst/>
          </a:prstGeom>
          <a:noFill/>
        </p:spPr>
        <p:txBody>
          <a:bodyPr wrap="square">
            <a:spAutoFit/>
          </a:bodyPr>
          <a:lstStyle/>
          <a:p>
            <a:pPr algn="ctr"/>
            <a:r>
              <a:rPr sz="800" b="0" i="0">
                <a:solidFill>
                  <a:srgbClr val="404040"/>
                </a:solidFill>
              </a:rPr>
              <a:t>0.00</a:t>
            </a:r>
          </a:p>
        </p:txBody>
      </p:sp>
      <p:sp>
        <p:nvSpPr>
          <p:cNvPr id="485" name="Oval 484"/>
          <p:cNvSpPr/>
          <p:nvPr/>
        </p:nvSpPr>
        <p:spPr>
          <a:xfrm>
            <a:off x="2204915"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val 485"/>
          <p:cNvSpPr/>
          <p:nvPr/>
        </p:nvSpPr>
        <p:spPr>
          <a:xfrm>
            <a:off x="2169353"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val 486"/>
          <p:cNvSpPr/>
          <p:nvPr/>
        </p:nvSpPr>
        <p:spPr>
          <a:xfrm>
            <a:off x="2133791"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val 487"/>
          <p:cNvSpPr/>
          <p:nvPr/>
        </p:nvSpPr>
        <p:spPr>
          <a:xfrm>
            <a:off x="2098229"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val 488"/>
          <p:cNvSpPr/>
          <p:nvPr/>
        </p:nvSpPr>
        <p:spPr>
          <a:xfrm>
            <a:off x="2062668"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val 489"/>
          <p:cNvSpPr/>
          <p:nvPr/>
        </p:nvSpPr>
        <p:spPr>
          <a:xfrm>
            <a:off x="2027106"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val 490"/>
          <p:cNvSpPr/>
          <p:nvPr/>
        </p:nvSpPr>
        <p:spPr>
          <a:xfrm>
            <a:off x="1991544"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val 491"/>
          <p:cNvSpPr/>
          <p:nvPr/>
        </p:nvSpPr>
        <p:spPr>
          <a:xfrm>
            <a:off x="1955982"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val 492"/>
          <p:cNvSpPr/>
          <p:nvPr/>
        </p:nvSpPr>
        <p:spPr>
          <a:xfrm>
            <a:off x="1920420"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1631085" y="2252877"/>
            <a:ext cx="365760" cy="219456"/>
          </a:xfrm>
          <a:prstGeom prst="rect">
            <a:avLst/>
          </a:prstGeom>
          <a:noFill/>
        </p:spPr>
        <p:txBody>
          <a:bodyPr wrap="square">
            <a:spAutoFit/>
          </a:bodyPr>
          <a:lstStyle/>
          <a:p>
            <a:pPr algn="ctr"/>
            <a:r>
              <a:rPr sz="800" b="0" i="0">
                <a:solidFill>
                  <a:srgbClr val="404040"/>
                </a:solidFill>
              </a:rPr>
              <a:t>0.50</a:t>
            </a:r>
          </a:p>
        </p:txBody>
      </p:sp>
      <p:sp>
        <p:nvSpPr>
          <p:cNvPr id="495" name="Oval 494"/>
          <p:cNvSpPr/>
          <p:nvPr/>
        </p:nvSpPr>
        <p:spPr>
          <a:xfrm>
            <a:off x="2525300"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val 495"/>
          <p:cNvSpPr/>
          <p:nvPr/>
        </p:nvSpPr>
        <p:spPr>
          <a:xfrm>
            <a:off x="2506054"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val 496"/>
          <p:cNvSpPr/>
          <p:nvPr/>
        </p:nvSpPr>
        <p:spPr>
          <a:xfrm>
            <a:off x="2486808"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val 497"/>
          <p:cNvSpPr/>
          <p:nvPr/>
        </p:nvSpPr>
        <p:spPr>
          <a:xfrm>
            <a:off x="2467562"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val 498"/>
          <p:cNvSpPr/>
          <p:nvPr/>
        </p:nvSpPr>
        <p:spPr>
          <a:xfrm>
            <a:off x="2448316"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val 499"/>
          <p:cNvSpPr/>
          <p:nvPr/>
        </p:nvSpPr>
        <p:spPr>
          <a:xfrm>
            <a:off x="2429070"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val 500"/>
          <p:cNvSpPr/>
          <p:nvPr/>
        </p:nvSpPr>
        <p:spPr>
          <a:xfrm>
            <a:off x="2409824"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val 501"/>
          <p:cNvSpPr/>
          <p:nvPr/>
        </p:nvSpPr>
        <p:spPr>
          <a:xfrm>
            <a:off x="2390578"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val 502"/>
          <p:cNvSpPr/>
          <p:nvPr/>
        </p:nvSpPr>
        <p:spPr>
          <a:xfrm>
            <a:off x="2371332"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TextBox 503"/>
          <p:cNvSpPr txBox="1"/>
          <p:nvPr/>
        </p:nvSpPr>
        <p:spPr>
          <a:xfrm>
            <a:off x="2141327" y="1911943"/>
            <a:ext cx="365760" cy="219456"/>
          </a:xfrm>
          <a:prstGeom prst="rect">
            <a:avLst/>
          </a:prstGeom>
          <a:noFill/>
        </p:spPr>
        <p:txBody>
          <a:bodyPr wrap="square">
            <a:spAutoFit/>
          </a:bodyPr>
          <a:lstStyle/>
          <a:p>
            <a:pPr algn="ctr"/>
            <a:r>
              <a:rPr sz="800" b="1" i="0">
                <a:solidFill>
                  <a:srgbClr val="404040"/>
                </a:solidFill>
              </a:rPr>
              <a:t>0.75</a:t>
            </a:r>
          </a:p>
        </p:txBody>
      </p:sp>
      <p:sp>
        <p:nvSpPr>
          <p:cNvPr id="505" name="Oval 504"/>
          <p:cNvSpPr/>
          <p:nvPr/>
        </p:nvSpPr>
        <p:spPr>
          <a:xfrm>
            <a:off x="2903220" y="2464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val 505"/>
          <p:cNvSpPr/>
          <p:nvPr/>
        </p:nvSpPr>
        <p:spPr>
          <a:xfrm>
            <a:off x="2903220" y="241401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val 506"/>
          <p:cNvSpPr/>
          <p:nvPr/>
        </p:nvSpPr>
        <p:spPr>
          <a:xfrm>
            <a:off x="2903220" y="236372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val 507"/>
          <p:cNvSpPr/>
          <p:nvPr/>
        </p:nvSpPr>
        <p:spPr>
          <a:xfrm>
            <a:off x="2903220" y="231343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val 508"/>
          <p:cNvSpPr/>
          <p:nvPr/>
        </p:nvSpPr>
        <p:spPr>
          <a:xfrm>
            <a:off x="2903220" y="226314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val 509"/>
          <p:cNvSpPr/>
          <p:nvPr/>
        </p:nvSpPr>
        <p:spPr>
          <a:xfrm>
            <a:off x="2903220" y="221284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val 510"/>
          <p:cNvSpPr/>
          <p:nvPr/>
        </p:nvSpPr>
        <p:spPr>
          <a:xfrm>
            <a:off x="2903220" y="216255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val 511"/>
          <p:cNvSpPr/>
          <p:nvPr/>
        </p:nvSpPr>
        <p:spPr>
          <a:xfrm>
            <a:off x="2903220" y="211226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val 512"/>
          <p:cNvSpPr/>
          <p:nvPr/>
        </p:nvSpPr>
        <p:spPr>
          <a:xfrm>
            <a:off x="2903220" y="206197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TextBox 513"/>
          <p:cNvSpPr txBox="1"/>
          <p:nvPr/>
        </p:nvSpPr>
        <p:spPr>
          <a:xfrm>
            <a:off x="2743200" y="1792224"/>
            <a:ext cx="365760" cy="219456"/>
          </a:xfrm>
          <a:prstGeom prst="rect">
            <a:avLst/>
          </a:prstGeom>
          <a:noFill/>
        </p:spPr>
        <p:txBody>
          <a:bodyPr wrap="square">
            <a:spAutoFit/>
          </a:bodyPr>
          <a:lstStyle/>
          <a:p>
            <a:pPr algn="ctr"/>
            <a:r>
              <a:rPr sz="800" b="1" i="0">
                <a:solidFill>
                  <a:srgbClr val="404040"/>
                </a:solidFill>
              </a:rPr>
              <a:t>1.00</a:t>
            </a:r>
          </a:p>
        </p:txBody>
      </p:sp>
      <p:sp>
        <p:nvSpPr>
          <p:cNvPr id="515" name="Oval 514"/>
          <p:cNvSpPr/>
          <p:nvPr/>
        </p:nvSpPr>
        <p:spPr>
          <a:xfrm>
            <a:off x="3281139"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val 515"/>
          <p:cNvSpPr/>
          <p:nvPr/>
        </p:nvSpPr>
        <p:spPr>
          <a:xfrm>
            <a:off x="3300385"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val 516"/>
          <p:cNvSpPr/>
          <p:nvPr/>
        </p:nvSpPr>
        <p:spPr>
          <a:xfrm>
            <a:off x="3319631"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val 517"/>
          <p:cNvSpPr/>
          <p:nvPr/>
        </p:nvSpPr>
        <p:spPr>
          <a:xfrm>
            <a:off x="3338877"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val 518"/>
          <p:cNvSpPr/>
          <p:nvPr/>
        </p:nvSpPr>
        <p:spPr>
          <a:xfrm>
            <a:off x="3358123"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val 519"/>
          <p:cNvSpPr/>
          <p:nvPr/>
        </p:nvSpPr>
        <p:spPr>
          <a:xfrm>
            <a:off x="3377369"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val 520"/>
          <p:cNvSpPr/>
          <p:nvPr/>
        </p:nvSpPr>
        <p:spPr>
          <a:xfrm>
            <a:off x="3396615"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val 521"/>
          <p:cNvSpPr/>
          <p:nvPr/>
        </p:nvSpPr>
        <p:spPr>
          <a:xfrm>
            <a:off x="3415861"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val 522"/>
          <p:cNvSpPr/>
          <p:nvPr/>
        </p:nvSpPr>
        <p:spPr>
          <a:xfrm>
            <a:off x="3435107"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TextBox 523"/>
          <p:cNvSpPr txBox="1"/>
          <p:nvPr/>
        </p:nvSpPr>
        <p:spPr>
          <a:xfrm>
            <a:off x="3345072" y="1911943"/>
            <a:ext cx="365760" cy="219456"/>
          </a:xfrm>
          <a:prstGeom prst="rect">
            <a:avLst/>
          </a:prstGeom>
          <a:noFill/>
        </p:spPr>
        <p:txBody>
          <a:bodyPr wrap="square">
            <a:spAutoFit/>
          </a:bodyPr>
          <a:lstStyle/>
          <a:p>
            <a:pPr algn="ctr"/>
            <a:r>
              <a:rPr sz="800" b="0" i="0">
                <a:solidFill>
                  <a:srgbClr val="404040"/>
                </a:solidFill>
              </a:rPr>
              <a:t>1.25</a:t>
            </a:r>
          </a:p>
        </p:txBody>
      </p:sp>
      <p:sp>
        <p:nvSpPr>
          <p:cNvPr id="525" name="Oval 524"/>
          <p:cNvSpPr/>
          <p:nvPr/>
        </p:nvSpPr>
        <p:spPr>
          <a:xfrm>
            <a:off x="3601524"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val 525"/>
          <p:cNvSpPr/>
          <p:nvPr/>
        </p:nvSpPr>
        <p:spPr>
          <a:xfrm>
            <a:off x="3637086"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val 526"/>
          <p:cNvSpPr/>
          <p:nvPr/>
        </p:nvSpPr>
        <p:spPr>
          <a:xfrm>
            <a:off x="3672648"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val 527"/>
          <p:cNvSpPr/>
          <p:nvPr/>
        </p:nvSpPr>
        <p:spPr>
          <a:xfrm>
            <a:off x="3708210"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val 528"/>
          <p:cNvSpPr/>
          <p:nvPr/>
        </p:nvSpPr>
        <p:spPr>
          <a:xfrm>
            <a:off x="3743771"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val 529"/>
          <p:cNvSpPr/>
          <p:nvPr/>
        </p:nvSpPr>
        <p:spPr>
          <a:xfrm>
            <a:off x="3779333"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val 530"/>
          <p:cNvSpPr/>
          <p:nvPr/>
        </p:nvSpPr>
        <p:spPr>
          <a:xfrm>
            <a:off x="3814895"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val 531"/>
          <p:cNvSpPr/>
          <p:nvPr/>
        </p:nvSpPr>
        <p:spPr>
          <a:xfrm>
            <a:off x="3850457"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val 532"/>
          <p:cNvSpPr/>
          <p:nvPr/>
        </p:nvSpPr>
        <p:spPr>
          <a:xfrm>
            <a:off x="3886019"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TextBox 533"/>
          <p:cNvSpPr txBox="1"/>
          <p:nvPr/>
        </p:nvSpPr>
        <p:spPr>
          <a:xfrm>
            <a:off x="3855314" y="2252877"/>
            <a:ext cx="365760" cy="219456"/>
          </a:xfrm>
          <a:prstGeom prst="rect">
            <a:avLst/>
          </a:prstGeom>
          <a:noFill/>
        </p:spPr>
        <p:txBody>
          <a:bodyPr wrap="square">
            <a:spAutoFit/>
          </a:bodyPr>
          <a:lstStyle/>
          <a:p>
            <a:pPr algn="ctr"/>
            <a:r>
              <a:rPr sz="800" b="0" i="0">
                <a:solidFill>
                  <a:srgbClr val="404040"/>
                </a:solidFill>
              </a:rPr>
              <a:t>1.50</a:t>
            </a:r>
          </a:p>
        </p:txBody>
      </p:sp>
      <p:sp>
        <p:nvSpPr>
          <p:cNvPr id="535" name="Oval 534"/>
          <p:cNvSpPr/>
          <p:nvPr/>
        </p:nvSpPr>
        <p:spPr>
          <a:xfrm>
            <a:off x="389077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val 535"/>
          <p:cNvSpPr/>
          <p:nvPr/>
        </p:nvSpPr>
        <p:spPr>
          <a:xfrm>
            <a:off x="3941063"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val 536"/>
          <p:cNvSpPr/>
          <p:nvPr/>
        </p:nvSpPr>
        <p:spPr>
          <a:xfrm>
            <a:off x="399135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val 537"/>
          <p:cNvSpPr/>
          <p:nvPr/>
        </p:nvSpPr>
        <p:spPr>
          <a:xfrm>
            <a:off x="404164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val 538"/>
          <p:cNvSpPr/>
          <p:nvPr/>
        </p:nvSpPr>
        <p:spPr>
          <a:xfrm>
            <a:off x="4091939"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val 539"/>
          <p:cNvSpPr/>
          <p:nvPr/>
        </p:nvSpPr>
        <p:spPr>
          <a:xfrm>
            <a:off x="41422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val 540"/>
          <p:cNvSpPr/>
          <p:nvPr/>
        </p:nvSpPr>
        <p:spPr>
          <a:xfrm>
            <a:off x="41925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val 541"/>
          <p:cNvSpPr/>
          <p:nvPr/>
        </p:nvSpPr>
        <p:spPr>
          <a:xfrm>
            <a:off x="42428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val 542"/>
          <p:cNvSpPr/>
          <p:nvPr/>
        </p:nvSpPr>
        <p:spPr>
          <a:xfrm>
            <a:off x="42931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TextBox 543"/>
          <p:cNvSpPr txBox="1"/>
          <p:nvPr/>
        </p:nvSpPr>
        <p:spPr>
          <a:xfrm>
            <a:off x="4315968" y="3364991"/>
            <a:ext cx="365760" cy="219456"/>
          </a:xfrm>
          <a:prstGeom prst="rect">
            <a:avLst/>
          </a:prstGeom>
          <a:noFill/>
        </p:spPr>
        <p:txBody>
          <a:bodyPr wrap="square">
            <a:spAutoFit/>
          </a:bodyPr>
          <a:lstStyle/>
          <a:p>
            <a:pPr algn="ctr"/>
            <a:r>
              <a:rPr sz="800" b="0" i="0">
                <a:solidFill>
                  <a:srgbClr val="404040"/>
                </a:solidFill>
              </a:rPr>
              <a:t>2.00</a:t>
            </a:r>
          </a:p>
        </p:txBody>
      </p:sp>
      <p:sp>
        <p:nvSpPr>
          <p:cNvPr id="545" name="Oval 544"/>
          <p:cNvSpPr/>
          <p:nvPr/>
        </p:nvSpPr>
        <p:spPr>
          <a:xfrm>
            <a:off x="2889504" y="343814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val 545"/>
          <p:cNvSpPr/>
          <p:nvPr/>
        </p:nvSpPr>
        <p:spPr>
          <a:xfrm>
            <a:off x="2874807" y="340266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val 546"/>
          <p:cNvSpPr/>
          <p:nvPr/>
        </p:nvSpPr>
        <p:spPr>
          <a:xfrm>
            <a:off x="2860110" y="336718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val 547"/>
          <p:cNvSpPr/>
          <p:nvPr/>
        </p:nvSpPr>
        <p:spPr>
          <a:xfrm>
            <a:off x="2845413" y="333169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val 548"/>
          <p:cNvSpPr/>
          <p:nvPr/>
        </p:nvSpPr>
        <p:spPr>
          <a:xfrm>
            <a:off x="2830716" y="329621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val 549"/>
          <p:cNvSpPr/>
          <p:nvPr/>
        </p:nvSpPr>
        <p:spPr>
          <a:xfrm>
            <a:off x="2816019" y="3260736"/>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val 550"/>
          <p:cNvSpPr/>
          <p:nvPr/>
        </p:nvSpPr>
        <p:spPr>
          <a:xfrm>
            <a:off x="2801322" y="322525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val 551"/>
          <p:cNvSpPr/>
          <p:nvPr/>
        </p:nvSpPr>
        <p:spPr>
          <a:xfrm>
            <a:off x="2786625" y="318977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val 552"/>
          <p:cNvSpPr/>
          <p:nvPr/>
        </p:nvSpPr>
        <p:spPr>
          <a:xfrm>
            <a:off x="2771928" y="315429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val 553"/>
          <p:cNvSpPr/>
          <p:nvPr/>
        </p:nvSpPr>
        <p:spPr>
          <a:xfrm>
            <a:off x="2757232" y="311881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val 554"/>
          <p:cNvSpPr/>
          <p:nvPr/>
        </p:nvSpPr>
        <p:spPr>
          <a:xfrm>
            <a:off x="2742535" y="308332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val 555"/>
          <p:cNvSpPr/>
          <p:nvPr/>
        </p:nvSpPr>
        <p:spPr>
          <a:xfrm>
            <a:off x="2727838" y="304784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val 556"/>
          <p:cNvSpPr/>
          <p:nvPr/>
        </p:nvSpPr>
        <p:spPr>
          <a:xfrm>
            <a:off x="2713141" y="301236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val 557"/>
          <p:cNvSpPr/>
          <p:nvPr/>
        </p:nvSpPr>
        <p:spPr>
          <a:xfrm>
            <a:off x="2698444" y="297688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val 558"/>
          <p:cNvSpPr/>
          <p:nvPr/>
        </p:nvSpPr>
        <p:spPr>
          <a:xfrm>
            <a:off x="2683747" y="294140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val 559"/>
          <p:cNvSpPr/>
          <p:nvPr/>
        </p:nvSpPr>
        <p:spPr>
          <a:xfrm>
            <a:off x="2669050" y="290592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val 560"/>
          <p:cNvSpPr/>
          <p:nvPr/>
        </p:nvSpPr>
        <p:spPr>
          <a:xfrm>
            <a:off x="2654353" y="287044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val 561"/>
          <p:cNvSpPr/>
          <p:nvPr/>
        </p:nvSpPr>
        <p:spPr>
          <a:xfrm>
            <a:off x="2639657" y="2834960"/>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val 562"/>
          <p:cNvSpPr/>
          <p:nvPr/>
        </p:nvSpPr>
        <p:spPr>
          <a:xfrm>
            <a:off x="2624960" y="279947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Oval 563"/>
          <p:cNvSpPr/>
          <p:nvPr/>
        </p:nvSpPr>
        <p:spPr>
          <a:xfrm>
            <a:off x="2610263" y="276399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val 564"/>
          <p:cNvSpPr/>
          <p:nvPr/>
        </p:nvSpPr>
        <p:spPr>
          <a:xfrm>
            <a:off x="2595566" y="272851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val 565"/>
          <p:cNvSpPr/>
          <p:nvPr/>
        </p:nvSpPr>
        <p:spPr>
          <a:xfrm>
            <a:off x="2580869" y="269303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val 566"/>
          <p:cNvSpPr/>
          <p:nvPr/>
        </p:nvSpPr>
        <p:spPr>
          <a:xfrm>
            <a:off x="2579888" y="2671269"/>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val 567"/>
          <p:cNvSpPr/>
          <p:nvPr/>
        </p:nvSpPr>
        <p:spPr>
          <a:xfrm>
            <a:off x="2565191" y="2635787"/>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val 568"/>
          <p:cNvSpPr/>
          <p:nvPr/>
        </p:nvSpPr>
        <p:spPr>
          <a:xfrm>
            <a:off x="2550494" y="2600306"/>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val 569"/>
          <p:cNvSpPr/>
          <p:nvPr/>
        </p:nvSpPr>
        <p:spPr>
          <a:xfrm>
            <a:off x="2535797" y="2564824"/>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val 570"/>
          <p:cNvSpPr/>
          <p:nvPr/>
        </p:nvSpPr>
        <p:spPr>
          <a:xfrm>
            <a:off x="2898648" y="3408883"/>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val 571"/>
          <p:cNvSpPr/>
          <p:nvPr/>
        </p:nvSpPr>
        <p:spPr>
          <a:xfrm>
            <a:off x="2898648" y="337047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val 572"/>
          <p:cNvSpPr/>
          <p:nvPr/>
        </p:nvSpPr>
        <p:spPr>
          <a:xfrm>
            <a:off x="2898648" y="32936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val 573"/>
          <p:cNvSpPr/>
          <p:nvPr/>
        </p:nvSpPr>
        <p:spPr>
          <a:xfrm>
            <a:off x="2898648" y="325526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val 574"/>
          <p:cNvSpPr/>
          <p:nvPr/>
        </p:nvSpPr>
        <p:spPr>
          <a:xfrm>
            <a:off x="2898648" y="317845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val 575"/>
          <p:cNvSpPr/>
          <p:nvPr/>
        </p:nvSpPr>
        <p:spPr>
          <a:xfrm>
            <a:off x="2898648" y="3140049"/>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val 576"/>
          <p:cNvSpPr/>
          <p:nvPr/>
        </p:nvSpPr>
        <p:spPr>
          <a:xfrm>
            <a:off x="2898648" y="306324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val 577"/>
          <p:cNvSpPr/>
          <p:nvPr/>
        </p:nvSpPr>
        <p:spPr>
          <a:xfrm>
            <a:off x="2898648" y="302483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val 578"/>
          <p:cNvSpPr/>
          <p:nvPr/>
        </p:nvSpPr>
        <p:spPr>
          <a:xfrm>
            <a:off x="2898648" y="294802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val 579"/>
          <p:cNvSpPr/>
          <p:nvPr/>
        </p:nvSpPr>
        <p:spPr>
          <a:xfrm>
            <a:off x="2898648" y="290962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val 580"/>
          <p:cNvSpPr/>
          <p:nvPr/>
        </p:nvSpPr>
        <p:spPr>
          <a:xfrm>
            <a:off x="2898648" y="2832811"/>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val 581"/>
          <p:cNvSpPr/>
          <p:nvPr/>
        </p:nvSpPr>
        <p:spPr>
          <a:xfrm>
            <a:off x="2898648" y="279440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val 582"/>
          <p:cNvSpPr/>
          <p:nvPr/>
        </p:nvSpPr>
        <p:spPr>
          <a:xfrm>
            <a:off x="2898648" y="271759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val 583"/>
          <p:cNvSpPr/>
          <p:nvPr/>
        </p:nvSpPr>
        <p:spPr>
          <a:xfrm>
            <a:off x="2898648" y="267919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val 584"/>
          <p:cNvSpPr/>
          <p:nvPr/>
        </p:nvSpPr>
        <p:spPr>
          <a:xfrm>
            <a:off x="2898648" y="260238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val 585"/>
          <p:cNvSpPr/>
          <p:nvPr/>
        </p:nvSpPr>
        <p:spPr>
          <a:xfrm>
            <a:off x="2898648" y="2563977"/>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val 586"/>
          <p:cNvSpPr/>
          <p:nvPr/>
        </p:nvSpPr>
        <p:spPr>
          <a:xfrm>
            <a:off x="2898648" y="24871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val 587"/>
          <p:cNvSpPr/>
          <p:nvPr/>
        </p:nvSpPr>
        <p:spPr>
          <a:xfrm>
            <a:off x="2834640" y="3383279"/>
            <a:ext cx="182880" cy="18288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TextBox 592"/>
          <p:cNvSpPr txBox="1"/>
          <p:nvPr/>
        </p:nvSpPr>
        <p:spPr>
          <a:xfrm>
            <a:off x="434517" y="4206240"/>
            <a:ext cx="182880" cy="182880"/>
          </a:xfrm>
          <a:prstGeom prst="rect">
            <a:avLst/>
          </a:prstGeom>
          <a:noFill/>
        </p:spPr>
        <p:txBody>
          <a:bodyPr wrap="square">
            <a:spAutoFit/>
          </a:bodyPr>
          <a:lstStyle/>
          <a:p>
            <a:pPr algn="l"/>
            <a:r>
              <a:rPr sz="1000" b="0" i="0" dirty="0">
                <a:solidFill>
                  <a:srgbClr val="C00000"/>
                </a:solidFill>
              </a:rPr>
              <a:t>●</a:t>
            </a:r>
          </a:p>
        </p:txBody>
      </p:sp>
      <p:sp>
        <p:nvSpPr>
          <p:cNvPr id="594" name="TextBox 593"/>
          <p:cNvSpPr txBox="1"/>
          <p:nvPr/>
        </p:nvSpPr>
        <p:spPr>
          <a:xfrm>
            <a:off x="594572" y="4215384"/>
            <a:ext cx="2560320" cy="182880"/>
          </a:xfrm>
          <a:prstGeom prst="rect">
            <a:avLst/>
          </a:prstGeom>
          <a:noFill/>
        </p:spPr>
        <p:txBody>
          <a:bodyPr wrap="square">
            <a:spAutoFit/>
          </a:bodyPr>
          <a:lstStyle/>
          <a:p>
            <a:pPr algn="l"/>
            <a:r>
              <a:rPr sz="900" b="0" i="0" dirty="0">
                <a:solidFill>
                  <a:srgbClr val="404040"/>
                </a:solidFill>
              </a:rPr>
              <a:t>Below 0.70 — Critical</a:t>
            </a:r>
          </a:p>
        </p:txBody>
      </p:sp>
      <p:sp>
        <p:nvSpPr>
          <p:cNvPr id="595" name="TextBox 594"/>
          <p:cNvSpPr txBox="1"/>
          <p:nvPr/>
        </p:nvSpPr>
        <p:spPr>
          <a:xfrm>
            <a:off x="441960" y="4398264"/>
            <a:ext cx="182880" cy="182880"/>
          </a:xfrm>
          <a:prstGeom prst="rect">
            <a:avLst/>
          </a:prstGeom>
          <a:noFill/>
        </p:spPr>
        <p:txBody>
          <a:bodyPr wrap="square">
            <a:spAutoFit/>
          </a:bodyPr>
          <a:lstStyle/>
          <a:p>
            <a:pPr algn="l"/>
            <a:r>
              <a:rPr sz="1000" b="0" i="0" dirty="0">
                <a:solidFill>
                  <a:srgbClr val="FFC000"/>
                </a:solidFill>
              </a:rPr>
              <a:t>●</a:t>
            </a:r>
          </a:p>
        </p:txBody>
      </p:sp>
      <p:sp>
        <p:nvSpPr>
          <p:cNvPr id="596" name="TextBox 595"/>
          <p:cNvSpPr txBox="1"/>
          <p:nvPr/>
        </p:nvSpPr>
        <p:spPr>
          <a:xfrm>
            <a:off x="594573" y="4389120"/>
            <a:ext cx="2560320" cy="182880"/>
          </a:xfrm>
          <a:prstGeom prst="rect">
            <a:avLst/>
          </a:prstGeom>
          <a:noFill/>
        </p:spPr>
        <p:txBody>
          <a:bodyPr wrap="square">
            <a:spAutoFit/>
          </a:bodyPr>
          <a:lstStyle/>
          <a:p>
            <a:pPr algn="l"/>
            <a:r>
              <a:rPr sz="900" b="0" i="0" dirty="0">
                <a:solidFill>
                  <a:srgbClr val="404040"/>
                </a:solidFill>
              </a:rPr>
              <a:t>0.70–0.90 — Yellow</a:t>
            </a:r>
          </a:p>
        </p:txBody>
      </p:sp>
      <p:sp>
        <p:nvSpPr>
          <p:cNvPr id="597" name="TextBox 596"/>
          <p:cNvSpPr txBox="1"/>
          <p:nvPr/>
        </p:nvSpPr>
        <p:spPr>
          <a:xfrm>
            <a:off x="441960" y="4580506"/>
            <a:ext cx="182880" cy="182880"/>
          </a:xfrm>
          <a:prstGeom prst="rect">
            <a:avLst/>
          </a:prstGeom>
          <a:noFill/>
        </p:spPr>
        <p:txBody>
          <a:bodyPr wrap="square">
            <a:spAutoFit/>
          </a:bodyPr>
          <a:lstStyle/>
          <a:p>
            <a:pPr algn="l"/>
            <a:r>
              <a:rPr sz="1000" b="0" i="0" dirty="0">
                <a:solidFill>
                  <a:srgbClr val="008000"/>
                </a:solidFill>
              </a:rPr>
              <a:t>●</a:t>
            </a:r>
          </a:p>
        </p:txBody>
      </p:sp>
      <p:sp>
        <p:nvSpPr>
          <p:cNvPr id="598" name="TextBox 597"/>
          <p:cNvSpPr txBox="1"/>
          <p:nvPr/>
        </p:nvSpPr>
        <p:spPr>
          <a:xfrm>
            <a:off x="615838" y="4562830"/>
            <a:ext cx="2560320" cy="182880"/>
          </a:xfrm>
          <a:prstGeom prst="rect">
            <a:avLst/>
          </a:prstGeom>
          <a:noFill/>
        </p:spPr>
        <p:txBody>
          <a:bodyPr wrap="square">
            <a:spAutoFit/>
          </a:bodyPr>
          <a:lstStyle/>
          <a:p>
            <a:pPr algn="l"/>
            <a:r>
              <a:rPr sz="900" b="0" i="0" dirty="0">
                <a:solidFill>
                  <a:srgbClr val="404040"/>
                </a:solidFill>
              </a:rPr>
              <a:t>0.90–1.10 — On Track</a:t>
            </a:r>
          </a:p>
        </p:txBody>
      </p:sp>
      <p:sp>
        <p:nvSpPr>
          <p:cNvPr id="599" name="TextBox 598"/>
          <p:cNvSpPr txBox="1"/>
          <p:nvPr/>
        </p:nvSpPr>
        <p:spPr>
          <a:xfrm>
            <a:off x="442314" y="4745736"/>
            <a:ext cx="182880" cy="182880"/>
          </a:xfrm>
          <a:prstGeom prst="rect">
            <a:avLst/>
          </a:prstGeom>
          <a:noFill/>
        </p:spPr>
        <p:txBody>
          <a:bodyPr wrap="square">
            <a:spAutoFit/>
          </a:bodyPr>
          <a:lstStyle/>
          <a:p>
            <a:pPr algn="l"/>
            <a:r>
              <a:rPr sz="1000" b="0" i="0" dirty="0">
                <a:solidFill>
                  <a:srgbClr val="0033CC"/>
                </a:solidFill>
              </a:rPr>
              <a:t>●</a:t>
            </a:r>
          </a:p>
        </p:txBody>
      </p:sp>
      <p:sp>
        <p:nvSpPr>
          <p:cNvPr id="600" name="TextBox 599"/>
          <p:cNvSpPr txBox="1"/>
          <p:nvPr/>
        </p:nvSpPr>
        <p:spPr>
          <a:xfrm>
            <a:off x="614562" y="4712988"/>
            <a:ext cx="2560320" cy="182880"/>
          </a:xfrm>
          <a:prstGeom prst="rect">
            <a:avLst/>
          </a:prstGeom>
          <a:noFill/>
        </p:spPr>
        <p:txBody>
          <a:bodyPr wrap="square">
            <a:spAutoFit/>
          </a:bodyPr>
          <a:lstStyle/>
          <a:p>
            <a:pPr algn="l"/>
            <a:r>
              <a:rPr sz="900" b="0" i="0" dirty="0">
                <a:solidFill>
                  <a:srgbClr val="404040"/>
                </a:solidFill>
              </a:rPr>
              <a:t>Above 1.10 — Ahead</a:t>
            </a:r>
          </a:p>
        </p:txBody>
      </p:sp>
      <p:sp>
        <p:nvSpPr>
          <p:cNvPr id="601" name="TextBox 600"/>
          <p:cNvSpPr txBox="1"/>
          <p:nvPr/>
        </p:nvSpPr>
        <p:spPr>
          <a:xfrm>
            <a:off x="2486519" y="4226868"/>
            <a:ext cx="2908441" cy="230832"/>
          </a:xfrm>
          <a:prstGeom prst="rect">
            <a:avLst/>
          </a:prstGeom>
          <a:noFill/>
        </p:spPr>
        <p:txBody>
          <a:bodyPr wrap="square">
            <a:spAutoFit/>
          </a:bodyPr>
          <a:lstStyle/>
          <a:p>
            <a:pPr algn="l"/>
            <a:r>
              <a:rPr lang="en-US" sz="900" b="1" dirty="0">
                <a:solidFill>
                  <a:srgbClr val="F7941D"/>
                </a:solidFill>
              </a:rPr>
              <a:t>     --- </a:t>
            </a:r>
            <a:r>
              <a:rPr sz="900" b="1" i="0" dirty="0">
                <a:solidFill>
                  <a:srgbClr val="F7941D"/>
                </a:solidFill>
              </a:rPr>
              <a:t> </a:t>
            </a:r>
            <a:r>
              <a:rPr lang="en-US" sz="900" b="1" i="0" dirty="0">
                <a:solidFill>
                  <a:srgbClr val="F7941D"/>
                </a:solidFill>
              </a:rPr>
              <a:t>February 2026 </a:t>
            </a:r>
            <a:r>
              <a:rPr sz="900" b="1" i="0" dirty="0">
                <a:solidFill>
                  <a:srgbClr val="F7941D"/>
                </a:solidFill>
              </a:rPr>
              <a:t>: 0.75  (Orange)</a:t>
            </a:r>
          </a:p>
        </p:txBody>
      </p:sp>
      <p:sp>
        <p:nvSpPr>
          <p:cNvPr id="602" name="TextBox 601"/>
          <p:cNvSpPr txBox="1"/>
          <p:nvPr/>
        </p:nvSpPr>
        <p:spPr>
          <a:xfrm>
            <a:off x="2608167" y="4437264"/>
            <a:ext cx="2603913" cy="230832"/>
          </a:xfrm>
          <a:prstGeom prst="rect">
            <a:avLst/>
          </a:prstGeom>
          <a:noFill/>
        </p:spPr>
        <p:txBody>
          <a:bodyPr wrap="square">
            <a:spAutoFit/>
          </a:bodyPr>
          <a:lstStyle/>
          <a:p>
            <a:pPr algn="l"/>
            <a:r>
              <a:rPr sz="900" b="0" i="0" dirty="0">
                <a:solidFill>
                  <a:srgbClr val="404040"/>
                </a:solidFill>
              </a:rPr>
              <a:t>╌╌</a:t>
            </a:r>
            <a:r>
              <a:rPr lang="en-US" sz="900" b="0" i="0" dirty="0">
                <a:solidFill>
                  <a:srgbClr val="404040"/>
                </a:solidFill>
              </a:rPr>
              <a:t> </a:t>
            </a:r>
            <a:r>
              <a:rPr sz="900" b="0" i="0" dirty="0">
                <a:solidFill>
                  <a:srgbClr val="404040"/>
                </a:solidFill>
              </a:rPr>
              <a:t> </a:t>
            </a:r>
            <a:r>
              <a:rPr lang="en-US" sz="900" b="0" i="0" dirty="0">
                <a:solidFill>
                  <a:srgbClr val="404040"/>
                </a:solidFill>
              </a:rPr>
              <a:t>January 2026    : </a:t>
            </a:r>
            <a:r>
              <a:rPr sz="900" b="0" i="0" dirty="0">
                <a:solidFill>
                  <a:srgbClr val="404040"/>
                </a:solidFill>
              </a:rPr>
              <a:t> 1.00  (Gray)</a:t>
            </a:r>
          </a:p>
        </p:txBody>
      </p:sp>
      <p:sp>
        <p:nvSpPr>
          <p:cNvPr id="11" name="TextBox 10">
            <a:extLst>
              <a:ext uri="{FF2B5EF4-FFF2-40B4-BE49-F238E27FC236}">
                <a16:creationId xmlns:a16="http://schemas.microsoft.com/office/drawing/2014/main" id="{D8DCC11B-AE40-024F-BFC9-B0646C4365B0}"/>
              </a:ext>
            </a:extLst>
          </p:cNvPr>
          <p:cNvSpPr txBox="1"/>
          <p:nvPr/>
        </p:nvSpPr>
        <p:spPr>
          <a:xfrm>
            <a:off x="2486519" y="4039416"/>
            <a:ext cx="5029200" cy="230832"/>
          </a:xfrm>
          <a:prstGeom prst="rect">
            <a:avLst/>
          </a:prstGeom>
          <a:noFill/>
        </p:spPr>
        <p:txBody>
          <a:bodyPr wrap="square">
            <a:spAutoFit/>
          </a:bodyPr>
          <a:lstStyle/>
          <a:p>
            <a:pPr algn="l"/>
            <a:r>
              <a:rPr lang="en-US" sz="900" b="1" dirty="0">
                <a:solidFill>
                  <a:srgbClr val="F7941D"/>
                </a:solidFill>
              </a:rPr>
              <a:t>     ---</a:t>
            </a:r>
            <a:r>
              <a:rPr sz="900" b="1" i="0" dirty="0">
                <a:solidFill>
                  <a:srgbClr val="F7941D"/>
                </a:solidFill>
              </a:rPr>
              <a:t> </a:t>
            </a:r>
            <a:r>
              <a:rPr lang="en-US" sz="900" b="1" i="0" dirty="0">
                <a:solidFill>
                  <a:srgbClr val="F7941D"/>
                </a:solidFill>
              </a:rPr>
              <a:t> </a:t>
            </a:r>
            <a:r>
              <a:rPr lang="en-US" sz="900" b="1" i="0" dirty="0">
                <a:solidFill>
                  <a:schemeClr val="bg2">
                    <a:lumMod val="10000"/>
                  </a:schemeClr>
                </a:solidFill>
              </a:rPr>
              <a:t>March  2026 </a:t>
            </a:r>
            <a:r>
              <a:rPr sz="900" b="1" i="0" dirty="0">
                <a:solidFill>
                  <a:schemeClr val="bg2">
                    <a:lumMod val="10000"/>
                  </a:schemeClr>
                </a:solidFill>
              </a:rPr>
              <a:t>: </a:t>
            </a:r>
            <a:r>
              <a:rPr lang="en-US" sz="900" b="1" i="0" dirty="0">
                <a:solidFill>
                  <a:srgbClr val="F7941D"/>
                </a:solidFill>
              </a:rPr>
              <a:t>0.76  (Yellow ↓)</a:t>
            </a:r>
            <a:endParaRPr sz="900" b="1" i="0" dirty="0">
              <a:solidFill>
                <a:schemeClr val="bg2">
                  <a:lumMod val="10000"/>
                </a:schemeClr>
              </a:solidFill>
            </a:endParaRPr>
          </a:p>
        </p:txBody>
      </p:sp>
      <p:sp>
        <p:nvSpPr>
          <p:cNvPr id="12" name="Rectangle 11">
            <a:extLst>
              <a:ext uri="{FF2B5EF4-FFF2-40B4-BE49-F238E27FC236}">
                <a16:creationId xmlns:a16="http://schemas.microsoft.com/office/drawing/2014/main" id="{83FAF528-BF5F-D1AE-33B7-2DF81CAD24BF}"/>
              </a:ext>
            </a:extLst>
          </p:cNvPr>
          <p:cNvSpPr/>
          <p:nvPr/>
        </p:nvSpPr>
        <p:spPr>
          <a:xfrm>
            <a:off x="5792618" y="196596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3" name="Rectangle 12">
            <a:extLst>
              <a:ext uri="{FF2B5EF4-FFF2-40B4-BE49-F238E27FC236}">
                <a16:creationId xmlns:a16="http://schemas.microsoft.com/office/drawing/2014/main" id="{68FC4F1C-0CBA-CB69-81D6-A688C4A7B97E}"/>
              </a:ext>
            </a:extLst>
          </p:cNvPr>
          <p:cNvSpPr/>
          <p:nvPr/>
        </p:nvSpPr>
        <p:spPr>
          <a:xfrm>
            <a:off x="5806440" y="155447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3" name="Rectangle 602">
            <a:extLst>
              <a:ext uri="{FF2B5EF4-FFF2-40B4-BE49-F238E27FC236}">
                <a16:creationId xmlns:a16="http://schemas.microsoft.com/office/drawing/2014/main" id="{BB74F8E3-F713-87B9-2C3D-D86AA35EFF5A}"/>
              </a:ext>
            </a:extLst>
          </p:cNvPr>
          <p:cNvSpPr/>
          <p:nvPr/>
        </p:nvSpPr>
        <p:spPr>
          <a:xfrm>
            <a:off x="5824728" y="287568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4" name="Rectangle 603">
            <a:extLst>
              <a:ext uri="{FF2B5EF4-FFF2-40B4-BE49-F238E27FC236}">
                <a16:creationId xmlns:a16="http://schemas.microsoft.com/office/drawing/2014/main" id="{2DC5CD6E-D2D7-5CA5-1145-6646B952DE5E}"/>
              </a:ext>
            </a:extLst>
          </p:cNvPr>
          <p:cNvSpPr/>
          <p:nvPr/>
        </p:nvSpPr>
        <p:spPr>
          <a:xfrm>
            <a:off x="5806440" y="241718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5" name="Rectangle 604">
            <a:extLst>
              <a:ext uri="{FF2B5EF4-FFF2-40B4-BE49-F238E27FC236}">
                <a16:creationId xmlns:a16="http://schemas.microsoft.com/office/drawing/2014/main" id="{4728407C-F0AA-A939-D1A8-46F9600057F8}"/>
              </a:ext>
            </a:extLst>
          </p:cNvPr>
          <p:cNvSpPr/>
          <p:nvPr/>
        </p:nvSpPr>
        <p:spPr>
          <a:xfrm>
            <a:off x="5829194" y="332118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6" name="Rectangle 605">
            <a:extLst>
              <a:ext uri="{FF2B5EF4-FFF2-40B4-BE49-F238E27FC236}">
                <a16:creationId xmlns:a16="http://schemas.microsoft.com/office/drawing/2014/main" id="{220B252F-A1ED-BDA9-CB99-7D58E1575E94}"/>
              </a:ext>
            </a:extLst>
          </p:cNvPr>
          <p:cNvSpPr/>
          <p:nvPr/>
        </p:nvSpPr>
        <p:spPr>
          <a:xfrm>
            <a:off x="5806440" y="426515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7" name="Rectangle 606">
            <a:extLst>
              <a:ext uri="{FF2B5EF4-FFF2-40B4-BE49-F238E27FC236}">
                <a16:creationId xmlns:a16="http://schemas.microsoft.com/office/drawing/2014/main" id="{826A6865-4EBD-4E0C-7F6B-51010379E6F5}"/>
              </a:ext>
            </a:extLst>
          </p:cNvPr>
          <p:cNvSpPr/>
          <p:nvPr/>
        </p:nvSpPr>
        <p:spPr>
          <a:xfrm>
            <a:off x="5815584" y="378455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2296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40080"/>
          </a:xfrm>
          <a:prstGeom prst="rect">
            <a:avLst/>
          </a:prstGeom>
          <a:noFill/>
        </p:spPr>
        <p:txBody>
          <a:bodyPr wrap="square">
            <a:spAutoFit/>
          </a:bodyPr>
          <a:lstStyle/>
          <a:p>
            <a:pPr algn="l"/>
            <a:r>
              <a:rPr sz="2000" b="1">
                <a:solidFill>
                  <a:srgbClr val="FFFFFF"/>
                </a:solidFill>
              </a:rPr>
              <a:t>PRJ13797 — JMUX Replacement | Critical Path: Next 10 Steps</a:t>
            </a:r>
          </a:p>
        </p:txBody>
      </p:sp>
      <p:sp>
        <p:nvSpPr>
          <p:cNvPr id="4" name="TextBox 3"/>
          <p:cNvSpPr txBox="1"/>
          <p:nvPr/>
        </p:nvSpPr>
        <p:spPr>
          <a:xfrm>
            <a:off x="274320" y="841248"/>
            <a:ext cx="9144000" cy="274320"/>
          </a:xfrm>
          <a:prstGeom prst="rect">
            <a:avLst/>
          </a:prstGeom>
          <a:noFill/>
        </p:spPr>
        <p:txBody>
          <a:bodyPr wrap="square">
            <a:spAutoFit/>
          </a:bodyPr>
          <a:lstStyle/>
          <a:p>
            <a:pPr algn="l"/>
            <a:r>
              <a:rPr sz="1000" b="0">
                <a:solidFill>
                  <a:srgbClr val="AABBCC"/>
                </a:solidFill>
              </a:rPr>
              <a:t>As of March 18, 2026  |  Phase 1 Close Target: June 2026</a:t>
            </a:r>
          </a:p>
        </p:txBody>
      </p:sp>
      <p:sp>
        <p:nvSpPr>
          <p:cNvPr id="5" name="Rectangle 4"/>
          <p:cNvSpPr/>
          <p:nvPr/>
        </p:nvSpPr>
        <p:spPr>
          <a:xfrm>
            <a:off x="182880" y="1188720"/>
            <a:ext cx="5760720" cy="978407"/>
          </a:xfrm>
          <a:prstGeom prst="rect">
            <a:avLst/>
          </a:prstGeom>
          <a:solidFill>
            <a:srgbClr val="2A080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80160"/>
            <a:ext cx="347472"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280160"/>
            <a:ext cx="347472" cy="347472"/>
          </a:xfrm>
          <a:prstGeom prst="rect">
            <a:avLst/>
          </a:prstGeom>
          <a:noFill/>
        </p:spPr>
        <p:txBody>
          <a:bodyPr wrap="square">
            <a:spAutoFit/>
          </a:bodyPr>
          <a:lstStyle/>
          <a:p>
            <a:pPr algn="ctr"/>
            <a:r>
              <a:rPr sz="900" b="1">
                <a:solidFill>
                  <a:srgbClr val="FFFFFF"/>
                </a:solidFill>
              </a:rPr>
              <a:t>01</a:t>
            </a:r>
          </a:p>
        </p:txBody>
      </p:sp>
      <p:sp>
        <p:nvSpPr>
          <p:cNvPr id="8" name="TextBox 7"/>
          <p:cNvSpPr txBox="1"/>
          <p:nvPr/>
        </p:nvSpPr>
        <p:spPr>
          <a:xfrm>
            <a:off x="658368" y="1243584"/>
            <a:ext cx="5212080" cy="256032"/>
          </a:xfrm>
          <a:prstGeom prst="rect">
            <a:avLst/>
          </a:prstGeom>
          <a:noFill/>
        </p:spPr>
        <p:txBody>
          <a:bodyPr wrap="square">
            <a:spAutoFit/>
          </a:bodyPr>
          <a:lstStyle/>
          <a:p>
            <a:pPr algn="l"/>
            <a:r>
              <a:rPr sz="950" b="1">
                <a:solidFill>
                  <a:srgbClr val="FFFFFF"/>
                </a:solidFill>
              </a:rPr>
              <a:t>ILO Console Cable &amp; Firmware Resolution</a:t>
            </a:r>
          </a:p>
        </p:txBody>
      </p:sp>
      <p:sp>
        <p:nvSpPr>
          <p:cNvPr id="9" name="TextBox 8"/>
          <p:cNvSpPr txBox="1"/>
          <p:nvPr/>
        </p:nvSpPr>
        <p:spPr>
          <a:xfrm>
            <a:off x="658368" y="1472184"/>
            <a:ext cx="5212080" cy="201168"/>
          </a:xfrm>
          <a:prstGeom prst="rect">
            <a:avLst/>
          </a:prstGeom>
          <a:noFill/>
        </p:spPr>
        <p:txBody>
          <a:bodyPr wrap="square">
            <a:spAutoFit/>
          </a:bodyPr>
          <a:lstStyle/>
          <a:p>
            <a:pPr algn="l"/>
            <a:r>
              <a:rPr sz="750" b="0">
                <a:solidFill>
                  <a:srgbClr val="CC0000"/>
                </a:solidFill>
              </a:rPr>
              <a:t>📅 Mar 19–20, 2026   👤 Bill (B&amp;M) + Rahiq</a:t>
            </a:r>
          </a:p>
        </p:txBody>
      </p:sp>
      <p:sp>
        <p:nvSpPr>
          <p:cNvPr id="10" name="TextBox 9"/>
          <p:cNvSpPr txBox="1"/>
          <p:nvPr/>
        </p:nvSpPr>
        <p:spPr>
          <a:xfrm>
            <a:off x="658368" y="1664208"/>
            <a:ext cx="5212080" cy="411480"/>
          </a:xfrm>
          <a:prstGeom prst="rect">
            <a:avLst/>
          </a:prstGeom>
          <a:noFill/>
        </p:spPr>
        <p:txBody>
          <a:bodyPr wrap="square">
            <a:spAutoFit/>
          </a:bodyPr>
          <a:lstStyle/>
          <a:p>
            <a:pPr algn="l"/>
            <a:r>
              <a:rPr sz="750" b="0">
                <a:solidFill>
                  <a:srgbClr val="CCCCCC"/>
                </a:solidFill>
              </a:rPr>
              <a:t>Bill calls Rahiq to resolve missing console cable &amp; firmware. #1 blocker — unlocks everything downstream.</a:t>
            </a:r>
          </a:p>
        </p:txBody>
      </p:sp>
      <p:sp>
        <p:nvSpPr>
          <p:cNvPr id="11" name="Rectangle 10"/>
          <p:cNvSpPr/>
          <p:nvPr/>
        </p:nvSpPr>
        <p:spPr>
          <a:xfrm>
            <a:off x="6309360" y="1188720"/>
            <a:ext cx="5760720" cy="978407"/>
          </a:xfrm>
          <a:prstGeom prst="rect">
            <a:avLst/>
          </a:prstGeom>
          <a:solidFill>
            <a:srgbClr val="2A080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82512" y="1280160"/>
            <a:ext cx="347472"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280160"/>
            <a:ext cx="347472" cy="347472"/>
          </a:xfrm>
          <a:prstGeom prst="rect">
            <a:avLst/>
          </a:prstGeom>
          <a:noFill/>
        </p:spPr>
        <p:txBody>
          <a:bodyPr wrap="square">
            <a:spAutoFit/>
          </a:bodyPr>
          <a:lstStyle/>
          <a:p>
            <a:pPr algn="ctr"/>
            <a:r>
              <a:rPr sz="900" b="1">
                <a:solidFill>
                  <a:srgbClr val="FFFFFF"/>
                </a:solidFill>
              </a:rPr>
              <a:t>02</a:t>
            </a:r>
          </a:p>
        </p:txBody>
      </p:sp>
      <p:sp>
        <p:nvSpPr>
          <p:cNvPr id="14" name="TextBox 13"/>
          <p:cNvSpPr txBox="1"/>
          <p:nvPr/>
        </p:nvSpPr>
        <p:spPr>
          <a:xfrm>
            <a:off x="6784848" y="1243584"/>
            <a:ext cx="5212080" cy="256032"/>
          </a:xfrm>
          <a:prstGeom prst="rect">
            <a:avLst/>
          </a:prstGeom>
          <a:noFill/>
        </p:spPr>
        <p:txBody>
          <a:bodyPr wrap="square">
            <a:spAutoFit/>
          </a:bodyPr>
          <a:lstStyle/>
          <a:p>
            <a:pPr algn="l"/>
            <a:r>
              <a:rPr sz="950" b="1">
                <a:solidFill>
                  <a:srgbClr val="FFFFFF"/>
                </a:solidFill>
              </a:rPr>
              <a:t>ILO Port Activation &amp; Configuration</a:t>
            </a:r>
          </a:p>
        </p:txBody>
      </p:sp>
      <p:sp>
        <p:nvSpPr>
          <p:cNvPr id="15" name="TextBox 14"/>
          <p:cNvSpPr txBox="1"/>
          <p:nvPr/>
        </p:nvSpPr>
        <p:spPr>
          <a:xfrm>
            <a:off x="6784848" y="1472184"/>
            <a:ext cx="5212080" cy="201168"/>
          </a:xfrm>
          <a:prstGeom prst="rect">
            <a:avLst/>
          </a:prstGeom>
          <a:noFill/>
        </p:spPr>
        <p:txBody>
          <a:bodyPr wrap="square">
            <a:spAutoFit/>
          </a:bodyPr>
          <a:lstStyle/>
          <a:p>
            <a:pPr algn="l"/>
            <a:r>
              <a:rPr sz="750" b="0">
                <a:solidFill>
                  <a:srgbClr val="CC0000"/>
                </a:solidFill>
              </a:rPr>
              <a:t>📅 Mar 21–24, 2026   👤 Rahiq / Brianna / Bill</a:t>
            </a:r>
          </a:p>
        </p:txBody>
      </p:sp>
      <p:sp>
        <p:nvSpPr>
          <p:cNvPr id="16" name="TextBox 15"/>
          <p:cNvSpPr txBox="1"/>
          <p:nvPr/>
        </p:nvSpPr>
        <p:spPr>
          <a:xfrm>
            <a:off x="6784848" y="1664208"/>
            <a:ext cx="5212080" cy="411480"/>
          </a:xfrm>
          <a:prstGeom prst="rect">
            <a:avLst/>
          </a:prstGeom>
          <a:noFill/>
        </p:spPr>
        <p:txBody>
          <a:bodyPr wrap="square">
            <a:spAutoFit/>
          </a:bodyPr>
          <a:lstStyle/>
          <a:p>
            <a:pPr algn="l"/>
            <a:r>
              <a:rPr sz="750" b="0">
                <a:solidFill>
                  <a:srgbClr val="CCCCCC"/>
                </a:solidFill>
              </a:rPr>
              <a:t>Configure ILO management ports at Hicksville &amp; Melville. Change ticket to be opened.</a:t>
            </a:r>
          </a:p>
        </p:txBody>
      </p:sp>
      <p:sp>
        <p:nvSpPr>
          <p:cNvPr id="17" name="Rectangle 16"/>
          <p:cNvSpPr/>
          <p:nvPr/>
        </p:nvSpPr>
        <p:spPr>
          <a:xfrm>
            <a:off x="182880" y="2240280"/>
            <a:ext cx="5760720" cy="978407"/>
          </a:xfrm>
          <a:prstGeom prst="rect">
            <a:avLst/>
          </a:prstGeom>
          <a:solidFill>
            <a:srgbClr val="281804"/>
          </a:solidFill>
          <a:ln w="12700">
            <a:solidFill>
              <a:srgbClr val="DD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6032" y="2331720"/>
            <a:ext cx="347472" cy="347472"/>
          </a:xfrm>
          <a:prstGeom prst="rect">
            <a:avLst/>
          </a:prstGeom>
          <a:solidFill>
            <a:srgbClr val="DD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 y="2331720"/>
            <a:ext cx="347472" cy="347472"/>
          </a:xfrm>
          <a:prstGeom prst="rect">
            <a:avLst/>
          </a:prstGeom>
          <a:noFill/>
        </p:spPr>
        <p:txBody>
          <a:bodyPr wrap="square">
            <a:spAutoFit/>
          </a:bodyPr>
          <a:lstStyle/>
          <a:p>
            <a:pPr algn="ctr"/>
            <a:r>
              <a:rPr sz="900" b="1">
                <a:solidFill>
                  <a:srgbClr val="FFFFFF"/>
                </a:solidFill>
              </a:rPr>
              <a:t>03</a:t>
            </a:r>
          </a:p>
        </p:txBody>
      </p:sp>
      <p:sp>
        <p:nvSpPr>
          <p:cNvPr id="20" name="TextBox 19"/>
          <p:cNvSpPr txBox="1"/>
          <p:nvPr/>
        </p:nvSpPr>
        <p:spPr>
          <a:xfrm>
            <a:off x="658368" y="2295144"/>
            <a:ext cx="5212080" cy="256032"/>
          </a:xfrm>
          <a:prstGeom prst="rect">
            <a:avLst/>
          </a:prstGeom>
          <a:noFill/>
        </p:spPr>
        <p:txBody>
          <a:bodyPr wrap="square">
            <a:spAutoFit/>
          </a:bodyPr>
          <a:lstStyle/>
          <a:p>
            <a:pPr algn="l"/>
            <a:r>
              <a:rPr sz="950" b="1">
                <a:solidFill>
                  <a:srgbClr val="FFFFFF"/>
                </a:solidFill>
              </a:rPr>
              <a:t>Wire Drops to Equipment (Parallel)</a:t>
            </a:r>
          </a:p>
        </p:txBody>
      </p:sp>
      <p:sp>
        <p:nvSpPr>
          <p:cNvPr id="21" name="TextBox 20"/>
          <p:cNvSpPr txBox="1"/>
          <p:nvPr/>
        </p:nvSpPr>
        <p:spPr>
          <a:xfrm>
            <a:off x="658368" y="2523744"/>
            <a:ext cx="5212080" cy="201168"/>
          </a:xfrm>
          <a:prstGeom prst="rect">
            <a:avLst/>
          </a:prstGeom>
          <a:noFill/>
        </p:spPr>
        <p:txBody>
          <a:bodyPr wrap="square">
            <a:spAutoFit/>
          </a:bodyPr>
          <a:lstStyle/>
          <a:p>
            <a:pPr algn="l"/>
            <a:r>
              <a:rPr sz="750" b="0">
                <a:solidFill>
                  <a:srgbClr val="DD7700"/>
                </a:solidFill>
              </a:rPr>
              <a:t>📅 Mar 19–21, 2026   👤 Jay + Hawkeye</a:t>
            </a:r>
          </a:p>
        </p:txBody>
      </p:sp>
      <p:sp>
        <p:nvSpPr>
          <p:cNvPr id="22" name="TextBox 21"/>
          <p:cNvSpPr txBox="1"/>
          <p:nvPr/>
        </p:nvSpPr>
        <p:spPr>
          <a:xfrm>
            <a:off x="658368" y="2715768"/>
            <a:ext cx="5212080" cy="411480"/>
          </a:xfrm>
          <a:prstGeom prst="rect">
            <a:avLst/>
          </a:prstGeom>
          <a:noFill/>
        </p:spPr>
        <p:txBody>
          <a:bodyPr wrap="square">
            <a:spAutoFit/>
          </a:bodyPr>
          <a:lstStyle/>
          <a:p>
            <a:pPr algn="l"/>
            <a:r>
              <a:rPr sz="750" b="0">
                <a:solidFill>
                  <a:srgbClr val="CCCCCC"/>
                </a:solidFill>
              </a:rPr>
              <a:t>Walk-through with Hawkeye to complete drops from LGX panels to equipment. SFPs &amp; change order needed for final termination.</a:t>
            </a:r>
          </a:p>
        </p:txBody>
      </p:sp>
      <p:sp>
        <p:nvSpPr>
          <p:cNvPr id="23" name="Rectangle 22"/>
          <p:cNvSpPr/>
          <p:nvPr/>
        </p:nvSpPr>
        <p:spPr>
          <a:xfrm>
            <a:off x="6309360" y="2240280"/>
            <a:ext cx="5760720" cy="978407"/>
          </a:xfrm>
          <a:prstGeom prst="rect">
            <a:avLst/>
          </a:prstGeom>
          <a:solidFill>
            <a:srgbClr val="281804"/>
          </a:solidFill>
          <a:ln w="12700">
            <a:solidFill>
              <a:srgbClr val="DD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82512" y="2331720"/>
            <a:ext cx="347472" cy="347472"/>
          </a:xfrm>
          <a:prstGeom prst="rect">
            <a:avLst/>
          </a:prstGeom>
          <a:solidFill>
            <a:srgbClr val="DD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2331720"/>
            <a:ext cx="347472" cy="347472"/>
          </a:xfrm>
          <a:prstGeom prst="rect">
            <a:avLst/>
          </a:prstGeom>
          <a:noFill/>
        </p:spPr>
        <p:txBody>
          <a:bodyPr wrap="square">
            <a:spAutoFit/>
          </a:bodyPr>
          <a:lstStyle/>
          <a:p>
            <a:pPr algn="ctr"/>
            <a:r>
              <a:rPr sz="900" b="1">
                <a:solidFill>
                  <a:srgbClr val="FFFFFF"/>
                </a:solidFill>
              </a:rPr>
              <a:t>04</a:t>
            </a:r>
          </a:p>
        </p:txBody>
      </p:sp>
      <p:sp>
        <p:nvSpPr>
          <p:cNvPr id="26" name="TextBox 25"/>
          <p:cNvSpPr txBox="1"/>
          <p:nvPr/>
        </p:nvSpPr>
        <p:spPr>
          <a:xfrm>
            <a:off x="6784848" y="2295144"/>
            <a:ext cx="5212080" cy="256032"/>
          </a:xfrm>
          <a:prstGeom prst="rect">
            <a:avLst/>
          </a:prstGeom>
          <a:noFill/>
        </p:spPr>
        <p:txBody>
          <a:bodyPr wrap="square">
            <a:spAutoFit/>
          </a:bodyPr>
          <a:lstStyle/>
          <a:p>
            <a:pPr algn="l"/>
            <a:r>
              <a:rPr sz="950" b="1">
                <a:solidFill>
                  <a:srgbClr val="FFFFFF"/>
                </a:solidFill>
              </a:rPr>
              <a:t>Nokia Training</a:t>
            </a:r>
          </a:p>
        </p:txBody>
      </p:sp>
      <p:sp>
        <p:nvSpPr>
          <p:cNvPr id="27" name="TextBox 26"/>
          <p:cNvSpPr txBox="1"/>
          <p:nvPr/>
        </p:nvSpPr>
        <p:spPr>
          <a:xfrm>
            <a:off x="6784848" y="2523744"/>
            <a:ext cx="5212080" cy="201168"/>
          </a:xfrm>
          <a:prstGeom prst="rect">
            <a:avLst/>
          </a:prstGeom>
          <a:noFill/>
        </p:spPr>
        <p:txBody>
          <a:bodyPr wrap="square">
            <a:spAutoFit/>
          </a:bodyPr>
          <a:lstStyle/>
          <a:p>
            <a:pPr algn="l"/>
            <a:r>
              <a:rPr sz="750" b="0">
                <a:solidFill>
                  <a:srgbClr val="DD7700"/>
                </a:solidFill>
              </a:rPr>
              <a:t>📅 Mar 19, 2026 — 3:00 PM   👤 Jay / Rahiq / PSEG LI Team</a:t>
            </a:r>
          </a:p>
        </p:txBody>
      </p:sp>
      <p:sp>
        <p:nvSpPr>
          <p:cNvPr id="28" name="TextBox 27"/>
          <p:cNvSpPr txBox="1"/>
          <p:nvPr/>
        </p:nvSpPr>
        <p:spPr>
          <a:xfrm>
            <a:off x="6784848" y="2715768"/>
            <a:ext cx="5212080" cy="411480"/>
          </a:xfrm>
          <a:prstGeom prst="rect">
            <a:avLst/>
          </a:prstGeom>
          <a:noFill/>
        </p:spPr>
        <p:txBody>
          <a:bodyPr wrap="square">
            <a:spAutoFit/>
          </a:bodyPr>
          <a:lstStyle/>
          <a:p>
            <a:pPr algn="l"/>
            <a:r>
              <a:rPr sz="750" b="0">
                <a:solidFill>
                  <a:srgbClr val="CCCCCC"/>
                </a:solidFill>
              </a:rPr>
              <a:t>Glenn (Nokia) + PSEG LI technical team. Confirmed on calendar.</a:t>
            </a:r>
          </a:p>
        </p:txBody>
      </p:sp>
      <p:sp>
        <p:nvSpPr>
          <p:cNvPr id="29" name="Rectangle 28"/>
          <p:cNvSpPr/>
          <p:nvPr/>
        </p:nvSpPr>
        <p:spPr>
          <a:xfrm>
            <a:off x="182880" y="3291839"/>
            <a:ext cx="5760720" cy="978407"/>
          </a:xfrm>
          <a:prstGeom prst="rect">
            <a:avLst/>
          </a:prstGeom>
          <a:solidFill>
            <a:srgbClr val="221E04"/>
          </a:solidFill>
          <a:ln w="12700">
            <a:solidFill>
              <a:srgbClr val="CC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6032" y="3383279"/>
            <a:ext cx="347472" cy="347472"/>
          </a:xfrm>
          <a:prstGeom prst="rect">
            <a:avLst/>
          </a:prstGeom>
          <a:solidFill>
            <a:srgbClr val="CC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6032" y="3383279"/>
            <a:ext cx="347472" cy="347472"/>
          </a:xfrm>
          <a:prstGeom prst="rect">
            <a:avLst/>
          </a:prstGeom>
          <a:noFill/>
        </p:spPr>
        <p:txBody>
          <a:bodyPr wrap="square">
            <a:spAutoFit/>
          </a:bodyPr>
          <a:lstStyle/>
          <a:p>
            <a:pPr algn="ctr"/>
            <a:r>
              <a:rPr sz="900" b="1">
                <a:solidFill>
                  <a:srgbClr val="FFFFFF"/>
                </a:solidFill>
              </a:rPr>
              <a:t>05</a:t>
            </a:r>
          </a:p>
        </p:txBody>
      </p:sp>
      <p:sp>
        <p:nvSpPr>
          <p:cNvPr id="32" name="TextBox 31"/>
          <p:cNvSpPr txBox="1"/>
          <p:nvPr/>
        </p:nvSpPr>
        <p:spPr>
          <a:xfrm>
            <a:off x="658368" y="3346703"/>
            <a:ext cx="5212080" cy="256032"/>
          </a:xfrm>
          <a:prstGeom prst="rect">
            <a:avLst/>
          </a:prstGeom>
          <a:noFill/>
        </p:spPr>
        <p:txBody>
          <a:bodyPr wrap="square">
            <a:spAutoFit/>
          </a:bodyPr>
          <a:lstStyle/>
          <a:p>
            <a:pPr algn="l"/>
            <a:r>
              <a:rPr sz="950" b="1">
                <a:solidFill>
                  <a:srgbClr val="FFFFFF"/>
                </a:solidFill>
              </a:rPr>
              <a:t>Phase 2 BOM &amp; Inventory Reconciliation</a:t>
            </a:r>
          </a:p>
        </p:txBody>
      </p:sp>
      <p:sp>
        <p:nvSpPr>
          <p:cNvPr id="33" name="TextBox 32"/>
          <p:cNvSpPr txBox="1"/>
          <p:nvPr/>
        </p:nvSpPr>
        <p:spPr>
          <a:xfrm>
            <a:off x="658368" y="3575303"/>
            <a:ext cx="5212080" cy="201168"/>
          </a:xfrm>
          <a:prstGeom prst="rect">
            <a:avLst/>
          </a:prstGeom>
          <a:noFill/>
        </p:spPr>
        <p:txBody>
          <a:bodyPr wrap="square">
            <a:spAutoFit/>
          </a:bodyPr>
          <a:lstStyle/>
          <a:p>
            <a:pPr algn="l"/>
            <a:r>
              <a:rPr sz="750" b="0">
                <a:solidFill>
                  <a:srgbClr val="CCAA00"/>
                </a:solidFill>
              </a:rPr>
              <a:t>📅 Week of Mar 23, 2026   👤 Jay + Vinny</a:t>
            </a:r>
          </a:p>
        </p:txBody>
      </p:sp>
      <p:sp>
        <p:nvSpPr>
          <p:cNvPr id="34" name="TextBox 33"/>
          <p:cNvSpPr txBox="1"/>
          <p:nvPr/>
        </p:nvSpPr>
        <p:spPr>
          <a:xfrm>
            <a:off x="658368" y="3767327"/>
            <a:ext cx="5212080" cy="411480"/>
          </a:xfrm>
          <a:prstGeom prst="rect">
            <a:avLst/>
          </a:prstGeom>
          <a:noFill/>
        </p:spPr>
        <p:txBody>
          <a:bodyPr wrap="square">
            <a:spAutoFit/>
          </a:bodyPr>
          <a:lstStyle/>
          <a:p>
            <a:pPr algn="l"/>
            <a:r>
              <a:rPr sz="750" b="0">
                <a:solidFill>
                  <a:srgbClr val="CCCCCC"/>
                </a:solidFill>
              </a:rPr>
              <a:t>Visit Hawkeye trailer — inventory Phase 2 Nokia equipment vs BOM. Identify supply chain gaps before ordering.</a:t>
            </a:r>
          </a:p>
        </p:txBody>
      </p:sp>
      <p:sp>
        <p:nvSpPr>
          <p:cNvPr id="35" name="Rectangle 34"/>
          <p:cNvSpPr/>
          <p:nvPr/>
        </p:nvSpPr>
        <p:spPr>
          <a:xfrm>
            <a:off x="6309360" y="3291839"/>
            <a:ext cx="5760720" cy="978407"/>
          </a:xfrm>
          <a:prstGeom prst="rect">
            <a:avLst/>
          </a:prstGeom>
          <a:solidFill>
            <a:srgbClr val="221E04"/>
          </a:solidFill>
          <a:ln w="12700">
            <a:solidFill>
              <a:srgbClr val="CC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82512" y="3383279"/>
            <a:ext cx="347472" cy="347472"/>
          </a:xfrm>
          <a:prstGeom prst="rect">
            <a:avLst/>
          </a:prstGeom>
          <a:solidFill>
            <a:srgbClr val="CC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3383279"/>
            <a:ext cx="347472" cy="347472"/>
          </a:xfrm>
          <a:prstGeom prst="rect">
            <a:avLst/>
          </a:prstGeom>
          <a:noFill/>
        </p:spPr>
        <p:txBody>
          <a:bodyPr wrap="square">
            <a:spAutoFit/>
          </a:bodyPr>
          <a:lstStyle/>
          <a:p>
            <a:pPr algn="ctr"/>
            <a:r>
              <a:rPr sz="900" b="1">
                <a:solidFill>
                  <a:srgbClr val="FFFFFF"/>
                </a:solidFill>
              </a:rPr>
              <a:t>06</a:t>
            </a:r>
          </a:p>
        </p:txBody>
      </p:sp>
      <p:sp>
        <p:nvSpPr>
          <p:cNvPr id="38" name="TextBox 37"/>
          <p:cNvSpPr txBox="1"/>
          <p:nvPr/>
        </p:nvSpPr>
        <p:spPr>
          <a:xfrm>
            <a:off x="6784848" y="3346703"/>
            <a:ext cx="5212080" cy="256032"/>
          </a:xfrm>
          <a:prstGeom prst="rect">
            <a:avLst/>
          </a:prstGeom>
          <a:noFill/>
        </p:spPr>
        <p:txBody>
          <a:bodyPr wrap="square">
            <a:spAutoFit/>
          </a:bodyPr>
          <a:lstStyle/>
          <a:p>
            <a:pPr algn="l"/>
            <a:r>
              <a:rPr sz="950" b="1">
                <a:solidFill>
                  <a:srgbClr val="FFFFFF"/>
                </a:solidFill>
              </a:rPr>
              <a:t>BGP Configuration — Hicksville &amp; Melville</a:t>
            </a:r>
          </a:p>
        </p:txBody>
      </p:sp>
      <p:sp>
        <p:nvSpPr>
          <p:cNvPr id="39" name="TextBox 38"/>
          <p:cNvSpPr txBox="1"/>
          <p:nvPr/>
        </p:nvSpPr>
        <p:spPr>
          <a:xfrm>
            <a:off x="6784848" y="3575303"/>
            <a:ext cx="5212080" cy="201168"/>
          </a:xfrm>
          <a:prstGeom prst="rect">
            <a:avLst/>
          </a:prstGeom>
          <a:noFill/>
        </p:spPr>
        <p:txBody>
          <a:bodyPr wrap="square">
            <a:spAutoFit/>
          </a:bodyPr>
          <a:lstStyle/>
          <a:p>
            <a:pPr algn="l"/>
            <a:r>
              <a:rPr sz="750" b="0">
                <a:solidFill>
                  <a:srgbClr val="CCAA00"/>
                </a:solidFill>
              </a:rPr>
              <a:t>📅 Mar 24–28, 2026   👤 Lee Blackman</a:t>
            </a:r>
          </a:p>
        </p:txBody>
      </p:sp>
      <p:sp>
        <p:nvSpPr>
          <p:cNvPr id="40" name="TextBox 39"/>
          <p:cNvSpPr txBox="1"/>
          <p:nvPr/>
        </p:nvSpPr>
        <p:spPr>
          <a:xfrm>
            <a:off x="6784848" y="3767327"/>
            <a:ext cx="5212080" cy="411480"/>
          </a:xfrm>
          <a:prstGeom prst="rect">
            <a:avLst/>
          </a:prstGeom>
          <a:noFill/>
        </p:spPr>
        <p:txBody>
          <a:bodyPr wrap="square">
            <a:spAutoFit/>
          </a:bodyPr>
          <a:lstStyle/>
          <a:p>
            <a:pPr algn="l"/>
            <a:r>
              <a:rPr sz="750" b="0">
                <a:solidFill>
                  <a:srgbClr val="CCCCCC"/>
                </a:solidFill>
              </a:rPr>
              <a:t>BGP config at both hub sites after ILO complete. Change documentation submitted. Remote access into routers.</a:t>
            </a:r>
          </a:p>
        </p:txBody>
      </p:sp>
      <p:sp>
        <p:nvSpPr>
          <p:cNvPr id="41" name="Rectangle 40"/>
          <p:cNvSpPr/>
          <p:nvPr/>
        </p:nvSpPr>
        <p:spPr>
          <a:xfrm>
            <a:off x="182880" y="4343400"/>
            <a:ext cx="5760720" cy="978407"/>
          </a:xfrm>
          <a:prstGeom prst="rect">
            <a:avLst/>
          </a:prstGeom>
          <a:solidFill>
            <a:srgbClr val="051A0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032" y="4434840"/>
            <a:ext cx="347472" cy="34747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032" y="4434840"/>
            <a:ext cx="347472" cy="347472"/>
          </a:xfrm>
          <a:prstGeom prst="rect">
            <a:avLst/>
          </a:prstGeom>
          <a:noFill/>
        </p:spPr>
        <p:txBody>
          <a:bodyPr wrap="square">
            <a:spAutoFit/>
          </a:bodyPr>
          <a:lstStyle/>
          <a:p>
            <a:pPr algn="ctr"/>
            <a:r>
              <a:rPr sz="900" b="1">
                <a:solidFill>
                  <a:srgbClr val="FFFFFF"/>
                </a:solidFill>
              </a:rPr>
              <a:t>07</a:t>
            </a:r>
          </a:p>
        </p:txBody>
      </p:sp>
      <p:sp>
        <p:nvSpPr>
          <p:cNvPr id="44" name="TextBox 43"/>
          <p:cNvSpPr txBox="1"/>
          <p:nvPr/>
        </p:nvSpPr>
        <p:spPr>
          <a:xfrm>
            <a:off x="658368" y="4398264"/>
            <a:ext cx="5212080" cy="256032"/>
          </a:xfrm>
          <a:prstGeom prst="rect">
            <a:avLst/>
          </a:prstGeom>
          <a:noFill/>
        </p:spPr>
        <p:txBody>
          <a:bodyPr wrap="square">
            <a:spAutoFit/>
          </a:bodyPr>
          <a:lstStyle/>
          <a:p>
            <a:pPr algn="l"/>
            <a:r>
              <a:rPr sz="950" b="1">
                <a:solidFill>
                  <a:srgbClr val="FFFFFF"/>
                </a:solidFill>
              </a:rPr>
              <a:t>IFR Submissions — Green Acres &amp; Berry Street</a:t>
            </a:r>
          </a:p>
        </p:txBody>
      </p:sp>
      <p:sp>
        <p:nvSpPr>
          <p:cNvPr id="45" name="TextBox 44"/>
          <p:cNvSpPr txBox="1"/>
          <p:nvPr/>
        </p:nvSpPr>
        <p:spPr>
          <a:xfrm>
            <a:off x="658368" y="4626864"/>
            <a:ext cx="5212080" cy="201168"/>
          </a:xfrm>
          <a:prstGeom prst="rect">
            <a:avLst/>
          </a:prstGeom>
          <a:noFill/>
        </p:spPr>
        <p:txBody>
          <a:bodyPr wrap="square">
            <a:spAutoFit/>
          </a:bodyPr>
          <a:lstStyle/>
          <a:p>
            <a:pPr algn="l"/>
            <a:r>
              <a:rPr sz="750" b="0">
                <a:solidFill>
                  <a:srgbClr val="16A34A"/>
                </a:solidFill>
              </a:rPr>
              <a:t>📅 Mar 30, 2026   👤 BMcD (Ethan Koch)</a:t>
            </a:r>
          </a:p>
        </p:txBody>
      </p:sp>
      <p:sp>
        <p:nvSpPr>
          <p:cNvPr id="46" name="TextBox 45"/>
          <p:cNvSpPr txBox="1"/>
          <p:nvPr/>
        </p:nvSpPr>
        <p:spPr>
          <a:xfrm>
            <a:off x="658368" y="4818888"/>
            <a:ext cx="5212080" cy="411480"/>
          </a:xfrm>
          <a:prstGeom prst="rect">
            <a:avLst/>
          </a:prstGeom>
          <a:noFill/>
        </p:spPr>
        <p:txBody>
          <a:bodyPr wrap="square">
            <a:spAutoFit/>
          </a:bodyPr>
          <a:lstStyle/>
          <a:p>
            <a:pPr algn="l"/>
            <a:r>
              <a:rPr sz="750" b="0">
                <a:solidFill>
                  <a:srgbClr val="CCCCCC"/>
                </a:solidFill>
              </a:rPr>
              <a:t>BMcD submits IFR packages for 2RB Green Acres and 7W Berry Street. Currently on track.</a:t>
            </a:r>
          </a:p>
        </p:txBody>
      </p:sp>
      <p:sp>
        <p:nvSpPr>
          <p:cNvPr id="47" name="Rectangle 46"/>
          <p:cNvSpPr/>
          <p:nvPr/>
        </p:nvSpPr>
        <p:spPr>
          <a:xfrm>
            <a:off x="6309360" y="4343400"/>
            <a:ext cx="5760720" cy="978407"/>
          </a:xfrm>
          <a:prstGeom prst="rect">
            <a:avLst/>
          </a:prstGeom>
          <a:solidFill>
            <a:srgbClr val="221E04"/>
          </a:solidFill>
          <a:ln w="12700">
            <a:solidFill>
              <a:srgbClr val="CC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382512" y="4434840"/>
            <a:ext cx="347472" cy="347472"/>
          </a:xfrm>
          <a:prstGeom prst="rect">
            <a:avLst/>
          </a:prstGeom>
          <a:solidFill>
            <a:srgbClr val="CC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82512" y="4434840"/>
            <a:ext cx="347472" cy="347472"/>
          </a:xfrm>
          <a:prstGeom prst="rect">
            <a:avLst/>
          </a:prstGeom>
          <a:noFill/>
        </p:spPr>
        <p:txBody>
          <a:bodyPr wrap="square">
            <a:spAutoFit/>
          </a:bodyPr>
          <a:lstStyle/>
          <a:p>
            <a:pPr algn="ctr"/>
            <a:r>
              <a:rPr sz="900" b="1">
                <a:solidFill>
                  <a:srgbClr val="FFFFFF"/>
                </a:solidFill>
              </a:rPr>
              <a:t>08</a:t>
            </a:r>
          </a:p>
        </p:txBody>
      </p:sp>
      <p:sp>
        <p:nvSpPr>
          <p:cNvPr id="50" name="TextBox 49"/>
          <p:cNvSpPr txBox="1"/>
          <p:nvPr/>
        </p:nvSpPr>
        <p:spPr>
          <a:xfrm>
            <a:off x="6784848" y="4398264"/>
            <a:ext cx="5212080" cy="256032"/>
          </a:xfrm>
          <a:prstGeom prst="rect">
            <a:avLst/>
          </a:prstGeom>
          <a:noFill/>
        </p:spPr>
        <p:txBody>
          <a:bodyPr wrap="square">
            <a:spAutoFit/>
          </a:bodyPr>
          <a:lstStyle/>
          <a:p>
            <a:pPr algn="l"/>
            <a:r>
              <a:rPr sz="950" b="1">
                <a:solidFill>
                  <a:srgbClr val="FFFFFF"/>
                </a:solidFill>
              </a:rPr>
              <a:t>Remote Access Config — All 31 Routers</a:t>
            </a:r>
          </a:p>
        </p:txBody>
      </p:sp>
      <p:sp>
        <p:nvSpPr>
          <p:cNvPr id="51" name="TextBox 50"/>
          <p:cNvSpPr txBox="1"/>
          <p:nvPr/>
        </p:nvSpPr>
        <p:spPr>
          <a:xfrm>
            <a:off x="6784848" y="4626864"/>
            <a:ext cx="5212080" cy="201168"/>
          </a:xfrm>
          <a:prstGeom prst="rect">
            <a:avLst/>
          </a:prstGeom>
          <a:noFill/>
        </p:spPr>
        <p:txBody>
          <a:bodyPr wrap="square">
            <a:spAutoFit/>
          </a:bodyPr>
          <a:lstStyle/>
          <a:p>
            <a:pPr algn="l"/>
            <a:r>
              <a:rPr sz="750" b="0">
                <a:solidFill>
                  <a:srgbClr val="CCAA00"/>
                </a:solidFill>
              </a:rPr>
              <a:t>📅 Apr 1–18, 2026   👤 Lee Blackman</a:t>
            </a:r>
          </a:p>
        </p:txBody>
      </p:sp>
      <p:sp>
        <p:nvSpPr>
          <p:cNvPr id="52" name="TextBox 51"/>
          <p:cNvSpPr txBox="1"/>
          <p:nvPr/>
        </p:nvSpPr>
        <p:spPr>
          <a:xfrm>
            <a:off x="6784848" y="4818888"/>
            <a:ext cx="5212080" cy="411480"/>
          </a:xfrm>
          <a:prstGeom prst="rect">
            <a:avLst/>
          </a:prstGeom>
          <a:noFill/>
        </p:spPr>
        <p:txBody>
          <a:bodyPr wrap="square">
            <a:spAutoFit/>
          </a:bodyPr>
          <a:lstStyle/>
          <a:p>
            <a:pPr algn="l"/>
            <a:r>
              <a:rPr sz="750" b="0">
                <a:solidFill>
                  <a:srgbClr val="CCCCCC"/>
                </a:solidFill>
              </a:rPr>
              <a:t>Lee configures all 31 routers remotely once Hicksville &amp; Melville BGP is validated.</a:t>
            </a:r>
          </a:p>
        </p:txBody>
      </p:sp>
      <p:sp>
        <p:nvSpPr>
          <p:cNvPr id="53" name="Rectangle 52"/>
          <p:cNvSpPr/>
          <p:nvPr/>
        </p:nvSpPr>
        <p:spPr>
          <a:xfrm>
            <a:off x="182880" y="5394959"/>
            <a:ext cx="5760720" cy="978407"/>
          </a:xfrm>
          <a:prstGeom prst="rect">
            <a:avLst/>
          </a:prstGeom>
          <a:solidFill>
            <a:srgbClr val="281804"/>
          </a:solidFill>
          <a:ln w="12700">
            <a:solidFill>
              <a:srgbClr val="DD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56032" y="5486399"/>
            <a:ext cx="347472" cy="347472"/>
          </a:xfrm>
          <a:prstGeom prst="rect">
            <a:avLst/>
          </a:prstGeom>
          <a:solidFill>
            <a:srgbClr val="DD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6032" y="5486399"/>
            <a:ext cx="347472" cy="347472"/>
          </a:xfrm>
          <a:prstGeom prst="rect">
            <a:avLst/>
          </a:prstGeom>
          <a:noFill/>
        </p:spPr>
        <p:txBody>
          <a:bodyPr wrap="square">
            <a:spAutoFit/>
          </a:bodyPr>
          <a:lstStyle/>
          <a:p>
            <a:pPr algn="ctr"/>
            <a:r>
              <a:rPr sz="900" b="1">
                <a:solidFill>
                  <a:srgbClr val="FFFFFF"/>
                </a:solidFill>
              </a:rPr>
              <a:t>09</a:t>
            </a:r>
          </a:p>
        </p:txBody>
      </p:sp>
      <p:sp>
        <p:nvSpPr>
          <p:cNvPr id="56" name="TextBox 55"/>
          <p:cNvSpPr txBox="1"/>
          <p:nvPr/>
        </p:nvSpPr>
        <p:spPr>
          <a:xfrm>
            <a:off x="658368" y="5449823"/>
            <a:ext cx="5212080" cy="256032"/>
          </a:xfrm>
          <a:prstGeom prst="rect">
            <a:avLst/>
          </a:prstGeom>
          <a:noFill/>
        </p:spPr>
        <p:txBody>
          <a:bodyPr wrap="square">
            <a:spAutoFit/>
          </a:bodyPr>
          <a:lstStyle/>
          <a:p>
            <a:pPr algn="l"/>
            <a:r>
              <a:rPr sz="950" b="1">
                <a:solidFill>
                  <a:srgbClr val="FFFFFF"/>
                </a:solidFill>
              </a:rPr>
              <a:t>NSP Software Install &amp; Layer 3 Services</a:t>
            </a:r>
          </a:p>
        </p:txBody>
      </p:sp>
      <p:sp>
        <p:nvSpPr>
          <p:cNvPr id="57" name="TextBox 56"/>
          <p:cNvSpPr txBox="1"/>
          <p:nvPr/>
        </p:nvSpPr>
        <p:spPr>
          <a:xfrm>
            <a:off x="658368" y="5678423"/>
            <a:ext cx="5212080" cy="201168"/>
          </a:xfrm>
          <a:prstGeom prst="rect">
            <a:avLst/>
          </a:prstGeom>
          <a:noFill/>
        </p:spPr>
        <p:txBody>
          <a:bodyPr wrap="square">
            <a:spAutoFit/>
          </a:bodyPr>
          <a:lstStyle/>
          <a:p>
            <a:pPr algn="l"/>
            <a:r>
              <a:rPr sz="750" b="0">
                <a:solidFill>
                  <a:srgbClr val="DD7700"/>
                </a:solidFill>
              </a:rPr>
              <a:t>📅 Mid–Late Apr 2026   👤 Nokia / Lee</a:t>
            </a:r>
          </a:p>
        </p:txBody>
      </p:sp>
      <p:sp>
        <p:nvSpPr>
          <p:cNvPr id="58" name="TextBox 57"/>
          <p:cNvSpPr txBox="1"/>
          <p:nvPr/>
        </p:nvSpPr>
        <p:spPr>
          <a:xfrm>
            <a:off x="658368" y="5870448"/>
            <a:ext cx="5212080" cy="411480"/>
          </a:xfrm>
          <a:prstGeom prst="rect">
            <a:avLst/>
          </a:prstGeom>
          <a:noFill/>
        </p:spPr>
        <p:txBody>
          <a:bodyPr wrap="square">
            <a:spAutoFit/>
          </a:bodyPr>
          <a:lstStyle/>
          <a:p>
            <a:pPr algn="l"/>
            <a:r>
              <a:rPr sz="750" b="0">
                <a:solidFill>
                  <a:srgbClr val="CCCCCC"/>
                </a:solidFill>
              </a:rPr>
              <a:t>Nokia activates NSP and Layer 3. Start Hicksville &amp; Melville, then site by site. 2 SFPs needed at Melville.</a:t>
            </a:r>
          </a:p>
        </p:txBody>
      </p:sp>
      <p:sp>
        <p:nvSpPr>
          <p:cNvPr id="59" name="Rectangle 58"/>
          <p:cNvSpPr/>
          <p:nvPr/>
        </p:nvSpPr>
        <p:spPr>
          <a:xfrm>
            <a:off x="6309360" y="5394959"/>
            <a:ext cx="5760720" cy="978407"/>
          </a:xfrm>
          <a:prstGeom prst="rect">
            <a:avLst/>
          </a:prstGeom>
          <a:solidFill>
            <a:srgbClr val="05102A"/>
          </a:solidFill>
          <a:ln w="1270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82512" y="5486399"/>
            <a:ext cx="347472" cy="347472"/>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82512" y="5486399"/>
            <a:ext cx="347472" cy="347472"/>
          </a:xfrm>
          <a:prstGeom prst="rect">
            <a:avLst/>
          </a:prstGeom>
          <a:noFill/>
        </p:spPr>
        <p:txBody>
          <a:bodyPr wrap="square">
            <a:spAutoFit/>
          </a:bodyPr>
          <a:lstStyle/>
          <a:p>
            <a:pPr algn="ctr"/>
            <a:r>
              <a:rPr sz="900" b="1">
                <a:solidFill>
                  <a:srgbClr val="FFFFFF"/>
                </a:solidFill>
              </a:rPr>
              <a:t>10</a:t>
            </a:r>
          </a:p>
        </p:txBody>
      </p:sp>
      <p:sp>
        <p:nvSpPr>
          <p:cNvPr id="62" name="TextBox 61"/>
          <p:cNvSpPr txBox="1"/>
          <p:nvPr/>
        </p:nvSpPr>
        <p:spPr>
          <a:xfrm>
            <a:off x="6784848" y="5449823"/>
            <a:ext cx="5212080" cy="256032"/>
          </a:xfrm>
          <a:prstGeom prst="rect">
            <a:avLst/>
          </a:prstGeom>
          <a:noFill/>
        </p:spPr>
        <p:txBody>
          <a:bodyPr wrap="square">
            <a:spAutoFit/>
          </a:bodyPr>
          <a:lstStyle/>
          <a:p>
            <a:pPr algn="l"/>
            <a:r>
              <a:rPr sz="950" b="1">
                <a:solidFill>
                  <a:srgbClr val="FFFFFF"/>
                </a:solidFill>
              </a:rPr>
              <a:t>Application &amp; RTU Cutovers Begin</a:t>
            </a:r>
          </a:p>
        </p:txBody>
      </p:sp>
      <p:sp>
        <p:nvSpPr>
          <p:cNvPr id="63" name="TextBox 62"/>
          <p:cNvSpPr txBox="1"/>
          <p:nvPr/>
        </p:nvSpPr>
        <p:spPr>
          <a:xfrm>
            <a:off x="6784848" y="5678423"/>
            <a:ext cx="5212080" cy="201168"/>
          </a:xfrm>
          <a:prstGeom prst="rect">
            <a:avLst/>
          </a:prstGeom>
          <a:noFill/>
        </p:spPr>
        <p:txBody>
          <a:bodyPr wrap="square">
            <a:spAutoFit/>
          </a:bodyPr>
          <a:lstStyle/>
          <a:p>
            <a:pPr algn="l"/>
            <a:r>
              <a:rPr sz="750" b="0">
                <a:solidFill>
                  <a:srgbClr val="2266CC"/>
                </a:solidFill>
              </a:rPr>
              <a:t>📅 May 2026   👤 PSEG LI / BMcD / Hawkeye</a:t>
            </a:r>
          </a:p>
        </p:txBody>
      </p:sp>
      <p:sp>
        <p:nvSpPr>
          <p:cNvPr id="64" name="TextBox 63"/>
          <p:cNvSpPr txBox="1"/>
          <p:nvPr/>
        </p:nvSpPr>
        <p:spPr>
          <a:xfrm>
            <a:off x="6784848" y="5870448"/>
            <a:ext cx="5212080" cy="411480"/>
          </a:xfrm>
          <a:prstGeom prst="rect">
            <a:avLst/>
          </a:prstGeom>
          <a:noFill/>
        </p:spPr>
        <p:txBody>
          <a:bodyPr wrap="square">
            <a:spAutoFit/>
          </a:bodyPr>
          <a:lstStyle/>
          <a:p>
            <a:pPr algn="l"/>
            <a:r>
              <a:rPr sz="750" b="0">
                <a:solidFill>
                  <a:srgbClr val="CCCCCC"/>
                </a:solidFill>
              </a:rPr>
              <a:t>First wave of app cutovers at lead sites. RTU cutovers follow. Phase 1 close target: June 2026.</a:t>
            </a:r>
          </a:p>
        </p:txBody>
      </p:sp>
      <p:sp>
        <p:nvSpPr>
          <p:cNvPr id="65" name="Rectangle 64"/>
          <p:cNvSpPr/>
          <p:nvPr/>
        </p:nvSpPr>
        <p:spPr>
          <a:xfrm>
            <a:off x="0" y="6537960"/>
            <a:ext cx="12188952" cy="320040"/>
          </a:xfrm>
          <a:prstGeom prst="rect">
            <a:avLst/>
          </a:prstGeom>
          <a:solidFill>
            <a:srgbClr val="00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74320" y="6565392"/>
            <a:ext cx="7315200" cy="228600"/>
          </a:xfrm>
          <a:prstGeom prst="rect">
            <a:avLst/>
          </a:prstGeom>
          <a:noFill/>
        </p:spPr>
        <p:txBody>
          <a:bodyPr wrap="square">
            <a:spAutoFit/>
          </a:bodyPr>
          <a:lstStyle/>
          <a:p>
            <a:pPr algn="l"/>
            <a:r>
              <a:rPr sz="800" b="0">
                <a:solidFill>
                  <a:srgbClr val="AABBCC"/>
                </a:solidFill>
              </a:rPr>
              <a:t>🔴 Critical   🟠 In Progress / Parallel   🟡 Pending Prior Step   🟢 On Track   🔵 Future Phase</a:t>
            </a:r>
          </a:p>
        </p:txBody>
      </p:sp>
      <p:sp>
        <p:nvSpPr>
          <p:cNvPr id="67" name="TextBox 66"/>
          <p:cNvSpPr txBox="1"/>
          <p:nvPr/>
        </p:nvSpPr>
        <p:spPr>
          <a:xfrm>
            <a:off x="8686800" y="6565392"/>
            <a:ext cx="3200400" cy="228600"/>
          </a:xfrm>
          <a:prstGeom prst="rect">
            <a:avLst/>
          </a:prstGeom>
          <a:noFill/>
        </p:spPr>
        <p:txBody>
          <a:bodyPr wrap="square">
            <a:spAutoFit/>
          </a:bodyPr>
          <a:lstStyle/>
          <a:p>
            <a:pPr algn="r"/>
            <a:r>
              <a:rPr sz="800" b="0">
                <a:solidFill>
                  <a:srgbClr val="667788"/>
                </a:solidFill>
              </a:rPr>
              <a:t>PRJ13797 | Confidential | Mar 18,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46080"/>
            <a:ext cx="10049622" cy="9310241"/>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pPr>
            <a:endParaRPr lang="en-US" sz="1400" dirty="0"/>
          </a:p>
          <a:p>
            <a:pPr marL="285750" indent="-285750">
              <a:spcBef>
                <a:spcPts val="600"/>
              </a:spcBef>
              <a:spcAft>
                <a:spcPts val="600"/>
              </a:spcAft>
              <a:buFont typeface="Wingdings" panose="05000000000000000000" pitchFamily="2" charset="2"/>
              <a:buChar char="Ø"/>
            </a:pPr>
            <a:endParaRPr lang="en-US" sz="1400" b="1" dirty="0"/>
          </a:p>
          <a:p>
            <a:pPr>
              <a:spcBef>
                <a:spcPts val="600"/>
              </a:spcBef>
              <a:spcAft>
                <a:spcPts val="600"/>
              </a:spcAft>
            </a:pPr>
            <a:endParaRPr lang="en-US" sz="1400" b="1" dirty="0"/>
          </a:p>
          <a:p>
            <a:pPr marL="285750" indent="-285750">
              <a:spcBef>
                <a:spcPts val="600"/>
              </a:spcBef>
              <a:spcAft>
                <a:spcPts val="600"/>
              </a:spcAft>
              <a:buFont typeface="Wingdings" panose="05000000000000000000" pitchFamily="2" charset="2"/>
              <a:buChar char="Ø"/>
            </a:pPr>
            <a:r>
              <a:rPr lang="en-US" sz="1400" b="1" dirty="0"/>
              <a:t>Phase-1 </a:t>
            </a:r>
          </a:p>
          <a:p>
            <a:pPr marL="285750" indent="-285750">
              <a:spcBef>
                <a:spcPts val="600"/>
              </a:spcBef>
              <a:spcAft>
                <a:spcPts val="600"/>
              </a:spcAft>
              <a:buFont typeface="Wingdings" panose="05000000000000000000" pitchFamily="2" charset="2"/>
              <a:buChar char="§"/>
            </a:pPr>
            <a:r>
              <a:rPr lang="en-US" sz="1400" b="1" dirty="0"/>
              <a:t>Engineering Services</a:t>
            </a:r>
          </a:p>
          <a:p>
            <a:endParaRPr lang="en-US" sz="1100" b="1" dirty="0">
              <a:solidFill>
                <a:schemeClr val="accent2"/>
              </a:solidFill>
            </a:endParaRPr>
          </a:p>
          <a:p>
            <a:endParaRPr lang="en-US" sz="1100" b="1" dirty="0">
              <a:solidFill>
                <a:schemeClr val="accent2"/>
              </a:solidFill>
            </a:endParaRPr>
          </a:p>
          <a:p>
            <a:endParaRPr lang="en-US" sz="1100" b="1" dirty="0">
              <a:solidFill>
                <a:schemeClr val="accent2"/>
              </a:solidFill>
            </a:endParaRPr>
          </a:p>
          <a:p>
            <a:pPr lvl="1" fontAlgn="ctr"/>
            <a:endParaRPr lang="en-US" sz="1100" dirty="0"/>
          </a:p>
          <a:p>
            <a:pPr marL="285750" indent="-285750" fontAlgn="ctr">
              <a:buFont typeface="Arial" panose="020B0604020202020204" pitchFamily="34" charset="0"/>
              <a:buChar char="•"/>
            </a:pPr>
            <a:r>
              <a:rPr lang="en-US" sz="1400" b="1" dirty="0"/>
              <a:t>Procurement and Staging </a:t>
            </a:r>
            <a:endParaRPr lang="en-US" sz="1400" dirty="0"/>
          </a:p>
          <a:p>
            <a:pPr marL="742950" lvl="1" indent="-285750" fontAlgn="ctr">
              <a:buFont typeface="Arial" panose="020B0604020202020204" pitchFamily="34" charset="0"/>
              <a:buChar char="•"/>
            </a:pPr>
            <a:r>
              <a:rPr lang="en-US" sz="1400" dirty="0"/>
              <a:t>Staging completed at Hawkeye Warehouse  - </a:t>
            </a:r>
            <a:r>
              <a:rPr lang="en-US" sz="1400" dirty="0">
                <a:solidFill>
                  <a:srgbClr val="00B050"/>
                </a:solidFill>
              </a:rPr>
              <a:t>Work Completed - 9/29/2025</a:t>
            </a:r>
          </a:p>
          <a:p>
            <a:pPr marL="742950" lvl="1" indent="-285750" fontAlgn="ctr">
              <a:buFont typeface="Arial" panose="020B0604020202020204" pitchFamily="34" charset="0"/>
              <a:buChar char="•"/>
            </a:pPr>
            <a:r>
              <a:rPr lang="en-US" sz="1400" dirty="0"/>
              <a:t>Nokia equipment for Phase 2 has been delivered – </a:t>
            </a:r>
            <a:r>
              <a:rPr lang="en-US" sz="1400" dirty="0">
                <a:solidFill>
                  <a:srgbClr val="00B050"/>
                </a:solidFill>
              </a:rPr>
              <a:t>Work Completed - 2/19/2026</a:t>
            </a:r>
          </a:p>
          <a:p>
            <a:pPr marL="285750" indent="-285750" fontAlgn="ctr">
              <a:buFont typeface="Arial" panose="020B0604020202020204" pitchFamily="34" charset="0"/>
              <a:buChar char="•"/>
            </a:pPr>
            <a:r>
              <a:rPr lang="en-US" sz="1400" b="1" dirty="0"/>
              <a:t>Construction and Installation Support</a:t>
            </a:r>
            <a:endParaRPr lang="en-US" sz="1400" dirty="0"/>
          </a:p>
          <a:p>
            <a:pPr marL="742950" lvl="1" indent="-285750" fontAlgn="ctr">
              <a:buFont typeface="Arial" panose="020B0604020202020204" pitchFamily="34" charset="0"/>
              <a:buChar char="•"/>
            </a:pPr>
            <a:r>
              <a:rPr lang="en-US" sz="1400" dirty="0"/>
              <a:t>Installing equipment at substations. – 31/31 sites completed </a:t>
            </a:r>
          </a:p>
          <a:p>
            <a:pPr marL="742950" lvl="1" indent="-285750" fontAlgn="ctr">
              <a:buFont typeface="Arial" panose="020B0604020202020204" pitchFamily="34" charset="0"/>
              <a:buChar char="•"/>
            </a:pPr>
            <a:r>
              <a:rPr lang="en-US" sz="1400" dirty="0"/>
              <a:t>ACC cabling and fiber panel installed – 1/7/26</a:t>
            </a:r>
          </a:p>
          <a:p>
            <a:pPr marL="742950" lvl="1" indent="-285750" fontAlgn="ctr">
              <a:buFont typeface="Arial" panose="020B0604020202020204" pitchFamily="34" charset="0"/>
              <a:buChar char="•"/>
            </a:pPr>
            <a:r>
              <a:rPr lang="en-US" sz="1400" dirty="0"/>
              <a:t>Throwover from Hicksville to ACC will happen - 1/13/2026</a:t>
            </a:r>
          </a:p>
          <a:p>
            <a:pPr marL="1200150" lvl="2" indent="-285750" fontAlgn="ctr">
              <a:buFont typeface="Arial" panose="020B0604020202020204" pitchFamily="34" charset="0"/>
              <a:buChar char="•"/>
            </a:pPr>
            <a:r>
              <a:rPr lang="en-US" sz="1400" dirty="0"/>
              <a:t>J-mux  eqpt. Will be moved on the primary &amp; secondary cabinet to </a:t>
            </a:r>
          </a:p>
          <a:p>
            <a:pPr lvl="2" fontAlgn="ctr"/>
            <a:r>
              <a:rPr lang="en-US" sz="1400" dirty="0"/>
              <a:t>       make room for the MPLS routers. – 1/13/26 -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Complete CWDM cutover at Hicksville and ACC </a:t>
            </a:r>
            <a:r>
              <a:rPr lang="en-US" sz="1400" b="1" i="1" dirty="0"/>
              <a:t>-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Install routers in the primary &amp; secondary cabinet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NSP installed racked &amp; powered up in Melville and Hicksville –</a:t>
            </a:r>
            <a:r>
              <a:rPr lang="en-US" sz="1400" b="1" i="1" dirty="0"/>
              <a:t>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CMDB document updated and added to CMDB database </a:t>
            </a:r>
            <a:r>
              <a:rPr lang="en-US" sz="1400" b="1" i="1" dirty="0">
                <a:solidFill>
                  <a:srgbClr val="00B050"/>
                </a:solidFill>
              </a:rPr>
              <a:t>– Work Completed </a:t>
            </a:r>
          </a:p>
          <a:p>
            <a:pPr marL="1200150" lvl="2" indent="-285750" fontAlgn="ctr">
              <a:buFont typeface="Arial" panose="020B0604020202020204" pitchFamily="34" charset="0"/>
              <a:buChar char="•"/>
            </a:pPr>
            <a:r>
              <a:rPr lang="en-US" sz="1400" b="1" i="1" dirty="0"/>
              <a:t>Cat 6 cables needs to be run to NSP in Hicksville </a:t>
            </a:r>
            <a:r>
              <a:rPr lang="en-US" sz="1400" b="1" i="1" dirty="0">
                <a:solidFill>
                  <a:srgbClr val="00B050"/>
                </a:solidFill>
              </a:rPr>
              <a:t>– Work Completed</a:t>
            </a:r>
          </a:p>
          <a:p>
            <a:pPr marL="1200150" lvl="2" indent="-285750" fontAlgn="ctr">
              <a:buFont typeface="Arial" panose="020B0604020202020204" pitchFamily="34" charset="0"/>
              <a:buChar char="•"/>
            </a:pPr>
            <a:r>
              <a:rPr lang="en-US" sz="1400" b="1" i="1" dirty="0"/>
              <a:t>OTDR testing from Hicksville to Syosset </a:t>
            </a:r>
            <a:r>
              <a:rPr lang="en-US" sz="1400" b="1" i="1" dirty="0">
                <a:solidFill>
                  <a:srgbClr val="00B050"/>
                </a:solidFill>
              </a:rPr>
              <a:t>– Work Completed </a:t>
            </a:r>
          </a:p>
          <a:p>
            <a:pPr marL="1200150" lvl="2" indent="-285750" fontAlgn="ctr">
              <a:buFont typeface="Wingdings" panose="05000000000000000000" pitchFamily="2" charset="2"/>
              <a:buChar char="q"/>
            </a:pPr>
            <a:endParaRPr lang="en-US" sz="1400" dirty="0"/>
          </a:p>
          <a:p>
            <a:pPr lvl="1" fontAlgn="ctr"/>
            <a:endParaRPr lang="en-US" sz="1400" dirty="0"/>
          </a:p>
          <a:p>
            <a:pPr marL="285750" indent="-285750" fontAlgn="ctr">
              <a:buFont typeface="Arial" panose="020B0604020202020204" pitchFamily="34" charset="0"/>
              <a:buChar char="•"/>
            </a:pPr>
            <a:r>
              <a:rPr lang="en-US" sz="1400" b="1" dirty="0">
                <a:solidFill>
                  <a:srgbClr val="DC3545"/>
                </a:solidFill>
              </a:rPr>
              <a:t>Deployment &amp; Cutover</a:t>
            </a:r>
          </a:p>
          <a:p>
            <a:pPr marL="742950" lvl="1" indent="-285750" fontAlgn="ctr">
              <a:buFont typeface="Arial" panose="020B0604020202020204" pitchFamily="34" charset="0"/>
              <a:buChar char="•"/>
            </a:pPr>
            <a:r>
              <a:rPr lang="en-US" sz="1400" dirty="0"/>
              <a:t>Cutover of CWDM started at Bagatelle, Melville, Pilgrim -11/19- 11/20/2025 – </a:t>
            </a:r>
            <a:r>
              <a:rPr lang="en-US" sz="1200" b="1" i="1" dirty="0"/>
              <a:t>we ran into fiber panel issues.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1 - 12/8/2025 – 12/18/2025 (</a:t>
            </a:r>
            <a:r>
              <a:rPr lang="en-US" sz="1400" dirty="0">
                <a:solidFill>
                  <a:srgbClr val="FF0000"/>
                </a:solidFill>
              </a:rPr>
              <a:t>non-tie sites</a:t>
            </a:r>
            <a:r>
              <a:rPr lang="en-US" sz="1400" dirty="0"/>
              <a:t>) – </a:t>
            </a:r>
            <a:r>
              <a:rPr lang="en-US" sz="1200" b="1" i="1" dirty="0"/>
              <a:t>Decided to start with the no tie sites.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2 - 01/06/2026 – 1/08/2026 (</a:t>
            </a:r>
            <a:r>
              <a:rPr lang="en-US" sz="1400" dirty="0">
                <a:solidFill>
                  <a:srgbClr val="FF0000"/>
                </a:solidFill>
              </a:rPr>
              <a:t>tie-in-sites</a:t>
            </a:r>
            <a:r>
              <a:rPr lang="en-US" sz="1400" dirty="0"/>
              <a:t>) – </a:t>
            </a:r>
            <a:r>
              <a:rPr lang="en-US" sz="1200" b="1" i="1" dirty="0"/>
              <a:t>with experience cutting over the tie sites, we felt comfortable to complete the tie sites. – </a:t>
            </a:r>
            <a:r>
              <a:rPr lang="en-US" sz="1200" b="1" i="1" dirty="0">
                <a:solidFill>
                  <a:srgbClr val="00B050"/>
                </a:solidFill>
              </a:rPr>
              <a:t>Work Completed  </a:t>
            </a:r>
          </a:p>
          <a:p>
            <a:pPr marL="742950" lvl="1" indent="-285750" fontAlgn="ctr">
              <a:buFont typeface="Arial" panose="020B0604020202020204" pitchFamily="34" charset="0"/>
              <a:buChar char="•"/>
            </a:pPr>
            <a:endParaRPr lang="en-US" sz="1400" dirty="0"/>
          </a:p>
          <a:p>
            <a:pPr lvl="1" fontAlgn="ctr"/>
            <a:endParaRPr lang="en-US" sz="1400" dirty="0"/>
          </a:p>
          <a:p>
            <a:pPr marL="742950" lvl="1" indent="-285750" fontAlgn="ctr">
              <a:buFont typeface="Arial" panose="020B0604020202020204" pitchFamily="34" charset="0"/>
              <a:buChar char="•"/>
            </a:pPr>
            <a:endParaRPr lang="en-US" sz="1400" dirty="0"/>
          </a:p>
          <a:p>
            <a:pPr lvl="1" fontAlgn="ct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a:t>
            </a:r>
            <a:r>
              <a:rPr lang="en-US" sz="1400" dirty="0"/>
              <a:t>. </a:t>
            </a:r>
          </a:p>
          <a:p>
            <a:pPr marL="800100" lvl="1" indent="-342900">
              <a:spcBef>
                <a:spcPts val="600"/>
              </a:spcBef>
              <a:spcAft>
                <a:spcPts val="600"/>
              </a:spcAft>
              <a:buFont typeface="+mj-lt"/>
              <a:buAutoNum type="arabicPeriod"/>
            </a:pPr>
            <a:endParaRPr lang="en-US" sz="1400" dirty="0"/>
          </a:p>
          <a:p>
            <a:pPr marL="800100" lvl="1" indent="-342900">
              <a:spcBef>
                <a:spcPts val="600"/>
              </a:spcBef>
              <a:spcAft>
                <a:spcPts val="600"/>
              </a:spcAft>
              <a:buFont typeface="+mj-lt"/>
              <a:buAutoNum type="arabicPeriod"/>
            </a:pPr>
            <a:endParaRPr lang="en-US" sz="1400" dirty="0"/>
          </a:p>
          <a:p>
            <a:pPr lvl="2">
              <a:spcBef>
                <a:spcPts val="600"/>
              </a:spcBef>
              <a:spcAft>
                <a:spcPts val="600"/>
              </a:spcAft>
            </a:pPr>
            <a:endParaRPr lang="en-US" sz="1400" dirty="0"/>
          </a:p>
        </p:txBody>
      </p:sp>
      <p:graphicFrame>
        <p:nvGraphicFramePr>
          <p:cNvPr id="8" name="Table 7"/>
          <p:cNvGraphicFramePr>
            <a:graphicFrameLocks noGrp="1"/>
          </p:cNvGraphicFramePr>
          <p:nvPr/>
        </p:nvGraphicFramePr>
        <p:xfrm>
          <a:off x="1556426" y="1567369"/>
          <a:ext cx="4941651" cy="567690"/>
        </p:xfrm>
        <a:graphic>
          <a:graphicData uri="http://schemas.openxmlformats.org/drawingml/2006/table">
            <a:tbl>
              <a:tblPr>
                <a:tableStyleId>{5C22544A-7EE6-4342-B048-85BDC9FD1C3A}</a:tableStyleId>
              </a:tblPr>
              <a:tblGrid>
                <a:gridCol w="2573448">
                  <a:extLst>
                    <a:ext uri="{9D8B030D-6E8A-4147-A177-3AD203B41FA5}">
                      <a16:colId xmlns:a16="http://schemas.microsoft.com/office/drawing/2014/main" val="1279083359"/>
                    </a:ext>
                  </a:extLst>
                </a:gridCol>
                <a:gridCol w="1152526">
                  <a:extLst>
                    <a:ext uri="{9D8B030D-6E8A-4147-A177-3AD203B41FA5}">
                      <a16:colId xmlns:a16="http://schemas.microsoft.com/office/drawing/2014/main" val="1105639966"/>
                    </a:ext>
                  </a:extLst>
                </a:gridCol>
                <a:gridCol w="1215677">
                  <a:extLst>
                    <a:ext uri="{9D8B030D-6E8A-4147-A177-3AD203B41FA5}">
                      <a16:colId xmlns:a16="http://schemas.microsoft.com/office/drawing/2014/main" val="2657568295"/>
                    </a:ext>
                  </a:extLst>
                </a:gridCol>
              </a:tblGrid>
              <a:tr h="189230">
                <a:tc>
                  <a:txBody>
                    <a:bodyPr/>
                    <a:lstStyle/>
                    <a:p>
                      <a:pPr algn="ctr" fontAlgn="b"/>
                      <a:r>
                        <a:rPr lang="en-US" sz="1100" u="none" strike="noStrike">
                          <a:effectLst/>
                        </a:rPr>
                        <a:t>Burns &amp; Mac - Phase 1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Total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Completed</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3699450358"/>
                  </a:ext>
                </a:extLst>
              </a:tr>
              <a:tr h="189230">
                <a:tc>
                  <a:txBody>
                    <a:bodyPr/>
                    <a:lstStyle/>
                    <a:p>
                      <a:pPr algn="ctr" fontAlgn="b"/>
                      <a:r>
                        <a:rPr lang="en-US" sz="1100" u="none" strike="noStrike">
                          <a:effectLst/>
                        </a:rPr>
                        <a:t>IFR - Issued for review design</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31</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657657533"/>
                  </a:ext>
                </a:extLst>
              </a:tr>
              <a:tr h="189230">
                <a:tc>
                  <a:txBody>
                    <a:bodyPr/>
                    <a:lstStyle/>
                    <a:p>
                      <a:pPr algn="ctr" fontAlgn="b"/>
                      <a:r>
                        <a:rPr lang="en-US" sz="1100" u="none" strike="noStrike" dirty="0">
                          <a:effectLst/>
                        </a:rPr>
                        <a:t>IFC - Issued for construction </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31</a:t>
                      </a:r>
                    </a:p>
                  </a:txBody>
                  <a:tcPr marL="7620" marR="7620" marT="7620" marB="0" anchor="b">
                    <a:solidFill>
                      <a:schemeClr val="accent1">
                        <a:lumMod val="40000"/>
                        <a:lumOff val="60000"/>
                      </a:schemeClr>
                    </a:solidFill>
                  </a:tcPr>
                </a:tc>
                <a:extLst>
                  <a:ext uri="{0D108BD9-81ED-4DB2-BD59-A6C34878D82A}">
                    <a16:rowId xmlns:a16="http://schemas.microsoft.com/office/drawing/2014/main" val="2772479479"/>
                  </a:ext>
                </a:extLst>
              </a:tr>
            </a:tbl>
          </a:graphicData>
        </a:graphic>
      </p:graphicFrame>
      <p:sp>
        <p:nvSpPr>
          <p:cNvPr id="10" name="Title 3"/>
          <p:cNvSpPr txBox="1">
            <a:spLocks/>
          </p:cNvSpPr>
          <p:nvPr/>
        </p:nvSpPr>
        <p:spPr bwMode="auto">
          <a:xfrm>
            <a:off x="971442" y="231090"/>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Highlight Project Accomplishments  </a:t>
            </a:r>
          </a:p>
        </p:txBody>
      </p:sp>
      <p:graphicFrame>
        <p:nvGraphicFramePr>
          <p:cNvPr id="5" name="Table 4">
            <a:extLst>
              <a:ext uri="{FF2B5EF4-FFF2-40B4-BE49-F238E27FC236}">
                <a16:creationId xmlns:a16="http://schemas.microsoft.com/office/drawing/2014/main" id="{ACF7F624-CA47-9A8B-BEB6-C52CFB6231C0}"/>
              </a:ext>
            </a:extLst>
          </p:cNvPr>
          <p:cNvGraphicFramePr>
            <a:graphicFrameLocks noGrp="1"/>
          </p:cNvGraphicFramePr>
          <p:nvPr>
            <p:extLst>
              <p:ext uri="{D42A27DB-BD31-4B8C-83A1-F6EECF244321}">
                <p14:modId xmlns:p14="http://schemas.microsoft.com/office/powerpoint/2010/main" val="3192296392"/>
              </p:ext>
            </p:extLst>
          </p:nvPr>
        </p:nvGraphicFramePr>
        <p:xfrm>
          <a:off x="7185502" y="1112388"/>
          <a:ext cx="2933069" cy="3598393"/>
        </p:xfrm>
        <a:graphic>
          <a:graphicData uri="http://schemas.openxmlformats.org/drawingml/2006/table">
            <a:tbl>
              <a:tblPr>
                <a:tableStyleId>{5C22544A-7EE6-4342-B048-85BDC9FD1C3A}</a:tableStyleId>
              </a:tblPr>
              <a:tblGrid>
                <a:gridCol w="2259660">
                  <a:extLst>
                    <a:ext uri="{9D8B030D-6E8A-4147-A177-3AD203B41FA5}">
                      <a16:colId xmlns:a16="http://schemas.microsoft.com/office/drawing/2014/main" val="911109585"/>
                    </a:ext>
                  </a:extLst>
                </a:gridCol>
                <a:gridCol w="673409">
                  <a:extLst>
                    <a:ext uri="{9D8B030D-6E8A-4147-A177-3AD203B41FA5}">
                      <a16:colId xmlns:a16="http://schemas.microsoft.com/office/drawing/2014/main" val="679552774"/>
                    </a:ext>
                  </a:extLst>
                </a:gridCol>
              </a:tblGrid>
              <a:tr h="219414">
                <a:tc gridSpan="2">
                  <a:txBody>
                    <a:bodyPr/>
                    <a:lstStyle/>
                    <a:p>
                      <a:pPr algn="ctr" rtl="0" fontAlgn="b">
                        <a:buNone/>
                      </a:pPr>
                      <a:r>
                        <a:rPr lang="en-US" sz="1000" u="none" strike="noStrike">
                          <a:effectLst/>
                        </a:rPr>
                        <a:t>Total Phase 1 scope </a:t>
                      </a:r>
                      <a:endParaRPr lang="en-US" sz="1000" b="0" i="0" u="none" strike="noStrike">
                        <a:solidFill>
                          <a:srgbClr val="000000"/>
                        </a:solidFill>
                        <a:effectLst/>
                        <a:latin typeface="Calibri" panose="020F0502020204030204" pitchFamily="34" charset="0"/>
                      </a:endParaRPr>
                    </a:p>
                  </a:txBody>
                  <a:tcPr marL="6350" marR="6350" marT="6350" marB="0" anchor="b"/>
                </a:tc>
                <a:tc hMerge="1">
                  <a:txBody>
                    <a:bodyPr/>
                    <a:lstStyle/>
                    <a:p>
                      <a:endParaRPr lang="en-US"/>
                    </a:p>
                  </a:txBody>
                  <a:tcPr/>
                </a:tc>
                <a:extLst>
                  <a:ext uri="{0D108BD9-81ED-4DB2-BD59-A6C34878D82A}">
                    <a16:rowId xmlns:a16="http://schemas.microsoft.com/office/drawing/2014/main" val="1979291364"/>
                  </a:ext>
                </a:extLst>
              </a:tr>
              <a:tr h="585105">
                <a:tc>
                  <a:txBody>
                    <a:bodyPr/>
                    <a:lstStyle/>
                    <a:p>
                      <a:pPr algn="l" rtl="0" fontAlgn="b">
                        <a:buNone/>
                      </a:pPr>
                      <a:r>
                        <a:rPr lang="en-US" sz="1000" u="none" strike="noStrike">
                          <a:effectLst/>
                        </a:rPr>
                        <a:t>Initiation &amp; Planning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38191846"/>
                  </a:ext>
                </a:extLst>
              </a:tr>
              <a:tr h="394946">
                <a:tc>
                  <a:txBody>
                    <a:bodyPr/>
                    <a:lstStyle/>
                    <a:p>
                      <a:pPr algn="l" rtl="0" fontAlgn="b">
                        <a:buNone/>
                      </a:pPr>
                      <a:r>
                        <a:rPr lang="en-US" sz="1000" u="none" strike="noStrike" dirty="0">
                          <a:effectLst/>
                        </a:rPr>
                        <a:t>Site Surveys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5055005"/>
                  </a:ext>
                </a:extLst>
              </a:tr>
              <a:tr h="219414">
                <a:tc>
                  <a:txBody>
                    <a:bodyPr/>
                    <a:lstStyle/>
                    <a:p>
                      <a:pPr algn="l" rtl="0" fontAlgn="b">
                        <a:buNone/>
                      </a:pPr>
                      <a:r>
                        <a:rPr lang="en-US" sz="1000" u="none" strike="noStrike">
                          <a:effectLst/>
                        </a:rPr>
                        <a:t>Test Plan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34250441"/>
                  </a:ext>
                </a:extLst>
              </a:tr>
              <a:tr h="219414">
                <a:tc>
                  <a:txBody>
                    <a:bodyPr/>
                    <a:lstStyle/>
                    <a:p>
                      <a:pPr algn="l" rtl="0" fontAlgn="b">
                        <a:buNone/>
                      </a:pPr>
                      <a:r>
                        <a:rPr lang="en-US" sz="1000" u="none" strike="noStrike">
                          <a:effectLst/>
                        </a:rPr>
                        <a:t>HLD</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62946182"/>
                  </a:ext>
                </a:extLst>
              </a:tr>
              <a:tr h="219414">
                <a:tc>
                  <a:txBody>
                    <a:bodyPr/>
                    <a:lstStyle/>
                    <a:p>
                      <a:pPr algn="l" rtl="0" fontAlgn="b">
                        <a:buNone/>
                      </a:pPr>
                      <a:r>
                        <a:rPr lang="en-US" sz="1000" u="none" strike="noStrike">
                          <a:effectLst/>
                        </a:rPr>
                        <a:t>IFR/IFC</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04545583"/>
                  </a:ext>
                </a:extLst>
              </a:tr>
              <a:tr h="394946">
                <a:tc>
                  <a:txBody>
                    <a:bodyPr/>
                    <a:lstStyle/>
                    <a:p>
                      <a:pPr algn="l" rtl="0" fontAlgn="b">
                        <a:buNone/>
                      </a:pPr>
                      <a:r>
                        <a:rPr lang="en-US" sz="1000" u="none" strike="noStrike">
                          <a:effectLst/>
                        </a:rPr>
                        <a:t>Procurement</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15060852"/>
                  </a:ext>
                </a:extLst>
              </a:tr>
              <a:tr h="219414">
                <a:tc>
                  <a:txBody>
                    <a:bodyPr/>
                    <a:lstStyle/>
                    <a:p>
                      <a:pPr algn="l" rtl="0" fontAlgn="b">
                        <a:buNone/>
                      </a:pPr>
                      <a:r>
                        <a:rPr lang="en-US" sz="1000" u="none" strike="noStrike" dirty="0">
                          <a:effectLst/>
                        </a:rPr>
                        <a:t>Staging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03479597"/>
                  </a:ext>
                </a:extLst>
              </a:tr>
              <a:tr h="219414">
                <a:tc>
                  <a:txBody>
                    <a:bodyPr/>
                    <a:lstStyle/>
                    <a:p>
                      <a:pPr algn="l" rtl="0" fontAlgn="b">
                        <a:buNone/>
                      </a:pPr>
                      <a:r>
                        <a:rPr lang="en-US" sz="1000" u="none" strike="noStrike">
                          <a:effectLst/>
                        </a:rPr>
                        <a:t>Field Installation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28702971"/>
                  </a:ext>
                </a:extLst>
              </a:tr>
              <a:tr h="219414">
                <a:tc>
                  <a:txBody>
                    <a:bodyPr/>
                    <a:lstStyle/>
                    <a:p>
                      <a:pPr algn="l" rtl="0" fontAlgn="b">
                        <a:buNone/>
                      </a:pPr>
                      <a:r>
                        <a:rPr lang="en-US" sz="1000" u="none" strike="noStrike" dirty="0">
                          <a:effectLst/>
                        </a:rPr>
                        <a:t>Deployment - CWDM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4456911"/>
                  </a:ext>
                </a:extLst>
              </a:tr>
              <a:tr h="343749">
                <a:tc>
                  <a:txBody>
                    <a:bodyPr/>
                    <a:lstStyle/>
                    <a:p>
                      <a:pPr algn="l" rtl="0" fontAlgn="b">
                        <a:buNone/>
                      </a:pPr>
                      <a:r>
                        <a:rPr lang="en-US" sz="1000" u="none" strike="noStrike" dirty="0">
                          <a:effectLst/>
                        </a:rPr>
                        <a:t>Pre-Deployment Deployment -          Security &amp; Radio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5%</a:t>
                      </a:r>
                      <a:endParaRPr lang="en-US" sz="11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val="763113042"/>
                  </a:ext>
                </a:extLst>
              </a:tr>
              <a:tr h="343749">
                <a:tc>
                  <a:txBody>
                    <a:bodyPr/>
                    <a:lstStyle/>
                    <a:p>
                      <a:pPr algn="l" rtl="0" fontAlgn="b">
                        <a:buNone/>
                      </a:pPr>
                      <a:r>
                        <a:rPr lang="en-US" sz="1000" u="none" strike="noStrike">
                          <a:effectLst/>
                        </a:rPr>
                        <a:t>Deployment - Relay/RTU Cutover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not started</a:t>
                      </a:r>
                    </a:p>
                  </a:txBody>
                  <a:tcPr marL="6350" marR="6350" marT="6350" marB="0" anchor="b"/>
                </a:tc>
                <a:extLst>
                  <a:ext uri="{0D108BD9-81ED-4DB2-BD59-A6C34878D82A}">
                    <a16:rowId xmlns:a16="http://schemas.microsoft.com/office/drawing/2014/main" val="4102666781"/>
                  </a:ext>
                </a:extLst>
              </a:tr>
            </a:tbl>
          </a:graphicData>
        </a:graphic>
      </p:graphicFrame>
      <p:sp>
        <p:nvSpPr>
          <p:cNvPr id="11" name="TextBox 10"/>
          <p:cNvSpPr txBox="1"/>
          <p:nvPr/>
        </p:nvSpPr>
        <p:spPr>
          <a:xfrm>
            <a:off x="228600" y="5806440"/>
            <a:ext cx="8412480" cy="411480"/>
          </a:xfrm>
          <a:prstGeom prst="rect">
            <a:avLst/>
          </a:prstGeom>
          <a:noFill/>
        </p:spPr>
        <p:txBody>
          <a:bodyPr wrap="square">
            <a:spAutoFit/>
          </a:bodyPr>
          <a:lstStyle/>
          <a:p>
            <a:pPr algn="l"/>
            <a:r>
              <a:rPr b="0" sz="750" i="1">
                <a:solidFill>
                  <a:srgbClr val="856404"/>
                </a:solidFill>
              </a:rPr>
              <a:t>⚠ Vik (Mar 16): "Sub-phases of Phase 1 aren't being documented and separated — leading to inaccurate reporting. Phase 1 has several micro-phases. Even though we've completed some, the entire phase is NOT complete. People don't come back and say '31 is all done — everything about 31 is done.' It's not that kind of project."</a:t>
            </a:r>
          </a:p>
        </p:txBody>
      </p:sp>
    </p:spTree>
    <p:extLst>
      <p:ext uri="{BB962C8B-B14F-4D97-AF65-F5344CB8AC3E}">
        <p14:creationId xmlns:p14="http://schemas.microsoft.com/office/powerpoint/2010/main" val="1417963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204FD2-C527-D8B9-A788-0D242A78DE3D}"/>
              </a:ext>
            </a:extLst>
          </p:cNvPr>
          <p:cNvSpPr txBox="1"/>
          <p:nvPr/>
        </p:nvSpPr>
        <p:spPr>
          <a:xfrm>
            <a:off x="643467" y="651752"/>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kern="1200" dirty="0">
                <a:solidFill>
                  <a:schemeClr val="bg1"/>
                </a:solidFill>
                <a:latin typeface="+mj-lt"/>
                <a:ea typeface="+mj-ea"/>
                <a:cs typeface="+mj-cs"/>
              </a:rPr>
              <a:t>Phase 1 – Layer 1-3 configuration – Next steps  </a:t>
            </a:r>
          </a:p>
        </p:txBody>
      </p:sp>
      <p:graphicFrame>
        <p:nvGraphicFramePr>
          <p:cNvPr id="8" name="Table 7">
            <a:extLst>
              <a:ext uri="{FF2B5EF4-FFF2-40B4-BE49-F238E27FC236}">
                <a16:creationId xmlns:a16="http://schemas.microsoft.com/office/drawing/2014/main" id="{4EE937DA-E63A-38EB-953F-746B2D530FFB}"/>
              </a:ext>
            </a:extLst>
          </p:cNvPr>
          <p:cNvGraphicFramePr>
            <a:graphicFrameLocks noGrp="1"/>
          </p:cNvGraphicFramePr>
          <p:nvPr>
            <p:extLst>
              <p:ext uri="{D42A27DB-BD31-4B8C-83A1-F6EECF244321}">
                <p14:modId xmlns:p14="http://schemas.microsoft.com/office/powerpoint/2010/main" val="1690904527"/>
              </p:ext>
            </p:extLst>
          </p:nvPr>
        </p:nvGraphicFramePr>
        <p:xfrm>
          <a:off x="643467" y="1873958"/>
          <a:ext cx="11060853" cy="4087929"/>
        </p:xfrm>
        <a:graphic>
          <a:graphicData uri="http://schemas.openxmlformats.org/drawingml/2006/table">
            <a:tbl>
              <a:tblPr/>
              <a:tblGrid>
                <a:gridCol w="2034979">
                  <a:extLst>
                    <a:ext uri="{9D8B030D-6E8A-4147-A177-3AD203B41FA5}">
                      <a16:colId xmlns:a16="http://schemas.microsoft.com/office/drawing/2014/main" val="639203627"/>
                    </a:ext>
                  </a:extLst>
                </a:gridCol>
                <a:gridCol w="5498432">
                  <a:extLst>
                    <a:ext uri="{9D8B030D-6E8A-4147-A177-3AD203B41FA5}">
                      <a16:colId xmlns:a16="http://schemas.microsoft.com/office/drawing/2014/main" val="2492720301"/>
                    </a:ext>
                  </a:extLst>
                </a:gridCol>
                <a:gridCol w="1070103">
                  <a:extLst>
                    <a:ext uri="{9D8B030D-6E8A-4147-A177-3AD203B41FA5}">
                      <a16:colId xmlns:a16="http://schemas.microsoft.com/office/drawing/2014/main" val="1030227231"/>
                    </a:ext>
                  </a:extLst>
                </a:gridCol>
                <a:gridCol w="1216223">
                  <a:extLst>
                    <a:ext uri="{9D8B030D-6E8A-4147-A177-3AD203B41FA5}">
                      <a16:colId xmlns:a16="http://schemas.microsoft.com/office/drawing/2014/main" val="585339364"/>
                    </a:ext>
                  </a:extLst>
                </a:gridCol>
                <a:gridCol w="1241116">
                  <a:extLst>
                    <a:ext uri="{9D8B030D-6E8A-4147-A177-3AD203B41FA5}">
                      <a16:colId xmlns:a16="http://schemas.microsoft.com/office/drawing/2014/main" val="1405953580"/>
                    </a:ext>
                  </a:extLst>
                </a:gridCol>
              </a:tblGrid>
              <a:tr h="433388">
                <a:tc>
                  <a:txBody>
                    <a:bodyPr/>
                    <a:lstStyle/>
                    <a:p>
                      <a:pPr algn="ctr" fontAlgn="t">
                        <a:buNone/>
                      </a:pPr>
                      <a:r>
                        <a:rPr lang="en-US" sz="1200" b="0" i="0" u="none" strike="noStrike" dirty="0">
                          <a:solidFill>
                            <a:srgbClr val="FFFFFF"/>
                          </a:solidFill>
                          <a:effectLst/>
                          <a:latin typeface="Aptos Narrow" panose="020B0004020202020204" pitchFamily="34" charset="0"/>
                        </a:rPr>
                        <a:t>Mobilization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ptos Narrow" panose="020B0004020202020204" pitchFamily="34" charset="0"/>
                          <a:ea typeface="+mn-ea"/>
                          <a:cs typeface="+mn-cs"/>
                        </a:rPr>
                        <a:t>Description</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Responsible Stakeholder</a:t>
                      </a:r>
                      <a:endParaRPr lang="en-US" sz="2000" b="0" i="0" u="none" strike="noStrike">
                        <a:effectLst/>
                        <a:latin typeface="Arial" panose="020B0604020202020204" pitchFamily="34" charset="0"/>
                      </a:endParaRPr>
                    </a:p>
                  </a:txBody>
                  <a:tcPr marL="7114" marR="7114" marT="7114"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ctr">
                        <a:buNone/>
                      </a:pPr>
                      <a:r>
                        <a:rPr lang="en-US" sz="1200" b="0" i="0" u="none" strike="noStrike">
                          <a:solidFill>
                            <a:srgbClr val="FFFFFF"/>
                          </a:solidFill>
                          <a:effectLst/>
                          <a:latin typeface="Aptos Narrow" panose="020B0004020202020204" pitchFamily="34" charset="0"/>
                        </a:rPr>
                        <a:t>Present On Site </a:t>
                      </a:r>
                      <a:endParaRPr lang="en-US" sz="2000" b="0" i="0" u="none" strike="noStrike">
                        <a:effectLst/>
                        <a:latin typeface="Arial" panose="020B0604020202020204" pitchFamily="34" charset="0"/>
                      </a:endParaRPr>
                    </a:p>
                  </a:txBody>
                  <a:tcPr marL="7114" marR="7114" marT="7114" marB="0" anchor="ctr">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Estimated Duration/Site</a:t>
                      </a:r>
                      <a:endParaRPr lang="en-US" sz="2000" b="0" i="0" u="none" strike="noStrike">
                        <a:effectLst/>
                        <a:latin typeface="Arial" panose="020B0604020202020204" pitchFamily="34" charset="0"/>
                      </a:endParaRPr>
                    </a:p>
                  </a:txBody>
                  <a:tcPr marL="7114" marR="7114" marT="7114" marB="0" anchor="b">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extLst>
                  <a:ext uri="{0D108BD9-81ED-4DB2-BD59-A6C34878D82A}">
                    <a16:rowId xmlns:a16="http://schemas.microsoft.com/office/drawing/2014/main" val="3674121576"/>
                  </a:ext>
                </a:extLst>
              </a:tr>
              <a:tr h="1009684">
                <a:tc>
                  <a:txBody>
                    <a:bodyPr/>
                    <a:lstStyle/>
                    <a:p>
                      <a:pPr algn="l" fontAlgn="ctr">
                        <a:buNone/>
                      </a:pPr>
                      <a:r>
                        <a:rPr lang="en-US" sz="1200" b="0" i="0" u="none" strike="noStrike">
                          <a:solidFill>
                            <a:srgbClr val="000000"/>
                          </a:solidFill>
                          <a:effectLst/>
                          <a:latin typeface="Aptos Narrow" panose="020B0004020202020204" pitchFamily="34" charset="0"/>
                        </a:rPr>
                        <a:t>Initial Installation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Clr>
                          <a:srgbClr val="000000"/>
                        </a:buClr>
                        <a:buSzPts val="1100"/>
                        <a:buFont typeface="Aptos Narrow" panose="020B0004020202020204" pitchFamily="34" charset="0"/>
                        <a:buNone/>
                      </a:pP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power feeds - </a:t>
                      </a:r>
                      <a:r>
                        <a:rPr lang="en-US" sz="1200" b="0" i="0" u="none" strike="noStrike" dirty="0">
                          <a:solidFill>
                            <a:srgbClr val="00B050"/>
                          </a:solidFill>
                          <a:effectLst/>
                          <a:latin typeface="Aptos Narrow" panose="020B0004020202020204" pitchFamily="34" charset="0"/>
                        </a:rPr>
                        <a:t>Completed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Power MPLS router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new communication cables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endParaRPr lang="en-US" sz="1200" b="0" i="0" u="none" strike="noStrike" dirty="0">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BMcD,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24325104"/>
                  </a:ext>
                </a:extLst>
              </a:tr>
              <a:tr h="625487">
                <a:tc>
                  <a:txBody>
                    <a:bodyPr/>
                    <a:lstStyle/>
                    <a:p>
                      <a:pPr algn="l" fontAlgn="ctr">
                        <a:buNone/>
                      </a:pPr>
                      <a:r>
                        <a:rPr lang="en-US" sz="1200" b="0" i="0" u="none" strike="noStrike">
                          <a:solidFill>
                            <a:srgbClr val="000000"/>
                          </a:solidFill>
                          <a:effectLst/>
                          <a:latin typeface="Aptos Narrow" panose="020B0004020202020204" pitchFamily="34" charset="0"/>
                        </a:rPr>
                        <a:t>Fiber Integration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JMUX OC-48 Circuits &amp; Nokia MPLS over CWDM filters  - </a:t>
                      </a:r>
                      <a:r>
                        <a:rPr lang="en-US" sz="1200" b="0" i="0" u="none" strike="noStrike">
                          <a:solidFill>
                            <a:srgbClr val="00B050"/>
                          </a:solidFill>
                          <a:effectLst/>
                          <a:latin typeface="Aptos Narrow" panose="020B0004020202020204" pitchFamily="34" charset="0"/>
                        </a:rPr>
                        <a:t>Completed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new MPLS parallel links  -</a:t>
                      </a:r>
                      <a:r>
                        <a:rPr lang="en-US" sz="1200" b="0" i="0" u="none" strike="noStrike">
                          <a:solidFill>
                            <a:srgbClr val="00B050"/>
                          </a:solidFill>
                          <a:effectLst/>
                          <a:latin typeface="Aptos Narrow" panose="020B0004020202020204" pitchFamily="34" charset="0"/>
                        </a:rPr>
                        <a:t> Completed</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Nokia parallel network &amp; connectivity - </a:t>
                      </a:r>
                      <a:r>
                        <a:rPr lang="en-US" sz="1200" b="0" i="0" u="none" strike="noStrike">
                          <a:solidFill>
                            <a:srgbClr val="00B050"/>
                          </a:solidFill>
                          <a:effectLst/>
                          <a:latin typeface="Aptos Narrow" panose="020B0004020202020204" pitchFamily="34" charset="0"/>
                        </a:rPr>
                        <a:t>Completed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1 Week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1288650"/>
                  </a:ext>
                </a:extLst>
              </a:tr>
              <a:tr h="1393883">
                <a:tc>
                  <a:txBody>
                    <a:bodyPr/>
                    <a:lstStyle/>
                    <a:p>
                      <a:pPr algn="l" fontAlgn="ctr">
                        <a:buNone/>
                      </a:pPr>
                      <a:r>
                        <a:rPr lang="en-US" sz="1200" b="0" i="0" u="none" strike="noStrike">
                          <a:solidFill>
                            <a:srgbClr val="000000"/>
                          </a:solidFill>
                          <a:effectLst/>
                          <a:latin typeface="Aptos Narrow" panose="020B0004020202020204" pitchFamily="34" charset="0"/>
                        </a:rPr>
                        <a:t>Layer 3 Connect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Establish Ethernet circuits with Nokia MPLS in paralled with JMUX where possible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Security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FEMA 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Two-way Radio</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DSCADA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MicroPAQ</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1813853"/>
                  </a:ext>
                </a:extLst>
              </a:tr>
              <a:tr h="625487">
                <a:tc>
                  <a:txBody>
                    <a:bodyPr/>
                    <a:lstStyle/>
                    <a:p>
                      <a:pPr algn="l" fontAlgn="ctr">
                        <a:buNone/>
                      </a:pPr>
                      <a:r>
                        <a:rPr lang="en-US" sz="1200" b="0" i="0" u="none" strike="noStrike" dirty="0">
                          <a:solidFill>
                            <a:srgbClr val="000000"/>
                          </a:solidFill>
                          <a:effectLst/>
                          <a:latin typeface="Aptos Narrow" panose="020B0004020202020204" pitchFamily="34" charset="0"/>
                        </a:rPr>
                        <a:t> Layer 1 </a:t>
                      </a:r>
                      <a:endParaRPr lang="en-US" sz="2000" b="0" i="0" u="none" strike="noStrike" dirty="0">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Cutover of relay and RTU circuits from JMUX to MPLS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Cutover any other circuits (PAR, DRD, etc.) as possble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Only RTUs/Circuits with no dependency on other JMUX rings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 (Relay)</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5 days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30843798"/>
                  </a:ext>
                </a:extLst>
              </a:tr>
            </a:tbl>
          </a:graphicData>
        </a:graphic>
      </p:graphicFrame>
    </p:spTree>
    <p:extLst>
      <p:ext uri="{BB962C8B-B14F-4D97-AF65-F5344CB8AC3E}">
        <p14:creationId xmlns:p14="http://schemas.microsoft.com/office/powerpoint/2010/main" val="314420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 y="4037992"/>
            <a:ext cx="6254880" cy="1366317"/>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CAT6 cable run completed by Hawkeye 				03/04/2026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OTDR testing completed from Hicksville to Syosset , found bad filter 		                                03/09/2026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First batch of IFR(3) have been converted to IFC and uploaded to shared drive	                                03/09/2026</a:t>
            </a:r>
          </a:p>
          <a:p>
            <a:r>
              <a:rPr lang="en-US" sz="800" dirty="0">
                <a:ea typeface="Times New Roman" panose="02020603050405020304" pitchFamily="18" charset="0"/>
              </a:rPr>
              <a:t>	</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lumMod val="85000"/>
            </a:schemeClr>
          </a:solidFill>
          <a:ln w="12700">
            <a:solidFill>
              <a:prstClr val="black"/>
            </a:solidFill>
          </a:ln>
        </p:spPr>
        <p:txBody>
          <a:bodyPr anchor="ctr"/>
          <a:lstStyle/>
          <a:p>
            <a:pPr algn="ctr"/>
            <a:r>
              <a:rPr lang="en-US" altLang="en-US" sz="2400" dirty="0"/>
              <a:t>JMUX Replacement</a:t>
            </a: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21027" cy="2082214"/>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51516">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73199">
                <a:tc>
                  <a:txBody>
                    <a:bodyPr/>
                    <a:lstStyle/>
                    <a:p>
                      <a:pPr marL="0" marR="0" algn="l">
                        <a:spcBef>
                          <a:spcPts val="600"/>
                        </a:spcBef>
                        <a:spcAft>
                          <a:spcPts val="0"/>
                        </a:spcAft>
                      </a:pPr>
                      <a:r>
                        <a:rPr lang="en-GB" sz="1000" dirty="0">
                          <a:solidFill>
                            <a:schemeClr val="tx1"/>
                          </a:solidFill>
                          <a:effectLst/>
                        </a:rPr>
                        <a:t>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381803">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Yellow</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381803">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381803">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381803">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381803">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906763" cy="83269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03/13/2026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1" y="2902834"/>
            <a:ext cx="3194778" cy="1130582"/>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Start 		</a:t>
            </a:r>
            <a:r>
              <a:rPr lang="en-US" sz="800" dirty="0">
                <a:solidFill>
                  <a:schemeClr val="tx1"/>
                </a:solidFill>
                <a:latin typeface="Arial" panose="020B0604020202020204" pitchFamily="34" charset="0"/>
                <a:ea typeface="Times New Roman" panose="02020603050405020304" pitchFamily="18" charset="0"/>
              </a:rPr>
              <a:t>03-01-2024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Start 		</a:t>
            </a:r>
            <a:r>
              <a:rPr lang="en-US" sz="800" dirty="0">
                <a:solidFill>
                  <a:schemeClr val="tx1"/>
                </a:solidFill>
                <a:latin typeface="Arial" panose="020B0604020202020204" pitchFamily="34" charset="0"/>
                <a:ea typeface="Times New Roman" panose="02020603050405020304" pitchFamily="18" charset="0"/>
              </a:rPr>
              <a:t>04-18-2024</a:t>
            </a:r>
          </a:p>
          <a:p>
            <a:pPr>
              <a:tabLst>
                <a:tab pos="1260475" algn="l"/>
                <a:tab pos="2457450" algn="l"/>
              </a:tabLst>
            </a:pPr>
            <a:r>
              <a:rPr lang="en-GB" sz="800" dirty="0">
                <a:solidFill>
                  <a:schemeClr val="tx1"/>
                </a:solidFill>
                <a:latin typeface="Arial" panose="020B0604020202020204" pitchFamily="34" charset="0"/>
                <a:ea typeface="Times New Roman" panose="02020603050405020304" pitchFamily="18" charset="0"/>
              </a:rPr>
              <a:t>Go-Live/In Service/Next Sprint Release	</a:t>
            </a:r>
            <a:r>
              <a:rPr lang="en-US" sz="800" dirty="0">
                <a:solidFill>
                  <a:schemeClr val="tx1"/>
                </a:solidFill>
                <a:latin typeface="Arial" panose="020B0604020202020204" pitchFamily="34" charset="0"/>
                <a:ea typeface="Times New Roman" panose="02020603050405020304" pitchFamily="18" charset="0"/>
              </a:rPr>
              <a:t>01-01-2024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End 		</a:t>
            </a:r>
            <a:r>
              <a:rPr lang="en-US" sz="800" dirty="0">
                <a:solidFill>
                  <a:schemeClr val="tx1"/>
                </a:solidFill>
                <a:latin typeface="Arial" panose="020B0604020202020204" pitchFamily="34" charset="0"/>
                <a:ea typeface="Times New Roman" panose="02020603050405020304" pitchFamily="18" charset="0"/>
              </a:rPr>
              <a:t>04-08-2027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Target End 		</a:t>
            </a:r>
            <a:r>
              <a:rPr lang="en-US" sz="800" dirty="0">
                <a:solidFill>
                  <a:schemeClr val="tx1"/>
                </a:solidFill>
                <a:latin typeface="Arial" panose="020B0604020202020204" pitchFamily="34" charset="0"/>
                <a:ea typeface="Times New Roman" panose="02020603050405020304" pitchFamily="18" charset="0"/>
              </a:rPr>
              <a:t>07-08-2027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94779" y="2901950"/>
            <a:ext cx="3080579" cy="112511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Project Financials /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WBS Code:                                                             I.39424.1.x</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LIPA approved total project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URB approved funding to date: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$4,437,070.00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$2,162,930.00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completion:	 $6,600,000.00 </a:t>
            </a:r>
          </a:p>
          <a:p>
            <a:pPr>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LIPA approved budget:	+/- $00.00</a:t>
            </a:r>
          </a:p>
          <a:p>
            <a:pPr lvl="0">
              <a:tabLst>
                <a:tab pos="2800350" algn="dec"/>
              </a:tabLst>
              <a:defRPr/>
            </a:pP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70720" y="1705230"/>
            <a:ext cx="5921280" cy="819368"/>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Benefit</a:t>
            </a:r>
            <a:endParaRPr lang="en-US" dirty="0"/>
          </a:p>
          <a:p>
            <a:pPr>
              <a:defRPr/>
            </a:pPr>
            <a:r>
              <a:rPr lang="en-US" sz="8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r>
              <a:rPr lang="en-GB" sz="800" dirty="0">
                <a:latin typeface="Arial" panose="020B0604020202020204" pitchFamily="34" charset="0"/>
                <a:ea typeface="Times New Roman" panose="02020603050405020304" pitchFamily="18" charset="0"/>
              </a:rPr>
              <a:t> </a:t>
            </a:r>
            <a:endParaRPr lang="en-US" sz="800" dirty="0">
              <a:latin typeface="Arial" panose="020B0604020202020204" pitchFamily="34" charset="0"/>
              <a:ea typeface="Times New Roman" panose="02020603050405020304" pitchFamily="18"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2524598"/>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rgbClr val="F7941D"/>
                </a:solidFill>
                <a:latin typeface="Arial" panose="020B0604020202020204" pitchFamily="34" charset="0"/>
                <a:cs typeface="Arial" panose="020B0604020202020204" pitchFamily="34" charset="0"/>
              </a:rPr>
              <a:t>Scope (65%-Complete)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800" dirty="0"/>
              <a:t>The purpose of this project is to install new Multiprotocol Label Switching (MPLS) nodes, remove existing GE Jungle MUX (JMUX) equipment, and design new circuits from the existing substation .</a:t>
            </a:r>
            <a:endParaRPr lang="en-US" sz="800" dirty="0">
              <a:solidFill>
                <a:schemeClr val="tx1"/>
              </a:solidFill>
              <a:latin typeface="Arial" panose="020B0604020202020204" pitchFamily="34" charset="0"/>
              <a:cs typeface="Arial" panose="020B0604020202020204" pitchFamily="34" charset="0"/>
            </a:endParaRPr>
          </a:p>
        </p:txBody>
      </p:sp>
      <p:sp>
        <p:nvSpPr>
          <p:cNvPr id="42" name="Text Box 44">
            <a:extLst>
              <a:ext uri="{FF2B5EF4-FFF2-40B4-BE49-F238E27FC236}">
                <a16:creationId xmlns:a16="http://schemas.microsoft.com/office/drawing/2014/main" id="{742DE467-4541-4411-A18E-7A2EB3246BE3}"/>
              </a:ext>
            </a:extLst>
          </p:cNvPr>
          <p:cNvSpPr txBox="1"/>
          <p:nvPr/>
        </p:nvSpPr>
        <p:spPr>
          <a:xfrm>
            <a:off x="0" y="5404311"/>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rgbClr val="28A745"/>
                </a:solidFill>
                <a:latin typeface="Arial" panose="020B0604020202020204" pitchFamily="34" charset="0"/>
                <a:ea typeface="Times New Roman" panose="02020603050405020304" pitchFamily="18" charset="0"/>
              </a:rPr>
              <a:t>✅ BGP design APPROVED Mar 16, 2026 — Lee Blackman to begin change documentation for Melville &amp; Hicksville Nokia integration.</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Receiving new set of IFRs on 03/13		                           		                                 03/13/2026 </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Fiber termination to the NSP will be completed by 3/13 by Hawkeye.		                                 03/13/2026</a:t>
            </a:r>
          </a:p>
          <a:p>
            <a:pPr marL="171450" indent="-171450">
              <a:buFont typeface="Arial" panose="020B0604020202020204" pitchFamily="34" charset="0"/>
              <a:buChar char="•"/>
            </a:pPr>
            <a:r>
              <a:rPr lang="en-US" sz="800" dirty="0">
                <a:solidFill>
                  <a:srgbClr val="DC3545"/>
                </a:solidFill>
                <a:latin typeface="Arial" panose="020B0604020202020204" pitchFamily="34" charset="0"/>
                <a:ea typeface="Times New Roman" panose="02020603050405020304" pitchFamily="18" charset="0"/>
              </a:rPr>
              <a:t>🔴 ILO configuration — Bill (B&amp;M) coordinating with Rahiq. Console cable &amp; firmware issue identified. CRITICAL PATH BLOCKER #1.
🔴 BGP config at Hicksville &amp; Melville (Lee) — pending ILO completion.
🔴 Remote access config — 31 routers pending BGP completion.</a:t>
            </a:r>
          </a:p>
          <a:p>
            <a:r>
              <a:rPr lang="en-US" sz="800" dirty="0">
                <a:solidFill>
                  <a:schemeClr val="tx1"/>
                </a:solidFill>
                <a:latin typeface="Arial" panose="020B0604020202020204" pitchFamily="34" charset="0"/>
                <a:ea typeface="Times New Roman" panose="02020603050405020304" pitchFamily="18" charset="0"/>
              </a:rPr>
              <a:t>      corporate directly into the managed servers)		                                                                 03/16/2026</a:t>
            </a:r>
          </a:p>
        </p:txBody>
      </p:sp>
      <p:sp>
        <p:nvSpPr>
          <p:cNvPr id="43" name="Text Box 48">
            <a:extLst>
              <a:ext uri="{FF2B5EF4-FFF2-40B4-BE49-F238E27FC236}">
                <a16:creationId xmlns:a16="http://schemas.microsoft.com/office/drawing/2014/main" id="{F58AB777-D75A-4987-A0B9-DC4DA02EF15F}"/>
              </a:ext>
            </a:extLst>
          </p:cNvPr>
          <p:cNvSpPr txBox="1"/>
          <p:nvPr/>
        </p:nvSpPr>
        <p:spPr>
          <a:xfrm>
            <a:off x="6258911" y="5397961"/>
            <a:ext cx="5921937"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descending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Other projects and work being done at the substation simultaneously </a:t>
            </a:r>
          </a:p>
          <a:p>
            <a:pPr marL="171450" indent="-171450">
              <a:buFont typeface="Arial" panose="020B0604020202020204" pitchFamily="34" charset="0"/>
              <a:buChar char="•"/>
              <a:tabLst>
                <a:tab pos="4857750" algn="r"/>
              </a:tabLst>
            </a:pPr>
            <a:endParaRPr lang="en-US" sz="800" dirty="0">
              <a:latin typeface="Arial" panose="020B0604020202020204" pitchFamily="34" charset="0"/>
              <a:cs typeface="Arial" panose="020B0604020202020204" pitchFamily="34" charset="0"/>
            </a:endParaRPr>
          </a:p>
        </p:txBody>
      </p:sp>
      <p:sp>
        <p:nvSpPr>
          <p:cNvPr id="44" name="Text Box 47">
            <a:extLst>
              <a:ext uri="{FF2B5EF4-FFF2-40B4-BE49-F238E27FC236}">
                <a16:creationId xmlns:a16="http://schemas.microsoft.com/office/drawing/2014/main" id="{BBA6DA4A-2903-4034-B47F-A4721929DA70}"/>
              </a:ext>
            </a:extLst>
          </p:cNvPr>
          <p:cNvSpPr txBox="1"/>
          <p:nvPr/>
        </p:nvSpPr>
        <p:spPr>
          <a:xfrm>
            <a:off x="6258912" y="6096000"/>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descending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Equipment procurement and delays in SCM.</a:t>
            </a:r>
            <a:endParaRPr lang="en-US" sz="1000" dirty="0">
              <a:latin typeface="Arial" panose="020B0604020202020204" pitchFamily="34" charset="0"/>
              <a:ea typeface="Times New Roman" panose="02020603050405020304" pitchFamily="18" charset="0"/>
            </a:endParaRPr>
          </a:p>
          <a:p>
            <a:pPr marL="342900" indent="-342900">
              <a:buFont typeface="Symbol" panose="05050102010706020507" pitchFamily="18" charset="2"/>
              <a:buChar char=""/>
              <a:tabLst>
                <a:tab pos="4857750" algn="r"/>
              </a:tabLst>
            </a:pP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54881" y="4406680"/>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249937" y="-1302"/>
            <a:ext cx="2935564" cy="39264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 </a:t>
            </a:r>
            <a:r>
              <a:rPr lang="en-US" sz="1000" dirty="0">
                <a:hlinkClick r:id="rId2"/>
              </a:rPr>
              <a:t>JMUX Repository</a:t>
            </a:r>
            <a:endParaRPr lang="en-US" sz="1000" dirty="0">
              <a:latin typeface="Arial" panose="020B0604020202020204" pitchFamily="34" charset="0"/>
              <a:ea typeface="Times New Roman" panose="02020603050405020304" pitchFamily="18" charset="0"/>
            </a:endParaRPr>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08693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Lifecycle Phase</a:t>
            </a:r>
            <a:r>
              <a:rPr lang="en-GB" sz="1000" b="1" dirty="0">
                <a:solidFill>
                  <a:schemeClr val="tx1"/>
                </a:solidFill>
                <a:latin typeface="Arial" panose="020B0604020202020204" pitchFamily="34" charset="0"/>
                <a:ea typeface="Times New Roman" panose="02020603050405020304" pitchFamily="18" charset="0"/>
              </a:rPr>
              <a:t>: </a:t>
            </a:r>
          </a:p>
          <a:p>
            <a:pPr>
              <a:spcAft>
                <a:spcPts val="300"/>
              </a:spcAft>
              <a:tabLst>
                <a:tab pos="2057400" algn="r"/>
              </a:tabLst>
            </a:pPr>
            <a:r>
              <a:rPr lang="en-GB" sz="800" dirty="0">
                <a:solidFill>
                  <a:schemeClr val="tx1"/>
                </a:solidFill>
                <a:latin typeface="Arial" panose="020B0604020202020204" pitchFamily="34" charset="0"/>
                <a:ea typeface="Times New Roman" panose="02020603050405020304" pitchFamily="18" charset="0"/>
              </a:rPr>
              <a:t>Execution</a:t>
            </a:r>
            <a:endParaRPr lang="en-GB" sz="800" dirty="0">
              <a:solidFill>
                <a:schemeClr val="tx1"/>
              </a:solidFill>
              <a:latin typeface="Arial" panose="020B0604020202020204" pitchFamily="34" charset="0"/>
            </a:endParaRPr>
          </a:p>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00" b="1" u="sng" dirty="0">
              <a:solidFill>
                <a:schemeClr val="tx1"/>
              </a:solidFill>
              <a:latin typeface="Arial" panose="020B0604020202020204" pitchFamily="34" charset="0"/>
              <a:ea typeface="Times New Roman" panose="02020603050405020304" pitchFamily="18" charset="0"/>
            </a:endParaRP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CAT6 cable run completed on 03/04</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Fiber termination to the NSP will be completed by 3/13 by Hawkeye.</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rgbClr val="F7941D"/>
                </a:solidFill>
                <a:latin typeface="Arial" panose="020B0604020202020204" pitchFamily="34" charset="0"/>
                <a:ea typeface="Times New Roman" panose="02020603050405020304" pitchFamily="18" charset="0"/>
              </a:rPr>
              <a:t>✅ BGP design approved Mar 16 — Lee Blackman to proceed with Melville &amp; Hicksville change docs. NSP = critical path.</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 ✅ Northport DC power RESOLVED — Relay team ran new feed to fuse, eliminating tripping issue (3/18/2026). </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Receiving new set of IFRs on 03/13</a:t>
            </a:r>
            <a:endParaRPr lang="en-US" sz="800" dirty="0">
              <a:solidFill>
                <a:schemeClr val="tx1"/>
              </a:solidFill>
            </a:endParaRPr>
          </a:p>
          <a:p>
            <a:pPr>
              <a:spcAft>
                <a:spcPts val="300"/>
              </a:spcAft>
              <a:tabLst>
                <a:tab pos="2057400" algn="r"/>
              </a:tabLst>
            </a:pPr>
            <a:r>
              <a:rPr lang="en-US" sz="1000" b="1" u="sng" dirty="0">
                <a:solidFill>
                  <a:schemeClr val="tx1"/>
                </a:solidFill>
                <a:latin typeface="Arial" panose="020B0604020202020204" pitchFamily="34" charset="0"/>
                <a:ea typeface="Times New Roman" panose="02020603050405020304" pitchFamily="18" charset="0"/>
              </a:rPr>
              <a:t>Remediation (For Non-Green Statuses)</a:t>
            </a:r>
          </a:p>
          <a:p>
            <a:pPr>
              <a:spcAft>
                <a:spcPts val="300"/>
              </a:spcAft>
              <a:tabLst>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Schedule : Plan to complete all the remote configuration of the routers and complete testing to bring the schedule back to green</a:t>
            </a:r>
            <a:endParaRPr lang="en-US" sz="800" dirty="0">
              <a:solidFill>
                <a:schemeClr val="tx1"/>
              </a:solidFill>
              <a:latin typeface="Arial" panose="020B0604020202020204" pitchFamily="34" charset="0"/>
              <a:ea typeface="Times New Roman" panose="02020603050405020304" pitchFamily="18" charset="0"/>
            </a:endParaRPr>
          </a:p>
        </p:txBody>
      </p:sp>
      <p:sp>
        <p:nvSpPr>
          <p:cNvPr id="52" name="Text Box 7">
            <a:extLst>
              <a:ext uri="{FF2B5EF4-FFF2-40B4-BE49-F238E27FC236}">
                <a16:creationId xmlns:a16="http://schemas.microsoft.com/office/drawing/2014/main" id="{50A5D7AB-3185-409B-9CFD-A028BA5B0763}"/>
              </a:ext>
            </a:extLst>
          </p:cNvPr>
          <p:cNvSpPr txBox="1"/>
          <p:nvPr/>
        </p:nvSpPr>
        <p:spPr>
          <a:xfrm>
            <a:off x="6270720" y="812878"/>
            <a:ext cx="5921280" cy="892351"/>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800" i="1"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16200000">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33">
            <a:extLst>
              <a:ext uri="{FF2B5EF4-FFF2-40B4-BE49-F238E27FC236}">
                <a16:creationId xmlns:a16="http://schemas.microsoft.com/office/drawing/2014/main" id="{7F53E16B-81D2-402C-AC8B-0F8C350C64E7}"/>
              </a:ext>
            </a:extLst>
          </p:cNvPr>
          <p:cNvSpPr/>
          <p:nvPr/>
        </p:nvSpPr>
        <p:spPr>
          <a:xfrm rot="5400000">
            <a:off x="5783087" y="1824899"/>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2DFF6007-A3FB-4869-99A4-2DF9E8D268F3}"/>
              </a:ext>
            </a:extLst>
          </p:cNvPr>
          <p:cNvGraphicFramePr>
            <a:graphicFrameLocks noGrp="1"/>
          </p:cNvGraphicFramePr>
          <p:nvPr/>
        </p:nvGraphicFramePr>
        <p:xfrm>
          <a:off x="6264484" y="3303048"/>
          <a:ext cx="5921940" cy="1132063"/>
        </p:xfrm>
        <a:graphic>
          <a:graphicData uri="http://schemas.openxmlformats.org/drawingml/2006/table">
            <a:tbl>
              <a:tblPr firstRow="1" bandRow="1">
                <a:tableStyleId>{5C22544A-7EE6-4342-B048-85BDC9FD1C3A}</a:tableStyleId>
              </a:tblPr>
              <a:tblGrid>
                <a:gridCol w="1885640">
                  <a:extLst>
                    <a:ext uri="{9D8B030D-6E8A-4147-A177-3AD203B41FA5}">
                      <a16:colId xmlns:a16="http://schemas.microsoft.com/office/drawing/2014/main" val="20000"/>
                    </a:ext>
                  </a:extLst>
                </a:gridCol>
                <a:gridCol w="3056738">
                  <a:extLst>
                    <a:ext uri="{9D8B030D-6E8A-4147-A177-3AD203B41FA5}">
                      <a16:colId xmlns:a16="http://schemas.microsoft.com/office/drawing/2014/main" val="20001"/>
                    </a:ext>
                  </a:extLst>
                </a:gridCol>
                <a:gridCol w="979562">
                  <a:extLst>
                    <a:ext uri="{9D8B030D-6E8A-4147-A177-3AD203B41FA5}">
                      <a16:colId xmlns:a16="http://schemas.microsoft.com/office/drawing/2014/main" val="20002"/>
                    </a:ext>
                  </a:extLst>
                </a:gridCol>
              </a:tblGrid>
              <a:tr h="278623">
                <a:tc gridSpan="3">
                  <a:txBody>
                    <a:bodyPr/>
                    <a:lstStyle/>
                    <a:p>
                      <a:pPr algn="ctr"/>
                      <a:r>
                        <a:rPr lang="en-US" sz="1000" b="1" u="sng" dirty="0">
                          <a:solidFill>
                            <a:schemeClr val="tx1"/>
                          </a:solidFill>
                        </a:rPr>
                        <a:t>Dependency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70925">
                <a:tc>
                  <a:txBody>
                    <a:bodyPr/>
                    <a:lstStyle/>
                    <a:p>
                      <a:pPr algn="ctr"/>
                      <a:r>
                        <a:rPr lang="en-US" sz="800" b="1" dirty="0"/>
                        <a:t>Project</a:t>
                      </a:r>
                    </a:p>
                  </a:txBody>
                  <a:tcPr>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pPr algn="ctr"/>
                      <a:r>
                        <a:rPr lang="en-US" sz="800" b="1" dirty="0"/>
                        <a:t>Deliverable</a:t>
                      </a:r>
                    </a:p>
                  </a:txBody>
                  <a:tcPr>
                    <a:solidFill>
                      <a:schemeClr val="accent3">
                        <a:lumMod val="60000"/>
                        <a:lumOff val="40000"/>
                      </a:schemeClr>
                    </a:solidFill>
                  </a:tcPr>
                </a:tc>
                <a:tc>
                  <a:txBody>
                    <a:bodyPr/>
                    <a:lstStyle/>
                    <a:p>
                      <a:pPr algn="ctr"/>
                      <a:r>
                        <a:rPr lang="en-US" sz="800" b="1" dirty="0"/>
                        <a:t>Date</a:t>
                      </a:r>
                    </a:p>
                  </a:txBody>
                  <a:tcPr>
                    <a:lnR w="12700" cap="flat" cmpd="sng" algn="ctr">
                      <a:solidFill>
                        <a:schemeClr val="tx1"/>
                      </a:solidFill>
                      <a:prstDash val="solid"/>
                      <a:round/>
                      <a:headEnd type="none" w="med" len="med"/>
                      <a:tailEnd type="none" w="med" len="med"/>
                    </a:lnR>
                    <a:solidFill>
                      <a:schemeClr val="accent3">
                        <a:lumMod val="60000"/>
                        <a:lumOff val="40000"/>
                      </a:schemeClr>
                    </a:solidFill>
                  </a:tcPr>
                </a:tc>
                <a:extLst>
                  <a:ext uri="{0D108BD9-81ED-4DB2-BD59-A6C34878D82A}">
                    <a16:rowId xmlns:a16="http://schemas.microsoft.com/office/drawing/2014/main" val="10001"/>
                  </a:ext>
                </a:extLst>
              </a:tr>
              <a:tr h="170925">
                <a:tc>
                  <a:txBody>
                    <a:bodyPr/>
                    <a:lstStyle/>
                    <a:p>
                      <a:r>
                        <a:rPr lang="en-US" sz="800" dirty="0">
                          <a:latin typeface="Arial" panose="020B0604020202020204" pitchFamily="34" charset="0"/>
                          <a:cs typeface="Arial" panose="020B0604020202020204" pitchFamily="34" charset="0"/>
                        </a:rPr>
                        <a:t>NA</a:t>
                      </a: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2"/>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3"/>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421505031"/>
                  </a:ext>
                </a:extLst>
              </a:tr>
            </a:tbl>
          </a:graphicData>
        </a:graphic>
      </p:graphicFrame>
      <p:sp>
        <p:nvSpPr>
          <p:cNvPr id="30" name="Text Box 6">
            <a:extLst>
              <a:ext uri="{FF2B5EF4-FFF2-40B4-BE49-F238E27FC236}">
                <a16:creationId xmlns:a16="http://schemas.microsoft.com/office/drawing/2014/main" id="{01308F76-0B61-47B3-9C87-8083E00E34E4}"/>
              </a:ext>
            </a:extLst>
          </p:cNvPr>
          <p:cNvSpPr txBox="1"/>
          <p:nvPr/>
        </p:nvSpPr>
        <p:spPr>
          <a:xfrm>
            <a:off x="9249794" y="596549"/>
            <a:ext cx="2935083" cy="211048"/>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32" name="Rectangle 31"/>
          <p:cNvSpPr/>
          <p:nvPr/>
        </p:nvSpPr>
        <p:spPr>
          <a:xfrm>
            <a:off x="10756163" y="657235"/>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1768197" y="657912"/>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6">
            <a:extLst>
              <a:ext uri="{FF2B5EF4-FFF2-40B4-BE49-F238E27FC236}">
                <a16:creationId xmlns:a16="http://schemas.microsoft.com/office/drawing/2014/main" id="{01308F76-0B61-47B3-9C87-8083E00E34E4}"/>
              </a:ext>
            </a:extLst>
          </p:cNvPr>
          <p:cNvSpPr txBox="1"/>
          <p:nvPr/>
        </p:nvSpPr>
        <p:spPr>
          <a:xfrm>
            <a:off x="9251648" y="390567"/>
            <a:ext cx="2935083" cy="20789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endParaRPr lang="en-US" sz="800" dirty="0">
              <a:solidFill>
                <a:schemeClr val="tx1"/>
              </a:solidFill>
              <a:latin typeface="Arial" panose="020B0604020202020204" pitchFamily="34" charset="0"/>
              <a:ea typeface="Times New Roman" panose="02020603050405020304" pitchFamily="18" charset="0"/>
            </a:endParaRPr>
          </a:p>
        </p:txBody>
      </p:sp>
      <p:sp>
        <p:nvSpPr>
          <p:cNvPr id="2" name="TextBox 1"/>
          <p:cNvSpPr txBox="1"/>
          <p:nvPr/>
        </p:nvSpPr>
        <p:spPr>
          <a:xfrm>
            <a:off x="11482827" y="6642556"/>
            <a:ext cx="714749" cy="184666"/>
          </a:xfrm>
          <a:prstGeom prst="rect">
            <a:avLst/>
          </a:prstGeom>
          <a:noFill/>
        </p:spPr>
        <p:txBody>
          <a:bodyPr wrap="square" rtlCol="0">
            <a:spAutoFit/>
          </a:bodyPr>
          <a:lstStyle/>
          <a:p>
            <a:r>
              <a:rPr lang="en-US" sz="600" dirty="0"/>
              <a:t>Version 3.0</a:t>
            </a:r>
          </a:p>
        </p:txBody>
      </p:sp>
    </p:spTree>
    <p:extLst>
      <p:ext uri="{BB962C8B-B14F-4D97-AF65-F5344CB8AC3E}">
        <p14:creationId xmlns:p14="http://schemas.microsoft.com/office/powerpoint/2010/main" val="2138560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634F-D3C6-E8CF-B607-CF78B911C7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A5F56E4-0ED8-5D2F-169D-E4D7DDF16EB8}"/>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1C90B10A-82EC-4DB7-EC6D-7998FD54B4D7}"/>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C060AE65-F7A1-7CD4-D48C-2354999E0916}"/>
              </a:ext>
            </a:extLst>
          </p:cNvPr>
          <p:cNvGraphicFramePr>
            <a:graphicFrameLocks noGrp="1"/>
          </p:cNvGraphicFramePr>
          <p:nvPr>
            <p:extLst>
              <p:ext uri="{D42A27DB-BD31-4B8C-83A1-F6EECF244321}">
                <p14:modId xmlns:p14="http://schemas.microsoft.com/office/powerpoint/2010/main" val="126070919"/>
              </p:ext>
            </p:extLst>
          </p:nvPr>
        </p:nvGraphicFramePr>
        <p:xfrm>
          <a:off x="612648" y="691945"/>
          <a:ext cx="9615422" cy="5155308"/>
        </p:xfrm>
        <a:graphic>
          <a:graphicData uri="http://schemas.openxmlformats.org/drawingml/2006/table">
            <a:tbl>
              <a:tblPr firstRow="1" bandRow="1">
                <a:tableStyleId>{F5AB1C69-6EDB-4FF4-983F-18BD219EF322}</a:tableStyleId>
              </a:tblPr>
              <a:tblGrid>
                <a:gridCol w="546570">
                  <a:extLst>
                    <a:ext uri="{9D8B030D-6E8A-4147-A177-3AD203B41FA5}">
                      <a16:colId xmlns:a16="http://schemas.microsoft.com/office/drawing/2014/main" val="3586926317"/>
                    </a:ext>
                  </a:extLst>
                </a:gridCol>
                <a:gridCol w="1999503">
                  <a:extLst>
                    <a:ext uri="{9D8B030D-6E8A-4147-A177-3AD203B41FA5}">
                      <a16:colId xmlns:a16="http://schemas.microsoft.com/office/drawing/2014/main" val="3683718648"/>
                    </a:ext>
                  </a:extLst>
                </a:gridCol>
                <a:gridCol w="1078748">
                  <a:extLst>
                    <a:ext uri="{9D8B030D-6E8A-4147-A177-3AD203B41FA5}">
                      <a16:colId xmlns:a16="http://schemas.microsoft.com/office/drawing/2014/main" val="789135036"/>
                    </a:ext>
                  </a:extLst>
                </a:gridCol>
                <a:gridCol w="1112858">
                  <a:extLst>
                    <a:ext uri="{9D8B030D-6E8A-4147-A177-3AD203B41FA5}">
                      <a16:colId xmlns:a16="http://schemas.microsoft.com/office/drawing/2014/main" val="2765420810"/>
                    </a:ext>
                  </a:extLst>
                </a:gridCol>
                <a:gridCol w="1191691">
                  <a:extLst>
                    <a:ext uri="{9D8B030D-6E8A-4147-A177-3AD203B41FA5}">
                      <a16:colId xmlns:a16="http://schemas.microsoft.com/office/drawing/2014/main" val="3759070369"/>
                    </a:ext>
                  </a:extLst>
                </a:gridCol>
                <a:gridCol w="1697383">
                  <a:extLst>
                    <a:ext uri="{9D8B030D-6E8A-4147-A177-3AD203B41FA5}">
                      <a16:colId xmlns:a16="http://schemas.microsoft.com/office/drawing/2014/main" val="2034665736"/>
                    </a:ext>
                  </a:extLst>
                </a:gridCol>
                <a:gridCol w="1988669">
                  <a:extLst>
                    <a:ext uri="{9D8B030D-6E8A-4147-A177-3AD203B41FA5}">
                      <a16:colId xmlns:a16="http://schemas.microsoft.com/office/drawing/2014/main" val="4238625106"/>
                    </a:ext>
                  </a:extLst>
                </a:gridCol>
              </a:tblGrid>
              <a:tr h="450605">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IFR</a:t>
                      </a:r>
                    </a:p>
                    <a:p>
                      <a:pPr algn="ctr"/>
                      <a:endParaRPr lang="en-US" sz="1200" dirty="0"/>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62733">
                <a:tc>
                  <a:txBody>
                    <a:bodyPr/>
                    <a:lstStyle/>
                    <a:p>
                      <a:pPr marL="0" algn="ctr" defTabSz="914400" rtl="0" eaLnBrk="1" latinLnBrk="0" hangingPunct="1"/>
                      <a:r>
                        <a:rPr lang="en-US" sz="1200" kern="1200" dirty="0">
                          <a:solidFill>
                            <a:schemeClr val="dk1"/>
                          </a:solidFill>
                          <a:latin typeface="+mn-lt"/>
                          <a:ea typeface="+mn-ea"/>
                          <a:cs typeface="+mn-cs"/>
                        </a:rPr>
                        <a:t>1</a:t>
                      </a:r>
                    </a:p>
                  </a:txBody>
                  <a:tcPr anchor="ctr"/>
                </a:tc>
                <a:tc>
                  <a:txBody>
                    <a:bodyPr/>
                    <a:lstStyle/>
                    <a:p>
                      <a:pPr algn="l" fontAlgn="b">
                        <a:buNone/>
                      </a:pPr>
                      <a:r>
                        <a:rPr lang="en-US" sz="1200" u="none" strike="noStrike" dirty="0">
                          <a:effectLst/>
                        </a:rPr>
                        <a:t>7RM Bayport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1370786517"/>
                  </a:ext>
                </a:extLst>
              </a:tr>
              <a:tr h="2754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2</a:t>
                      </a:r>
                    </a:p>
                  </a:txBody>
                  <a:tcPr anchor="ctr"/>
                </a:tc>
                <a:tc>
                  <a:txBody>
                    <a:bodyPr/>
                    <a:lstStyle/>
                    <a:p>
                      <a:pPr algn="l" fontAlgn="b">
                        <a:buNone/>
                      </a:pPr>
                      <a:r>
                        <a:rPr lang="en-US" sz="1200" u="none" strike="noStrike" dirty="0">
                          <a:effectLst/>
                        </a:rPr>
                        <a:t>7R Sayville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64850426"/>
                  </a:ext>
                </a:extLst>
              </a:tr>
              <a:tr h="3054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a:t>
                      </a:r>
                    </a:p>
                  </a:txBody>
                  <a:tcPr anchor="ctr"/>
                </a:tc>
                <a:tc>
                  <a:txBody>
                    <a:bodyPr/>
                    <a:lstStyle/>
                    <a:p>
                      <a:pPr algn="l" fontAlgn="b">
                        <a:buNone/>
                      </a:pPr>
                      <a:r>
                        <a:rPr lang="en-US" sz="1200" u="none" strike="noStrike" dirty="0">
                          <a:effectLst/>
                        </a:rPr>
                        <a:t>7XM Great River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4</a:t>
                      </a:r>
                    </a:p>
                  </a:txBody>
                  <a:tcPr anchor="ctr"/>
                </a:tc>
                <a:tc>
                  <a:txBody>
                    <a:bodyPr/>
                    <a:lstStyle/>
                    <a:p>
                      <a:pPr algn="l" fontAlgn="b">
                        <a:buNone/>
                      </a:pPr>
                      <a:r>
                        <a:rPr lang="en-US" sz="1200" u="none" strike="noStrike" dirty="0">
                          <a:effectLst/>
                        </a:rPr>
                        <a:t>7XM Great River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3444944646"/>
                  </a:ext>
                </a:extLst>
              </a:tr>
              <a:tr h="313191">
                <a:tc>
                  <a:txBody>
                    <a:bodyPr/>
                    <a:lstStyle/>
                    <a:p>
                      <a:pPr marL="0" algn="ctr" defTabSz="914400" rtl="0" eaLnBrk="1" latinLnBrk="0" hangingPunct="1"/>
                      <a:r>
                        <a:rPr lang="en-US" sz="1200" kern="1200" dirty="0">
                          <a:solidFill>
                            <a:schemeClr val="dk1"/>
                          </a:solidFill>
                          <a:latin typeface="+mn-lt"/>
                          <a:ea typeface="+mn-ea"/>
                          <a:cs typeface="+mn-cs"/>
                        </a:rPr>
                        <a:t>5</a:t>
                      </a:r>
                    </a:p>
                  </a:txBody>
                  <a:tcPr anchor="ctr"/>
                </a:tc>
                <a:tc>
                  <a:txBody>
                    <a:bodyPr/>
                    <a:lstStyle/>
                    <a:p>
                      <a:pPr algn="l" fontAlgn="b">
                        <a:buNone/>
                      </a:pPr>
                      <a:r>
                        <a:rPr lang="en-US" sz="1200" u="none" strike="noStrike" dirty="0">
                          <a:effectLst/>
                        </a:rPr>
                        <a:t>6H Hauppauge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029141390"/>
                  </a:ext>
                </a:extLst>
              </a:tr>
              <a:tr h="265569">
                <a:tc>
                  <a:txBody>
                    <a:bodyPr/>
                    <a:lstStyle/>
                    <a:p>
                      <a:pPr marL="0" algn="ctr" defTabSz="914400" rtl="0" eaLnBrk="1" latinLnBrk="0" hangingPunct="1"/>
                      <a:r>
                        <a:rPr lang="en-US" sz="1200" kern="1200" dirty="0">
                          <a:solidFill>
                            <a:schemeClr val="dk1"/>
                          </a:solidFill>
                          <a:latin typeface="+mn-lt"/>
                          <a:ea typeface="+mn-ea"/>
                          <a:cs typeface="+mn-cs"/>
                        </a:rPr>
                        <a:t>6</a:t>
                      </a:r>
                    </a:p>
                  </a:txBody>
                  <a:tcPr anchor="ctr"/>
                </a:tc>
                <a:tc>
                  <a:txBody>
                    <a:bodyPr/>
                    <a:lstStyle/>
                    <a:p>
                      <a:pPr algn="l" fontAlgn="b">
                        <a:buNone/>
                      </a:pPr>
                      <a:r>
                        <a:rPr lang="en-US" sz="1200" u="none" strike="noStrike" dirty="0">
                          <a:effectLst/>
                        </a:rPr>
                        <a:t>6H Hauppauge Tower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05421">
                <a:tc>
                  <a:txBody>
                    <a:bodyPr/>
                    <a:lstStyle/>
                    <a:p>
                      <a:pPr marL="0" algn="ctr" defTabSz="914400" rtl="0" eaLnBrk="1" latinLnBrk="0" hangingPunct="1"/>
                      <a:r>
                        <a:rPr lang="en-US" sz="1200" kern="1200" dirty="0">
                          <a:solidFill>
                            <a:schemeClr val="dk1"/>
                          </a:solidFill>
                          <a:latin typeface="+mn-lt"/>
                          <a:ea typeface="+mn-ea"/>
                          <a:cs typeface="+mn-cs"/>
                        </a:rPr>
                        <a:t>7</a:t>
                      </a:r>
                    </a:p>
                  </a:txBody>
                  <a:tcPr anchor="ctr"/>
                </a:tc>
                <a:tc>
                  <a:txBody>
                    <a:bodyPr/>
                    <a:lstStyle/>
                    <a:p>
                      <a:pPr algn="l" fontAlgn="b">
                        <a:buNone/>
                      </a:pPr>
                      <a:r>
                        <a:rPr lang="en-US" sz="1200" u="none" strike="noStrike" dirty="0">
                          <a:effectLst/>
                        </a:rPr>
                        <a:t>6S Kings Hwy</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1355104002"/>
                  </a:ext>
                </a:extLst>
              </a:tr>
              <a:tr h="230059">
                <a:tc>
                  <a:txBody>
                    <a:bodyPr/>
                    <a:lstStyle/>
                    <a:p>
                      <a:pPr marL="0" algn="ctr" defTabSz="914400" rtl="0" eaLnBrk="1" latinLnBrk="0" hangingPunct="1"/>
                      <a:r>
                        <a:rPr lang="en-US" sz="1200" kern="1200" dirty="0">
                          <a:solidFill>
                            <a:schemeClr val="dk1"/>
                          </a:solidFill>
                          <a:latin typeface="+mn-lt"/>
                          <a:ea typeface="+mn-ea"/>
                          <a:cs typeface="+mn-cs"/>
                        </a:rPr>
                        <a:t>8</a:t>
                      </a:r>
                    </a:p>
                  </a:txBody>
                  <a:tcPr anchor="ctr"/>
                </a:tc>
                <a:tc>
                  <a:txBody>
                    <a:bodyPr/>
                    <a:lstStyle/>
                    <a:p>
                      <a:pPr algn="l" fontAlgn="b">
                        <a:buNone/>
                      </a:pPr>
                      <a:r>
                        <a:rPr lang="en-US" sz="1200" u="none" strike="noStrike" dirty="0">
                          <a:effectLst/>
                        </a:rPr>
                        <a:t>Brentwood DO</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2781583672"/>
                  </a:ext>
                </a:extLst>
              </a:tr>
              <a:tr h="385985">
                <a:tc>
                  <a:txBody>
                    <a:bodyPr/>
                    <a:lstStyle/>
                    <a:p>
                      <a:pPr marL="0" algn="ctr" defTabSz="914400" rtl="0" eaLnBrk="1" latinLnBrk="0" hangingPunct="1"/>
                      <a:r>
                        <a:rPr lang="en-US" sz="1200" kern="1200" dirty="0">
                          <a:solidFill>
                            <a:schemeClr val="dk1"/>
                          </a:solidFill>
                          <a:latin typeface="+mn-lt"/>
                          <a:ea typeface="+mn-ea"/>
                          <a:cs typeface="+mn-cs"/>
                        </a:rPr>
                        <a:t>9</a:t>
                      </a:r>
                    </a:p>
                  </a:txBody>
                  <a:tcPr anchor="ctr"/>
                </a:tc>
                <a:tc>
                  <a:txBody>
                    <a:bodyPr/>
                    <a:lstStyle/>
                    <a:p>
                      <a:pPr algn="l" fontAlgn="b">
                        <a:buNone/>
                      </a:pPr>
                      <a:r>
                        <a:rPr lang="en-US" sz="1200" u="none" strike="noStrike" dirty="0">
                          <a:effectLst/>
                        </a:rPr>
                        <a:t>7H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3319541799"/>
                  </a:ext>
                </a:extLst>
              </a:tr>
              <a:tr h="305421">
                <a:tc>
                  <a:txBody>
                    <a:bodyPr/>
                    <a:lstStyle/>
                    <a:p>
                      <a:pPr marL="0" algn="ctr" defTabSz="914400" rtl="0" eaLnBrk="1" latinLnBrk="0" hangingPunct="1"/>
                      <a:r>
                        <a:rPr lang="en-US" sz="1200" kern="1200" dirty="0">
                          <a:solidFill>
                            <a:schemeClr val="dk1"/>
                          </a:solidFill>
                          <a:latin typeface="+mn-lt"/>
                          <a:ea typeface="+mn-ea"/>
                          <a:cs typeface="+mn-cs"/>
                        </a:rPr>
                        <a:t>10</a:t>
                      </a:r>
                    </a:p>
                  </a:txBody>
                  <a:tcPr anchor="ctr"/>
                </a:tc>
                <a:tc>
                  <a:txBody>
                    <a:bodyPr/>
                    <a:lstStyle/>
                    <a:p>
                      <a:pPr algn="l" fontAlgn="b">
                        <a:buNone/>
                      </a:pPr>
                      <a:r>
                        <a:rPr lang="en-US" sz="1200" u="none" strike="noStrike" dirty="0">
                          <a:effectLst/>
                        </a:rPr>
                        <a:t>7H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9/22/26</a:t>
                      </a:r>
                    </a:p>
                  </a:txBody>
                  <a:tcPr anchor="ctr"/>
                </a:tc>
                <a:extLst>
                  <a:ext uri="{0D108BD9-81ED-4DB2-BD59-A6C34878D82A}">
                    <a16:rowId xmlns:a16="http://schemas.microsoft.com/office/drawing/2014/main" val="1288149223"/>
                  </a:ext>
                </a:extLst>
              </a:tr>
              <a:tr h="305421">
                <a:tc>
                  <a:txBody>
                    <a:bodyPr/>
                    <a:lstStyle/>
                    <a:p>
                      <a:pPr marL="0" algn="ctr" defTabSz="914400" rtl="0" eaLnBrk="1" latinLnBrk="0" hangingPunct="1"/>
                      <a:r>
                        <a:rPr lang="en-US" sz="1200" kern="1200" dirty="0">
                          <a:solidFill>
                            <a:schemeClr val="dk1"/>
                          </a:solidFill>
                          <a:latin typeface="+mn-lt"/>
                          <a:ea typeface="+mn-ea"/>
                          <a:cs typeface="+mn-cs"/>
                        </a:rPr>
                        <a:t>11</a:t>
                      </a:r>
                    </a:p>
                  </a:txBody>
                  <a:tcPr anchor="ctr"/>
                </a:tc>
                <a:tc>
                  <a:txBody>
                    <a:bodyPr/>
                    <a:lstStyle/>
                    <a:p>
                      <a:pPr algn="l" fontAlgn="b">
                        <a:buNone/>
                      </a:pPr>
                      <a:r>
                        <a:rPr lang="en-US" sz="1200" u="none" strike="noStrike" dirty="0">
                          <a:effectLst/>
                        </a:rPr>
                        <a:t>7D West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438867382"/>
                  </a:ext>
                </a:extLst>
              </a:tr>
              <a:tr h="305421">
                <a:tc>
                  <a:txBody>
                    <a:bodyPr/>
                    <a:lstStyle/>
                    <a:p>
                      <a:pPr marL="0" algn="ctr" defTabSz="914400" rtl="0" eaLnBrk="1" latinLnBrk="0" hangingPunct="1"/>
                      <a:r>
                        <a:rPr lang="en-US" sz="1200" kern="1200" dirty="0">
                          <a:solidFill>
                            <a:schemeClr val="dk1"/>
                          </a:solidFill>
                          <a:latin typeface="+mn-lt"/>
                          <a:ea typeface="+mn-ea"/>
                          <a:cs typeface="+mn-cs"/>
                        </a:rPr>
                        <a:t>12</a:t>
                      </a:r>
                    </a:p>
                  </a:txBody>
                  <a:tcPr anchor="ctr"/>
                </a:tc>
                <a:tc>
                  <a:txBody>
                    <a:bodyPr/>
                    <a:lstStyle/>
                    <a:p>
                      <a:pPr algn="l" fontAlgn="b">
                        <a:buNone/>
                      </a:pPr>
                      <a:r>
                        <a:rPr lang="en-US" sz="1200" u="none" strike="noStrike" dirty="0">
                          <a:effectLst/>
                        </a:rPr>
                        <a:t>7D West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1765565004"/>
                  </a:ext>
                </a:extLst>
              </a:tr>
              <a:tr h="305421">
                <a:tc>
                  <a:txBody>
                    <a:bodyPr/>
                    <a:lstStyle/>
                    <a:p>
                      <a:pPr marL="0" algn="ctr" defTabSz="914400" rtl="0" eaLnBrk="1" latinLnBrk="0" hangingPunct="1"/>
                      <a:r>
                        <a:rPr lang="en-US" sz="1200" kern="1200" dirty="0">
                          <a:solidFill>
                            <a:schemeClr val="dk1"/>
                          </a:solidFill>
                          <a:latin typeface="+mn-lt"/>
                          <a:ea typeface="+mn-ea"/>
                          <a:cs typeface="+mn-cs"/>
                        </a:rPr>
                        <a:t>13</a:t>
                      </a:r>
                    </a:p>
                  </a:txBody>
                  <a:tcPr anchor="ctr"/>
                </a:tc>
                <a:tc>
                  <a:txBody>
                    <a:bodyPr/>
                    <a:lstStyle/>
                    <a:p>
                      <a:pPr algn="l" fontAlgn="b">
                        <a:buNone/>
                      </a:pPr>
                      <a:r>
                        <a:rPr lang="en-US" sz="1200" u="none" strike="noStrike" dirty="0">
                          <a:effectLst/>
                        </a:rPr>
                        <a:t>7W Berry St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5697042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14</a:t>
                      </a:r>
                    </a:p>
                  </a:txBody>
                  <a:tcPr/>
                </a:tc>
                <a:tc>
                  <a:txBody>
                    <a:bodyPr/>
                    <a:lstStyle/>
                    <a:p>
                      <a:pPr algn="l" fontAlgn="b">
                        <a:buNone/>
                      </a:pPr>
                      <a:r>
                        <a:rPr lang="en-US" sz="1200" b="0" i="0" u="none" strike="noStrike" dirty="0">
                          <a:solidFill>
                            <a:srgbClr val="000000"/>
                          </a:solidFill>
                          <a:effectLst/>
                          <a:latin typeface="+mn-lt"/>
                        </a:rPr>
                        <a:t>3J Whiteside</a:t>
                      </a:r>
                    </a:p>
                  </a:txBody>
                  <a:tcPr marL="0" marR="0" marT="0" marB="0" anchor="b"/>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26685270"/>
                  </a:ext>
                </a:extLst>
              </a:tr>
              <a:tr h="442614">
                <a:tc>
                  <a:txBody>
                    <a:bodyPr/>
                    <a:lstStyle/>
                    <a:p>
                      <a:pPr marL="0" algn="ctr" defTabSz="914400" rtl="0" eaLnBrk="1" latinLnBrk="0" hangingPunct="1"/>
                      <a:r>
                        <a:rPr lang="en-US" sz="1200" kern="1200" dirty="0">
                          <a:solidFill>
                            <a:schemeClr val="dk1"/>
                          </a:solidFill>
                          <a:latin typeface="+mn-lt"/>
                          <a:ea typeface="+mn-ea"/>
                          <a:cs typeface="+mn-cs"/>
                        </a:rPr>
                        <a:t>15</a:t>
                      </a:r>
                    </a:p>
                  </a:txBody>
                  <a:tcPr/>
                </a:tc>
                <a:tc>
                  <a:txBody>
                    <a:bodyPr/>
                    <a:lstStyle/>
                    <a:p>
                      <a:pPr algn="l" fontAlgn="b">
                        <a:buNone/>
                      </a:pPr>
                      <a:r>
                        <a:rPr lang="en-US" sz="1200" b="0" i="0" u="none" strike="noStrike" dirty="0">
                          <a:solidFill>
                            <a:srgbClr val="000000"/>
                          </a:solidFill>
                          <a:effectLst/>
                          <a:latin typeface="+mn-lt"/>
                        </a:rPr>
                        <a:t>2K Valley Stream</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3561936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8D28-4191-64D8-9095-9DCC2D6CB8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76EF5-4EA1-C9EA-5073-1FA6B9B25905}"/>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40B7BEC1-9D05-8207-851E-F9A504C9BE5F}"/>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644D24B7-14F5-6B82-C5BA-2BEA991C8AFA}"/>
              </a:ext>
            </a:extLst>
          </p:cNvPr>
          <p:cNvGraphicFramePr>
            <a:graphicFrameLocks noGrp="1"/>
          </p:cNvGraphicFramePr>
          <p:nvPr>
            <p:extLst>
              <p:ext uri="{D42A27DB-BD31-4B8C-83A1-F6EECF244321}">
                <p14:modId xmlns:p14="http://schemas.microsoft.com/office/powerpoint/2010/main" val="4276176840"/>
              </p:ext>
            </p:extLst>
          </p:nvPr>
        </p:nvGraphicFramePr>
        <p:xfrm>
          <a:off x="676405" y="805737"/>
          <a:ext cx="9615676" cy="4839736"/>
        </p:xfrm>
        <a:graphic>
          <a:graphicData uri="http://schemas.openxmlformats.org/drawingml/2006/table">
            <a:tbl>
              <a:tblPr firstRow="1" bandRow="1">
                <a:tableStyleId>{F5AB1C69-6EDB-4FF4-983F-18BD219EF322}</a:tableStyleId>
              </a:tblPr>
              <a:tblGrid>
                <a:gridCol w="541072">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161419">
                  <a:extLst>
                    <a:ext uri="{9D8B030D-6E8A-4147-A177-3AD203B41FA5}">
                      <a16:colId xmlns:a16="http://schemas.microsoft.com/office/drawing/2014/main" val="3759070369"/>
                    </a:ext>
                  </a:extLst>
                </a:gridCol>
                <a:gridCol w="1064712">
                  <a:extLst>
                    <a:ext uri="{9D8B030D-6E8A-4147-A177-3AD203B41FA5}">
                      <a16:colId xmlns:a16="http://schemas.microsoft.com/office/drawing/2014/main" val="2431206455"/>
                    </a:ext>
                  </a:extLst>
                </a:gridCol>
                <a:gridCol w="1400310">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344249">
                <a:tc>
                  <a:txBody>
                    <a:bodyPr/>
                    <a:lstStyle/>
                    <a:p>
                      <a:pPr marL="0" algn="ctr" defTabSz="914400" rtl="0" eaLnBrk="1" latinLnBrk="0" hangingPunct="1"/>
                      <a:r>
                        <a:rPr lang="en-US" sz="1200" kern="1200" dirty="0">
                          <a:solidFill>
                            <a:schemeClr val="dk1"/>
                          </a:solidFill>
                          <a:latin typeface="+mn-lt"/>
                          <a:ea typeface="+mn-ea"/>
                          <a:cs typeface="+mn-cs"/>
                        </a:rPr>
                        <a:t>16</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2RB Green Acres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70786517"/>
                  </a:ext>
                </a:extLst>
              </a:tr>
              <a:tr h="284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17</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Hewlett DO</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315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18</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2ZB EF Barrett PS Inside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0207393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19</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2WB Barrett Outside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444944646"/>
                  </a:ext>
                </a:extLst>
              </a:tr>
              <a:tr h="0">
                <a:tc>
                  <a:txBody>
                    <a:bodyPr/>
                    <a:lstStyle/>
                    <a:p>
                      <a:pPr marL="0" algn="ctr" defTabSz="914400" rtl="0" eaLnBrk="1" latinLnBrk="0" hangingPunct="1"/>
                      <a:r>
                        <a:rPr lang="en-US" sz="1200" kern="1200" dirty="0">
                          <a:solidFill>
                            <a:schemeClr val="dk1"/>
                          </a:solidFill>
                          <a:latin typeface="+mn-lt"/>
                          <a:ea typeface="+mn-ea"/>
                          <a:cs typeface="+mn-cs"/>
                        </a:rPr>
                        <a:t>20</a:t>
                      </a:r>
                    </a:p>
                  </a:txBody>
                  <a:tcPr anchor="ctr"/>
                </a:tc>
                <a:tc>
                  <a:txBody>
                    <a:bodyPr/>
                    <a:lstStyle/>
                    <a:p>
                      <a:pPr marL="0" marR="0">
                        <a:buNone/>
                      </a:pPr>
                      <a:r>
                        <a:rPr lang="en-US" sz="1200">
                          <a:effectLst/>
                          <a:latin typeface="+mn-lt"/>
                          <a:ea typeface="Aptos" panose="020B0004020202020204" pitchFamily="34" charset="0"/>
                          <a:cs typeface="Aptos" panose="020B0004020202020204" pitchFamily="34" charset="0"/>
                        </a:rPr>
                        <a:t>5HK Hicksville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3029141390"/>
                  </a:ext>
                </a:extLst>
              </a:tr>
              <a:tr h="251922">
                <a:tc>
                  <a:txBody>
                    <a:bodyPr/>
                    <a:lstStyle/>
                    <a:p>
                      <a:pPr marL="0" algn="ctr" defTabSz="914400" rtl="0" eaLnBrk="1" latinLnBrk="0" hangingPunct="1"/>
                      <a:r>
                        <a:rPr lang="en-US" sz="1200" kern="1200" dirty="0">
                          <a:solidFill>
                            <a:schemeClr val="dk1"/>
                          </a:solidFill>
                          <a:latin typeface="+mn-lt"/>
                          <a:ea typeface="+mn-ea"/>
                          <a:cs typeface="+mn-cs"/>
                        </a:rPr>
                        <a:t>21</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2H Far Rockaway</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22</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2KB Cedarhurst</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23</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781583672"/>
                  </a:ext>
                </a:extLst>
              </a:tr>
              <a:tr h="398705">
                <a:tc>
                  <a:txBody>
                    <a:bodyPr/>
                    <a:lstStyle/>
                    <a:p>
                      <a:pPr marL="0" algn="ctr" defTabSz="914400" rtl="0" eaLnBrk="1" latinLnBrk="0" hangingPunct="1"/>
                      <a:r>
                        <a:rPr lang="en-US" sz="1200" kern="1200" dirty="0">
                          <a:solidFill>
                            <a:schemeClr val="dk1"/>
                          </a:solidFill>
                          <a:latin typeface="+mn-lt"/>
                          <a:ea typeface="+mn-ea"/>
                          <a:cs typeface="+mn-cs"/>
                        </a:rPr>
                        <a:t>24</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319541799"/>
                  </a:ext>
                </a:extLst>
              </a:tr>
              <a:tr h="315486">
                <a:tc>
                  <a:txBody>
                    <a:bodyPr/>
                    <a:lstStyle/>
                    <a:p>
                      <a:pPr marL="0" algn="ctr" defTabSz="914400" rtl="0" eaLnBrk="1" latinLnBrk="0" hangingPunct="1"/>
                      <a:r>
                        <a:rPr lang="en-US" sz="1200" kern="1200" dirty="0">
                          <a:solidFill>
                            <a:schemeClr val="dk1"/>
                          </a:solidFill>
                          <a:latin typeface="+mn-lt"/>
                          <a:ea typeface="+mn-ea"/>
                          <a:cs typeface="+mn-cs"/>
                        </a:rPr>
                        <a:t>25</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 Baldwin </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88149223"/>
                  </a:ext>
                </a:extLst>
              </a:tr>
              <a:tr h="315486">
                <a:tc>
                  <a:txBody>
                    <a:bodyPr/>
                    <a:lstStyle/>
                    <a:p>
                      <a:pPr marL="0" algn="ctr" defTabSz="914400" rtl="0" eaLnBrk="1" latinLnBrk="0" hangingPunct="1"/>
                      <a:r>
                        <a:rPr lang="en-US" sz="1200" kern="1200" dirty="0">
                          <a:solidFill>
                            <a:schemeClr val="dk1"/>
                          </a:solidFill>
                          <a:latin typeface="+mn-lt"/>
                          <a:ea typeface="+mn-ea"/>
                          <a:cs typeface="+mn-cs"/>
                        </a:rPr>
                        <a:t>26</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4M1 Baldwin Shelter</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43886738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27</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6K State School</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9/17/26</a:t>
                      </a:r>
                    </a:p>
                  </a:txBody>
                  <a:tcPr anchor="ctr"/>
                </a:tc>
                <a:extLst>
                  <a:ext uri="{0D108BD9-81ED-4DB2-BD59-A6C34878D82A}">
                    <a16:rowId xmlns:a16="http://schemas.microsoft.com/office/drawing/2014/main" val="176556500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28</a:t>
                      </a:r>
                    </a:p>
                  </a:txBody>
                  <a:tcPr anchor="ctr"/>
                </a:tc>
                <a:tc>
                  <a:txBody>
                    <a:bodyPr/>
                    <a:lstStyle/>
                    <a:p>
                      <a:pPr algn="l" fontAlgn="b">
                        <a:buNone/>
                      </a:pPr>
                      <a:r>
                        <a:rPr lang="en-US" sz="1200" b="0" i="0" u="none" strike="noStrike" dirty="0">
                          <a:solidFill>
                            <a:srgbClr val="000000"/>
                          </a:solidFill>
                          <a:effectLst/>
                          <a:latin typeface="Arial" panose="020B0604020202020204" pitchFamily="34" charset="0"/>
                        </a:rPr>
                        <a:t> 7BH Bohemia </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569704205"/>
                  </a:ext>
                </a:extLst>
              </a:tr>
              <a:tr h="0">
                <a:tc>
                  <a:txBody>
                    <a:bodyPr/>
                    <a:lstStyle/>
                    <a:p>
                      <a:pPr marL="0" algn="ctr" defTabSz="914400" rtl="0" eaLnBrk="1" latinLnBrk="0" hangingPunct="1"/>
                      <a:r>
                        <a:rPr lang="en-US" sz="1200" kern="1200" dirty="0">
                          <a:solidFill>
                            <a:schemeClr val="dk1"/>
                          </a:solidFill>
                          <a:latin typeface="+mn-lt"/>
                          <a:ea typeface="+mn-ea"/>
                          <a:cs typeface="+mn-cs"/>
                        </a:rPr>
                        <a:t>29</a:t>
                      </a:r>
                    </a:p>
                  </a:txBody>
                  <a:tcPr anchor="ctr"/>
                </a:tc>
                <a:tc>
                  <a:txBody>
                    <a:bodyPr/>
                    <a:lstStyle/>
                    <a:p>
                      <a:pPr algn="l" fontAlgn="b">
                        <a:buNone/>
                      </a:pPr>
                      <a:r>
                        <a:rPr lang="en-US" sz="1200" b="0" i="0" u="none" strike="noStrike" dirty="0">
                          <a:solidFill>
                            <a:srgbClr val="000000"/>
                          </a:solidFill>
                          <a:effectLst/>
                          <a:latin typeface="+mn-lt"/>
                        </a:rPr>
                        <a:t>7M MacArthur</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38851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1EE5-E7C1-A9CC-A23C-1D0A056DCEA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29A1BE-788C-CF89-3841-0B87433FA531}"/>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89014D30-3AE4-81FD-F51A-09DD07C3CA2B}"/>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47EA892D-C687-A0E8-474D-83B918A34730}"/>
              </a:ext>
            </a:extLst>
          </p:cNvPr>
          <p:cNvGraphicFramePr>
            <a:graphicFrameLocks noGrp="1"/>
          </p:cNvGraphicFramePr>
          <p:nvPr/>
        </p:nvGraphicFramePr>
        <p:xfrm>
          <a:off x="670560" y="805737"/>
          <a:ext cx="9621521" cy="5108128"/>
        </p:xfrm>
        <a:graphic>
          <a:graphicData uri="http://schemas.openxmlformats.org/drawingml/2006/table">
            <a:tbl>
              <a:tblPr firstRow="1" bandRow="1">
                <a:tableStyleId>{F5AB1C69-6EDB-4FF4-983F-18BD219EF322}</a:tableStyleId>
              </a:tblPr>
              <a:tblGrid>
                <a:gridCol w="546917">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085010">
                  <a:extLst>
                    <a:ext uri="{9D8B030D-6E8A-4147-A177-3AD203B41FA5}">
                      <a16:colId xmlns:a16="http://schemas.microsoft.com/office/drawing/2014/main" val="3759070369"/>
                    </a:ext>
                  </a:extLst>
                </a:gridCol>
                <a:gridCol w="1028387">
                  <a:extLst>
                    <a:ext uri="{9D8B030D-6E8A-4147-A177-3AD203B41FA5}">
                      <a16:colId xmlns:a16="http://schemas.microsoft.com/office/drawing/2014/main" val="2431206455"/>
                    </a:ext>
                  </a:extLst>
                </a:gridCol>
                <a:gridCol w="1513044">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46713">
                <a:tc>
                  <a:txBody>
                    <a:bodyPr/>
                    <a:lstStyle/>
                    <a:p>
                      <a:pPr marL="0" algn="ctr" defTabSz="914400" rtl="0" eaLnBrk="1" latinLnBrk="0" hangingPunct="1"/>
                      <a:r>
                        <a:rPr lang="en-US" sz="1200" kern="1200" dirty="0">
                          <a:solidFill>
                            <a:schemeClr val="dk1"/>
                          </a:solidFill>
                          <a:latin typeface="+mn-lt"/>
                          <a:ea typeface="+mn-ea"/>
                          <a:cs typeface="+mn-cs"/>
                        </a:rPr>
                        <a:t>30</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1370786517"/>
                  </a:ext>
                </a:extLst>
              </a:tr>
              <a:tr h="246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31</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210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32</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7Z Lindenhurst</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182705">
                <a:tc>
                  <a:txBody>
                    <a:bodyPr/>
                    <a:lstStyle/>
                    <a:p>
                      <a:pPr marL="0" algn="ctr" defTabSz="914400" rtl="0" eaLnBrk="1" latinLnBrk="0" hangingPunct="1"/>
                      <a:r>
                        <a:rPr lang="en-US" sz="1200" kern="1200" dirty="0">
                          <a:solidFill>
                            <a:schemeClr val="dk1"/>
                          </a:solidFill>
                          <a:latin typeface="+mn-lt"/>
                          <a:ea typeface="+mn-ea"/>
                          <a:cs typeface="+mn-cs"/>
                        </a:rPr>
                        <a:t>33</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7J Sterling</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3444944646"/>
                  </a:ext>
                </a:extLst>
              </a:tr>
              <a:tr h="173561">
                <a:tc>
                  <a:txBody>
                    <a:bodyPr/>
                    <a:lstStyle/>
                    <a:p>
                      <a:pPr marL="0" algn="ctr" defTabSz="914400" rtl="0" eaLnBrk="1" latinLnBrk="0" hangingPunct="1"/>
                      <a:r>
                        <a:rPr lang="en-US" sz="1200" kern="1200" dirty="0">
                          <a:solidFill>
                            <a:schemeClr val="dk1"/>
                          </a:solidFill>
                          <a:latin typeface="+mn-lt"/>
                          <a:ea typeface="+mn-ea"/>
                          <a:cs typeface="+mn-cs"/>
                        </a:rPr>
                        <a:t>34</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7UM South Farmingdale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29141390"/>
                  </a:ext>
                </a:extLst>
              </a:tr>
              <a:tr h="0">
                <a:tc>
                  <a:txBody>
                    <a:bodyPr/>
                    <a:lstStyle/>
                    <a:p>
                      <a:pPr marL="0" algn="ctr" defTabSz="914400" rtl="0" eaLnBrk="1" latinLnBrk="0" hangingPunct="1"/>
                      <a:r>
                        <a:rPr lang="en-US" sz="1200" kern="1200" dirty="0">
                          <a:solidFill>
                            <a:schemeClr val="dk1"/>
                          </a:solidFill>
                          <a:latin typeface="+mn-lt"/>
                          <a:ea typeface="+mn-ea"/>
                          <a:cs typeface="+mn-cs"/>
                        </a:rPr>
                        <a:t>35</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ACC</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206406284"/>
                  </a:ext>
                </a:extLst>
              </a:tr>
              <a:tr h="0">
                <a:tc>
                  <a:txBody>
                    <a:bodyPr/>
                    <a:lstStyle/>
                    <a:p>
                      <a:pPr marL="0" algn="ctr" defTabSz="914400" rtl="0" eaLnBrk="1" latinLnBrk="0" hangingPunct="1"/>
                      <a:r>
                        <a:rPr lang="en-US" sz="1200" kern="1200" dirty="0">
                          <a:solidFill>
                            <a:schemeClr val="dk1"/>
                          </a:solidFill>
                          <a:latin typeface="+mn-lt"/>
                          <a:ea typeface="+mn-ea"/>
                          <a:cs typeface="+mn-cs"/>
                        </a:rPr>
                        <a:t>36</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6U Ruland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extLst>
                  <a:ext uri="{0D108BD9-81ED-4DB2-BD59-A6C34878D82A}">
                    <a16:rowId xmlns:a16="http://schemas.microsoft.com/office/drawing/2014/main" val="2781583672"/>
                  </a:ext>
                </a:extLst>
              </a:tr>
              <a:tr h="398705">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3319541799"/>
                  </a:ext>
                </a:extLst>
              </a:tr>
              <a:tr h="430813">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88149223"/>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43886738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765565004"/>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569704205"/>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26685270"/>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482033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DC2193-B7FE-D8BE-DE47-7FE1525029A6}"/>
              </a:ext>
            </a:extLst>
          </p:cNvPr>
          <p:cNvSpPr txBox="1"/>
          <p:nvPr/>
        </p:nvSpPr>
        <p:spPr>
          <a:xfrm>
            <a:off x="557505" y="3303840"/>
            <a:ext cx="8511850" cy="3077766"/>
          </a:xfrm>
          <a:prstGeom prst="rect">
            <a:avLst/>
          </a:prstGeom>
          <a:noFill/>
        </p:spPr>
        <p:txBody>
          <a:bodyPr wrap="square">
            <a:spAutoFit/>
          </a:bodyPr>
          <a:lstStyle/>
          <a:p>
            <a:pPr marL="228600" indent="-228600">
              <a:spcBef>
                <a:spcPts val="600"/>
              </a:spcBef>
              <a:spcAft>
                <a:spcPts val="600"/>
              </a:spcAft>
              <a:buFont typeface="Wingdings" panose="05000000000000000000" pitchFamily="2" charset="2"/>
              <a:buChar char="Ø"/>
            </a:pPr>
            <a:r>
              <a:rPr lang="en-US" b="1" dirty="0"/>
              <a:t>Current Risk</a:t>
            </a:r>
          </a:p>
          <a:p>
            <a:pPr marL="800100" lvl="1" indent="-342900">
              <a:spcBef>
                <a:spcPts val="600"/>
              </a:spcBef>
              <a:spcAft>
                <a:spcPts val="600"/>
              </a:spcAft>
              <a:buFont typeface="+mj-lt"/>
              <a:buAutoNum type="arabicPeriod"/>
            </a:pPr>
            <a:r>
              <a:rPr lang="en-US" dirty="0"/>
              <a:t>Legacy JMUX equipment old and delicate. Potential for Outage. </a:t>
            </a:r>
          </a:p>
          <a:p>
            <a:pPr marL="1714500" lvl="3" indent="-342900">
              <a:spcBef>
                <a:spcPts val="600"/>
              </a:spcBef>
              <a:spcAft>
                <a:spcPts val="600"/>
              </a:spcAft>
              <a:buFont typeface="Arial" panose="020B0604020202020204" pitchFamily="34" charset="0"/>
              <a:buChar char="•"/>
            </a:pPr>
            <a:r>
              <a:rPr lang="en-US" dirty="0"/>
              <a:t>Ran into faulty connectors that are over25 years old and not readily available with vendors.</a:t>
            </a:r>
          </a:p>
          <a:p>
            <a:pPr marL="1714500" lvl="3" indent="-342900">
              <a:spcBef>
                <a:spcPts val="600"/>
              </a:spcBef>
              <a:spcAft>
                <a:spcPts val="600"/>
              </a:spcAft>
              <a:buFont typeface="Arial" panose="020B0604020202020204" pitchFamily="34" charset="0"/>
              <a:buChar char="•"/>
            </a:pPr>
            <a:r>
              <a:rPr lang="en-US" dirty="0"/>
              <a:t>Potential brittle fiber patch panels, Face plates, connectors and cables.</a:t>
            </a:r>
          </a:p>
          <a:p>
            <a:pPr marL="800100" lvl="1" indent="-342900">
              <a:spcBef>
                <a:spcPts val="600"/>
              </a:spcBef>
              <a:spcAft>
                <a:spcPts val="600"/>
              </a:spcAft>
              <a:buFont typeface="+mj-lt"/>
              <a:buAutoNum type="arabicPeriod"/>
            </a:pPr>
            <a:r>
              <a:rPr lang="en-US" dirty="0"/>
              <a:t>Weather delay and delay in installing the equipment at sub-station (tracking weekly).</a:t>
            </a:r>
          </a:p>
          <a:p>
            <a:pPr marL="800100" lvl="1" indent="-342900">
              <a:spcBef>
                <a:spcPts val="600"/>
              </a:spcBef>
              <a:spcAft>
                <a:spcPts val="600"/>
              </a:spcAft>
              <a:buFont typeface="+mj-lt"/>
              <a:buAutoNum type="arabicPeriod"/>
            </a:pPr>
            <a:r>
              <a:rPr lang="en-US" dirty="0"/>
              <a:t>Other major substation project conflicts. </a:t>
            </a:r>
          </a:p>
        </p:txBody>
      </p:sp>
      <p:sp>
        <p:nvSpPr>
          <p:cNvPr id="8" name="TextBox 7">
            <a:extLst>
              <a:ext uri="{FF2B5EF4-FFF2-40B4-BE49-F238E27FC236}">
                <a16:creationId xmlns:a16="http://schemas.microsoft.com/office/drawing/2014/main" id="{A2C3A67E-29DB-19F7-057D-329C6D37C7B4}"/>
              </a:ext>
            </a:extLst>
          </p:cNvPr>
          <p:cNvSpPr txBox="1"/>
          <p:nvPr/>
        </p:nvSpPr>
        <p:spPr>
          <a:xfrm>
            <a:off x="429489" y="170709"/>
            <a:ext cx="9199984" cy="2939266"/>
          </a:xfrm>
          <a:prstGeom prst="rect">
            <a:avLst/>
          </a:prstGeom>
          <a:noFill/>
        </p:spPr>
        <p:txBody>
          <a:bodyPr wrap="square" rtlCol="0">
            <a:spAutoFit/>
          </a:bodyPr>
          <a:lstStyle/>
          <a:p>
            <a:pPr marL="228600" indent="-228600">
              <a:spcBef>
                <a:spcPts val="600"/>
              </a:spcBef>
              <a:spcAft>
                <a:spcPts val="600"/>
              </a:spcAft>
              <a:buFont typeface="Wingdings" panose="05000000000000000000" pitchFamily="2" charset="2"/>
              <a:buChar char="Ø"/>
            </a:pPr>
            <a:r>
              <a:rPr lang="en-US" b="1" dirty="0"/>
              <a:t>Next Steps</a:t>
            </a:r>
            <a:endParaRPr lang="en-US" dirty="0"/>
          </a:p>
          <a:p>
            <a:pPr marL="342900" lvl="0" indent="-342900">
              <a:buFont typeface="+mj-lt"/>
              <a:buAutoNum type="arabicPeriod"/>
              <a:tabLst>
                <a:tab pos="457200" algn="l"/>
              </a:tabLst>
            </a:pPr>
            <a:r>
              <a:rPr lang="en-US" dirty="0">
                <a:solidFill>
                  <a:srgbClr val="28A745"/>
                </a:solidFill>
                <a:latin typeface="Aptos" panose="020B0004020202020204" pitchFamily="34" charset="0"/>
                <a:cs typeface="Aptos" panose="020B0004020202020204" pitchFamily="34" charset="0"/>
              </a:rPr>
              <a:t>✅ Cat6 COMPLETE (3/4) · ✅ OTDR COMPLETE (3/9) · ✅ BGP APPROVED (3/16) · ✅ Northport DC RESOLVED (3/18)</a:t>
            </a:r>
            <a:r>
              <a:rPr lang="en-US" dirty="0">
                <a:solidFill>
                  <a:srgbClr val="00B050"/>
                </a:solidFill>
              </a:rPr>
              <a:t> (change ticket planned </a:t>
            </a:r>
            <a:r>
              <a:rPr lang="en-US" dirty="0">
                <a:solidFill>
                  <a:srgbClr val="00B050"/>
                </a:solidFill>
                <a:latin typeface="Aptos" panose="020B0004020202020204" pitchFamily="34" charset="0"/>
                <a:cs typeface="Aptos" panose="020B0004020202020204" pitchFamily="34" charset="0"/>
              </a:rPr>
              <a:t>03/03</a:t>
            </a:r>
            <a:r>
              <a:rPr lang="en-US" dirty="0">
                <a:solidFill>
                  <a:srgbClr val="00B050"/>
                </a:solidFill>
              </a:rPr>
              <a:t>).</a:t>
            </a:r>
          </a:p>
          <a:p>
            <a:pPr marL="342900" lvl="0" indent="-342900">
              <a:buFont typeface="+mj-lt"/>
              <a:buAutoNum type="arabicPeriod"/>
              <a:tabLst>
                <a:tab pos="457200" algn="l"/>
              </a:tabLst>
            </a:pPr>
            <a:r>
              <a:rPr lang="en-US" dirty="0">
                <a:solidFill>
                  <a:srgbClr val="00B050"/>
                </a:solidFill>
                <a:latin typeface="Aptos" panose="020B0004020202020204" pitchFamily="34" charset="0"/>
                <a:cs typeface="Aptos" panose="020B0004020202020204" pitchFamily="34" charset="0"/>
              </a:rPr>
              <a:t>🔴 ILO configuration — Bill (B&amp;M) working with Rahiq/Brianna to resolve console cable &amp; firmware. This is the #1 critical path blocker.</a:t>
            </a:r>
            <a:r>
              <a:rPr lang="en-US" dirty="0">
                <a:solidFill>
                  <a:srgbClr val="00B050"/>
                </a:solidFill>
              </a:rPr>
              <a:t> (planned </a:t>
            </a:r>
            <a:r>
              <a:rPr lang="en-US" dirty="0">
                <a:solidFill>
                  <a:srgbClr val="00B050"/>
                </a:solidFill>
                <a:latin typeface="Aptos" panose="020B0004020202020204" pitchFamily="34" charset="0"/>
                <a:cs typeface="Aptos" panose="020B0004020202020204" pitchFamily="34" charset="0"/>
              </a:rPr>
              <a:t>03/04</a:t>
            </a:r>
            <a:r>
              <a:rPr lang="en-US" dirty="0">
                <a:solidFill>
                  <a:srgbClr val="00B050"/>
                </a:solidFill>
              </a:rPr>
              <a:t>) to confirm whether the low DB level is internal vs </a:t>
            </a:r>
            <a:r>
              <a:rPr lang="en-US" dirty="0">
                <a:solidFill>
                  <a:srgbClr val="00B050"/>
                </a:solidFill>
                <a:latin typeface="Aptos" panose="020B0004020202020204" pitchFamily="34" charset="0"/>
                <a:cs typeface="Aptos" panose="020B0004020202020204" pitchFamily="34" charset="0"/>
              </a:rPr>
              <a:t>carrier-side (Crown Castle)</a:t>
            </a:r>
            <a:r>
              <a:rPr lang="en-US" dirty="0">
                <a:solidFill>
                  <a:srgbClr val="00B050"/>
                </a:solidFill>
              </a:rPr>
              <a:t>; validate filter/wavelength behavior.</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 BGP config at Hicksville &amp; Melville — Lee to begin once ILO is complete.</a:t>
            </a:r>
            <a:r>
              <a:rPr lang="en-US" dirty="0"/>
              <a:t> after cabling/OTDR so we can shift to “remote-first” execution.</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 Remote access config — Lee to configure all 31 routers once BGP is done at both hub sites.</a:t>
            </a:r>
            <a:r>
              <a:rPr lang="en-US" dirty="0"/>
              <a:t> on the powered routers for </a:t>
            </a:r>
            <a:r>
              <a:rPr lang="en-US" dirty="0">
                <a:latin typeface="Aptos" panose="020B0004020202020204" pitchFamily="34" charset="0"/>
                <a:cs typeface="Aptos" panose="020B0004020202020204" pitchFamily="34" charset="0"/>
              </a:rPr>
              <a:t>Ring 1 and Ring 6</a:t>
            </a:r>
            <a:r>
              <a:rPr lang="en-US" dirty="0"/>
              <a:t> (remote workstream), with standard config + validation.</a:t>
            </a:r>
          </a:p>
          <a:p>
            <a:pPr marL="342900" indent="-342900">
              <a:buAutoNum type="arabicPeriod"/>
            </a:pPr>
            <a:endParaRPr lang="en-US" dirty="0"/>
          </a:p>
          <a:p>
            <a:endParaRPr lang="en-US" dirty="0"/>
          </a:p>
        </p:txBody>
      </p:sp>
    </p:spTree>
    <p:extLst>
      <p:ext uri="{BB962C8B-B14F-4D97-AF65-F5344CB8AC3E}">
        <p14:creationId xmlns:p14="http://schemas.microsoft.com/office/powerpoint/2010/main" val="1198083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Risks &amp; Issues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Active Risks | Mitigations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05840"/>
            <a:ext cx="5486400"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33271"/>
            <a:ext cx="5303520" cy="292608"/>
          </a:xfrm>
          <a:prstGeom prst="rect">
            <a:avLst/>
          </a:prstGeom>
          <a:noFill/>
        </p:spPr>
        <p:txBody>
          <a:bodyPr wrap="square">
            <a:spAutoFit/>
          </a:bodyPr>
          <a:lstStyle/>
          <a:p>
            <a:pPr algn="l"/>
            <a:r>
              <a:rPr sz="1200" b="1" i="0">
                <a:solidFill>
                  <a:srgbClr val="FFFFFF"/>
                </a:solidFill>
              </a:rPr>
              <a:t>⚠  ACTIVE RISKS</a:t>
            </a:r>
          </a:p>
        </p:txBody>
      </p:sp>
      <p:sp>
        <p:nvSpPr>
          <p:cNvPr id="10" name="Rectangle 9"/>
          <p:cNvSpPr/>
          <p:nvPr/>
        </p:nvSpPr>
        <p:spPr>
          <a:xfrm>
            <a:off x="5943600" y="1005840"/>
            <a:ext cx="5943600" cy="36576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0" y="1033271"/>
            <a:ext cx="5760720" cy="292608"/>
          </a:xfrm>
          <a:prstGeom prst="rect">
            <a:avLst/>
          </a:prstGeom>
          <a:noFill/>
        </p:spPr>
        <p:txBody>
          <a:bodyPr wrap="square">
            <a:spAutoFit/>
          </a:bodyPr>
          <a:lstStyle/>
          <a:p>
            <a:pPr algn="l"/>
            <a:r>
              <a:rPr sz="1200" b="1" i="0">
                <a:solidFill>
                  <a:srgbClr val="FFFFFF"/>
                </a:solidFill>
              </a:rPr>
              <a:t>🔧  ACTIVE ISSUES / IN RESOLUTION</a:t>
            </a:r>
          </a:p>
        </p:txBody>
      </p:sp>
      <p:sp>
        <p:nvSpPr>
          <p:cNvPr id="12" name="Rectangle 11"/>
          <p:cNvSpPr/>
          <p:nvPr/>
        </p:nvSpPr>
        <p:spPr>
          <a:xfrm>
            <a:off x="274320" y="1463040"/>
            <a:ext cx="5486400" cy="114300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1463040"/>
            <a:ext cx="1005840" cy="34747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 y="1499616"/>
            <a:ext cx="914400" cy="274320"/>
          </a:xfrm>
          <a:prstGeom prst="rect">
            <a:avLst/>
          </a:prstGeom>
          <a:noFill/>
        </p:spPr>
        <p:txBody>
          <a:bodyPr wrap="square">
            <a:spAutoFit/>
          </a:bodyPr>
          <a:lstStyle/>
          <a:p>
            <a:pPr algn="ctr"/>
            <a:r>
              <a:rPr sz="1000" b="1" i="0">
                <a:solidFill>
                  <a:srgbClr val="FFFFFF"/>
                </a:solidFill>
              </a:rPr>
              <a:t>HIGH</a:t>
            </a:r>
          </a:p>
        </p:txBody>
      </p:sp>
      <p:sp>
        <p:nvSpPr>
          <p:cNvPr id="15" name="TextBox 14"/>
          <p:cNvSpPr txBox="1"/>
          <p:nvPr/>
        </p:nvSpPr>
        <p:spPr>
          <a:xfrm>
            <a:off x="1325880" y="1499616"/>
            <a:ext cx="4297680" cy="292608"/>
          </a:xfrm>
          <a:prstGeom prst="rect">
            <a:avLst/>
          </a:prstGeom>
          <a:noFill/>
        </p:spPr>
        <p:txBody>
          <a:bodyPr wrap="square">
            <a:spAutoFit/>
          </a:bodyPr>
          <a:lstStyle/>
          <a:p>
            <a:pPr algn="l"/>
            <a:r>
              <a:rPr sz="1100" b="1" i="0">
                <a:solidFill>
                  <a:srgbClr val="404040"/>
                </a:solidFill>
              </a:rPr>
              <a:t>Legacy Equipment Fragility</a:t>
            </a:r>
          </a:p>
        </p:txBody>
      </p:sp>
      <p:sp>
        <p:nvSpPr>
          <p:cNvPr id="16" name="TextBox 15"/>
          <p:cNvSpPr txBox="1"/>
          <p:nvPr/>
        </p:nvSpPr>
        <p:spPr>
          <a:xfrm>
            <a:off x="365760" y="1847088"/>
            <a:ext cx="5212080" cy="384048"/>
          </a:xfrm>
          <a:prstGeom prst="rect">
            <a:avLst/>
          </a:prstGeom>
          <a:noFill/>
        </p:spPr>
        <p:txBody>
          <a:bodyPr wrap="square">
            <a:spAutoFit/>
          </a:bodyPr>
          <a:lstStyle/>
          <a:p>
            <a:pPr algn="l"/>
            <a:r>
              <a:rPr sz="900" b="0" i="0">
                <a:solidFill>
                  <a:srgbClr val="404040"/>
                </a:solidFill>
              </a:rPr>
              <a:t>JMUX equipment 25+ yrs old. Faulty connectors, brittle fiber panels. Potential for unplanned outage during cutover.</a:t>
            </a:r>
          </a:p>
        </p:txBody>
      </p:sp>
      <p:sp>
        <p:nvSpPr>
          <p:cNvPr id="17" name="TextBox 16"/>
          <p:cNvSpPr txBox="1"/>
          <p:nvPr/>
        </p:nvSpPr>
        <p:spPr>
          <a:xfrm>
            <a:off x="365760" y="2212848"/>
            <a:ext cx="5212080" cy="347472"/>
          </a:xfrm>
          <a:prstGeom prst="rect">
            <a:avLst/>
          </a:prstGeom>
          <a:noFill/>
        </p:spPr>
        <p:txBody>
          <a:bodyPr wrap="square">
            <a:spAutoFit/>
          </a:bodyPr>
          <a:lstStyle/>
          <a:p>
            <a:pPr algn="l"/>
            <a:r>
              <a:rPr sz="900" b="0" i="1">
                <a:solidFill>
                  <a:srgbClr val="003387"/>
                </a:solidFill>
              </a:rPr>
              <a:t>Mitigation: Careful cutover planning; dedicated B&amp;McD on-site support. Phase 1 complete — risk reduced going into Ph2.</a:t>
            </a:r>
          </a:p>
        </p:txBody>
      </p:sp>
      <p:sp>
        <p:nvSpPr>
          <p:cNvPr id="18" name="Rectangle 17"/>
          <p:cNvSpPr/>
          <p:nvPr/>
        </p:nvSpPr>
        <p:spPr>
          <a:xfrm>
            <a:off x="274320" y="269748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69748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 y="2734056"/>
            <a:ext cx="914400" cy="274320"/>
          </a:xfrm>
          <a:prstGeom prst="rect">
            <a:avLst/>
          </a:prstGeom>
          <a:noFill/>
        </p:spPr>
        <p:txBody>
          <a:bodyPr wrap="square">
            <a:spAutoFit/>
          </a:bodyPr>
          <a:lstStyle/>
          <a:p>
            <a:pPr algn="ctr"/>
            <a:r>
              <a:rPr sz="1000" b="1" i="0">
                <a:solidFill>
                  <a:srgbClr val="FFFFFF"/>
                </a:solidFill>
              </a:rPr>
              <a:t>MEDIUM</a:t>
            </a:r>
          </a:p>
        </p:txBody>
      </p:sp>
      <p:sp>
        <p:nvSpPr>
          <p:cNvPr id="21" name="TextBox 20"/>
          <p:cNvSpPr txBox="1"/>
          <p:nvPr/>
        </p:nvSpPr>
        <p:spPr>
          <a:xfrm>
            <a:off x="1325880" y="2734056"/>
            <a:ext cx="4297680" cy="292608"/>
          </a:xfrm>
          <a:prstGeom prst="rect">
            <a:avLst/>
          </a:prstGeom>
          <a:noFill/>
        </p:spPr>
        <p:txBody>
          <a:bodyPr wrap="square">
            <a:spAutoFit/>
          </a:bodyPr>
          <a:lstStyle/>
          <a:p>
            <a:pPr algn="l"/>
            <a:r>
              <a:rPr sz="1100" b="1" i="0">
                <a:solidFill>
                  <a:srgbClr val="404040"/>
                </a:solidFill>
              </a:rPr>
              <a:t>Substation Access Delays</a:t>
            </a:r>
          </a:p>
        </p:txBody>
      </p:sp>
      <p:sp>
        <p:nvSpPr>
          <p:cNvPr id="22" name="TextBox 21"/>
          <p:cNvSpPr txBox="1"/>
          <p:nvPr/>
        </p:nvSpPr>
        <p:spPr>
          <a:xfrm>
            <a:off x="365760" y="3081528"/>
            <a:ext cx="5212080" cy="384048"/>
          </a:xfrm>
          <a:prstGeom prst="rect">
            <a:avLst/>
          </a:prstGeom>
          <a:noFill/>
        </p:spPr>
        <p:txBody>
          <a:bodyPr wrap="square">
            <a:spAutoFit/>
          </a:bodyPr>
          <a:lstStyle/>
          <a:p>
            <a:pPr algn="l"/>
            <a:r>
              <a:rPr sz="900" b="0" i="0">
                <a:solidFill>
                  <a:srgbClr val="404040"/>
                </a:solidFill>
              </a:rPr>
              <a:t>Weather, scheduling conflicts, or escort availability can delay field work.</a:t>
            </a:r>
          </a:p>
        </p:txBody>
      </p:sp>
      <p:sp>
        <p:nvSpPr>
          <p:cNvPr id="23" name="TextBox 22"/>
          <p:cNvSpPr txBox="1"/>
          <p:nvPr/>
        </p:nvSpPr>
        <p:spPr>
          <a:xfrm>
            <a:off x="365760" y="3447288"/>
            <a:ext cx="5212080" cy="347472"/>
          </a:xfrm>
          <a:prstGeom prst="rect">
            <a:avLst/>
          </a:prstGeom>
          <a:noFill/>
        </p:spPr>
        <p:txBody>
          <a:bodyPr wrap="square">
            <a:spAutoFit/>
          </a:bodyPr>
          <a:lstStyle/>
          <a:p>
            <a:pPr algn="l"/>
            <a:r>
              <a:rPr sz="900" b="0" i="1">
                <a:solidFill>
                  <a:srgbClr val="003387"/>
                </a:solidFill>
              </a:rPr>
              <a:t>Mitigation: Verify weekly before mobilizing. Adjust site plan if specific sites inaccessible.</a:t>
            </a:r>
          </a:p>
        </p:txBody>
      </p:sp>
      <p:sp>
        <p:nvSpPr>
          <p:cNvPr id="24" name="Rectangle 23"/>
          <p:cNvSpPr/>
          <p:nvPr/>
        </p:nvSpPr>
        <p:spPr>
          <a:xfrm>
            <a:off x="274320" y="393192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393192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3968496"/>
            <a:ext cx="914400" cy="274320"/>
          </a:xfrm>
          <a:prstGeom prst="rect">
            <a:avLst/>
          </a:prstGeom>
          <a:noFill/>
        </p:spPr>
        <p:txBody>
          <a:bodyPr wrap="square">
            <a:spAutoFit/>
          </a:bodyPr>
          <a:lstStyle/>
          <a:p>
            <a:pPr algn="ctr"/>
            <a:r>
              <a:rPr sz="1000" b="1" i="0">
                <a:solidFill>
                  <a:srgbClr val="FFFFFF"/>
                </a:solidFill>
              </a:rPr>
              <a:t>MEDIUM</a:t>
            </a:r>
          </a:p>
        </p:txBody>
      </p:sp>
      <p:sp>
        <p:nvSpPr>
          <p:cNvPr id="27" name="TextBox 26"/>
          <p:cNvSpPr txBox="1"/>
          <p:nvPr/>
        </p:nvSpPr>
        <p:spPr>
          <a:xfrm>
            <a:off x="1325880" y="3968496"/>
            <a:ext cx="4297680" cy="292608"/>
          </a:xfrm>
          <a:prstGeom prst="rect">
            <a:avLst/>
          </a:prstGeom>
          <a:noFill/>
        </p:spPr>
        <p:txBody>
          <a:bodyPr wrap="square">
            <a:spAutoFit/>
          </a:bodyPr>
          <a:lstStyle/>
          <a:p>
            <a:pPr algn="l"/>
            <a:r>
              <a:rPr sz="1100" b="1" i="0">
                <a:solidFill>
                  <a:srgbClr val="404040"/>
                </a:solidFill>
              </a:rPr>
              <a:t>Phase 2 Schedule Slippage</a:t>
            </a:r>
          </a:p>
        </p:txBody>
      </p:sp>
      <p:sp>
        <p:nvSpPr>
          <p:cNvPr id="28" name="TextBox 27"/>
          <p:cNvSpPr txBox="1"/>
          <p:nvPr/>
        </p:nvSpPr>
        <p:spPr>
          <a:xfrm>
            <a:off x="365760" y="4315968"/>
            <a:ext cx="5212080" cy="384048"/>
          </a:xfrm>
          <a:prstGeom prst="rect">
            <a:avLst/>
          </a:prstGeom>
          <a:noFill/>
        </p:spPr>
        <p:txBody>
          <a:bodyPr wrap="square">
            <a:spAutoFit/>
          </a:bodyPr>
          <a:lstStyle/>
          <a:p>
            <a:pPr algn="l"/>
            <a:r>
              <a:rPr sz="900" b="0" i="0">
                <a:solidFill>
                  <a:srgbClr val="404040"/>
                </a:solidFill>
              </a:rPr>
              <a:t>IFR/IFC design cycle (4-wk IFR + 2-wk review + 2-wk IFC) leaves limited buffer.</a:t>
            </a:r>
          </a:p>
        </p:txBody>
      </p:sp>
      <p:sp>
        <p:nvSpPr>
          <p:cNvPr id="29" name="TextBox 28"/>
          <p:cNvSpPr txBox="1"/>
          <p:nvPr/>
        </p:nvSpPr>
        <p:spPr>
          <a:xfrm>
            <a:off x="365760" y="4681728"/>
            <a:ext cx="5212080" cy="347472"/>
          </a:xfrm>
          <a:prstGeom prst="rect">
            <a:avLst/>
          </a:prstGeom>
          <a:noFill/>
        </p:spPr>
        <p:txBody>
          <a:bodyPr wrap="square">
            <a:spAutoFit/>
          </a:bodyPr>
          <a:lstStyle/>
          <a:p>
            <a:pPr algn="l"/>
            <a:r>
              <a:rPr sz="900" b="0" i="1">
                <a:solidFill>
                  <a:srgbClr val="003387"/>
                </a:solidFill>
              </a:rPr>
              <a:t>Mitigation: Phase 2 surveys done early. B&amp;McD running concurrent site designs. Weekly status calls tracking.</a:t>
            </a:r>
          </a:p>
        </p:txBody>
      </p:sp>
      <p:sp>
        <p:nvSpPr>
          <p:cNvPr id="30" name="Rectangle 29"/>
          <p:cNvSpPr/>
          <p:nvPr/>
        </p:nvSpPr>
        <p:spPr>
          <a:xfrm>
            <a:off x="274320" y="5166360"/>
            <a:ext cx="54864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5166360"/>
            <a:ext cx="100584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 y="5202936"/>
            <a:ext cx="914400" cy="274320"/>
          </a:xfrm>
          <a:prstGeom prst="rect">
            <a:avLst/>
          </a:prstGeom>
          <a:noFill/>
        </p:spPr>
        <p:txBody>
          <a:bodyPr wrap="square">
            <a:spAutoFit/>
          </a:bodyPr>
          <a:lstStyle/>
          <a:p>
            <a:pPr algn="ctr"/>
            <a:r>
              <a:rPr sz="1000" b="1" i="0">
                <a:solidFill>
                  <a:srgbClr val="00B050"/>
                </a:solidFill>
              </a:rPr>
              <a:t>RESOLVED</a:t>
            </a:r>
          </a:p>
        </p:txBody>
      </p:sp>
      <p:sp>
        <p:nvSpPr>
          <p:cNvPr id="33" name="TextBox 32"/>
          <p:cNvSpPr txBox="1"/>
          <p:nvPr/>
        </p:nvSpPr>
        <p:spPr>
          <a:xfrm>
            <a:off x="1325880" y="5202936"/>
            <a:ext cx="4297680" cy="292608"/>
          </a:xfrm>
          <a:prstGeom prst="rect">
            <a:avLst/>
          </a:prstGeom>
          <a:noFill/>
        </p:spPr>
        <p:txBody>
          <a:bodyPr wrap="square">
            <a:spAutoFit/>
          </a:bodyPr>
          <a:lstStyle/>
          <a:p>
            <a:pPr algn="l"/>
            <a:r>
              <a:rPr sz="1100" b="1" i="0">
                <a:solidFill>
                  <a:srgbClr val="404040"/>
                </a:solidFill>
              </a:rPr>
              <a:t>Crown Castle Fiber Issue (Hicksville)</a:t>
            </a:r>
          </a:p>
        </p:txBody>
      </p:sp>
      <p:sp>
        <p:nvSpPr>
          <p:cNvPr id="34" name="TextBox 33"/>
          <p:cNvSpPr txBox="1"/>
          <p:nvPr/>
        </p:nvSpPr>
        <p:spPr>
          <a:xfrm>
            <a:off x="365760" y="5550408"/>
            <a:ext cx="5212080" cy="384048"/>
          </a:xfrm>
          <a:prstGeom prst="rect">
            <a:avLst/>
          </a:prstGeom>
          <a:noFill/>
        </p:spPr>
        <p:txBody>
          <a:bodyPr wrap="square">
            <a:spAutoFit/>
          </a:bodyPr>
          <a:lstStyle/>
          <a:p>
            <a:pPr algn="l"/>
            <a:r>
              <a:rPr sz="900" b="0" i="0">
                <a:solidFill>
                  <a:srgbClr val="404040"/>
                </a:solidFill>
              </a:rPr>
              <a:t>Low dB levels on fiber — may be Crown Castle's network, not PSEG LI.</a:t>
            </a:r>
          </a:p>
        </p:txBody>
      </p:sp>
      <p:sp>
        <p:nvSpPr>
          <p:cNvPr id="35" name="TextBox 34"/>
          <p:cNvSpPr txBox="1"/>
          <p:nvPr/>
        </p:nvSpPr>
        <p:spPr>
          <a:xfrm>
            <a:off x="365760" y="5916168"/>
            <a:ext cx="5212080" cy="347472"/>
          </a:xfrm>
          <a:prstGeom prst="rect">
            <a:avLst/>
          </a:prstGeom>
          <a:noFill/>
        </p:spPr>
        <p:txBody>
          <a:bodyPr wrap="square">
            <a:spAutoFit/>
          </a:bodyPr>
          <a:lstStyle/>
          <a:p>
            <a:pPr algn="l"/>
            <a:r>
              <a:rPr sz="900" b="0" i="1">
                <a:solidFill>
                  <a:srgbClr val="00B050"/>
                </a:solidFill>
              </a:rPr>
              <a:t>RESOLVED ✅ — OTDR confirmed bad filter 03/09/2026. Issue cleared, no Crown Castle escalation needed.</a:t>
            </a:r>
          </a:p>
        </p:txBody>
      </p:sp>
      <p:sp>
        <p:nvSpPr>
          <p:cNvPr id="36" name="Rectangle 35"/>
          <p:cNvSpPr/>
          <p:nvPr/>
        </p:nvSpPr>
        <p:spPr>
          <a:xfrm>
            <a:off x="5943600" y="146304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0" y="146304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61888" y="1499616"/>
            <a:ext cx="1554480" cy="274320"/>
          </a:xfrm>
          <a:prstGeom prst="rect">
            <a:avLst/>
          </a:prstGeom>
          <a:noFill/>
        </p:spPr>
        <p:txBody>
          <a:bodyPr wrap="square">
            <a:spAutoFit/>
          </a:bodyPr>
          <a:lstStyle/>
          <a:p>
            <a:pPr algn="ctr"/>
            <a:r>
              <a:rPr sz="900" b="1" i="0">
                <a:solidFill>
                  <a:srgbClr val="00B050"/>
                </a:solidFill>
              </a:rPr>
              <a:t>COMPLETE ✅</a:t>
            </a:r>
          </a:p>
        </p:txBody>
      </p:sp>
      <p:sp>
        <p:nvSpPr>
          <p:cNvPr id="39" name="TextBox 38"/>
          <p:cNvSpPr txBox="1"/>
          <p:nvPr/>
        </p:nvSpPr>
        <p:spPr>
          <a:xfrm>
            <a:off x="7680960" y="1499616"/>
            <a:ext cx="4023360" cy="292608"/>
          </a:xfrm>
          <a:prstGeom prst="rect">
            <a:avLst/>
          </a:prstGeom>
          <a:noFill/>
        </p:spPr>
        <p:txBody>
          <a:bodyPr wrap="square">
            <a:spAutoFit/>
          </a:bodyPr>
          <a:lstStyle/>
          <a:p>
            <a:pPr algn="l"/>
            <a:r>
              <a:rPr sz="1100" b="1" i="0">
                <a:solidFill>
                  <a:srgbClr val="404040"/>
                </a:solidFill>
              </a:rPr>
              <a:t>Cat 6 Cabling — Hicksville NSP</a:t>
            </a:r>
          </a:p>
        </p:txBody>
      </p:sp>
      <p:sp>
        <p:nvSpPr>
          <p:cNvPr id="40" name="TextBox 39"/>
          <p:cNvSpPr txBox="1"/>
          <p:nvPr/>
        </p:nvSpPr>
        <p:spPr>
          <a:xfrm>
            <a:off x="6035040" y="1901952"/>
            <a:ext cx="5669280" cy="640080"/>
          </a:xfrm>
          <a:prstGeom prst="rect">
            <a:avLst/>
          </a:prstGeom>
          <a:noFill/>
        </p:spPr>
        <p:txBody>
          <a:bodyPr wrap="square">
            <a:spAutoFit/>
          </a:bodyPr>
          <a:lstStyle/>
          <a:p>
            <a:pPr algn="l"/>
            <a:r>
              <a:rPr sz="1000" b="0" i="0">
                <a:solidFill>
                  <a:srgbClr val="00B050"/>
                </a:solidFill>
              </a:rPr>
              <a:t>COMPLETE ✅ — Confirmed by Vinny (Hawkeye) 03/13/2026.</a:t>
            </a:r>
          </a:p>
        </p:txBody>
      </p:sp>
      <p:sp>
        <p:nvSpPr>
          <p:cNvPr id="41" name="Rectangle 40"/>
          <p:cNvSpPr/>
          <p:nvPr/>
        </p:nvSpPr>
        <p:spPr>
          <a:xfrm>
            <a:off x="5943600" y="2697480"/>
            <a:ext cx="5943600" cy="1143000"/>
          </a:xfrm>
          <a:prstGeom prst="rect">
            <a:avLst/>
          </a:prstGeom>
          <a:solidFill>
            <a:srgbClr val="FFFFFF"/>
          </a:solidFill>
          <a:ln w="2540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943600" y="2697480"/>
            <a:ext cx="164592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61888" y="2734056"/>
            <a:ext cx="1554480" cy="274320"/>
          </a:xfrm>
          <a:prstGeom prst="rect">
            <a:avLst/>
          </a:prstGeom>
          <a:noFill/>
        </p:spPr>
        <p:txBody>
          <a:bodyPr wrap="square">
            <a:spAutoFit/>
          </a:bodyPr>
          <a:lstStyle/>
          <a:p>
            <a:pPr algn="ctr"/>
            <a:r>
              <a:rPr sz="900" b="1" i="0" dirty="0">
                <a:solidFill>
                  <a:srgbClr val="00B050"/>
                </a:solidFill>
              </a:rPr>
              <a:t>COMPLETE ✅</a:t>
            </a:r>
          </a:p>
        </p:txBody>
      </p:sp>
      <p:sp>
        <p:nvSpPr>
          <p:cNvPr id="44" name="TextBox 43"/>
          <p:cNvSpPr txBox="1"/>
          <p:nvPr/>
        </p:nvSpPr>
        <p:spPr>
          <a:xfrm>
            <a:off x="7680960" y="2734056"/>
            <a:ext cx="4023360" cy="292608"/>
          </a:xfrm>
          <a:prstGeom prst="rect">
            <a:avLst/>
          </a:prstGeom>
          <a:noFill/>
        </p:spPr>
        <p:txBody>
          <a:bodyPr wrap="square">
            <a:spAutoFit/>
          </a:bodyPr>
          <a:lstStyle/>
          <a:p>
            <a:pPr algn="l"/>
            <a:r>
              <a:rPr sz="1100" b="1" i="0">
                <a:solidFill>
                  <a:srgbClr val="404040"/>
                </a:solidFill>
              </a:rPr>
              <a:t>OTDR Testing — Hicksville</a:t>
            </a:r>
          </a:p>
        </p:txBody>
      </p:sp>
      <p:sp>
        <p:nvSpPr>
          <p:cNvPr id="45" name="TextBox 44"/>
          <p:cNvSpPr txBox="1"/>
          <p:nvPr/>
        </p:nvSpPr>
        <p:spPr>
          <a:xfrm>
            <a:off x="6035040" y="3136392"/>
            <a:ext cx="5669280" cy="640080"/>
          </a:xfrm>
          <a:prstGeom prst="rect">
            <a:avLst/>
          </a:prstGeom>
          <a:noFill/>
        </p:spPr>
        <p:txBody>
          <a:bodyPr wrap="square">
            <a:spAutoFit/>
          </a:bodyPr>
          <a:lstStyle/>
          <a:p>
            <a:pPr algn="l"/>
            <a:r>
              <a:rPr sz="1000" b="0" i="0">
                <a:solidFill>
                  <a:srgbClr val="00B050"/>
                </a:solidFill>
              </a:rPr>
              <a:t>COMPLETE ✅ — 03/09/2026. Bad filter identified and resolved. Crown Castle fiber issue cleared.</a:t>
            </a:r>
          </a:p>
        </p:txBody>
      </p:sp>
      <p:sp>
        <p:nvSpPr>
          <p:cNvPr id="46" name="Rectangle 45"/>
          <p:cNvSpPr/>
          <p:nvPr/>
        </p:nvSpPr>
        <p:spPr>
          <a:xfrm>
            <a:off x="5943600" y="393192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0" y="393192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61888" y="3968496"/>
            <a:ext cx="1554480" cy="274320"/>
          </a:xfrm>
          <a:prstGeom prst="rect">
            <a:avLst/>
          </a:prstGeom>
          <a:noFill/>
        </p:spPr>
        <p:txBody>
          <a:bodyPr wrap="square">
            <a:spAutoFit/>
          </a:bodyPr>
          <a:lstStyle/>
          <a:p>
            <a:pPr algn="ctr"/>
            <a:r>
              <a:rPr sz="900" b="1" i="0">
                <a:solidFill>
                  <a:srgbClr val="FFFFFF"/>
                </a:solidFill>
              </a:rPr>
              <a:t>IN PROGRESS</a:t>
            </a:r>
          </a:p>
        </p:txBody>
      </p:sp>
      <p:sp>
        <p:nvSpPr>
          <p:cNvPr id="49" name="TextBox 48"/>
          <p:cNvSpPr txBox="1"/>
          <p:nvPr/>
        </p:nvSpPr>
        <p:spPr>
          <a:xfrm>
            <a:off x="7680960" y="3968496"/>
            <a:ext cx="4023360" cy="292608"/>
          </a:xfrm>
          <a:prstGeom prst="rect">
            <a:avLst/>
          </a:prstGeom>
          <a:noFill/>
        </p:spPr>
        <p:txBody>
          <a:bodyPr wrap="square">
            <a:spAutoFit/>
          </a:bodyPr>
          <a:lstStyle/>
          <a:p>
            <a:pPr algn="l"/>
            <a:r>
              <a:rPr sz="1100" b="1" i="0">
                <a:solidFill>
                  <a:srgbClr val="404040"/>
                </a:solidFill>
              </a:rPr>
              <a:t>Remote Access — Phase 2 Nodes</a:t>
            </a:r>
          </a:p>
        </p:txBody>
      </p:sp>
      <p:sp>
        <p:nvSpPr>
          <p:cNvPr id="50" name="TextBox 49"/>
          <p:cNvSpPr txBox="1"/>
          <p:nvPr/>
        </p:nvSpPr>
        <p:spPr>
          <a:xfrm>
            <a:off x="6035040" y="4370832"/>
            <a:ext cx="5669280" cy="640080"/>
          </a:xfrm>
          <a:prstGeom prst="rect">
            <a:avLst/>
          </a:prstGeom>
          <a:noFill/>
        </p:spPr>
        <p:txBody>
          <a:bodyPr wrap="square">
            <a:spAutoFit/>
          </a:bodyPr>
          <a:lstStyle/>
          <a:p>
            <a:pPr algn="l"/>
            <a:r>
              <a:rPr sz="750" b="0" i="0">
                <a:solidFill>
                  <a:srgbClr val="F7941D"/>
                </a:solidFill>
              </a:rPr>
              <a:t>✅ BGP APPROVED 3/16/2026 — Lee Blackman to begin change documentation. 🔴 ILO configuration is NOW the #1 critical path blocker — Rahiq/Brianna missing console cable &amp; firmware. Bill (B&amp;M) stepping in to resolve. ILO → BGP config → Remote access 31 routers → Phase 1 close Jun 2026.</a:t>
            </a:r>
          </a:p>
        </p:txBody>
      </p:sp>
      <p:sp>
        <p:nvSpPr>
          <p:cNvPr id="51" name="Rectangle 50"/>
          <p:cNvSpPr/>
          <p:nvPr/>
        </p:nvSpPr>
        <p:spPr>
          <a:xfrm>
            <a:off x="5943600" y="5166360"/>
            <a:ext cx="59436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5166360"/>
            <a:ext cx="164592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61888" y="5202936"/>
            <a:ext cx="1554480" cy="274320"/>
          </a:xfrm>
          <a:prstGeom prst="rect">
            <a:avLst/>
          </a:prstGeom>
          <a:noFill/>
        </p:spPr>
        <p:txBody>
          <a:bodyPr wrap="square">
            <a:spAutoFit/>
          </a:bodyPr>
          <a:lstStyle/>
          <a:p>
            <a:pPr algn="ctr"/>
            <a:r>
              <a:rPr sz="900" b="1" i="0">
                <a:solidFill>
                  <a:srgbClr val="FFFFFF"/>
                </a:solidFill>
              </a:rPr>
              <a:t>COMPLETE</a:t>
            </a:r>
          </a:p>
        </p:txBody>
      </p:sp>
      <p:sp>
        <p:nvSpPr>
          <p:cNvPr id="54" name="TextBox 53"/>
          <p:cNvSpPr txBox="1"/>
          <p:nvPr/>
        </p:nvSpPr>
        <p:spPr>
          <a:xfrm>
            <a:off x="7680960" y="5202936"/>
            <a:ext cx="4023360" cy="292608"/>
          </a:xfrm>
          <a:prstGeom prst="rect">
            <a:avLst/>
          </a:prstGeom>
          <a:noFill/>
        </p:spPr>
        <p:txBody>
          <a:bodyPr wrap="square">
            <a:spAutoFit/>
          </a:bodyPr>
          <a:lstStyle/>
          <a:p>
            <a:pPr algn="l"/>
            <a:r>
              <a:rPr sz="1100" b="1" i="0">
                <a:solidFill>
                  <a:srgbClr val="404040"/>
                </a:solidFill>
              </a:rPr>
              <a:t>Phase 2 SSP / Security Reviews</a:t>
            </a:r>
          </a:p>
        </p:txBody>
      </p:sp>
      <p:sp>
        <p:nvSpPr>
          <p:cNvPr id="55" name="TextBox 54"/>
          <p:cNvSpPr txBox="1"/>
          <p:nvPr/>
        </p:nvSpPr>
        <p:spPr>
          <a:xfrm>
            <a:off x="6035040" y="5605272"/>
            <a:ext cx="5669280" cy="640080"/>
          </a:xfrm>
          <a:prstGeom prst="rect">
            <a:avLst/>
          </a:prstGeom>
          <a:noFill/>
        </p:spPr>
        <p:txBody>
          <a:bodyPr wrap="square">
            <a:spAutoFit/>
          </a:bodyPr>
          <a:lstStyle/>
          <a:p>
            <a:pPr algn="l"/>
            <a:r>
              <a:rPr sz="1000" b="0" i="0">
                <a:solidFill>
                  <a:srgbClr val="404040"/>
                </a:solidFill>
              </a:rPr>
              <a:t>Architecture review, security assessment, compliance readiness all approved 2/10/2026.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Next Steps &amp; Path to Completion</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March 2026 — July 2027</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539496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52160" y="1051560"/>
            <a:ext cx="603504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539496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78992"/>
            <a:ext cx="5212080" cy="320040"/>
          </a:xfrm>
          <a:prstGeom prst="rect">
            <a:avLst/>
          </a:prstGeom>
          <a:noFill/>
        </p:spPr>
        <p:txBody>
          <a:bodyPr wrap="square">
            <a:spAutoFit/>
          </a:bodyPr>
          <a:lstStyle/>
          <a:p>
            <a:pPr algn="l"/>
            <a:r>
              <a:rPr sz="1200" b="1" i="0">
                <a:solidFill>
                  <a:srgbClr val="FFFFFF"/>
                </a:solidFill>
              </a:rPr>
              <a:t>IMMEDIATE (Next 30 Days)</a:t>
            </a:r>
          </a:p>
        </p:txBody>
      </p:sp>
      <p:sp>
        <p:nvSpPr>
          <p:cNvPr id="12" name="Rectangle 11"/>
          <p:cNvSpPr/>
          <p:nvPr/>
        </p:nvSpPr>
        <p:spPr>
          <a:xfrm>
            <a:off x="320040" y="153619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 y="1591056"/>
            <a:ext cx="960120" cy="320040"/>
          </a:xfrm>
          <a:prstGeom prst="rect">
            <a:avLst/>
          </a:prstGeom>
          <a:noFill/>
        </p:spPr>
        <p:txBody>
          <a:bodyPr wrap="square">
            <a:spAutoFit/>
          </a:bodyPr>
          <a:lstStyle/>
          <a:p>
            <a:pPr algn="ctr"/>
            <a:r>
              <a:rPr sz="900" b="1" i="0">
                <a:solidFill>
                  <a:srgbClr val="FFFFFF"/>
                </a:solidFill>
              </a:rPr>
              <a:t>Mar 16</a:t>
            </a:r>
          </a:p>
        </p:txBody>
      </p:sp>
      <p:sp>
        <p:nvSpPr>
          <p:cNvPr id="14" name="TextBox 13"/>
          <p:cNvSpPr txBox="1"/>
          <p:nvPr/>
        </p:nvSpPr>
        <p:spPr>
          <a:xfrm>
            <a:off x="1417320" y="1591056"/>
            <a:ext cx="4114800" cy="246221"/>
          </a:xfrm>
          <a:prstGeom prst="rect">
            <a:avLst/>
          </a:prstGeom>
          <a:noFill/>
        </p:spPr>
        <p:txBody>
          <a:bodyPr wrap="square">
            <a:spAutoFit/>
          </a:bodyPr>
          <a:lstStyle/>
          <a:p>
            <a:pPr algn="l"/>
            <a:r>
              <a:rPr lang="en-US" sz="1000" b="0" i="0" dirty="0">
                <a:solidFill>
                  <a:srgbClr val="28A745"/>
                </a:solidFill>
              </a:rPr>
              <a:t>✅ BGP design approved 3/16 — Lee Blackman to proceed with Melville &amp; Hicksville change documentation</a:t>
            </a:r>
            <a:endParaRPr sz="1000" b="0" i="0" dirty="0">
              <a:solidFill>
                <a:srgbClr val="404040"/>
              </a:solidFill>
            </a:endParaRPr>
          </a:p>
        </p:txBody>
      </p:sp>
      <p:sp>
        <p:nvSpPr>
          <p:cNvPr id="15" name="Rectangle 14"/>
          <p:cNvSpPr/>
          <p:nvPr/>
        </p:nvSpPr>
        <p:spPr>
          <a:xfrm>
            <a:off x="320040" y="2103120"/>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2157984"/>
            <a:ext cx="960120" cy="320040"/>
          </a:xfrm>
          <a:prstGeom prst="rect">
            <a:avLst/>
          </a:prstGeom>
          <a:noFill/>
        </p:spPr>
        <p:txBody>
          <a:bodyPr wrap="square">
            <a:spAutoFit/>
          </a:bodyPr>
          <a:lstStyle/>
          <a:p>
            <a:pPr algn="ctr"/>
            <a:r>
              <a:rPr sz="900" b="1" i="0">
                <a:solidFill>
                  <a:srgbClr val="FFFFFF"/>
                </a:solidFill>
              </a:rPr>
              <a:t>Mar 16</a:t>
            </a:r>
          </a:p>
        </p:txBody>
      </p:sp>
      <p:sp>
        <p:nvSpPr>
          <p:cNvPr id="18" name="Rectangle 17"/>
          <p:cNvSpPr/>
          <p:nvPr/>
        </p:nvSpPr>
        <p:spPr>
          <a:xfrm>
            <a:off x="320040" y="2670048"/>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 y="2724912"/>
            <a:ext cx="960120" cy="320040"/>
          </a:xfrm>
          <a:prstGeom prst="rect">
            <a:avLst/>
          </a:prstGeom>
          <a:noFill/>
        </p:spPr>
        <p:txBody>
          <a:bodyPr wrap="square">
            <a:spAutoFit/>
          </a:bodyPr>
          <a:lstStyle/>
          <a:p>
            <a:pPr algn="ctr"/>
            <a:r>
              <a:rPr sz="900" b="1" i="0">
                <a:solidFill>
                  <a:srgbClr val="FFFFFF"/>
                </a:solidFill>
              </a:rPr>
              <a:t>Mar 2026</a:t>
            </a:r>
          </a:p>
        </p:txBody>
      </p:sp>
      <p:sp>
        <p:nvSpPr>
          <p:cNvPr id="20" name="TextBox 19"/>
          <p:cNvSpPr txBox="1"/>
          <p:nvPr/>
        </p:nvSpPr>
        <p:spPr>
          <a:xfrm>
            <a:off x="1431036" y="2157984"/>
            <a:ext cx="4114800" cy="384048"/>
          </a:xfrm>
          <a:prstGeom prst="rect">
            <a:avLst/>
          </a:prstGeom>
          <a:noFill/>
        </p:spPr>
        <p:txBody>
          <a:bodyPr wrap="square">
            <a:spAutoFit/>
          </a:bodyPr>
          <a:lstStyle/>
          <a:p>
            <a:pPr algn="l"/>
            <a:r>
              <a:rPr sz="1000" b="0" i="0">
                <a:solidFill>
                  <a:srgbClr val="F7941D"/>
                </a:solidFill>
              </a:rPr>
              <a:t>ILO config (🔴 BLOCKER — Bill/Rahiq resolving) → BGP config Hicksville &amp; Melville (Lee) → Remote access 31 routers → App cutover PREP → RTU cutovers → Phase 1 close Jun 2026</a:t>
            </a:r>
          </a:p>
        </p:txBody>
      </p:sp>
      <p:sp>
        <p:nvSpPr>
          <p:cNvPr id="21" name="Rectangle 20"/>
          <p:cNvSpPr/>
          <p:nvPr/>
        </p:nvSpPr>
        <p:spPr>
          <a:xfrm>
            <a:off x="320040" y="3236976"/>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 y="3291840"/>
            <a:ext cx="960120" cy="320040"/>
          </a:xfrm>
          <a:prstGeom prst="rect">
            <a:avLst/>
          </a:prstGeom>
          <a:noFill/>
        </p:spPr>
        <p:txBody>
          <a:bodyPr wrap="square">
            <a:spAutoFit/>
          </a:bodyPr>
          <a:lstStyle/>
          <a:p>
            <a:pPr algn="ctr"/>
            <a:r>
              <a:rPr sz="900" b="1" i="0">
                <a:solidFill>
                  <a:srgbClr val="FFFFFF"/>
                </a:solidFill>
              </a:rPr>
              <a:t>Mar 2026</a:t>
            </a:r>
          </a:p>
        </p:txBody>
      </p:sp>
      <p:sp>
        <p:nvSpPr>
          <p:cNvPr id="23" name="TextBox 22"/>
          <p:cNvSpPr txBox="1"/>
          <p:nvPr/>
        </p:nvSpPr>
        <p:spPr>
          <a:xfrm>
            <a:off x="1431036" y="2724912"/>
            <a:ext cx="4114800" cy="384048"/>
          </a:xfrm>
          <a:prstGeom prst="rect">
            <a:avLst/>
          </a:prstGeom>
          <a:noFill/>
        </p:spPr>
        <p:txBody>
          <a:bodyPr wrap="square">
            <a:spAutoFit/>
          </a:bodyPr>
          <a:lstStyle/>
          <a:p>
            <a:pPr algn="l"/>
            <a:r>
              <a:rPr sz="1000" b="0" i="0">
                <a:solidFill>
                  <a:srgbClr val="00B050"/>
                </a:solidFill>
              </a:rPr>
              <a:t>Wave 1 IFRs (Far Rockaway, Valley Stream, Cedarhurst) — COMPLETE ✅ Converted to IFC &amp; uploaded to shared drive</a:t>
            </a:r>
          </a:p>
        </p:txBody>
      </p:sp>
      <p:sp>
        <p:nvSpPr>
          <p:cNvPr id="24" name="Rectangle 23"/>
          <p:cNvSpPr/>
          <p:nvPr/>
        </p:nvSpPr>
        <p:spPr>
          <a:xfrm>
            <a:off x="320040" y="3803904"/>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8328" y="3858768"/>
            <a:ext cx="960120" cy="320040"/>
          </a:xfrm>
          <a:prstGeom prst="rect">
            <a:avLst/>
          </a:prstGeom>
          <a:noFill/>
        </p:spPr>
        <p:txBody>
          <a:bodyPr wrap="square">
            <a:spAutoFit/>
          </a:bodyPr>
          <a:lstStyle/>
          <a:p>
            <a:pPr algn="ctr"/>
            <a:r>
              <a:rPr sz="900" b="1" i="0">
                <a:solidFill>
                  <a:srgbClr val="FFFFFF"/>
                </a:solidFill>
              </a:rPr>
              <a:t>Mar 9</a:t>
            </a:r>
          </a:p>
        </p:txBody>
      </p:sp>
      <p:sp>
        <p:nvSpPr>
          <p:cNvPr id="26" name="TextBox 25"/>
          <p:cNvSpPr txBox="1"/>
          <p:nvPr/>
        </p:nvSpPr>
        <p:spPr>
          <a:xfrm>
            <a:off x="1431036" y="3291840"/>
            <a:ext cx="4114800" cy="384048"/>
          </a:xfrm>
          <a:prstGeom prst="rect">
            <a:avLst/>
          </a:prstGeom>
          <a:noFill/>
        </p:spPr>
        <p:txBody>
          <a:bodyPr wrap="square">
            <a:spAutoFit/>
          </a:bodyPr>
          <a:lstStyle/>
          <a:p>
            <a:pPr algn="l"/>
            <a:r>
              <a:rPr sz="1000" b="0" i="0">
                <a:solidFill>
                  <a:srgbClr val="00B050"/>
                </a:solidFill>
              </a:rPr>
              <a:t>Wave 1 IFC approved by PSEG LI ✅ — Wave 2 IFR packages in progress</a:t>
            </a:r>
          </a:p>
        </p:txBody>
      </p:sp>
      <p:sp>
        <p:nvSpPr>
          <p:cNvPr id="27" name="Rectangle 26"/>
          <p:cNvSpPr/>
          <p:nvPr/>
        </p:nvSpPr>
        <p:spPr>
          <a:xfrm>
            <a:off x="320040" y="437083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8328" y="4425696"/>
            <a:ext cx="960120" cy="320040"/>
          </a:xfrm>
          <a:prstGeom prst="rect">
            <a:avLst/>
          </a:prstGeom>
          <a:noFill/>
        </p:spPr>
        <p:txBody>
          <a:bodyPr wrap="square">
            <a:spAutoFit/>
          </a:bodyPr>
          <a:lstStyle/>
          <a:p>
            <a:pPr algn="ctr"/>
            <a:r>
              <a:rPr sz="900" b="1" i="0">
                <a:solidFill>
                  <a:srgbClr val="FFFFFF"/>
                </a:solidFill>
              </a:rPr>
              <a:t>Mar 23</a:t>
            </a:r>
          </a:p>
        </p:txBody>
      </p:sp>
      <p:sp>
        <p:nvSpPr>
          <p:cNvPr id="29" name="TextBox 28"/>
          <p:cNvSpPr txBox="1"/>
          <p:nvPr/>
        </p:nvSpPr>
        <p:spPr>
          <a:xfrm>
            <a:off x="1431036" y="3858768"/>
            <a:ext cx="4114800" cy="384048"/>
          </a:xfrm>
          <a:prstGeom prst="rect">
            <a:avLst/>
          </a:prstGeom>
          <a:noFill/>
        </p:spPr>
        <p:txBody>
          <a:bodyPr wrap="square">
            <a:spAutoFit/>
          </a:bodyPr>
          <a:lstStyle/>
          <a:p>
            <a:pPr algn="l"/>
            <a:r>
              <a:rPr sz="1000" b="0" i="0">
                <a:solidFill>
                  <a:srgbClr val="00B050"/>
                </a:solidFill>
              </a:rPr>
              <a:t>✅ Wave 1 IFC complete — Far Rockaway, Valley Stream, Cedarhurst approved &amp; uploaded</a:t>
            </a:r>
          </a:p>
        </p:txBody>
      </p:sp>
      <p:sp>
        <p:nvSpPr>
          <p:cNvPr id="30" name="Rectangle 29"/>
          <p:cNvSpPr/>
          <p:nvPr/>
        </p:nvSpPr>
        <p:spPr>
          <a:xfrm>
            <a:off x="320040" y="4937759"/>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 y="4992623"/>
            <a:ext cx="960120" cy="320040"/>
          </a:xfrm>
          <a:prstGeom prst="rect">
            <a:avLst/>
          </a:prstGeom>
          <a:noFill/>
        </p:spPr>
        <p:txBody>
          <a:bodyPr wrap="square">
            <a:spAutoFit/>
          </a:bodyPr>
          <a:lstStyle/>
          <a:p>
            <a:pPr algn="ctr"/>
            <a:r>
              <a:rPr sz="900" b="1" i="0">
                <a:solidFill>
                  <a:srgbClr val="FFFFFF"/>
                </a:solidFill>
              </a:rPr>
              <a:t>Ongoing</a:t>
            </a:r>
          </a:p>
        </p:txBody>
      </p:sp>
      <p:sp>
        <p:nvSpPr>
          <p:cNvPr id="32" name="TextBox 31"/>
          <p:cNvSpPr txBox="1"/>
          <p:nvPr/>
        </p:nvSpPr>
        <p:spPr>
          <a:xfrm>
            <a:off x="1431036" y="4425695"/>
            <a:ext cx="4114800" cy="384048"/>
          </a:xfrm>
          <a:prstGeom prst="rect">
            <a:avLst/>
          </a:prstGeom>
          <a:noFill/>
        </p:spPr>
        <p:txBody>
          <a:bodyPr wrap="square">
            <a:spAutoFit/>
          </a:bodyPr>
          <a:lstStyle/>
          <a:p>
            <a:pPr algn="l"/>
            <a:r>
              <a:rPr sz="1000" b="0" i="0">
                <a:solidFill>
                  <a:srgbClr val="404040"/>
                </a:solidFill>
              </a:rPr>
              <a:t>Weekly status calls with B&amp;McD; monthly schedule updates</a:t>
            </a:r>
          </a:p>
        </p:txBody>
      </p:sp>
      <p:sp>
        <p:nvSpPr>
          <p:cNvPr id="33" name="Rectangle 32"/>
          <p:cNvSpPr/>
          <p:nvPr/>
        </p:nvSpPr>
        <p:spPr>
          <a:xfrm>
            <a:off x="5852160" y="1051560"/>
            <a:ext cx="603504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0" y="1078992"/>
            <a:ext cx="5852160" cy="320040"/>
          </a:xfrm>
          <a:prstGeom prst="rect">
            <a:avLst/>
          </a:prstGeom>
          <a:noFill/>
        </p:spPr>
        <p:txBody>
          <a:bodyPr wrap="square">
            <a:spAutoFit/>
          </a:bodyPr>
          <a:lstStyle/>
          <a:p>
            <a:pPr algn="l"/>
            <a:r>
              <a:rPr sz="1200" b="1" i="0">
                <a:solidFill>
                  <a:srgbClr val="FFFFFF"/>
                </a:solidFill>
              </a:rPr>
              <a:t>PATH TO COMPLETION</a:t>
            </a:r>
          </a:p>
        </p:txBody>
      </p:sp>
      <p:sp>
        <p:nvSpPr>
          <p:cNvPr id="35" name="Rectangle 34"/>
          <p:cNvSpPr/>
          <p:nvPr/>
        </p:nvSpPr>
        <p:spPr>
          <a:xfrm>
            <a:off x="5897880" y="1536192"/>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897880" y="1536192"/>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16168" y="1645919"/>
            <a:ext cx="1325880" cy="347472"/>
          </a:xfrm>
          <a:prstGeom prst="rect">
            <a:avLst/>
          </a:prstGeom>
          <a:noFill/>
        </p:spPr>
        <p:txBody>
          <a:bodyPr wrap="square">
            <a:spAutoFit/>
          </a:bodyPr>
          <a:lstStyle/>
          <a:p>
            <a:pPr algn="ctr"/>
            <a:r>
              <a:rPr sz="1000" b="1" i="0">
                <a:solidFill>
                  <a:srgbClr val="FFFFFF"/>
                </a:solidFill>
              </a:rPr>
              <a:t>Q1 2026</a:t>
            </a:r>
          </a:p>
        </p:txBody>
      </p:sp>
      <p:sp>
        <p:nvSpPr>
          <p:cNvPr id="38" name="TextBox 37"/>
          <p:cNvSpPr txBox="1"/>
          <p:nvPr/>
        </p:nvSpPr>
        <p:spPr>
          <a:xfrm>
            <a:off x="7360920" y="1645919"/>
            <a:ext cx="4343400" cy="347472"/>
          </a:xfrm>
          <a:prstGeom prst="rect">
            <a:avLst/>
          </a:prstGeom>
          <a:noFill/>
        </p:spPr>
        <p:txBody>
          <a:bodyPr wrap="square">
            <a:spAutoFit/>
          </a:bodyPr>
          <a:lstStyle/>
          <a:p>
            <a:pPr algn="l"/>
            <a:r>
              <a:rPr sz="1100" b="0" i="0">
                <a:solidFill>
                  <a:srgbClr val="F7941D"/>
                </a:solidFill>
              </a:rPr>
              <a:t>Phase 1 Operational (Jun 2026)* | Phase 2 IFR/IFC design underway</a:t>
            </a:r>
          </a:p>
        </p:txBody>
      </p:sp>
      <p:sp>
        <p:nvSpPr>
          <p:cNvPr id="39" name="Rectangle 38"/>
          <p:cNvSpPr/>
          <p:nvPr/>
        </p:nvSpPr>
        <p:spPr>
          <a:xfrm>
            <a:off x="5897880" y="2194560"/>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97880" y="2194560"/>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16168" y="2304288"/>
            <a:ext cx="1325880" cy="347472"/>
          </a:xfrm>
          <a:prstGeom prst="rect">
            <a:avLst/>
          </a:prstGeom>
          <a:noFill/>
        </p:spPr>
        <p:txBody>
          <a:bodyPr wrap="square">
            <a:spAutoFit/>
          </a:bodyPr>
          <a:lstStyle/>
          <a:p>
            <a:pPr algn="ctr"/>
            <a:r>
              <a:rPr sz="1000" b="1" i="0">
                <a:solidFill>
                  <a:srgbClr val="FFFFFF"/>
                </a:solidFill>
              </a:rPr>
              <a:t>Q2 2026</a:t>
            </a:r>
          </a:p>
        </p:txBody>
      </p:sp>
      <p:sp>
        <p:nvSpPr>
          <p:cNvPr id="42" name="TextBox 41"/>
          <p:cNvSpPr txBox="1"/>
          <p:nvPr/>
        </p:nvSpPr>
        <p:spPr>
          <a:xfrm>
            <a:off x="7360920" y="2304288"/>
            <a:ext cx="4343400" cy="347472"/>
          </a:xfrm>
          <a:prstGeom prst="rect">
            <a:avLst/>
          </a:prstGeom>
          <a:noFill/>
        </p:spPr>
        <p:txBody>
          <a:bodyPr wrap="square">
            <a:spAutoFit/>
          </a:bodyPr>
          <a:lstStyle/>
          <a:p>
            <a:pPr algn="l"/>
            <a:r>
              <a:rPr sz="1100" b="0" i="0">
                <a:solidFill>
                  <a:srgbClr val="404040"/>
                </a:solidFill>
              </a:rPr>
              <a:t>Phase 2 IFC completion (all 36 sites)</a:t>
            </a:r>
          </a:p>
        </p:txBody>
      </p:sp>
      <p:sp>
        <p:nvSpPr>
          <p:cNvPr id="43" name="Rectangle 42"/>
          <p:cNvSpPr/>
          <p:nvPr/>
        </p:nvSpPr>
        <p:spPr>
          <a:xfrm>
            <a:off x="5897880" y="2852928"/>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897880" y="2852928"/>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16168" y="2962656"/>
            <a:ext cx="1325880" cy="347472"/>
          </a:xfrm>
          <a:prstGeom prst="rect">
            <a:avLst/>
          </a:prstGeom>
          <a:noFill/>
        </p:spPr>
        <p:txBody>
          <a:bodyPr wrap="square">
            <a:spAutoFit/>
          </a:bodyPr>
          <a:lstStyle/>
          <a:p>
            <a:pPr algn="ctr"/>
            <a:r>
              <a:rPr sz="1000" b="1" i="0">
                <a:solidFill>
                  <a:srgbClr val="FFFFFF"/>
                </a:solidFill>
              </a:rPr>
              <a:t>Q2–Q3 2026</a:t>
            </a:r>
          </a:p>
        </p:txBody>
      </p:sp>
      <p:sp>
        <p:nvSpPr>
          <p:cNvPr id="46" name="TextBox 45"/>
          <p:cNvSpPr txBox="1"/>
          <p:nvPr/>
        </p:nvSpPr>
        <p:spPr>
          <a:xfrm>
            <a:off x="7360920" y="2962656"/>
            <a:ext cx="4343400" cy="347472"/>
          </a:xfrm>
          <a:prstGeom prst="rect">
            <a:avLst/>
          </a:prstGeom>
          <a:noFill/>
        </p:spPr>
        <p:txBody>
          <a:bodyPr wrap="square">
            <a:spAutoFit/>
          </a:bodyPr>
          <a:lstStyle/>
          <a:p>
            <a:pPr algn="l"/>
            <a:r>
              <a:rPr sz="1100" b="0" i="0">
                <a:solidFill>
                  <a:srgbClr val="404040"/>
                </a:solidFill>
              </a:rPr>
              <a:t>Phase 2 construction mobilization</a:t>
            </a:r>
          </a:p>
        </p:txBody>
      </p:sp>
      <p:sp>
        <p:nvSpPr>
          <p:cNvPr id="47" name="Rectangle 46"/>
          <p:cNvSpPr/>
          <p:nvPr/>
        </p:nvSpPr>
        <p:spPr>
          <a:xfrm>
            <a:off x="5897880" y="3511296"/>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897880" y="3511296"/>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16168" y="3621024"/>
            <a:ext cx="1325880" cy="347472"/>
          </a:xfrm>
          <a:prstGeom prst="rect">
            <a:avLst/>
          </a:prstGeom>
          <a:noFill/>
        </p:spPr>
        <p:txBody>
          <a:bodyPr wrap="square">
            <a:spAutoFit/>
          </a:bodyPr>
          <a:lstStyle/>
          <a:p>
            <a:pPr algn="ctr"/>
            <a:r>
              <a:rPr sz="1000" b="1" i="0">
                <a:solidFill>
                  <a:srgbClr val="FFFFFF"/>
                </a:solidFill>
              </a:rPr>
              <a:t>Q3–Q4 2026</a:t>
            </a:r>
          </a:p>
        </p:txBody>
      </p:sp>
      <p:sp>
        <p:nvSpPr>
          <p:cNvPr id="50" name="TextBox 49"/>
          <p:cNvSpPr txBox="1"/>
          <p:nvPr/>
        </p:nvSpPr>
        <p:spPr>
          <a:xfrm>
            <a:off x="7360920" y="3621024"/>
            <a:ext cx="4343400" cy="347472"/>
          </a:xfrm>
          <a:prstGeom prst="rect">
            <a:avLst/>
          </a:prstGeom>
          <a:noFill/>
        </p:spPr>
        <p:txBody>
          <a:bodyPr wrap="square">
            <a:spAutoFit/>
          </a:bodyPr>
          <a:lstStyle/>
          <a:p>
            <a:pPr algn="l"/>
            <a:r>
              <a:rPr sz="1100" b="0" i="0">
                <a:solidFill>
                  <a:srgbClr val="404040"/>
                </a:solidFill>
              </a:rPr>
              <a:t>Phase 2 installations at all 36 sites</a:t>
            </a:r>
          </a:p>
        </p:txBody>
      </p:sp>
      <p:sp>
        <p:nvSpPr>
          <p:cNvPr id="51" name="Rectangle 50"/>
          <p:cNvSpPr/>
          <p:nvPr/>
        </p:nvSpPr>
        <p:spPr>
          <a:xfrm>
            <a:off x="5897880" y="4169663"/>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97880" y="4169663"/>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16168" y="4279392"/>
            <a:ext cx="1325880" cy="347472"/>
          </a:xfrm>
          <a:prstGeom prst="rect">
            <a:avLst/>
          </a:prstGeom>
          <a:noFill/>
        </p:spPr>
        <p:txBody>
          <a:bodyPr wrap="square">
            <a:spAutoFit/>
          </a:bodyPr>
          <a:lstStyle/>
          <a:p>
            <a:pPr algn="ctr"/>
            <a:r>
              <a:rPr sz="1000" b="1" i="0">
                <a:solidFill>
                  <a:srgbClr val="FFFFFF"/>
                </a:solidFill>
              </a:rPr>
              <a:t>Q4 2026</a:t>
            </a:r>
          </a:p>
        </p:txBody>
      </p:sp>
      <p:sp>
        <p:nvSpPr>
          <p:cNvPr id="54" name="TextBox 53"/>
          <p:cNvSpPr txBox="1"/>
          <p:nvPr/>
        </p:nvSpPr>
        <p:spPr>
          <a:xfrm>
            <a:off x="7360920" y="4279392"/>
            <a:ext cx="4343400" cy="347472"/>
          </a:xfrm>
          <a:prstGeom prst="rect">
            <a:avLst/>
          </a:prstGeom>
          <a:noFill/>
        </p:spPr>
        <p:txBody>
          <a:bodyPr wrap="square">
            <a:spAutoFit/>
          </a:bodyPr>
          <a:lstStyle/>
          <a:p>
            <a:pPr algn="l"/>
            <a:r>
              <a:rPr sz="1100" b="0" i="0">
                <a:solidFill>
                  <a:srgbClr val="404040"/>
                </a:solidFill>
              </a:rPr>
              <a:t>Phase 2 cutovers — Waves 3 &amp; 4</a:t>
            </a:r>
          </a:p>
        </p:txBody>
      </p:sp>
      <p:sp>
        <p:nvSpPr>
          <p:cNvPr id="55" name="Rectangle 54"/>
          <p:cNvSpPr/>
          <p:nvPr/>
        </p:nvSpPr>
        <p:spPr>
          <a:xfrm>
            <a:off x="5897880" y="4828031"/>
            <a:ext cx="5897880" cy="566928"/>
          </a:xfrm>
          <a:prstGeom prst="rect">
            <a:avLst/>
          </a:prstGeom>
          <a:solidFill>
            <a:srgbClr val="FFFFFF"/>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897880" y="4828031"/>
            <a:ext cx="1371600" cy="5669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16168" y="4937759"/>
            <a:ext cx="1325880" cy="347472"/>
          </a:xfrm>
          <a:prstGeom prst="rect">
            <a:avLst/>
          </a:prstGeom>
          <a:noFill/>
        </p:spPr>
        <p:txBody>
          <a:bodyPr wrap="square">
            <a:spAutoFit/>
          </a:bodyPr>
          <a:lstStyle/>
          <a:p>
            <a:pPr algn="ctr"/>
            <a:r>
              <a:rPr sz="1000" b="1" i="0">
                <a:solidFill>
                  <a:srgbClr val="FFFFFF"/>
                </a:solidFill>
              </a:rPr>
              <a:t>Q1 2027</a:t>
            </a:r>
          </a:p>
        </p:txBody>
      </p:sp>
      <p:sp>
        <p:nvSpPr>
          <p:cNvPr id="58" name="TextBox 57"/>
          <p:cNvSpPr txBox="1"/>
          <p:nvPr/>
        </p:nvSpPr>
        <p:spPr>
          <a:xfrm>
            <a:off x="7360920" y="4937759"/>
            <a:ext cx="4343400" cy="347472"/>
          </a:xfrm>
          <a:prstGeom prst="rect">
            <a:avLst/>
          </a:prstGeom>
          <a:noFill/>
        </p:spPr>
        <p:txBody>
          <a:bodyPr wrap="square">
            <a:spAutoFit/>
          </a:bodyPr>
          <a:lstStyle/>
          <a:p>
            <a:pPr algn="l"/>
            <a:r>
              <a:rPr sz="1100" b="0" i="0">
                <a:solidFill>
                  <a:srgbClr val="404040"/>
                </a:solidFill>
              </a:rPr>
              <a:t>As-built documentation complete</a:t>
            </a:r>
          </a:p>
        </p:txBody>
      </p:sp>
      <p:sp>
        <p:nvSpPr>
          <p:cNvPr id="59" name="Rectangle 58"/>
          <p:cNvSpPr/>
          <p:nvPr/>
        </p:nvSpPr>
        <p:spPr>
          <a:xfrm>
            <a:off x="5897880" y="5486400"/>
            <a:ext cx="5897880" cy="566928"/>
          </a:xfrm>
          <a:prstGeom prst="rect">
            <a:avLst/>
          </a:prstGeom>
          <a:solidFill>
            <a:srgbClr val="FFFFFF"/>
          </a:solidFill>
          <a:ln w="1905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897880" y="5486400"/>
            <a:ext cx="1371600" cy="56692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16168" y="5596128"/>
            <a:ext cx="1325880" cy="347472"/>
          </a:xfrm>
          <a:prstGeom prst="rect">
            <a:avLst/>
          </a:prstGeom>
          <a:noFill/>
        </p:spPr>
        <p:txBody>
          <a:bodyPr wrap="square">
            <a:spAutoFit/>
          </a:bodyPr>
          <a:lstStyle/>
          <a:p>
            <a:pPr algn="ctr"/>
            <a:r>
              <a:rPr sz="1000" b="1" i="0">
                <a:solidFill>
                  <a:srgbClr val="FFFFFF"/>
                </a:solidFill>
              </a:rPr>
              <a:t>Jul 2027</a:t>
            </a:r>
          </a:p>
        </p:txBody>
      </p:sp>
      <p:sp>
        <p:nvSpPr>
          <p:cNvPr id="62" name="TextBox 61"/>
          <p:cNvSpPr txBox="1"/>
          <p:nvPr/>
        </p:nvSpPr>
        <p:spPr>
          <a:xfrm>
            <a:off x="7360920" y="5596128"/>
            <a:ext cx="4343400" cy="347472"/>
          </a:xfrm>
          <a:prstGeom prst="rect">
            <a:avLst/>
          </a:prstGeom>
          <a:noFill/>
        </p:spPr>
        <p:txBody>
          <a:bodyPr wrap="square">
            <a:spAutoFit/>
          </a:bodyPr>
          <a:lstStyle/>
          <a:p>
            <a:pPr algn="l"/>
            <a:r>
              <a:rPr sz="1100" b="0" i="0">
                <a:solidFill>
                  <a:srgbClr val="404040"/>
                </a:solidFill>
              </a:rPr>
              <a:t>🏁  Program Complete</a:t>
            </a:r>
          </a:p>
        </p:txBody>
      </p:sp>
      <p:sp>
        <p:nvSpPr>
          <p:cNvPr id="63" name="TextBox 62"/>
          <p:cNvSpPr txBox="1"/>
          <p:nvPr/>
        </p:nvSpPr>
        <p:spPr>
          <a:xfrm>
            <a:off x="274320" y="5870448"/>
            <a:ext cx="8321040" cy="384048"/>
          </a:xfrm>
          <a:prstGeom prst="rect">
            <a:avLst/>
          </a:prstGeom>
          <a:noFill/>
        </p:spPr>
        <p:txBody>
          <a:bodyPr wrap="square">
            <a:spAutoFit/>
          </a:bodyPr>
          <a:lstStyle/>
          <a:p>
            <a:r>
              <a:rPr sz="700" i="1">
                <a:solidFill>
                  <a:srgbClr val="F7941D"/>
                </a:solidFill>
              </a:rPr>
              <a:t>* Vik Vohra (Mar 16, 2026): "Phase One needs to be broken into micro-phases. Even though we've completed some, the entire phase is not complete."  Micro-phase status → Engineering ✅ 100% | Procurement ✅ 100% | Construction ✅ 100% | Deployment 🔴 ~5% | App Cutover 🔴 0% | RTU Cutover 🔴 0% | As-Builts/Decommission ⏳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81532C56BF694BBE06D977BB2FEE3A" ma:contentTypeVersion="4" ma:contentTypeDescription="Create a new document." ma:contentTypeScope="" ma:versionID="c0c5d99beca51eeef3e41ac89a733b71">
  <xsd:schema xmlns:xsd="http://www.w3.org/2001/XMLSchema" xmlns:xs="http://www.w3.org/2001/XMLSchema" xmlns:p="http://schemas.microsoft.com/office/2006/metadata/properties" xmlns:ns3="135ef2dc-24a0-47df-8b8a-1312283ed4bf" targetNamespace="http://schemas.microsoft.com/office/2006/metadata/properties" ma:root="true" ma:fieldsID="29e57b184215963e8167a7683ccc328b" ns3:_="">
    <xsd:import namespace="135ef2dc-24a0-47df-8b8a-1312283ed4b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ef2dc-24a0-47df-8b8a-1312283ed4b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D0F57A-06E6-4442-B032-86B4EDB177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5ef2dc-24a0-47df-8b8a-1312283ed4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6EB495-10DB-45A6-8E6D-929653572431}">
  <ds:schemaRefs>
    <ds:schemaRef ds:uri="http://schemas.microsoft.com/office/2006/documentManagement/types"/>
    <ds:schemaRef ds:uri="http://purl.org/dc/terms/"/>
    <ds:schemaRef ds:uri="135ef2dc-24a0-47df-8b8a-1312283ed4bf"/>
    <ds:schemaRef ds:uri="http://purl.org/dc/dcmitype/"/>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712CF8B8-4325-4F4D-A7DB-9D2B054C8A6D}">
  <ds:schemaRefs>
    <ds:schemaRef ds:uri="http://schemas.microsoft.com/sharepoint/v3/contenttype/forms"/>
  </ds:schemaRefs>
</ds:datastoreItem>
</file>

<file path=docMetadata/LabelInfo.xml><?xml version="1.0" encoding="utf-8"?>
<clbl:labelList xmlns:clbl="http://schemas.microsoft.com/office/2020/mipLabelMetadata">
  <clbl:label id="{cf90b97b-be46-4a00-9700-81ce4ff1b7f6}" enabled="0" method="" siteId="{cf90b97b-be46-4a00-9700-81ce4ff1b7f6}" removed="1"/>
</clbl:labelList>
</file>

<file path=docProps/app.xml><?xml version="1.0" encoding="utf-8"?>
<Properties xmlns="http://schemas.openxmlformats.org/officeDocument/2006/extended-properties" xmlns:vt="http://schemas.openxmlformats.org/officeDocument/2006/docPropsVTypes">
  <Template/>
  <TotalTime>128081</TotalTime>
  <Words>3196</Words>
  <Application>Microsoft Office PowerPoint</Application>
  <PresentationFormat>Widescreen</PresentationFormat>
  <Paragraphs>734</Paragraphs>
  <Slides>14</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Aptos</vt:lpstr>
      <vt:lpstr>Aptos Narrow</vt:lpstr>
      <vt:lpstr>Arial</vt:lpstr>
      <vt:lpstr>Calibri</vt:lpstr>
      <vt:lpstr>Calibri Light</vt:lpstr>
      <vt:lpstr>DM Serif Display</vt:lpstr>
      <vt:lpstr>Outfit Light</vt:lpstr>
      <vt:lpstr>Outfit SemiBold</vt:lpstr>
      <vt:lpstr>Symbol</vt:lpstr>
      <vt:lpstr>Times New Roman</vt:lpstr>
      <vt:lpstr>Wingdings</vt:lpstr>
      <vt:lpstr>Office Theme</vt:lpstr>
      <vt:lpstr>PRJ13797: JMUX Replacement Update Project Manager : Dhananjaya Gunaratne   </vt:lpstr>
      <vt:lpstr>PowerPoint Presentation</vt:lpstr>
      <vt:lpstr>PowerPoint Presentation</vt:lpstr>
      <vt:lpstr>PowerPoint Presentation</vt:lpstr>
      <vt:lpstr>PowerPoint Presentation</vt:lpstr>
      <vt:lpstr>PowerPoint Presentation</vt:lpstr>
      <vt:lpstr>PowerPoint Presentation</vt:lpstr>
      <vt:lpstr>JMUX Replacement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Outfit SemiBold Bold 46 Dark Steel Gray</dc:title>
  <dc:creator>Cleeve, Karen</dc:creator>
  <cp:lastModifiedBy>GUNARATNE, DHANANJAYA</cp:lastModifiedBy>
  <cp:revision>888</cp:revision>
  <dcterms:modified xsi:type="dcterms:W3CDTF">2026-03-13T14:39:24Z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0x0101006081532C56BF694BBE06D977BB2FEE3A</vt:lpwstr>
  </property>
</Properties>
</file>