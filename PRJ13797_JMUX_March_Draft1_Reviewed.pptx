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6"/>
  </p:notesMasterIdLst>
  <p:sldIdLst>
    <p:sldId id="454" r:id="rId5"/>
    <p:sldId id="465" r:id="rId6"/>
    <p:sldId id="2147477440" r:id="rId7"/>
    <p:sldId id="2147477445" r:id="rId8"/>
    <p:sldId id="2147477446" r:id="rId9"/>
    <p:sldId id="2147477433" r:id="rId10"/>
    <p:sldId id="2147477434" r:id="rId11"/>
    <p:sldId id="2147477435" r:id="rId12"/>
    <p:sldId id="260" r:id="rId13"/>
    <p:sldId id="2147477441" r:id="rId14"/>
    <p:sldId id="214747743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0"/>
            <p14:sldId id="2147477445"/>
            <p14:sldId id="2147477446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3690" autoAdjust="0"/>
  </p:normalViewPr>
  <p:slideViewPr>
    <p:cSldViewPr snapToGrid="0">
      <p:cViewPr>
        <p:scale>
          <a:sx n="70" d="100"/>
          <a:sy n="70" d="100"/>
        </p:scale>
        <p:origin x="328" y="-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969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65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package" Target="../embeddings/Microsoft_Excel_Binary_Worksheet.xlsb"/><Relationship Id="rId3" Type="http://schemas.openxmlformats.org/officeDocument/2006/relationships/image" Target="../media/image6.emf"/><Relationship Id="rId4" Type="http://schemas.openxmlformats.org/officeDocument/2006/relationships/package" Target="../embeddings/Microsoft_Excel_Binary_Worksheet1.xlsb"/><Relationship Id="rId5" Type="http://schemas.openxmlformats.org/officeDocument/2006/relationships/image" Target="../media/image7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March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6352599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Modernize PSEG LI’s substations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</a:t>
            </a:r>
            <a:r>
              <a:rPr lang="en-US" b="1" dirty="0"/>
              <a:t>Objectives </a:t>
            </a:r>
            <a:r>
              <a:rPr lang="en-US" sz="1400" dirty="0"/>
              <a:t>  </a:t>
            </a:r>
          </a:p>
          <a:p>
            <a:pPr lvl="1" fontAlgn="ctr"/>
            <a:endParaRPr lang="en-US" b="1" dirty="0"/>
          </a:p>
          <a:p>
            <a:pPr lvl="1" fontAlgn="ctr"/>
            <a:r>
              <a:rPr lang="en-US" b="1" dirty="0"/>
              <a:t>Engineering Services</a:t>
            </a:r>
            <a:endParaRPr lang="en-US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Detailed site surveys, rack elevations, power design, supplemental documents and as-builts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Each of the substations are fully aligned with PSEG LI standards and stakeholder buy-off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Phase 1 – All “As –</a:t>
            </a:r>
            <a:r>
              <a:rPr lang="en-US" sz="1400" dirty="0" err="1"/>
              <a:t>Builts</a:t>
            </a:r>
            <a:r>
              <a:rPr lang="en-US" sz="1400" dirty="0"/>
              <a:t>”  for all Phases will be provided after the JMUX is decommissioned and removed from the network.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b="1" dirty="0"/>
              <a:t>Phase 2 site surveys completed in Phase 1. </a:t>
            </a:r>
            <a:r>
              <a:rPr lang="en-US" sz="1400" b="1" dirty="0" err="1"/>
              <a:t>BMcD</a:t>
            </a:r>
            <a:r>
              <a:rPr lang="en-US" sz="1400" b="1" dirty="0"/>
              <a:t> is working on </a:t>
            </a:r>
            <a:endParaRPr lang="en-US" sz="1400" dirty="0"/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Issuing (IFRs) – </a:t>
            </a:r>
            <a:r>
              <a:rPr lang="en-US" sz="1400" dirty="0">
                <a:solidFill>
                  <a:srgbClr val="00B050"/>
                </a:solidFill>
              </a:rPr>
              <a:t>In Progress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Issuing  for Construction (IFC) – </a:t>
            </a:r>
            <a:r>
              <a:rPr lang="en-US" sz="1400" dirty="0">
                <a:solidFill>
                  <a:srgbClr val="00B050"/>
                </a:solidFill>
              </a:rPr>
              <a:t>In Progress 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b="1" dirty="0"/>
              <a:t>  Procurement &amp; Staging</a:t>
            </a:r>
            <a:endParaRPr lang="en-US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All equipment purchased by PSEGLI and shipped to Hawkeye’s staging facility, date of delivery – </a:t>
            </a:r>
            <a:r>
              <a:rPr lang="en-US" sz="1400" dirty="0">
                <a:solidFill>
                  <a:srgbClr val="00B050"/>
                </a:solidFill>
              </a:rPr>
              <a:t>Delivered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fontAlgn="ctr"/>
            <a:r>
              <a:rPr lang="en-US" b="1" dirty="0"/>
              <a:t>  Construction and Installation Support</a:t>
            </a:r>
            <a:endParaRPr lang="en-US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SSP document gathering for Phase 2 needs to be filled out for SSP team 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Working on remote connectivity to the nodes.</a:t>
            </a:r>
            <a:endParaRPr lang="en-US" dirty="0"/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-146080"/>
            <a:ext cx="10049622" cy="7278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b="1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400" b="1" dirty="0"/>
              <a:t>Phase-1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/>
              <a:t>Engineering Services</a:t>
            </a:r>
          </a:p>
          <a:p>
            <a:endParaRPr lang="en-US" sz="1100" b="1" dirty="0">
              <a:solidFill>
                <a:schemeClr val="accent2"/>
              </a:solidFill>
            </a:endParaRPr>
          </a:p>
          <a:p>
            <a:pPr lvl="1" fontAlgn="ctr"/>
            <a:endParaRPr lang="en-US" sz="1100" dirty="0"/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400" b="1" dirty="0"/>
              <a:t>Procurement and Staging </a:t>
            </a:r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Nokia equipment for Phase 2 has been delivered – </a:t>
            </a:r>
            <a:r>
              <a:rPr lang="en-US" sz="1400" dirty="0">
                <a:solidFill>
                  <a:srgbClr val="00B050"/>
                </a:solidFill>
              </a:rPr>
              <a:t>Work Completed - 2/19/2026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Equipment moved to new Staging location </a:t>
            </a:r>
            <a:r>
              <a:rPr lang="en-US" sz="1400" dirty="0">
                <a:solidFill>
                  <a:srgbClr val="00B050"/>
                </a:solidFill>
              </a:rPr>
              <a:t>– Work Completed – 3/05/2026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Call setup with B&amp;M to go over equipment list for Phase 2 </a:t>
            </a:r>
            <a:r>
              <a:rPr lang="en-US" sz="1400" dirty="0">
                <a:solidFill>
                  <a:srgbClr val="00B050"/>
                </a:solidFill>
              </a:rPr>
              <a:t>– 3/30/2026</a:t>
            </a:r>
          </a:p>
          <a:p>
            <a:pPr marL="285750" indent="-285750" fontAlgn="ctr">
              <a:buFont typeface="Arial" panose="020B0604020202020204" pitchFamily="34" charset="0"/>
              <a:buChar char="•"/>
            </a:pPr>
            <a:r>
              <a:rPr lang="en-US" sz="1400" b="1" dirty="0"/>
              <a:t>Construction and Installation Support</a:t>
            </a:r>
            <a:endParaRPr lang="en-US" sz="1400" dirty="0"/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i="1" dirty="0"/>
              <a:t>Cat 6 cables needs to be run to NSP in Hicksville </a:t>
            </a:r>
            <a:r>
              <a:rPr lang="en-US" sz="1200" b="1" i="1" dirty="0">
                <a:solidFill>
                  <a:srgbClr val="00B050"/>
                </a:solidFill>
              </a:rPr>
              <a:t>– Work Completed</a:t>
            </a:r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i="1" dirty="0"/>
              <a:t>OTDR testing from Hicksville to Syosset </a:t>
            </a:r>
            <a:r>
              <a:rPr lang="en-US" sz="1200" b="1" i="1" dirty="0">
                <a:solidFill>
                  <a:srgbClr val="00B050"/>
                </a:solidFill>
              </a:rPr>
              <a:t>– Work Completed </a:t>
            </a:r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b="1" i="1" dirty="0" err="1"/>
              <a:t>iLO</a:t>
            </a:r>
            <a:r>
              <a:rPr lang="en-US" sz="1200" b="1" i="1" dirty="0"/>
              <a:t> corporate connectivity </a:t>
            </a:r>
            <a:r>
              <a:rPr lang="en-US" sz="1200" b="1" dirty="0"/>
              <a:t>interfaces turned up at Melville and Hicksville </a:t>
            </a:r>
            <a:r>
              <a:rPr lang="en-US" sz="1200" dirty="0"/>
              <a:t>– </a:t>
            </a:r>
            <a:r>
              <a:rPr lang="en-US" sz="1200" b="1" dirty="0">
                <a:solidFill>
                  <a:srgbClr val="00B050"/>
                </a:solidFill>
              </a:rPr>
              <a:t>Work in Progress</a:t>
            </a:r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b="1" dirty="0"/>
              <a:t>BGP design approved 3/16 — Lee Blackman to proceed with Melville &amp; Hicksville </a:t>
            </a:r>
          </a:p>
          <a:p>
            <a:pPr lvl="2" fontAlgn="ctr"/>
            <a:r>
              <a:rPr lang="en-US" sz="1200" b="1" dirty="0"/>
              <a:t>     as soon as </a:t>
            </a:r>
            <a:r>
              <a:rPr lang="en-US" sz="1200" b="1" dirty="0" err="1"/>
              <a:t>iLO</a:t>
            </a:r>
            <a:r>
              <a:rPr lang="en-US" sz="1200" b="1" dirty="0"/>
              <a:t> connectivity is completed </a:t>
            </a:r>
            <a:r>
              <a:rPr lang="en-US" sz="1200" dirty="0">
                <a:solidFill>
                  <a:srgbClr val="00B050"/>
                </a:solidFill>
              </a:rPr>
              <a:t>–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00B050"/>
                </a:solidFill>
              </a:rPr>
              <a:t>Work in Progress </a:t>
            </a:r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b="1" dirty="0"/>
              <a:t>Remote access into routers (31) to configure routers as per the SSP docs </a:t>
            </a:r>
            <a:r>
              <a:rPr lang="en-US" sz="1200" b="1" dirty="0">
                <a:solidFill>
                  <a:srgbClr val="00B050"/>
                </a:solidFill>
              </a:rPr>
              <a:t>– Work in Progress </a:t>
            </a:r>
          </a:p>
          <a:p>
            <a:pPr marL="1085850" lvl="2" indent="-171450" fontAlgn="ctr">
              <a:buFont typeface="Arial" panose="020B0604020202020204" pitchFamily="34" charset="0"/>
              <a:buChar char="•"/>
            </a:pPr>
            <a:r>
              <a:rPr lang="en-US" sz="1200" b="1" dirty="0"/>
              <a:t>Verification of remote access to NSP from Melville and Hicksville. </a:t>
            </a:r>
            <a:r>
              <a:rPr lang="en-US" sz="1200" b="1" dirty="0">
                <a:solidFill>
                  <a:srgbClr val="00B050"/>
                </a:solidFill>
              </a:rPr>
              <a:t>– Work in Progress</a:t>
            </a:r>
            <a:endParaRPr lang="en-US" sz="1200" b="1" dirty="0"/>
          </a:p>
          <a:p>
            <a:pPr lvl="2" fontAlgn="ctr"/>
            <a:endParaRPr lang="en-US" sz="1200" b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 fontAlgn="ctr"/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 fontAlgn="ctr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dirty="0"/>
              <a:t>. 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400" dirty="0"/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400" dirty="0"/>
          </a:p>
          <a:p>
            <a:pPr lvl="2">
              <a:spcBef>
                <a:spcPts val="600"/>
              </a:spcBef>
              <a:spcAft>
                <a:spcPts val="600"/>
              </a:spcAft>
            </a:pPr>
            <a:endParaRPr lang="en-US" sz="1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994090"/>
              </p:ext>
            </p:extLst>
          </p:nvPr>
        </p:nvGraphicFramePr>
        <p:xfrm>
          <a:off x="1939198" y="828543"/>
          <a:ext cx="4941651" cy="567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3448">
                  <a:extLst>
                    <a:ext uri="{9D8B030D-6E8A-4147-A177-3AD203B41FA5}">
                      <a16:colId xmlns:a16="http://schemas.microsoft.com/office/drawing/2014/main" val="1279083359"/>
                    </a:ext>
                  </a:extLst>
                </a:gridCol>
                <a:gridCol w="1152526">
                  <a:extLst>
                    <a:ext uri="{9D8B030D-6E8A-4147-A177-3AD203B41FA5}">
                      <a16:colId xmlns:a16="http://schemas.microsoft.com/office/drawing/2014/main" val="1105639966"/>
                    </a:ext>
                  </a:extLst>
                </a:gridCol>
                <a:gridCol w="1215677">
                  <a:extLst>
                    <a:ext uri="{9D8B030D-6E8A-4147-A177-3AD203B41FA5}">
                      <a16:colId xmlns:a16="http://schemas.microsoft.com/office/drawing/2014/main" val="2657568295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Burns &amp; Mac - Phase 1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Total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Completed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450358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IFR - Issued for review design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657533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IFC - Issued for construction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7620" marR="7620" marT="7620" marB="0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479479"/>
                  </a:ext>
                </a:extLst>
              </a:tr>
            </a:tbl>
          </a:graphicData>
        </a:graphic>
      </p:graphicFrame>
      <p:sp>
        <p:nvSpPr>
          <p:cNvPr id="10" name="Title 3"/>
          <p:cNvSpPr txBox="1">
            <a:spLocks/>
          </p:cNvSpPr>
          <p:nvPr/>
        </p:nvSpPr>
        <p:spPr bwMode="auto">
          <a:xfrm>
            <a:off x="971442" y="231090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Highlight Project Accomplishments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F7F624-CA47-9A8B-BEB6-C52CFB623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284906"/>
              </p:ext>
            </p:extLst>
          </p:nvPr>
        </p:nvGraphicFramePr>
        <p:xfrm>
          <a:off x="7234405" y="828543"/>
          <a:ext cx="2933069" cy="35983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9660">
                  <a:extLst>
                    <a:ext uri="{9D8B030D-6E8A-4147-A177-3AD203B41FA5}">
                      <a16:colId xmlns:a16="http://schemas.microsoft.com/office/drawing/2014/main" val="911109585"/>
                    </a:ext>
                  </a:extLst>
                </a:gridCol>
                <a:gridCol w="673409">
                  <a:extLst>
                    <a:ext uri="{9D8B030D-6E8A-4147-A177-3AD203B41FA5}">
                      <a16:colId xmlns:a16="http://schemas.microsoft.com/office/drawing/2014/main" val="679552774"/>
                    </a:ext>
                  </a:extLst>
                </a:gridCol>
              </a:tblGrid>
              <a:tr h="219414"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Total Phase 1 scope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291364"/>
                  </a:ext>
                </a:extLst>
              </a:tr>
              <a:tr h="58510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Initiation &amp; Planning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38191846"/>
                  </a:ext>
                </a:extLst>
              </a:tr>
              <a:tr h="39494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Site Surveys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65055005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Test Plan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4250441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HLD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62946182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IFR/IFC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04545583"/>
                  </a:ext>
                </a:extLst>
              </a:tr>
              <a:tr h="394946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Procurement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5060852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Staging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03479597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Field Installation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28702971"/>
                  </a:ext>
                </a:extLst>
              </a:tr>
              <a:tr h="21941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Deployment - CWDM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100%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34456911"/>
                  </a:ext>
                </a:extLst>
              </a:tr>
              <a:tr h="343749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Pre-Deployment Deployment -          Security &amp; Radio 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5%</a:t>
                      </a:r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63113042"/>
                  </a:ext>
                </a:extLst>
              </a:tr>
              <a:tr h="343749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Deployment - Relay/RTU Cutover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not started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02666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96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204FD2-C527-D8B9-A788-0D242A78DE3D}"/>
              </a:ext>
            </a:extLst>
          </p:cNvPr>
          <p:cNvSpPr txBox="1"/>
          <p:nvPr/>
        </p:nvSpPr>
        <p:spPr>
          <a:xfrm>
            <a:off x="643467" y="651752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Phase 1 – Layer 1-3 configuration – Next steps 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E937DA-E63A-38EB-953F-746B2D530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04527"/>
              </p:ext>
            </p:extLst>
          </p:nvPr>
        </p:nvGraphicFramePr>
        <p:xfrm>
          <a:off x="643467" y="1873958"/>
          <a:ext cx="11060853" cy="4087929"/>
        </p:xfrm>
        <a:graphic>
          <a:graphicData uri="http://schemas.openxmlformats.org/drawingml/2006/table">
            <a:tbl>
              <a:tblPr/>
              <a:tblGrid>
                <a:gridCol w="2034979">
                  <a:extLst>
                    <a:ext uri="{9D8B030D-6E8A-4147-A177-3AD203B41FA5}">
                      <a16:colId xmlns:a16="http://schemas.microsoft.com/office/drawing/2014/main" val="639203627"/>
                    </a:ext>
                  </a:extLst>
                </a:gridCol>
                <a:gridCol w="5498432">
                  <a:extLst>
                    <a:ext uri="{9D8B030D-6E8A-4147-A177-3AD203B41FA5}">
                      <a16:colId xmlns:a16="http://schemas.microsoft.com/office/drawing/2014/main" val="2492720301"/>
                    </a:ext>
                  </a:extLst>
                </a:gridCol>
                <a:gridCol w="1070103">
                  <a:extLst>
                    <a:ext uri="{9D8B030D-6E8A-4147-A177-3AD203B41FA5}">
                      <a16:colId xmlns:a16="http://schemas.microsoft.com/office/drawing/2014/main" val="1030227231"/>
                    </a:ext>
                  </a:extLst>
                </a:gridCol>
                <a:gridCol w="1216223">
                  <a:extLst>
                    <a:ext uri="{9D8B030D-6E8A-4147-A177-3AD203B41FA5}">
                      <a16:colId xmlns:a16="http://schemas.microsoft.com/office/drawing/2014/main" val="585339364"/>
                    </a:ext>
                  </a:extLst>
                </a:gridCol>
                <a:gridCol w="1241116">
                  <a:extLst>
                    <a:ext uri="{9D8B030D-6E8A-4147-A177-3AD203B41FA5}">
                      <a16:colId xmlns:a16="http://schemas.microsoft.com/office/drawing/2014/main" val="1405953580"/>
                    </a:ext>
                  </a:extLst>
                </a:gridCol>
              </a:tblGrid>
              <a:tr h="43338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Mobilization 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Description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Responsible Stakeholder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b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Present On Site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Estimated Duration/Site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b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21576"/>
                  </a:ext>
                </a:extLst>
              </a:tr>
              <a:tr h="100968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Initial Installation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ctr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Clr>
                          <a:srgbClr val="000000"/>
                        </a:buClr>
                        <a:buSzPts val="1100"/>
                        <a:buFont typeface="Aptos Narrow" panose="020B0004020202020204" pitchFamily="34" charset="0"/>
                        <a:buNone/>
                      </a:pP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Install power feeds - </a:t>
                      </a: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Completed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Power MPLS router - </a:t>
                      </a: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Completed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Install new communication cables - </a:t>
                      </a:r>
                      <a:r>
                        <a:rPr lang="en-US" sz="12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Completed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b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endParaRPr lang="en-US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Hawkeye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Hawkeye, BMcD,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PSEGLI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days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325104"/>
                  </a:ext>
                </a:extLst>
              </a:tr>
              <a:tr h="625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Fiber Integration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ctr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JMUX OC-48 Circuits &amp; Nokia MPLS over CWDM filters  - </a:t>
                      </a:r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Completed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Establish new MPLS parallel links  -</a:t>
                      </a:r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 Completed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Establish Nokia parallel network &amp; connectivity - </a:t>
                      </a:r>
                      <a:r>
                        <a:rPr lang="en-US" sz="1200" b="0" i="0" u="none" strike="noStrike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Completed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PSEGLI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BMcD, PSEGLI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 Week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88650"/>
                  </a:ext>
                </a:extLst>
              </a:tr>
              <a:tr h="13938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Layer 3 Connect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ctr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•    Establish Ethernet circuits with Nokia MPLS in paralled with JMUX where possible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•     Security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•     FEMA DA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•     Two-way Radio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•     DSCADA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•     MicroPAQ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BMcD, PSEGLI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BMcD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days 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813853"/>
                  </a:ext>
                </a:extLst>
              </a:tr>
              <a:tr h="6254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Layer 1 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 anchor="ctr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  Cutover of relay and RTU circuits from JMUX to MPLS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  Cutover any other circuits (PAR, DRD, etc.) as possble 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•   Only RTUs/Circuits with no dependency on other JMUX rings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PSEGLI (Relay)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BMcD, PSEGLI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 days 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4" marR="7114" marT="7114" marB="0">
                    <a:lnL w="6350" cap="flat" cmpd="sng" algn="ctr">
                      <a:solidFill>
                        <a:srgbClr val="ADAD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843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201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30E478-5A12-E273-0B01-B96EBFEAA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8"/>
            <a:ext cx="12192000" cy="685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13188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Fri 3/13/26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38220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Fri 3/13/26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100144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i="0" dirty="0"/>
              <a:t>ILO config (Bill/B&amp;M + Rahiq) 🔴 → BGP config Hicksville &amp; Melville (Lee) → Remote access 31 routers → App cutovers → RTU cutovers → Phase 1 close Jun 2026
SPI = 0.76 (Yellow). ILO is now #1 critical path blocker. Phase 1 construction 100% done; deployment ~5%. June 2026 revised target.
Northport DC power RESOLVED ✅ (3/18/2026) — relay team ran new feed. Phase 2 IFR/IFC on track.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i="0" dirty="0"/>
              <a:t>"Review the initial project plan vs new plan to determine the SPI." — Vik  SPI = 0.76 (Yellow). NSP is sole remaining blocker. Phase 1 construction 100% done; deployment micro-phase ~5%. June 2026 revised target.</a:t>
            </a:r>
            <a:endParaRPr lang="en-US" sz="1200" b="0" i="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 i="0" dirty="0"/>
              <a:t>Phase 2 IFR/IFC design on track.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18650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499" y="27578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55128" y="287483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February 2026 </a:t>
            </a:r>
            <a:r>
              <a:rPr sz="900" b="1" i="0" dirty="0">
                <a:solidFill>
                  <a:srgbClr val="F7941D"/>
                </a:solidFill>
              </a:rPr>
              <a:t>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╌╌</a:t>
            </a:r>
            <a:r>
              <a:rPr lang="en-US" sz="900" b="0" i="0" dirty="0">
                <a:solidFill>
                  <a:srgbClr val="404040"/>
                </a:solidFill>
              </a:rPr>
              <a:t> </a:t>
            </a:r>
            <a:r>
              <a:rPr sz="900" b="0" i="0" dirty="0">
                <a:solidFill>
                  <a:srgbClr val="404040"/>
                </a:solidFill>
              </a:rPr>
              <a:t> </a:t>
            </a:r>
            <a:r>
              <a:rPr lang="en-US" sz="900" b="0" i="0" dirty="0">
                <a:solidFill>
                  <a:srgbClr val="404040"/>
                </a:solidFill>
              </a:rPr>
              <a:t>January 2026    : </a:t>
            </a:r>
            <a:r>
              <a:rPr sz="900" b="0" i="0" dirty="0">
                <a:solidFill>
                  <a:srgbClr val="404040"/>
                </a:solidFill>
              </a:rPr>
              <a:t> 1.00  (Gray)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CC11B-AE40-024F-BFC9-B0646C4365B0}"/>
              </a:ext>
            </a:extLst>
          </p:cNvPr>
          <p:cNvSpPr txBox="1"/>
          <p:nvPr/>
        </p:nvSpPr>
        <p:spPr>
          <a:xfrm>
            <a:off x="-28081" y="1635162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00B0F0"/>
                </a:solidFill>
              </a:rPr>
              <a:t>March  2026 </a:t>
            </a:r>
            <a:r>
              <a:rPr sz="900" b="1" i="0" dirty="0">
                <a:solidFill>
                  <a:srgbClr val="00B0F0"/>
                </a:solidFill>
              </a:rPr>
              <a:t>: </a:t>
            </a:r>
            <a:r>
              <a:rPr lang="en-US" sz="900" b="1" i="0" dirty="0">
                <a:solidFill>
                  <a:srgbClr val="00B0F0"/>
                </a:solidFill>
              </a:rPr>
              <a:t>0.76  (Yellow ↓</a:t>
            </a:r>
            <a:r>
              <a:rPr lang="en-US" sz="900" b="1" dirty="0">
                <a:solidFill>
                  <a:srgbClr val="00B0F0"/>
                </a:solidFill>
              </a:rPr>
              <a:t>)</a:t>
            </a:r>
            <a:endParaRPr sz="900" b="1" i="0" dirty="0">
              <a:solidFill>
                <a:srgbClr val="00B0F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5E675D-0850-D6EF-B86D-ED6C4C63AD59}"/>
              </a:ext>
            </a:extLst>
          </p:cNvPr>
          <p:cNvSpPr/>
          <p:nvPr/>
        </p:nvSpPr>
        <p:spPr>
          <a:xfrm rot="20491895" flipH="1" flipV="1">
            <a:off x="2719944" y="2290818"/>
            <a:ext cx="69053" cy="114943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90296"/>
              </p:ext>
            </p:extLst>
          </p:nvPr>
        </p:nvGraphicFramePr>
        <p:xfrm>
          <a:off x="0" y="3904239"/>
          <a:ext cx="12191695" cy="2730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Culmative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Northport Fuse issue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2/26/2026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(ILO config due)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0
(DC power blocked)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CC0000"/>
                          </a:solidFill>
                        </a:rPr>
                        <a:t>0.00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Northport fuse tripping — ILO work blocked. DC power issue unresolved. Relay team engaged.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OTDR Testing from Syosset to Hicksville, link now active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3/9/2026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(OTDR confirm)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(OTDR 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OTDR confirmed bad filter at Hicksville. Link now active. Crown Castle issue cleared.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NSP cable run and terminated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(NSP fiber term)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Fiber run to NSP completed &amp; terminated at Hicksville by Hawkeye. ✅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(BGP approval)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(approved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BGP design formally approved. Lee to begin change docs for Hicksville &amp; Melville. ✅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Moved all eqpt to new Hawkeye trailer for future staging 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0
(logistics task)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0.5
(complete ✅)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N/A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sz="700"/>
                        <a:t>Phase 2 Nokia equipment moved to new Hawkeye staging trailer. Not on critical path.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CE5EE-9D2D-B326-83E5-9AC86133E99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9A1C5FB-7290-C052-97F9-EA00537CD9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7" y="823532"/>
          <a:ext cx="747966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7143661" imgH="1111420" progId="Excel.SheetBinaryMacroEnabled.12">
                  <p:embed/>
                </p:oleObj>
              </mc:Choice>
              <mc:Fallback>
                <p:oleObj name="Binary Worksheet" r:id="rId2" imgW="7143661" imgH="1111420" progId="Excel.SheetBinaryMacroEnabled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79A1C5FB-7290-C052-97F9-EA00537CD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7" y="823532"/>
                        <a:ext cx="7479665" cy="1111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8" y="1934782"/>
          <a:ext cx="7479665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4" imgW="5022820" imgH="2540288" progId="Excel.SheetBinaryMacroEnabled.12">
                  <p:embed/>
                </p:oleObj>
              </mc:Choice>
              <mc:Fallback>
                <p:oleObj name="Binary Worksheet" r:id="rId4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9288" y="1934782"/>
                        <a:ext cx="7479665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557505" y="3303840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Current Risk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Legacy JMUX equipment old and delicate. Potential for Outage. 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Ran into faulty connectors that are over25 years old and not readily available with vendors.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Potential brittle fiber patch panels, Face plates, connectors and cables.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Weather delay and delay in installing the equipment at sub-station (tracking weekly).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Other major substation project conflicts.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9489" y="170709"/>
            <a:ext cx="9199984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Next Steps</a:t>
            </a:r>
            <a:endParaRPr lang="en-US" dirty="0"/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  <a:cs typeface="Aptos" panose="020B0004020202020204" pitchFamily="34" charset="0"/>
              </a:rPr>
              <a:t>✅ Northport DC power RESOLVED (3/18) — relay team ran new feed.
🔴 ILO config — Bill (B&amp;M) working with Rahiq/Brianna to resolve console cable &amp; firmware. #1 blocker.
🔴 BGP config at Hicksville &amp; Melville (Lee) — pending ILO completion.
🔴 Remote access config — 31 routers pending BGP completion.</a:t>
            </a:r>
            <a:r>
              <a:rPr lang="en-US" dirty="0"/>
              <a:t> after cabling/OTDR so we can shift to “remote-first” execution.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dirty="0">
                <a:latin typeface="Aptos" panose="020B0004020202020204" pitchFamily="34" charset="0"/>
                <a:cs typeface="Aptos" panose="020B0004020202020204" pitchFamily="34" charset="0"/>
              </a:rPr>
              <a:t>Start router configuration</a:t>
            </a:r>
            <a:r>
              <a:rPr lang="en-US" dirty="0"/>
              <a:t> on the powered routers for </a:t>
            </a:r>
            <a:r>
              <a:rPr lang="en-US" dirty="0">
                <a:latin typeface="Aptos" panose="020B0004020202020204" pitchFamily="34" charset="0"/>
                <a:cs typeface="Aptos" panose="020B0004020202020204" pitchFamily="34" charset="0"/>
              </a:rPr>
              <a:t>Ring 1 and Ring 6</a:t>
            </a:r>
            <a:r>
              <a:rPr lang="en-US" dirty="0"/>
              <a:t> (remote workstream), with standard config + validation.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131211</TotalTime>
  <Words>1627</Words>
  <Application>Microsoft Office PowerPoint</Application>
  <PresentationFormat>Widescreen</PresentationFormat>
  <Paragraphs>546</Paragraphs>
  <Slides>11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Aptos</vt:lpstr>
      <vt:lpstr>Aptos Narrow</vt:lpstr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Wingdings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896</cp:revision>
  <dcterms:modified xsi:type="dcterms:W3CDTF">2026-03-19T03:16:12Z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