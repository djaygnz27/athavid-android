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265" r:id="rId6"/>
    <p:sldId id="258" r:id="rId7"/>
    <p:sldId id="259" r:id="rId8"/>
    <p:sldId id="260" r:id="rId9"/>
    <p:sldId id="2147477440" r:id="rId10"/>
    <p:sldId id="2147477445" r:id="rId11"/>
    <p:sldId id="2147477344" r:id="rId12"/>
    <p:sldId id="2147477433" r:id="rId13"/>
    <p:sldId id="2147477434" r:id="rId14"/>
    <p:sldId id="2147477435" r:id="rId15"/>
    <p:sldId id="2147477438" r:id="rId16"/>
    <p:sldId id="262" r:id="rId17"/>
    <p:sldId id="264" r:id="rId18"/>
    <p:sldId id="214747744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265"/>
            <p14:sldId id="258"/>
            <p14:sldId id="259"/>
            <p14:sldId id="260"/>
            <p14:sldId id="2147477440"/>
            <p14:sldId id="2147477445"/>
            <p14:sldId id="2147477344"/>
            <p14:sldId id="2147477433"/>
            <p14:sldId id="2147477434"/>
            <p14:sldId id="2147477435"/>
            <p14:sldId id="2147477438"/>
            <p14:sldId id="262"/>
            <p14:sldId id="26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E5EDF8"/>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3690" autoAdjust="0"/>
  </p:normalViewPr>
  <p:slideViewPr>
    <p:cSldViewPr snapToGrid="0">
      <p:cViewPr>
        <p:scale>
          <a:sx n="60" d="100"/>
          <a:sy n="60" d="100"/>
        </p:scale>
        <p:origin x="280" y="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6</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7</a:t>
            </a:fld>
            <a:endParaRPr lang="en-US" dirty="0"/>
          </a:p>
        </p:txBody>
      </p:sp>
    </p:spTree>
    <p:extLst>
      <p:ext uri="{BB962C8B-B14F-4D97-AF65-F5344CB8AC3E}">
        <p14:creationId xmlns:p14="http://schemas.microsoft.com/office/powerpoint/2010/main" val="14496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10</a:t>
            </a:fld>
            <a:endParaRPr lang="en-US" dirty="0"/>
          </a:p>
        </p:txBody>
      </p:sp>
    </p:spTree>
    <p:extLst>
      <p:ext uri="{BB962C8B-B14F-4D97-AF65-F5344CB8AC3E}">
        <p14:creationId xmlns:p14="http://schemas.microsoft.com/office/powerpoint/2010/main" val="3138547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March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Goals &amp; Objectives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chemeClr val="bg1"/>
                </a:solidFill>
              </a:rPr>
              <a:t>JMUX Replacement: Private Field Area Network</a:t>
            </a:r>
          </a:p>
        </p:txBody>
      </p:sp>
      <p:sp>
        <p:nvSpPr>
          <p:cNvPr id="6" name="Rectangle 5"/>
          <p:cNvSpPr/>
          <p:nvPr/>
        </p:nvSpPr>
        <p:spPr>
          <a:xfrm>
            <a:off x="0" y="6743171"/>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0700" y="6274200"/>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30701" y="954233"/>
            <a:ext cx="11612880" cy="365760"/>
          </a:xfrm>
          <a:prstGeom prst="rect">
            <a:avLst/>
          </a:prstGeom>
          <a:solidFill>
            <a:srgbClr val="F2F2F2"/>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42415"/>
            <a:ext cx="11247120" cy="276999"/>
          </a:xfrm>
          <a:prstGeom prst="rect">
            <a:avLst/>
          </a:prstGeom>
          <a:noFill/>
        </p:spPr>
        <p:txBody>
          <a:bodyPr wrap="square">
            <a:spAutoFit/>
          </a:bodyPr>
          <a:lstStyle/>
          <a:p>
            <a:pPr algn="l"/>
            <a:r>
              <a:rPr sz="1200" b="0" i="1" dirty="0"/>
              <a:t>Modernize PSEG LI's substation communications by replacing legacy JMUX with MPLS nodes to deliver a reliable, scalable, and future-ready network.</a:t>
            </a:r>
          </a:p>
        </p:txBody>
      </p:sp>
      <p:sp>
        <p:nvSpPr>
          <p:cNvPr id="10" name="Rectangle 9"/>
          <p:cNvSpPr/>
          <p:nvPr/>
        </p:nvSpPr>
        <p:spPr>
          <a:xfrm>
            <a:off x="23070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0701" y="1435608"/>
            <a:ext cx="3566160" cy="365760"/>
          </a:xfrm>
          <a:prstGeom prst="rect">
            <a:avLst/>
          </a:prstGeom>
          <a:noFill/>
        </p:spPr>
        <p:txBody>
          <a:bodyPr wrap="square">
            <a:spAutoFit/>
          </a:bodyPr>
          <a:lstStyle/>
          <a:p>
            <a:pPr algn="l"/>
            <a:r>
              <a:rPr sz="1200" b="1" i="0">
                <a:solidFill>
                  <a:srgbClr val="FFFFFF"/>
                </a:solidFill>
              </a:rPr>
              <a:t>🔧  Engineering Services</a:t>
            </a:r>
          </a:p>
        </p:txBody>
      </p:sp>
      <p:sp>
        <p:nvSpPr>
          <p:cNvPr id="12" name="Rectangle 11"/>
          <p:cNvSpPr/>
          <p:nvPr/>
        </p:nvSpPr>
        <p:spPr>
          <a:xfrm>
            <a:off x="230701" y="1816501"/>
            <a:ext cx="3749039" cy="3200400"/>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429" y="1935374"/>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4" name="TextBox 13"/>
          <p:cNvSpPr txBox="1"/>
          <p:nvPr/>
        </p:nvSpPr>
        <p:spPr>
          <a:xfrm>
            <a:off x="596461" y="1880510"/>
            <a:ext cx="3291840" cy="365760"/>
          </a:xfrm>
          <a:prstGeom prst="rect">
            <a:avLst/>
          </a:prstGeom>
          <a:noFill/>
        </p:spPr>
        <p:txBody>
          <a:bodyPr wrap="square">
            <a:spAutoFit/>
          </a:bodyPr>
          <a:lstStyle/>
          <a:p>
            <a:pPr algn="l"/>
            <a:r>
              <a:rPr sz="1000" b="0" i="0" dirty="0">
                <a:solidFill>
                  <a:srgbClr val="404040"/>
                </a:solidFill>
              </a:rPr>
              <a:t>Detailed site surveys at all substations</a:t>
            </a:r>
          </a:p>
        </p:txBody>
      </p:sp>
      <p:sp>
        <p:nvSpPr>
          <p:cNvPr id="15" name="Rectangle 14"/>
          <p:cNvSpPr/>
          <p:nvPr/>
        </p:nvSpPr>
        <p:spPr>
          <a:xfrm>
            <a:off x="340429" y="2314850"/>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6" name="TextBox 15"/>
          <p:cNvSpPr txBox="1"/>
          <p:nvPr/>
        </p:nvSpPr>
        <p:spPr>
          <a:xfrm>
            <a:off x="596461" y="2259986"/>
            <a:ext cx="3291840" cy="365760"/>
          </a:xfrm>
          <a:prstGeom prst="rect">
            <a:avLst/>
          </a:prstGeom>
          <a:noFill/>
        </p:spPr>
        <p:txBody>
          <a:bodyPr wrap="square">
            <a:spAutoFit/>
          </a:bodyPr>
          <a:lstStyle/>
          <a:p>
            <a:pPr algn="l"/>
            <a:r>
              <a:rPr sz="1000" b="0" i="0">
                <a:solidFill>
                  <a:srgbClr val="404040"/>
                </a:solidFill>
              </a:rPr>
              <a:t>Rack elevations, power design &amp; supplemental docs</a:t>
            </a:r>
          </a:p>
        </p:txBody>
      </p:sp>
      <p:sp>
        <p:nvSpPr>
          <p:cNvPr id="17" name="Rectangle 16"/>
          <p:cNvSpPr/>
          <p:nvPr/>
        </p:nvSpPr>
        <p:spPr>
          <a:xfrm>
            <a:off x="340429" y="2694326"/>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9" name="Rectangle 18"/>
          <p:cNvSpPr/>
          <p:nvPr/>
        </p:nvSpPr>
        <p:spPr>
          <a:xfrm>
            <a:off x="340429" y="3073802"/>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20" name="TextBox 19"/>
          <p:cNvSpPr txBox="1"/>
          <p:nvPr/>
        </p:nvSpPr>
        <p:spPr>
          <a:xfrm>
            <a:off x="596434" y="2666531"/>
            <a:ext cx="3291840" cy="365760"/>
          </a:xfrm>
          <a:prstGeom prst="rect">
            <a:avLst/>
          </a:prstGeom>
          <a:noFill/>
        </p:spPr>
        <p:txBody>
          <a:bodyPr wrap="square">
            <a:spAutoFit/>
          </a:bodyPr>
          <a:lstStyle/>
          <a:p>
            <a:pPr algn="l"/>
            <a:r>
              <a:rPr sz="1000" b="0" i="0" dirty="0">
                <a:solidFill>
                  <a:srgbClr val="404040"/>
                </a:solidFill>
              </a:rPr>
              <a:t>All substations aligned to PSEG LI standards</a:t>
            </a:r>
          </a:p>
        </p:txBody>
      </p:sp>
      <p:sp>
        <p:nvSpPr>
          <p:cNvPr id="24" name="TextBox 23"/>
          <p:cNvSpPr txBox="1"/>
          <p:nvPr/>
        </p:nvSpPr>
        <p:spPr>
          <a:xfrm>
            <a:off x="596448" y="3063240"/>
            <a:ext cx="3291840" cy="365760"/>
          </a:xfrm>
          <a:prstGeom prst="rect">
            <a:avLst/>
          </a:prstGeom>
          <a:noFill/>
        </p:spPr>
        <p:txBody>
          <a:bodyPr wrap="square">
            <a:spAutoFit/>
          </a:bodyPr>
          <a:lstStyle/>
          <a:p>
            <a:pPr algn="l"/>
            <a:r>
              <a:rPr sz="1000" b="0" i="0" dirty="0">
                <a:solidFill>
                  <a:srgbClr val="404040"/>
                </a:solidFill>
              </a:rPr>
              <a:t>Phase 2 surveys: Completed during Phase 1</a:t>
            </a:r>
          </a:p>
        </p:txBody>
      </p:sp>
      <p:sp>
        <p:nvSpPr>
          <p:cNvPr id="26" name="TextBox 25"/>
          <p:cNvSpPr txBox="1"/>
          <p:nvPr/>
        </p:nvSpPr>
        <p:spPr>
          <a:xfrm>
            <a:off x="596448" y="3442716"/>
            <a:ext cx="3291840" cy="365760"/>
          </a:xfrm>
          <a:prstGeom prst="rect">
            <a:avLst/>
          </a:prstGeom>
          <a:noFill/>
        </p:spPr>
        <p:txBody>
          <a:bodyPr wrap="square">
            <a:spAutoFit/>
          </a:bodyPr>
          <a:lstStyle/>
          <a:p>
            <a:pPr algn="l"/>
            <a:r>
              <a:rPr sz="1000" b="0" i="0">
                <a:solidFill>
                  <a:srgbClr val="404040"/>
                </a:solidFill>
              </a:rPr>
              <a:t>Phase 2 IFRs: Being issued by BMcD</a:t>
            </a:r>
          </a:p>
        </p:txBody>
      </p:sp>
      <p:sp>
        <p:nvSpPr>
          <p:cNvPr id="28" name="TextBox 27"/>
          <p:cNvSpPr txBox="1"/>
          <p:nvPr/>
        </p:nvSpPr>
        <p:spPr>
          <a:xfrm>
            <a:off x="596434" y="3789761"/>
            <a:ext cx="3291840" cy="365760"/>
          </a:xfrm>
          <a:prstGeom prst="rect">
            <a:avLst/>
          </a:prstGeom>
          <a:noFill/>
        </p:spPr>
        <p:txBody>
          <a:bodyPr wrap="square">
            <a:spAutoFit/>
          </a:bodyPr>
          <a:lstStyle/>
          <a:p>
            <a:pPr algn="l"/>
            <a:r>
              <a:rPr sz="1000" b="0" i="0">
                <a:solidFill>
                  <a:srgbClr val="404040"/>
                </a:solidFill>
              </a:rPr>
              <a:t>Phase 2 IFCs: In progress</a:t>
            </a:r>
          </a:p>
        </p:txBody>
      </p:sp>
      <p:sp>
        <p:nvSpPr>
          <p:cNvPr id="29" name="Rectangle 28"/>
          <p:cNvSpPr/>
          <p:nvPr/>
        </p:nvSpPr>
        <p:spPr>
          <a:xfrm>
            <a:off x="416262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4060" y="1405022"/>
            <a:ext cx="3566160" cy="365760"/>
          </a:xfrm>
          <a:prstGeom prst="rect">
            <a:avLst/>
          </a:prstGeom>
          <a:noFill/>
        </p:spPr>
        <p:txBody>
          <a:bodyPr wrap="square">
            <a:spAutoFit/>
          </a:bodyPr>
          <a:lstStyle/>
          <a:p>
            <a:pPr algn="l"/>
            <a:r>
              <a:rPr sz="1200" b="1" i="0" dirty="0">
                <a:solidFill>
                  <a:srgbClr val="FFFFFF"/>
                </a:solidFill>
              </a:rPr>
              <a:t>📦  Procurement &amp; Staging</a:t>
            </a:r>
          </a:p>
        </p:txBody>
      </p:sp>
      <p:sp>
        <p:nvSpPr>
          <p:cNvPr id="31" name="Rectangle 30"/>
          <p:cNvSpPr/>
          <p:nvPr/>
        </p:nvSpPr>
        <p:spPr>
          <a:xfrm>
            <a:off x="4154611" y="1825593"/>
            <a:ext cx="3749039" cy="3200400"/>
          </a:xfrm>
          <a:prstGeom prst="rect">
            <a:avLst/>
          </a:prstGeom>
          <a:solidFill>
            <a:schemeClr val="bg1"/>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anose="05000000000000000000" pitchFamily="2" charset="2"/>
              <a:buChar char="q"/>
            </a:pPr>
            <a:endParaRPr dirty="0"/>
          </a:p>
        </p:txBody>
      </p:sp>
      <p:sp>
        <p:nvSpPr>
          <p:cNvPr id="32" name="Rectangle 31"/>
          <p:cNvSpPr/>
          <p:nvPr/>
        </p:nvSpPr>
        <p:spPr>
          <a:xfrm>
            <a:off x="4272349" y="1935374"/>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3" name="TextBox 32"/>
          <p:cNvSpPr txBox="1"/>
          <p:nvPr/>
        </p:nvSpPr>
        <p:spPr>
          <a:xfrm>
            <a:off x="4528381" y="1880510"/>
            <a:ext cx="3291840" cy="365760"/>
          </a:xfrm>
          <a:prstGeom prst="rect">
            <a:avLst/>
          </a:prstGeom>
          <a:noFill/>
        </p:spPr>
        <p:txBody>
          <a:bodyPr wrap="square">
            <a:spAutoFit/>
          </a:bodyPr>
          <a:lstStyle/>
          <a:p>
            <a:pPr algn="l"/>
            <a:r>
              <a:rPr sz="1000" b="0" i="0">
                <a:solidFill>
                  <a:srgbClr val="404040"/>
                </a:solidFill>
              </a:rPr>
              <a:t>All Phase 1 equipment purchased by PSEG LI</a:t>
            </a:r>
          </a:p>
        </p:txBody>
      </p:sp>
      <p:sp>
        <p:nvSpPr>
          <p:cNvPr id="34" name="Rectangle 33"/>
          <p:cNvSpPr/>
          <p:nvPr/>
        </p:nvSpPr>
        <p:spPr>
          <a:xfrm>
            <a:off x="4272349" y="2314850"/>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6" name="Rectangle 35"/>
          <p:cNvSpPr/>
          <p:nvPr/>
        </p:nvSpPr>
        <p:spPr>
          <a:xfrm>
            <a:off x="4272349" y="2694326"/>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7" name="TextBox 36"/>
          <p:cNvSpPr txBox="1"/>
          <p:nvPr/>
        </p:nvSpPr>
        <p:spPr>
          <a:xfrm>
            <a:off x="4546669" y="2279246"/>
            <a:ext cx="3291840" cy="365760"/>
          </a:xfrm>
          <a:prstGeom prst="rect">
            <a:avLst/>
          </a:prstGeom>
          <a:noFill/>
        </p:spPr>
        <p:txBody>
          <a:bodyPr wrap="square">
            <a:spAutoFit/>
          </a:bodyPr>
          <a:lstStyle/>
          <a:p>
            <a:pPr algn="l"/>
            <a:r>
              <a:rPr sz="1000" b="0" i="0" dirty="0">
                <a:solidFill>
                  <a:srgbClr val="404040"/>
                </a:solidFill>
              </a:rPr>
              <a:t>Phase 1 staging completed: Sept 29, 2025</a:t>
            </a:r>
          </a:p>
        </p:txBody>
      </p:sp>
      <p:sp>
        <p:nvSpPr>
          <p:cNvPr id="38" name="Rectangle 37"/>
          <p:cNvSpPr/>
          <p:nvPr/>
        </p:nvSpPr>
        <p:spPr>
          <a:xfrm>
            <a:off x="4272349" y="3073802"/>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9" name="TextBox 38"/>
          <p:cNvSpPr txBox="1"/>
          <p:nvPr/>
        </p:nvSpPr>
        <p:spPr>
          <a:xfrm>
            <a:off x="4546669" y="2658722"/>
            <a:ext cx="3291840" cy="365760"/>
          </a:xfrm>
          <a:prstGeom prst="rect">
            <a:avLst/>
          </a:prstGeom>
          <a:noFill/>
        </p:spPr>
        <p:txBody>
          <a:bodyPr wrap="square">
            <a:spAutoFit/>
          </a:bodyPr>
          <a:lstStyle/>
          <a:p>
            <a:pPr algn="l"/>
            <a:r>
              <a:rPr sz="1000" b="0" i="0" dirty="0">
                <a:solidFill>
                  <a:srgbClr val="404040"/>
                </a:solidFill>
              </a:rPr>
              <a:t>Nokia Phase 2 equipment delivered: Feb 19, 2026</a:t>
            </a:r>
          </a:p>
        </p:txBody>
      </p:sp>
      <p:sp>
        <p:nvSpPr>
          <p:cNvPr id="41" name="TextBox 40"/>
          <p:cNvSpPr txBox="1"/>
          <p:nvPr/>
        </p:nvSpPr>
        <p:spPr>
          <a:xfrm>
            <a:off x="4546669" y="3038198"/>
            <a:ext cx="3291840" cy="365760"/>
          </a:xfrm>
          <a:prstGeom prst="rect">
            <a:avLst/>
          </a:prstGeom>
          <a:noFill/>
        </p:spPr>
        <p:txBody>
          <a:bodyPr wrap="square">
            <a:spAutoFit/>
          </a:bodyPr>
          <a:lstStyle/>
          <a:p>
            <a:pPr algn="l"/>
            <a:r>
              <a:rPr sz="1000" b="0" i="0" dirty="0">
                <a:solidFill>
                  <a:srgbClr val="404040"/>
                </a:solidFill>
              </a:rPr>
              <a:t>Equipment safely stored at Hawkeye warehouse</a:t>
            </a:r>
          </a:p>
        </p:txBody>
      </p:sp>
      <p:sp>
        <p:nvSpPr>
          <p:cNvPr id="42" name="Rectangle 41"/>
          <p:cNvSpPr/>
          <p:nvPr/>
        </p:nvSpPr>
        <p:spPr>
          <a:xfrm>
            <a:off x="809454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85981" y="1369705"/>
            <a:ext cx="3665590" cy="276999"/>
          </a:xfrm>
          <a:prstGeom prst="rect">
            <a:avLst/>
          </a:prstGeom>
          <a:noFill/>
        </p:spPr>
        <p:txBody>
          <a:bodyPr wrap="square">
            <a:spAutoFit/>
          </a:bodyPr>
          <a:lstStyle/>
          <a:p>
            <a:pPr algn="l"/>
            <a:r>
              <a:rPr sz="1200" b="1" i="0">
                <a:solidFill>
                  <a:srgbClr val="FFFFFF"/>
                </a:solidFill>
              </a:rPr>
              <a:t>🏗  Construction &amp; Installation</a:t>
            </a:r>
          </a:p>
        </p:txBody>
      </p:sp>
      <p:sp>
        <p:nvSpPr>
          <p:cNvPr id="44" name="Rectangle 43"/>
          <p:cNvSpPr/>
          <p:nvPr/>
        </p:nvSpPr>
        <p:spPr>
          <a:xfrm>
            <a:off x="8102532" y="1830216"/>
            <a:ext cx="3749039" cy="3200400"/>
          </a:xfrm>
          <a:prstGeom prst="rect">
            <a:avLst/>
          </a:prstGeom>
          <a:solidFill>
            <a:srgbClr val="FFFFFF"/>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p:cNvSpPr/>
          <p:nvPr/>
        </p:nvSpPr>
        <p:spPr>
          <a:xfrm>
            <a:off x="8204269" y="193537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6" name="TextBox 45"/>
          <p:cNvSpPr txBox="1"/>
          <p:nvPr/>
        </p:nvSpPr>
        <p:spPr>
          <a:xfrm>
            <a:off x="8460301" y="1880510"/>
            <a:ext cx="3291840" cy="365760"/>
          </a:xfrm>
          <a:prstGeom prst="rect">
            <a:avLst/>
          </a:prstGeom>
          <a:noFill/>
        </p:spPr>
        <p:txBody>
          <a:bodyPr wrap="square">
            <a:spAutoFit/>
          </a:bodyPr>
          <a:lstStyle/>
          <a:p>
            <a:pPr algn="l"/>
            <a:r>
              <a:rPr sz="1000" b="0" i="0">
                <a:solidFill>
                  <a:srgbClr val="404040"/>
                </a:solidFill>
              </a:rPr>
              <a:t>BMcD on-site coordination throughout Phase 1</a:t>
            </a:r>
          </a:p>
        </p:txBody>
      </p:sp>
      <p:sp>
        <p:nvSpPr>
          <p:cNvPr id="47" name="Rectangle 46"/>
          <p:cNvSpPr/>
          <p:nvPr/>
        </p:nvSpPr>
        <p:spPr>
          <a:xfrm>
            <a:off x="8204269" y="231485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9" name="Rectangle 48"/>
          <p:cNvSpPr/>
          <p:nvPr/>
        </p:nvSpPr>
        <p:spPr>
          <a:xfrm>
            <a:off x="8204269" y="269432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0" name="TextBox 49"/>
          <p:cNvSpPr txBox="1"/>
          <p:nvPr/>
        </p:nvSpPr>
        <p:spPr>
          <a:xfrm>
            <a:off x="8460301" y="2264558"/>
            <a:ext cx="3291840" cy="365760"/>
          </a:xfrm>
          <a:prstGeom prst="rect">
            <a:avLst/>
          </a:prstGeom>
          <a:noFill/>
        </p:spPr>
        <p:txBody>
          <a:bodyPr wrap="square">
            <a:spAutoFit/>
          </a:bodyPr>
          <a:lstStyle/>
          <a:p>
            <a:pPr algn="l"/>
            <a:r>
              <a:rPr sz="1000" b="0" i="0">
                <a:solidFill>
                  <a:srgbClr val="404040"/>
                </a:solidFill>
              </a:rPr>
              <a:t>31/31 Phase 1 sites installed &amp; commissioned</a:t>
            </a:r>
          </a:p>
        </p:txBody>
      </p:sp>
      <p:sp>
        <p:nvSpPr>
          <p:cNvPr id="52" name="TextBox 51"/>
          <p:cNvSpPr txBox="1"/>
          <p:nvPr/>
        </p:nvSpPr>
        <p:spPr>
          <a:xfrm>
            <a:off x="8460301" y="2644034"/>
            <a:ext cx="3291840" cy="365760"/>
          </a:xfrm>
          <a:prstGeom prst="rect">
            <a:avLst/>
          </a:prstGeom>
          <a:noFill/>
        </p:spPr>
        <p:txBody>
          <a:bodyPr wrap="square">
            <a:spAutoFit/>
          </a:bodyPr>
          <a:lstStyle/>
          <a:p>
            <a:pPr algn="l"/>
            <a:r>
              <a:rPr sz="1000" b="0" i="0">
                <a:solidFill>
                  <a:srgbClr val="404040"/>
                </a:solidFill>
              </a:rPr>
              <a:t>SSP documentation: Submitted &amp; approved</a:t>
            </a:r>
          </a:p>
        </p:txBody>
      </p:sp>
      <p:sp>
        <p:nvSpPr>
          <p:cNvPr id="54" name="TextBox 53"/>
          <p:cNvSpPr txBox="1"/>
          <p:nvPr/>
        </p:nvSpPr>
        <p:spPr>
          <a:xfrm>
            <a:off x="8506021" y="3508140"/>
            <a:ext cx="3291840" cy="365760"/>
          </a:xfrm>
          <a:prstGeom prst="rect">
            <a:avLst/>
          </a:prstGeom>
          <a:noFill/>
        </p:spPr>
        <p:txBody>
          <a:bodyPr wrap="square">
            <a:spAutoFit/>
          </a:bodyPr>
          <a:lstStyle/>
          <a:p>
            <a:pPr algn="l"/>
            <a:r>
              <a:rPr sz="1000" b="0" i="0" dirty="0">
                <a:solidFill>
                  <a:srgbClr val="404040"/>
                </a:solidFill>
              </a:rPr>
              <a:t>Remote connectivity to nodes: In progress</a:t>
            </a:r>
          </a:p>
        </p:txBody>
      </p:sp>
      <p:sp>
        <p:nvSpPr>
          <p:cNvPr id="55" name="Rectangle 54"/>
          <p:cNvSpPr/>
          <p:nvPr/>
        </p:nvSpPr>
        <p:spPr>
          <a:xfrm>
            <a:off x="8222557" y="31084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p:cNvSpPr/>
          <p:nvPr/>
        </p:nvSpPr>
        <p:spPr>
          <a:xfrm>
            <a:off x="230700" y="5067192"/>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84981" y="5085533"/>
            <a:ext cx="3657600" cy="230832"/>
          </a:xfrm>
          <a:prstGeom prst="rect">
            <a:avLst/>
          </a:prstGeom>
          <a:noFill/>
        </p:spPr>
        <p:txBody>
          <a:bodyPr wrap="square">
            <a:spAutoFit/>
          </a:bodyPr>
          <a:lstStyle/>
          <a:p>
            <a:pPr algn="l"/>
            <a:r>
              <a:rPr sz="900" b="1" i="0" dirty="0">
                <a:solidFill>
                  <a:srgbClr val="FFFFFF"/>
                </a:solidFill>
              </a:rPr>
              <a:t>PROGRAM SCOPE SUMMARY</a:t>
            </a:r>
          </a:p>
        </p:txBody>
      </p:sp>
      <p:sp>
        <p:nvSpPr>
          <p:cNvPr id="60" name="TextBox 59"/>
          <p:cNvSpPr txBox="1"/>
          <p:nvPr/>
        </p:nvSpPr>
        <p:spPr>
          <a:xfrm>
            <a:off x="1785181" y="5094624"/>
            <a:ext cx="2011680" cy="274320"/>
          </a:xfrm>
          <a:prstGeom prst="rect">
            <a:avLst/>
          </a:prstGeom>
          <a:noFill/>
        </p:spPr>
        <p:txBody>
          <a:bodyPr wrap="square">
            <a:spAutoFit/>
          </a:bodyPr>
          <a:lstStyle/>
          <a:p>
            <a:pPr algn="ctr"/>
            <a:r>
              <a:rPr sz="900" b="1" i="0" dirty="0">
                <a:solidFill>
                  <a:srgbClr val="FFFFFF"/>
                </a:solidFill>
              </a:rPr>
              <a:t>Total Substations</a:t>
            </a:r>
          </a:p>
        </p:txBody>
      </p:sp>
      <p:sp>
        <p:nvSpPr>
          <p:cNvPr id="61" name="TextBox 60"/>
          <p:cNvSpPr txBox="1"/>
          <p:nvPr/>
        </p:nvSpPr>
        <p:spPr>
          <a:xfrm>
            <a:off x="3659700" y="5094624"/>
            <a:ext cx="1737360" cy="274320"/>
          </a:xfrm>
          <a:prstGeom prst="rect">
            <a:avLst/>
          </a:prstGeom>
          <a:noFill/>
        </p:spPr>
        <p:txBody>
          <a:bodyPr wrap="square">
            <a:spAutoFit/>
          </a:bodyPr>
          <a:lstStyle/>
          <a:p>
            <a:pPr algn="ctr"/>
            <a:r>
              <a:rPr sz="900" b="1" i="0">
                <a:solidFill>
                  <a:srgbClr val="FFFFFF"/>
                </a:solidFill>
              </a:rPr>
              <a:t>MPLS Sites</a:t>
            </a:r>
          </a:p>
        </p:txBody>
      </p:sp>
      <p:sp>
        <p:nvSpPr>
          <p:cNvPr id="62" name="TextBox 61"/>
          <p:cNvSpPr txBox="1"/>
          <p:nvPr/>
        </p:nvSpPr>
        <p:spPr>
          <a:xfrm>
            <a:off x="5397060" y="5094624"/>
            <a:ext cx="1737360" cy="274320"/>
          </a:xfrm>
          <a:prstGeom prst="rect">
            <a:avLst/>
          </a:prstGeom>
          <a:noFill/>
        </p:spPr>
        <p:txBody>
          <a:bodyPr wrap="square">
            <a:spAutoFit/>
          </a:bodyPr>
          <a:lstStyle/>
          <a:p>
            <a:pPr algn="ctr"/>
            <a:r>
              <a:rPr sz="900" b="1" i="0">
                <a:solidFill>
                  <a:srgbClr val="FFFFFF"/>
                </a:solidFill>
              </a:rPr>
              <a:t>DF RTU Sites</a:t>
            </a:r>
          </a:p>
        </p:txBody>
      </p:sp>
      <p:sp>
        <p:nvSpPr>
          <p:cNvPr id="63" name="TextBox 62"/>
          <p:cNvSpPr txBox="1"/>
          <p:nvPr/>
        </p:nvSpPr>
        <p:spPr>
          <a:xfrm>
            <a:off x="7134420" y="5094624"/>
            <a:ext cx="2103120" cy="274320"/>
          </a:xfrm>
          <a:prstGeom prst="rect">
            <a:avLst/>
          </a:prstGeom>
          <a:noFill/>
        </p:spPr>
        <p:txBody>
          <a:bodyPr wrap="square">
            <a:spAutoFit/>
          </a:bodyPr>
          <a:lstStyle/>
          <a:p>
            <a:pPr algn="ctr"/>
            <a:r>
              <a:rPr sz="900" b="1" i="0">
                <a:solidFill>
                  <a:srgbClr val="FFFFFF"/>
                </a:solidFill>
              </a:rPr>
              <a:t>Radio Shelter Sites</a:t>
            </a:r>
          </a:p>
        </p:txBody>
      </p:sp>
      <p:sp>
        <p:nvSpPr>
          <p:cNvPr id="64" name="TextBox 63"/>
          <p:cNvSpPr txBox="1"/>
          <p:nvPr/>
        </p:nvSpPr>
        <p:spPr>
          <a:xfrm>
            <a:off x="9237540" y="5094624"/>
            <a:ext cx="2194560" cy="274320"/>
          </a:xfrm>
          <a:prstGeom prst="rect">
            <a:avLst/>
          </a:prstGeom>
          <a:noFill/>
        </p:spPr>
        <p:txBody>
          <a:bodyPr wrap="square">
            <a:spAutoFit/>
          </a:bodyPr>
          <a:lstStyle/>
          <a:p>
            <a:pPr algn="ctr"/>
            <a:r>
              <a:rPr sz="900" b="1" i="0" dirty="0">
                <a:solidFill>
                  <a:srgbClr val="FFFFFF"/>
                </a:solidFill>
              </a:rPr>
              <a:t>Nokia MPLS Nodes</a:t>
            </a:r>
          </a:p>
        </p:txBody>
      </p:sp>
      <p:sp>
        <p:nvSpPr>
          <p:cNvPr id="65" name="Rectangle 64"/>
          <p:cNvSpPr/>
          <p:nvPr/>
        </p:nvSpPr>
        <p:spPr>
          <a:xfrm>
            <a:off x="230700" y="545124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00" y="5486836"/>
            <a:ext cx="1371600" cy="246221"/>
          </a:xfrm>
          <a:prstGeom prst="rect">
            <a:avLst/>
          </a:prstGeom>
          <a:noFill/>
        </p:spPr>
        <p:txBody>
          <a:bodyPr wrap="square">
            <a:spAutoFit/>
          </a:bodyPr>
          <a:lstStyle/>
          <a:p>
            <a:pPr algn="ctr"/>
            <a:r>
              <a:rPr lang="en-US" sz="1000" dirty="0">
                <a:solidFill>
                  <a:srgbClr val="008000"/>
                </a:solidFill>
              </a:rPr>
              <a:t>✅        </a:t>
            </a:r>
            <a:r>
              <a:rPr lang="en-US" sz="1000" dirty="0"/>
              <a:t>Phase 1</a:t>
            </a:r>
            <a:endParaRPr sz="1000" b="0" i="0" dirty="0"/>
          </a:p>
        </p:txBody>
      </p:sp>
      <p:sp>
        <p:nvSpPr>
          <p:cNvPr id="67" name="TextBox 66"/>
          <p:cNvSpPr txBox="1"/>
          <p:nvPr/>
        </p:nvSpPr>
        <p:spPr>
          <a:xfrm>
            <a:off x="1648020" y="5487816"/>
            <a:ext cx="2011680" cy="237744"/>
          </a:xfrm>
          <a:prstGeom prst="rect">
            <a:avLst/>
          </a:prstGeom>
          <a:noFill/>
        </p:spPr>
        <p:txBody>
          <a:bodyPr wrap="square">
            <a:spAutoFit/>
          </a:bodyPr>
          <a:lstStyle/>
          <a:p>
            <a:pPr algn="ctr"/>
            <a:r>
              <a:rPr sz="1000" b="0" i="0" dirty="0">
                <a:solidFill>
                  <a:srgbClr val="404040"/>
                </a:solidFill>
              </a:rPr>
              <a:t>49</a:t>
            </a:r>
          </a:p>
        </p:txBody>
      </p:sp>
      <p:sp>
        <p:nvSpPr>
          <p:cNvPr id="68" name="TextBox 67"/>
          <p:cNvSpPr txBox="1"/>
          <p:nvPr/>
        </p:nvSpPr>
        <p:spPr>
          <a:xfrm>
            <a:off x="3659700" y="5487816"/>
            <a:ext cx="1737360" cy="237744"/>
          </a:xfrm>
          <a:prstGeom prst="rect">
            <a:avLst/>
          </a:prstGeom>
          <a:noFill/>
        </p:spPr>
        <p:txBody>
          <a:bodyPr wrap="square">
            <a:spAutoFit/>
          </a:bodyPr>
          <a:lstStyle/>
          <a:p>
            <a:pPr algn="ctr"/>
            <a:r>
              <a:rPr sz="1000" b="0" i="0">
                <a:solidFill>
                  <a:srgbClr val="404040"/>
                </a:solidFill>
              </a:rPr>
              <a:t>26</a:t>
            </a:r>
          </a:p>
        </p:txBody>
      </p:sp>
      <p:sp>
        <p:nvSpPr>
          <p:cNvPr id="69" name="TextBox 68"/>
          <p:cNvSpPr txBox="1"/>
          <p:nvPr/>
        </p:nvSpPr>
        <p:spPr>
          <a:xfrm>
            <a:off x="5397060" y="5487816"/>
            <a:ext cx="1737360" cy="237744"/>
          </a:xfrm>
          <a:prstGeom prst="rect">
            <a:avLst/>
          </a:prstGeom>
          <a:noFill/>
        </p:spPr>
        <p:txBody>
          <a:bodyPr wrap="square">
            <a:spAutoFit/>
          </a:bodyPr>
          <a:lstStyle/>
          <a:p>
            <a:pPr algn="ctr"/>
            <a:r>
              <a:rPr sz="1000" b="0" i="0">
                <a:solidFill>
                  <a:srgbClr val="404040"/>
                </a:solidFill>
              </a:rPr>
              <a:t>17</a:t>
            </a:r>
          </a:p>
        </p:txBody>
      </p:sp>
      <p:sp>
        <p:nvSpPr>
          <p:cNvPr id="70" name="TextBox 69"/>
          <p:cNvSpPr txBox="1"/>
          <p:nvPr/>
        </p:nvSpPr>
        <p:spPr>
          <a:xfrm>
            <a:off x="7134420" y="5487816"/>
            <a:ext cx="2103120" cy="237744"/>
          </a:xfrm>
          <a:prstGeom prst="rect">
            <a:avLst/>
          </a:prstGeom>
          <a:noFill/>
        </p:spPr>
        <p:txBody>
          <a:bodyPr wrap="square">
            <a:spAutoFit/>
          </a:bodyPr>
          <a:lstStyle/>
          <a:p>
            <a:pPr algn="ctr"/>
            <a:r>
              <a:rPr sz="1000" b="0" i="0">
                <a:solidFill>
                  <a:srgbClr val="404040"/>
                </a:solidFill>
              </a:rPr>
              <a:t>6</a:t>
            </a:r>
          </a:p>
        </p:txBody>
      </p:sp>
      <p:sp>
        <p:nvSpPr>
          <p:cNvPr id="71" name="TextBox 70"/>
          <p:cNvSpPr txBox="1"/>
          <p:nvPr/>
        </p:nvSpPr>
        <p:spPr>
          <a:xfrm>
            <a:off x="9237540" y="5487816"/>
            <a:ext cx="2194560" cy="237744"/>
          </a:xfrm>
          <a:prstGeom prst="rect">
            <a:avLst/>
          </a:prstGeom>
          <a:noFill/>
        </p:spPr>
        <p:txBody>
          <a:bodyPr wrap="square">
            <a:spAutoFit/>
          </a:bodyPr>
          <a:lstStyle/>
          <a:p>
            <a:pPr algn="ctr"/>
            <a:r>
              <a:rPr sz="1000" b="0" i="0">
                <a:solidFill>
                  <a:srgbClr val="404040"/>
                </a:solidFill>
              </a:rPr>
              <a:t>31</a:t>
            </a:r>
          </a:p>
        </p:txBody>
      </p:sp>
      <p:sp>
        <p:nvSpPr>
          <p:cNvPr id="72" name="Rectangle 71"/>
          <p:cNvSpPr/>
          <p:nvPr/>
        </p:nvSpPr>
        <p:spPr>
          <a:xfrm>
            <a:off x="230700" y="5771280"/>
            <a:ext cx="1161288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5843016"/>
            <a:ext cx="1371600" cy="237744"/>
          </a:xfrm>
          <a:prstGeom prst="rect">
            <a:avLst/>
          </a:prstGeom>
          <a:noFill/>
        </p:spPr>
        <p:txBody>
          <a:bodyPr wrap="square">
            <a:spAutoFit/>
          </a:bodyPr>
          <a:lstStyle/>
          <a:p>
            <a:pPr algn="ctr"/>
            <a:r>
              <a:rPr sz="1000" b="0" i="0">
                <a:solidFill>
                  <a:srgbClr val="404040"/>
                </a:solidFill>
              </a:rPr>
              <a:t>Phase 2</a:t>
            </a:r>
          </a:p>
        </p:txBody>
      </p:sp>
      <p:sp>
        <p:nvSpPr>
          <p:cNvPr id="74" name="TextBox 73"/>
          <p:cNvSpPr txBox="1"/>
          <p:nvPr/>
        </p:nvSpPr>
        <p:spPr>
          <a:xfrm>
            <a:off x="1648020" y="5807856"/>
            <a:ext cx="2011680" cy="237744"/>
          </a:xfrm>
          <a:prstGeom prst="rect">
            <a:avLst/>
          </a:prstGeom>
          <a:noFill/>
        </p:spPr>
        <p:txBody>
          <a:bodyPr wrap="square">
            <a:spAutoFit/>
          </a:bodyPr>
          <a:lstStyle/>
          <a:p>
            <a:pPr algn="ctr"/>
            <a:r>
              <a:rPr sz="1000" b="0" i="0">
                <a:solidFill>
                  <a:srgbClr val="404040"/>
                </a:solidFill>
              </a:rPr>
              <a:t>45</a:t>
            </a:r>
          </a:p>
        </p:txBody>
      </p:sp>
      <p:sp>
        <p:nvSpPr>
          <p:cNvPr id="75" name="TextBox 74"/>
          <p:cNvSpPr txBox="1"/>
          <p:nvPr/>
        </p:nvSpPr>
        <p:spPr>
          <a:xfrm>
            <a:off x="3659700" y="5807856"/>
            <a:ext cx="1737360" cy="237744"/>
          </a:xfrm>
          <a:prstGeom prst="rect">
            <a:avLst/>
          </a:prstGeom>
          <a:noFill/>
        </p:spPr>
        <p:txBody>
          <a:bodyPr wrap="square">
            <a:spAutoFit/>
          </a:bodyPr>
          <a:lstStyle/>
          <a:p>
            <a:pPr algn="ctr"/>
            <a:r>
              <a:rPr sz="1000" b="0" i="0">
                <a:solidFill>
                  <a:srgbClr val="404040"/>
                </a:solidFill>
              </a:rPr>
              <a:t>26</a:t>
            </a:r>
          </a:p>
        </p:txBody>
      </p:sp>
      <p:sp>
        <p:nvSpPr>
          <p:cNvPr id="76" name="TextBox 75"/>
          <p:cNvSpPr txBox="1"/>
          <p:nvPr/>
        </p:nvSpPr>
        <p:spPr>
          <a:xfrm>
            <a:off x="5397060" y="5807856"/>
            <a:ext cx="1737360" cy="237744"/>
          </a:xfrm>
          <a:prstGeom prst="rect">
            <a:avLst/>
          </a:prstGeom>
          <a:noFill/>
        </p:spPr>
        <p:txBody>
          <a:bodyPr wrap="square">
            <a:spAutoFit/>
          </a:bodyPr>
          <a:lstStyle/>
          <a:p>
            <a:pPr algn="ctr"/>
            <a:r>
              <a:rPr sz="1000" b="0" i="0">
                <a:solidFill>
                  <a:srgbClr val="404040"/>
                </a:solidFill>
              </a:rPr>
              <a:t>12</a:t>
            </a:r>
          </a:p>
        </p:txBody>
      </p:sp>
      <p:sp>
        <p:nvSpPr>
          <p:cNvPr id="77" name="TextBox 76"/>
          <p:cNvSpPr txBox="1"/>
          <p:nvPr/>
        </p:nvSpPr>
        <p:spPr>
          <a:xfrm>
            <a:off x="7134420" y="5807856"/>
            <a:ext cx="2103120" cy="237744"/>
          </a:xfrm>
          <a:prstGeom prst="rect">
            <a:avLst/>
          </a:prstGeom>
          <a:noFill/>
        </p:spPr>
        <p:txBody>
          <a:bodyPr wrap="square">
            <a:spAutoFit/>
          </a:bodyPr>
          <a:lstStyle/>
          <a:p>
            <a:pPr algn="ctr"/>
            <a:r>
              <a:rPr sz="1000" b="0" i="0">
                <a:solidFill>
                  <a:srgbClr val="404040"/>
                </a:solidFill>
              </a:rPr>
              <a:t>7</a:t>
            </a:r>
          </a:p>
        </p:txBody>
      </p:sp>
      <p:sp>
        <p:nvSpPr>
          <p:cNvPr id="78" name="TextBox 77"/>
          <p:cNvSpPr txBox="1"/>
          <p:nvPr/>
        </p:nvSpPr>
        <p:spPr>
          <a:xfrm>
            <a:off x="9237540" y="5807856"/>
            <a:ext cx="2194560" cy="237744"/>
          </a:xfrm>
          <a:prstGeom prst="rect">
            <a:avLst/>
          </a:prstGeom>
          <a:noFill/>
        </p:spPr>
        <p:txBody>
          <a:bodyPr wrap="square">
            <a:spAutoFit/>
          </a:bodyPr>
          <a:lstStyle/>
          <a:p>
            <a:pPr algn="ctr"/>
            <a:r>
              <a:rPr sz="1000" b="0" i="0">
                <a:solidFill>
                  <a:srgbClr val="404040"/>
                </a:solidFill>
              </a:rPr>
              <a:t>26</a:t>
            </a:r>
          </a:p>
        </p:txBody>
      </p:sp>
      <p:sp>
        <p:nvSpPr>
          <p:cNvPr id="79" name="Rectangle 78"/>
          <p:cNvSpPr/>
          <p:nvPr/>
        </p:nvSpPr>
        <p:spPr>
          <a:xfrm>
            <a:off x="230700" y="609132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420" y="6127896"/>
            <a:ext cx="1371600" cy="237744"/>
          </a:xfrm>
          <a:prstGeom prst="rect">
            <a:avLst/>
          </a:prstGeom>
          <a:noFill/>
        </p:spPr>
        <p:txBody>
          <a:bodyPr wrap="square">
            <a:spAutoFit/>
          </a:bodyPr>
          <a:lstStyle/>
          <a:p>
            <a:pPr algn="ctr"/>
            <a:r>
              <a:rPr sz="1000" b="0" i="0">
                <a:solidFill>
                  <a:srgbClr val="404040"/>
                </a:solidFill>
              </a:rPr>
              <a:t>Phase 3</a:t>
            </a:r>
          </a:p>
        </p:txBody>
      </p:sp>
      <p:sp>
        <p:nvSpPr>
          <p:cNvPr id="81" name="TextBox 80"/>
          <p:cNvSpPr txBox="1"/>
          <p:nvPr/>
        </p:nvSpPr>
        <p:spPr>
          <a:xfrm>
            <a:off x="1648020" y="6190488"/>
            <a:ext cx="2011680" cy="237744"/>
          </a:xfrm>
          <a:prstGeom prst="rect">
            <a:avLst/>
          </a:prstGeom>
          <a:noFill/>
        </p:spPr>
        <p:txBody>
          <a:bodyPr wrap="square">
            <a:spAutoFit/>
          </a:bodyPr>
          <a:lstStyle/>
          <a:p>
            <a:pPr algn="ctr"/>
            <a:r>
              <a:rPr sz="1000" b="0" i="0">
                <a:solidFill>
                  <a:srgbClr val="404040"/>
                </a:solidFill>
              </a:rPr>
              <a:t>35</a:t>
            </a:r>
          </a:p>
        </p:txBody>
      </p:sp>
      <p:sp>
        <p:nvSpPr>
          <p:cNvPr id="82" name="TextBox 81"/>
          <p:cNvSpPr txBox="1"/>
          <p:nvPr/>
        </p:nvSpPr>
        <p:spPr>
          <a:xfrm>
            <a:off x="3659700" y="6127896"/>
            <a:ext cx="1737360" cy="237744"/>
          </a:xfrm>
          <a:prstGeom prst="rect">
            <a:avLst/>
          </a:prstGeom>
          <a:noFill/>
        </p:spPr>
        <p:txBody>
          <a:bodyPr wrap="square">
            <a:spAutoFit/>
          </a:bodyPr>
          <a:lstStyle/>
          <a:p>
            <a:pPr algn="ctr"/>
            <a:r>
              <a:rPr sz="1000" b="0" i="0">
                <a:solidFill>
                  <a:srgbClr val="404040"/>
                </a:solidFill>
              </a:rPr>
              <a:t>22</a:t>
            </a:r>
          </a:p>
        </p:txBody>
      </p:sp>
      <p:sp>
        <p:nvSpPr>
          <p:cNvPr id="83" name="TextBox 82"/>
          <p:cNvSpPr txBox="1"/>
          <p:nvPr/>
        </p:nvSpPr>
        <p:spPr>
          <a:xfrm>
            <a:off x="5397060" y="6127896"/>
            <a:ext cx="1737360" cy="237744"/>
          </a:xfrm>
          <a:prstGeom prst="rect">
            <a:avLst/>
          </a:prstGeom>
          <a:noFill/>
        </p:spPr>
        <p:txBody>
          <a:bodyPr wrap="square">
            <a:spAutoFit/>
          </a:bodyPr>
          <a:lstStyle/>
          <a:p>
            <a:pPr algn="ctr"/>
            <a:r>
              <a:rPr sz="1000" b="0" i="0">
                <a:solidFill>
                  <a:srgbClr val="404040"/>
                </a:solidFill>
              </a:rPr>
              <a:t>7</a:t>
            </a:r>
          </a:p>
        </p:txBody>
      </p:sp>
      <p:sp>
        <p:nvSpPr>
          <p:cNvPr id="84" name="TextBox 83"/>
          <p:cNvSpPr txBox="1"/>
          <p:nvPr/>
        </p:nvSpPr>
        <p:spPr>
          <a:xfrm>
            <a:off x="7134420" y="6127896"/>
            <a:ext cx="2103120" cy="237744"/>
          </a:xfrm>
          <a:prstGeom prst="rect">
            <a:avLst/>
          </a:prstGeom>
          <a:noFill/>
        </p:spPr>
        <p:txBody>
          <a:bodyPr wrap="square">
            <a:spAutoFit/>
          </a:bodyPr>
          <a:lstStyle/>
          <a:p>
            <a:pPr algn="ctr"/>
            <a:r>
              <a:rPr sz="1000" b="0" i="0">
                <a:solidFill>
                  <a:srgbClr val="404040"/>
                </a:solidFill>
              </a:rPr>
              <a:t>6</a:t>
            </a:r>
          </a:p>
        </p:txBody>
      </p:sp>
      <p:sp>
        <p:nvSpPr>
          <p:cNvPr id="85" name="TextBox 84"/>
          <p:cNvSpPr txBox="1"/>
          <p:nvPr/>
        </p:nvSpPr>
        <p:spPr>
          <a:xfrm>
            <a:off x="9237540" y="6127896"/>
            <a:ext cx="2194560" cy="237744"/>
          </a:xfrm>
          <a:prstGeom prst="rect">
            <a:avLst/>
          </a:prstGeom>
          <a:noFill/>
        </p:spPr>
        <p:txBody>
          <a:bodyPr wrap="square">
            <a:spAutoFit/>
          </a:bodyPr>
          <a:lstStyle/>
          <a:p>
            <a:pPr algn="ctr"/>
            <a:r>
              <a:rPr sz="1000" b="0" i="0">
                <a:solidFill>
                  <a:srgbClr val="404040"/>
                </a:solidFill>
              </a:rPr>
              <a:t>22</a:t>
            </a:r>
          </a:p>
        </p:txBody>
      </p:sp>
      <p:sp>
        <p:nvSpPr>
          <p:cNvPr id="86" name="Rectangle 85"/>
          <p:cNvSpPr/>
          <p:nvPr/>
        </p:nvSpPr>
        <p:spPr>
          <a:xfrm>
            <a:off x="230700" y="6411360"/>
            <a:ext cx="11612880" cy="301752"/>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6420" y="6447936"/>
            <a:ext cx="1371600" cy="237744"/>
          </a:xfrm>
          <a:prstGeom prst="rect">
            <a:avLst/>
          </a:prstGeom>
          <a:noFill/>
        </p:spPr>
        <p:txBody>
          <a:bodyPr wrap="square">
            <a:spAutoFit/>
          </a:bodyPr>
          <a:lstStyle/>
          <a:p>
            <a:pPr algn="ctr"/>
            <a:r>
              <a:rPr sz="1000" b="1" i="0">
                <a:solidFill>
                  <a:srgbClr val="003387"/>
                </a:solidFill>
              </a:rPr>
              <a:t>TOTAL</a:t>
            </a:r>
          </a:p>
        </p:txBody>
      </p:sp>
      <p:sp>
        <p:nvSpPr>
          <p:cNvPr id="88" name="TextBox 87"/>
          <p:cNvSpPr txBox="1"/>
          <p:nvPr/>
        </p:nvSpPr>
        <p:spPr>
          <a:xfrm>
            <a:off x="1648020" y="6447936"/>
            <a:ext cx="2011680" cy="237744"/>
          </a:xfrm>
          <a:prstGeom prst="rect">
            <a:avLst/>
          </a:prstGeom>
          <a:noFill/>
        </p:spPr>
        <p:txBody>
          <a:bodyPr wrap="square">
            <a:spAutoFit/>
          </a:bodyPr>
          <a:lstStyle/>
          <a:p>
            <a:pPr algn="ctr"/>
            <a:r>
              <a:rPr sz="1000" b="1" i="0">
                <a:solidFill>
                  <a:srgbClr val="003387"/>
                </a:solidFill>
              </a:rPr>
              <a:t>129</a:t>
            </a:r>
          </a:p>
        </p:txBody>
      </p:sp>
      <p:sp>
        <p:nvSpPr>
          <p:cNvPr id="89" name="TextBox 88"/>
          <p:cNvSpPr txBox="1"/>
          <p:nvPr/>
        </p:nvSpPr>
        <p:spPr>
          <a:xfrm>
            <a:off x="3659700" y="6447936"/>
            <a:ext cx="1737360" cy="237744"/>
          </a:xfrm>
          <a:prstGeom prst="rect">
            <a:avLst/>
          </a:prstGeom>
          <a:noFill/>
        </p:spPr>
        <p:txBody>
          <a:bodyPr wrap="square">
            <a:spAutoFit/>
          </a:bodyPr>
          <a:lstStyle/>
          <a:p>
            <a:pPr algn="ctr"/>
            <a:r>
              <a:rPr sz="1000" b="1" i="0">
                <a:solidFill>
                  <a:srgbClr val="003387"/>
                </a:solidFill>
              </a:rPr>
              <a:t>74</a:t>
            </a:r>
          </a:p>
        </p:txBody>
      </p:sp>
      <p:sp>
        <p:nvSpPr>
          <p:cNvPr id="90" name="TextBox 89"/>
          <p:cNvSpPr txBox="1"/>
          <p:nvPr/>
        </p:nvSpPr>
        <p:spPr>
          <a:xfrm>
            <a:off x="5397060" y="6447936"/>
            <a:ext cx="1737360" cy="237744"/>
          </a:xfrm>
          <a:prstGeom prst="rect">
            <a:avLst/>
          </a:prstGeom>
          <a:noFill/>
        </p:spPr>
        <p:txBody>
          <a:bodyPr wrap="square">
            <a:spAutoFit/>
          </a:bodyPr>
          <a:lstStyle/>
          <a:p>
            <a:pPr algn="ctr"/>
            <a:r>
              <a:rPr sz="1000" b="1" i="0">
                <a:solidFill>
                  <a:srgbClr val="003387"/>
                </a:solidFill>
              </a:rPr>
              <a:t>36</a:t>
            </a:r>
          </a:p>
        </p:txBody>
      </p:sp>
      <p:sp>
        <p:nvSpPr>
          <p:cNvPr id="91" name="TextBox 90"/>
          <p:cNvSpPr txBox="1"/>
          <p:nvPr/>
        </p:nvSpPr>
        <p:spPr>
          <a:xfrm>
            <a:off x="7134420" y="6447936"/>
            <a:ext cx="2103120" cy="237744"/>
          </a:xfrm>
          <a:prstGeom prst="rect">
            <a:avLst/>
          </a:prstGeom>
          <a:noFill/>
        </p:spPr>
        <p:txBody>
          <a:bodyPr wrap="square">
            <a:spAutoFit/>
          </a:bodyPr>
          <a:lstStyle/>
          <a:p>
            <a:pPr algn="ctr"/>
            <a:r>
              <a:rPr sz="1000" b="1" i="0">
                <a:solidFill>
                  <a:srgbClr val="003387"/>
                </a:solidFill>
              </a:rPr>
              <a:t>19</a:t>
            </a:r>
          </a:p>
        </p:txBody>
      </p:sp>
      <p:sp>
        <p:nvSpPr>
          <p:cNvPr id="92" name="TextBox 91"/>
          <p:cNvSpPr txBox="1"/>
          <p:nvPr/>
        </p:nvSpPr>
        <p:spPr>
          <a:xfrm>
            <a:off x="9237540" y="6447936"/>
            <a:ext cx="2194560" cy="237744"/>
          </a:xfrm>
          <a:prstGeom prst="rect">
            <a:avLst/>
          </a:prstGeom>
          <a:noFill/>
        </p:spPr>
        <p:txBody>
          <a:bodyPr wrap="square">
            <a:spAutoFit/>
          </a:bodyPr>
          <a:lstStyle/>
          <a:p>
            <a:pPr algn="ctr"/>
            <a:r>
              <a:rPr sz="1000" b="1" i="0">
                <a:solidFill>
                  <a:srgbClr val="003387"/>
                </a:solidFill>
              </a:rPr>
              <a:t>79</a:t>
            </a:r>
          </a:p>
        </p:txBody>
      </p:sp>
      <p:sp>
        <p:nvSpPr>
          <p:cNvPr id="95" name="TextBox 94">
            <a:extLst>
              <a:ext uri="{FF2B5EF4-FFF2-40B4-BE49-F238E27FC236}">
                <a16:creationId xmlns:a16="http://schemas.microsoft.com/office/drawing/2014/main" id="{3B15B81E-CC47-D1BB-FB05-95EBF0371DE3}"/>
              </a:ext>
            </a:extLst>
          </p:cNvPr>
          <p:cNvSpPr txBox="1"/>
          <p:nvPr/>
        </p:nvSpPr>
        <p:spPr>
          <a:xfrm>
            <a:off x="8478589" y="3054482"/>
            <a:ext cx="3025697" cy="246221"/>
          </a:xfrm>
          <a:prstGeom prst="rect">
            <a:avLst/>
          </a:prstGeom>
          <a:noFill/>
        </p:spPr>
        <p:txBody>
          <a:bodyPr wrap="square" rtlCol="0">
            <a:spAutoFit/>
          </a:bodyPr>
          <a:lstStyle/>
          <a:p>
            <a:r>
              <a:rPr lang="en-US" sz="1000" dirty="0"/>
              <a:t>OTDR testing from Hicksville to Syosset</a:t>
            </a:r>
            <a:endParaRPr lang="en-US" dirty="0"/>
          </a:p>
        </p:txBody>
      </p:sp>
      <p:sp>
        <p:nvSpPr>
          <p:cNvPr id="98" name="TextBox 97">
            <a:extLst>
              <a:ext uri="{FF2B5EF4-FFF2-40B4-BE49-F238E27FC236}">
                <a16:creationId xmlns:a16="http://schemas.microsoft.com/office/drawing/2014/main" id="{28B3DF57-4DE9-EAAC-C619-67704B496FAA}"/>
              </a:ext>
            </a:extLst>
          </p:cNvPr>
          <p:cNvSpPr txBox="1"/>
          <p:nvPr/>
        </p:nvSpPr>
        <p:spPr>
          <a:xfrm>
            <a:off x="8185980" y="3848273"/>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99" name="TextBox 98">
            <a:extLst>
              <a:ext uri="{FF2B5EF4-FFF2-40B4-BE49-F238E27FC236}">
                <a16:creationId xmlns:a16="http://schemas.microsoft.com/office/drawing/2014/main" id="{79A606F6-3D1B-BCE5-572C-CDB01FA5D973}"/>
              </a:ext>
            </a:extLst>
          </p:cNvPr>
          <p:cNvSpPr txBox="1"/>
          <p:nvPr/>
        </p:nvSpPr>
        <p:spPr>
          <a:xfrm>
            <a:off x="8181038" y="3463421"/>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0" name="TextBox 99">
            <a:extLst>
              <a:ext uri="{FF2B5EF4-FFF2-40B4-BE49-F238E27FC236}">
                <a16:creationId xmlns:a16="http://schemas.microsoft.com/office/drawing/2014/main" id="{55ADC1A2-EFF1-D285-C45D-C04AC2133770}"/>
              </a:ext>
            </a:extLst>
          </p:cNvPr>
          <p:cNvSpPr txBox="1"/>
          <p:nvPr/>
        </p:nvSpPr>
        <p:spPr>
          <a:xfrm>
            <a:off x="266913" y="3403958"/>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1" name="TextBox 100">
            <a:extLst>
              <a:ext uri="{FF2B5EF4-FFF2-40B4-BE49-F238E27FC236}">
                <a16:creationId xmlns:a16="http://schemas.microsoft.com/office/drawing/2014/main" id="{8B3832DE-8459-0230-A772-DA2CE09602C7}"/>
              </a:ext>
            </a:extLst>
          </p:cNvPr>
          <p:cNvSpPr txBox="1"/>
          <p:nvPr/>
        </p:nvSpPr>
        <p:spPr>
          <a:xfrm>
            <a:off x="277546" y="3757869"/>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1 Accomplishments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31 Substations | Complete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28599" y="1069848"/>
            <a:ext cx="7498079"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005840"/>
            <a:ext cx="39319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05840"/>
            <a:ext cx="7498079"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42415"/>
            <a:ext cx="7315200" cy="347472"/>
          </a:xfrm>
          <a:prstGeom prst="rect">
            <a:avLst/>
          </a:prstGeom>
          <a:noFill/>
        </p:spPr>
        <p:txBody>
          <a:bodyPr wrap="square">
            <a:spAutoFit/>
          </a:bodyPr>
          <a:lstStyle/>
          <a:p>
            <a:pPr algn="l"/>
            <a:r>
              <a:rPr sz="1200" b="1" i="0">
                <a:solidFill>
                  <a:srgbClr val="FFFFFF"/>
                </a:solidFill>
              </a:rPr>
              <a:t>KEY ACCOMPLISHMENTS</a:t>
            </a:r>
          </a:p>
        </p:txBody>
      </p:sp>
      <p:sp>
        <p:nvSpPr>
          <p:cNvPr id="13" name="TextBox 12"/>
          <p:cNvSpPr txBox="1"/>
          <p:nvPr/>
        </p:nvSpPr>
        <p:spPr>
          <a:xfrm>
            <a:off x="640080" y="1490472"/>
            <a:ext cx="6949440" cy="261610"/>
          </a:xfrm>
          <a:prstGeom prst="rect">
            <a:avLst/>
          </a:prstGeom>
          <a:noFill/>
        </p:spPr>
        <p:txBody>
          <a:bodyPr wrap="square">
            <a:spAutoFit/>
          </a:bodyPr>
          <a:lstStyle/>
          <a:p>
            <a:pPr algn="l"/>
            <a:r>
              <a:rPr lang="en-US" sz="1100" b="0" i="0" dirty="0">
                <a:solidFill>
                  <a:srgbClr val="404040"/>
                </a:solidFill>
              </a:rPr>
              <a:t>Staging completed at Hawkeye Warehouse  - Work Completed - 9/29/2025</a:t>
            </a:r>
          </a:p>
        </p:txBody>
      </p:sp>
      <p:sp>
        <p:nvSpPr>
          <p:cNvPr id="15" name="TextBox 14"/>
          <p:cNvSpPr txBox="1"/>
          <p:nvPr/>
        </p:nvSpPr>
        <p:spPr>
          <a:xfrm>
            <a:off x="640080" y="1929384"/>
            <a:ext cx="6949440" cy="261610"/>
          </a:xfrm>
          <a:prstGeom prst="rect">
            <a:avLst/>
          </a:prstGeom>
          <a:noFill/>
        </p:spPr>
        <p:txBody>
          <a:bodyPr wrap="square">
            <a:spAutoFit/>
          </a:bodyPr>
          <a:lstStyle/>
          <a:p>
            <a:pPr algn="l"/>
            <a:r>
              <a:rPr lang="en-US" sz="1100" b="0" i="0" dirty="0">
                <a:solidFill>
                  <a:srgbClr val="404040"/>
                </a:solidFill>
              </a:rPr>
              <a:t>Nokia equipment for Phase 2 has been delivered – Work Completed - 2/19/2026</a:t>
            </a:r>
          </a:p>
        </p:txBody>
      </p:sp>
      <p:sp>
        <p:nvSpPr>
          <p:cNvPr id="17" name="TextBox 16"/>
          <p:cNvSpPr txBox="1"/>
          <p:nvPr/>
        </p:nvSpPr>
        <p:spPr>
          <a:xfrm>
            <a:off x="640080" y="2368296"/>
            <a:ext cx="6949440" cy="261610"/>
          </a:xfrm>
          <a:prstGeom prst="rect">
            <a:avLst/>
          </a:prstGeom>
          <a:noFill/>
        </p:spPr>
        <p:txBody>
          <a:bodyPr wrap="square">
            <a:spAutoFit/>
          </a:bodyPr>
          <a:lstStyle/>
          <a:p>
            <a:pPr algn="l"/>
            <a:r>
              <a:rPr lang="en-US" sz="1100" b="0" i="0" dirty="0">
                <a:solidFill>
                  <a:srgbClr val="404040"/>
                </a:solidFill>
              </a:rPr>
              <a:t>Complete CWDM cutover at Hicksville and ACC -  Work completed </a:t>
            </a:r>
          </a:p>
        </p:txBody>
      </p:sp>
      <p:sp>
        <p:nvSpPr>
          <p:cNvPr id="19" name="TextBox 18"/>
          <p:cNvSpPr txBox="1"/>
          <p:nvPr/>
        </p:nvSpPr>
        <p:spPr>
          <a:xfrm>
            <a:off x="640080" y="2807208"/>
            <a:ext cx="6949440" cy="261610"/>
          </a:xfrm>
          <a:prstGeom prst="rect">
            <a:avLst/>
          </a:prstGeom>
          <a:noFill/>
        </p:spPr>
        <p:txBody>
          <a:bodyPr wrap="square">
            <a:spAutoFit/>
          </a:bodyPr>
          <a:lstStyle/>
          <a:p>
            <a:pPr algn="l"/>
            <a:r>
              <a:rPr lang="en-US" sz="1100" b="0" i="0" dirty="0">
                <a:solidFill>
                  <a:srgbClr val="404040"/>
                </a:solidFill>
              </a:rPr>
              <a:t>Install routers in the primary &amp; secondary cabinet – Work Completed </a:t>
            </a:r>
          </a:p>
        </p:txBody>
      </p:sp>
      <p:sp>
        <p:nvSpPr>
          <p:cNvPr id="21" name="TextBox 20"/>
          <p:cNvSpPr txBox="1"/>
          <p:nvPr/>
        </p:nvSpPr>
        <p:spPr>
          <a:xfrm>
            <a:off x="640080" y="4557277"/>
            <a:ext cx="6949440" cy="261610"/>
          </a:xfrm>
          <a:prstGeom prst="rect">
            <a:avLst/>
          </a:prstGeom>
          <a:noFill/>
        </p:spPr>
        <p:txBody>
          <a:bodyPr wrap="square">
            <a:spAutoFit/>
          </a:bodyPr>
          <a:lstStyle/>
          <a:p>
            <a:pPr algn="l"/>
            <a:r>
              <a:rPr lang="en-US" sz="1100" b="0" i="0" dirty="0">
                <a:solidFill>
                  <a:srgbClr val="404040"/>
                </a:solidFill>
              </a:rPr>
              <a:t>NSP installed racked &amp; powered up in Melville and Hicksville – Work Completed </a:t>
            </a:r>
          </a:p>
        </p:txBody>
      </p:sp>
      <p:sp>
        <p:nvSpPr>
          <p:cNvPr id="23" name="TextBox 22"/>
          <p:cNvSpPr txBox="1"/>
          <p:nvPr/>
        </p:nvSpPr>
        <p:spPr>
          <a:xfrm>
            <a:off x="640080" y="4996189"/>
            <a:ext cx="6949440" cy="261610"/>
          </a:xfrm>
          <a:prstGeom prst="rect">
            <a:avLst/>
          </a:prstGeom>
          <a:noFill/>
        </p:spPr>
        <p:txBody>
          <a:bodyPr wrap="square">
            <a:spAutoFit/>
          </a:bodyPr>
          <a:lstStyle/>
          <a:p>
            <a:pPr algn="l"/>
            <a:r>
              <a:rPr sz="1100" b="0" i="0" dirty="0">
                <a:solidFill>
                  <a:srgbClr val="404040"/>
                </a:solidFill>
              </a:rPr>
              <a:t>Staging </a:t>
            </a:r>
            <a:r>
              <a:rPr lang="en-US" sz="1100" b="0" i="0" dirty="0">
                <a:solidFill>
                  <a:srgbClr val="404040"/>
                </a:solidFill>
              </a:rPr>
              <a:t>CMDB document updated and added to CMDB database – Work Completed </a:t>
            </a:r>
          </a:p>
        </p:txBody>
      </p:sp>
      <p:sp>
        <p:nvSpPr>
          <p:cNvPr id="25" name="TextBox 24"/>
          <p:cNvSpPr txBox="1"/>
          <p:nvPr/>
        </p:nvSpPr>
        <p:spPr>
          <a:xfrm>
            <a:off x="640080" y="5435101"/>
            <a:ext cx="6949440" cy="261610"/>
          </a:xfrm>
          <a:prstGeom prst="rect">
            <a:avLst/>
          </a:prstGeom>
          <a:noFill/>
        </p:spPr>
        <p:txBody>
          <a:bodyPr wrap="square">
            <a:spAutoFit/>
          </a:bodyPr>
          <a:lstStyle/>
          <a:p>
            <a:pPr algn="l"/>
            <a:r>
              <a:rPr lang="en-US" sz="1100" b="0" i="0" dirty="0">
                <a:solidFill>
                  <a:srgbClr val="404040"/>
                </a:solidFill>
              </a:rPr>
              <a:t>OTDR testing from Hicksville to Syosset – Work Completed </a:t>
            </a:r>
          </a:p>
        </p:txBody>
      </p:sp>
      <p:sp>
        <p:nvSpPr>
          <p:cNvPr id="32" name="Rectangle 31"/>
          <p:cNvSpPr/>
          <p:nvPr/>
        </p:nvSpPr>
        <p:spPr>
          <a:xfrm>
            <a:off x="7955279" y="1005840"/>
            <a:ext cx="3931920" cy="411480"/>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0" y="1042415"/>
            <a:ext cx="3749039" cy="276999"/>
          </a:xfrm>
          <a:prstGeom prst="rect">
            <a:avLst/>
          </a:prstGeom>
          <a:noFill/>
        </p:spPr>
        <p:txBody>
          <a:bodyPr wrap="square">
            <a:spAutoFit/>
          </a:bodyPr>
          <a:lstStyle/>
          <a:p>
            <a:pPr algn="l"/>
            <a:r>
              <a:rPr sz="1200" b="1" i="0" dirty="0">
                <a:solidFill>
                  <a:srgbClr val="FFFFFF"/>
                </a:solidFill>
              </a:rPr>
              <a:t>PHASE 1 AT A GLANCE</a:t>
            </a:r>
            <a:r>
              <a:rPr lang="en-US" sz="1200" b="1" i="0" dirty="0">
                <a:solidFill>
                  <a:srgbClr val="FFFFFF"/>
                </a:solidFill>
              </a:rPr>
              <a:t> - Completion</a:t>
            </a:r>
            <a:endParaRPr sz="1200" b="1" i="0" dirty="0">
              <a:solidFill>
                <a:srgbClr val="FFFFFF"/>
              </a:solidFill>
            </a:endParaRPr>
          </a:p>
        </p:txBody>
      </p:sp>
      <p:sp>
        <p:nvSpPr>
          <p:cNvPr id="34" name="Rectangle 33"/>
          <p:cNvSpPr/>
          <p:nvPr/>
        </p:nvSpPr>
        <p:spPr>
          <a:xfrm>
            <a:off x="8001000" y="15087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1527048"/>
            <a:ext cx="3749039" cy="347472"/>
          </a:xfrm>
          <a:prstGeom prst="rect">
            <a:avLst/>
          </a:prstGeom>
          <a:noFill/>
        </p:spPr>
        <p:txBody>
          <a:bodyPr wrap="square">
            <a:spAutoFit/>
          </a:bodyPr>
          <a:lstStyle/>
          <a:p>
            <a:pPr algn="ctr"/>
            <a:r>
              <a:rPr sz="1800" b="1" i="0">
                <a:solidFill>
                  <a:srgbClr val="003387"/>
                </a:solidFill>
              </a:rPr>
              <a:t>31 / 31</a:t>
            </a:r>
          </a:p>
        </p:txBody>
      </p:sp>
      <p:sp>
        <p:nvSpPr>
          <p:cNvPr id="36" name="TextBox 35"/>
          <p:cNvSpPr txBox="1"/>
          <p:nvPr/>
        </p:nvSpPr>
        <p:spPr>
          <a:xfrm>
            <a:off x="8046720" y="1856231"/>
            <a:ext cx="3749039" cy="274320"/>
          </a:xfrm>
          <a:prstGeom prst="rect">
            <a:avLst/>
          </a:prstGeom>
          <a:noFill/>
        </p:spPr>
        <p:txBody>
          <a:bodyPr wrap="square">
            <a:spAutoFit/>
          </a:bodyPr>
          <a:lstStyle/>
          <a:p>
            <a:pPr algn="ctr"/>
            <a:r>
              <a:rPr sz="1000" b="0" i="0">
                <a:solidFill>
                  <a:srgbClr val="404040"/>
                </a:solidFill>
              </a:rPr>
              <a:t>Sites Complete</a:t>
            </a:r>
          </a:p>
        </p:txBody>
      </p:sp>
      <p:sp>
        <p:nvSpPr>
          <p:cNvPr id="37" name="Rectangle 36"/>
          <p:cNvSpPr/>
          <p:nvPr/>
        </p:nvSpPr>
        <p:spPr>
          <a:xfrm>
            <a:off x="8001000" y="228600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0" y="2304288"/>
            <a:ext cx="3749039" cy="347472"/>
          </a:xfrm>
          <a:prstGeom prst="rect">
            <a:avLst/>
          </a:prstGeom>
          <a:noFill/>
        </p:spPr>
        <p:txBody>
          <a:bodyPr wrap="square">
            <a:spAutoFit/>
          </a:bodyPr>
          <a:lstStyle/>
          <a:p>
            <a:pPr algn="ctr"/>
            <a:r>
              <a:rPr sz="1800" b="1" i="0">
                <a:solidFill>
                  <a:srgbClr val="F7941D"/>
                </a:solidFill>
              </a:rPr>
              <a:t>~65%</a:t>
            </a:r>
          </a:p>
        </p:txBody>
      </p:sp>
      <p:sp>
        <p:nvSpPr>
          <p:cNvPr id="39" name="TextBox 38"/>
          <p:cNvSpPr txBox="1"/>
          <p:nvPr/>
        </p:nvSpPr>
        <p:spPr>
          <a:xfrm>
            <a:off x="8046720" y="2633472"/>
            <a:ext cx="3749039" cy="274320"/>
          </a:xfrm>
          <a:prstGeom prst="rect">
            <a:avLst/>
          </a:prstGeom>
          <a:noFill/>
        </p:spPr>
        <p:txBody>
          <a:bodyPr wrap="square">
            <a:spAutoFit/>
          </a:bodyPr>
          <a:lstStyle/>
          <a:p>
            <a:pPr algn="ctr"/>
            <a:r>
              <a:rPr sz="1000" b="0" i="0">
                <a:solidFill>
                  <a:srgbClr val="404040"/>
                </a:solidFill>
              </a:rPr>
              <a:t>Phase 1 Complete</a:t>
            </a:r>
          </a:p>
        </p:txBody>
      </p:sp>
      <p:sp>
        <p:nvSpPr>
          <p:cNvPr id="40" name="Rectangle 39"/>
          <p:cNvSpPr/>
          <p:nvPr/>
        </p:nvSpPr>
        <p:spPr>
          <a:xfrm>
            <a:off x="8001000" y="306323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46720" y="3081527"/>
            <a:ext cx="3749039" cy="347472"/>
          </a:xfrm>
          <a:prstGeom prst="rect">
            <a:avLst/>
          </a:prstGeom>
          <a:noFill/>
        </p:spPr>
        <p:txBody>
          <a:bodyPr wrap="square">
            <a:spAutoFit/>
          </a:bodyPr>
          <a:lstStyle/>
          <a:p>
            <a:pPr algn="ctr"/>
            <a:r>
              <a:rPr sz="1800" b="1" i="0">
                <a:solidFill>
                  <a:srgbClr val="003387"/>
                </a:solidFill>
              </a:rPr>
              <a:t>2</a:t>
            </a:r>
          </a:p>
        </p:txBody>
      </p:sp>
      <p:sp>
        <p:nvSpPr>
          <p:cNvPr id="42" name="TextBox 41"/>
          <p:cNvSpPr txBox="1"/>
          <p:nvPr/>
        </p:nvSpPr>
        <p:spPr>
          <a:xfrm>
            <a:off x="8046720" y="3410711"/>
            <a:ext cx="3749039" cy="246221"/>
          </a:xfrm>
          <a:prstGeom prst="rect">
            <a:avLst/>
          </a:prstGeom>
          <a:noFill/>
        </p:spPr>
        <p:txBody>
          <a:bodyPr wrap="square">
            <a:spAutoFit/>
          </a:bodyPr>
          <a:lstStyle/>
          <a:p>
            <a:pPr algn="ctr"/>
            <a:r>
              <a:rPr lang="en-US" sz="1000" b="0" i="0" dirty="0">
                <a:solidFill>
                  <a:srgbClr val="404040"/>
                </a:solidFill>
              </a:rPr>
              <a:t>Network Ring - 1 &amp; 6</a:t>
            </a:r>
            <a:endParaRPr sz="1000" b="0" i="0" dirty="0">
              <a:solidFill>
                <a:srgbClr val="404040"/>
              </a:solidFill>
            </a:endParaRPr>
          </a:p>
        </p:txBody>
      </p:sp>
      <p:sp>
        <p:nvSpPr>
          <p:cNvPr id="43" name="Rectangle 42"/>
          <p:cNvSpPr/>
          <p:nvPr/>
        </p:nvSpPr>
        <p:spPr>
          <a:xfrm>
            <a:off x="8001000" y="384047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7"/>
            <a:ext cx="3749039" cy="369332"/>
          </a:xfrm>
          <a:prstGeom prst="rect">
            <a:avLst/>
          </a:prstGeom>
          <a:noFill/>
        </p:spPr>
        <p:txBody>
          <a:bodyPr wrap="square">
            <a:spAutoFit/>
          </a:bodyPr>
          <a:lstStyle/>
          <a:p>
            <a:pPr algn="ctr"/>
            <a:r>
              <a:rPr lang="en-US" sz="1800" b="1" i="0" dirty="0">
                <a:solidFill>
                  <a:srgbClr val="003387"/>
                </a:solidFill>
              </a:rPr>
              <a:t>Deployment &amp; Cutover</a:t>
            </a:r>
            <a:endParaRPr sz="1800" b="1" i="0" dirty="0">
              <a:solidFill>
                <a:srgbClr val="003387"/>
              </a:solidFill>
            </a:endParaRPr>
          </a:p>
        </p:txBody>
      </p:sp>
      <p:sp>
        <p:nvSpPr>
          <p:cNvPr id="45" name="TextBox 44"/>
          <p:cNvSpPr txBox="1"/>
          <p:nvPr/>
        </p:nvSpPr>
        <p:spPr>
          <a:xfrm>
            <a:off x="8046720" y="4187951"/>
            <a:ext cx="3749039" cy="246221"/>
          </a:xfrm>
          <a:prstGeom prst="rect">
            <a:avLst/>
          </a:prstGeom>
          <a:noFill/>
        </p:spPr>
        <p:txBody>
          <a:bodyPr wrap="square">
            <a:spAutoFit/>
          </a:bodyPr>
          <a:lstStyle/>
          <a:p>
            <a:pPr algn="ctr"/>
            <a:r>
              <a:rPr lang="en-US" sz="1000" dirty="0">
                <a:solidFill>
                  <a:srgbClr val="404040"/>
                </a:solidFill>
              </a:rPr>
              <a:t>non-tie and tie sites</a:t>
            </a:r>
            <a:endParaRPr sz="1000" b="0" i="0" dirty="0">
              <a:solidFill>
                <a:srgbClr val="404040"/>
              </a:solidFill>
            </a:endParaRPr>
          </a:p>
        </p:txBody>
      </p:sp>
      <p:sp>
        <p:nvSpPr>
          <p:cNvPr id="46" name="Rectangle 45"/>
          <p:cNvSpPr/>
          <p:nvPr/>
        </p:nvSpPr>
        <p:spPr>
          <a:xfrm>
            <a:off x="8001000" y="461772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46720" y="4636007"/>
            <a:ext cx="3749039" cy="347472"/>
          </a:xfrm>
          <a:prstGeom prst="rect">
            <a:avLst/>
          </a:prstGeom>
          <a:noFill/>
        </p:spPr>
        <p:txBody>
          <a:bodyPr wrap="square">
            <a:spAutoFit/>
          </a:bodyPr>
          <a:lstStyle/>
          <a:p>
            <a:pPr algn="ctr"/>
            <a:r>
              <a:rPr sz="1800" b="1" i="0">
                <a:solidFill>
                  <a:srgbClr val="003387"/>
                </a:solidFill>
              </a:rPr>
              <a:t>Jan 2026</a:t>
            </a:r>
          </a:p>
        </p:txBody>
      </p:sp>
      <p:sp>
        <p:nvSpPr>
          <p:cNvPr id="48" name="TextBox 47"/>
          <p:cNvSpPr txBox="1"/>
          <p:nvPr/>
        </p:nvSpPr>
        <p:spPr>
          <a:xfrm>
            <a:off x="8046720" y="4965192"/>
            <a:ext cx="3749039" cy="246221"/>
          </a:xfrm>
          <a:prstGeom prst="rect">
            <a:avLst/>
          </a:prstGeom>
          <a:noFill/>
        </p:spPr>
        <p:txBody>
          <a:bodyPr wrap="square">
            <a:spAutoFit/>
          </a:bodyPr>
          <a:lstStyle/>
          <a:p>
            <a:pPr algn="ctr"/>
            <a:r>
              <a:rPr sz="1000" b="0" i="0" dirty="0">
                <a:solidFill>
                  <a:srgbClr val="404040"/>
                </a:solidFill>
              </a:rPr>
              <a:t>Final </a:t>
            </a:r>
            <a:r>
              <a:rPr lang="en-US" sz="1000" b="0" i="0" dirty="0">
                <a:solidFill>
                  <a:srgbClr val="404040"/>
                </a:solidFill>
              </a:rPr>
              <a:t>Phase 1 Cutover</a:t>
            </a:r>
            <a:endParaRPr sz="1000" b="0" i="0" dirty="0">
              <a:solidFill>
                <a:srgbClr val="404040"/>
              </a:solidFill>
            </a:endParaRPr>
          </a:p>
        </p:txBody>
      </p:sp>
      <p:sp>
        <p:nvSpPr>
          <p:cNvPr id="49" name="Rectangle 48"/>
          <p:cNvSpPr/>
          <p:nvPr/>
        </p:nvSpPr>
        <p:spPr>
          <a:xfrm>
            <a:off x="8001000" y="53949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20" y="5413248"/>
            <a:ext cx="3749039" cy="347472"/>
          </a:xfrm>
          <a:prstGeom prst="rect">
            <a:avLst/>
          </a:prstGeom>
          <a:noFill/>
        </p:spPr>
        <p:txBody>
          <a:bodyPr wrap="square">
            <a:spAutoFit/>
          </a:bodyPr>
          <a:lstStyle/>
          <a:p>
            <a:pPr algn="ctr"/>
            <a:r>
              <a:rPr sz="1800" b="1" i="0">
                <a:solidFill>
                  <a:srgbClr val="003387"/>
                </a:solidFill>
              </a:rPr>
              <a:t>$4.44M</a:t>
            </a:r>
          </a:p>
        </p:txBody>
      </p:sp>
      <p:sp>
        <p:nvSpPr>
          <p:cNvPr id="51" name="TextBox 50"/>
          <p:cNvSpPr txBox="1"/>
          <p:nvPr/>
        </p:nvSpPr>
        <p:spPr>
          <a:xfrm>
            <a:off x="8046720" y="5742432"/>
            <a:ext cx="3749039" cy="274320"/>
          </a:xfrm>
          <a:prstGeom prst="rect">
            <a:avLst/>
          </a:prstGeom>
          <a:noFill/>
        </p:spPr>
        <p:txBody>
          <a:bodyPr wrap="square">
            <a:spAutoFit/>
          </a:bodyPr>
          <a:lstStyle/>
          <a:p>
            <a:pPr algn="ctr"/>
            <a:r>
              <a:rPr sz="1000" b="0" i="0">
                <a:solidFill>
                  <a:srgbClr val="404040"/>
                </a:solidFill>
              </a:rPr>
              <a:t>Spent to Date</a:t>
            </a:r>
          </a:p>
        </p:txBody>
      </p:sp>
      <p:sp>
        <p:nvSpPr>
          <p:cNvPr id="27" name="Rectangle 26">
            <a:extLst>
              <a:ext uri="{FF2B5EF4-FFF2-40B4-BE49-F238E27FC236}">
                <a16:creationId xmlns:a16="http://schemas.microsoft.com/office/drawing/2014/main" id="{2E6ECA06-86F9-227F-68F6-C7B15F17688D}"/>
              </a:ext>
            </a:extLst>
          </p:cNvPr>
          <p:cNvSpPr/>
          <p:nvPr/>
        </p:nvSpPr>
        <p:spPr>
          <a:xfrm>
            <a:off x="396241" y="151790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29" name="Rectangle 28">
            <a:extLst>
              <a:ext uri="{FF2B5EF4-FFF2-40B4-BE49-F238E27FC236}">
                <a16:creationId xmlns:a16="http://schemas.microsoft.com/office/drawing/2014/main" id="{1001BEDE-AAB7-09B2-A8A6-6C07194DB742}"/>
              </a:ext>
            </a:extLst>
          </p:cNvPr>
          <p:cNvSpPr/>
          <p:nvPr/>
        </p:nvSpPr>
        <p:spPr>
          <a:xfrm>
            <a:off x="396241" y="196595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31" name="Rectangle 30">
            <a:extLst>
              <a:ext uri="{FF2B5EF4-FFF2-40B4-BE49-F238E27FC236}">
                <a16:creationId xmlns:a16="http://schemas.microsoft.com/office/drawing/2014/main" id="{D2738422-3D3E-8214-9370-0B3001D41C79}"/>
              </a:ext>
            </a:extLst>
          </p:cNvPr>
          <p:cNvSpPr/>
          <p:nvPr/>
        </p:nvSpPr>
        <p:spPr>
          <a:xfrm>
            <a:off x="396241" y="242770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2" name="Rectangle 51">
            <a:extLst>
              <a:ext uri="{FF2B5EF4-FFF2-40B4-BE49-F238E27FC236}">
                <a16:creationId xmlns:a16="http://schemas.microsoft.com/office/drawing/2014/main" id="{0BDA7391-2DE8-1321-6C96-AB9A4734A0D7}"/>
              </a:ext>
            </a:extLst>
          </p:cNvPr>
          <p:cNvSpPr/>
          <p:nvPr/>
        </p:nvSpPr>
        <p:spPr>
          <a:xfrm>
            <a:off x="396241" y="286666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3" name="Rectangle 52">
            <a:extLst>
              <a:ext uri="{FF2B5EF4-FFF2-40B4-BE49-F238E27FC236}">
                <a16:creationId xmlns:a16="http://schemas.microsoft.com/office/drawing/2014/main" id="{E63F1B6F-7F67-A85F-3725-647E2E66A9CB}"/>
              </a:ext>
            </a:extLst>
          </p:cNvPr>
          <p:cNvSpPr/>
          <p:nvPr/>
        </p:nvSpPr>
        <p:spPr>
          <a:xfrm>
            <a:off x="384048" y="46281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4" name="Rectangle 53">
            <a:extLst>
              <a:ext uri="{FF2B5EF4-FFF2-40B4-BE49-F238E27FC236}">
                <a16:creationId xmlns:a16="http://schemas.microsoft.com/office/drawing/2014/main" id="{A685FAD6-CFA7-FD48-1B9E-B72276E6242A}"/>
              </a:ext>
            </a:extLst>
          </p:cNvPr>
          <p:cNvSpPr/>
          <p:nvPr/>
        </p:nvSpPr>
        <p:spPr>
          <a:xfrm>
            <a:off x="399996" y="504953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5" name="Rectangle 54">
            <a:extLst>
              <a:ext uri="{FF2B5EF4-FFF2-40B4-BE49-F238E27FC236}">
                <a16:creationId xmlns:a16="http://schemas.microsoft.com/office/drawing/2014/main" id="{4742FC2C-6BAF-6EF6-2279-5EC326DAF97E}"/>
              </a:ext>
            </a:extLst>
          </p:cNvPr>
          <p:cNvSpPr/>
          <p:nvPr/>
        </p:nvSpPr>
        <p:spPr>
          <a:xfrm>
            <a:off x="399996" y="5511278"/>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6" name="Rectangle 55">
            <a:extLst>
              <a:ext uri="{FF2B5EF4-FFF2-40B4-BE49-F238E27FC236}">
                <a16:creationId xmlns:a16="http://schemas.microsoft.com/office/drawing/2014/main" id="{BED1DCA2-8A19-34F3-11E0-C1D8E0BB862E}"/>
              </a:ext>
            </a:extLst>
          </p:cNvPr>
          <p:cNvSpPr/>
          <p:nvPr/>
        </p:nvSpPr>
        <p:spPr>
          <a:xfrm>
            <a:off x="396241" y="3241905"/>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a:extLst>
              <a:ext uri="{FF2B5EF4-FFF2-40B4-BE49-F238E27FC236}">
                <a16:creationId xmlns:a16="http://schemas.microsoft.com/office/drawing/2014/main" id="{8FB1C231-EA10-006E-FB9D-519D15DBE688}"/>
              </a:ext>
            </a:extLst>
          </p:cNvPr>
          <p:cNvSpPr/>
          <p:nvPr/>
        </p:nvSpPr>
        <p:spPr>
          <a:xfrm>
            <a:off x="384048" y="361477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8" name="TextBox 57">
            <a:extLst>
              <a:ext uri="{FF2B5EF4-FFF2-40B4-BE49-F238E27FC236}">
                <a16:creationId xmlns:a16="http://schemas.microsoft.com/office/drawing/2014/main" id="{8277783C-1A81-A45E-3A31-B82A4A6B712B}"/>
              </a:ext>
            </a:extLst>
          </p:cNvPr>
          <p:cNvSpPr txBox="1"/>
          <p:nvPr/>
        </p:nvSpPr>
        <p:spPr>
          <a:xfrm>
            <a:off x="640080" y="3193396"/>
            <a:ext cx="6949440" cy="261610"/>
          </a:xfrm>
          <a:prstGeom prst="rect">
            <a:avLst/>
          </a:prstGeom>
          <a:noFill/>
        </p:spPr>
        <p:txBody>
          <a:bodyPr wrap="square">
            <a:spAutoFit/>
          </a:bodyPr>
          <a:lstStyle/>
          <a:p>
            <a:pPr algn="l"/>
            <a:r>
              <a:rPr lang="en-US" sz="1100" b="0" i="0" dirty="0">
                <a:solidFill>
                  <a:srgbClr val="404040"/>
                </a:solidFill>
              </a:rPr>
              <a:t>Wave 1 – non-tie sites – Ring 6 </a:t>
            </a:r>
          </a:p>
        </p:txBody>
      </p:sp>
      <p:sp>
        <p:nvSpPr>
          <p:cNvPr id="59" name="TextBox 58">
            <a:extLst>
              <a:ext uri="{FF2B5EF4-FFF2-40B4-BE49-F238E27FC236}">
                <a16:creationId xmlns:a16="http://schemas.microsoft.com/office/drawing/2014/main" id="{67289DA8-387A-32C1-9483-518790BB8B09}"/>
              </a:ext>
            </a:extLst>
          </p:cNvPr>
          <p:cNvSpPr txBox="1"/>
          <p:nvPr/>
        </p:nvSpPr>
        <p:spPr>
          <a:xfrm>
            <a:off x="640080" y="3563191"/>
            <a:ext cx="6949440" cy="261610"/>
          </a:xfrm>
          <a:prstGeom prst="rect">
            <a:avLst/>
          </a:prstGeom>
          <a:noFill/>
        </p:spPr>
        <p:txBody>
          <a:bodyPr wrap="square">
            <a:spAutoFit/>
          </a:bodyPr>
          <a:lstStyle/>
          <a:p>
            <a:pPr algn="l"/>
            <a:r>
              <a:rPr lang="en-US" sz="1100" b="0" i="0" dirty="0">
                <a:solidFill>
                  <a:srgbClr val="404040"/>
                </a:solidFill>
              </a:rPr>
              <a:t>Wave 2 – non-tie sites – Ring 1</a:t>
            </a:r>
          </a:p>
        </p:txBody>
      </p:sp>
      <p:sp>
        <p:nvSpPr>
          <p:cNvPr id="60" name="TextBox 59"/>
          <p:cNvSpPr txBox="1"/>
          <p:nvPr/>
        </p:nvSpPr>
        <p:spPr>
          <a:xfrm>
            <a:off x="228600" y="2999232"/>
            <a:ext cx="8412480" cy="201168"/>
          </a:xfrm>
          <a:prstGeom prst="rect">
            <a:avLst/>
          </a:prstGeom>
          <a:noFill/>
        </p:spPr>
        <p:txBody>
          <a:bodyPr wrap="square">
            <a:spAutoFit/>
          </a:bodyPr>
          <a:lstStyle/>
          <a:p>
            <a:pPr algn="l"/>
            <a:r>
              <a:rPr b="1" sz="800" i="0">
                <a:solidFill>
                  <a:srgbClr val="003387"/>
                </a:solidFill>
              </a:rPr>
              <a:t>PHASE 1 — MICRO-PHASE BREAKDOWN  |  Vik Vohra directive · Mar 16, 2026</a:t>
            </a:r>
          </a:p>
        </p:txBody>
      </p:sp>
      <p:sp>
        <p:nvSpPr>
          <p:cNvPr id="61" name="Rectangle 60"/>
          <p:cNvSpPr/>
          <p:nvPr/>
        </p:nvSpPr>
        <p:spPr>
          <a:xfrm>
            <a:off x="228600" y="3200400"/>
            <a:ext cx="8412480" cy="381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2" name="Table 61"/>
          <p:cNvGraphicFramePr>
            <a:graphicFrameLocks noGrp="1"/>
          </p:cNvGraphicFramePr>
          <p:nvPr/>
        </p:nvGraphicFramePr>
        <p:xfrm>
          <a:off x="228600" y="3255264"/>
          <a:ext cx="8412480" cy="2788920"/>
        </p:xfrm>
        <a:graphic>
          <a:graphicData uri="http://schemas.openxmlformats.org/drawingml/2006/table">
            <a:tbl>
              <a:tblPr firstRow="1" bandRow="1">
                <a:tableStyleId>{5C22544A-7EE6-4342-B048-85BDC9FD1C3A}</a:tableStyleId>
              </a:tblPr>
              <a:tblGrid>
                <a:gridCol w="201168"/>
                <a:gridCol w="1920240"/>
                <a:gridCol w="713232"/>
                <a:gridCol w="3840480"/>
                <a:gridCol w="1737360"/>
              </a:tblGrid>
              <a:tr h="309880">
                <a:tc>
                  <a:txBody>
                    <a:bodyPr wrap="square"/>
                    <a:lstStyle/>
                    <a:p>
                      <a:pPr algn="ctr"/>
                      <a:r>
                        <a:rPr b="1" sz="800" i="0">
                          <a:solidFill>
                            <a:srgbClr val="FFFFFF"/>
                          </a:solidFill>
                        </a:rPr>
                        <a:t>#</a:t>
                      </a:r>
                    </a:p>
                  </a:txBody>
                  <a:tcPr>
                    <a:solidFill>
                      <a:srgbClr val="003387"/>
                    </a:solidFill>
                  </a:tcPr>
                </a:tc>
                <a:tc>
                  <a:txBody>
                    <a:bodyPr wrap="square"/>
                    <a:lstStyle/>
                    <a:p>
                      <a:pPr algn="l"/>
                      <a:r>
                        <a:rPr b="1" sz="800" i="0">
                          <a:solidFill>
                            <a:srgbClr val="FFFFFF"/>
                          </a:solidFill>
                        </a:rPr>
                        <a:t>MICRO-PHASE</a:t>
                      </a:r>
                    </a:p>
                  </a:txBody>
                  <a:tcPr>
                    <a:solidFill>
                      <a:srgbClr val="003387"/>
                    </a:solidFill>
                  </a:tcPr>
                </a:tc>
                <a:tc>
                  <a:txBody>
                    <a:bodyPr wrap="square"/>
                    <a:lstStyle/>
                    <a:p>
                      <a:pPr algn="ctr"/>
                      <a:r>
                        <a:rPr b="1" sz="800" i="0">
                          <a:solidFill>
                            <a:srgbClr val="FFFFFF"/>
                          </a:solidFill>
                        </a:rPr>
                        <a:t>STATUS</a:t>
                      </a:r>
                    </a:p>
                  </a:txBody>
                  <a:tcPr>
                    <a:solidFill>
                      <a:srgbClr val="003387"/>
                    </a:solidFill>
                  </a:tcPr>
                </a:tc>
                <a:tc>
                  <a:txBody>
                    <a:bodyPr wrap="square"/>
                    <a:lstStyle/>
                    <a:p>
                      <a:pPr algn="l"/>
                      <a:r>
                        <a:rPr b="1" sz="800" i="0">
                          <a:solidFill>
                            <a:srgbClr val="FFFFFF"/>
                          </a:solidFill>
                        </a:rPr>
                        <a:t>WHAT VIK SAID  ·  DETAIL</a:t>
                      </a:r>
                    </a:p>
                  </a:txBody>
                  <a:tcPr>
                    <a:solidFill>
                      <a:srgbClr val="003387"/>
                    </a:solidFill>
                  </a:tcPr>
                </a:tc>
                <a:tc>
                  <a:txBody>
                    <a:bodyPr wrap="square"/>
                    <a:lstStyle/>
                    <a:p>
                      <a:pPr algn="ctr"/>
                      <a:r>
                        <a:rPr b="1" sz="800" i="0">
                          <a:solidFill>
                            <a:srgbClr val="FFFFFF"/>
                          </a:solidFill>
                        </a:rPr>
                        <a:t>OWNER / DUE</a:t>
                      </a:r>
                    </a:p>
                  </a:txBody>
                  <a:tcPr>
                    <a:solidFill>
                      <a:srgbClr val="003387"/>
                    </a:solidFill>
                  </a:tcPr>
                </a:tc>
              </a:tr>
              <a:tr h="309880">
                <a:tc>
                  <a:txBody>
                    <a:bodyPr wrap="square"/>
                    <a:lstStyle/>
                    <a:p>
                      <a:pPr algn="ctr"/>
                      <a:r>
                        <a:rPr b="1" sz="800" i="0">
                          <a:solidFill>
                            <a:srgbClr val="155724"/>
                          </a:solidFill>
                        </a:rPr>
                        <a:t>1</a:t>
                      </a:r>
                    </a:p>
                  </a:txBody>
                  <a:tcPr>
                    <a:solidFill>
                      <a:srgbClr val="D4EDDA"/>
                    </a:solidFill>
                  </a:tcPr>
                </a:tc>
                <a:tc>
                  <a:txBody>
                    <a:bodyPr wrap="square"/>
                    <a:lstStyle/>
                    <a:p>
                      <a:pPr algn="l"/>
                      <a:r>
                        <a:rPr b="1" sz="800" i="0">
                          <a:solidFill>
                            <a:srgbClr val="155724"/>
                          </a:solidFill>
                        </a:rPr>
                        <a:t>Engineering &amp; Design</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"Engineering 100% done" — Vik confirmed. Site surveys, IFRs, IFCs, HLD all complete for 31 sites.</a:t>
                      </a:r>
                    </a:p>
                  </a:txBody>
                  <a:tcPr>
                    <a:solidFill>
                      <a:srgbClr val="FFFFFF"/>
                    </a:solidFill>
                  </a:tcPr>
                </a:tc>
                <a:tc>
                  <a:txBody>
                    <a:bodyPr wrap="square"/>
                    <a:lstStyle/>
                    <a:p>
                      <a:pPr algn="ctr"/>
                      <a:r>
                        <a:rPr b="0" sz="750" i="0">
                          <a:solidFill>
                            <a:srgbClr val="003387"/>
                          </a:solidFill>
                        </a:rPr>
                        <a:t>B&amp;M ✅ Complete</a:t>
                      </a:r>
                    </a:p>
                  </a:txBody>
                  <a:tcPr>
                    <a:solidFill>
                      <a:srgbClr val="F4F6FA"/>
                    </a:solidFill>
                  </a:tcPr>
                </a:tc>
              </a:tr>
              <a:tr h="309880">
                <a:tc>
                  <a:txBody>
                    <a:bodyPr wrap="square"/>
                    <a:lstStyle/>
                    <a:p>
                      <a:pPr algn="ctr"/>
                      <a:r>
                        <a:rPr b="1" sz="800" i="0">
                          <a:solidFill>
                            <a:srgbClr val="155724"/>
                          </a:solidFill>
                        </a:rPr>
                        <a:t>2</a:t>
                      </a:r>
                    </a:p>
                  </a:txBody>
                  <a:tcPr>
                    <a:solidFill>
                      <a:srgbClr val="D4EDDA"/>
                    </a:solidFill>
                  </a:tcPr>
                </a:tc>
                <a:tc>
                  <a:txBody>
                    <a:bodyPr wrap="square"/>
                    <a:lstStyle/>
                    <a:p>
                      <a:pPr algn="l"/>
                      <a:r>
                        <a:rPr b="1" sz="800" i="0">
                          <a:solidFill>
                            <a:srgbClr val="155724"/>
                          </a:solidFill>
                        </a:rPr>
                        <a:t>Procurement &amp; Staging</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Equipment purchased, staged &amp; tested (9/29/25). Ph2 Nokia equip delivered 2/19/26. Identify Phase 1 leftover equipment with Vinnie before Ph2 procurement.</a:t>
                      </a:r>
                    </a:p>
                  </a:txBody>
                  <a:tcPr>
                    <a:solidFill>
                      <a:srgbClr val="FFFFFF"/>
                    </a:solidFill>
                  </a:tcPr>
                </a:tc>
                <a:tc>
                  <a:txBody>
                    <a:bodyPr wrap="square"/>
                    <a:lstStyle/>
                    <a:p>
                      <a:pPr algn="ctr"/>
                      <a:r>
                        <a:rPr b="0" sz="750" i="0">
                          <a:solidFill>
                            <a:srgbClr val="003387"/>
                          </a:solidFill>
                        </a:rPr>
                        <a:t>PSEG LI / Hawkeye ✅</a:t>
                      </a:r>
                    </a:p>
                  </a:txBody>
                  <a:tcPr>
                    <a:solidFill>
                      <a:srgbClr val="F4F6FA"/>
                    </a:solidFill>
                  </a:tcPr>
                </a:tc>
              </a:tr>
              <a:tr h="309880">
                <a:tc>
                  <a:txBody>
                    <a:bodyPr wrap="square"/>
                    <a:lstStyle/>
                    <a:p>
                      <a:pPr algn="ctr"/>
                      <a:r>
                        <a:rPr b="1" sz="800" i="0">
                          <a:solidFill>
                            <a:srgbClr val="155724"/>
                          </a:solidFill>
                        </a:rPr>
                        <a:t>3</a:t>
                      </a:r>
                    </a:p>
                  </a:txBody>
                  <a:tcPr>
                    <a:solidFill>
                      <a:srgbClr val="D4EDDA"/>
                    </a:solidFill>
                  </a:tcPr>
                </a:tc>
                <a:tc>
                  <a:txBody>
                    <a:bodyPr wrap="square"/>
                    <a:lstStyle/>
                    <a:p>
                      <a:pPr algn="l"/>
                      <a:r>
                        <a:rPr b="1" sz="800" i="0">
                          <a:solidFill>
                            <a:srgbClr val="155724"/>
                          </a:solidFill>
                        </a:rPr>
                        <a:t>Construction &amp; Installation</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31/31 sites installed. CWDM cutovers Oct–Jan. Cat6 done 3/4. "What's done is done — don't report on it." BGP design approved today 3/16 ✅</a:t>
                      </a:r>
                    </a:p>
                  </a:txBody>
                  <a:tcPr>
                    <a:solidFill>
                      <a:srgbClr val="FFFFFF"/>
                    </a:solidFill>
                  </a:tcPr>
                </a:tc>
                <a:tc>
                  <a:txBody>
                    <a:bodyPr wrap="square"/>
                    <a:lstStyle/>
                    <a:p>
                      <a:pPr algn="ctr"/>
                      <a:r>
                        <a:rPr b="0" sz="750" i="0">
                          <a:solidFill>
                            <a:srgbClr val="003387"/>
                          </a:solidFill>
                        </a:rPr>
                        <a:t>Hawkeye ✅ Complete</a:t>
                      </a:r>
                    </a:p>
                  </a:txBody>
                  <a:tcPr>
                    <a:solidFill>
                      <a:srgbClr val="F4F6FA"/>
                    </a:solidFill>
                  </a:tcPr>
                </a:tc>
              </a:tr>
              <a:tr h="309880">
                <a:tc>
                  <a:txBody>
                    <a:bodyPr wrap="square"/>
                    <a:lstStyle/>
                    <a:p>
                      <a:pPr algn="ctr"/>
                      <a:r>
                        <a:rPr b="1" sz="800" i="0">
                          <a:solidFill>
                            <a:srgbClr val="721C24"/>
                          </a:solidFill>
                        </a:rPr>
                        <a:t>4</a:t>
                      </a:r>
                    </a:p>
                  </a:txBody>
                  <a:tcPr>
                    <a:solidFill>
                      <a:srgbClr val="F8D7DA"/>
                    </a:solidFill>
                  </a:tcPr>
                </a:tc>
                <a:tc>
                  <a:txBody>
                    <a:bodyPr wrap="square"/>
                    <a:lstStyle/>
                    <a:p>
                      <a:pPr algn="l"/>
                      <a:r>
                        <a:rPr b="1" sz="800" i="0">
                          <a:solidFill>
                            <a:srgbClr val="721C24"/>
                          </a:solidFill>
                        </a:rPr>
                        <a:t>Deployment / Pre-Cutover</a:t>
                      </a:r>
                    </a:p>
                  </a:txBody>
                  <a:tcPr>
                    <a:solidFill>
                      <a:srgbClr val="F8D7DA"/>
                    </a:solidFill>
                  </a:tcPr>
                </a:tc>
                <a:tc>
                  <a:txBody>
                    <a:bodyPr wrap="square"/>
                    <a:lstStyle/>
                    <a:p>
                      <a:pPr algn="ctr"/>
                      <a:r>
                        <a:rPr b="1" sz="800" i="0">
                          <a:solidFill>
                            <a:srgbClr val="721C24"/>
                          </a:solidFill>
                        </a:rPr>
                        <a:t>🔴 ~5%</a:t>
                      </a:r>
                    </a:p>
                  </a:txBody>
                  <a:tcPr>
                    <a:solidFill>
                      <a:srgbClr val="F8D7DA"/>
                    </a:solidFill>
                  </a:tcPr>
                </a:tc>
                <a:tc>
                  <a:txBody>
                    <a:bodyPr wrap="square"/>
                    <a:lstStyle/>
                    <a:p>
                      <a:pPr algn="l"/>
                      <a:r>
                        <a:rPr b="0" sz="700" i="0">
                          <a:solidFill>
                            <a:srgbClr val="222222"/>
                          </a:solidFill>
                        </a:rPr>
                        <a:t>"Deployment only 5% done." BGP ✅ approved 3/16. BLOCKED on NSP software install — Nokia critical path. Connectivity to production apps not yet established. Target: Jun 2026.</a:t>
                      </a:r>
                    </a:p>
                  </a:txBody>
                  <a:tcPr>
                    <a:solidFill>
                      <a:srgbClr val="FFFFFF"/>
                    </a:solidFill>
                  </a:tcPr>
                </a:tc>
                <a:tc>
                  <a:txBody>
                    <a:bodyPr wrap="square"/>
                    <a:lstStyle/>
                    <a:p>
                      <a:pPr algn="ctr"/>
                      <a:r>
                        <a:rPr b="0" sz="750" i="0">
                          <a:solidFill>
                            <a:srgbClr val="003387"/>
                          </a:solidFill>
                        </a:rPr>
                        <a:t>Nokia → Lee B. 🔴 Jun 2026</a:t>
                      </a:r>
                    </a:p>
                  </a:txBody>
                  <a:tcPr>
                    <a:solidFill>
                      <a:srgbClr val="F4F6FA"/>
                    </a:solidFill>
                  </a:tcPr>
                </a:tc>
              </a:tr>
              <a:tr h="309880">
                <a:tc>
                  <a:txBody>
                    <a:bodyPr wrap="square"/>
                    <a:lstStyle/>
                    <a:p>
                      <a:pPr algn="ctr"/>
                      <a:r>
                        <a:rPr b="1" sz="800" i="0">
                          <a:solidFill>
                            <a:srgbClr val="721C24"/>
                          </a:solidFill>
                        </a:rPr>
                        <a:t>5</a:t>
                      </a:r>
                    </a:p>
                  </a:txBody>
                  <a:tcPr>
                    <a:solidFill>
                      <a:srgbClr val="F8D7DA"/>
                    </a:solidFill>
                  </a:tcPr>
                </a:tc>
                <a:tc>
                  <a:txBody>
                    <a:bodyPr wrap="square"/>
                    <a:lstStyle/>
                    <a:p>
                      <a:pPr algn="l"/>
                      <a:r>
                        <a:rPr b="1" sz="800" i="0">
                          <a:solidFill>
                            <a:srgbClr val="721C24"/>
                          </a:solidFill>
                        </a:rPr>
                        <a:t>Application Layer 3 Cutover</a:t>
                      </a:r>
                    </a:p>
                  </a:txBody>
                  <a:tcPr>
                    <a:solidFill>
                      <a:srgbClr val="F8D7DA"/>
                    </a:solidFill>
                  </a:tcPr>
                </a:tc>
                <a:tc>
                  <a:txBody>
                    <a:bodyPr wrap="square"/>
                    <a:lstStyle/>
                    <a:p>
                      <a:pPr algn="ctr"/>
                      <a:r>
                        <a:rPr b="1" sz="800" i="0">
                          <a:solidFill>
                            <a:srgbClr val="721C24"/>
                          </a:solidFill>
                        </a:rPr>
                        <a:t>🔴 0%</a:t>
                      </a:r>
                    </a:p>
                  </a:txBody>
                  <a:tcPr>
                    <a:solidFill>
                      <a:srgbClr val="F8D7DA"/>
                    </a:solidFill>
                  </a:tcPr>
                </a:tc>
                <a:tc>
                  <a:txBody>
                    <a:bodyPr wrap="square"/>
                    <a:lstStyle/>
                    <a:p>
                      <a:pPr algn="l"/>
                      <a:r>
                        <a:rPr b="0" sz="700" i="0">
                          <a:solidFill>
                            <a:srgbClr val="222222"/>
                          </a:solidFill>
                        </a:rPr>
                        <a:t>5 apps: 2-way radio, DA radio, dSCADA, MicroPAQ, Security. "Accelerate app cutover PREP into Phase 2." Production traffic migration stays Phase 3. Pilot: Syosset first.</a:t>
                      </a:r>
                    </a:p>
                  </a:txBody>
                  <a:tcPr>
                    <a:solidFill>
                      <a:srgbClr val="FFFFFF"/>
                    </a:solidFill>
                  </a:tcPr>
                </a:tc>
                <a:tc>
                  <a:txBody>
                    <a:bodyPr wrap="square"/>
                    <a:lstStyle/>
                    <a:p>
                      <a:pPr algn="ctr"/>
                      <a:r>
                        <a:rPr b="0" sz="750" i="0">
                          <a:solidFill>
                            <a:srgbClr val="003387"/>
                          </a:solidFill>
                        </a:rPr>
                        <a:t>B&amp;M + App Owners 🔴</a:t>
                      </a:r>
                    </a:p>
                  </a:txBody>
                  <a:tcPr>
                    <a:solidFill>
                      <a:srgbClr val="F4F6FA"/>
                    </a:solidFill>
                  </a:tcPr>
                </a:tc>
              </a:tr>
              <a:tr h="309880">
                <a:tc>
                  <a:txBody>
                    <a:bodyPr wrap="square"/>
                    <a:lstStyle/>
                    <a:p>
                      <a:pPr algn="ctr"/>
                      <a:r>
                        <a:rPr b="1" sz="800" i="0">
                          <a:solidFill>
                            <a:srgbClr val="721C24"/>
                          </a:solidFill>
                        </a:rPr>
                        <a:t>6</a:t>
                      </a:r>
                    </a:p>
                  </a:txBody>
                  <a:tcPr>
                    <a:solidFill>
                      <a:srgbClr val="F8D7DA"/>
                    </a:solidFill>
                  </a:tcPr>
                </a:tc>
                <a:tc>
                  <a:txBody>
                    <a:bodyPr wrap="square"/>
                    <a:lstStyle/>
                    <a:p>
                      <a:pPr algn="l"/>
                      <a:r>
                        <a:rPr b="1" sz="800" i="0">
                          <a:solidFill>
                            <a:srgbClr val="721C24"/>
                          </a:solidFill>
                        </a:rPr>
                        <a:t>RTU / Layer 2 Cutover</a:t>
                      </a:r>
                    </a:p>
                  </a:txBody>
                  <a:tcPr>
                    <a:solidFill>
                      <a:srgbClr val="F8D7DA"/>
                    </a:solidFill>
                  </a:tcPr>
                </a:tc>
                <a:tc>
                  <a:txBody>
                    <a:bodyPr wrap="square"/>
                    <a:lstStyle/>
                    <a:p>
                      <a:pPr algn="ctr"/>
                      <a:r>
                        <a:rPr b="1" sz="800" i="0">
                          <a:solidFill>
                            <a:srgbClr val="721C24"/>
                          </a:solidFill>
                        </a:rPr>
                        <a:t>🔴 0%</a:t>
                      </a:r>
                    </a:p>
                  </a:txBody>
                  <a:tcPr>
                    <a:solidFill>
                      <a:srgbClr val="F8D7DA"/>
                    </a:solidFill>
                  </a:tcPr>
                </a:tc>
                <a:tc>
                  <a:txBody>
                    <a:bodyPr wrap="square"/>
                    <a:lstStyle/>
                    <a:p>
                      <a:pPr algn="l"/>
                      <a:r>
                        <a:rPr b="0" sz="700" i="0">
                          <a:solidFill>
                            <a:srgbClr val="222222"/>
                          </a:solidFill>
                        </a:rPr>
                        <a:t>On-site only — physical cable migration. "RTU and security/radio aspects are part of Phase 1, not separate phases." ~32 days effort. Sequential: must follow Layer 3.</a:t>
                      </a:r>
                    </a:p>
                  </a:txBody>
                  <a:tcPr>
                    <a:solidFill>
                      <a:srgbClr val="FFFFFF"/>
                    </a:solidFill>
                  </a:tcPr>
                </a:tc>
                <a:tc>
                  <a:txBody>
                    <a:bodyPr wrap="square"/>
                    <a:lstStyle/>
                    <a:p>
                      <a:pPr algn="ctr"/>
                      <a:r>
                        <a:rPr b="0" sz="750" i="0">
                          <a:solidFill>
                            <a:srgbClr val="003387"/>
                          </a:solidFill>
                        </a:rPr>
                        <a:t>PSEG LI Relay 🔴</a:t>
                      </a:r>
                    </a:p>
                  </a:txBody>
                  <a:tcPr>
                    <a:solidFill>
                      <a:srgbClr val="F4F6FA"/>
                    </a:solidFill>
                  </a:tcPr>
                </a:tc>
              </a:tr>
              <a:tr h="309880">
                <a:tc>
                  <a:txBody>
                    <a:bodyPr wrap="square"/>
                    <a:lstStyle/>
                    <a:p>
                      <a:pPr algn="ctr"/>
                      <a:r>
                        <a:rPr b="1" sz="800" i="0">
                          <a:solidFill>
                            <a:srgbClr val="856404"/>
                          </a:solidFill>
                        </a:rPr>
                        <a:t>7</a:t>
                      </a:r>
                    </a:p>
                  </a:txBody>
                  <a:tcPr>
                    <a:solidFill>
                      <a:srgbClr val="FFF3CD"/>
                    </a:solidFill>
                  </a:tcPr>
                </a:tc>
                <a:tc>
                  <a:txBody>
                    <a:bodyPr wrap="square"/>
                    <a:lstStyle/>
                    <a:p>
                      <a:pPr algn="l"/>
                      <a:r>
                        <a:rPr b="1" sz="800" i="0">
                          <a:solidFill>
                            <a:srgbClr val="856404"/>
                          </a:solidFill>
                        </a:rPr>
                        <a:t>As-Builts &amp; Decommission</a:t>
                      </a:r>
                    </a:p>
                  </a:txBody>
                  <a:tcPr>
                    <a:solidFill>
                      <a:srgbClr val="FFF3CD"/>
                    </a:solidFill>
                  </a:tcPr>
                </a:tc>
                <a:tc>
                  <a:txBody>
                    <a:bodyPr wrap="square"/>
                    <a:lstStyle/>
                    <a:p>
                      <a:pPr algn="ctr"/>
                      <a:r>
                        <a:rPr b="1" sz="800" i="0">
                          <a:solidFill>
                            <a:srgbClr val="856404"/>
                          </a:solidFill>
                        </a:rPr>
                        <a:t>⏳ 2027</a:t>
                      </a:r>
                    </a:p>
                  </a:txBody>
                  <a:tcPr>
                    <a:solidFill>
                      <a:srgbClr val="FFF3CD"/>
                    </a:solidFill>
                  </a:tcPr>
                </a:tc>
                <a:tc>
                  <a:txBody>
                    <a:bodyPr wrap="square"/>
                    <a:lstStyle/>
                    <a:p>
                      <a:pPr algn="l"/>
                      <a:r>
                        <a:rPr b="0" sz="700" i="0">
                          <a:solidFill>
                            <a:srgbClr val="222222"/>
                          </a:solidFill>
                        </a:rPr>
                        <a:t>"Funding for app transitioning and decommissioning is in 2027." Exclude as-built dates from weekly report — too many changes. JMUX Ring 1 decommission = post-Phase 3.</a:t>
                      </a:r>
                    </a:p>
                  </a:txBody>
                  <a:tcPr>
                    <a:solidFill>
                      <a:srgbClr val="FFFFFF"/>
                    </a:solidFill>
                  </a:tcPr>
                </a:tc>
                <a:tc>
                  <a:txBody>
                    <a:bodyPr wrap="square"/>
                    <a:lstStyle/>
                    <a:p>
                      <a:pPr algn="ctr"/>
                      <a:r>
                        <a:rPr b="0" sz="750" i="0">
                          <a:solidFill>
                            <a:srgbClr val="003387"/>
                          </a:solidFill>
                        </a:rPr>
                        <a:t>B&amp;M / Hawkeye ⏳ 2027</a:t>
                      </a:r>
                    </a:p>
                  </a:txBody>
                  <a:tcPr>
                    <a:solidFill>
                      <a:srgbClr val="F4F6FA"/>
                    </a:solidFill>
                  </a:tcPr>
                </a:tc>
              </a:tr>
              <a:tr h="309880">
                <a:tc>
                  <a:txBody>
                    <a:bodyPr wrap="square"/>
                    <a:lstStyle/>
                    <a:p>
                      <a:pPr algn="l"/>
                      <a:r>
                        <a:rPr b="0" sz="800" i="0">
                          <a:solidFill>
                            <a:srgbClr val="FFFFFF"/>
                          </a:solidFill>
                        </a:rPr>
                        <a:t/>
                      </a:r>
                    </a:p>
                  </a:txBody>
                  <a:tcPr>
                    <a:solidFill>
                      <a:srgbClr val="003387"/>
                    </a:solidFill>
                  </a:tcPr>
                </a:tc>
                <a:tc>
                  <a:txBody>
                    <a:bodyPr wrap="square"/>
                    <a:lstStyle/>
                    <a:p>
                      <a:pPr algn="l"/>
                      <a:r>
                        <a:rPr b="1" sz="900" i="0">
                          <a:solidFill>
                            <a:srgbClr val="FFFFFF"/>
                          </a:solidFill>
                        </a:rPr>
                        <a:t>PHASE 1 OVERALL</a:t>
                      </a:r>
                    </a:p>
                  </a:txBody>
                  <a:tcPr>
                    <a:solidFill>
                      <a:srgbClr val="003387"/>
                    </a:solidFill>
                  </a:tcPr>
                </a:tc>
                <a:tc>
                  <a:txBody>
                    <a:bodyPr wrap="square"/>
                    <a:lstStyle/>
                    <a:p>
                      <a:pPr algn="ctr"/>
                      <a:r>
                        <a:rPr b="1" sz="900" i="0">
                          <a:solidFill>
                            <a:srgbClr val="F7941D"/>
                          </a:solidFill>
                        </a:rPr>
                        <a:t>🟡 ~65%</a:t>
                      </a:r>
                    </a:p>
                  </a:txBody>
                  <a:tcPr>
                    <a:solidFill>
                      <a:srgbClr val="003387"/>
                    </a:solidFill>
                  </a:tcPr>
                </a:tc>
                <a:tc>
                  <a:txBody>
                    <a:bodyPr wrap="square"/>
                    <a:lstStyle/>
                    <a:p>
                      <a:pPr algn="l"/>
                      <a:r>
                        <a:rPr b="0" sz="750" i="1">
                          <a:solidFill>
                            <a:srgbClr val="F7941D"/>
                          </a:solidFill>
                        </a:rPr>
                        <a:t>"Phase One needs to be broken into micro-phases. The entire phase is not complete." — Vik Vohra · Mar 16, 2026  |  Target: June 2026  |  Critical path: NSP (Nokia)</a:t>
                      </a:r>
                    </a:p>
                  </a:txBody>
                  <a:tcPr>
                    <a:solidFill>
                      <a:srgbClr val="003387"/>
                    </a:solidFill>
                  </a:tcPr>
                </a:tc>
                <a:tc>
                  <a:txBody>
                    <a:bodyPr wrap="square"/>
                    <a:lstStyle/>
                    <a:p>
                      <a:pPr algn="ctr"/>
                      <a:r>
                        <a:rPr b="1" sz="800" i="0">
                          <a:solidFill>
                            <a:srgbClr val="F7941D"/>
                          </a:solidFill>
                        </a:rPr>
                        <a:t>PM: Jaya · SPI: 0.76</a:t>
                      </a:r>
                    </a:p>
                  </a:txBody>
                  <a:tcPr>
                    <a:solidFill>
                      <a:srgbClr val="003387"/>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2 Status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rgbClr val="F7941D"/>
                </a:solidFill>
              </a:rPr>
              <a:t>3</a:t>
            </a:r>
            <a:r>
              <a:rPr lang="en-US" sz="1200" dirty="0">
                <a:solidFill>
                  <a:srgbClr val="F7941D"/>
                </a:solidFill>
              </a:rPr>
              <a:t>4</a:t>
            </a:r>
            <a:r>
              <a:rPr sz="1200" b="0" i="0" dirty="0">
                <a:solidFill>
                  <a:srgbClr val="F7941D"/>
                </a:solidFill>
              </a:rPr>
              <a:t> Sites | Engineering Design Underway | Burns &amp; McDonnell SOW: $1.37M</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737360" cy="256032"/>
          </a:xfrm>
          <a:prstGeom prst="rect">
            <a:avLst/>
          </a:prstGeom>
          <a:noFill/>
        </p:spPr>
        <p:txBody>
          <a:bodyPr wrap="square">
            <a:spAutoFit/>
          </a:bodyPr>
          <a:lstStyle/>
          <a:p>
            <a:pPr algn="ctr"/>
            <a:r>
              <a:rPr sz="900" b="1" i="0">
                <a:solidFill>
                  <a:srgbClr val="FFFFFF"/>
                </a:solidFill>
              </a:rPr>
              <a:t>Site Surveys</a:t>
            </a:r>
          </a:p>
        </p:txBody>
      </p:sp>
      <p:sp>
        <p:nvSpPr>
          <p:cNvPr id="10" name="TextBox 9"/>
          <p:cNvSpPr txBox="1"/>
          <p:nvPr/>
        </p:nvSpPr>
        <p:spPr>
          <a:xfrm>
            <a:off x="320040"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1" name="Rectangle 10"/>
          <p:cNvSpPr/>
          <p:nvPr/>
        </p:nvSpPr>
        <p:spPr>
          <a:xfrm>
            <a:off x="2240279"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5999" y="1060704"/>
            <a:ext cx="1737360" cy="256032"/>
          </a:xfrm>
          <a:prstGeom prst="rect">
            <a:avLst/>
          </a:prstGeom>
          <a:noFill/>
        </p:spPr>
        <p:txBody>
          <a:bodyPr wrap="square">
            <a:spAutoFit/>
          </a:bodyPr>
          <a:lstStyle/>
          <a:p>
            <a:pPr algn="ctr"/>
            <a:r>
              <a:rPr sz="900" b="1" i="0">
                <a:solidFill>
                  <a:srgbClr val="FFFFFF"/>
                </a:solidFill>
              </a:rPr>
              <a:t>Nokia Equip. Delivery</a:t>
            </a:r>
          </a:p>
        </p:txBody>
      </p:sp>
      <p:sp>
        <p:nvSpPr>
          <p:cNvPr id="13" name="TextBox 12"/>
          <p:cNvSpPr txBox="1"/>
          <p:nvPr/>
        </p:nvSpPr>
        <p:spPr>
          <a:xfrm>
            <a:off x="2285999"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4" name="Rectangle 13"/>
          <p:cNvSpPr/>
          <p:nvPr/>
        </p:nvSpPr>
        <p:spPr>
          <a:xfrm>
            <a:off x="4206240"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1060704"/>
            <a:ext cx="1737360" cy="256032"/>
          </a:xfrm>
          <a:prstGeom prst="rect">
            <a:avLst/>
          </a:prstGeom>
          <a:noFill/>
        </p:spPr>
        <p:txBody>
          <a:bodyPr wrap="square">
            <a:spAutoFit/>
          </a:bodyPr>
          <a:lstStyle/>
          <a:p>
            <a:pPr algn="ctr"/>
            <a:r>
              <a:rPr sz="900" b="1" i="0">
                <a:solidFill>
                  <a:srgbClr val="FFFFFF"/>
                </a:solidFill>
              </a:rPr>
              <a:t>IFR Design (B&amp;McD)</a:t>
            </a:r>
          </a:p>
        </p:txBody>
      </p:sp>
      <p:sp>
        <p:nvSpPr>
          <p:cNvPr id="16" name="TextBox 15"/>
          <p:cNvSpPr txBox="1"/>
          <p:nvPr/>
        </p:nvSpPr>
        <p:spPr>
          <a:xfrm>
            <a:off x="425195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17" name="Rectangle 16"/>
          <p:cNvSpPr/>
          <p:nvPr/>
        </p:nvSpPr>
        <p:spPr>
          <a:xfrm>
            <a:off x="6172199"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060704"/>
            <a:ext cx="1737360" cy="256032"/>
          </a:xfrm>
          <a:prstGeom prst="rect">
            <a:avLst/>
          </a:prstGeom>
          <a:noFill/>
        </p:spPr>
        <p:txBody>
          <a:bodyPr wrap="square">
            <a:spAutoFit/>
          </a:bodyPr>
          <a:lstStyle/>
          <a:p>
            <a:pPr algn="ctr"/>
            <a:r>
              <a:rPr sz="900" b="1" i="0">
                <a:solidFill>
                  <a:srgbClr val="FFFFFF"/>
                </a:solidFill>
              </a:rPr>
              <a:t>IFC Design</a:t>
            </a:r>
          </a:p>
        </p:txBody>
      </p:sp>
      <p:sp>
        <p:nvSpPr>
          <p:cNvPr id="19" name="TextBox 18"/>
          <p:cNvSpPr txBox="1"/>
          <p:nvPr/>
        </p:nvSpPr>
        <p:spPr>
          <a:xfrm>
            <a:off x="621791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20" name="Rectangle 19"/>
          <p:cNvSpPr/>
          <p:nvPr/>
        </p:nvSpPr>
        <p:spPr>
          <a:xfrm>
            <a:off x="813816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1060704"/>
            <a:ext cx="1737360" cy="256032"/>
          </a:xfrm>
          <a:prstGeom prst="rect">
            <a:avLst/>
          </a:prstGeom>
          <a:noFill/>
        </p:spPr>
        <p:txBody>
          <a:bodyPr wrap="square">
            <a:spAutoFit/>
          </a:bodyPr>
          <a:lstStyle/>
          <a:p>
            <a:pPr algn="ctr"/>
            <a:r>
              <a:rPr sz="900" b="1" i="0">
                <a:solidFill>
                  <a:srgbClr val="FFFFFF"/>
                </a:solidFill>
              </a:rPr>
              <a:t>Construction</a:t>
            </a:r>
          </a:p>
        </p:txBody>
      </p:sp>
      <p:sp>
        <p:nvSpPr>
          <p:cNvPr id="22" name="TextBox 21"/>
          <p:cNvSpPr txBox="1"/>
          <p:nvPr/>
        </p:nvSpPr>
        <p:spPr>
          <a:xfrm>
            <a:off x="818388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3" name="Rectangle 22"/>
          <p:cNvSpPr/>
          <p:nvPr/>
        </p:nvSpPr>
        <p:spPr>
          <a:xfrm>
            <a:off x="1010412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49840" y="1060704"/>
            <a:ext cx="1737360" cy="256032"/>
          </a:xfrm>
          <a:prstGeom prst="rect">
            <a:avLst/>
          </a:prstGeom>
          <a:noFill/>
        </p:spPr>
        <p:txBody>
          <a:bodyPr wrap="square">
            <a:spAutoFit/>
          </a:bodyPr>
          <a:lstStyle/>
          <a:p>
            <a:pPr algn="ctr"/>
            <a:r>
              <a:rPr sz="900" b="1" i="0">
                <a:solidFill>
                  <a:srgbClr val="FFFFFF"/>
                </a:solidFill>
              </a:rPr>
              <a:t>Cutover</a:t>
            </a:r>
          </a:p>
        </p:txBody>
      </p:sp>
      <p:sp>
        <p:nvSpPr>
          <p:cNvPr id="25" name="TextBox 24"/>
          <p:cNvSpPr txBox="1"/>
          <p:nvPr/>
        </p:nvSpPr>
        <p:spPr>
          <a:xfrm>
            <a:off x="1014984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6" name="Rectangle 25"/>
          <p:cNvSpPr/>
          <p:nvPr/>
        </p:nvSpPr>
        <p:spPr>
          <a:xfrm>
            <a:off x="274320" y="1691640"/>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1709928"/>
            <a:ext cx="3657600" cy="292608"/>
          </a:xfrm>
          <a:prstGeom prst="rect">
            <a:avLst/>
          </a:prstGeom>
          <a:noFill/>
        </p:spPr>
        <p:txBody>
          <a:bodyPr wrap="square">
            <a:spAutoFit/>
          </a:bodyPr>
          <a:lstStyle/>
          <a:p>
            <a:pPr algn="l"/>
            <a:r>
              <a:rPr sz="1100" b="1" i="0">
                <a:solidFill>
                  <a:srgbClr val="FFFFFF"/>
                </a:solidFill>
              </a:rPr>
              <a:t>Milestone</a:t>
            </a:r>
          </a:p>
        </p:txBody>
      </p:sp>
      <p:sp>
        <p:nvSpPr>
          <p:cNvPr id="28" name="TextBox 27"/>
          <p:cNvSpPr txBox="1"/>
          <p:nvPr/>
        </p:nvSpPr>
        <p:spPr>
          <a:xfrm>
            <a:off x="3977639" y="1709928"/>
            <a:ext cx="2011680" cy="292608"/>
          </a:xfrm>
          <a:prstGeom prst="rect">
            <a:avLst/>
          </a:prstGeom>
          <a:noFill/>
        </p:spPr>
        <p:txBody>
          <a:bodyPr wrap="square">
            <a:spAutoFit/>
          </a:bodyPr>
          <a:lstStyle/>
          <a:p>
            <a:pPr algn="l"/>
            <a:r>
              <a:rPr sz="1100" b="1" i="0">
                <a:solidFill>
                  <a:srgbClr val="FFFFFF"/>
                </a:solidFill>
              </a:rPr>
              <a:t>Contract Date</a:t>
            </a:r>
          </a:p>
        </p:txBody>
      </p:sp>
      <p:sp>
        <p:nvSpPr>
          <p:cNvPr id="29" name="TextBox 28"/>
          <p:cNvSpPr txBox="1"/>
          <p:nvPr/>
        </p:nvSpPr>
        <p:spPr>
          <a:xfrm>
            <a:off x="5989320" y="1709928"/>
            <a:ext cx="1828800" cy="292608"/>
          </a:xfrm>
          <a:prstGeom prst="rect">
            <a:avLst/>
          </a:prstGeom>
          <a:noFill/>
        </p:spPr>
        <p:txBody>
          <a:bodyPr wrap="square">
            <a:spAutoFit/>
          </a:bodyPr>
          <a:lstStyle/>
          <a:p>
            <a:pPr algn="l"/>
            <a:r>
              <a:rPr sz="1100" b="1" i="0">
                <a:solidFill>
                  <a:srgbClr val="FFFFFF"/>
                </a:solidFill>
              </a:rPr>
              <a:t>Status</a:t>
            </a:r>
          </a:p>
        </p:txBody>
      </p:sp>
      <p:sp>
        <p:nvSpPr>
          <p:cNvPr id="30" name="TextBox 29"/>
          <p:cNvSpPr txBox="1"/>
          <p:nvPr/>
        </p:nvSpPr>
        <p:spPr>
          <a:xfrm>
            <a:off x="7818120" y="1709928"/>
            <a:ext cx="4114800" cy="292608"/>
          </a:xfrm>
          <a:prstGeom prst="rect">
            <a:avLst/>
          </a:prstGeom>
          <a:noFill/>
        </p:spPr>
        <p:txBody>
          <a:bodyPr wrap="square">
            <a:spAutoFit/>
          </a:bodyPr>
          <a:lstStyle/>
          <a:p>
            <a:pPr algn="l"/>
            <a:r>
              <a:rPr sz="1100" b="1" i="0">
                <a:solidFill>
                  <a:srgbClr val="FFFFFF"/>
                </a:solidFill>
              </a:rPr>
              <a:t>Notes</a:t>
            </a:r>
          </a:p>
        </p:txBody>
      </p:sp>
      <p:sp>
        <p:nvSpPr>
          <p:cNvPr id="31" name="Rectangle 30"/>
          <p:cNvSpPr/>
          <p:nvPr/>
        </p:nvSpPr>
        <p:spPr>
          <a:xfrm>
            <a:off x="274320" y="2103120"/>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2761487"/>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3419856"/>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2907792"/>
            <a:ext cx="3566160" cy="530352"/>
          </a:xfrm>
          <a:prstGeom prst="rect">
            <a:avLst/>
          </a:prstGeom>
          <a:noFill/>
        </p:spPr>
        <p:txBody>
          <a:bodyPr wrap="square">
            <a:spAutoFit/>
          </a:bodyPr>
          <a:lstStyle/>
          <a:p>
            <a:pPr algn="l"/>
            <a:r>
              <a:rPr sz="1000" b="0" i="0" dirty="0">
                <a:solidFill>
                  <a:srgbClr val="404040"/>
                </a:solidFill>
              </a:rPr>
              <a:t>Substation Site Surveys (Phase 2)</a:t>
            </a:r>
          </a:p>
        </p:txBody>
      </p:sp>
      <p:sp>
        <p:nvSpPr>
          <p:cNvPr id="43" name="TextBox 42"/>
          <p:cNvSpPr txBox="1"/>
          <p:nvPr/>
        </p:nvSpPr>
        <p:spPr>
          <a:xfrm>
            <a:off x="3931919" y="2907792"/>
            <a:ext cx="1920240" cy="530352"/>
          </a:xfrm>
          <a:prstGeom prst="rect">
            <a:avLst/>
          </a:prstGeom>
          <a:noFill/>
        </p:spPr>
        <p:txBody>
          <a:bodyPr wrap="square">
            <a:spAutoFit/>
          </a:bodyPr>
          <a:lstStyle/>
          <a:p>
            <a:pPr algn="l"/>
            <a:r>
              <a:rPr sz="1000" b="0" i="0">
                <a:solidFill>
                  <a:srgbClr val="404040"/>
                </a:solidFill>
              </a:rPr>
              <a:t>2/27/2026</a:t>
            </a:r>
          </a:p>
        </p:txBody>
      </p:sp>
      <p:sp>
        <p:nvSpPr>
          <p:cNvPr id="44" name="TextBox 43"/>
          <p:cNvSpPr txBox="1"/>
          <p:nvPr/>
        </p:nvSpPr>
        <p:spPr>
          <a:xfrm>
            <a:off x="5943600" y="2907792"/>
            <a:ext cx="1737360" cy="530352"/>
          </a:xfrm>
          <a:prstGeom prst="rect">
            <a:avLst/>
          </a:prstGeom>
          <a:noFill/>
        </p:spPr>
        <p:txBody>
          <a:bodyPr wrap="square">
            <a:spAutoFit/>
          </a:bodyPr>
          <a:lstStyle/>
          <a:p>
            <a:pPr algn="l"/>
            <a:r>
              <a:rPr sz="1000" b="0" i="0" dirty="0">
                <a:solidFill>
                  <a:srgbClr val="008000"/>
                </a:solidFill>
              </a:rPr>
              <a:t>✅ Complete</a:t>
            </a:r>
          </a:p>
        </p:txBody>
      </p:sp>
      <p:sp>
        <p:nvSpPr>
          <p:cNvPr id="45" name="TextBox 44"/>
          <p:cNvSpPr txBox="1"/>
          <p:nvPr/>
        </p:nvSpPr>
        <p:spPr>
          <a:xfrm>
            <a:off x="7772400" y="2907792"/>
            <a:ext cx="4023360" cy="530352"/>
          </a:xfrm>
          <a:prstGeom prst="rect">
            <a:avLst/>
          </a:prstGeom>
          <a:noFill/>
        </p:spPr>
        <p:txBody>
          <a:bodyPr wrap="square">
            <a:spAutoFit/>
          </a:bodyPr>
          <a:lstStyle/>
          <a:p>
            <a:pPr algn="l"/>
            <a:r>
              <a:rPr sz="1000" b="0" i="0">
                <a:solidFill>
                  <a:srgbClr val="404040"/>
                </a:solidFill>
              </a:rPr>
              <a:t>Completed during Phase 1 — ahead of schedule</a:t>
            </a:r>
          </a:p>
        </p:txBody>
      </p:sp>
      <p:sp>
        <p:nvSpPr>
          <p:cNvPr id="46" name="Rectangle 45"/>
          <p:cNvSpPr/>
          <p:nvPr/>
        </p:nvSpPr>
        <p:spPr>
          <a:xfrm>
            <a:off x="274320" y="407822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1"/>
            <a:ext cx="3566160" cy="530352"/>
          </a:xfrm>
          <a:prstGeom prst="rect">
            <a:avLst/>
          </a:prstGeom>
          <a:noFill/>
        </p:spPr>
        <p:txBody>
          <a:bodyPr wrap="square">
            <a:spAutoFit/>
          </a:bodyPr>
          <a:lstStyle/>
          <a:p>
            <a:pPr algn="l"/>
            <a:r>
              <a:rPr sz="1000" b="0" i="0" dirty="0">
                <a:solidFill>
                  <a:srgbClr val="404040"/>
                </a:solidFill>
              </a:rPr>
              <a:t>MPLS Network Node Design — IFR</a:t>
            </a:r>
          </a:p>
        </p:txBody>
      </p:sp>
      <p:sp>
        <p:nvSpPr>
          <p:cNvPr id="48" name="TextBox 47"/>
          <p:cNvSpPr txBox="1"/>
          <p:nvPr/>
        </p:nvSpPr>
        <p:spPr>
          <a:xfrm>
            <a:off x="3931919" y="3566161"/>
            <a:ext cx="1920240" cy="530352"/>
          </a:xfrm>
          <a:prstGeom prst="rect">
            <a:avLst/>
          </a:prstGeom>
          <a:noFill/>
        </p:spPr>
        <p:txBody>
          <a:bodyPr wrap="square">
            <a:spAutoFit/>
          </a:bodyPr>
          <a:lstStyle/>
          <a:p>
            <a:pPr algn="l"/>
            <a:r>
              <a:rPr sz="1000" b="0" i="0">
                <a:solidFill>
                  <a:srgbClr val="404040"/>
                </a:solidFill>
              </a:rPr>
              <a:t>Wave 1: 2/23/26</a:t>
            </a:r>
          </a:p>
        </p:txBody>
      </p:sp>
      <p:sp>
        <p:nvSpPr>
          <p:cNvPr id="49" name="TextBox 48"/>
          <p:cNvSpPr txBox="1"/>
          <p:nvPr/>
        </p:nvSpPr>
        <p:spPr>
          <a:xfrm>
            <a:off x="5943600" y="3566161"/>
            <a:ext cx="1737360" cy="530352"/>
          </a:xfrm>
          <a:prstGeom prst="rect">
            <a:avLst/>
          </a:prstGeom>
          <a:noFill/>
        </p:spPr>
        <p:txBody>
          <a:bodyPr wrap="square">
            <a:spAutoFit/>
          </a:bodyPr>
          <a:lstStyle/>
          <a:p>
            <a:pPr algn="l"/>
            <a:r>
              <a:rPr sz="1000" b="0" i="0" dirty="0">
                <a:solidFill>
                  <a:srgbClr val="FFC000"/>
                </a:solidFill>
              </a:rPr>
              <a:t>🟡 In Progress</a:t>
            </a:r>
          </a:p>
        </p:txBody>
      </p:sp>
      <p:sp>
        <p:nvSpPr>
          <p:cNvPr id="50" name="TextBox 49"/>
          <p:cNvSpPr txBox="1"/>
          <p:nvPr/>
        </p:nvSpPr>
        <p:spPr>
          <a:xfrm>
            <a:off x="7772400" y="3566161"/>
            <a:ext cx="4023360" cy="530352"/>
          </a:xfrm>
          <a:prstGeom prst="rect">
            <a:avLst/>
          </a:prstGeom>
          <a:noFill/>
        </p:spPr>
        <p:txBody>
          <a:bodyPr wrap="square">
            <a:spAutoFit/>
          </a:bodyPr>
          <a:lstStyle/>
          <a:p>
            <a:pPr algn="l"/>
            <a:r>
              <a:rPr sz="1000" b="0" i="0">
                <a:solidFill>
                  <a:srgbClr val="404040"/>
                </a:solidFill>
              </a:rPr>
              <a:t>Wave 1 (3 sites) ✅ Approved &amp; IFC uploaded. Wave 2 in progress.</a:t>
            </a:r>
          </a:p>
        </p:txBody>
      </p:sp>
      <p:sp>
        <p:nvSpPr>
          <p:cNvPr id="51" name="Rectangle 50"/>
          <p:cNvSpPr/>
          <p:nvPr/>
        </p:nvSpPr>
        <p:spPr>
          <a:xfrm>
            <a:off x="274320" y="4736592"/>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4224529"/>
            <a:ext cx="3566160" cy="530352"/>
          </a:xfrm>
          <a:prstGeom prst="rect">
            <a:avLst/>
          </a:prstGeom>
          <a:noFill/>
        </p:spPr>
        <p:txBody>
          <a:bodyPr wrap="square">
            <a:spAutoFit/>
          </a:bodyPr>
          <a:lstStyle/>
          <a:p>
            <a:pPr algn="l"/>
            <a:r>
              <a:rPr sz="1000" b="0" i="0">
                <a:solidFill>
                  <a:srgbClr val="404040"/>
                </a:solidFill>
              </a:rPr>
              <a:t>MPLS Network Node Design — IFC</a:t>
            </a:r>
          </a:p>
        </p:txBody>
      </p:sp>
      <p:sp>
        <p:nvSpPr>
          <p:cNvPr id="53" name="TextBox 52"/>
          <p:cNvSpPr txBox="1"/>
          <p:nvPr/>
        </p:nvSpPr>
        <p:spPr>
          <a:xfrm>
            <a:off x="3931919" y="4224529"/>
            <a:ext cx="1920240" cy="530352"/>
          </a:xfrm>
          <a:prstGeom prst="rect">
            <a:avLst/>
          </a:prstGeom>
          <a:noFill/>
        </p:spPr>
        <p:txBody>
          <a:bodyPr wrap="square">
            <a:spAutoFit/>
          </a:bodyPr>
          <a:lstStyle/>
          <a:p>
            <a:pPr algn="l"/>
            <a:r>
              <a:rPr sz="1000" b="0" i="0">
                <a:solidFill>
                  <a:srgbClr val="404040"/>
                </a:solidFill>
              </a:rPr>
              <a:t>Wave 1: 3/23/26</a:t>
            </a:r>
          </a:p>
        </p:txBody>
      </p:sp>
      <p:sp>
        <p:nvSpPr>
          <p:cNvPr id="55" name="TextBox 54"/>
          <p:cNvSpPr txBox="1"/>
          <p:nvPr/>
        </p:nvSpPr>
        <p:spPr>
          <a:xfrm>
            <a:off x="7772400" y="4224529"/>
            <a:ext cx="4023360" cy="530352"/>
          </a:xfrm>
          <a:prstGeom prst="rect">
            <a:avLst/>
          </a:prstGeom>
          <a:noFill/>
        </p:spPr>
        <p:txBody>
          <a:bodyPr wrap="square">
            <a:spAutoFit/>
          </a:bodyPr>
          <a:lstStyle/>
          <a:p>
            <a:pPr algn="l"/>
            <a:r>
              <a:rPr sz="1000" b="0" i="0">
                <a:solidFill>
                  <a:srgbClr val="00B050"/>
                </a:solidFill>
              </a:rPr>
              <a:t>Wave 1 IFC COMPLETE ✅ — Far Rockaway, Valley Stream, Cedarhurst uploaded to shared drive</a:t>
            </a:r>
          </a:p>
        </p:txBody>
      </p:sp>
      <p:sp>
        <p:nvSpPr>
          <p:cNvPr id="56" name="Rectangle 55"/>
          <p:cNvSpPr/>
          <p:nvPr/>
        </p:nvSpPr>
        <p:spPr>
          <a:xfrm>
            <a:off x="274320" y="5394959"/>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4882896"/>
            <a:ext cx="3566160" cy="530352"/>
          </a:xfrm>
          <a:prstGeom prst="rect">
            <a:avLst/>
          </a:prstGeom>
          <a:noFill/>
        </p:spPr>
        <p:txBody>
          <a:bodyPr wrap="square">
            <a:spAutoFit/>
          </a:bodyPr>
          <a:lstStyle/>
          <a:p>
            <a:pPr algn="l"/>
            <a:r>
              <a:rPr sz="1000" b="0" i="0">
                <a:solidFill>
                  <a:srgbClr val="404040"/>
                </a:solidFill>
              </a:rPr>
              <a:t>Construction &amp; Installation</a:t>
            </a:r>
          </a:p>
        </p:txBody>
      </p:sp>
      <p:sp>
        <p:nvSpPr>
          <p:cNvPr id="58" name="TextBox 57"/>
          <p:cNvSpPr txBox="1"/>
          <p:nvPr/>
        </p:nvSpPr>
        <p:spPr>
          <a:xfrm>
            <a:off x="3931919" y="4882896"/>
            <a:ext cx="1920240" cy="530352"/>
          </a:xfrm>
          <a:prstGeom prst="rect">
            <a:avLst/>
          </a:prstGeom>
          <a:noFill/>
        </p:spPr>
        <p:txBody>
          <a:bodyPr wrap="square">
            <a:spAutoFit/>
          </a:bodyPr>
          <a:lstStyle/>
          <a:p>
            <a:pPr algn="l"/>
            <a:r>
              <a:rPr sz="1000" b="0" i="0">
                <a:solidFill>
                  <a:srgbClr val="404040"/>
                </a:solidFill>
              </a:rPr>
              <a:t>Aug–Dec 2026</a:t>
            </a:r>
          </a:p>
        </p:txBody>
      </p:sp>
      <p:sp>
        <p:nvSpPr>
          <p:cNvPr id="59" name="TextBox 58"/>
          <p:cNvSpPr txBox="1"/>
          <p:nvPr/>
        </p:nvSpPr>
        <p:spPr>
          <a:xfrm>
            <a:off x="5943600" y="4882896"/>
            <a:ext cx="1737360" cy="530352"/>
          </a:xfrm>
          <a:prstGeom prst="rect">
            <a:avLst/>
          </a:prstGeom>
          <a:noFill/>
        </p:spPr>
        <p:txBody>
          <a:bodyPr wrap="square">
            <a:spAutoFit/>
          </a:bodyPr>
          <a:lstStyle/>
          <a:p>
            <a:pPr algn="l"/>
            <a:r>
              <a:rPr sz="1000" b="0" i="0">
                <a:solidFill>
                  <a:srgbClr val="404040"/>
                </a:solidFill>
              </a:rPr>
              <a:t>⏳ Not Started</a:t>
            </a:r>
          </a:p>
        </p:txBody>
      </p:sp>
      <p:sp>
        <p:nvSpPr>
          <p:cNvPr id="60" name="TextBox 59"/>
          <p:cNvSpPr txBox="1"/>
          <p:nvPr/>
        </p:nvSpPr>
        <p:spPr>
          <a:xfrm>
            <a:off x="7772400" y="4882896"/>
            <a:ext cx="4023360" cy="530352"/>
          </a:xfrm>
          <a:prstGeom prst="rect">
            <a:avLst/>
          </a:prstGeom>
          <a:noFill/>
        </p:spPr>
        <p:txBody>
          <a:bodyPr wrap="square">
            <a:spAutoFit/>
          </a:bodyPr>
          <a:lstStyle/>
          <a:p>
            <a:pPr algn="l"/>
            <a:r>
              <a:rPr sz="1000" b="0" i="0">
                <a:solidFill>
                  <a:srgbClr val="404040"/>
                </a:solidFill>
              </a:rPr>
              <a:t>Pending IFC completion</a:t>
            </a:r>
          </a:p>
        </p:txBody>
      </p:sp>
      <p:sp>
        <p:nvSpPr>
          <p:cNvPr id="61" name="TextBox 60">
            <a:extLst>
              <a:ext uri="{FF2B5EF4-FFF2-40B4-BE49-F238E27FC236}">
                <a16:creationId xmlns:a16="http://schemas.microsoft.com/office/drawing/2014/main" id="{2263C558-1343-251C-9BD8-E1E433828654}"/>
              </a:ext>
            </a:extLst>
          </p:cNvPr>
          <p:cNvSpPr txBox="1"/>
          <p:nvPr/>
        </p:nvSpPr>
        <p:spPr>
          <a:xfrm>
            <a:off x="320040" y="2258568"/>
            <a:ext cx="3566160" cy="400110"/>
          </a:xfrm>
          <a:prstGeom prst="rect">
            <a:avLst/>
          </a:prstGeom>
          <a:noFill/>
        </p:spPr>
        <p:txBody>
          <a:bodyPr wrap="square">
            <a:spAutoFit/>
          </a:bodyPr>
          <a:lstStyle/>
          <a:p>
            <a:r>
              <a:rPr lang="en-US" sz="1000" dirty="0">
                <a:solidFill>
                  <a:srgbClr val="404040"/>
                </a:solidFill>
              </a:rPr>
              <a:t>Nokia equipment for Phase 2 has been delivered – Work Completed - 2/19/2026</a:t>
            </a:r>
          </a:p>
        </p:txBody>
      </p:sp>
      <p:sp>
        <p:nvSpPr>
          <p:cNvPr id="63" name="TextBox 62">
            <a:extLst>
              <a:ext uri="{FF2B5EF4-FFF2-40B4-BE49-F238E27FC236}">
                <a16:creationId xmlns:a16="http://schemas.microsoft.com/office/drawing/2014/main" id="{BB8BC7D2-0DD4-D28C-B992-202E71C28A13}"/>
              </a:ext>
            </a:extLst>
          </p:cNvPr>
          <p:cNvSpPr txBox="1"/>
          <p:nvPr/>
        </p:nvSpPr>
        <p:spPr>
          <a:xfrm>
            <a:off x="3886200" y="2231801"/>
            <a:ext cx="931057" cy="246221"/>
          </a:xfrm>
          <a:prstGeom prst="rect">
            <a:avLst/>
          </a:prstGeom>
          <a:noFill/>
        </p:spPr>
        <p:txBody>
          <a:bodyPr wrap="square">
            <a:spAutoFit/>
          </a:bodyPr>
          <a:lstStyle/>
          <a:p>
            <a:r>
              <a:rPr lang="en-US" sz="1000" dirty="0">
                <a:solidFill>
                  <a:srgbClr val="404040"/>
                </a:solidFill>
              </a:rPr>
              <a:t> 2/19/2026</a:t>
            </a:r>
          </a:p>
        </p:txBody>
      </p:sp>
      <p:sp>
        <p:nvSpPr>
          <p:cNvPr id="65" name="TextBox 64">
            <a:extLst>
              <a:ext uri="{FF2B5EF4-FFF2-40B4-BE49-F238E27FC236}">
                <a16:creationId xmlns:a16="http://schemas.microsoft.com/office/drawing/2014/main" id="{9D76885D-1CCF-5D63-AB03-03E827C7C174}"/>
              </a:ext>
            </a:extLst>
          </p:cNvPr>
          <p:cNvSpPr txBox="1"/>
          <p:nvPr/>
        </p:nvSpPr>
        <p:spPr>
          <a:xfrm>
            <a:off x="5943600" y="2231135"/>
            <a:ext cx="1737360" cy="530352"/>
          </a:xfrm>
          <a:prstGeom prst="rect">
            <a:avLst/>
          </a:prstGeom>
          <a:noFill/>
        </p:spPr>
        <p:txBody>
          <a:bodyPr wrap="square">
            <a:spAutoFit/>
          </a:bodyPr>
          <a:lstStyle/>
          <a:p>
            <a:pPr algn="l"/>
            <a:r>
              <a:rPr sz="1000" b="0" i="0" dirty="0">
                <a:solidFill>
                  <a:srgbClr val="008000"/>
                </a:solidFill>
              </a:rPr>
              <a:t>✅ Complete</a:t>
            </a:r>
          </a:p>
        </p:txBody>
      </p:sp>
      <p:sp>
        <p:nvSpPr>
          <p:cNvPr id="66" name="TextBox 65">
            <a:extLst>
              <a:ext uri="{FF2B5EF4-FFF2-40B4-BE49-F238E27FC236}">
                <a16:creationId xmlns:a16="http://schemas.microsoft.com/office/drawing/2014/main" id="{DB240B93-4719-2197-34B9-A76497E1B436}"/>
              </a:ext>
            </a:extLst>
          </p:cNvPr>
          <p:cNvSpPr txBox="1"/>
          <p:nvPr/>
        </p:nvSpPr>
        <p:spPr>
          <a:xfrm>
            <a:off x="5943600" y="4251959"/>
            <a:ext cx="1737360" cy="530352"/>
          </a:xfrm>
          <a:prstGeom prst="rect">
            <a:avLst/>
          </a:prstGeom>
          <a:noFill/>
        </p:spPr>
        <p:txBody>
          <a:bodyPr wrap="square">
            <a:spAutoFit/>
          </a:bodyPr>
          <a:lstStyle/>
          <a:p>
            <a:pPr algn="l"/>
            <a:r>
              <a:rPr sz="1000" b="0" i="0" dirty="0">
                <a:solidFill>
                  <a:srgbClr val="FFC000"/>
                </a:solidFill>
              </a:rPr>
              <a:t>🟡 In Progress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Schedule Status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Overall: 🟡 Yellow | Recovery Plan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304800" y="982777"/>
            <a:ext cx="53035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005840"/>
            <a:ext cx="61264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880360"/>
            <a:ext cx="4937760" cy="320040"/>
          </a:xfrm>
          <a:prstGeom prst="rect">
            <a:avLst/>
          </a:prstGeom>
          <a:noFill/>
        </p:spPr>
        <p:txBody>
          <a:bodyPr wrap="square">
            <a:spAutoFit/>
          </a:bodyPr>
          <a:lstStyle/>
          <a:p>
            <a:pPr algn="l"/>
            <a:r>
              <a:rPr sz="1200" b="1" i="0">
                <a:solidFill>
                  <a:srgbClr val="404040"/>
                </a:solidFill>
              </a:rPr>
              <a:t>Root Causes:</a:t>
            </a:r>
          </a:p>
        </p:txBody>
      </p:sp>
      <p:sp>
        <p:nvSpPr>
          <p:cNvPr id="15" name="TextBox 14"/>
          <p:cNvSpPr txBox="1"/>
          <p:nvPr/>
        </p:nvSpPr>
        <p:spPr>
          <a:xfrm>
            <a:off x="457200" y="3246120"/>
            <a:ext cx="4937760" cy="384048"/>
          </a:xfrm>
          <a:prstGeom prst="rect">
            <a:avLst/>
          </a:prstGeom>
          <a:noFill/>
        </p:spPr>
        <p:txBody>
          <a:bodyPr wrap="square">
            <a:spAutoFit/>
          </a:bodyPr>
          <a:lstStyle/>
          <a:p>
            <a:pPr algn="l"/>
            <a:r>
              <a:rPr sz="1000" b="0" i="0">
                <a:solidFill>
                  <a:srgbClr val="404040"/>
                </a:solidFill>
              </a:rPr>
              <a:t>• SSP documentation delays (security review queue)</a:t>
            </a:r>
          </a:p>
        </p:txBody>
      </p:sp>
      <p:sp>
        <p:nvSpPr>
          <p:cNvPr id="16" name="TextBox 15"/>
          <p:cNvSpPr txBox="1"/>
          <p:nvPr/>
        </p:nvSpPr>
        <p:spPr>
          <a:xfrm>
            <a:off x="457200" y="3657600"/>
            <a:ext cx="4937760" cy="384048"/>
          </a:xfrm>
          <a:prstGeom prst="rect">
            <a:avLst/>
          </a:prstGeom>
          <a:noFill/>
        </p:spPr>
        <p:txBody>
          <a:bodyPr wrap="square">
            <a:spAutoFit/>
          </a:bodyPr>
          <a:lstStyle/>
          <a:p>
            <a:pPr algn="l"/>
            <a:r>
              <a:rPr sz="1000" b="0" i="0">
                <a:solidFill>
                  <a:srgbClr val="404040"/>
                </a:solidFill>
              </a:rPr>
              <a:t>• CMDB update coordination time</a:t>
            </a:r>
          </a:p>
        </p:txBody>
      </p:sp>
      <p:sp>
        <p:nvSpPr>
          <p:cNvPr id="17" name="TextBox 16"/>
          <p:cNvSpPr txBox="1"/>
          <p:nvPr/>
        </p:nvSpPr>
        <p:spPr>
          <a:xfrm>
            <a:off x="457200" y="4069080"/>
            <a:ext cx="4937760" cy="384048"/>
          </a:xfrm>
          <a:prstGeom prst="rect">
            <a:avLst/>
          </a:prstGeom>
          <a:noFill/>
        </p:spPr>
        <p:txBody>
          <a:bodyPr wrap="square">
            <a:spAutoFit/>
          </a:bodyPr>
          <a:lstStyle/>
          <a:p>
            <a:pPr algn="l"/>
            <a:r>
              <a:rPr sz="1000" b="0" i="0">
                <a:solidFill>
                  <a:srgbClr val="404040"/>
                </a:solidFill>
              </a:rPr>
              <a:t>• Inclement weather affecting field work</a:t>
            </a:r>
          </a:p>
        </p:txBody>
      </p:sp>
      <p:sp>
        <p:nvSpPr>
          <p:cNvPr id="18" name="TextBox 17"/>
          <p:cNvSpPr txBox="1"/>
          <p:nvPr/>
        </p:nvSpPr>
        <p:spPr>
          <a:xfrm>
            <a:off x="457200" y="4480560"/>
            <a:ext cx="4937760" cy="384048"/>
          </a:xfrm>
          <a:prstGeom prst="rect">
            <a:avLst/>
          </a:prstGeom>
          <a:noFill/>
        </p:spPr>
        <p:txBody>
          <a:bodyPr wrap="square">
            <a:spAutoFit/>
          </a:bodyPr>
          <a:lstStyle/>
          <a:p>
            <a:pPr algn="l"/>
            <a:r>
              <a:rPr sz="1000" b="0" i="0">
                <a:solidFill>
                  <a:srgbClr val="404040"/>
                </a:solidFill>
              </a:rPr>
              <a:t>• Crown Castle fiber issue at Hicksville (OTDR testing pending)</a:t>
            </a:r>
          </a:p>
        </p:txBody>
      </p:sp>
      <p:sp>
        <p:nvSpPr>
          <p:cNvPr id="19" name="TextBox 18"/>
          <p:cNvSpPr txBox="1"/>
          <p:nvPr/>
        </p:nvSpPr>
        <p:spPr>
          <a:xfrm>
            <a:off x="457200" y="5074920"/>
            <a:ext cx="4937760" cy="320040"/>
          </a:xfrm>
          <a:prstGeom prst="rect">
            <a:avLst/>
          </a:prstGeom>
          <a:noFill/>
        </p:spPr>
        <p:txBody>
          <a:bodyPr wrap="square">
            <a:spAutoFit/>
          </a:bodyPr>
          <a:lstStyle/>
          <a:p>
            <a:pPr algn="l"/>
            <a:r>
              <a:rPr sz="1200" b="1" i="0" dirty="0">
                <a:solidFill>
                  <a:srgbClr val="003387"/>
                </a:solidFill>
              </a:rPr>
              <a:t>Recovery Actions:</a:t>
            </a:r>
          </a:p>
        </p:txBody>
      </p:sp>
      <p:sp>
        <p:nvSpPr>
          <p:cNvPr id="20" name="TextBox 19"/>
          <p:cNvSpPr txBox="1"/>
          <p:nvPr/>
        </p:nvSpPr>
        <p:spPr>
          <a:xfrm>
            <a:off x="274320" y="5324729"/>
            <a:ext cx="4937760" cy="707886"/>
          </a:xfrm>
          <a:prstGeom prst="rect">
            <a:avLst/>
          </a:prstGeom>
          <a:noFill/>
        </p:spPr>
        <p:txBody>
          <a:bodyPr wrap="square">
            <a:spAutoFit/>
          </a:bodyPr>
          <a:lstStyle/>
          <a:p>
            <a:pPr marL="171450" indent="-171450" algn="l">
              <a:buFont typeface="Arial" panose="020B0604020202020204" pitchFamily="34" charset="0"/>
              <a:buChar char="•"/>
            </a:pPr>
            <a:r>
              <a:rPr lang="en-US" sz="800" b="0" i="0" dirty="0">
                <a:solidFill>
                  <a:srgbClr val="404040"/>
                </a:solidFill>
              </a:rPr>
              <a:t>ILO config (Bill/Rahiq — #1 BLOCKER) → BGP config Hicksville &amp; Melville (Lee) → Remote access config 31 routers → App cutovers → RTU cutovers → Phase 1 close Jun 2026</a:t>
            </a:r>
          </a:p>
          <a:p>
            <a:pPr marL="171450" indent="-171450" algn="l">
              <a:buFont typeface="Arial" panose="020B0604020202020204" pitchFamily="34" charset="0"/>
              <a:buChar char="•"/>
            </a:pPr>
            <a:r>
              <a:rPr sz="800" b="0" i="0" dirty="0">
                <a:solidFill>
                  <a:srgbClr val="F7941D"/>
                </a:solidFill>
              </a:rPr>
              <a:t>SPI = 0.76 (Yellow). ILO config is #1 critical path blocker — Bill (B&amp;M) working with Rahiq to resolve console cable &amp; firmware. Northport DC power RESOLVED ✅. Phase 1 construction 100% done; deployment micro-phase ~5%. June 2026 revised target.</a:t>
            </a:r>
            <a:endParaRPr lang="en-US" sz="1000" b="0" i="0" dirty="0">
              <a:solidFill>
                <a:srgbClr val="404040"/>
              </a:solidFill>
            </a:endParaRPr>
          </a:p>
          <a:p>
            <a:pPr marL="171450" indent="-171450" algn="l">
              <a:buFont typeface="Arial" panose="020B0604020202020204" pitchFamily="34" charset="0"/>
              <a:buChar char="•"/>
            </a:pPr>
            <a:r>
              <a:rPr sz="1000" b="0" i="0" dirty="0">
                <a:solidFill>
                  <a:srgbClr val="404040"/>
                </a:solidFill>
              </a:rPr>
              <a:t>Phase 2 IFR/IFC design on track.</a:t>
            </a:r>
          </a:p>
        </p:txBody>
      </p:sp>
      <p:sp>
        <p:nvSpPr>
          <p:cNvPr id="21" name="Rectangle 20"/>
          <p:cNvSpPr/>
          <p:nvPr/>
        </p:nvSpPr>
        <p:spPr>
          <a:xfrm>
            <a:off x="5760720" y="1005840"/>
            <a:ext cx="6126480"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0" y="1033271"/>
            <a:ext cx="5943600" cy="347472"/>
          </a:xfrm>
          <a:prstGeom prst="rect">
            <a:avLst/>
          </a:prstGeom>
          <a:noFill/>
        </p:spPr>
        <p:txBody>
          <a:bodyPr wrap="square">
            <a:spAutoFit/>
          </a:bodyPr>
          <a:lstStyle/>
          <a:p>
            <a:pPr algn="l"/>
            <a:r>
              <a:rPr sz="1100" b="1" i="0">
                <a:solidFill>
                  <a:srgbClr val="FFFFFF"/>
                </a:solidFill>
              </a:rPr>
              <a:t>PROGRAM TIMELINE</a:t>
            </a:r>
          </a:p>
        </p:txBody>
      </p:sp>
      <p:sp>
        <p:nvSpPr>
          <p:cNvPr id="24" name="TextBox 23"/>
          <p:cNvSpPr txBox="1"/>
          <p:nvPr/>
        </p:nvSpPr>
        <p:spPr>
          <a:xfrm>
            <a:off x="6080760" y="1490472"/>
            <a:ext cx="5669280" cy="347472"/>
          </a:xfrm>
          <a:prstGeom prst="rect">
            <a:avLst/>
          </a:prstGeom>
          <a:noFill/>
        </p:spPr>
        <p:txBody>
          <a:bodyPr wrap="square">
            <a:spAutoFit/>
          </a:bodyPr>
          <a:lstStyle/>
          <a:p>
            <a:pPr algn="l"/>
            <a:r>
              <a:rPr sz="1000" b="0" i="0">
                <a:solidFill>
                  <a:srgbClr val="404040"/>
                </a:solidFill>
              </a:rPr>
              <a:t>Apr 2024  —  Project Start</a:t>
            </a:r>
          </a:p>
        </p:txBody>
      </p:sp>
      <p:sp>
        <p:nvSpPr>
          <p:cNvPr id="26" name="TextBox 25"/>
          <p:cNvSpPr txBox="1"/>
          <p:nvPr/>
        </p:nvSpPr>
        <p:spPr>
          <a:xfrm>
            <a:off x="6080760" y="1947672"/>
            <a:ext cx="5669280" cy="347472"/>
          </a:xfrm>
          <a:prstGeom prst="rect">
            <a:avLst/>
          </a:prstGeom>
          <a:noFill/>
        </p:spPr>
        <p:txBody>
          <a:bodyPr wrap="square">
            <a:spAutoFit/>
          </a:bodyPr>
          <a:lstStyle/>
          <a:p>
            <a:pPr algn="l"/>
            <a:r>
              <a:rPr sz="1000" b="0" i="0">
                <a:solidFill>
                  <a:srgbClr val="404040"/>
                </a:solidFill>
              </a:rPr>
              <a:t>Oct 2024  —  RFP Award &amp; SOW Executed</a:t>
            </a:r>
          </a:p>
        </p:txBody>
      </p:sp>
      <p:sp>
        <p:nvSpPr>
          <p:cNvPr id="28" name="TextBox 27"/>
          <p:cNvSpPr txBox="1"/>
          <p:nvPr/>
        </p:nvSpPr>
        <p:spPr>
          <a:xfrm>
            <a:off x="6080760" y="2404872"/>
            <a:ext cx="5669280" cy="347472"/>
          </a:xfrm>
          <a:prstGeom prst="rect">
            <a:avLst/>
          </a:prstGeom>
          <a:noFill/>
        </p:spPr>
        <p:txBody>
          <a:bodyPr wrap="square">
            <a:spAutoFit/>
          </a:bodyPr>
          <a:lstStyle/>
          <a:p>
            <a:pPr algn="l"/>
            <a:r>
              <a:rPr sz="1000" b="0" i="0">
                <a:solidFill>
                  <a:srgbClr val="404040"/>
                </a:solidFill>
              </a:rPr>
              <a:t>Jan 2025  —  Phase 1 Detailed Design Start</a:t>
            </a:r>
          </a:p>
        </p:txBody>
      </p:sp>
      <p:sp>
        <p:nvSpPr>
          <p:cNvPr id="30" name="TextBox 29"/>
          <p:cNvSpPr txBox="1"/>
          <p:nvPr/>
        </p:nvSpPr>
        <p:spPr>
          <a:xfrm>
            <a:off x="6080760" y="2862072"/>
            <a:ext cx="5669280" cy="347472"/>
          </a:xfrm>
          <a:prstGeom prst="rect">
            <a:avLst/>
          </a:prstGeom>
          <a:noFill/>
        </p:spPr>
        <p:txBody>
          <a:bodyPr wrap="square">
            <a:spAutoFit/>
          </a:bodyPr>
          <a:lstStyle/>
          <a:p>
            <a:pPr algn="l"/>
            <a:r>
              <a:rPr sz="1000" b="0" i="0">
                <a:solidFill>
                  <a:srgbClr val="404040"/>
                </a:solidFill>
              </a:rPr>
              <a:t>Sep 2025  —  Staging Complete (Hawkeye)</a:t>
            </a:r>
          </a:p>
        </p:txBody>
      </p:sp>
      <p:sp>
        <p:nvSpPr>
          <p:cNvPr id="32" name="TextBox 31"/>
          <p:cNvSpPr txBox="1"/>
          <p:nvPr/>
        </p:nvSpPr>
        <p:spPr>
          <a:xfrm>
            <a:off x="6080760" y="3319272"/>
            <a:ext cx="5669280" cy="347472"/>
          </a:xfrm>
          <a:prstGeom prst="rect">
            <a:avLst/>
          </a:prstGeom>
          <a:noFill/>
        </p:spPr>
        <p:txBody>
          <a:bodyPr wrap="square">
            <a:spAutoFit/>
          </a:bodyPr>
          <a:lstStyle/>
          <a:p>
            <a:pPr algn="l"/>
            <a:r>
              <a:rPr sz="1000" b="0" i="0">
                <a:solidFill>
                  <a:srgbClr val="404040"/>
                </a:solidFill>
              </a:rPr>
              <a:t>Oct 2025  —  Phase 1 Construction Start</a:t>
            </a:r>
          </a:p>
        </p:txBody>
      </p:sp>
      <p:sp>
        <p:nvSpPr>
          <p:cNvPr id="34" name="TextBox 33"/>
          <p:cNvSpPr txBox="1"/>
          <p:nvPr/>
        </p:nvSpPr>
        <p:spPr>
          <a:xfrm>
            <a:off x="6080760" y="3776472"/>
            <a:ext cx="5669280" cy="347472"/>
          </a:xfrm>
          <a:prstGeom prst="rect">
            <a:avLst/>
          </a:prstGeom>
          <a:noFill/>
        </p:spPr>
        <p:txBody>
          <a:bodyPr wrap="square">
            <a:spAutoFit/>
          </a:bodyPr>
          <a:lstStyle/>
          <a:p>
            <a:pPr algn="l"/>
            <a:r>
              <a:rPr sz="1000" b="0" i="0" dirty="0">
                <a:solidFill>
                  <a:srgbClr val="404040"/>
                </a:solidFill>
              </a:rPr>
              <a:t>Dec 2025 – Jan 2026  —  Wave 1 &amp; 2 Cutovers Complete</a:t>
            </a:r>
          </a:p>
        </p:txBody>
      </p:sp>
      <p:sp>
        <p:nvSpPr>
          <p:cNvPr id="36" name="TextBox 35"/>
          <p:cNvSpPr txBox="1"/>
          <p:nvPr/>
        </p:nvSpPr>
        <p:spPr>
          <a:xfrm>
            <a:off x="6080760" y="4233672"/>
            <a:ext cx="5669280" cy="347472"/>
          </a:xfrm>
          <a:prstGeom prst="rect">
            <a:avLst/>
          </a:prstGeom>
          <a:noFill/>
        </p:spPr>
        <p:txBody>
          <a:bodyPr wrap="square">
            <a:spAutoFit/>
          </a:bodyPr>
          <a:lstStyle/>
          <a:p>
            <a:pPr algn="l"/>
            <a:r>
              <a:rPr sz="1000" b="0" i="0" dirty="0">
                <a:solidFill>
                  <a:srgbClr val="404040"/>
                </a:solidFill>
              </a:rPr>
              <a:t>Feb 2026  —  Nokia Phase 2 Equipment Delivered</a:t>
            </a:r>
          </a:p>
        </p:txBody>
      </p:sp>
      <p:sp>
        <p:nvSpPr>
          <p:cNvPr id="37" name="Rectangle 36"/>
          <p:cNvSpPr/>
          <p:nvPr/>
        </p:nvSpPr>
        <p:spPr>
          <a:xfrm>
            <a:off x="5806440" y="4709160"/>
            <a:ext cx="182880" cy="2560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80760" y="4690872"/>
            <a:ext cx="5669280" cy="347472"/>
          </a:xfrm>
          <a:prstGeom prst="rect">
            <a:avLst/>
          </a:prstGeom>
          <a:noFill/>
        </p:spPr>
        <p:txBody>
          <a:bodyPr wrap="square">
            <a:spAutoFit/>
          </a:bodyPr>
          <a:lstStyle/>
          <a:p>
            <a:pPr algn="l"/>
            <a:r>
              <a:rPr sz="1000" b="1" i="0" dirty="0">
                <a:solidFill>
                  <a:srgbClr val="F7941D"/>
                </a:solidFill>
              </a:rPr>
              <a:t>Mar 2026  —  Phase 2 IFR Design in Progress  ◀ NOW</a:t>
            </a:r>
          </a:p>
        </p:txBody>
      </p:sp>
      <p:sp>
        <p:nvSpPr>
          <p:cNvPr id="39" name="Rectangle 38"/>
          <p:cNvSpPr/>
          <p:nvPr/>
        </p:nvSpPr>
        <p:spPr>
          <a:xfrm>
            <a:off x="5806440" y="51663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5148072"/>
            <a:ext cx="5669280" cy="347472"/>
          </a:xfrm>
          <a:prstGeom prst="rect">
            <a:avLst/>
          </a:prstGeom>
          <a:noFill/>
        </p:spPr>
        <p:txBody>
          <a:bodyPr wrap="square">
            <a:spAutoFit/>
          </a:bodyPr>
          <a:lstStyle/>
          <a:p>
            <a:pPr algn="l"/>
            <a:r>
              <a:rPr sz="1000" b="1" i="0">
                <a:solidFill>
                  <a:srgbClr val="404040"/>
                </a:solidFill>
              </a:rPr>
              <a:t>Mar–Jul 2026  —  Phase 2 IFC Design &amp; Review</a:t>
            </a:r>
          </a:p>
        </p:txBody>
      </p:sp>
      <p:sp>
        <p:nvSpPr>
          <p:cNvPr id="41" name="Rectangle 40"/>
          <p:cNvSpPr/>
          <p:nvPr/>
        </p:nvSpPr>
        <p:spPr>
          <a:xfrm>
            <a:off x="5806440" y="56235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0760" y="5605272"/>
            <a:ext cx="5669280" cy="347472"/>
          </a:xfrm>
          <a:prstGeom prst="rect">
            <a:avLst/>
          </a:prstGeom>
          <a:noFill/>
        </p:spPr>
        <p:txBody>
          <a:bodyPr wrap="square">
            <a:spAutoFit/>
          </a:bodyPr>
          <a:lstStyle/>
          <a:p>
            <a:pPr algn="l"/>
            <a:r>
              <a:rPr sz="1000" b="1" i="0">
                <a:solidFill>
                  <a:srgbClr val="404040"/>
                </a:solidFill>
              </a:rPr>
              <a:t>Aug–Dec 2026  —  Phase 2 Construction</a:t>
            </a:r>
          </a:p>
        </p:txBody>
      </p:sp>
      <p:sp>
        <p:nvSpPr>
          <p:cNvPr id="43" name="Rectangle 42"/>
          <p:cNvSpPr/>
          <p:nvPr/>
        </p:nvSpPr>
        <p:spPr>
          <a:xfrm>
            <a:off x="5806440" y="60807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80760" y="6062472"/>
            <a:ext cx="5669280" cy="347472"/>
          </a:xfrm>
          <a:prstGeom prst="rect">
            <a:avLst/>
          </a:prstGeom>
          <a:noFill/>
        </p:spPr>
        <p:txBody>
          <a:bodyPr wrap="square">
            <a:spAutoFit/>
          </a:bodyPr>
          <a:lstStyle/>
          <a:p>
            <a:pPr algn="l"/>
            <a:r>
              <a:rPr sz="1000" b="1" i="0">
                <a:solidFill>
                  <a:srgbClr val="404040"/>
                </a:solidFill>
              </a:rPr>
              <a:t>Jul 2027  —  Program Completion (Target)</a:t>
            </a:r>
          </a:p>
        </p:txBody>
      </p:sp>
      <p:sp>
        <p:nvSpPr>
          <p:cNvPr id="45" name="Rectangle 44"/>
          <p:cNvSpPr/>
          <p:nvPr/>
        </p:nvSpPr>
        <p:spPr>
          <a:xfrm>
            <a:off x="274320" y="1143000"/>
            <a:ext cx="5212080" cy="396745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1154857"/>
            <a:ext cx="5212080" cy="3657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4800" y="1184523"/>
            <a:ext cx="5029200" cy="310896"/>
          </a:xfrm>
          <a:prstGeom prst="rect">
            <a:avLst/>
          </a:prstGeom>
          <a:noFill/>
        </p:spPr>
        <p:txBody>
          <a:bodyPr wrap="square">
            <a:spAutoFit/>
          </a:bodyPr>
          <a:lstStyle/>
          <a:p>
            <a:pPr algn="l"/>
            <a:r>
              <a:rPr sz="1100" b="1" i="0">
                <a:solidFill>
                  <a:srgbClr val="FFFFFF"/>
                </a:solidFill>
              </a:rPr>
              <a:t>SCHEDULE PERFORMANCE INDEX (SPI)</a:t>
            </a:r>
          </a:p>
        </p:txBody>
      </p:sp>
      <p:sp>
        <p:nvSpPr>
          <p:cNvPr id="48" name="Oval 47"/>
          <p:cNvSpPr/>
          <p:nvPr/>
        </p:nvSpPr>
        <p:spPr>
          <a:xfrm>
            <a:off x="2385935" y="24630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69330" y="24304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352725" y="239786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36120" y="2365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319515" y="23326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02910" y="230009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286304" y="226750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33847" y="249140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315476" y="24597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297105" y="24281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278734" y="23965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260364" y="23648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241993" y="2333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223622" y="23016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3396" y="25225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263315" y="24920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243234" y="24614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223153" y="24308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203072" y="24003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182991" y="236974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162910" y="23391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234736" y="255651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213005" y="252709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191274" y="24976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169544" y="2468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147813" y="243882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126083" y="240940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104352" y="23799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188012" y="25930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64698" y="2564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141383" y="2536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118069" y="250850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094754" y="24803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71440" y="24521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048126" y="2423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143367" y="263209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18539" y="260524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093711" y="25783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068883" y="25515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044056" y="252466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19228" y="24978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994400" y="247094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2100935" y="26735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74669" y="26480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048403" y="262263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022136" y="25971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995870" y="25717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969604" y="25462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943338" y="25208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2060844" y="27172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2033219" y="26932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2005594" y="26693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977969" y="264534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0344" y="26213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922719" y="259739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895093" y="25734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023217" y="27631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994316" y="27406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965415" y="2718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936514" y="26958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907614" y="267343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878713" y="26510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849812" y="262860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988165" y="281095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958076" y="279015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927987" y="276936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897898" y="274856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867809" y="27277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7720" y="27069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07632" y="2686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955796" y="28606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24609" y="284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893423" y="282243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862237" y="28033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831051" y="27842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799865" y="27651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768679" y="274599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926206" y="29120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894017" y="289469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861828" y="28773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829639" y="2859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797449" y="28425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765260" y="282522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733071" y="280785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899486" y="296501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66391" y="29494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833296" y="2933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800201" y="29182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67107" y="290272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734012" y="28871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1700917" y="28715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1875717" y="30193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1841816" y="300562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1807915" y="29918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1774015" y="297816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1740114" y="296443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706213" y="29507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672312" y="2936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854969" y="30749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820365" y="30630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1785761" y="30512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1751157" y="30393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716553" y="30275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681949" y="3015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647345" y="30038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837306" y="313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802103" y="31216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766900" y="31116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1731698" y="31017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1696495" y="30918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661292" y="308190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1626089" y="30719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1822781" y="31890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787086" y="318107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1751391" y="31730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1715696" y="31651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1680001" y="3157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644305" y="314915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1608610" y="3141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811438" y="32472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775359" y="324126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739279" y="32352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703199" y="322925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667120" y="3223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631040" y="32172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594960" y="32112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1803312" y="33060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1766956" y="330201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1730601" y="32979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694246" y="32939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1657891" y="3289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1621536" y="32859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1585181" y="32819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1798426" y="3365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761905" y="33631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725384" y="33611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688864" y="335910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1652343" y="335709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1615822" y="33550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579301" y="335307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179679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176022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1723644"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1687068"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1650492"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161391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157734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2706996" y="235872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2701274" y="232259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2695552" y="228646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2689831" y="22503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2684109" y="221421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2678387" y="2178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2672665" y="214196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2640413" y="237142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2632434" y="233572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2624455" y="2300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2616476" y="22643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2608497" y="222864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2600519" y="219294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val 207"/>
          <p:cNvSpPr/>
          <p:nvPr/>
        </p:nvSpPr>
        <p:spPr>
          <a:xfrm>
            <a:off x="2592540" y="215725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val 208"/>
          <p:cNvSpPr/>
          <p:nvPr/>
        </p:nvSpPr>
        <p:spPr>
          <a:xfrm>
            <a:off x="2574758" y="23882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2564554" y="235315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val 210"/>
          <p:cNvSpPr/>
          <p:nvPr/>
        </p:nvSpPr>
        <p:spPr>
          <a:xfrm>
            <a:off x="2554350" y="2318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val 211"/>
          <p:cNvSpPr/>
          <p:nvPr/>
        </p:nvSpPr>
        <p:spPr>
          <a:xfrm>
            <a:off x="2544145" y="228290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2533941" y="224778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2523736" y="22126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2513532" y="21775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2510292" y="240922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val 216"/>
          <p:cNvSpPr/>
          <p:nvPr/>
        </p:nvSpPr>
        <p:spPr>
          <a:xfrm>
            <a:off x="2497902" y="237481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2485513" y="234039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val 218"/>
          <p:cNvSpPr/>
          <p:nvPr/>
        </p:nvSpPr>
        <p:spPr>
          <a:xfrm>
            <a:off x="2473123" y="230598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2460733" y="22715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2448344" y="223715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2435954" y="22027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2447268" y="24341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2432742" y="240061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2418216" y="236704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2403690" y="233347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2389164" y="229990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2374638" y="22663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val 228"/>
          <p:cNvSpPr/>
          <p:nvPr/>
        </p:nvSpPr>
        <p:spPr>
          <a:xfrm>
            <a:off x="2360112" y="223277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2385935" y="24630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val 230"/>
          <p:cNvSpPr/>
          <p:nvPr/>
        </p:nvSpPr>
        <p:spPr>
          <a:xfrm>
            <a:off x="2369330" y="243044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val 231"/>
          <p:cNvSpPr/>
          <p:nvPr/>
        </p:nvSpPr>
        <p:spPr>
          <a:xfrm>
            <a:off x="2352725" y="23978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val 232"/>
          <p:cNvSpPr/>
          <p:nvPr/>
        </p:nvSpPr>
        <p:spPr>
          <a:xfrm>
            <a:off x="2336120" y="23652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val 233"/>
          <p:cNvSpPr/>
          <p:nvPr/>
        </p:nvSpPr>
        <p:spPr>
          <a:xfrm>
            <a:off x="2319515" y="233268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val 234"/>
          <p:cNvSpPr/>
          <p:nvPr/>
        </p:nvSpPr>
        <p:spPr>
          <a:xfrm>
            <a:off x="2302910" y="2300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2286304" y="226750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3044579"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3050301"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val 238"/>
          <p:cNvSpPr/>
          <p:nvPr/>
        </p:nvSpPr>
        <p:spPr>
          <a:xfrm>
            <a:off x="3056023"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val 239"/>
          <p:cNvSpPr/>
          <p:nvPr/>
        </p:nvSpPr>
        <p:spPr>
          <a:xfrm>
            <a:off x="3061744"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val 240"/>
          <p:cNvSpPr/>
          <p:nvPr/>
        </p:nvSpPr>
        <p:spPr>
          <a:xfrm>
            <a:off x="3067466"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val 241"/>
          <p:cNvSpPr/>
          <p:nvPr/>
        </p:nvSpPr>
        <p:spPr>
          <a:xfrm>
            <a:off x="3073188"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3078910"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val 243"/>
          <p:cNvSpPr/>
          <p:nvPr/>
        </p:nvSpPr>
        <p:spPr>
          <a:xfrm>
            <a:off x="2988573"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val 244"/>
          <p:cNvSpPr/>
          <p:nvPr/>
        </p:nvSpPr>
        <p:spPr>
          <a:xfrm>
            <a:off x="2992396"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val 245"/>
          <p:cNvSpPr/>
          <p:nvPr/>
        </p:nvSpPr>
        <p:spPr>
          <a:xfrm>
            <a:off x="2996219"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val 246"/>
          <p:cNvSpPr/>
          <p:nvPr/>
        </p:nvSpPr>
        <p:spPr>
          <a:xfrm>
            <a:off x="3000043"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val 247"/>
          <p:cNvSpPr/>
          <p:nvPr/>
        </p:nvSpPr>
        <p:spPr>
          <a:xfrm>
            <a:off x="3003866"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007689"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val 249"/>
          <p:cNvSpPr/>
          <p:nvPr/>
        </p:nvSpPr>
        <p:spPr>
          <a:xfrm>
            <a:off x="3011512"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val 250"/>
          <p:cNvSpPr/>
          <p:nvPr/>
        </p:nvSpPr>
        <p:spPr>
          <a:xfrm>
            <a:off x="2932258"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val 251"/>
          <p:cNvSpPr/>
          <p:nvPr/>
        </p:nvSpPr>
        <p:spPr>
          <a:xfrm>
            <a:off x="2934172"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p:cNvSpPr/>
          <p:nvPr/>
        </p:nvSpPr>
        <p:spPr>
          <a:xfrm>
            <a:off x="2936086"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val 253"/>
          <p:cNvSpPr/>
          <p:nvPr/>
        </p:nvSpPr>
        <p:spPr>
          <a:xfrm>
            <a:off x="2938000"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2939915"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2941829"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2943743"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2875788" y="234543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val 258"/>
          <p:cNvSpPr/>
          <p:nvPr/>
        </p:nvSpPr>
        <p:spPr>
          <a:xfrm>
            <a:off x="2875788" y="230886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val 259"/>
          <p:cNvSpPr/>
          <p:nvPr/>
        </p:nvSpPr>
        <p:spPr>
          <a:xfrm>
            <a:off x="2875788" y="227228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val 260"/>
          <p:cNvSpPr/>
          <p:nvPr/>
        </p:nvSpPr>
        <p:spPr>
          <a:xfrm>
            <a:off x="2875788" y="223570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2875788" y="219913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2875788" y="216255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val 263"/>
          <p:cNvSpPr/>
          <p:nvPr/>
        </p:nvSpPr>
        <p:spPr>
          <a:xfrm>
            <a:off x="2875788" y="212597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val 264"/>
          <p:cNvSpPr/>
          <p:nvPr/>
        </p:nvSpPr>
        <p:spPr>
          <a:xfrm>
            <a:off x="2819317"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2817403"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2815489"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2813575"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2811660"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2809746"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val 270"/>
          <p:cNvSpPr/>
          <p:nvPr/>
        </p:nvSpPr>
        <p:spPr>
          <a:xfrm>
            <a:off x="2807832"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2763002"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2759179"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2755356"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2751532"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val 275"/>
          <p:cNvSpPr/>
          <p:nvPr/>
        </p:nvSpPr>
        <p:spPr>
          <a:xfrm>
            <a:off x="2747709"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val 276"/>
          <p:cNvSpPr/>
          <p:nvPr/>
        </p:nvSpPr>
        <p:spPr>
          <a:xfrm>
            <a:off x="2743886"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2740063"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2706996"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2701274"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2695552"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val 281"/>
          <p:cNvSpPr/>
          <p:nvPr/>
        </p:nvSpPr>
        <p:spPr>
          <a:xfrm>
            <a:off x="2689831"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val 282"/>
          <p:cNvSpPr/>
          <p:nvPr/>
        </p:nvSpPr>
        <p:spPr>
          <a:xfrm>
            <a:off x="2684109"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val 283"/>
          <p:cNvSpPr/>
          <p:nvPr/>
        </p:nvSpPr>
        <p:spPr>
          <a:xfrm>
            <a:off x="2678387"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val 284"/>
          <p:cNvSpPr/>
          <p:nvPr/>
        </p:nvSpPr>
        <p:spPr>
          <a:xfrm>
            <a:off x="2672665"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395478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val 286"/>
          <p:cNvSpPr/>
          <p:nvPr/>
        </p:nvSpPr>
        <p:spPr>
          <a:xfrm>
            <a:off x="399135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val 287"/>
          <p:cNvSpPr/>
          <p:nvPr/>
        </p:nvSpPr>
        <p:spPr>
          <a:xfrm>
            <a:off x="4027932"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val 288"/>
          <p:cNvSpPr/>
          <p:nvPr/>
        </p:nvSpPr>
        <p:spPr>
          <a:xfrm>
            <a:off x="4064508"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val 289"/>
          <p:cNvSpPr/>
          <p:nvPr/>
        </p:nvSpPr>
        <p:spPr>
          <a:xfrm>
            <a:off x="4101084"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val 290"/>
          <p:cNvSpPr/>
          <p:nvPr/>
        </p:nvSpPr>
        <p:spPr>
          <a:xfrm>
            <a:off x="413766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val 291"/>
          <p:cNvSpPr/>
          <p:nvPr/>
        </p:nvSpPr>
        <p:spPr>
          <a:xfrm>
            <a:off x="417423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val 292"/>
          <p:cNvSpPr/>
          <p:nvPr/>
        </p:nvSpPr>
        <p:spPr>
          <a:xfrm>
            <a:off x="3953185" y="33657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val 293"/>
          <p:cNvSpPr/>
          <p:nvPr/>
        </p:nvSpPr>
        <p:spPr>
          <a:xfrm>
            <a:off x="3989707" y="33638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val 294"/>
          <p:cNvSpPr/>
          <p:nvPr/>
        </p:nvSpPr>
        <p:spPr>
          <a:xfrm>
            <a:off x="4026229" y="33618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val 295"/>
          <p:cNvSpPr/>
          <p:nvPr/>
        </p:nvSpPr>
        <p:spPr>
          <a:xfrm>
            <a:off x="4062751" y="33598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val 296"/>
          <p:cNvSpPr/>
          <p:nvPr/>
        </p:nvSpPr>
        <p:spPr>
          <a:xfrm>
            <a:off x="4099273" y="33578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val 297"/>
          <p:cNvSpPr/>
          <p:nvPr/>
        </p:nvSpPr>
        <p:spPr>
          <a:xfrm>
            <a:off x="4135795" y="33558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val 298"/>
          <p:cNvSpPr/>
          <p:nvPr/>
        </p:nvSpPr>
        <p:spPr>
          <a:xfrm>
            <a:off x="4172317" y="3353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val 299"/>
          <p:cNvSpPr/>
          <p:nvPr/>
        </p:nvSpPr>
        <p:spPr>
          <a:xfrm>
            <a:off x="3948406" y="330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val 300"/>
          <p:cNvSpPr/>
          <p:nvPr/>
        </p:nvSpPr>
        <p:spPr>
          <a:xfrm>
            <a:off x="3984766" y="330335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val 301"/>
          <p:cNvSpPr/>
          <p:nvPr/>
        </p:nvSpPr>
        <p:spPr>
          <a:xfrm>
            <a:off x="4021126" y="32993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val 302"/>
          <p:cNvSpPr/>
          <p:nvPr/>
        </p:nvSpPr>
        <p:spPr>
          <a:xfrm>
            <a:off x="4057486" y="32954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val 303"/>
          <p:cNvSpPr/>
          <p:nvPr/>
        </p:nvSpPr>
        <p:spPr>
          <a:xfrm>
            <a:off x="4093845" y="32914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val 304"/>
          <p:cNvSpPr/>
          <p:nvPr/>
        </p:nvSpPr>
        <p:spPr>
          <a:xfrm>
            <a:off x="4130205" y="32874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val 305"/>
          <p:cNvSpPr/>
          <p:nvPr/>
        </p:nvSpPr>
        <p:spPr>
          <a:xfrm>
            <a:off x="4166565" y="32835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val 306"/>
          <p:cNvSpPr/>
          <p:nvPr/>
        </p:nvSpPr>
        <p:spPr>
          <a:xfrm>
            <a:off x="3940456" y="324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val 307"/>
          <p:cNvSpPr/>
          <p:nvPr/>
        </p:nvSpPr>
        <p:spPr>
          <a:xfrm>
            <a:off x="3976547" y="32432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val 308"/>
          <p:cNvSpPr/>
          <p:nvPr/>
        </p:nvSpPr>
        <p:spPr>
          <a:xfrm>
            <a:off x="4012637" y="323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val 309"/>
          <p:cNvSpPr/>
          <p:nvPr/>
        </p:nvSpPr>
        <p:spPr>
          <a:xfrm>
            <a:off x="4048728" y="32313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val 310"/>
          <p:cNvSpPr/>
          <p:nvPr/>
        </p:nvSpPr>
        <p:spPr>
          <a:xfrm>
            <a:off x="4084818" y="32254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val 311"/>
          <p:cNvSpPr/>
          <p:nvPr/>
        </p:nvSpPr>
        <p:spPr>
          <a:xfrm>
            <a:off x="4120908" y="32195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val 312"/>
          <p:cNvSpPr/>
          <p:nvPr/>
        </p:nvSpPr>
        <p:spPr>
          <a:xfrm>
            <a:off x="4156999" y="3213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val 313"/>
          <p:cNvSpPr/>
          <p:nvPr/>
        </p:nvSpPr>
        <p:spPr>
          <a:xfrm>
            <a:off x="3929360" y="319159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3965074" y="318370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4000788" y="31758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val 316"/>
          <p:cNvSpPr/>
          <p:nvPr/>
        </p:nvSpPr>
        <p:spPr>
          <a:xfrm>
            <a:off x="4036503" y="31679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val 317"/>
          <p:cNvSpPr/>
          <p:nvPr/>
        </p:nvSpPr>
        <p:spPr>
          <a:xfrm>
            <a:off x="4072217" y="3160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4107931" y="315213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4143645" y="31442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3915149" y="31346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3950382" y="31248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3985614" y="31150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4020847" y="310521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4056079" y="30953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4091312" y="308557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4126545" y="30757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3897866" y="30786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3932513" y="30669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3967160" y="30551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4001806" y="3043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4036453" y="303173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4071100" y="30200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val 333"/>
          <p:cNvSpPr/>
          <p:nvPr/>
        </p:nvSpPr>
        <p:spPr>
          <a:xfrm>
            <a:off x="4105747" y="30082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val 334"/>
          <p:cNvSpPr/>
          <p:nvPr/>
        </p:nvSpPr>
        <p:spPr>
          <a:xfrm>
            <a:off x="3877562" y="30235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val 335"/>
          <p:cNvSpPr/>
          <p:nvPr/>
        </p:nvSpPr>
        <p:spPr>
          <a:xfrm>
            <a:off x="3911521" y="30100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945479" y="29964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979438" y="29828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4013396" y="2969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4047355" y="29556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4081313" y="294206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854298" y="29697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3887468" y="29543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val 343"/>
          <p:cNvSpPr/>
          <p:nvPr/>
        </p:nvSpPr>
        <p:spPr>
          <a:xfrm>
            <a:off x="3920637" y="29389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344"/>
          <p:cNvSpPr/>
          <p:nvPr/>
        </p:nvSpPr>
        <p:spPr>
          <a:xfrm>
            <a:off x="3953807" y="29235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3986977" y="290808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020147" y="289267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4053317" y="28772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3828141" y="29172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3860424" y="29000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3892707" y="28828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3924990" y="28656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3957273" y="2848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3989556" y="283126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4021840" y="28140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val 355"/>
          <p:cNvSpPr/>
          <p:nvPr/>
        </p:nvSpPr>
        <p:spPr>
          <a:xfrm>
            <a:off x="3799169" y="28662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val 356"/>
          <p:cNvSpPr/>
          <p:nvPr/>
        </p:nvSpPr>
        <p:spPr>
          <a:xfrm>
            <a:off x="3830470" y="28473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val 357"/>
          <p:cNvSpPr/>
          <p:nvPr/>
        </p:nvSpPr>
        <p:spPr>
          <a:xfrm>
            <a:off x="3861771" y="28283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val 358"/>
          <p:cNvSpPr/>
          <p:nvPr/>
        </p:nvSpPr>
        <p:spPr>
          <a:xfrm>
            <a:off x="3893072" y="28094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924373" y="27905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955674" y="27716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986975" y="2752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3767467" y="28168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val 363"/>
          <p:cNvSpPr/>
          <p:nvPr/>
        </p:nvSpPr>
        <p:spPr>
          <a:xfrm>
            <a:off x="3797694" y="27962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val 364"/>
          <p:cNvSpPr/>
          <p:nvPr/>
        </p:nvSpPr>
        <p:spPr>
          <a:xfrm>
            <a:off x="3827920" y="27756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3858147" y="27550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3888373" y="273448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3918600" y="27138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val 368"/>
          <p:cNvSpPr/>
          <p:nvPr/>
        </p:nvSpPr>
        <p:spPr>
          <a:xfrm>
            <a:off x="3948826" y="26932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val 369"/>
          <p:cNvSpPr/>
          <p:nvPr/>
        </p:nvSpPr>
        <p:spPr>
          <a:xfrm>
            <a:off x="3733130" y="27693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val 370"/>
          <p:cNvSpPr/>
          <p:nvPr/>
        </p:nvSpPr>
        <p:spPr>
          <a:xfrm>
            <a:off x="3762193" y="27470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val 371"/>
          <p:cNvSpPr/>
          <p:nvPr/>
        </p:nvSpPr>
        <p:spPr>
          <a:xfrm>
            <a:off x="3791255" y="27248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val 372"/>
          <p:cNvSpPr/>
          <p:nvPr/>
        </p:nvSpPr>
        <p:spPr>
          <a:xfrm>
            <a:off x="3820318" y="27026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val 373"/>
          <p:cNvSpPr/>
          <p:nvPr/>
        </p:nvSpPr>
        <p:spPr>
          <a:xfrm>
            <a:off x="3849380" y="26804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val 374"/>
          <p:cNvSpPr/>
          <p:nvPr/>
        </p:nvSpPr>
        <p:spPr>
          <a:xfrm>
            <a:off x="3878443" y="26582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val 375"/>
          <p:cNvSpPr/>
          <p:nvPr/>
        </p:nvSpPr>
        <p:spPr>
          <a:xfrm>
            <a:off x="3907505" y="26360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val 376"/>
          <p:cNvSpPr/>
          <p:nvPr/>
        </p:nvSpPr>
        <p:spPr>
          <a:xfrm>
            <a:off x="3696259" y="27236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val 377"/>
          <p:cNvSpPr/>
          <p:nvPr/>
        </p:nvSpPr>
        <p:spPr>
          <a:xfrm>
            <a:off x="3724072" y="26999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val 378"/>
          <p:cNvSpPr/>
          <p:nvPr/>
        </p:nvSpPr>
        <p:spPr>
          <a:xfrm>
            <a:off x="3751885" y="26761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val 379"/>
          <p:cNvSpPr/>
          <p:nvPr/>
        </p:nvSpPr>
        <p:spPr>
          <a:xfrm>
            <a:off x="3779697" y="265241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val 380"/>
          <p:cNvSpPr/>
          <p:nvPr/>
        </p:nvSpPr>
        <p:spPr>
          <a:xfrm>
            <a:off x="3807510" y="2628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val 381"/>
          <p:cNvSpPr/>
          <p:nvPr/>
        </p:nvSpPr>
        <p:spPr>
          <a:xfrm>
            <a:off x="3835322" y="26049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val 382"/>
          <p:cNvSpPr/>
          <p:nvPr/>
        </p:nvSpPr>
        <p:spPr>
          <a:xfrm>
            <a:off x="3863135" y="25811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val 383"/>
          <p:cNvSpPr/>
          <p:nvPr/>
        </p:nvSpPr>
        <p:spPr>
          <a:xfrm>
            <a:off x="3656963" y="26801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val 384"/>
          <p:cNvSpPr/>
          <p:nvPr/>
        </p:nvSpPr>
        <p:spPr>
          <a:xfrm>
            <a:off x="3683444" y="26548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val 385"/>
          <p:cNvSpPr/>
          <p:nvPr/>
        </p:nvSpPr>
        <p:spPr>
          <a:xfrm>
            <a:off x="3709924" y="26296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val 386"/>
          <p:cNvSpPr/>
          <p:nvPr/>
        </p:nvSpPr>
        <p:spPr>
          <a:xfrm>
            <a:off x="3736405" y="26044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val 387"/>
          <p:cNvSpPr/>
          <p:nvPr/>
        </p:nvSpPr>
        <p:spPr>
          <a:xfrm>
            <a:off x="3762885" y="257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val 388"/>
          <p:cNvSpPr/>
          <p:nvPr/>
        </p:nvSpPr>
        <p:spPr>
          <a:xfrm>
            <a:off x="3789366" y="25539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val 389"/>
          <p:cNvSpPr/>
          <p:nvPr/>
        </p:nvSpPr>
        <p:spPr>
          <a:xfrm>
            <a:off x="3815847" y="25287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val 390"/>
          <p:cNvSpPr/>
          <p:nvPr/>
        </p:nvSpPr>
        <p:spPr>
          <a:xfrm>
            <a:off x="3615358" y="26387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val 391"/>
          <p:cNvSpPr/>
          <p:nvPr/>
        </p:nvSpPr>
        <p:spPr>
          <a:xfrm>
            <a:off x="3640428" y="26121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val 392"/>
          <p:cNvSpPr/>
          <p:nvPr/>
        </p:nvSpPr>
        <p:spPr>
          <a:xfrm>
            <a:off x="3665499" y="25855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val 393"/>
          <p:cNvSpPr/>
          <p:nvPr/>
        </p:nvSpPr>
        <p:spPr>
          <a:xfrm>
            <a:off x="3690569" y="25588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val 394"/>
          <p:cNvSpPr/>
          <p:nvPr/>
        </p:nvSpPr>
        <p:spPr>
          <a:xfrm>
            <a:off x="3715639" y="2532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val 395"/>
          <p:cNvSpPr/>
          <p:nvPr/>
        </p:nvSpPr>
        <p:spPr>
          <a:xfrm>
            <a:off x="3740709" y="25056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val 396"/>
          <p:cNvSpPr/>
          <p:nvPr/>
        </p:nvSpPr>
        <p:spPr>
          <a:xfrm>
            <a:off x="3765779" y="24789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val 397"/>
          <p:cNvSpPr/>
          <p:nvPr/>
        </p:nvSpPr>
        <p:spPr>
          <a:xfrm>
            <a:off x="3571567" y="25997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val 398"/>
          <p:cNvSpPr/>
          <p:nvPr/>
        </p:nvSpPr>
        <p:spPr>
          <a:xfrm>
            <a:off x="3595153" y="25717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val 399"/>
          <p:cNvSpPr/>
          <p:nvPr/>
        </p:nvSpPr>
        <p:spPr>
          <a:xfrm>
            <a:off x="3618739" y="25438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val 400"/>
          <p:cNvSpPr/>
          <p:nvPr/>
        </p:nvSpPr>
        <p:spPr>
          <a:xfrm>
            <a:off x="3642324" y="25158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val 401"/>
          <p:cNvSpPr/>
          <p:nvPr/>
        </p:nvSpPr>
        <p:spPr>
          <a:xfrm>
            <a:off x="3665910" y="24879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val 402"/>
          <p:cNvSpPr/>
          <p:nvPr/>
        </p:nvSpPr>
        <p:spPr>
          <a:xfrm>
            <a:off x="3689496" y="24599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val 403"/>
          <p:cNvSpPr/>
          <p:nvPr/>
        </p:nvSpPr>
        <p:spPr>
          <a:xfrm>
            <a:off x="3713082" y="24320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val 404"/>
          <p:cNvSpPr/>
          <p:nvPr/>
        </p:nvSpPr>
        <p:spPr>
          <a:xfrm>
            <a:off x="3525719" y="25631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val 405"/>
          <p:cNvSpPr/>
          <p:nvPr/>
        </p:nvSpPr>
        <p:spPr>
          <a:xfrm>
            <a:off x="3547751" y="25339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val 406"/>
          <p:cNvSpPr/>
          <p:nvPr/>
        </p:nvSpPr>
        <p:spPr>
          <a:xfrm>
            <a:off x="3569783" y="250475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val 407"/>
          <p:cNvSpPr/>
          <p:nvPr/>
        </p:nvSpPr>
        <p:spPr>
          <a:xfrm>
            <a:off x="3591814" y="247555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val 408"/>
          <p:cNvSpPr/>
          <p:nvPr/>
        </p:nvSpPr>
        <p:spPr>
          <a:xfrm>
            <a:off x="3613846" y="24463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val 409"/>
          <p:cNvSpPr/>
          <p:nvPr/>
        </p:nvSpPr>
        <p:spPr>
          <a:xfrm>
            <a:off x="3635877" y="24171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val 410"/>
          <p:cNvSpPr/>
          <p:nvPr/>
        </p:nvSpPr>
        <p:spPr>
          <a:xfrm>
            <a:off x="3657909" y="2387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val 411"/>
          <p:cNvSpPr/>
          <p:nvPr/>
        </p:nvSpPr>
        <p:spPr>
          <a:xfrm>
            <a:off x="3477951" y="25290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val 412"/>
          <p:cNvSpPr/>
          <p:nvPr/>
        </p:nvSpPr>
        <p:spPr>
          <a:xfrm>
            <a:off x="3498363" y="24987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val 413"/>
          <p:cNvSpPr/>
          <p:nvPr/>
        </p:nvSpPr>
        <p:spPr>
          <a:xfrm>
            <a:off x="3518775" y="24683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val 414"/>
          <p:cNvSpPr/>
          <p:nvPr/>
        </p:nvSpPr>
        <p:spPr>
          <a:xfrm>
            <a:off x="3539188" y="24380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val 415"/>
          <p:cNvSpPr/>
          <p:nvPr/>
        </p:nvSpPr>
        <p:spPr>
          <a:xfrm>
            <a:off x="3559600" y="240769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val 416"/>
          <p:cNvSpPr/>
          <p:nvPr/>
        </p:nvSpPr>
        <p:spPr>
          <a:xfrm>
            <a:off x="3580012" y="23773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val 417"/>
          <p:cNvSpPr/>
          <p:nvPr/>
        </p:nvSpPr>
        <p:spPr>
          <a:xfrm>
            <a:off x="3600425" y="23469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val 418"/>
          <p:cNvSpPr/>
          <p:nvPr/>
        </p:nvSpPr>
        <p:spPr>
          <a:xfrm>
            <a:off x="3428402" y="2497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val 419"/>
          <p:cNvSpPr/>
          <p:nvPr/>
        </p:nvSpPr>
        <p:spPr>
          <a:xfrm>
            <a:off x="3447135" y="24662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val 420"/>
          <p:cNvSpPr/>
          <p:nvPr/>
        </p:nvSpPr>
        <p:spPr>
          <a:xfrm>
            <a:off x="3465867" y="2434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val 421"/>
          <p:cNvSpPr/>
          <p:nvPr/>
        </p:nvSpPr>
        <p:spPr>
          <a:xfrm>
            <a:off x="3484600" y="24034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val 422"/>
          <p:cNvSpPr/>
          <p:nvPr/>
        </p:nvSpPr>
        <p:spPr>
          <a:xfrm>
            <a:off x="3503333" y="23720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val 423"/>
          <p:cNvSpPr/>
          <p:nvPr/>
        </p:nvSpPr>
        <p:spPr>
          <a:xfrm>
            <a:off x="3522066" y="23406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val 424"/>
          <p:cNvSpPr/>
          <p:nvPr/>
        </p:nvSpPr>
        <p:spPr>
          <a:xfrm>
            <a:off x="3540798" y="23092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val 425"/>
          <p:cNvSpPr/>
          <p:nvPr/>
        </p:nvSpPr>
        <p:spPr>
          <a:xfrm>
            <a:off x="3377220" y="2469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val 426"/>
          <p:cNvSpPr/>
          <p:nvPr/>
        </p:nvSpPr>
        <p:spPr>
          <a:xfrm>
            <a:off x="3394218" y="24366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val 427"/>
          <p:cNvSpPr/>
          <p:nvPr/>
        </p:nvSpPr>
        <p:spPr>
          <a:xfrm>
            <a:off x="3411216" y="240425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val 428"/>
          <p:cNvSpPr/>
          <p:nvPr/>
        </p:nvSpPr>
        <p:spPr>
          <a:xfrm>
            <a:off x="3428213" y="23718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val 429"/>
          <p:cNvSpPr/>
          <p:nvPr/>
        </p:nvSpPr>
        <p:spPr>
          <a:xfrm>
            <a:off x="3445211" y="23394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val 430"/>
          <p:cNvSpPr/>
          <p:nvPr/>
        </p:nvSpPr>
        <p:spPr>
          <a:xfrm>
            <a:off x="3462209" y="230709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val 431"/>
          <p:cNvSpPr/>
          <p:nvPr/>
        </p:nvSpPr>
        <p:spPr>
          <a:xfrm>
            <a:off x="3479206" y="22747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val 432"/>
          <p:cNvSpPr/>
          <p:nvPr/>
        </p:nvSpPr>
        <p:spPr>
          <a:xfrm>
            <a:off x="3324556" y="24431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val 433"/>
          <p:cNvSpPr/>
          <p:nvPr/>
        </p:nvSpPr>
        <p:spPr>
          <a:xfrm>
            <a:off x="3339768" y="24099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val 434"/>
          <p:cNvSpPr/>
          <p:nvPr/>
        </p:nvSpPr>
        <p:spPr>
          <a:xfrm>
            <a:off x="3354981" y="237666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val 435"/>
          <p:cNvSpPr/>
          <p:nvPr/>
        </p:nvSpPr>
        <p:spPr>
          <a:xfrm>
            <a:off x="3370193" y="23434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val 436"/>
          <p:cNvSpPr/>
          <p:nvPr/>
        </p:nvSpPr>
        <p:spPr>
          <a:xfrm>
            <a:off x="3385406" y="23101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val 437"/>
          <p:cNvSpPr/>
          <p:nvPr/>
        </p:nvSpPr>
        <p:spPr>
          <a:xfrm>
            <a:off x="3400618" y="22768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val 438"/>
          <p:cNvSpPr/>
          <p:nvPr/>
        </p:nvSpPr>
        <p:spPr>
          <a:xfrm>
            <a:off x="3415831" y="224361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val 439"/>
          <p:cNvSpPr/>
          <p:nvPr/>
        </p:nvSpPr>
        <p:spPr>
          <a:xfrm>
            <a:off x="3270565" y="24202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val 440"/>
          <p:cNvSpPr/>
          <p:nvPr/>
        </p:nvSpPr>
        <p:spPr>
          <a:xfrm>
            <a:off x="3283948" y="23862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val 441"/>
          <p:cNvSpPr/>
          <p:nvPr/>
        </p:nvSpPr>
        <p:spPr>
          <a:xfrm>
            <a:off x="3297330" y="235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val 442"/>
          <p:cNvSpPr/>
          <p:nvPr/>
        </p:nvSpPr>
        <p:spPr>
          <a:xfrm>
            <a:off x="3310712" y="231812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val 443"/>
          <p:cNvSpPr/>
          <p:nvPr/>
        </p:nvSpPr>
        <p:spPr>
          <a:xfrm>
            <a:off x="3324095" y="22840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val 444"/>
          <p:cNvSpPr/>
          <p:nvPr/>
        </p:nvSpPr>
        <p:spPr>
          <a:xfrm>
            <a:off x="3337477" y="22500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val 445"/>
          <p:cNvSpPr/>
          <p:nvPr/>
        </p:nvSpPr>
        <p:spPr>
          <a:xfrm>
            <a:off x="3350859" y="22160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3215408" y="24002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val 447"/>
          <p:cNvSpPr/>
          <p:nvPr/>
        </p:nvSpPr>
        <p:spPr>
          <a:xfrm>
            <a:off x="3226921" y="2365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val 448"/>
          <p:cNvSpPr/>
          <p:nvPr/>
        </p:nvSpPr>
        <p:spPr>
          <a:xfrm>
            <a:off x="3238433" y="233084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val 449"/>
          <p:cNvSpPr/>
          <p:nvPr/>
        </p:nvSpPr>
        <p:spPr>
          <a:xfrm>
            <a:off x="3249946" y="22961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val 450"/>
          <p:cNvSpPr/>
          <p:nvPr/>
        </p:nvSpPr>
        <p:spPr>
          <a:xfrm>
            <a:off x="3261458" y="226141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val 451"/>
          <p:cNvSpPr/>
          <p:nvPr/>
        </p:nvSpPr>
        <p:spPr>
          <a:xfrm>
            <a:off x="3272971" y="22266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val 452"/>
          <p:cNvSpPr/>
          <p:nvPr/>
        </p:nvSpPr>
        <p:spPr>
          <a:xfrm>
            <a:off x="3284483" y="219197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val 453"/>
          <p:cNvSpPr/>
          <p:nvPr/>
        </p:nvSpPr>
        <p:spPr>
          <a:xfrm>
            <a:off x="3159247" y="238333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val 454"/>
          <p:cNvSpPr/>
          <p:nvPr/>
        </p:nvSpPr>
        <p:spPr>
          <a:xfrm>
            <a:off x="3168855" y="23480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val 455"/>
          <p:cNvSpPr/>
          <p:nvPr/>
        </p:nvSpPr>
        <p:spPr>
          <a:xfrm>
            <a:off x="3178464" y="23127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val 456"/>
          <p:cNvSpPr/>
          <p:nvPr/>
        </p:nvSpPr>
        <p:spPr>
          <a:xfrm>
            <a:off x="3188073" y="22774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val 457"/>
          <p:cNvSpPr/>
          <p:nvPr/>
        </p:nvSpPr>
        <p:spPr>
          <a:xfrm>
            <a:off x="3197682" y="224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val 458"/>
          <p:cNvSpPr/>
          <p:nvPr/>
        </p:nvSpPr>
        <p:spPr>
          <a:xfrm>
            <a:off x="3207291" y="22068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3216899" y="217158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val 460"/>
          <p:cNvSpPr/>
          <p:nvPr/>
        </p:nvSpPr>
        <p:spPr>
          <a:xfrm>
            <a:off x="3102248" y="2369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val 461"/>
          <p:cNvSpPr/>
          <p:nvPr/>
        </p:nvSpPr>
        <p:spPr>
          <a:xfrm>
            <a:off x="3109924" y="23337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val 462"/>
          <p:cNvSpPr/>
          <p:nvPr/>
        </p:nvSpPr>
        <p:spPr>
          <a:xfrm>
            <a:off x="3117601" y="229794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val 463"/>
          <p:cNvSpPr/>
          <p:nvPr/>
        </p:nvSpPr>
        <p:spPr>
          <a:xfrm>
            <a:off x="3125277" y="22621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val 464"/>
          <p:cNvSpPr/>
          <p:nvPr/>
        </p:nvSpPr>
        <p:spPr>
          <a:xfrm>
            <a:off x="3132954" y="222642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val 465"/>
          <p:cNvSpPr/>
          <p:nvPr/>
        </p:nvSpPr>
        <p:spPr>
          <a:xfrm>
            <a:off x="3140631" y="2190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val 466"/>
          <p:cNvSpPr/>
          <p:nvPr/>
        </p:nvSpPr>
        <p:spPr>
          <a:xfrm>
            <a:off x="3148307" y="21549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val 467"/>
          <p:cNvSpPr/>
          <p:nvPr/>
        </p:nvSpPr>
        <p:spPr>
          <a:xfrm>
            <a:off x="3044579" y="235872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val 468"/>
          <p:cNvSpPr/>
          <p:nvPr/>
        </p:nvSpPr>
        <p:spPr>
          <a:xfrm>
            <a:off x="3050301" y="23225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val 469"/>
          <p:cNvSpPr/>
          <p:nvPr/>
        </p:nvSpPr>
        <p:spPr>
          <a:xfrm>
            <a:off x="3056023" y="2286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val 470"/>
          <p:cNvSpPr/>
          <p:nvPr/>
        </p:nvSpPr>
        <p:spPr>
          <a:xfrm>
            <a:off x="3061744" y="22503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val 471"/>
          <p:cNvSpPr/>
          <p:nvPr/>
        </p:nvSpPr>
        <p:spPr>
          <a:xfrm>
            <a:off x="3067466" y="22142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3073188" y="21780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val 473"/>
          <p:cNvSpPr/>
          <p:nvPr/>
        </p:nvSpPr>
        <p:spPr>
          <a:xfrm>
            <a:off x="3078910" y="2141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val 474"/>
          <p:cNvSpPr/>
          <p:nvPr/>
        </p:nvSpPr>
        <p:spPr>
          <a:xfrm>
            <a:off x="191566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val 475"/>
          <p:cNvSpPr/>
          <p:nvPr/>
        </p:nvSpPr>
        <p:spPr>
          <a:xfrm>
            <a:off x="186537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val 476"/>
          <p:cNvSpPr/>
          <p:nvPr/>
        </p:nvSpPr>
        <p:spPr>
          <a:xfrm>
            <a:off x="181508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val 477"/>
          <p:cNvSpPr/>
          <p:nvPr/>
        </p:nvSpPr>
        <p:spPr>
          <a:xfrm>
            <a:off x="176479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val 478"/>
          <p:cNvSpPr/>
          <p:nvPr/>
        </p:nvSpPr>
        <p:spPr>
          <a:xfrm>
            <a:off x="1714500"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val 479"/>
          <p:cNvSpPr/>
          <p:nvPr/>
        </p:nvSpPr>
        <p:spPr>
          <a:xfrm>
            <a:off x="16642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val 480"/>
          <p:cNvSpPr/>
          <p:nvPr/>
        </p:nvSpPr>
        <p:spPr>
          <a:xfrm>
            <a:off x="16139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val 481"/>
          <p:cNvSpPr/>
          <p:nvPr/>
        </p:nvSpPr>
        <p:spPr>
          <a:xfrm>
            <a:off x="15636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val 482"/>
          <p:cNvSpPr/>
          <p:nvPr/>
        </p:nvSpPr>
        <p:spPr>
          <a:xfrm>
            <a:off x="15133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p:cNvSpPr txBox="1"/>
          <p:nvPr/>
        </p:nvSpPr>
        <p:spPr>
          <a:xfrm>
            <a:off x="1170432" y="3364991"/>
            <a:ext cx="365760" cy="219456"/>
          </a:xfrm>
          <a:prstGeom prst="rect">
            <a:avLst/>
          </a:prstGeom>
          <a:noFill/>
        </p:spPr>
        <p:txBody>
          <a:bodyPr wrap="square">
            <a:spAutoFit/>
          </a:bodyPr>
          <a:lstStyle/>
          <a:p>
            <a:pPr algn="ctr"/>
            <a:r>
              <a:rPr sz="800" b="0" i="0">
                <a:solidFill>
                  <a:srgbClr val="404040"/>
                </a:solidFill>
              </a:rPr>
              <a:t>0.00</a:t>
            </a:r>
          </a:p>
        </p:txBody>
      </p:sp>
      <p:sp>
        <p:nvSpPr>
          <p:cNvPr id="485" name="Oval 484"/>
          <p:cNvSpPr/>
          <p:nvPr/>
        </p:nvSpPr>
        <p:spPr>
          <a:xfrm>
            <a:off x="2204915"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val 485"/>
          <p:cNvSpPr/>
          <p:nvPr/>
        </p:nvSpPr>
        <p:spPr>
          <a:xfrm>
            <a:off x="2169353"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val 486"/>
          <p:cNvSpPr/>
          <p:nvPr/>
        </p:nvSpPr>
        <p:spPr>
          <a:xfrm>
            <a:off x="2133791"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val 487"/>
          <p:cNvSpPr/>
          <p:nvPr/>
        </p:nvSpPr>
        <p:spPr>
          <a:xfrm>
            <a:off x="2098229"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val 488"/>
          <p:cNvSpPr/>
          <p:nvPr/>
        </p:nvSpPr>
        <p:spPr>
          <a:xfrm>
            <a:off x="2062668"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val 489"/>
          <p:cNvSpPr/>
          <p:nvPr/>
        </p:nvSpPr>
        <p:spPr>
          <a:xfrm>
            <a:off x="2027106"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val 490"/>
          <p:cNvSpPr/>
          <p:nvPr/>
        </p:nvSpPr>
        <p:spPr>
          <a:xfrm>
            <a:off x="1991544"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val 491"/>
          <p:cNvSpPr/>
          <p:nvPr/>
        </p:nvSpPr>
        <p:spPr>
          <a:xfrm>
            <a:off x="1955982"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val 492"/>
          <p:cNvSpPr/>
          <p:nvPr/>
        </p:nvSpPr>
        <p:spPr>
          <a:xfrm>
            <a:off x="1920420"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1631085" y="2252877"/>
            <a:ext cx="365760" cy="219456"/>
          </a:xfrm>
          <a:prstGeom prst="rect">
            <a:avLst/>
          </a:prstGeom>
          <a:noFill/>
        </p:spPr>
        <p:txBody>
          <a:bodyPr wrap="square">
            <a:spAutoFit/>
          </a:bodyPr>
          <a:lstStyle/>
          <a:p>
            <a:pPr algn="ctr"/>
            <a:r>
              <a:rPr sz="800" b="0" i="0">
                <a:solidFill>
                  <a:srgbClr val="404040"/>
                </a:solidFill>
              </a:rPr>
              <a:t>0.50</a:t>
            </a:r>
          </a:p>
        </p:txBody>
      </p:sp>
      <p:sp>
        <p:nvSpPr>
          <p:cNvPr id="495" name="Oval 494"/>
          <p:cNvSpPr/>
          <p:nvPr/>
        </p:nvSpPr>
        <p:spPr>
          <a:xfrm>
            <a:off x="2525300"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val 495"/>
          <p:cNvSpPr/>
          <p:nvPr/>
        </p:nvSpPr>
        <p:spPr>
          <a:xfrm>
            <a:off x="2506054"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val 496"/>
          <p:cNvSpPr/>
          <p:nvPr/>
        </p:nvSpPr>
        <p:spPr>
          <a:xfrm>
            <a:off x="2486808"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val 497"/>
          <p:cNvSpPr/>
          <p:nvPr/>
        </p:nvSpPr>
        <p:spPr>
          <a:xfrm>
            <a:off x="2467562"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val 498"/>
          <p:cNvSpPr/>
          <p:nvPr/>
        </p:nvSpPr>
        <p:spPr>
          <a:xfrm>
            <a:off x="2448316"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val 499"/>
          <p:cNvSpPr/>
          <p:nvPr/>
        </p:nvSpPr>
        <p:spPr>
          <a:xfrm>
            <a:off x="2429070"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val 500"/>
          <p:cNvSpPr/>
          <p:nvPr/>
        </p:nvSpPr>
        <p:spPr>
          <a:xfrm>
            <a:off x="2409824"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val 501"/>
          <p:cNvSpPr/>
          <p:nvPr/>
        </p:nvSpPr>
        <p:spPr>
          <a:xfrm>
            <a:off x="2390578"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val 502"/>
          <p:cNvSpPr/>
          <p:nvPr/>
        </p:nvSpPr>
        <p:spPr>
          <a:xfrm>
            <a:off x="2371332"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p:cNvSpPr txBox="1"/>
          <p:nvPr/>
        </p:nvSpPr>
        <p:spPr>
          <a:xfrm>
            <a:off x="2141327" y="1911943"/>
            <a:ext cx="365760" cy="219456"/>
          </a:xfrm>
          <a:prstGeom prst="rect">
            <a:avLst/>
          </a:prstGeom>
          <a:noFill/>
        </p:spPr>
        <p:txBody>
          <a:bodyPr wrap="square">
            <a:spAutoFit/>
          </a:bodyPr>
          <a:lstStyle/>
          <a:p>
            <a:pPr algn="ctr"/>
            <a:r>
              <a:rPr sz="800" b="1" i="0">
                <a:solidFill>
                  <a:srgbClr val="404040"/>
                </a:solidFill>
              </a:rPr>
              <a:t>0.75</a:t>
            </a:r>
          </a:p>
        </p:txBody>
      </p:sp>
      <p:sp>
        <p:nvSpPr>
          <p:cNvPr id="505" name="Oval 504"/>
          <p:cNvSpPr/>
          <p:nvPr/>
        </p:nvSpPr>
        <p:spPr>
          <a:xfrm>
            <a:off x="2903220" y="2464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val 505"/>
          <p:cNvSpPr/>
          <p:nvPr/>
        </p:nvSpPr>
        <p:spPr>
          <a:xfrm>
            <a:off x="2903220" y="241401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val 506"/>
          <p:cNvSpPr/>
          <p:nvPr/>
        </p:nvSpPr>
        <p:spPr>
          <a:xfrm>
            <a:off x="2903220" y="236372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val 507"/>
          <p:cNvSpPr/>
          <p:nvPr/>
        </p:nvSpPr>
        <p:spPr>
          <a:xfrm>
            <a:off x="2903220" y="231343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val 508"/>
          <p:cNvSpPr/>
          <p:nvPr/>
        </p:nvSpPr>
        <p:spPr>
          <a:xfrm>
            <a:off x="2903220" y="226314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val 509"/>
          <p:cNvSpPr/>
          <p:nvPr/>
        </p:nvSpPr>
        <p:spPr>
          <a:xfrm>
            <a:off x="2903220" y="221284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val 510"/>
          <p:cNvSpPr/>
          <p:nvPr/>
        </p:nvSpPr>
        <p:spPr>
          <a:xfrm>
            <a:off x="2903220" y="216255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val 511"/>
          <p:cNvSpPr/>
          <p:nvPr/>
        </p:nvSpPr>
        <p:spPr>
          <a:xfrm>
            <a:off x="2903220" y="211226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val 512"/>
          <p:cNvSpPr/>
          <p:nvPr/>
        </p:nvSpPr>
        <p:spPr>
          <a:xfrm>
            <a:off x="2903220" y="206197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TextBox 513"/>
          <p:cNvSpPr txBox="1"/>
          <p:nvPr/>
        </p:nvSpPr>
        <p:spPr>
          <a:xfrm>
            <a:off x="2743200" y="1792224"/>
            <a:ext cx="365760" cy="219456"/>
          </a:xfrm>
          <a:prstGeom prst="rect">
            <a:avLst/>
          </a:prstGeom>
          <a:noFill/>
        </p:spPr>
        <p:txBody>
          <a:bodyPr wrap="square">
            <a:spAutoFit/>
          </a:bodyPr>
          <a:lstStyle/>
          <a:p>
            <a:pPr algn="ctr"/>
            <a:r>
              <a:rPr sz="800" b="1" i="0">
                <a:solidFill>
                  <a:srgbClr val="404040"/>
                </a:solidFill>
              </a:rPr>
              <a:t>1.00</a:t>
            </a:r>
          </a:p>
        </p:txBody>
      </p:sp>
      <p:sp>
        <p:nvSpPr>
          <p:cNvPr id="515" name="Oval 514"/>
          <p:cNvSpPr/>
          <p:nvPr/>
        </p:nvSpPr>
        <p:spPr>
          <a:xfrm>
            <a:off x="3281139"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val 515"/>
          <p:cNvSpPr/>
          <p:nvPr/>
        </p:nvSpPr>
        <p:spPr>
          <a:xfrm>
            <a:off x="3300385"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val 516"/>
          <p:cNvSpPr/>
          <p:nvPr/>
        </p:nvSpPr>
        <p:spPr>
          <a:xfrm>
            <a:off x="3319631"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val 517"/>
          <p:cNvSpPr/>
          <p:nvPr/>
        </p:nvSpPr>
        <p:spPr>
          <a:xfrm>
            <a:off x="3338877"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val 518"/>
          <p:cNvSpPr/>
          <p:nvPr/>
        </p:nvSpPr>
        <p:spPr>
          <a:xfrm>
            <a:off x="3358123"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val 519"/>
          <p:cNvSpPr/>
          <p:nvPr/>
        </p:nvSpPr>
        <p:spPr>
          <a:xfrm>
            <a:off x="3377369"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val 520"/>
          <p:cNvSpPr/>
          <p:nvPr/>
        </p:nvSpPr>
        <p:spPr>
          <a:xfrm>
            <a:off x="3396615"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val 521"/>
          <p:cNvSpPr/>
          <p:nvPr/>
        </p:nvSpPr>
        <p:spPr>
          <a:xfrm>
            <a:off x="3415861"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val 522"/>
          <p:cNvSpPr/>
          <p:nvPr/>
        </p:nvSpPr>
        <p:spPr>
          <a:xfrm>
            <a:off x="3435107"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p:cNvSpPr txBox="1"/>
          <p:nvPr/>
        </p:nvSpPr>
        <p:spPr>
          <a:xfrm>
            <a:off x="3345072" y="1911943"/>
            <a:ext cx="365760" cy="219456"/>
          </a:xfrm>
          <a:prstGeom prst="rect">
            <a:avLst/>
          </a:prstGeom>
          <a:noFill/>
        </p:spPr>
        <p:txBody>
          <a:bodyPr wrap="square">
            <a:spAutoFit/>
          </a:bodyPr>
          <a:lstStyle/>
          <a:p>
            <a:pPr algn="ctr"/>
            <a:r>
              <a:rPr sz="800" b="0" i="0">
                <a:solidFill>
                  <a:srgbClr val="404040"/>
                </a:solidFill>
              </a:rPr>
              <a:t>1.25</a:t>
            </a:r>
          </a:p>
        </p:txBody>
      </p:sp>
      <p:sp>
        <p:nvSpPr>
          <p:cNvPr id="525" name="Oval 524"/>
          <p:cNvSpPr/>
          <p:nvPr/>
        </p:nvSpPr>
        <p:spPr>
          <a:xfrm>
            <a:off x="3601524"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val 525"/>
          <p:cNvSpPr/>
          <p:nvPr/>
        </p:nvSpPr>
        <p:spPr>
          <a:xfrm>
            <a:off x="3637086"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val 526"/>
          <p:cNvSpPr/>
          <p:nvPr/>
        </p:nvSpPr>
        <p:spPr>
          <a:xfrm>
            <a:off x="3672648"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val 527"/>
          <p:cNvSpPr/>
          <p:nvPr/>
        </p:nvSpPr>
        <p:spPr>
          <a:xfrm>
            <a:off x="3708210"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val 528"/>
          <p:cNvSpPr/>
          <p:nvPr/>
        </p:nvSpPr>
        <p:spPr>
          <a:xfrm>
            <a:off x="3743771"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val 529"/>
          <p:cNvSpPr/>
          <p:nvPr/>
        </p:nvSpPr>
        <p:spPr>
          <a:xfrm>
            <a:off x="3779333"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val 530"/>
          <p:cNvSpPr/>
          <p:nvPr/>
        </p:nvSpPr>
        <p:spPr>
          <a:xfrm>
            <a:off x="3814895"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val 531"/>
          <p:cNvSpPr/>
          <p:nvPr/>
        </p:nvSpPr>
        <p:spPr>
          <a:xfrm>
            <a:off x="3850457"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val 532"/>
          <p:cNvSpPr/>
          <p:nvPr/>
        </p:nvSpPr>
        <p:spPr>
          <a:xfrm>
            <a:off x="3886019"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TextBox 533"/>
          <p:cNvSpPr txBox="1"/>
          <p:nvPr/>
        </p:nvSpPr>
        <p:spPr>
          <a:xfrm>
            <a:off x="3855314" y="2252877"/>
            <a:ext cx="365760" cy="219456"/>
          </a:xfrm>
          <a:prstGeom prst="rect">
            <a:avLst/>
          </a:prstGeom>
          <a:noFill/>
        </p:spPr>
        <p:txBody>
          <a:bodyPr wrap="square">
            <a:spAutoFit/>
          </a:bodyPr>
          <a:lstStyle/>
          <a:p>
            <a:pPr algn="ctr"/>
            <a:r>
              <a:rPr sz="800" b="0" i="0">
                <a:solidFill>
                  <a:srgbClr val="404040"/>
                </a:solidFill>
              </a:rPr>
              <a:t>1.50</a:t>
            </a:r>
          </a:p>
        </p:txBody>
      </p:sp>
      <p:sp>
        <p:nvSpPr>
          <p:cNvPr id="535" name="Oval 534"/>
          <p:cNvSpPr/>
          <p:nvPr/>
        </p:nvSpPr>
        <p:spPr>
          <a:xfrm>
            <a:off x="389077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val 535"/>
          <p:cNvSpPr/>
          <p:nvPr/>
        </p:nvSpPr>
        <p:spPr>
          <a:xfrm>
            <a:off x="3941063"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val 536"/>
          <p:cNvSpPr/>
          <p:nvPr/>
        </p:nvSpPr>
        <p:spPr>
          <a:xfrm>
            <a:off x="399135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val 537"/>
          <p:cNvSpPr/>
          <p:nvPr/>
        </p:nvSpPr>
        <p:spPr>
          <a:xfrm>
            <a:off x="404164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val 538"/>
          <p:cNvSpPr/>
          <p:nvPr/>
        </p:nvSpPr>
        <p:spPr>
          <a:xfrm>
            <a:off x="4091939"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val 539"/>
          <p:cNvSpPr/>
          <p:nvPr/>
        </p:nvSpPr>
        <p:spPr>
          <a:xfrm>
            <a:off x="41422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val 540"/>
          <p:cNvSpPr/>
          <p:nvPr/>
        </p:nvSpPr>
        <p:spPr>
          <a:xfrm>
            <a:off x="41925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val 541"/>
          <p:cNvSpPr/>
          <p:nvPr/>
        </p:nvSpPr>
        <p:spPr>
          <a:xfrm>
            <a:off x="42428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val 542"/>
          <p:cNvSpPr/>
          <p:nvPr/>
        </p:nvSpPr>
        <p:spPr>
          <a:xfrm>
            <a:off x="42931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TextBox 543"/>
          <p:cNvSpPr txBox="1"/>
          <p:nvPr/>
        </p:nvSpPr>
        <p:spPr>
          <a:xfrm>
            <a:off x="4315968" y="3364991"/>
            <a:ext cx="365760" cy="219456"/>
          </a:xfrm>
          <a:prstGeom prst="rect">
            <a:avLst/>
          </a:prstGeom>
          <a:noFill/>
        </p:spPr>
        <p:txBody>
          <a:bodyPr wrap="square">
            <a:spAutoFit/>
          </a:bodyPr>
          <a:lstStyle/>
          <a:p>
            <a:pPr algn="ctr"/>
            <a:r>
              <a:rPr sz="800" b="0" i="0">
                <a:solidFill>
                  <a:srgbClr val="404040"/>
                </a:solidFill>
              </a:rPr>
              <a:t>2.00</a:t>
            </a:r>
          </a:p>
        </p:txBody>
      </p:sp>
      <p:sp>
        <p:nvSpPr>
          <p:cNvPr id="545" name="Oval 544"/>
          <p:cNvSpPr/>
          <p:nvPr/>
        </p:nvSpPr>
        <p:spPr>
          <a:xfrm>
            <a:off x="2889504" y="343814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val 545"/>
          <p:cNvSpPr/>
          <p:nvPr/>
        </p:nvSpPr>
        <p:spPr>
          <a:xfrm>
            <a:off x="2874807" y="340266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val 546"/>
          <p:cNvSpPr/>
          <p:nvPr/>
        </p:nvSpPr>
        <p:spPr>
          <a:xfrm>
            <a:off x="2860110" y="336718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val 547"/>
          <p:cNvSpPr/>
          <p:nvPr/>
        </p:nvSpPr>
        <p:spPr>
          <a:xfrm>
            <a:off x="2845413" y="333169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val 548"/>
          <p:cNvSpPr/>
          <p:nvPr/>
        </p:nvSpPr>
        <p:spPr>
          <a:xfrm>
            <a:off x="2830716" y="329621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val 549"/>
          <p:cNvSpPr/>
          <p:nvPr/>
        </p:nvSpPr>
        <p:spPr>
          <a:xfrm>
            <a:off x="2816019" y="3260736"/>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val 550"/>
          <p:cNvSpPr/>
          <p:nvPr/>
        </p:nvSpPr>
        <p:spPr>
          <a:xfrm>
            <a:off x="2801322" y="322525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val 551"/>
          <p:cNvSpPr/>
          <p:nvPr/>
        </p:nvSpPr>
        <p:spPr>
          <a:xfrm>
            <a:off x="2786625" y="318977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val 552"/>
          <p:cNvSpPr/>
          <p:nvPr/>
        </p:nvSpPr>
        <p:spPr>
          <a:xfrm>
            <a:off x="2771928" y="315429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val 553"/>
          <p:cNvSpPr/>
          <p:nvPr/>
        </p:nvSpPr>
        <p:spPr>
          <a:xfrm>
            <a:off x="2757232" y="311881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val 554"/>
          <p:cNvSpPr/>
          <p:nvPr/>
        </p:nvSpPr>
        <p:spPr>
          <a:xfrm>
            <a:off x="2742535" y="308332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val 555"/>
          <p:cNvSpPr/>
          <p:nvPr/>
        </p:nvSpPr>
        <p:spPr>
          <a:xfrm>
            <a:off x="2727838" y="304784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val 556"/>
          <p:cNvSpPr/>
          <p:nvPr/>
        </p:nvSpPr>
        <p:spPr>
          <a:xfrm>
            <a:off x="2713141" y="301236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val 557"/>
          <p:cNvSpPr/>
          <p:nvPr/>
        </p:nvSpPr>
        <p:spPr>
          <a:xfrm>
            <a:off x="2698444" y="297688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val 558"/>
          <p:cNvSpPr/>
          <p:nvPr/>
        </p:nvSpPr>
        <p:spPr>
          <a:xfrm>
            <a:off x="2683747" y="294140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val 559"/>
          <p:cNvSpPr/>
          <p:nvPr/>
        </p:nvSpPr>
        <p:spPr>
          <a:xfrm>
            <a:off x="2669050" y="290592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val 560"/>
          <p:cNvSpPr/>
          <p:nvPr/>
        </p:nvSpPr>
        <p:spPr>
          <a:xfrm>
            <a:off x="2654353" y="287044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val 561"/>
          <p:cNvSpPr/>
          <p:nvPr/>
        </p:nvSpPr>
        <p:spPr>
          <a:xfrm>
            <a:off x="2639657" y="2834960"/>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val 562"/>
          <p:cNvSpPr/>
          <p:nvPr/>
        </p:nvSpPr>
        <p:spPr>
          <a:xfrm>
            <a:off x="2624960" y="279947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val 563"/>
          <p:cNvSpPr/>
          <p:nvPr/>
        </p:nvSpPr>
        <p:spPr>
          <a:xfrm>
            <a:off x="2610263" y="276399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val 564"/>
          <p:cNvSpPr/>
          <p:nvPr/>
        </p:nvSpPr>
        <p:spPr>
          <a:xfrm>
            <a:off x="2595566" y="272851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val 565"/>
          <p:cNvSpPr/>
          <p:nvPr/>
        </p:nvSpPr>
        <p:spPr>
          <a:xfrm>
            <a:off x="2580869" y="269303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val 566"/>
          <p:cNvSpPr/>
          <p:nvPr/>
        </p:nvSpPr>
        <p:spPr>
          <a:xfrm>
            <a:off x="2579888" y="2671269"/>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val 567"/>
          <p:cNvSpPr/>
          <p:nvPr/>
        </p:nvSpPr>
        <p:spPr>
          <a:xfrm>
            <a:off x="2565191" y="2635787"/>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val 568"/>
          <p:cNvSpPr/>
          <p:nvPr/>
        </p:nvSpPr>
        <p:spPr>
          <a:xfrm>
            <a:off x="2550494" y="2600306"/>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val 569"/>
          <p:cNvSpPr/>
          <p:nvPr/>
        </p:nvSpPr>
        <p:spPr>
          <a:xfrm>
            <a:off x="2535797" y="2564824"/>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val 570"/>
          <p:cNvSpPr/>
          <p:nvPr/>
        </p:nvSpPr>
        <p:spPr>
          <a:xfrm>
            <a:off x="2898648" y="3408883"/>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val 571"/>
          <p:cNvSpPr/>
          <p:nvPr/>
        </p:nvSpPr>
        <p:spPr>
          <a:xfrm>
            <a:off x="2898648" y="337047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val 572"/>
          <p:cNvSpPr/>
          <p:nvPr/>
        </p:nvSpPr>
        <p:spPr>
          <a:xfrm>
            <a:off x="2898648" y="32936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val 573"/>
          <p:cNvSpPr/>
          <p:nvPr/>
        </p:nvSpPr>
        <p:spPr>
          <a:xfrm>
            <a:off x="2898648" y="325526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val 574"/>
          <p:cNvSpPr/>
          <p:nvPr/>
        </p:nvSpPr>
        <p:spPr>
          <a:xfrm>
            <a:off x="2898648" y="317845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val 575"/>
          <p:cNvSpPr/>
          <p:nvPr/>
        </p:nvSpPr>
        <p:spPr>
          <a:xfrm>
            <a:off x="2898648" y="3140049"/>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val 576"/>
          <p:cNvSpPr/>
          <p:nvPr/>
        </p:nvSpPr>
        <p:spPr>
          <a:xfrm>
            <a:off x="2898648" y="306324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val 577"/>
          <p:cNvSpPr/>
          <p:nvPr/>
        </p:nvSpPr>
        <p:spPr>
          <a:xfrm>
            <a:off x="2898648" y="302483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val 578"/>
          <p:cNvSpPr/>
          <p:nvPr/>
        </p:nvSpPr>
        <p:spPr>
          <a:xfrm>
            <a:off x="2898648" y="294802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val 579"/>
          <p:cNvSpPr/>
          <p:nvPr/>
        </p:nvSpPr>
        <p:spPr>
          <a:xfrm>
            <a:off x="2898648" y="290962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val 580"/>
          <p:cNvSpPr/>
          <p:nvPr/>
        </p:nvSpPr>
        <p:spPr>
          <a:xfrm>
            <a:off x="2898648" y="2832811"/>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val 581"/>
          <p:cNvSpPr/>
          <p:nvPr/>
        </p:nvSpPr>
        <p:spPr>
          <a:xfrm>
            <a:off x="2898648" y="279440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val 582"/>
          <p:cNvSpPr/>
          <p:nvPr/>
        </p:nvSpPr>
        <p:spPr>
          <a:xfrm>
            <a:off x="2898648" y="271759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val 583"/>
          <p:cNvSpPr/>
          <p:nvPr/>
        </p:nvSpPr>
        <p:spPr>
          <a:xfrm>
            <a:off x="2898648" y="267919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val 584"/>
          <p:cNvSpPr/>
          <p:nvPr/>
        </p:nvSpPr>
        <p:spPr>
          <a:xfrm>
            <a:off x="2898648" y="260238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val 585"/>
          <p:cNvSpPr/>
          <p:nvPr/>
        </p:nvSpPr>
        <p:spPr>
          <a:xfrm>
            <a:off x="2898648" y="2563977"/>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val 586"/>
          <p:cNvSpPr/>
          <p:nvPr/>
        </p:nvSpPr>
        <p:spPr>
          <a:xfrm>
            <a:off x="2898648" y="24871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val 587"/>
          <p:cNvSpPr/>
          <p:nvPr/>
        </p:nvSpPr>
        <p:spPr>
          <a:xfrm>
            <a:off x="2834640" y="3383279"/>
            <a:ext cx="182880" cy="18288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TextBox 592"/>
          <p:cNvSpPr txBox="1"/>
          <p:nvPr/>
        </p:nvSpPr>
        <p:spPr>
          <a:xfrm>
            <a:off x="434517" y="4206240"/>
            <a:ext cx="182880" cy="182880"/>
          </a:xfrm>
          <a:prstGeom prst="rect">
            <a:avLst/>
          </a:prstGeom>
          <a:noFill/>
        </p:spPr>
        <p:txBody>
          <a:bodyPr wrap="square">
            <a:spAutoFit/>
          </a:bodyPr>
          <a:lstStyle/>
          <a:p>
            <a:pPr algn="l"/>
            <a:r>
              <a:rPr sz="1000" b="0" i="0" dirty="0">
                <a:solidFill>
                  <a:srgbClr val="C00000"/>
                </a:solidFill>
              </a:rPr>
              <a:t>●</a:t>
            </a:r>
          </a:p>
        </p:txBody>
      </p:sp>
      <p:sp>
        <p:nvSpPr>
          <p:cNvPr id="594" name="TextBox 593"/>
          <p:cNvSpPr txBox="1"/>
          <p:nvPr/>
        </p:nvSpPr>
        <p:spPr>
          <a:xfrm>
            <a:off x="594572" y="4215384"/>
            <a:ext cx="2560320" cy="182880"/>
          </a:xfrm>
          <a:prstGeom prst="rect">
            <a:avLst/>
          </a:prstGeom>
          <a:noFill/>
        </p:spPr>
        <p:txBody>
          <a:bodyPr wrap="square">
            <a:spAutoFit/>
          </a:bodyPr>
          <a:lstStyle/>
          <a:p>
            <a:pPr algn="l"/>
            <a:r>
              <a:rPr sz="900" b="0" i="0" dirty="0">
                <a:solidFill>
                  <a:srgbClr val="404040"/>
                </a:solidFill>
              </a:rPr>
              <a:t>Below 0.70 — Critical</a:t>
            </a:r>
          </a:p>
        </p:txBody>
      </p:sp>
      <p:sp>
        <p:nvSpPr>
          <p:cNvPr id="595" name="TextBox 594"/>
          <p:cNvSpPr txBox="1"/>
          <p:nvPr/>
        </p:nvSpPr>
        <p:spPr>
          <a:xfrm>
            <a:off x="441960" y="4398264"/>
            <a:ext cx="182880" cy="182880"/>
          </a:xfrm>
          <a:prstGeom prst="rect">
            <a:avLst/>
          </a:prstGeom>
          <a:noFill/>
        </p:spPr>
        <p:txBody>
          <a:bodyPr wrap="square">
            <a:spAutoFit/>
          </a:bodyPr>
          <a:lstStyle/>
          <a:p>
            <a:pPr algn="l"/>
            <a:r>
              <a:rPr sz="1000" b="0" i="0" dirty="0">
                <a:solidFill>
                  <a:srgbClr val="FFC000"/>
                </a:solidFill>
              </a:rPr>
              <a:t>●</a:t>
            </a:r>
          </a:p>
        </p:txBody>
      </p:sp>
      <p:sp>
        <p:nvSpPr>
          <p:cNvPr id="596" name="TextBox 595"/>
          <p:cNvSpPr txBox="1"/>
          <p:nvPr/>
        </p:nvSpPr>
        <p:spPr>
          <a:xfrm>
            <a:off x="594573" y="4389120"/>
            <a:ext cx="2560320" cy="182880"/>
          </a:xfrm>
          <a:prstGeom prst="rect">
            <a:avLst/>
          </a:prstGeom>
          <a:noFill/>
        </p:spPr>
        <p:txBody>
          <a:bodyPr wrap="square">
            <a:spAutoFit/>
          </a:bodyPr>
          <a:lstStyle/>
          <a:p>
            <a:pPr algn="l"/>
            <a:r>
              <a:rPr sz="900" b="0" i="0" dirty="0">
                <a:solidFill>
                  <a:srgbClr val="404040"/>
                </a:solidFill>
              </a:rPr>
              <a:t>0.70–0.90 — Yellow</a:t>
            </a:r>
          </a:p>
        </p:txBody>
      </p:sp>
      <p:sp>
        <p:nvSpPr>
          <p:cNvPr id="597" name="TextBox 596"/>
          <p:cNvSpPr txBox="1"/>
          <p:nvPr/>
        </p:nvSpPr>
        <p:spPr>
          <a:xfrm>
            <a:off x="441960" y="4580506"/>
            <a:ext cx="182880" cy="182880"/>
          </a:xfrm>
          <a:prstGeom prst="rect">
            <a:avLst/>
          </a:prstGeom>
          <a:noFill/>
        </p:spPr>
        <p:txBody>
          <a:bodyPr wrap="square">
            <a:spAutoFit/>
          </a:bodyPr>
          <a:lstStyle/>
          <a:p>
            <a:pPr algn="l"/>
            <a:r>
              <a:rPr sz="1000" b="0" i="0" dirty="0">
                <a:solidFill>
                  <a:srgbClr val="008000"/>
                </a:solidFill>
              </a:rPr>
              <a:t>●</a:t>
            </a:r>
          </a:p>
        </p:txBody>
      </p:sp>
      <p:sp>
        <p:nvSpPr>
          <p:cNvPr id="598" name="TextBox 597"/>
          <p:cNvSpPr txBox="1"/>
          <p:nvPr/>
        </p:nvSpPr>
        <p:spPr>
          <a:xfrm>
            <a:off x="615838" y="4562830"/>
            <a:ext cx="2560320" cy="182880"/>
          </a:xfrm>
          <a:prstGeom prst="rect">
            <a:avLst/>
          </a:prstGeom>
          <a:noFill/>
        </p:spPr>
        <p:txBody>
          <a:bodyPr wrap="square">
            <a:spAutoFit/>
          </a:bodyPr>
          <a:lstStyle/>
          <a:p>
            <a:pPr algn="l"/>
            <a:r>
              <a:rPr sz="900" b="0" i="0" dirty="0">
                <a:solidFill>
                  <a:srgbClr val="404040"/>
                </a:solidFill>
              </a:rPr>
              <a:t>0.90–1.10 — On Track</a:t>
            </a:r>
          </a:p>
        </p:txBody>
      </p:sp>
      <p:sp>
        <p:nvSpPr>
          <p:cNvPr id="599" name="TextBox 598"/>
          <p:cNvSpPr txBox="1"/>
          <p:nvPr/>
        </p:nvSpPr>
        <p:spPr>
          <a:xfrm>
            <a:off x="442314" y="4745736"/>
            <a:ext cx="182880" cy="182880"/>
          </a:xfrm>
          <a:prstGeom prst="rect">
            <a:avLst/>
          </a:prstGeom>
          <a:noFill/>
        </p:spPr>
        <p:txBody>
          <a:bodyPr wrap="square">
            <a:spAutoFit/>
          </a:bodyPr>
          <a:lstStyle/>
          <a:p>
            <a:pPr algn="l"/>
            <a:r>
              <a:rPr sz="1000" b="0" i="0" dirty="0">
                <a:solidFill>
                  <a:srgbClr val="0033CC"/>
                </a:solidFill>
              </a:rPr>
              <a:t>●</a:t>
            </a:r>
          </a:p>
        </p:txBody>
      </p:sp>
      <p:sp>
        <p:nvSpPr>
          <p:cNvPr id="600" name="TextBox 599"/>
          <p:cNvSpPr txBox="1"/>
          <p:nvPr/>
        </p:nvSpPr>
        <p:spPr>
          <a:xfrm>
            <a:off x="614562" y="4712988"/>
            <a:ext cx="2560320" cy="182880"/>
          </a:xfrm>
          <a:prstGeom prst="rect">
            <a:avLst/>
          </a:prstGeom>
          <a:noFill/>
        </p:spPr>
        <p:txBody>
          <a:bodyPr wrap="square">
            <a:spAutoFit/>
          </a:bodyPr>
          <a:lstStyle/>
          <a:p>
            <a:pPr algn="l"/>
            <a:r>
              <a:rPr sz="900" b="0" i="0" dirty="0">
                <a:solidFill>
                  <a:srgbClr val="404040"/>
                </a:solidFill>
              </a:rPr>
              <a:t>Above 1.10 — Ahead</a:t>
            </a:r>
          </a:p>
        </p:txBody>
      </p:sp>
      <p:sp>
        <p:nvSpPr>
          <p:cNvPr id="601" name="TextBox 600"/>
          <p:cNvSpPr txBox="1"/>
          <p:nvPr/>
        </p:nvSpPr>
        <p:spPr>
          <a:xfrm>
            <a:off x="2486519" y="4226868"/>
            <a:ext cx="2908441" cy="230832"/>
          </a:xfrm>
          <a:prstGeom prst="rect">
            <a:avLst/>
          </a:prstGeom>
          <a:noFill/>
        </p:spPr>
        <p:txBody>
          <a:bodyPr wrap="square">
            <a:spAutoFit/>
          </a:bodyPr>
          <a:lstStyle/>
          <a:p>
            <a:pPr algn="l"/>
            <a:r>
              <a:rPr lang="en-US" sz="900" b="1" dirty="0">
                <a:solidFill>
                  <a:srgbClr val="F7941D"/>
                </a:solidFill>
              </a:rPr>
              <a:t>     --- </a:t>
            </a:r>
            <a:r>
              <a:rPr sz="900" b="1" i="0" dirty="0">
                <a:solidFill>
                  <a:srgbClr val="F7941D"/>
                </a:solidFill>
              </a:rPr>
              <a:t> </a:t>
            </a:r>
            <a:r>
              <a:rPr lang="en-US" sz="900" b="1" i="0" dirty="0">
                <a:solidFill>
                  <a:srgbClr val="F7941D"/>
                </a:solidFill>
              </a:rPr>
              <a:t>February 2026 </a:t>
            </a:r>
            <a:r>
              <a:rPr sz="900" b="1" i="0" dirty="0">
                <a:solidFill>
                  <a:srgbClr val="F7941D"/>
                </a:solidFill>
              </a:rPr>
              <a:t>: 0.75  (Orange)</a:t>
            </a:r>
          </a:p>
        </p:txBody>
      </p:sp>
      <p:sp>
        <p:nvSpPr>
          <p:cNvPr id="602" name="TextBox 601"/>
          <p:cNvSpPr txBox="1"/>
          <p:nvPr/>
        </p:nvSpPr>
        <p:spPr>
          <a:xfrm>
            <a:off x="2608167" y="4437264"/>
            <a:ext cx="2603913" cy="230832"/>
          </a:xfrm>
          <a:prstGeom prst="rect">
            <a:avLst/>
          </a:prstGeom>
          <a:noFill/>
        </p:spPr>
        <p:txBody>
          <a:bodyPr wrap="square">
            <a:spAutoFit/>
          </a:bodyPr>
          <a:lstStyle/>
          <a:p>
            <a:pPr algn="l"/>
            <a:r>
              <a:rPr sz="900" b="0" i="0" dirty="0">
                <a:solidFill>
                  <a:srgbClr val="404040"/>
                </a:solidFill>
              </a:rPr>
              <a:t>╌╌</a:t>
            </a:r>
            <a:r>
              <a:rPr lang="en-US" sz="900" b="0" i="0" dirty="0">
                <a:solidFill>
                  <a:srgbClr val="404040"/>
                </a:solidFill>
              </a:rPr>
              <a:t> </a:t>
            </a:r>
            <a:r>
              <a:rPr sz="900" b="0" i="0" dirty="0">
                <a:solidFill>
                  <a:srgbClr val="404040"/>
                </a:solidFill>
              </a:rPr>
              <a:t> </a:t>
            </a:r>
            <a:r>
              <a:rPr lang="en-US" sz="900" b="0" i="0" dirty="0">
                <a:solidFill>
                  <a:srgbClr val="404040"/>
                </a:solidFill>
              </a:rPr>
              <a:t>January 2026    : </a:t>
            </a:r>
            <a:r>
              <a:rPr sz="900" b="0" i="0" dirty="0">
                <a:solidFill>
                  <a:srgbClr val="404040"/>
                </a:solidFill>
              </a:rPr>
              <a:t> 1.00  (Gray)</a:t>
            </a:r>
          </a:p>
        </p:txBody>
      </p:sp>
      <p:sp>
        <p:nvSpPr>
          <p:cNvPr id="11" name="TextBox 10">
            <a:extLst>
              <a:ext uri="{FF2B5EF4-FFF2-40B4-BE49-F238E27FC236}">
                <a16:creationId xmlns:a16="http://schemas.microsoft.com/office/drawing/2014/main" id="{D8DCC11B-AE40-024F-BFC9-B0646C4365B0}"/>
              </a:ext>
            </a:extLst>
          </p:cNvPr>
          <p:cNvSpPr txBox="1"/>
          <p:nvPr/>
        </p:nvSpPr>
        <p:spPr>
          <a:xfrm>
            <a:off x="2486519" y="4039416"/>
            <a:ext cx="5029200" cy="230832"/>
          </a:xfrm>
          <a:prstGeom prst="rect">
            <a:avLst/>
          </a:prstGeom>
          <a:noFill/>
        </p:spPr>
        <p:txBody>
          <a:bodyPr wrap="square">
            <a:spAutoFit/>
          </a:bodyPr>
          <a:lstStyle/>
          <a:p>
            <a:pPr algn="l"/>
            <a:r>
              <a:rPr lang="en-US" sz="900" b="1" dirty="0">
                <a:solidFill>
                  <a:srgbClr val="F7941D"/>
                </a:solidFill>
              </a:rPr>
              <a:t>     ---</a:t>
            </a:r>
            <a:r>
              <a:rPr sz="900" b="1" i="0" dirty="0">
                <a:solidFill>
                  <a:srgbClr val="F7941D"/>
                </a:solidFill>
              </a:rPr>
              <a:t> </a:t>
            </a:r>
            <a:r>
              <a:rPr lang="en-US" sz="900" b="1" i="0" dirty="0">
                <a:solidFill>
                  <a:srgbClr val="F7941D"/>
                </a:solidFill>
              </a:rPr>
              <a:t> </a:t>
            </a:r>
            <a:r>
              <a:rPr lang="en-US" sz="900" b="1" i="0" dirty="0">
                <a:solidFill>
                  <a:schemeClr val="bg2">
                    <a:lumMod val="10000"/>
                  </a:schemeClr>
                </a:solidFill>
              </a:rPr>
              <a:t>March  2026 </a:t>
            </a:r>
            <a:r>
              <a:rPr sz="900" b="1" i="0" dirty="0">
                <a:solidFill>
                  <a:schemeClr val="bg2">
                    <a:lumMod val="10000"/>
                  </a:schemeClr>
                </a:solidFill>
              </a:rPr>
              <a:t>: </a:t>
            </a:r>
            <a:r>
              <a:rPr lang="en-US" sz="900" b="1" i="0" dirty="0">
                <a:solidFill>
                  <a:srgbClr val="F7941D"/>
                </a:solidFill>
              </a:rPr>
              <a:t>0.76  (Yellow ↓)</a:t>
            </a:r>
            <a:endParaRPr sz="900" b="1" i="0" dirty="0">
              <a:solidFill>
                <a:schemeClr val="bg2">
                  <a:lumMod val="10000"/>
                </a:schemeClr>
              </a:solidFill>
            </a:endParaRPr>
          </a:p>
        </p:txBody>
      </p:sp>
      <p:sp>
        <p:nvSpPr>
          <p:cNvPr id="12" name="Rectangle 11">
            <a:extLst>
              <a:ext uri="{FF2B5EF4-FFF2-40B4-BE49-F238E27FC236}">
                <a16:creationId xmlns:a16="http://schemas.microsoft.com/office/drawing/2014/main" id="{83FAF528-BF5F-D1AE-33B7-2DF81CAD24BF}"/>
              </a:ext>
            </a:extLst>
          </p:cNvPr>
          <p:cNvSpPr/>
          <p:nvPr/>
        </p:nvSpPr>
        <p:spPr>
          <a:xfrm>
            <a:off x="5792618" y="196596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3" name="Rectangle 12">
            <a:extLst>
              <a:ext uri="{FF2B5EF4-FFF2-40B4-BE49-F238E27FC236}">
                <a16:creationId xmlns:a16="http://schemas.microsoft.com/office/drawing/2014/main" id="{68FC4F1C-0CBA-CB69-81D6-A688C4A7B97E}"/>
              </a:ext>
            </a:extLst>
          </p:cNvPr>
          <p:cNvSpPr/>
          <p:nvPr/>
        </p:nvSpPr>
        <p:spPr>
          <a:xfrm>
            <a:off x="5806440" y="155447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3" name="Rectangle 602">
            <a:extLst>
              <a:ext uri="{FF2B5EF4-FFF2-40B4-BE49-F238E27FC236}">
                <a16:creationId xmlns:a16="http://schemas.microsoft.com/office/drawing/2014/main" id="{BB74F8E3-F713-87B9-2C3D-D86AA35EFF5A}"/>
              </a:ext>
            </a:extLst>
          </p:cNvPr>
          <p:cNvSpPr/>
          <p:nvPr/>
        </p:nvSpPr>
        <p:spPr>
          <a:xfrm>
            <a:off x="5824728" y="287568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4" name="Rectangle 603">
            <a:extLst>
              <a:ext uri="{FF2B5EF4-FFF2-40B4-BE49-F238E27FC236}">
                <a16:creationId xmlns:a16="http://schemas.microsoft.com/office/drawing/2014/main" id="{2DC5CD6E-D2D7-5CA5-1145-6646B952DE5E}"/>
              </a:ext>
            </a:extLst>
          </p:cNvPr>
          <p:cNvSpPr/>
          <p:nvPr/>
        </p:nvSpPr>
        <p:spPr>
          <a:xfrm>
            <a:off x="5806440" y="241718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5" name="Rectangle 604">
            <a:extLst>
              <a:ext uri="{FF2B5EF4-FFF2-40B4-BE49-F238E27FC236}">
                <a16:creationId xmlns:a16="http://schemas.microsoft.com/office/drawing/2014/main" id="{4728407C-F0AA-A939-D1A8-46F9600057F8}"/>
              </a:ext>
            </a:extLst>
          </p:cNvPr>
          <p:cNvSpPr/>
          <p:nvPr/>
        </p:nvSpPr>
        <p:spPr>
          <a:xfrm>
            <a:off x="5829194" y="332118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6" name="Rectangle 605">
            <a:extLst>
              <a:ext uri="{FF2B5EF4-FFF2-40B4-BE49-F238E27FC236}">
                <a16:creationId xmlns:a16="http://schemas.microsoft.com/office/drawing/2014/main" id="{220B252F-A1ED-BDA9-CB99-7D58E1575E94}"/>
              </a:ext>
            </a:extLst>
          </p:cNvPr>
          <p:cNvSpPr/>
          <p:nvPr/>
        </p:nvSpPr>
        <p:spPr>
          <a:xfrm>
            <a:off x="5806440" y="426515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7" name="Rectangle 606">
            <a:extLst>
              <a:ext uri="{FF2B5EF4-FFF2-40B4-BE49-F238E27FC236}">
                <a16:creationId xmlns:a16="http://schemas.microsoft.com/office/drawing/2014/main" id="{826A6865-4EBD-4E0C-7F6B-51010379E6F5}"/>
              </a:ext>
            </a:extLst>
          </p:cNvPr>
          <p:cNvSpPr/>
          <p:nvPr/>
        </p:nvSpPr>
        <p:spPr>
          <a:xfrm>
            <a:off x="5815584" y="378455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931024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a:t>
            </a:r>
            <a:r>
              <a:rPr lang="en-US" sz="1400" dirty="0">
                <a:solidFill>
                  <a:srgbClr val="00B050"/>
                </a:solidFill>
              </a:rPr>
              <a:t>Work Completed - 9/29/2025</a:t>
            </a:r>
          </a:p>
          <a:p>
            <a:pPr marL="742950" lvl="1" indent="-285750" fontAlgn="ctr">
              <a:buFont typeface="Arial" panose="020B0604020202020204" pitchFamily="34" charset="0"/>
              <a:buChar char="•"/>
            </a:pPr>
            <a:r>
              <a:rPr lang="en-US" sz="1400" dirty="0"/>
              <a:t>Nokia equipment for Phase 2 has been delivered – </a:t>
            </a:r>
            <a:r>
              <a:rPr lang="en-US" sz="1400" dirty="0">
                <a:solidFill>
                  <a:srgbClr val="00B050"/>
                </a:solidFill>
              </a:rPr>
              <a:t>Work Completed - 2/19/2026</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needs to be run to NSP in Hicksville </a:t>
            </a:r>
            <a:r>
              <a:rPr lang="en-US" sz="1400" b="1" i="1" dirty="0">
                <a:solidFill>
                  <a:srgbClr val="00B050"/>
                </a:solidFill>
              </a:rPr>
              <a:t>– Work Completed</a:t>
            </a:r>
          </a:p>
          <a:p>
            <a:pPr marL="1200150" lvl="2" indent="-285750" fontAlgn="ctr">
              <a:buFont typeface="Arial" panose="020B0604020202020204" pitchFamily="34" charset="0"/>
              <a:buChar char="•"/>
            </a:pPr>
            <a:r>
              <a:rPr lang="en-US" sz="1400" b="1" i="1" dirty="0"/>
              <a:t>OTDR testing from Hicksville to Syosset </a:t>
            </a:r>
            <a:r>
              <a:rPr lang="en-US" sz="1400" b="1" i="1" dirty="0">
                <a:solidFill>
                  <a:srgbClr val="00B050"/>
                </a:solidFill>
              </a:rPr>
              <a:t>– Work Completed </a:t>
            </a:r>
          </a:p>
          <a:p>
            <a:pPr marL="1200150" lvl="2" indent="-285750" fontAlgn="ctr">
              <a:buFont typeface="Wingdings" panose="05000000000000000000" pitchFamily="2" charset="2"/>
              <a:buChar char="q"/>
            </a:pPr>
            <a:endParaRPr lang="en-US" sz="1400" dirty="0"/>
          </a:p>
          <a:p>
            <a:pPr lvl="1" fontAlgn="ctr"/>
            <a:endParaRPr lang="en-US" sz="1400" dirty="0"/>
          </a:p>
          <a:p>
            <a:pPr marL="285750" indent="-285750" fontAlgn="ctr">
              <a:buFont typeface="Arial" panose="020B0604020202020204" pitchFamily="34" charset="0"/>
              <a:buChar char="•"/>
            </a:pPr>
            <a:r>
              <a:rPr lang="en-US" sz="1400" b="1" dirty="0">
                <a:solidFill>
                  <a:srgbClr val="DC3545"/>
                </a:solidFill>
              </a:rPr>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
        <p:nvSpPr>
          <p:cNvPr id="11" name="TextBox 10"/>
          <p:cNvSpPr txBox="1"/>
          <p:nvPr/>
        </p:nvSpPr>
        <p:spPr>
          <a:xfrm>
            <a:off x="228600" y="5806440"/>
            <a:ext cx="8412480" cy="411480"/>
          </a:xfrm>
          <a:prstGeom prst="rect">
            <a:avLst/>
          </a:prstGeom>
          <a:noFill/>
        </p:spPr>
        <p:txBody>
          <a:bodyPr wrap="square">
            <a:spAutoFit/>
          </a:bodyPr>
          <a:lstStyle/>
          <a:p>
            <a:pPr algn="l"/>
            <a:r>
              <a:rPr b="0" sz="750" i="1">
                <a:solidFill>
                  <a:srgbClr val="856404"/>
                </a:solidFill>
              </a:rPr>
              <a:t>⚠ Vik (Mar 16): "Sub-phases of Phase 1 aren't being documented and separated — leading to inaccurate reporting. Phase 1 has several micro-phases. Even though we've completed some, the entire phase is NOT complete. People don't come back and say '31 is all done — everything about 31 is done.' It's not that kind of project."</a:t>
            </a:r>
          </a:p>
        </p:txBody>
      </p:sp>
    </p:spTree>
    <p:extLst>
      <p:ext uri="{BB962C8B-B14F-4D97-AF65-F5344CB8AC3E}">
        <p14:creationId xmlns:p14="http://schemas.microsoft.com/office/powerpoint/2010/main" val="14179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204FD2-C527-D8B9-A788-0D242A78DE3D}"/>
              </a:ext>
            </a:extLst>
          </p:cNvPr>
          <p:cNvSpPr txBox="1"/>
          <p:nvPr/>
        </p:nvSpPr>
        <p:spPr>
          <a:xfrm>
            <a:off x="643467" y="651752"/>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Phase 1 – Layer 1-3 configuration – Next steps  </a:t>
            </a:r>
          </a:p>
        </p:txBody>
      </p:sp>
      <p:graphicFrame>
        <p:nvGraphicFramePr>
          <p:cNvPr id="8" name="Table 7">
            <a:extLst>
              <a:ext uri="{FF2B5EF4-FFF2-40B4-BE49-F238E27FC236}">
                <a16:creationId xmlns:a16="http://schemas.microsoft.com/office/drawing/2014/main" id="{4EE937DA-E63A-38EB-953F-746B2D530FFB}"/>
              </a:ext>
            </a:extLst>
          </p:cNvPr>
          <p:cNvGraphicFramePr>
            <a:graphicFrameLocks noGrp="1"/>
          </p:cNvGraphicFramePr>
          <p:nvPr>
            <p:extLst>
              <p:ext uri="{D42A27DB-BD31-4B8C-83A1-F6EECF244321}">
                <p14:modId xmlns:p14="http://schemas.microsoft.com/office/powerpoint/2010/main" val="1690904527"/>
              </p:ext>
            </p:extLst>
          </p:nvPr>
        </p:nvGraphicFramePr>
        <p:xfrm>
          <a:off x="643467" y="1873958"/>
          <a:ext cx="11060853" cy="4087929"/>
        </p:xfrm>
        <a:graphic>
          <a:graphicData uri="http://schemas.openxmlformats.org/drawingml/2006/table">
            <a:tbl>
              <a:tblPr/>
              <a:tblGrid>
                <a:gridCol w="2034979">
                  <a:extLst>
                    <a:ext uri="{9D8B030D-6E8A-4147-A177-3AD203B41FA5}">
                      <a16:colId xmlns:a16="http://schemas.microsoft.com/office/drawing/2014/main" val="639203627"/>
                    </a:ext>
                  </a:extLst>
                </a:gridCol>
                <a:gridCol w="5498432">
                  <a:extLst>
                    <a:ext uri="{9D8B030D-6E8A-4147-A177-3AD203B41FA5}">
                      <a16:colId xmlns:a16="http://schemas.microsoft.com/office/drawing/2014/main" val="2492720301"/>
                    </a:ext>
                  </a:extLst>
                </a:gridCol>
                <a:gridCol w="1070103">
                  <a:extLst>
                    <a:ext uri="{9D8B030D-6E8A-4147-A177-3AD203B41FA5}">
                      <a16:colId xmlns:a16="http://schemas.microsoft.com/office/drawing/2014/main" val="1030227231"/>
                    </a:ext>
                  </a:extLst>
                </a:gridCol>
                <a:gridCol w="1216223">
                  <a:extLst>
                    <a:ext uri="{9D8B030D-6E8A-4147-A177-3AD203B41FA5}">
                      <a16:colId xmlns:a16="http://schemas.microsoft.com/office/drawing/2014/main" val="585339364"/>
                    </a:ext>
                  </a:extLst>
                </a:gridCol>
                <a:gridCol w="1241116">
                  <a:extLst>
                    <a:ext uri="{9D8B030D-6E8A-4147-A177-3AD203B41FA5}">
                      <a16:colId xmlns:a16="http://schemas.microsoft.com/office/drawing/2014/main" val="1405953580"/>
                    </a:ext>
                  </a:extLst>
                </a:gridCol>
              </a:tblGrid>
              <a:tr h="433388">
                <a:tc>
                  <a:txBody>
                    <a:bodyPr/>
                    <a:lstStyle/>
                    <a:p>
                      <a:pPr algn="ctr" fontAlgn="t">
                        <a:buNone/>
                      </a:pPr>
                      <a:r>
                        <a:rPr lang="en-US" sz="1200" b="0" i="0" u="none" strike="noStrike" dirty="0">
                          <a:solidFill>
                            <a:srgbClr val="FFFFFF"/>
                          </a:solidFill>
                          <a:effectLst/>
                          <a:latin typeface="Aptos Narrow" panose="020B0004020202020204" pitchFamily="34" charset="0"/>
                        </a:rPr>
                        <a:t>Mobilization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ptos Narrow" panose="020B0004020202020204" pitchFamily="34" charset="0"/>
                          <a:ea typeface="+mn-ea"/>
                          <a:cs typeface="+mn-cs"/>
                        </a:rPr>
                        <a:t>Description</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Responsible Stakeholder</a:t>
                      </a:r>
                      <a:endParaRPr lang="en-US" sz="2000" b="0" i="0" u="none" strike="noStrike">
                        <a:effectLst/>
                        <a:latin typeface="Arial" panose="020B0604020202020204" pitchFamily="34" charset="0"/>
                      </a:endParaRPr>
                    </a:p>
                  </a:txBody>
                  <a:tcPr marL="7114" marR="7114" marT="7114"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ctr">
                        <a:buNone/>
                      </a:pPr>
                      <a:r>
                        <a:rPr lang="en-US" sz="1200" b="0" i="0" u="none" strike="noStrike">
                          <a:solidFill>
                            <a:srgbClr val="FFFFFF"/>
                          </a:solidFill>
                          <a:effectLst/>
                          <a:latin typeface="Aptos Narrow" panose="020B0004020202020204" pitchFamily="34" charset="0"/>
                        </a:rPr>
                        <a:t>Present On Site </a:t>
                      </a:r>
                      <a:endParaRPr lang="en-US" sz="2000" b="0" i="0" u="none" strike="noStrike">
                        <a:effectLst/>
                        <a:latin typeface="Arial" panose="020B0604020202020204" pitchFamily="34" charset="0"/>
                      </a:endParaRPr>
                    </a:p>
                  </a:txBody>
                  <a:tcPr marL="7114" marR="7114" marT="7114" marB="0" anchor="ctr">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Estimated Duration/Site</a:t>
                      </a:r>
                      <a:endParaRPr lang="en-US" sz="2000" b="0" i="0" u="none" strike="noStrike">
                        <a:effectLst/>
                        <a:latin typeface="Arial" panose="020B0604020202020204" pitchFamily="34" charset="0"/>
                      </a:endParaRPr>
                    </a:p>
                  </a:txBody>
                  <a:tcPr marL="7114" marR="7114" marT="7114" marB="0" anchor="b">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extLst>
                  <a:ext uri="{0D108BD9-81ED-4DB2-BD59-A6C34878D82A}">
                    <a16:rowId xmlns:a16="http://schemas.microsoft.com/office/drawing/2014/main" val="3674121576"/>
                  </a:ext>
                </a:extLst>
              </a:tr>
              <a:tr h="1009684">
                <a:tc>
                  <a:txBody>
                    <a:bodyPr/>
                    <a:lstStyle/>
                    <a:p>
                      <a:pPr algn="l" fontAlgn="ctr">
                        <a:buNone/>
                      </a:pPr>
                      <a:r>
                        <a:rPr lang="en-US" sz="1200" b="0" i="0" u="none" strike="noStrike">
                          <a:solidFill>
                            <a:srgbClr val="000000"/>
                          </a:solidFill>
                          <a:effectLst/>
                          <a:latin typeface="Aptos Narrow" panose="020B0004020202020204" pitchFamily="34" charset="0"/>
                        </a:rPr>
                        <a:t>Initial Installation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Clr>
                          <a:srgbClr val="000000"/>
                        </a:buClr>
                        <a:buSzPts val="1100"/>
                        <a:buFont typeface="Aptos Narrow" panose="020B0004020202020204" pitchFamily="34" charset="0"/>
                        <a:buNone/>
                      </a:pP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power feeds - </a:t>
                      </a:r>
                      <a:r>
                        <a:rPr lang="en-US" sz="1200" b="0" i="0" u="none" strike="noStrike" dirty="0">
                          <a:solidFill>
                            <a:srgbClr val="00B050"/>
                          </a:solidFill>
                          <a:effectLst/>
                          <a:latin typeface="Aptos Narrow" panose="020B0004020202020204" pitchFamily="34" charset="0"/>
                        </a:rPr>
                        <a:t>Completed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Power MPLS router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new communication cables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endParaRPr lang="en-US" sz="1200" b="0" i="0" u="none" strike="noStrike" dirty="0">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BMcD,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4325104"/>
                  </a:ext>
                </a:extLst>
              </a:tr>
              <a:tr h="625487">
                <a:tc>
                  <a:txBody>
                    <a:bodyPr/>
                    <a:lstStyle/>
                    <a:p>
                      <a:pPr algn="l" fontAlgn="ctr">
                        <a:buNone/>
                      </a:pPr>
                      <a:r>
                        <a:rPr lang="en-US" sz="1200" b="0" i="0" u="none" strike="noStrike">
                          <a:solidFill>
                            <a:srgbClr val="000000"/>
                          </a:solidFill>
                          <a:effectLst/>
                          <a:latin typeface="Aptos Narrow" panose="020B0004020202020204" pitchFamily="34" charset="0"/>
                        </a:rPr>
                        <a:t>Fiber Integration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JMUX OC-48 Circuits &amp; Nokia MPLS over CWDM filters  - </a:t>
                      </a:r>
                      <a:r>
                        <a:rPr lang="en-US" sz="1200" b="0" i="0" u="none" strike="noStrike">
                          <a:solidFill>
                            <a:srgbClr val="00B050"/>
                          </a:solidFill>
                          <a:effectLst/>
                          <a:latin typeface="Aptos Narrow" panose="020B0004020202020204" pitchFamily="34" charset="0"/>
                        </a:rPr>
                        <a:t>Completed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new MPLS parallel links  -</a:t>
                      </a:r>
                      <a:r>
                        <a:rPr lang="en-US" sz="1200" b="0" i="0" u="none" strike="noStrike">
                          <a:solidFill>
                            <a:srgbClr val="00B050"/>
                          </a:solidFill>
                          <a:effectLst/>
                          <a:latin typeface="Aptos Narrow" panose="020B0004020202020204" pitchFamily="34" charset="0"/>
                        </a:rPr>
                        <a:t> Completed</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Nokia parallel network &amp; connectivity - </a:t>
                      </a:r>
                      <a:r>
                        <a:rPr lang="en-US" sz="1200" b="0" i="0" u="none" strike="noStrike">
                          <a:solidFill>
                            <a:srgbClr val="00B050"/>
                          </a:solidFill>
                          <a:effectLst/>
                          <a:latin typeface="Aptos Narrow" panose="020B0004020202020204" pitchFamily="34" charset="0"/>
                        </a:rPr>
                        <a:t>Completed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1 Week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288650"/>
                  </a:ext>
                </a:extLst>
              </a:tr>
              <a:tr h="1393883">
                <a:tc>
                  <a:txBody>
                    <a:bodyPr/>
                    <a:lstStyle/>
                    <a:p>
                      <a:pPr algn="l" fontAlgn="ctr">
                        <a:buNone/>
                      </a:pPr>
                      <a:r>
                        <a:rPr lang="en-US" sz="1200" b="0" i="0" u="none" strike="noStrike">
                          <a:solidFill>
                            <a:srgbClr val="000000"/>
                          </a:solidFill>
                          <a:effectLst/>
                          <a:latin typeface="Aptos Narrow" panose="020B0004020202020204" pitchFamily="34" charset="0"/>
                        </a:rPr>
                        <a:t>Layer 3 Connect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Establish Ethernet circuits with Nokia MPLS in paralled with JMUX where possible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Security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FEMA 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Two-way Radio</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DSCADA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MicroPAQ</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1813853"/>
                  </a:ext>
                </a:extLst>
              </a:tr>
              <a:tr h="625487">
                <a:tc>
                  <a:txBody>
                    <a:bodyPr/>
                    <a:lstStyle/>
                    <a:p>
                      <a:pPr algn="l" fontAlgn="ctr">
                        <a:buNone/>
                      </a:pPr>
                      <a:r>
                        <a:rPr lang="en-US" sz="1200" b="0" i="0" u="none" strike="noStrike" dirty="0">
                          <a:solidFill>
                            <a:srgbClr val="000000"/>
                          </a:solidFill>
                          <a:effectLst/>
                          <a:latin typeface="Aptos Narrow" panose="020B0004020202020204" pitchFamily="34" charset="0"/>
                        </a:rPr>
                        <a:t> Layer 1 </a:t>
                      </a:r>
                      <a:endParaRPr lang="en-US" sz="2000" b="0" i="0" u="none" strike="noStrike" dirty="0">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Cutover of relay and RTU circuits from JMUX to MPLS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Cutover any other circuits (PAR, DRD, etc.) as possble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Only RTUs/Circuits with no dependency on other JMUX rings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 (Relay)</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5 days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30843798"/>
                  </a:ext>
                </a:extLst>
              </a:tr>
            </a:tbl>
          </a:graphicData>
        </a:graphic>
      </p:graphicFrame>
    </p:spTree>
    <p:extLst>
      <p:ext uri="{BB962C8B-B14F-4D97-AF65-F5344CB8AC3E}">
        <p14:creationId xmlns:p14="http://schemas.microsoft.com/office/powerpoint/2010/main" val="314420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testing completed from Hicksville to Syosset , found bad filter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IFR(3) have been converted to IFC and uploaded to shared drive	                                03/09/2026</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rgbClr val="F7941D"/>
                </a:solidFill>
                <a:latin typeface="Arial" panose="020B0604020202020204" pitchFamily="34" charset="0"/>
                <a:cs typeface="Arial" panose="020B0604020202020204" pitchFamily="34" charset="0"/>
              </a:rPr>
              <a:t>Scope (65%-Complete)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rgbClr val="28A745"/>
                </a:solidFill>
                <a:latin typeface="Arial" panose="020B0604020202020204" pitchFamily="34" charset="0"/>
                <a:ea typeface="Times New Roman" panose="02020603050405020304" pitchFamily="18" charset="0"/>
              </a:rPr>
              <a:t>✅ BGP design APPROVED Mar 16, 2026 — Lee Blackman to begin change documentation for Melville &amp; Hicksville Nokia integration.</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Receiving new set of IFRs on 03/13		                           		                                 03/13/2026 </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will be completed by 3/13 by Hawkeye.		                                 03/13/2026</a:t>
            </a:r>
          </a:p>
          <a:p>
            <a:pPr marL="171450" indent="-171450">
              <a:buFont typeface="Arial" panose="020B0604020202020204" pitchFamily="34" charset="0"/>
              <a:buChar char="•"/>
            </a:pPr>
            <a:r>
              <a:rPr lang="en-US" sz="800" dirty="0">
                <a:solidFill>
                  <a:srgbClr val="DC3545"/>
                </a:solidFill>
                <a:latin typeface="Arial" panose="020B0604020202020204" pitchFamily="34" charset="0"/>
                <a:ea typeface="Times New Roman" panose="02020603050405020304" pitchFamily="18" charset="0"/>
              </a:rPr>
              <a:t>🔴 ILO configuration — Bill (B&amp;M) coordinating with Rahiq. Console cable &amp; firmware issue identified. CRITICAL PATH BLOCKER #1.
🔴 BGP config at Hicksville &amp; Melville (Lee) — pending ILO completion.
🔴 Remote access config — 31 routers pending BGP completion.</a:t>
            </a:r>
          </a:p>
          <a:p>
            <a:r>
              <a:rPr lang="en-US" sz="800" dirty="0">
                <a:solidFill>
                  <a:schemeClr val="tx1"/>
                </a:solidFill>
                <a:latin typeface="Arial" panose="020B0604020202020204" pitchFamily="34" charset="0"/>
                <a:ea typeface="Times New Roman" panose="02020603050405020304" pitchFamily="18" charset="0"/>
              </a:rPr>
              <a:t>      corporate directly into the managed servers)		                                                                 03/16/2026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will be completed by 3/13 by Hawkeye.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rgbClr val="F7941D"/>
                </a:solidFill>
                <a:latin typeface="Arial" panose="020B0604020202020204" pitchFamily="34" charset="0"/>
                <a:ea typeface="Times New Roman" panose="02020603050405020304" pitchFamily="18" charset="0"/>
              </a:rPr>
              <a:t>✅ BGP design approved Mar 16 — Lee Blackman to proceed with Melville &amp; Hicksville change docs. NSP = critical path.</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 ✅ Northport DC power RESOLVED — Relay team ran new feed to fuse, eliminating tripping issue (3/18/2026). </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Receiving new set of IFRs on 03/13</a:t>
            </a:r>
            <a:endParaRPr lang="en-US" sz="800" dirty="0">
              <a:solidFill>
                <a:schemeClr val="tx1"/>
              </a:solidFill>
            </a:endParaRPr>
          </a:p>
          <a:p>
            <a:pPr>
              <a:spcAft>
                <a:spcPts val="300"/>
              </a:spcAft>
              <a:tabLst>
                <a:tab pos="2057400" algn="r"/>
              </a:tabLst>
            </a:pPr>
            <a:r>
              <a:rPr lang="en-US" sz="1000" b="1" u="sng" dirty="0">
                <a:solidFill>
                  <a:schemeClr val="tx1"/>
                </a:solidFill>
                <a:latin typeface="Arial" panose="020B0604020202020204" pitchFamily="34" charset="0"/>
                <a:ea typeface="Times New Roman" panose="02020603050405020304" pitchFamily="18" charset="0"/>
              </a:rPr>
              <a:t>Remediation (For Non-Green Statuses)</a:t>
            </a:r>
          </a:p>
          <a:p>
            <a:pPr>
              <a:spcAft>
                <a:spcPts val="300"/>
              </a:spcAft>
              <a:tabLst>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 Plan to complete all the remote configuration of the routers and complete testing to bring the schedule back to green</a:t>
            </a:r>
            <a:endParaRPr lang="en-US" sz="800" dirty="0">
              <a:solidFill>
                <a:schemeClr val="tx1"/>
              </a:solidFill>
              <a:latin typeface="Arial" panose="020B0604020202020204" pitchFamily="34" charset="0"/>
              <a:ea typeface="Times New Roman" panose="02020603050405020304" pitchFamily="18" charset="0"/>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126070919"/>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4276176840"/>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2939266"/>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lvl="0" indent="-342900">
              <a:buFont typeface="+mj-lt"/>
              <a:buAutoNum type="arabicPeriod"/>
              <a:tabLst>
                <a:tab pos="457200" algn="l"/>
              </a:tabLst>
            </a:pPr>
            <a:r>
              <a:rPr lang="en-US" dirty="0">
                <a:solidFill>
                  <a:srgbClr val="28A745"/>
                </a:solidFill>
                <a:latin typeface="Aptos" panose="020B0004020202020204" pitchFamily="34" charset="0"/>
                <a:cs typeface="Aptos" panose="020B0004020202020204" pitchFamily="34" charset="0"/>
              </a:rPr>
              <a:t>✅ Cat6 COMPLETE (3/4) · ✅ OTDR COMPLETE (3/9) · ✅ BGP APPROVED (3/16) · ✅ Northport DC RESOLVED (3/18)</a:t>
            </a:r>
            <a:r>
              <a:rPr lang="en-US" dirty="0">
                <a:solidFill>
                  <a:srgbClr val="00B050"/>
                </a:solidFill>
              </a:rPr>
              <a:t> (change ticket planned </a:t>
            </a:r>
            <a:r>
              <a:rPr lang="en-US" dirty="0">
                <a:solidFill>
                  <a:srgbClr val="00B050"/>
                </a:solidFill>
                <a:latin typeface="Aptos" panose="020B0004020202020204" pitchFamily="34" charset="0"/>
                <a:cs typeface="Aptos" panose="020B0004020202020204" pitchFamily="34" charset="0"/>
              </a:rPr>
              <a:t>03/03</a:t>
            </a:r>
            <a:r>
              <a:rPr lang="en-US" dirty="0">
                <a:solidFill>
                  <a:srgbClr val="00B050"/>
                </a:solidFill>
              </a:rPr>
              <a:t>).</a:t>
            </a:r>
          </a:p>
          <a:p>
            <a:pPr marL="342900" lvl="0" indent="-342900">
              <a:buFont typeface="+mj-lt"/>
              <a:buAutoNum type="arabicPeriod"/>
              <a:tabLst>
                <a:tab pos="457200" algn="l"/>
              </a:tabLst>
            </a:pPr>
            <a:r>
              <a:rPr lang="en-US" dirty="0">
                <a:solidFill>
                  <a:srgbClr val="00B050"/>
                </a:solidFill>
                <a:latin typeface="Aptos" panose="020B0004020202020204" pitchFamily="34" charset="0"/>
                <a:cs typeface="Aptos" panose="020B0004020202020204" pitchFamily="34" charset="0"/>
              </a:rPr>
              <a:t>🔴 ILO configuration — Bill (B&amp;M) working with Rahiq/Brianna to resolve console cable &amp; firmware. This is the #1 critical path blocker.</a:t>
            </a:r>
            <a:r>
              <a:rPr lang="en-US" dirty="0">
                <a:solidFill>
                  <a:srgbClr val="00B050"/>
                </a:solidFill>
              </a:rPr>
              <a:t> (planned </a:t>
            </a:r>
            <a:r>
              <a:rPr lang="en-US" dirty="0">
                <a:solidFill>
                  <a:srgbClr val="00B050"/>
                </a:solidFill>
                <a:latin typeface="Aptos" panose="020B0004020202020204" pitchFamily="34" charset="0"/>
                <a:cs typeface="Aptos" panose="020B0004020202020204" pitchFamily="34" charset="0"/>
              </a:rPr>
              <a:t>03/04</a:t>
            </a:r>
            <a:r>
              <a:rPr lang="en-US" dirty="0">
                <a:solidFill>
                  <a:srgbClr val="00B050"/>
                </a:solidFill>
              </a:rPr>
              <a:t>) to confirm whether the low DB level is internal vs </a:t>
            </a:r>
            <a:r>
              <a:rPr lang="en-US" dirty="0">
                <a:solidFill>
                  <a:srgbClr val="00B050"/>
                </a:solidFill>
                <a:latin typeface="Aptos" panose="020B0004020202020204" pitchFamily="34" charset="0"/>
                <a:cs typeface="Aptos" panose="020B0004020202020204" pitchFamily="34" charset="0"/>
              </a:rPr>
              <a:t>carrier-side (Crown Castle)</a:t>
            </a:r>
            <a:r>
              <a:rPr lang="en-US" dirty="0">
                <a:solidFill>
                  <a:srgbClr val="00B050"/>
                </a:solidFill>
              </a:rPr>
              <a:t>; validate filter/wavelength behavior.</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 BGP config at Hicksville &amp; Melville — Lee to begin once ILO is complete.</a:t>
            </a:r>
            <a:r>
              <a:rPr lang="en-US" dirty="0"/>
              <a:t> after cabling/OTDR so we can shift to “remote-first” execution.</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 Remote access config — Lee to configure all 31 routers once BGP is done at both hub sites.</a:t>
            </a:r>
            <a:r>
              <a:rPr lang="en-US" dirty="0"/>
              <a:t> on the powered routers for </a:t>
            </a:r>
            <a:r>
              <a:rPr lang="en-US" dirty="0">
                <a:latin typeface="Aptos" panose="020B0004020202020204" pitchFamily="34" charset="0"/>
                <a:cs typeface="Aptos" panose="020B0004020202020204" pitchFamily="34" charset="0"/>
              </a:rPr>
              <a:t>Ring 1 and Ring 6</a:t>
            </a:r>
            <a:r>
              <a:rPr lang="en-US" dirty="0"/>
              <a:t> (remote workstream), with standard config + validation.</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Risks &amp; Issues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Active Risks | Mitigations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05840"/>
            <a:ext cx="5486400"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33271"/>
            <a:ext cx="5303520" cy="292608"/>
          </a:xfrm>
          <a:prstGeom prst="rect">
            <a:avLst/>
          </a:prstGeom>
          <a:noFill/>
        </p:spPr>
        <p:txBody>
          <a:bodyPr wrap="square">
            <a:spAutoFit/>
          </a:bodyPr>
          <a:lstStyle/>
          <a:p>
            <a:pPr algn="l"/>
            <a:r>
              <a:rPr sz="1200" b="1" i="0">
                <a:solidFill>
                  <a:srgbClr val="FFFFFF"/>
                </a:solidFill>
              </a:rPr>
              <a:t>⚠  ACTIVE RISKS</a:t>
            </a:r>
          </a:p>
        </p:txBody>
      </p:sp>
      <p:sp>
        <p:nvSpPr>
          <p:cNvPr id="10" name="Rectangle 9"/>
          <p:cNvSpPr/>
          <p:nvPr/>
        </p:nvSpPr>
        <p:spPr>
          <a:xfrm>
            <a:off x="5943600" y="1005840"/>
            <a:ext cx="5943600" cy="3657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1033271"/>
            <a:ext cx="5760720" cy="292608"/>
          </a:xfrm>
          <a:prstGeom prst="rect">
            <a:avLst/>
          </a:prstGeom>
          <a:noFill/>
        </p:spPr>
        <p:txBody>
          <a:bodyPr wrap="square">
            <a:spAutoFit/>
          </a:bodyPr>
          <a:lstStyle/>
          <a:p>
            <a:pPr algn="l"/>
            <a:r>
              <a:rPr sz="1200" b="1" i="0">
                <a:solidFill>
                  <a:srgbClr val="FFFFFF"/>
                </a:solidFill>
              </a:rPr>
              <a:t>🔧  ACTIVE ISSUES / IN RESOLUTION</a:t>
            </a:r>
          </a:p>
        </p:txBody>
      </p:sp>
      <p:sp>
        <p:nvSpPr>
          <p:cNvPr id="12" name="Rectangle 11"/>
          <p:cNvSpPr/>
          <p:nvPr/>
        </p:nvSpPr>
        <p:spPr>
          <a:xfrm>
            <a:off x="274320" y="1463040"/>
            <a:ext cx="5486400" cy="114300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463040"/>
            <a:ext cx="1005840"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1499616"/>
            <a:ext cx="914400" cy="274320"/>
          </a:xfrm>
          <a:prstGeom prst="rect">
            <a:avLst/>
          </a:prstGeom>
          <a:noFill/>
        </p:spPr>
        <p:txBody>
          <a:bodyPr wrap="square">
            <a:spAutoFit/>
          </a:bodyPr>
          <a:lstStyle/>
          <a:p>
            <a:pPr algn="ctr"/>
            <a:r>
              <a:rPr sz="1000" b="1" i="0">
                <a:solidFill>
                  <a:srgbClr val="FFFFFF"/>
                </a:solidFill>
              </a:rPr>
              <a:t>HIGH</a:t>
            </a:r>
          </a:p>
        </p:txBody>
      </p:sp>
      <p:sp>
        <p:nvSpPr>
          <p:cNvPr id="15" name="TextBox 14"/>
          <p:cNvSpPr txBox="1"/>
          <p:nvPr/>
        </p:nvSpPr>
        <p:spPr>
          <a:xfrm>
            <a:off x="1325880" y="1499616"/>
            <a:ext cx="4297680" cy="292608"/>
          </a:xfrm>
          <a:prstGeom prst="rect">
            <a:avLst/>
          </a:prstGeom>
          <a:noFill/>
        </p:spPr>
        <p:txBody>
          <a:bodyPr wrap="square">
            <a:spAutoFit/>
          </a:bodyPr>
          <a:lstStyle/>
          <a:p>
            <a:pPr algn="l"/>
            <a:r>
              <a:rPr sz="1100" b="1" i="0">
                <a:solidFill>
                  <a:srgbClr val="404040"/>
                </a:solidFill>
              </a:rPr>
              <a:t>Legacy Equipment Fragility</a:t>
            </a:r>
          </a:p>
        </p:txBody>
      </p:sp>
      <p:sp>
        <p:nvSpPr>
          <p:cNvPr id="16" name="TextBox 15"/>
          <p:cNvSpPr txBox="1"/>
          <p:nvPr/>
        </p:nvSpPr>
        <p:spPr>
          <a:xfrm>
            <a:off x="365760" y="1847088"/>
            <a:ext cx="5212080" cy="384048"/>
          </a:xfrm>
          <a:prstGeom prst="rect">
            <a:avLst/>
          </a:prstGeom>
          <a:noFill/>
        </p:spPr>
        <p:txBody>
          <a:bodyPr wrap="square">
            <a:spAutoFit/>
          </a:bodyPr>
          <a:lstStyle/>
          <a:p>
            <a:pPr algn="l"/>
            <a:r>
              <a:rPr sz="900" b="0" i="0">
                <a:solidFill>
                  <a:srgbClr val="404040"/>
                </a:solidFill>
              </a:rPr>
              <a:t>JMUX equipment 25+ yrs old. Faulty connectors, brittle fiber panels. Potential for unplanned outage during cutover.</a:t>
            </a:r>
          </a:p>
        </p:txBody>
      </p:sp>
      <p:sp>
        <p:nvSpPr>
          <p:cNvPr id="17" name="TextBox 16"/>
          <p:cNvSpPr txBox="1"/>
          <p:nvPr/>
        </p:nvSpPr>
        <p:spPr>
          <a:xfrm>
            <a:off x="365760" y="2212848"/>
            <a:ext cx="5212080" cy="347472"/>
          </a:xfrm>
          <a:prstGeom prst="rect">
            <a:avLst/>
          </a:prstGeom>
          <a:noFill/>
        </p:spPr>
        <p:txBody>
          <a:bodyPr wrap="square">
            <a:spAutoFit/>
          </a:bodyPr>
          <a:lstStyle/>
          <a:p>
            <a:pPr algn="l"/>
            <a:r>
              <a:rPr sz="900" b="0" i="1">
                <a:solidFill>
                  <a:srgbClr val="003387"/>
                </a:solidFill>
              </a:rPr>
              <a:t>Mitigation: Careful cutover planning; dedicated B&amp;McD on-site support. Phase 1 complete — risk reduced going into Ph2.</a:t>
            </a:r>
          </a:p>
        </p:txBody>
      </p:sp>
      <p:sp>
        <p:nvSpPr>
          <p:cNvPr id="18" name="Rectangle 17"/>
          <p:cNvSpPr/>
          <p:nvPr/>
        </p:nvSpPr>
        <p:spPr>
          <a:xfrm>
            <a:off x="274320" y="269748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69748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2734056"/>
            <a:ext cx="914400" cy="274320"/>
          </a:xfrm>
          <a:prstGeom prst="rect">
            <a:avLst/>
          </a:prstGeom>
          <a:noFill/>
        </p:spPr>
        <p:txBody>
          <a:bodyPr wrap="square">
            <a:spAutoFit/>
          </a:bodyPr>
          <a:lstStyle/>
          <a:p>
            <a:pPr algn="ctr"/>
            <a:r>
              <a:rPr sz="1000" b="1" i="0">
                <a:solidFill>
                  <a:srgbClr val="FFFFFF"/>
                </a:solidFill>
              </a:rPr>
              <a:t>MEDIUM</a:t>
            </a:r>
          </a:p>
        </p:txBody>
      </p:sp>
      <p:sp>
        <p:nvSpPr>
          <p:cNvPr id="21" name="TextBox 20"/>
          <p:cNvSpPr txBox="1"/>
          <p:nvPr/>
        </p:nvSpPr>
        <p:spPr>
          <a:xfrm>
            <a:off x="1325880" y="2734056"/>
            <a:ext cx="4297680" cy="292608"/>
          </a:xfrm>
          <a:prstGeom prst="rect">
            <a:avLst/>
          </a:prstGeom>
          <a:noFill/>
        </p:spPr>
        <p:txBody>
          <a:bodyPr wrap="square">
            <a:spAutoFit/>
          </a:bodyPr>
          <a:lstStyle/>
          <a:p>
            <a:pPr algn="l"/>
            <a:r>
              <a:rPr sz="1100" b="1" i="0">
                <a:solidFill>
                  <a:srgbClr val="404040"/>
                </a:solidFill>
              </a:rPr>
              <a:t>Substation Access Delays</a:t>
            </a:r>
          </a:p>
        </p:txBody>
      </p:sp>
      <p:sp>
        <p:nvSpPr>
          <p:cNvPr id="22" name="TextBox 21"/>
          <p:cNvSpPr txBox="1"/>
          <p:nvPr/>
        </p:nvSpPr>
        <p:spPr>
          <a:xfrm>
            <a:off x="365760" y="3081528"/>
            <a:ext cx="5212080" cy="384048"/>
          </a:xfrm>
          <a:prstGeom prst="rect">
            <a:avLst/>
          </a:prstGeom>
          <a:noFill/>
        </p:spPr>
        <p:txBody>
          <a:bodyPr wrap="square">
            <a:spAutoFit/>
          </a:bodyPr>
          <a:lstStyle/>
          <a:p>
            <a:pPr algn="l"/>
            <a:r>
              <a:rPr sz="900" b="0" i="0">
                <a:solidFill>
                  <a:srgbClr val="404040"/>
                </a:solidFill>
              </a:rPr>
              <a:t>Weather, scheduling conflicts, or escort availability can delay field work.</a:t>
            </a:r>
          </a:p>
        </p:txBody>
      </p:sp>
      <p:sp>
        <p:nvSpPr>
          <p:cNvPr id="23" name="TextBox 22"/>
          <p:cNvSpPr txBox="1"/>
          <p:nvPr/>
        </p:nvSpPr>
        <p:spPr>
          <a:xfrm>
            <a:off x="365760" y="3447288"/>
            <a:ext cx="5212080" cy="347472"/>
          </a:xfrm>
          <a:prstGeom prst="rect">
            <a:avLst/>
          </a:prstGeom>
          <a:noFill/>
        </p:spPr>
        <p:txBody>
          <a:bodyPr wrap="square">
            <a:spAutoFit/>
          </a:bodyPr>
          <a:lstStyle/>
          <a:p>
            <a:pPr algn="l"/>
            <a:r>
              <a:rPr sz="900" b="0" i="1">
                <a:solidFill>
                  <a:srgbClr val="003387"/>
                </a:solidFill>
              </a:rPr>
              <a:t>Mitigation: Verify weekly before mobilizing. Adjust site plan if specific sites inaccessible.</a:t>
            </a:r>
          </a:p>
        </p:txBody>
      </p:sp>
      <p:sp>
        <p:nvSpPr>
          <p:cNvPr id="24" name="Rectangle 23"/>
          <p:cNvSpPr/>
          <p:nvPr/>
        </p:nvSpPr>
        <p:spPr>
          <a:xfrm>
            <a:off x="274320" y="393192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93192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968496"/>
            <a:ext cx="914400" cy="274320"/>
          </a:xfrm>
          <a:prstGeom prst="rect">
            <a:avLst/>
          </a:prstGeom>
          <a:noFill/>
        </p:spPr>
        <p:txBody>
          <a:bodyPr wrap="square">
            <a:spAutoFit/>
          </a:bodyPr>
          <a:lstStyle/>
          <a:p>
            <a:pPr algn="ctr"/>
            <a:r>
              <a:rPr sz="1000" b="1" i="0">
                <a:solidFill>
                  <a:srgbClr val="FFFFFF"/>
                </a:solidFill>
              </a:rPr>
              <a:t>MEDIUM</a:t>
            </a:r>
          </a:p>
        </p:txBody>
      </p:sp>
      <p:sp>
        <p:nvSpPr>
          <p:cNvPr id="27" name="TextBox 26"/>
          <p:cNvSpPr txBox="1"/>
          <p:nvPr/>
        </p:nvSpPr>
        <p:spPr>
          <a:xfrm>
            <a:off x="1325880" y="3968496"/>
            <a:ext cx="4297680" cy="292608"/>
          </a:xfrm>
          <a:prstGeom prst="rect">
            <a:avLst/>
          </a:prstGeom>
          <a:noFill/>
        </p:spPr>
        <p:txBody>
          <a:bodyPr wrap="square">
            <a:spAutoFit/>
          </a:bodyPr>
          <a:lstStyle/>
          <a:p>
            <a:pPr algn="l"/>
            <a:r>
              <a:rPr sz="1100" b="1" i="0">
                <a:solidFill>
                  <a:srgbClr val="404040"/>
                </a:solidFill>
              </a:rPr>
              <a:t>Phase 2 Schedule Slippage</a:t>
            </a:r>
          </a:p>
        </p:txBody>
      </p:sp>
      <p:sp>
        <p:nvSpPr>
          <p:cNvPr id="28" name="TextBox 27"/>
          <p:cNvSpPr txBox="1"/>
          <p:nvPr/>
        </p:nvSpPr>
        <p:spPr>
          <a:xfrm>
            <a:off x="365760" y="4315968"/>
            <a:ext cx="5212080" cy="384048"/>
          </a:xfrm>
          <a:prstGeom prst="rect">
            <a:avLst/>
          </a:prstGeom>
          <a:noFill/>
        </p:spPr>
        <p:txBody>
          <a:bodyPr wrap="square">
            <a:spAutoFit/>
          </a:bodyPr>
          <a:lstStyle/>
          <a:p>
            <a:pPr algn="l"/>
            <a:r>
              <a:rPr sz="900" b="0" i="0">
                <a:solidFill>
                  <a:srgbClr val="404040"/>
                </a:solidFill>
              </a:rPr>
              <a:t>IFR/IFC design cycle (4-wk IFR + 2-wk review + 2-wk IFC) leaves limited buffer.</a:t>
            </a:r>
          </a:p>
        </p:txBody>
      </p:sp>
      <p:sp>
        <p:nvSpPr>
          <p:cNvPr id="29" name="TextBox 28"/>
          <p:cNvSpPr txBox="1"/>
          <p:nvPr/>
        </p:nvSpPr>
        <p:spPr>
          <a:xfrm>
            <a:off x="365760" y="4681728"/>
            <a:ext cx="5212080" cy="347472"/>
          </a:xfrm>
          <a:prstGeom prst="rect">
            <a:avLst/>
          </a:prstGeom>
          <a:noFill/>
        </p:spPr>
        <p:txBody>
          <a:bodyPr wrap="square">
            <a:spAutoFit/>
          </a:bodyPr>
          <a:lstStyle/>
          <a:p>
            <a:pPr algn="l"/>
            <a:r>
              <a:rPr sz="900" b="0" i="1">
                <a:solidFill>
                  <a:srgbClr val="003387"/>
                </a:solidFill>
              </a:rPr>
              <a:t>Mitigation: Phase 2 surveys done early. B&amp;McD running concurrent site designs. Weekly status calls tracking.</a:t>
            </a:r>
          </a:p>
        </p:txBody>
      </p:sp>
      <p:sp>
        <p:nvSpPr>
          <p:cNvPr id="30" name="Rectangle 29"/>
          <p:cNvSpPr/>
          <p:nvPr/>
        </p:nvSpPr>
        <p:spPr>
          <a:xfrm>
            <a:off x="274320" y="5166360"/>
            <a:ext cx="54864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166360"/>
            <a:ext cx="100584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202936"/>
            <a:ext cx="914400" cy="274320"/>
          </a:xfrm>
          <a:prstGeom prst="rect">
            <a:avLst/>
          </a:prstGeom>
          <a:noFill/>
        </p:spPr>
        <p:txBody>
          <a:bodyPr wrap="square">
            <a:spAutoFit/>
          </a:bodyPr>
          <a:lstStyle/>
          <a:p>
            <a:pPr algn="ctr"/>
            <a:r>
              <a:rPr sz="1000" b="1" i="0">
                <a:solidFill>
                  <a:srgbClr val="00B050"/>
                </a:solidFill>
              </a:rPr>
              <a:t>RESOLVED</a:t>
            </a:r>
          </a:p>
        </p:txBody>
      </p:sp>
      <p:sp>
        <p:nvSpPr>
          <p:cNvPr id="33" name="TextBox 32"/>
          <p:cNvSpPr txBox="1"/>
          <p:nvPr/>
        </p:nvSpPr>
        <p:spPr>
          <a:xfrm>
            <a:off x="1325880" y="5202936"/>
            <a:ext cx="4297680" cy="292608"/>
          </a:xfrm>
          <a:prstGeom prst="rect">
            <a:avLst/>
          </a:prstGeom>
          <a:noFill/>
        </p:spPr>
        <p:txBody>
          <a:bodyPr wrap="square">
            <a:spAutoFit/>
          </a:bodyPr>
          <a:lstStyle/>
          <a:p>
            <a:pPr algn="l"/>
            <a:r>
              <a:rPr sz="1100" b="1" i="0">
                <a:solidFill>
                  <a:srgbClr val="404040"/>
                </a:solidFill>
              </a:rPr>
              <a:t>Crown Castle Fiber Issue (Hicksville)</a:t>
            </a:r>
          </a:p>
        </p:txBody>
      </p:sp>
      <p:sp>
        <p:nvSpPr>
          <p:cNvPr id="34" name="TextBox 33"/>
          <p:cNvSpPr txBox="1"/>
          <p:nvPr/>
        </p:nvSpPr>
        <p:spPr>
          <a:xfrm>
            <a:off x="365760" y="5550408"/>
            <a:ext cx="5212080" cy="384048"/>
          </a:xfrm>
          <a:prstGeom prst="rect">
            <a:avLst/>
          </a:prstGeom>
          <a:noFill/>
        </p:spPr>
        <p:txBody>
          <a:bodyPr wrap="square">
            <a:spAutoFit/>
          </a:bodyPr>
          <a:lstStyle/>
          <a:p>
            <a:pPr algn="l"/>
            <a:r>
              <a:rPr sz="900" b="0" i="0">
                <a:solidFill>
                  <a:srgbClr val="404040"/>
                </a:solidFill>
              </a:rPr>
              <a:t>Low dB levels on fiber — may be Crown Castle's network, not PSEG LI.</a:t>
            </a:r>
          </a:p>
        </p:txBody>
      </p:sp>
      <p:sp>
        <p:nvSpPr>
          <p:cNvPr id="35" name="TextBox 34"/>
          <p:cNvSpPr txBox="1"/>
          <p:nvPr/>
        </p:nvSpPr>
        <p:spPr>
          <a:xfrm>
            <a:off x="365760" y="5916168"/>
            <a:ext cx="5212080" cy="347472"/>
          </a:xfrm>
          <a:prstGeom prst="rect">
            <a:avLst/>
          </a:prstGeom>
          <a:noFill/>
        </p:spPr>
        <p:txBody>
          <a:bodyPr wrap="square">
            <a:spAutoFit/>
          </a:bodyPr>
          <a:lstStyle/>
          <a:p>
            <a:pPr algn="l"/>
            <a:r>
              <a:rPr sz="900" b="0" i="1">
                <a:solidFill>
                  <a:srgbClr val="00B050"/>
                </a:solidFill>
              </a:rPr>
              <a:t>RESOLVED ✅ — OTDR confirmed bad filter 03/09/2026. Issue cleared, no Crown Castle escalation needed.</a:t>
            </a:r>
          </a:p>
        </p:txBody>
      </p:sp>
      <p:sp>
        <p:nvSpPr>
          <p:cNvPr id="36" name="Rectangle 35"/>
          <p:cNvSpPr/>
          <p:nvPr/>
        </p:nvSpPr>
        <p:spPr>
          <a:xfrm>
            <a:off x="5943600" y="146304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0" y="146304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1888" y="1499616"/>
            <a:ext cx="1554480" cy="274320"/>
          </a:xfrm>
          <a:prstGeom prst="rect">
            <a:avLst/>
          </a:prstGeom>
          <a:noFill/>
        </p:spPr>
        <p:txBody>
          <a:bodyPr wrap="square">
            <a:spAutoFit/>
          </a:bodyPr>
          <a:lstStyle/>
          <a:p>
            <a:pPr algn="ctr"/>
            <a:r>
              <a:rPr sz="900" b="1" i="0">
                <a:solidFill>
                  <a:srgbClr val="00B050"/>
                </a:solidFill>
              </a:rPr>
              <a:t>COMPLETE ✅</a:t>
            </a:r>
          </a:p>
        </p:txBody>
      </p:sp>
      <p:sp>
        <p:nvSpPr>
          <p:cNvPr id="39" name="TextBox 38"/>
          <p:cNvSpPr txBox="1"/>
          <p:nvPr/>
        </p:nvSpPr>
        <p:spPr>
          <a:xfrm>
            <a:off x="7680960" y="1499616"/>
            <a:ext cx="4023360" cy="292608"/>
          </a:xfrm>
          <a:prstGeom prst="rect">
            <a:avLst/>
          </a:prstGeom>
          <a:noFill/>
        </p:spPr>
        <p:txBody>
          <a:bodyPr wrap="square">
            <a:spAutoFit/>
          </a:bodyPr>
          <a:lstStyle/>
          <a:p>
            <a:pPr algn="l"/>
            <a:r>
              <a:rPr sz="1100" b="1" i="0">
                <a:solidFill>
                  <a:srgbClr val="404040"/>
                </a:solidFill>
              </a:rPr>
              <a:t>Cat 6 Cabling — Hicksville NSP</a:t>
            </a:r>
          </a:p>
        </p:txBody>
      </p:sp>
      <p:sp>
        <p:nvSpPr>
          <p:cNvPr id="40" name="TextBox 39"/>
          <p:cNvSpPr txBox="1"/>
          <p:nvPr/>
        </p:nvSpPr>
        <p:spPr>
          <a:xfrm>
            <a:off x="6035040" y="1901952"/>
            <a:ext cx="5669280" cy="640080"/>
          </a:xfrm>
          <a:prstGeom prst="rect">
            <a:avLst/>
          </a:prstGeom>
          <a:noFill/>
        </p:spPr>
        <p:txBody>
          <a:bodyPr wrap="square">
            <a:spAutoFit/>
          </a:bodyPr>
          <a:lstStyle/>
          <a:p>
            <a:pPr algn="l"/>
            <a:r>
              <a:rPr sz="1000" b="0" i="0">
                <a:solidFill>
                  <a:srgbClr val="00B050"/>
                </a:solidFill>
              </a:rPr>
              <a:t>COMPLETE ✅ — Confirmed by Vinny (Hawkeye) 03/13/2026.</a:t>
            </a:r>
          </a:p>
        </p:txBody>
      </p:sp>
      <p:sp>
        <p:nvSpPr>
          <p:cNvPr id="41" name="Rectangle 40"/>
          <p:cNvSpPr/>
          <p:nvPr/>
        </p:nvSpPr>
        <p:spPr>
          <a:xfrm>
            <a:off x="5943600" y="2697480"/>
            <a:ext cx="5943600" cy="1143000"/>
          </a:xfrm>
          <a:prstGeom prst="rect">
            <a:avLst/>
          </a:prstGeom>
          <a:solidFill>
            <a:srgbClr val="FFFFFF"/>
          </a:solidFill>
          <a:ln w="2540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943600" y="2697480"/>
            <a:ext cx="164592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61888" y="2734056"/>
            <a:ext cx="1554480" cy="274320"/>
          </a:xfrm>
          <a:prstGeom prst="rect">
            <a:avLst/>
          </a:prstGeom>
          <a:noFill/>
        </p:spPr>
        <p:txBody>
          <a:bodyPr wrap="square">
            <a:spAutoFit/>
          </a:bodyPr>
          <a:lstStyle/>
          <a:p>
            <a:pPr algn="ctr"/>
            <a:r>
              <a:rPr sz="900" b="1" i="0" dirty="0">
                <a:solidFill>
                  <a:srgbClr val="00B050"/>
                </a:solidFill>
              </a:rPr>
              <a:t>COMPLETE ✅</a:t>
            </a:r>
          </a:p>
        </p:txBody>
      </p:sp>
      <p:sp>
        <p:nvSpPr>
          <p:cNvPr id="44" name="TextBox 43"/>
          <p:cNvSpPr txBox="1"/>
          <p:nvPr/>
        </p:nvSpPr>
        <p:spPr>
          <a:xfrm>
            <a:off x="7680960" y="2734056"/>
            <a:ext cx="4023360" cy="292608"/>
          </a:xfrm>
          <a:prstGeom prst="rect">
            <a:avLst/>
          </a:prstGeom>
          <a:noFill/>
        </p:spPr>
        <p:txBody>
          <a:bodyPr wrap="square">
            <a:spAutoFit/>
          </a:bodyPr>
          <a:lstStyle/>
          <a:p>
            <a:pPr algn="l"/>
            <a:r>
              <a:rPr sz="1100" b="1" i="0">
                <a:solidFill>
                  <a:srgbClr val="404040"/>
                </a:solidFill>
              </a:rPr>
              <a:t>OTDR Testing — Hicksville</a:t>
            </a:r>
          </a:p>
        </p:txBody>
      </p:sp>
      <p:sp>
        <p:nvSpPr>
          <p:cNvPr id="45" name="TextBox 44"/>
          <p:cNvSpPr txBox="1"/>
          <p:nvPr/>
        </p:nvSpPr>
        <p:spPr>
          <a:xfrm>
            <a:off x="6035040" y="3136392"/>
            <a:ext cx="5669280" cy="640080"/>
          </a:xfrm>
          <a:prstGeom prst="rect">
            <a:avLst/>
          </a:prstGeom>
          <a:noFill/>
        </p:spPr>
        <p:txBody>
          <a:bodyPr wrap="square">
            <a:spAutoFit/>
          </a:bodyPr>
          <a:lstStyle/>
          <a:p>
            <a:pPr algn="l"/>
            <a:r>
              <a:rPr sz="1000" b="0" i="0">
                <a:solidFill>
                  <a:srgbClr val="00B050"/>
                </a:solidFill>
              </a:rPr>
              <a:t>COMPLETE ✅ — 03/09/2026. Bad filter identified and resolved. Crown Castle fiber issue cleared.</a:t>
            </a:r>
          </a:p>
        </p:txBody>
      </p:sp>
      <p:sp>
        <p:nvSpPr>
          <p:cNvPr id="46" name="Rectangle 45"/>
          <p:cNvSpPr/>
          <p:nvPr/>
        </p:nvSpPr>
        <p:spPr>
          <a:xfrm>
            <a:off x="5943600" y="393192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393192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61888" y="3968496"/>
            <a:ext cx="1554480" cy="274320"/>
          </a:xfrm>
          <a:prstGeom prst="rect">
            <a:avLst/>
          </a:prstGeom>
          <a:noFill/>
        </p:spPr>
        <p:txBody>
          <a:bodyPr wrap="square">
            <a:spAutoFit/>
          </a:bodyPr>
          <a:lstStyle/>
          <a:p>
            <a:pPr algn="ctr"/>
            <a:r>
              <a:rPr sz="900" b="1" i="0">
                <a:solidFill>
                  <a:srgbClr val="FFFFFF"/>
                </a:solidFill>
              </a:rPr>
              <a:t>IN PROGRESS</a:t>
            </a:r>
          </a:p>
        </p:txBody>
      </p:sp>
      <p:sp>
        <p:nvSpPr>
          <p:cNvPr id="49" name="TextBox 48"/>
          <p:cNvSpPr txBox="1"/>
          <p:nvPr/>
        </p:nvSpPr>
        <p:spPr>
          <a:xfrm>
            <a:off x="7680960" y="3968496"/>
            <a:ext cx="4023360" cy="292608"/>
          </a:xfrm>
          <a:prstGeom prst="rect">
            <a:avLst/>
          </a:prstGeom>
          <a:noFill/>
        </p:spPr>
        <p:txBody>
          <a:bodyPr wrap="square">
            <a:spAutoFit/>
          </a:bodyPr>
          <a:lstStyle/>
          <a:p>
            <a:pPr algn="l"/>
            <a:r>
              <a:rPr sz="1100" b="1" i="0">
                <a:solidFill>
                  <a:srgbClr val="404040"/>
                </a:solidFill>
              </a:rPr>
              <a:t>Remote Access — Phase 2 Nodes</a:t>
            </a:r>
          </a:p>
        </p:txBody>
      </p:sp>
      <p:sp>
        <p:nvSpPr>
          <p:cNvPr id="50" name="TextBox 49"/>
          <p:cNvSpPr txBox="1"/>
          <p:nvPr/>
        </p:nvSpPr>
        <p:spPr>
          <a:xfrm>
            <a:off x="6035040" y="4370832"/>
            <a:ext cx="5669280" cy="640080"/>
          </a:xfrm>
          <a:prstGeom prst="rect">
            <a:avLst/>
          </a:prstGeom>
          <a:noFill/>
        </p:spPr>
        <p:txBody>
          <a:bodyPr wrap="square">
            <a:spAutoFit/>
          </a:bodyPr>
          <a:lstStyle/>
          <a:p>
            <a:pPr algn="l"/>
            <a:r>
              <a:rPr sz="750" b="0" i="0">
                <a:solidFill>
                  <a:srgbClr val="F7941D"/>
                </a:solidFill>
              </a:rPr>
              <a:t>✅ BGP APPROVED 3/16/2026 — Lee Blackman to begin change documentation. 🔴 ILO configuration is NOW the #1 critical path blocker — Rahiq/Brianna missing console cable &amp; firmware. Bill (B&amp;M) stepping in to resolve. ILO → BGP config → Remote access 31 routers → Phase 1 close Jun 2026.</a:t>
            </a:r>
          </a:p>
        </p:txBody>
      </p:sp>
      <p:sp>
        <p:nvSpPr>
          <p:cNvPr id="51" name="Rectangle 50"/>
          <p:cNvSpPr/>
          <p:nvPr/>
        </p:nvSpPr>
        <p:spPr>
          <a:xfrm>
            <a:off x="5943600" y="5166360"/>
            <a:ext cx="59436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166360"/>
            <a:ext cx="164592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61888" y="5202936"/>
            <a:ext cx="1554480" cy="274320"/>
          </a:xfrm>
          <a:prstGeom prst="rect">
            <a:avLst/>
          </a:prstGeom>
          <a:noFill/>
        </p:spPr>
        <p:txBody>
          <a:bodyPr wrap="square">
            <a:spAutoFit/>
          </a:bodyPr>
          <a:lstStyle/>
          <a:p>
            <a:pPr algn="ctr"/>
            <a:r>
              <a:rPr sz="900" b="1" i="0">
                <a:solidFill>
                  <a:srgbClr val="FFFFFF"/>
                </a:solidFill>
              </a:rPr>
              <a:t>COMPLETE</a:t>
            </a:r>
          </a:p>
        </p:txBody>
      </p:sp>
      <p:sp>
        <p:nvSpPr>
          <p:cNvPr id="54" name="TextBox 53"/>
          <p:cNvSpPr txBox="1"/>
          <p:nvPr/>
        </p:nvSpPr>
        <p:spPr>
          <a:xfrm>
            <a:off x="7680960" y="5202936"/>
            <a:ext cx="4023360" cy="292608"/>
          </a:xfrm>
          <a:prstGeom prst="rect">
            <a:avLst/>
          </a:prstGeom>
          <a:noFill/>
        </p:spPr>
        <p:txBody>
          <a:bodyPr wrap="square">
            <a:spAutoFit/>
          </a:bodyPr>
          <a:lstStyle/>
          <a:p>
            <a:pPr algn="l"/>
            <a:r>
              <a:rPr sz="1100" b="1" i="0">
                <a:solidFill>
                  <a:srgbClr val="404040"/>
                </a:solidFill>
              </a:rPr>
              <a:t>Phase 2 SSP / Security Reviews</a:t>
            </a:r>
          </a:p>
        </p:txBody>
      </p:sp>
      <p:sp>
        <p:nvSpPr>
          <p:cNvPr id="55" name="TextBox 54"/>
          <p:cNvSpPr txBox="1"/>
          <p:nvPr/>
        </p:nvSpPr>
        <p:spPr>
          <a:xfrm>
            <a:off x="6035040" y="5605272"/>
            <a:ext cx="5669280" cy="640080"/>
          </a:xfrm>
          <a:prstGeom prst="rect">
            <a:avLst/>
          </a:prstGeom>
          <a:noFill/>
        </p:spPr>
        <p:txBody>
          <a:bodyPr wrap="square">
            <a:spAutoFit/>
          </a:bodyPr>
          <a:lstStyle/>
          <a:p>
            <a:pPr algn="l"/>
            <a:r>
              <a:rPr sz="1000" b="0" i="0">
                <a:solidFill>
                  <a:srgbClr val="404040"/>
                </a:solidFill>
              </a:rPr>
              <a:t>Architecture review, security assessment, compliance readiness all approved 2/10/2026.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Next Steps &amp; Path to Completion</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March 2026 — July 2027</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1051560"/>
            <a:ext cx="603504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539496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5212080" cy="320040"/>
          </a:xfrm>
          <a:prstGeom prst="rect">
            <a:avLst/>
          </a:prstGeom>
          <a:noFill/>
        </p:spPr>
        <p:txBody>
          <a:bodyPr wrap="square">
            <a:spAutoFit/>
          </a:bodyPr>
          <a:lstStyle/>
          <a:p>
            <a:pPr algn="l"/>
            <a:r>
              <a:rPr sz="1200" b="1" i="0">
                <a:solidFill>
                  <a:srgbClr val="FFFFFF"/>
                </a:solidFill>
              </a:rPr>
              <a:t>IMMEDIATE (Next 30 Days)</a:t>
            </a:r>
          </a:p>
        </p:txBody>
      </p:sp>
      <p:sp>
        <p:nvSpPr>
          <p:cNvPr id="12" name="Rectangle 11"/>
          <p:cNvSpPr/>
          <p:nvPr/>
        </p:nvSpPr>
        <p:spPr>
          <a:xfrm>
            <a:off x="320040" y="153619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1591056"/>
            <a:ext cx="960120" cy="320040"/>
          </a:xfrm>
          <a:prstGeom prst="rect">
            <a:avLst/>
          </a:prstGeom>
          <a:noFill/>
        </p:spPr>
        <p:txBody>
          <a:bodyPr wrap="square">
            <a:spAutoFit/>
          </a:bodyPr>
          <a:lstStyle/>
          <a:p>
            <a:pPr algn="ctr"/>
            <a:r>
              <a:rPr sz="900" b="1" i="0">
                <a:solidFill>
                  <a:srgbClr val="FFFFFF"/>
                </a:solidFill>
              </a:rPr>
              <a:t>Mar 16</a:t>
            </a:r>
          </a:p>
        </p:txBody>
      </p:sp>
      <p:sp>
        <p:nvSpPr>
          <p:cNvPr id="14" name="TextBox 13"/>
          <p:cNvSpPr txBox="1"/>
          <p:nvPr/>
        </p:nvSpPr>
        <p:spPr>
          <a:xfrm>
            <a:off x="1417320" y="1591056"/>
            <a:ext cx="4114800" cy="246221"/>
          </a:xfrm>
          <a:prstGeom prst="rect">
            <a:avLst/>
          </a:prstGeom>
          <a:noFill/>
        </p:spPr>
        <p:txBody>
          <a:bodyPr wrap="square">
            <a:spAutoFit/>
          </a:bodyPr>
          <a:lstStyle/>
          <a:p>
            <a:pPr algn="l"/>
            <a:r>
              <a:rPr lang="en-US" sz="1000" b="0" i="0" dirty="0">
                <a:solidFill>
                  <a:srgbClr val="28A745"/>
                </a:solidFill>
              </a:rPr>
              <a:t>✅ BGP design approved 3/16 — Lee Blackman to proceed with Melville &amp; Hicksville change documentation</a:t>
            </a:r>
            <a:endParaRPr sz="1000" b="0" i="0" dirty="0">
              <a:solidFill>
                <a:srgbClr val="404040"/>
              </a:solidFill>
            </a:endParaRPr>
          </a:p>
        </p:txBody>
      </p:sp>
      <p:sp>
        <p:nvSpPr>
          <p:cNvPr id="15" name="Rectangle 14"/>
          <p:cNvSpPr/>
          <p:nvPr/>
        </p:nvSpPr>
        <p:spPr>
          <a:xfrm>
            <a:off x="320040" y="2103120"/>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157984"/>
            <a:ext cx="960120" cy="320040"/>
          </a:xfrm>
          <a:prstGeom prst="rect">
            <a:avLst/>
          </a:prstGeom>
          <a:noFill/>
        </p:spPr>
        <p:txBody>
          <a:bodyPr wrap="square">
            <a:spAutoFit/>
          </a:bodyPr>
          <a:lstStyle/>
          <a:p>
            <a:pPr algn="ctr"/>
            <a:r>
              <a:rPr sz="900" b="1" i="0">
                <a:solidFill>
                  <a:srgbClr val="FFFFFF"/>
                </a:solidFill>
              </a:rPr>
              <a:t>Mar 16</a:t>
            </a:r>
          </a:p>
        </p:txBody>
      </p:sp>
      <p:sp>
        <p:nvSpPr>
          <p:cNvPr id="18" name="Rectangle 17"/>
          <p:cNvSpPr/>
          <p:nvPr/>
        </p:nvSpPr>
        <p:spPr>
          <a:xfrm>
            <a:off x="320040" y="2670048"/>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2724912"/>
            <a:ext cx="960120" cy="320040"/>
          </a:xfrm>
          <a:prstGeom prst="rect">
            <a:avLst/>
          </a:prstGeom>
          <a:noFill/>
        </p:spPr>
        <p:txBody>
          <a:bodyPr wrap="square">
            <a:spAutoFit/>
          </a:bodyPr>
          <a:lstStyle/>
          <a:p>
            <a:pPr algn="ctr"/>
            <a:r>
              <a:rPr sz="900" b="1" i="0">
                <a:solidFill>
                  <a:srgbClr val="FFFFFF"/>
                </a:solidFill>
              </a:rPr>
              <a:t>Mar 2026</a:t>
            </a:r>
          </a:p>
        </p:txBody>
      </p:sp>
      <p:sp>
        <p:nvSpPr>
          <p:cNvPr id="20" name="TextBox 19"/>
          <p:cNvSpPr txBox="1"/>
          <p:nvPr/>
        </p:nvSpPr>
        <p:spPr>
          <a:xfrm>
            <a:off x="1431036" y="2157984"/>
            <a:ext cx="4114800" cy="384048"/>
          </a:xfrm>
          <a:prstGeom prst="rect">
            <a:avLst/>
          </a:prstGeom>
          <a:noFill/>
        </p:spPr>
        <p:txBody>
          <a:bodyPr wrap="square">
            <a:spAutoFit/>
          </a:bodyPr>
          <a:lstStyle/>
          <a:p>
            <a:pPr algn="l"/>
            <a:r>
              <a:rPr sz="1000" b="0" i="0">
                <a:solidFill>
                  <a:srgbClr val="F7941D"/>
                </a:solidFill>
              </a:rPr>
              <a:t>ILO config (🔴 BLOCKER — Bill/Rahiq resolving) → BGP config Hicksville &amp; Melville (Lee) → Remote access 31 routers → App cutover PREP → RTU cutovers → Phase 1 close Jun 2026</a:t>
            </a:r>
          </a:p>
        </p:txBody>
      </p:sp>
      <p:sp>
        <p:nvSpPr>
          <p:cNvPr id="21" name="Rectangle 20"/>
          <p:cNvSpPr/>
          <p:nvPr/>
        </p:nvSpPr>
        <p:spPr>
          <a:xfrm>
            <a:off x="320040" y="3236976"/>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 y="3291840"/>
            <a:ext cx="960120" cy="320040"/>
          </a:xfrm>
          <a:prstGeom prst="rect">
            <a:avLst/>
          </a:prstGeom>
          <a:noFill/>
        </p:spPr>
        <p:txBody>
          <a:bodyPr wrap="square">
            <a:spAutoFit/>
          </a:bodyPr>
          <a:lstStyle/>
          <a:p>
            <a:pPr algn="ctr"/>
            <a:r>
              <a:rPr sz="900" b="1" i="0">
                <a:solidFill>
                  <a:srgbClr val="FFFFFF"/>
                </a:solidFill>
              </a:rPr>
              <a:t>Mar 2026</a:t>
            </a:r>
          </a:p>
        </p:txBody>
      </p:sp>
      <p:sp>
        <p:nvSpPr>
          <p:cNvPr id="23" name="TextBox 22"/>
          <p:cNvSpPr txBox="1"/>
          <p:nvPr/>
        </p:nvSpPr>
        <p:spPr>
          <a:xfrm>
            <a:off x="1431036" y="2724912"/>
            <a:ext cx="4114800" cy="384048"/>
          </a:xfrm>
          <a:prstGeom prst="rect">
            <a:avLst/>
          </a:prstGeom>
          <a:noFill/>
        </p:spPr>
        <p:txBody>
          <a:bodyPr wrap="square">
            <a:spAutoFit/>
          </a:bodyPr>
          <a:lstStyle/>
          <a:p>
            <a:pPr algn="l"/>
            <a:r>
              <a:rPr sz="1000" b="0" i="0">
                <a:solidFill>
                  <a:srgbClr val="00B050"/>
                </a:solidFill>
              </a:rPr>
              <a:t>Wave 1 IFRs (Far Rockaway, Valley Stream, Cedarhurst) — COMPLETE ✅ Converted to IFC &amp; uploaded to shared drive</a:t>
            </a:r>
          </a:p>
        </p:txBody>
      </p:sp>
      <p:sp>
        <p:nvSpPr>
          <p:cNvPr id="24" name="Rectangle 23"/>
          <p:cNvSpPr/>
          <p:nvPr/>
        </p:nvSpPr>
        <p:spPr>
          <a:xfrm>
            <a:off x="320040" y="3803904"/>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3858768"/>
            <a:ext cx="960120" cy="320040"/>
          </a:xfrm>
          <a:prstGeom prst="rect">
            <a:avLst/>
          </a:prstGeom>
          <a:noFill/>
        </p:spPr>
        <p:txBody>
          <a:bodyPr wrap="square">
            <a:spAutoFit/>
          </a:bodyPr>
          <a:lstStyle/>
          <a:p>
            <a:pPr algn="ctr"/>
            <a:r>
              <a:rPr sz="900" b="1" i="0">
                <a:solidFill>
                  <a:srgbClr val="FFFFFF"/>
                </a:solidFill>
              </a:rPr>
              <a:t>Mar 9</a:t>
            </a:r>
          </a:p>
        </p:txBody>
      </p:sp>
      <p:sp>
        <p:nvSpPr>
          <p:cNvPr id="26" name="TextBox 25"/>
          <p:cNvSpPr txBox="1"/>
          <p:nvPr/>
        </p:nvSpPr>
        <p:spPr>
          <a:xfrm>
            <a:off x="1431036" y="3291840"/>
            <a:ext cx="4114800" cy="384048"/>
          </a:xfrm>
          <a:prstGeom prst="rect">
            <a:avLst/>
          </a:prstGeom>
          <a:noFill/>
        </p:spPr>
        <p:txBody>
          <a:bodyPr wrap="square">
            <a:spAutoFit/>
          </a:bodyPr>
          <a:lstStyle/>
          <a:p>
            <a:pPr algn="l"/>
            <a:r>
              <a:rPr sz="1000" b="0" i="0">
                <a:solidFill>
                  <a:srgbClr val="00B050"/>
                </a:solidFill>
              </a:rPr>
              <a:t>Wave 1 IFC approved by PSEG LI ✅ — Wave 2 IFR packages in progress</a:t>
            </a:r>
          </a:p>
        </p:txBody>
      </p:sp>
      <p:sp>
        <p:nvSpPr>
          <p:cNvPr id="27" name="Rectangle 26"/>
          <p:cNvSpPr/>
          <p:nvPr/>
        </p:nvSpPr>
        <p:spPr>
          <a:xfrm>
            <a:off x="320040" y="437083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 y="4425696"/>
            <a:ext cx="960120" cy="320040"/>
          </a:xfrm>
          <a:prstGeom prst="rect">
            <a:avLst/>
          </a:prstGeom>
          <a:noFill/>
        </p:spPr>
        <p:txBody>
          <a:bodyPr wrap="square">
            <a:spAutoFit/>
          </a:bodyPr>
          <a:lstStyle/>
          <a:p>
            <a:pPr algn="ctr"/>
            <a:r>
              <a:rPr sz="900" b="1" i="0">
                <a:solidFill>
                  <a:srgbClr val="FFFFFF"/>
                </a:solidFill>
              </a:rPr>
              <a:t>Mar 23</a:t>
            </a:r>
          </a:p>
        </p:txBody>
      </p:sp>
      <p:sp>
        <p:nvSpPr>
          <p:cNvPr id="29" name="TextBox 28"/>
          <p:cNvSpPr txBox="1"/>
          <p:nvPr/>
        </p:nvSpPr>
        <p:spPr>
          <a:xfrm>
            <a:off x="1431036" y="3858768"/>
            <a:ext cx="4114800" cy="384048"/>
          </a:xfrm>
          <a:prstGeom prst="rect">
            <a:avLst/>
          </a:prstGeom>
          <a:noFill/>
        </p:spPr>
        <p:txBody>
          <a:bodyPr wrap="square">
            <a:spAutoFit/>
          </a:bodyPr>
          <a:lstStyle/>
          <a:p>
            <a:pPr algn="l"/>
            <a:r>
              <a:rPr sz="1000" b="0" i="0">
                <a:solidFill>
                  <a:srgbClr val="00B050"/>
                </a:solidFill>
              </a:rPr>
              <a:t>✅ Wave 1 IFC complete — Far Rockaway, Valley Stream, Cedarhurst approved &amp; uploaded</a:t>
            </a:r>
          </a:p>
        </p:txBody>
      </p:sp>
      <p:sp>
        <p:nvSpPr>
          <p:cNvPr id="30" name="Rectangle 29"/>
          <p:cNvSpPr/>
          <p:nvPr/>
        </p:nvSpPr>
        <p:spPr>
          <a:xfrm>
            <a:off x="320040" y="4937759"/>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 y="4992623"/>
            <a:ext cx="960120" cy="320040"/>
          </a:xfrm>
          <a:prstGeom prst="rect">
            <a:avLst/>
          </a:prstGeom>
          <a:noFill/>
        </p:spPr>
        <p:txBody>
          <a:bodyPr wrap="square">
            <a:spAutoFit/>
          </a:bodyPr>
          <a:lstStyle/>
          <a:p>
            <a:pPr algn="ctr"/>
            <a:r>
              <a:rPr sz="900" b="1" i="0">
                <a:solidFill>
                  <a:srgbClr val="FFFFFF"/>
                </a:solidFill>
              </a:rPr>
              <a:t>Ongoing</a:t>
            </a:r>
          </a:p>
        </p:txBody>
      </p:sp>
      <p:sp>
        <p:nvSpPr>
          <p:cNvPr id="32" name="TextBox 31"/>
          <p:cNvSpPr txBox="1"/>
          <p:nvPr/>
        </p:nvSpPr>
        <p:spPr>
          <a:xfrm>
            <a:off x="1431036" y="4425695"/>
            <a:ext cx="4114800" cy="384048"/>
          </a:xfrm>
          <a:prstGeom prst="rect">
            <a:avLst/>
          </a:prstGeom>
          <a:noFill/>
        </p:spPr>
        <p:txBody>
          <a:bodyPr wrap="square">
            <a:spAutoFit/>
          </a:bodyPr>
          <a:lstStyle/>
          <a:p>
            <a:pPr algn="l"/>
            <a:r>
              <a:rPr sz="1000" b="0" i="0">
                <a:solidFill>
                  <a:srgbClr val="404040"/>
                </a:solidFill>
              </a:rPr>
              <a:t>Weekly status calls with B&amp;McD; monthly schedule updates</a:t>
            </a:r>
          </a:p>
        </p:txBody>
      </p:sp>
      <p:sp>
        <p:nvSpPr>
          <p:cNvPr id="33" name="Rectangle 32"/>
          <p:cNvSpPr/>
          <p:nvPr/>
        </p:nvSpPr>
        <p:spPr>
          <a:xfrm>
            <a:off x="5852160" y="1051560"/>
            <a:ext cx="603504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0" y="1078992"/>
            <a:ext cx="5852160" cy="320040"/>
          </a:xfrm>
          <a:prstGeom prst="rect">
            <a:avLst/>
          </a:prstGeom>
          <a:noFill/>
        </p:spPr>
        <p:txBody>
          <a:bodyPr wrap="square">
            <a:spAutoFit/>
          </a:bodyPr>
          <a:lstStyle/>
          <a:p>
            <a:pPr algn="l"/>
            <a:r>
              <a:rPr sz="1200" b="1" i="0">
                <a:solidFill>
                  <a:srgbClr val="FFFFFF"/>
                </a:solidFill>
              </a:rPr>
              <a:t>PATH TO COMPLETION</a:t>
            </a:r>
          </a:p>
        </p:txBody>
      </p:sp>
      <p:sp>
        <p:nvSpPr>
          <p:cNvPr id="35" name="Rectangle 34"/>
          <p:cNvSpPr/>
          <p:nvPr/>
        </p:nvSpPr>
        <p:spPr>
          <a:xfrm>
            <a:off x="5897880" y="1536192"/>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80" y="1536192"/>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16168" y="1645919"/>
            <a:ext cx="1325880" cy="347472"/>
          </a:xfrm>
          <a:prstGeom prst="rect">
            <a:avLst/>
          </a:prstGeom>
          <a:noFill/>
        </p:spPr>
        <p:txBody>
          <a:bodyPr wrap="square">
            <a:spAutoFit/>
          </a:bodyPr>
          <a:lstStyle/>
          <a:p>
            <a:pPr algn="ctr"/>
            <a:r>
              <a:rPr sz="1000" b="1" i="0">
                <a:solidFill>
                  <a:srgbClr val="FFFFFF"/>
                </a:solidFill>
              </a:rPr>
              <a:t>Q1 2026</a:t>
            </a:r>
          </a:p>
        </p:txBody>
      </p:sp>
      <p:sp>
        <p:nvSpPr>
          <p:cNvPr id="38" name="TextBox 37"/>
          <p:cNvSpPr txBox="1"/>
          <p:nvPr/>
        </p:nvSpPr>
        <p:spPr>
          <a:xfrm>
            <a:off x="7360920" y="1645919"/>
            <a:ext cx="4343400" cy="347472"/>
          </a:xfrm>
          <a:prstGeom prst="rect">
            <a:avLst/>
          </a:prstGeom>
          <a:noFill/>
        </p:spPr>
        <p:txBody>
          <a:bodyPr wrap="square">
            <a:spAutoFit/>
          </a:bodyPr>
          <a:lstStyle/>
          <a:p>
            <a:pPr algn="l"/>
            <a:r>
              <a:rPr sz="1100" b="0" i="0">
                <a:solidFill>
                  <a:srgbClr val="F7941D"/>
                </a:solidFill>
              </a:rPr>
              <a:t>Phase 1 Operational (Jun 2026)* | Phase 2 IFR/IFC design underway</a:t>
            </a:r>
          </a:p>
        </p:txBody>
      </p:sp>
      <p:sp>
        <p:nvSpPr>
          <p:cNvPr id="39" name="Rectangle 38"/>
          <p:cNvSpPr/>
          <p:nvPr/>
        </p:nvSpPr>
        <p:spPr>
          <a:xfrm>
            <a:off x="5897880" y="2194560"/>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2194560"/>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16168" y="2304288"/>
            <a:ext cx="1325880" cy="347472"/>
          </a:xfrm>
          <a:prstGeom prst="rect">
            <a:avLst/>
          </a:prstGeom>
          <a:noFill/>
        </p:spPr>
        <p:txBody>
          <a:bodyPr wrap="square">
            <a:spAutoFit/>
          </a:bodyPr>
          <a:lstStyle/>
          <a:p>
            <a:pPr algn="ctr"/>
            <a:r>
              <a:rPr sz="1000" b="1" i="0">
                <a:solidFill>
                  <a:srgbClr val="FFFFFF"/>
                </a:solidFill>
              </a:rPr>
              <a:t>Q2 2026</a:t>
            </a:r>
          </a:p>
        </p:txBody>
      </p:sp>
      <p:sp>
        <p:nvSpPr>
          <p:cNvPr id="42" name="TextBox 41"/>
          <p:cNvSpPr txBox="1"/>
          <p:nvPr/>
        </p:nvSpPr>
        <p:spPr>
          <a:xfrm>
            <a:off x="7360920" y="2304288"/>
            <a:ext cx="4343400" cy="347472"/>
          </a:xfrm>
          <a:prstGeom prst="rect">
            <a:avLst/>
          </a:prstGeom>
          <a:noFill/>
        </p:spPr>
        <p:txBody>
          <a:bodyPr wrap="square">
            <a:spAutoFit/>
          </a:bodyPr>
          <a:lstStyle/>
          <a:p>
            <a:pPr algn="l"/>
            <a:r>
              <a:rPr sz="1100" b="0" i="0">
                <a:solidFill>
                  <a:srgbClr val="404040"/>
                </a:solidFill>
              </a:rPr>
              <a:t>Phase 2 IFC completion (all 36 sites)</a:t>
            </a:r>
          </a:p>
        </p:txBody>
      </p:sp>
      <p:sp>
        <p:nvSpPr>
          <p:cNvPr id="43" name="Rectangle 42"/>
          <p:cNvSpPr/>
          <p:nvPr/>
        </p:nvSpPr>
        <p:spPr>
          <a:xfrm>
            <a:off x="5897880" y="2852928"/>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897880" y="2852928"/>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16168" y="2962656"/>
            <a:ext cx="1325880" cy="347472"/>
          </a:xfrm>
          <a:prstGeom prst="rect">
            <a:avLst/>
          </a:prstGeom>
          <a:noFill/>
        </p:spPr>
        <p:txBody>
          <a:bodyPr wrap="square">
            <a:spAutoFit/>
          </a:bodyPr>
          <a:lstStyle/>
          <a:p>
            <a:pPr algn="ctr"/>
            <a:r>
              <a:rPr sz="1000" b="1" i="0">
                <a:solidFill>
                  <a:srgbClr val="FFFFFF"/>
                </a:solidFill>
              </a:rPr>
              <a:t>Q2–Q3 2026</a:t>
            </a:r>
          </a:p>
        </p:txBody>
      </p:sp>
      <p:sp>
        <p:nvSpPr>
          <p:cNvPr id="46" name="TextBox 45"/>
          <p:cNvSpPr txBox="1"/>
          <p:nvPr/>
        </p:nvSpPr>
        <p:spPr>
          <a:xfrm>
            <a:off x="7360920" y="2962656"/>
            <a:ext cx="4343400" cy="347472"/>
          </a:xfrm>
          <a:prstGeom prst="rect">
            <a:avLst/>
          </a:prstGeom>
          <a:noFill/>
        </p:spPr>
        <p:txBody>
          <a:bodyPr wrap="square">
            <a:spAutoFit/>
          </a:bodyPr>
          <a:lstStyle/>
          <a:p>
            <a:pPr algn="l"/>
            <a:r>
              <a:rPr sz="1100" b="0" i="0">
                <a:solidFill>
                  <a:srgbClr val="404040"/>
                </a:solidFill>
              </a:rPr>
              <a:t>Phase 2 construction mobilization</a:t>
            </a:r>
          </a:p>
        </p:txBody>
      </p:sp>
      <p:sp>
        <p:nvSpPr>
          <p:cNvPr id="47" name="Rectangle 46"/>
          <p:cNvSpPr/>
          <p:nvPr/>
        </p:nvSpPr>
        <p:spPr>
          <a:xfrm>
            <a:off x="5897880" y="3511296"/>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897880" y="3511296"/>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16168" y="3621024"/>
            <a:ext cx="1325880" cy="347472"/>
          </a:xfrm>
          <a:prstGeom prst="rect">
            <a:avLst/>
          </a:prstGeom>
          <a:noFill/>
        </p:spPr>
        <p:txBody>
          <a:bodyPr wrap="square">
            <a:spAutoFit/>
          </a:bodyPr>
          <a:lstStyle/>
          <a:p>
            <a:pPr algn="ctr"/>
            <a:r>
              <a:rPr sz="1000" b="1" i="0">
                <a:solidFill>
                  <a:srgbClr val="FFFFFF"/>
                </a:solidFill>
              </a:rPr>
              <a:t>Q3–Q4 2026</a:t>
            </a:r>
          </a:p>
        </p:txBody>
      </p:sp>
      <p:sp>
        <p:nvSpPr>
          <p:cNvPr id="50" name="TextBox 49"/>
          <p:cNvSpPr txBox="1"/>
          <p:nvPr/>
        </p:nvSpPr>
        <p:spPr>
          <a:xfrm>
            <a:off x="7360920" y="3621024"/>
            <a:ext cx="4343400" cy="347472"/>
          </a:xfrm>
          <a:prstGeom prst="rect">
            <a:avLst/>
          </a:prstGeom>
          <a:noFill/>
        </p:spPr>
        <p:txBody>
          <a:bodyPr wrap="square">
            <a:spAutoFit/>
          </a:bodyPr>
          <a:lstStyle/>
          <a:p>
            <a:pPr algn="l"/>
            <a:r>
              <a:rPr sz="1100" b="0" i="0">
                <a:solidFill>
                  <a:srgbClr val="404040"/>
                </a:solidFill>
              </a:rPr>
              <a:t>Phase 2 installations at all 36 sites</a:t>
            </a:r>
          </a:p>
        </p:txBody>
      </p:sp>
      <p:sp>
        <p:nvSpPr>
          <p:cNvPr id="51" name="Rectangle 50"/>
          <p:cNvSpPr/>
          <p:nvPr/>
        </p:nvSpPr>
        <p:spPr>
          <a:xfrm>
            <a:off x="5897880" y="4169663"/>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97880" y="4169663"/>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6168" y="4279392"/>
            <a:ext cx="1325880" cy="347472"/>
          </a:xfrm>
          <a:prstGeom prst="rect">
            <a:avLst/>
          </a:prstGeom>
          <a:noFill/>
        </p:spPr>
        <p:txBody>
          <a:bodyPr wrap="square">
            <a:spAutoFit/>
          </a:bodyPr>
          <a:lstStyle/>
          <a:p>
            <a:pPr algn="ctr"/>
            <a:r>
              <a:rPr sz="1000" b="1" i="0">
                <a:solidFill>
                  <a:srgbClr val="FFFFFF"/>
                </a:solidFill>
              </a:rPr>
              <a:t>Q4 2026</a:t>
            </a:r>
          </a:p>
        </p:txBody>
      </p:sp>
      <p:sp>
        <p:nvSpPr>
          <p:cNvPr id="54" name="TextBox 53"/>
          <p:cNvSpPr txBox="1"/>
          <p:nvPr/>
        </p:nvSpPr>
        <p:spPr>
          <a:xfrm>
            <a:off x="7360920" y="4279392"/>
            <a:ext cx="4343400" cy="347472"/>
          </a:xfrm>
          <a:prstGeom prst="rect">
            <a:avLst/>
          </a:prstGeom>
          <a:noFill/>
        </p:spPr>
        <p:txBody>
          <a:bodyPr wrap="square">
            <a:spAutoFit/>
          </a:bodyPr>
          <a:lstStyle/>
          <a:p>
            <a:pPr algn="l"/>
            <a:r>
              <a:rPr sz="1100" b="0" i="0">
                <a:solidFill>
                  <a:srgbClr val="404040"/>
                </a:solidFill>
              </a:rPr>
              <a:t>Phase 2 cutovers — Waves 3 &amp; 4</a:t>
            </a:r>
          </a:p>
        </p:txBody>
      </p:sp>
      <p:sp>
        <p:nvSpPr>
          <p:cNvPr id="55" name="Rectangle 54"/>
          <p:cNvSpPr/>
          <p:nvPr/>
        </p:nvSpPr>
        <p:spPr>
          <a:xfrm>
            <a:off x="5897880" y="4828031"/>
            <a:ext cx="5897880" cy="566928"/>
          </a:xfrm>
          <a:prstGeom prst="rect">
            <a:avLst/>
          </a:prstGeom>
          <a:solidFill>
            <a:srgbClr val="FFFFFF"/>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4828031"/>
            <a:ext cx="1371600" cy="5669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16168" y="4937759"/>
            <a:ext cx="1325880" cy="347472"/>
          </a:xfrm>
          <a:prstGeom prst="rect">
            <a:avLst/>
          </a:prstGeom>
          <a:noFill/>
        </p:spPr>
        <p:txBody>
          <a:bodyPr wrap="square">
            <a:spAutoFit/>
          </a:bodyPr>
          <a:lstStyle/>
          <a:p>
            <a:pPr algn="ctr"/>
            <a:r>
              <a:rPr sz="1000" b="1" i="0">
                <a:solidFill>
                  <a:srgbClr val="FFFFFF"/>
                </a:solidFill>
              </a:rPr>
              <a:t>Q1 2027</a:t>
            </a:r>
          </a:p>
        </p:txBody>
      </p:sp>
      <p:sp>
        <p:nvSpPr>
          <p:cNvPr id="58" name="TextBox 57"/>
          <p:cNvSpPr txBox="1"/>
          <p:nvPr/>
        </p:nvSpPr>
        <p:spPr>
          <a:xfrm>
            <a:off x="7360920" y="4937759"/>
            <a:ext cx="4343400" cy="347472"/>
          </a:xfrm>
          <a:prstGeom prst="rect">
            <a:avLst/>
          </a:prstGeom>
          <a:noFill/>
        </p:spPr>
        <p:txBody>
          <a:bodyPr wrap="square">
            <a:spAutoFit/>
          </a:bodyPr>
          <a:lstStyle/>
          <a:p>
            <a:pPr algn="l"/>
            <a:r>
              <a:rPr sz="1100" b="0" i="0">
                <a:solidFill>
                  <a:srgbClr val="404040"/>
                </a:solidFill>
              </a:rPr>
              <a:t>As-built documentation complete</a:t>
            </a:r>
          </a:p>
        </p:txBody>
      </p:sp>
      <p:sp>
        <p:nvSpPr>
          <p:cNvPr id="59" name="Rectangle 58"/>
          <p:cNvSpPr/>
          <p:nvPr/>
        </p:nvSpPr>
        <p:spPr>
          <a:xfrm>
            <a:off x="5897880" y="5486400"/>
            <a:ext cx="5897880" cy="566928"/>
          </a:xfrm>
          <a:prstGeom prst="rect">
            <a:avLst/>
          </a:prstGeom>
          <a:solidFill>
            <a:srgbClr val="FFFFFF"/>
          </a:solidFill>
          <a:ln w="1905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5486400"/>
            <a:ext cx="1371600" cy="56692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16168" y="5596128"/>
            <a:ext cx="1325880" cy="347472"/>
          </a:xfrm>
          <a:prstGeom prst="rect">
            <a:avLst/>
          </a:prstGeom>
          <a:noFill/>
        </p:spPr>
        <p:txBody>
          <a:bodyPr wrap="square">
            <a:spAutoFit/>
          </a:bodyPr>
          <a:lstStyle/>
          <a:p>
            <a:pPr algn="ctr"/>
            <a:r>
              <a:rPr sz="1000" b="1" i="0">
                <a:solidFill>
                  <a:srgbClr val="FFFFFF"/>
                </a:solidFill>
              </a:rPr>
              <a:t>Jul 2027</a:t>
            </a:r>
          </a:p>
        </p:txBody>
      </p:sp>
      <p:sp>
        <p:nvSpPr>
          <p:cNvPr id="62" name="TextBox 61"/>
          <p:cNvSpPr txBox="1"/>
          <p:nvPr/>
        </p:nvSpPr>
        <p:spPr>
          <a:xfrm>
            <a:off x="7360920" y="5596128"/>
            <a:ext cx="4343400" cy="347472"/>
          </a:xfrm>
          <a:prstGeom prst="rect">
            <a:avLst/>
          </a:prstGeom>
          <a:noFill/>
        </p:spPr>
        <p:txBody>
          <a:bodyPr wrap="square">
            <a:spAutoFit/>
          </a:bodyPr>
          <a:lstStyle/>
          <a:p>
            <a:pPr algn="l"/>
            <a:r>
              <a:rPr sz="1100" b="0" i="0">
                <a:solidFill>
                  <a:srgbClr val="404040"/>
                </a:solidFill>
              </a:rPr>
              <a:t>🏁  Program Complete</a:t>
            </a:r>
          </a:p>
        </p:txBody>
      </p:sp>
      <p:sp>
        <p:nvSpPr>
          <p:cNvPr id="63" name="TextBox 62"/>
          <p:cNvSpPr txBox="1"/>
          <p:nvPr/>
        </p:nvSpPr>
        <p:spPr>
          <a:xfrm>
            <a:off x="274320" y="5870448"/>
            <a:ext cx="8321040" cy="384048"/>
          </a:xfrm>
          <a:prstGeom prst="rect">
            <a:avLst/>
          </a:prstGeom>
          <a:noFill/>
        </p:spPr>
        <p:txBody>
          <a:bodyPr wrap="square">
            <a:spAutoFit/>
          </a:bodyPr>
          <a:lstStyle/>
          <a:p>
            <a:r>
              <a:rPr sz="700" i="1">
                <a:solidFill>
                  <a:srgbClr val="F7941D"/>
                </a:solidFill>
              </a:rPr>
              <a:t>* Vik Vohra (Mar 16, 2026): "Phase One needs to be broken into micro-phases. Even though we've completed some, the entire phase is not complete."  Micro-phase status → Engineering ✅ 100% | Procurement ✅ 100% | Construction ✅ 100% | Deployment 🔴 ~5% | App Cutover 🔴 0% | RTU Cutover 🔴 0% | As-Builts/Decommission ⏳ 2027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229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40080"/>
          </a:xfrm>
          <a:prstGeom prst="rect">
            <a:avLst/>
          </a:prstGeom>
          <a:noFill/>
        </p:spPr>
        <p:txBody>
          <a:bodyPr wrap="square">
            <a:spAutoFit/>
          </a:bodyPr>
          <a:lstStyle/>
          <a:p>
            <a:pPr algn="l"/>
            <a:r>
              <a:rPr sz="2000" b="1">
                <a:solidFill>
                  <a:srgbClr val="FFFFFF"/>
                </a:solidFill>
              </a:rPr>
              <a:t>PRJ13797 — JMUX Replacement | Critical Path: Next 10 Steps</a:t>
            </a:r>
          </a:p>
        </p:txBody>
      </p:sp>
      <p:sp>
        <p:nvSpPr>
          <p:cNvPr id="4" name="TextBox 3"/>
          <p:cNvSpPr txBox="1"/>
          <p:nvPr/>
        </p:nvSpPr>
        <p:spPr>
          <a:xfrm>
            <a:off x="274320" y="841248"/>
            <a:ext cx="9144000" cy="274320"/>
          </a:xfrm>
          <a:prstGeom prst="rect">
            <a:avLst/>
          </a:prstGeom>
          <a:noFill/>
        </p:spPr>
        <p:txBody>
          <a:bodyPr wrap="square">
            <a:spAutoFit/>
          </a:bodyPr>
          <a:lstStyle/>
          <a:p>
            <a:pPr algn="l"/>
            <a:r>
              <a:rPr sz="1000" b="0">
                <a:solidFill>
                  <a:srgbClr val="AABBCC"/>
                </a:solidFill>
              </a:rPr>
              <a:t>As of March 18, 2026  |  Phase 1 Close Target: June 2026</a:t>
            </a:r>
          </a:p>
        </p:txBody>
      </p:sp>
      <p:sp>
        <p:nvSpPr>
          <p:cNvPr id="5" name="Rectangle 4"/>
          <p:cNvSpPr/>
          <p:nvPr/>
        </p:nvSpPr>
        <p:spPr>
          <a:xfrm>
            <a:off x="182880" y="1188720"/>
            <a:ext cx="5760720" cy="978407"/>
          </a:xfrm>
          <a:prstGeom prst="rect">
            <a:avLst/>
          </a:prstGeom>
          <a:solidFill>
            <a:srgbClr val="2A080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80160"/>
            <a:ext cx="347472"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280160"/>
            <a:ext cx="347472" cy="347472"/>
          </a:xfrm>
          <a:prstGeom prst="rect">
            <a:avLst/>
          </a:prstGeom>
          <a:noFill/>
        </p:spPr>
        <p:txBody>
          <a:bodyPr wrap="square">
            <a:spAutoFit/>
          </a:bodyPr>
          <a:lstStyle/>
          <a:p>
            <a:pPr algn="ctr"/>
            <a:r>
              <a:rPr sz="900" b="1">
                <a:solidFill>
                  <a:srgbClr val="FFFFFF"/>
                </a:solidFill>
              </a:rPr>
              <a:t>01</a:t>
            </a:r>
          </a:p>
        </p:txBody>
      </p:sp>
      <p:sp>
        <p:nvSpPr>
          <p:cNvPr id="8" name="TextBox 7"/>
          <p:cNvSpPr txBox="1"/>
          <p:nvPr/>
        </p:nvSpPr>
        <p:spPr>
          <a:xfrm>
            <a:off x="658368" y="1243584"/>
            <a:ext cx="5212080" cy="256032"/>
          </a:xfrm>
          <a:prstGeom prst="rect">
            <a:avLst/>
          </a:prstGeom>
          <a:noFill/>
        </p:spPr>
        <p:txBody>
          <a:bodyPr wrap="square">
            <a:spAutoFit/>
          </a:bodyPr>
          <a:lstStyle/>
          <a:p>
            <a:pPr algn="l"/>
            <a:r>
              <a:rPr sz="950" b="1">
                <a:solidFill>
                  <a:srgbClr val="FFFFFF"/>
                </a:solidFill>
              </a:rPr>
              <a:t>ILO Console Cable &amp; Firmware Resolution</a:t>
            </a:r>
          </a:p>
        </p:txBody>
      </p:sp>
      <p:sp>
        <p:nvSpPr>
          <p:cNvPr id="9" name="TextBox 8"/>
          <p:cNvSpPr txBox="1"/>
          <p:nvPr/>
        </p:nvSpPr>
        <p:spPr>
          <a:xfrm>
            <a:off x="658368" y="1472184"/>
            <a:ext cx="5212080" cy="201168"/>
          </a:xfrm>
          <a:prstGeom prst="rect">
            <a:avLst/>
          </a:prstGeom>
          <a:noFill/>
        </p:spPr>
        <p:txBody>
          <a:bodyPr wrap="square">
            <a:spAutoFit/>
          </a:bodyPr>
          <a:lstStyle/>
          <a:p>
            <a:pPr algn="l"/>
            <a:r>
              <a:rPr sz="750" b="0">
                <a:solidFill>
                  <a:srgbClr val="CC0000"/>
                </a:solidFill>
              </a:rPr>
              <a:t>📅 Mar 19–20, 2026   👤 Bill (B&amp;M) + Rahiq</a:t>
            </a:r>
          </a:p>
        </p:txBody>
      </p:sp>
      <p:sp>
        <p:nvSpPr>
          <p:cNvPr id="10" name="TextBox 9"/>
          <p:cNvSpPr txBox="1"/>
          <p:nvPr/>
        </p:nvSpPr>
        <p:spPr>
          <a:xfrm>
            <a:off x="658368" y="1664208"/>
            <a:ext cx="5212080" cy="411480"/>
          </a:xfrm>
          <a:prstGeom prst="rect">
            <a:avLst/>
          </a:prstGeom>
          <a:noFill/>
        </p:spPr>
        <p:txBody>
          <a:bodyPr wrap="square">
            <a:spAutoFit/>
          </a:bodyPr>
          <a:lstStyle/>
          <a:p>
            <a:pPr algn="l"/>
            <a:r>
              <a:rPr sz="750" b="0">
                <a:solidFill>
                  <a:srgbClr val="CCCCCC"/>
                </a:solidFill>
              </a:rPr>
              <a:t>Bill calls Rahiq to resolve missing console cable &amp; firmware. #1 blocker — unlocks everything downstream.</a:t>
            </a:r>
          </a:p>
        </p:txBody>
      </p:sp>
      <p:sp>
        <p:nvSpPr>
          <p:cNvPr id="11" name="Rectangle 10"/>
          <p:cNvSpPr/>
          <p:nvPr/>
        </p:nvSpPr>
        <p:spPr>
          <a:xfrm>
            <a:off x="6309360" y="1188720"/>
            <a:ext cx="5760720" cy="978407"/>
          </a:xfrm>
          <a:prstGeom prst="rect">
            <a:avLst/>
          </a:prstGeom>
          <a:solidFill>
            <a:srgbClr val="2A080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82512" y="1280160"/>
            <a:ext cx="347472"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280160"/>
            <a:ext cx="347472" cy="347472"/>
          </a:xfrm>
          <a:prstGeom prst="rect">
            <a:avLst/>
          </a:prstGeom>
          <a:noFill/>
        </p:spPr>
        <p:txBody>
          <a:bodyPr wrap="square">
            <a:spAutoFit/>
          </a:bodyPr>
          <a:lstStyle/>
          <a:p>
            <a:pPr algn="ctr"/>
            <a:r>
              <a:rPr sz="900" b="1">
                <a:solidFill>
                  <a:srgbClr val="FFFFFF"/>
                </a:solidFill>
              </a:rPr>
              <a:t>02</a:t>
            </a:r>
          </a:p>
        </p:txBody>
      </p:sp>
      <p:sp>
        <p:nvSpPr>
          <p:cNvPr id="14" name="TextBox 13"/>
          <p:cNvSpPr txBox="1"/>
          <p:nvPr/>
        </p:nvSpPr>
        <p:spPr>
          <a:xfrm>
            <a:off x="6784848" y="1243584"/>
            <a:ext cx="5212080" cy="256032"/>
          </a:xfrm>
          <a:prstGeom prst="rect">
            <a:avLst/>
          </a:prstGeom>
          <a:noFill/>
        </p:spPr>
        <p:txBody>
          <a:bodyPr wrap="square">
            <a:spAutoFit/>
          </a:bodyPr>
          <a:lstStyle/>
          <a:p>
            <a:pPr algn="l"/>
            <a:r>
              <a:rPr sz="950" b="1">
                <a:solidFill>
                  <a:srgbClr val="FFFFFF"/>
                </a:solidFill>
              </a:rPr>
              <a:t>ILO Port Activation &amp; Configuration</a:t>
            </a:r>
          </a:p>
        </p:txBody>
      </p:sp>
      <p:sp>
        <p:nvSpPr>
          <p:cNvPr id="15" name="TextBox 14"/>
          <p:cNvSpPr txBox="1"/>
          <p:nvPr/>
        </p:nvSpPr>
        <p:spPr>
          <a:xfrm>
            <a:off x="6784848" y="1472184"/>
            <a:ext cx="5212080" cy="201168"/>
          </a:xfrm>
          <a:prstGeom prst="rect">
            <a:avLst/>
          </a:prstGeom>
          <a:noFill/>
        </p:spPr>
        <p:txBody>
          <a:bodyPr wrap="square">
            <a:spAutoFit/>
          </a:bodyPr>
          <a:lstStyle/>
          <a:p>
            <a:pPr algn="l"/>
            <a:r>
              <a:rPr sz="750" b="0">
                <a:solidFill>
                  <a:srgbClr val="CC0000"/>
                </a:solidFill>
              </a:rPr>
              <a:t>📅 Mar 21–24, 2026   👤 Rahiq / Brianna / Bill</a:t>
            </a:r>
          </a:p>
        </p:txBody>
      </p:sp>
      <p:sp>
        <p:nvSpPr>
          <p:cNvPr id="16" name="TextBox 15"/>
          <p:cNvSpPr txBox="1"/>
          <p:nvPr/>
        </p:nvSpPr>
        <p:spPr>
          <a:xfrm>
            <a:off x="6784848" y="1664208"/>
            <a:ext cx="5212080" cy="411480"/>
          </a:xfrm>
          <a:prstGeom prst="rect">
            <a:avLst/>
          </a:prstGeom>
          <a:noFill/>
        </p:spPr>
        <p:txBody>
          <a:bodyPr wrap="square">
            <a:spAutoFit/>
          </a:bodyPr>
          <a:lstStyle/>
          <a:p>
            <a:pPr algn="l"/>
            <a:r>
              <a:rPr sz="750" b="0">
                <a:solidFill>
                  <a:srgbClr val="CCCCCC"/>
                </a:solidFill>
              </a:rPr>
              <a:t>Configure ILO management ports at Hicksville &amp; Melville. Change ticket to be opened.</a:t>
            </a:r>
          </a:p>
        </p:txBody>
      </p:sp>
      <p:sp>
        <p:nvSpPr>
          <p:cNvPr id="17" name="Rectangle 16"/>
          <p:cNvSpPr/>
          <p:nvPr/>
        </p:nvSpPr>
        <p:spPr>
          <a:xfrm>
            <a:off x="182880" y="2240280"/>
            <a:ext cx="5760720" cy="978407"/>
          </a:xfrm>
          <a:prstGeom prst="rect">
            <a:avLst/>
          </a:prstGeom>
          <a:solidFill>
            <a:srgbClr val="281804"/>
          </a:solidFill>
          <a:ln w="12700">
            <a:solidFill>
              <a:srgbClr val="DD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032" y="2331720"/>
            <a:ext cx="347472" cy="347472"/>
          </a:xfrm>
          <a:prstGeom prst="rect">
            <a:avLst/>
          </a:prstGeom>
          <a:solidFill>
            <a:srgbClr val="DD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2331720"/>
            <a:ext cx="347472" cy="347472"/>
          </a:xfrm>
          <a:prstGeom prst="rect">
            <a:avLst/>
          </a:prstGeom>
          <a:noFill/>
        </p:spPr>
        <p:txBody>
          <a:bodyPr wrap="square">
            <a:spAutoFit/>
          </a:bodyPr>
          <a:lstStyle/>
          <a:p>
            <a:pPr algn="ctr"/>
            <a:r>
              <a:rPr sz="900" b="1">
                <a:solidFill>
                  <a:srgbClr val="FFFFFF"/>
                </a:solidFill>
              </a:rPr>
              <a:t>03</a:t>
            </a:r>
          </a:p>
        </p:txBody>
      </p:sp>
      <p:sp>
        <p:nvSpPr>
          <p:cNvPr id="20" name="TextBox 19"/>
          <p:cNvSpPr txBox="1"/>
          <p:nvPr/>
        </p:nvSpPr>
        <p:spPr>
          <a:xfrm>
            <a:off x="658368" y="2295144"/>
            <a:ext cx="5212080" cy="256032"/>
          </a:xfrm>
          <a:prstGeom prst="rect">
            <a:avLst/>
          </a:prstGeom>
          <a:noFill/>
        </p:spPr>
        <p:txBody>
          <a:bodyPr wrap="square">
            <a:spAutoFit/>
          </a:bodyPr>
          <a:lstStyle/>
          <a:p>
            <a:pPr algn="l"/>
            <a:r>
              <a:rPr sz="950" b="1">
                <a:solidFill>
                  <a:srgbClr val="FFFFFF"/>
                </a:solidFill>
              </a:rPr>
              <a:t>Wire Drops to Equipment (Parallel)</a:t>
            </a:r>
          </a:p>
        </p:txBody>
      </p:sp>
      <p:sp>
        <p:nvSpPr>
          <p:cNvPr id="21" name="TextBox 20"/>
          <p:cNvSpPr txBox="1"/>
          <p:nvPr/>
        </p:nvSpPr>
        <p:spPr>
          <a:xfrm>
            <a:off x="658368" y="2523744"/>
            <a:ext cx="5212080" cy="201168"/>
          </a:xfrm>
          <a:prstGeom prst="rect">
            <a:avLst/>
          </a:prstGeom>
          <a:noFill/>
        </p:spPr>
        <p:txBody>
          <a:bodyPr wrap="square">
            <a:spAutoFit/>
          </a:bodyPr>
          <a:lstStyle/>
          <a:p>
            <a:pPr algn="l"/>
            <a:r>
              <a:rPr sz="750" b="0">
                <a:solidFill>
                  <a:srgbClr val="DD7700"/>
                </a:solidFill>
              </a:rPr>
              <a:t>📅 Mar 19–21, 2026   👤 Jay + Hawkeye</a:t>
            </a:r>
          </a:p>
        </p:txBody>
      </p:sp>
      <p:sp>
        <p:nvSpPr>
          <p:cNvPr id="22" name="TextBox 21"/>
          <p:cNvSpPr txBox="1"/>
          <p:nvPr/>
        </p:nvSpPr>
        <p:spPr>
          <a:xfrm>
            <a:off x="658368" y="2715768"/>
            <a:ext cx="5212080" cy="411480"/>
          </a:xfrm>
          <a:prstGeom prst="rect">
            <a:avLst/>
          </a:prstGeom>
          <a:noFill/>
        </p:spPr>
        <p:txBody>
          <a:bodyPr wrap="square">
            <a:spAutoFit/>
          </a:bodyPr>
          <a:lstStyle/>
          <a:p>
            <a:pPr algn="l"/>
            <a:r>
              <a:rPr sz="750" b="0">
                <a:solidFill>
                  <a:srgbClr val="CCCCCC"/>
                </a:solidFill>
              </a:rPr>
              <a:t>Walk-through with Hawkeye to complete drops from LGX panels to equipment. SFPs &amp; change order needed for final termination.</a:t>
            </a:r>
          </a:p>
        </p:txBody>
      </p:sp>
      <p:sp>
        <p:nvSpPr>
          <p:cNvPr id="23" name="Rectangle 22"/>
          <p:cNvSpPr/>
          <p:nvPr/>
        </p:nvSpPr>
        <p:spPr>
          <a:xfrm>
            <a:off x="6309360" y="2240280"/>
            <a:ext cx="5760720" cy="978407"/>
          </a:xfrm>
          <a:prstGeom prst="rect">
            <a:avLst/>
          </a:prstGeom>
          <a:solidFill>
            <a:srgbClr val="281804"/>
          </a:solidFill>
          <a:ln w="12700">
            <a:solidFill>
              <a:srgbClr val="DD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82512" y="2331720"/>
            <a:ext cx="347472" cy="347472"/>
          </a:xfrm>
          <a:prstGeom prst="rect">
            <a:avLst/>
          </a:prstGeom>
          <a:solidFill>
            <a:srgbClr val="DD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2331720"/>
            <a:ext cx="347472" cy="347472"/>
          </a:xfrm>
          <a:prstGeom prst="rect">
            <a:avLst/>
          </a:prstGeom>
          <a:noFill/>
        </p:spPr>
        <p:txBody>
          <a:bodyPr wrap="square">
            <a:spAutoFit/>
          </a:bodyPr>
          <a:lstStyle/>
          <a:p>
            <a:pPr algn="ctr"/>
            <a:r>
              <a:rPr sz="900" b="1">
                <a:solidFill>
                  <a:srgbClr val="FFFFFF"/>
                </a:solidFill>
              </a:rPr>
              <a:t>04</a:t>
            </a:r>
          </a:p>
        </p:txBody>
      </p:sp>
      <p:sp>
        <p:nvSpPr>
          <p:cNvPr id="26" name="TextBox 25"/>
          <p:cNvSpPr txBox="1"/>
          <p:nvPr/>
        </p:nvSpPr>
        <p:spPr>
          <a:xfrm>
            <a:off x="6784848" y="2295144"/>
            <a:ext cx="5212080" cy="256032"/>
          </a:xfrm>
          <a:prstGeom prst="rect">
            <a:avLst/>
          </a:prstGeom>
          <a:noFill/>
        </p:spPr>
        <p:txBody>
          <a:bodyPr wrap="square">
            <a:spAutoFit/>
          </a:bodyPr>
          <a:lstStyle/>
          <a:p>
            <a:pPr algn="l"/>
            <a:r>
              <a:rPr sz="950" b="1">
                <a:solidFill>
                  <a:srgbClr val="FFFFFF"/>
                </a:solidFill>
              </a:rPr>
              <a:t>Nokia Training</a:t>
            </a:r>
          </a:p>
        </p:txBody>
      </p:sp>
      <p:sp>
        <p:nvSpPr>
          <p:cNvPr id="27" name="TextBox 26"/>
          <p:cNvSpPr txBox="1"/>
          <p:nvPr/>
        </p:nvSpPr>
        <p:spPr>
          <a:xfrm>
            <a:off x="6784848" y="2523744"/>
            <a:ext cx="5212080" cy="201168"/>
          </a:xfrm>
          <a:prstGeom prst="rect">
            <a:avLst/>
          </a:prstGeom>
          <a:noFill/>
        </p:spPr>
        <p:txBody>
          <a:bodyPr wrap="square">
            <a:spAutoFit/>
          </a:bodyPr>
          <a:lstStyle/>
          <a:p>
            <a:pPr algn="l"/>
            <a:r>
              <a:rPr sz="750" b="0">
                <a:solidFill>
                  <a:srgbClr val="DD7700"/>
                </a:solidFill>
              </a:rPr>
              <a:t>📅 Mar 19, 2026 — 3:00 PM   👤 Jay / Rahiq / PSEG LI Team</a:t>
            </a:r>
          </a:p>
        </p:txBody>
      </p:sp>
      <p:sp>
        <p:nvSpPr>
          <p:cNvPr id="28" name="TextBox 27"/>
          <p:cNvSpPr txBox="1"/>
          <p:nvPr/>
        </p:nvSpPr>
        <p:spPr>
          <a:xfrm>
            <a:off x="6784848" y="2715768"/>
            <a:ext cx="5212080" cy="411480"/>
          </a:xfrm>
          <a:prstGeom prst="rect">
            <a:avLst/>
          </a:prstGeom>
          <a:noFill/>
        </p:spPr>
        <p:txBody>
          <a:bodyPr wrap="square">
            <a:spAutoFit/>
          </a:bodyPr>
          <a:lstStyle/>
          <a:p>
            <a:pPr algn="l"/>
            <a:r>
              <a:rPr sz="750" b="0">
                <a:solidFill>
                  <a:srgbClr val="CCCCCC"/>
                </a:solidFill>
              </a:rPr>
              <a:t>Glenn (Nokia) + PSEG LI technical team. Confirmed on calendar.</a:t>
            </a:r>
          </a:p>
        </p:txBody>
      </p:sp>
      <p:sp>
        <p:nvSpPr>
          <p:cNvPr id="29" name="Rectangle 28"/>
          <p:cNvSpPr/>
          <p:nvPr/>
        </p:nvSpPr>
        <p:spPr>
          <a:xfrm>
            <a:off x="182880" y="3291839"/>
            <a:ext cx="5760720" cy="978407"/>
          </a:xfrm>
          <a:prstGeom prst="rect">
            <a:avLst/>
          </a:prstGeom>
          <a:solidFill>
            <a:srgbClr val="221E04"/>
          </a:solidFill>
          <a:ln w="12700">
            <a:solidFill>
              <a:srgbClr val="CC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6032" y="3383279"/>
            <a:ext cx="347472" cy="347472"/>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 y="3383279"/>
            <a:ext cx="347472" cy="347472"/>
          </a:xfrm>
          <a:prstGeom prst="rect">
            <a:avLst/>
          </a:prstGeom>
          <a:noFill/>
        </p:spPr>
        <p:txBody>
          <a:bodyPr wrap="square">
            <a:spAutoFit/>
          </a:bodyPr>
          <a:lstStyle/>
          <a:p>
            <a:pPr algn="ctr"/>
            <a:r>
              <a:rPr sz="900" b="1">
                <a:solidFill>
                  <a:srgbClr val="FFFFFF"/>
                </a:solidFill>
              </a:rPr>
              <a:t>05</a:t>
            </a:r>
          </a:p>
        </p:txBody>
      </p:sp>
      <p:sp>
        <p:nvSpPr>
          <p:cNvPr id="32" name="TextBox 31"/>
          <p:cNvSpPr txBox="1"/>
          <p:nvPr/>
        </p:nvSpPr>
        <p:spPr>
          <a:xfrm>
            <a:off x="658368" y="3346703"/>
            <a:ext cx="5212080" cy="256032"/>
          </a:xfrm>
          <a:prstGeom prst="rect">
            <a:avLst/>
          </a:prstGeom>
          <a:noFill/>
        </p:spPr>
        <p:txBody>
          <a:bodyPr wrap="square">
            <a:spAutoFit/>
          </a:bodyPr>
          <a:lstStyle/>
          <a:p>
            <a:pPr algn="l"/>
            <a:r>
              <a:rPr sz="950" b="1">
                <a:solidFill>
                  <a:srgbClr val="FFFFFF"/>
                </a:solidFill>
              </a:rPr>
              <a:t>Phase 2 BOM &amp; Inventory Reconciliation</a:t>
            </a:r>
          </a:p>
        </p:txBody>
      </p:sp>
      <p:sp>
        <p:nvSpPr>
          <p:cNvPr id="33" name="TextBox 32"/>
          <p:cNvSpPr txBox="1"/>
          <p:nvPr/>
        </p:nvSpPr>
        <p:spPr>
          <a:xfrm>
            <a:off x="658368" y="3575303"/>
            <a:ext cx="5212080" cy="201168"/>
          </a:xfrm>
          <a:prstGeom prst="rect">
            <a:avLst/>
          </a:prstGeom>
          <a:noFill/>
        </p:spPr>
        <p:txBody>
          <a:bodyPr wrap="square">
            <a:spAutoFit/>
          </a:bodyPr>
          <a:lstStyle/>
          <a:p>
            <a:pPr algn="l"/>
            <a:r>
              <a:rPr sz="750" b="0">
                <a:solidFill>
                  <a:srgbClr val="CCAA00"/>
                </a:solidFill>
              </a:rPr>
              <a:t>📅 Week of Mar 23, 2026   👤 Jay + Vinny</a:t>
            </a:r>
          </a:p>
        </p:txBody>
      </p:sp>
      <p:sp>
        <p:nvSpPr>
          <p:cNvPr id="34" name="TextBox 33"/>
          <p:cNvSpPr txBox="1"/>
          <p:nvPr/>
        </p:nvSpPr>
        <p:spPr>
          <a:xfrm>
            <a:off x="658368" y="3767327"/>
            <a:ext cx="5212080" cy="411480"/>
          </a:xfrm>
          <a:prstGeom prst="rect">
            <a:avLst/>
          </a:prstGeom>
          <a:noFill/>
        </p:spPr>
        <p:txBody>
          <a:bodyPr wrap="square">
            <a:spAutoFit/>
          </a:bodyPr>
          <a:lstStyle/>
          <a:p>
            <a:pPr algn="l"/>
            <a:r>
              <a:rPr sz="750" b="0">
                <a:solidFill>
                  <a:srgbClr val="CCCCCC"/>
                </a:solidFill>
              </a:rPr>
              <a:t>Visit Hawkeye trailer — inventory Phase 2 Nokia equipment vs BOM. Identify supply chain gaps before ordering.</a:t>
            </a:r>
          </a:p>
        </p:txBody>
      </p:sp>
      <p:sp>
        <p:nvSpPr>
          <p:cNvPr id="35" name="Rectangle 34"/>
          <p:cNvSpPr/>
          <p:nvPr/>
        </p:nvSpPr>
        <p:spPr>
          <a:xfrm>
            <a:off x="6309360" y="3291839"/>
            <a:ext cx="5760720" cy="978407"/>
          </a:xfrm>
          <a:prstGeom prst="rect">
            <a:avLst/>
          </a:prstGeom>
          <a:solidFill>
            <a:srgbClr val="221E04"/>
          </a:solidFill>
          <a:ln w="12700">
            <a:solidFill>
              <a:srgbClr val="CC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82512" y="3383279"/>
            <a:ext cx="347472" cy="347472"/>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3383279"/>
            <a:ext cx="347472" cy="347472"/>
          </a:xfrm>
          <a:prstGeom prst="rect">
            <a:avLst/>
          </a:prstGeom>
          <a:noFill/>
        </p:spPr>
        <p:txBody>
          <a:bodyPr wrap="square">
            <a:spAutoFit/>
          </a:bodyPr>
          <a:lstStyle/>
          <a:p>
            <a:pPr algn="ctr"/>
            <a:r>
              <a:rPr sz="900" b="1">
                <a:solidFill>
                  <a:srgbClr val="FFFFFF"/>
                </a:solidFill>
              </a:rPr>
              <a:t>06</a:t>
            </a:r>
          </a:p>
        </p:txBody>
      </p:sp>
      <p:sp>
        <p:nvSpPr>
          <p:cNvPr id="38" name="TextBox 37"/>
          <p:cNvSpPr txBox="1"/>
          <p:nvPr/>
        </p:nvSpPr>
        <p:spPr>
          <a:xfrm>
            <a:off x="6784848" y="3346703"/>
            <a:ext cx="5212080" cy="256032"/>
          </a:xfrm>
          <a:prstGeom prst="rect">
            <a:avLst/>
          </a:prstGeom>
          <a:noFill/>
        </p:spPr>
        <p:txBody>
          <a:bodyPr wrap="square">
            <a:spAutoFit/>
          </a:bodyPr>
          <a:lstStyle/>
          <a:p>
            <a:pPr algn="l"/>
            <a:r>
              <a:rPr sz="950" b="1">
                <a:solidFill>
                  <a:srgbClr val="FFFFFF"/>
                </a:solidFill>
              </a:rPr>
              <a:t>BGP Configuration — Hicksville &amp; Melville</a:t>
            </a:r>
          </a:p>
        </p:txBody>
      </p:sp>
      <p:sp>
        <p:nvSpPr>
          <p:cNvPr id="39" name="TextBox 38"/>
          <p:cNvSpPr txBox="1"/>
          <p:nvPr/>
        </p:nvSpPr>
        <p:spPr>
          <a:xfrm>
            <a:off x="6784848" y="3575303"/>
            <a:ext cx="5212080" cy="201168"/>
          </a:xfrm>
          <a:prstGeom prst="rect">
            <a:avLst/>
          </a:prstGeom>
          <a:noFill/>
        </p:spPr>
        <p:txBody>
          <a:bodyPr wrap="square">
            <a:spAutoFit/>
          </a:bodyPr>
          <a:lstStyle/>
          <a:p>
            <a:pPr algn="l"/>
            <a:r>
              <a:rPr sz="750" b="0">
                <a:solidFill>
                  <a:srgbClr val="CCAA00"/>
                </a:solidFill>
              </a:rPr>
              <a:t>📅 Mar 24–28, 2026   👤 Lee Blackman</a:t>
            </a:r>
          </a:p>
        </p:txBody>
      </p:sp>
      <p:sp>
        <p:nvSpPr>
          <p:cNvPr id="40" name="TextBox 39"/>
          <p:cNvSpPr txBox="1"/>
          <p:nvPr/>
        </p:nvSpPr>
        <p:spPr>
          <a:xfrm>
            <a:off x="6784848" y="3767327"/>
            <a:ext cx="5212080" cy="411480"/>
          </a:xfrm>
          <a:prstGeom prst="rect">
            <a:avLst/>
          </a:prstGeom>
          <a:noFill/>
        </p:spPr>
        <p:txBody>
          <a:bodyPr wrap="square">
            <a:spAutoFit/>
          </a:bodyPr>
          <a:lstStyle/>
          <a:p>
            <a:pPr algn="l"/>
            <a:r>
              <a:rPr sz="750" b="0">
                <a:solidFill>
                  <a:srgbClr val="CCCCCC"/>
                </a:solidFill>
              </a:rPr>
              <a:t>BGP config at both hub sites after ILO complete. Change documentation submitted. Remote access into routers.</a:t>
            </a:r>
          </a:p>
        </p:txBody>
      </p:sp>
      <p:sp>
        <p:nvSpPr>
          <p:cNvPr id="41" name="Rectangle 40"/>
          <p:cNvSpPr/>
          <p:nvPr/>
        </p:nvSpPr>
        <p:spPr>
          <a:xfrm>
            <a:off x="182880" y="4343400"/>
            <a:ext cx="5760720" cy="978407"/>
          </a:xfrm>
          <a:prstGeom prst="rect">
            <a:avLst/>
          </a:prstGeom>
          <a:solidFill>
            <a:srgbClr val="051A0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032" y="4434840"/>
            <a:ext cx="347472"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 y="4434840"/>
            <a:ext cx="347472" cy="347472"/>
          </a:xfrm>
          <a:prstGeom prst="rect">
            <a:avLst/>
          </a:prstGeom>
          <a:noFill/>
        </p:spPr>
        <p:txBody>
          <a:bodyPr wrap="square">
            <a:spAutoFit/>
          </a:bodyPr>
          <a:lstStyle/>
          <a:p>
            <a:pPr algn="ctr"/>
            <a:r>
              <a:rPr sz="900" b="1">
                <a:solidFill>
                  <a:srgbClr val="FFFFFF"/>
                </a:solidFill>
              </a:rPr>
              <a:t>07</a:t>
            </a:r>
          </a:p>
        </p:txBody>
      </p:sp>
      <p:sp>
        <p:nvSpPr>
          <p:cNvPr id="44" name="TextBox 43"/>
          <p:cNvSpPr txBox="1"/>
          <p:nvPr/>
        </p:nvSpPr>
        <p:spPr>
          <a:xfrm>
            <a:off x="658368" y="4398264"/>
            <a:ext cx="5212080" cy="256032"/>
          </a:xfrm>
          <a:prstGeom prst="rect">
            <a:avLst/>
          </a:prstGeom>
          <a:noFill/>
        </p:spPr>
        <p:txBody>
          <a:bodyPr wrap="square">
            <a:spAutoFit/>
          </a:bodyPr>
          <a:lstStyle/>
          <a:p>
            <a:pPr algn="l"/>
            <a:r>
              <a:rPr sz="950" b="1">
                <a:solidFill>
                  <a:srgbClr val="FFFFFF"/>
                </a:solidFill>
              </a:rPr>
              <a:t>IFR Submissions — Green Acres &amp; Berry Street</a:t>
            </a:r>
          </a:p>
        </p:txBody>
      </p:sp>
      <p:sp>
        <p:nvSpPr>
          <p:cNvPr id="45" name="TextBox 44"/>
          <p:cNvSpPr txBox="1"/>
          <p:nvPr/>
        </p:nvSpPr>
        <p:spPr>
          <a:xfrm>
            <a:off x="658368" y="4626864"/>
            <a:ext cx="5212080" cy="201168"/>
          </a:xfrm>
          <a:prstGeom prst="rect">
            <a:avLst/>
          </a:prstGeom>
          <a:noFill/>
        </p:spPr>
        <p:txBody>
          <a:bodyPr wrap="square">
            <a:spAutoFit/>
          </a:bodyPr>
          <a:lstStyle/>
          <a:p>
            <a:pPr algn="l"/>
            <a:r>
              <a:rPr sz="750" b="0">
                <a:solidFill>
                  <a:srgbClr val="16A34A"/>
                </a:solidFill>
              </a:rPr>
              <a:t>📅 Mar 30, 2026   👤 BMcD (Ethan Koch)</a:t>
            </a:r>
          </a:p>
        </p:txBody>
      </p:sp>
      <p:sp>
        <p:nvSpPr>
          <p:cNvPr id="46" name="TextBox 45"/>
          <p:cNvSpPr txBox="1"/>
          <p:nvPr/>
        </p:nvSpPr>
        <p:spPr>
          <a:xfrm>
            <a:off x="658368" y="4818888"/>
            <a:ext cx="5212080" cy="411480"/>
          </a:xfrm>
          <a:prstGeom prst="rect">
            <a:avLst/>
          </a:prstGeom>
          <a:noFill/>
        </p:spPr>
        <p:txBody>
          <a:bodyPr wrap="square">
            <a:spAutoFit/>
          </a:bodyPr>
          <a:lstStyle/>
          <a:p>
            <a:pPr algn="l"/>
            <a:r>
              <a:rPr sz="750" b="0">
                <a:solidFill>
                  <a:srgbClr val="CCCCCC"/>
                </a:solidFill>
              </a:rPr>
              <a:t>BMcD submits IFR packages for 2RB Green Acres and 7W Berry Street. Currently on track.</a:t>
            </a:r>
          </a:p>
        </p:txBody>
      </p:sp>
      <p:sp>
        <p:nvSpPr>
          <p:cNvPr id="47" name="Rectangle 46"/>
          <p:cNvSpPr/>
          <p:nvPr/>
        </p:nvSpPr>
        <p:spPr>
          <a:xfrm>
            <a:off x="6309360" y="4343400"/>
            <a:ext cx="5760720" cy="978407"/>
          </a:xfrm>
          <a:prstGeom prst="rect">
            <a:avLst/>
          </a:prstGeom>
          <a:solidFill>
            <a:srgbClr val="221E04"/>
          </a:solidFill>
          <a:ln w="12700">
            <a:solidFill>
              <a:srgbClr val="CC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382512" y="4434840"/>
            <a:ext cx="347472" cy="347472"/>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82512" y="4434840"/>
            <a:ext cx="347472" cy="347472"/>
          </a:xfrm>
          <a:prstGeom prst="rect">
            <a:avLst/>
          </a:prstGeom>
          <a:noFill/>
        </p:spPr>
        <p:txBody>
          <a:bodyPr wrap="square">
            <a:spAutoFit/>
          </a:bodyPr>
          <a:lstStyle/>
          <a:p>
            <a:pPr algn="ctr"/>
            <a:r>
              <a:rPr sz="900" b="1">
                <a:solidFill>
                  <a:srgbClr val="FFFFFF"/>
                </a:solidFill>
              </a:rPr>
              <a:t>08</a:t>
            </a:r>
          </a:p>
        </p:txBody>
      </p:sp>
      <p:sp>
        <p:nvSpPr>
          <p:cNvPr id="50" name="TextBox 49"/>
          <p:cNvSpPr txBox="1"/>
          <p:nvPr/>
        </p:nvSpPr>
        <p:spPr>
          <a:xfrm>
            <a:off x="6784848" y="4398264"/>
            <a:ext cx="5212080" cy="256032"/>
          </a:xfrm>
          <a:prstGeom prst="rect">
            <a:avLst/>
          </a:prstGeom>
          <a:noFill/>
        </p:spPr>
        <p:txBody>
          <a:bodyPr wrap="square">
            <a:spAutoFit/>
          </a:bodyPr>
          <a:lstStyle/>
          <a:p>
            <a:pPr algn="l"/>
            <a:r>
              <a:rPr sz="950" b="1">
                <a:solidFill>
                  <a:srgbClr val="FFFFFF"/>
                </a:solidFill>
              </a:rPr>
              <a:t>Remote Access Config — All 31 Routers</a:t>
            </a:r>
          </a:p>
        </p:txBody>
      </p:sp>
      <p:sp>
        <p:nvSpPr>
          <p:cNvPr id="51" name="TextBox 50"/>
          <p:cNvSpPr txBox="1"/>
          <p:nvPr/>
        </p:nvSpPr>
        <p:spPr>
          <a:xfrm>
            <a:off x="6784848" y="4626864"/>
            <a:ext cx="5212080" cy="201168"/>
          </a:xfrm>
          <a:prstGeom prst="rect">
            <a:avLst/>
          </a:prstGeom>
          <a:noFill/>
        </p:spPr>
        <p:txBody>
          <a:bodyPr wrap="square">
            <a:spAutoFit/>
          </a:bodyPr>
          <a:lstStyle/>
          <a:p>
            <a:pPr algn="l"/>
            <a:r>
              <a:rPr sz="750" b="0">
                <a:solidFill>
                  <a:srgbClr val="CCAA00"/>
                </a:solidFill>
              </a:rPr>
              <a:t>📅 Apr 1–18, 2026   👤 Lee Blackman</a:t>
            </a:r>
          </a:p>
        </p:txBody>
      </p:sp>
      <p:sp>
        <p:nvSpPr>
          <p:cNvPr id="52" name="TextBox 51"/>
          <p:cNvSpPr txBox="1"/>
          <p:nvPr/>
        </p:nvSpPr>
        <p:spPr>
          <a:xfrm>
            <a:off x="6784848" y="4818888"/>
            <a:ext cx="5212080" cy="411480"/>
          </a:xfrm>
          <a:prstGeom prst="rect">
            <a:avLst/>
          </a:prstGeom>
          <a:noFill/>
        </p:spPr>
        <p:txBody>
          <a:bodyPr wrap="square">
            <a:spAutoFit/>
          </a:bodyPr>
          <a:lstStyle/>
          <a:p>
            <a:pPr algn="l"/>
            <a:r>
              <a:rPr sz="750" b="0">
                <a:solidFill>
                  <a:srgbClr val="CCCCCC"/>
                </a:solidFill>
              </a:rPr>
              <a:t>Lee configures all 31 routers remotely once Hicksville &amp; Melville BGP is validated.</a:t>
            </a:r>
          </a:p>
        </p:txBody>
      </p:sp>
      <p:sp>
        <p:nvSpPr>
          <p:cNvPr id="53" name="Rectangle 52"/>
          <p:cNvSpPr/>
          <p:nvPr/>
        </p:nvSpPr>
        <p:spPr>
          <a:xfrm>
            <a:off x="182880" y="5394959"/>
            <a:ext cx="5760720" cy="978407"/>
          </a:xfrm>
          <a:prstGeom prst="rect">
            <a:avLst/>
          </a:prstGeom>
          <a:solidFill>
            <a:srgbClr val="281804"/>
          </a:solidFill>
          <a:ln w="12700">
            <a:solidFill>
              <a:srgbClr val="DD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56032" y="5486399"/>
            <a:ext cx="347472" cy="347472"/>
          </a:xfrm>
          <a:prstGeom prst="rect">
            <a:avLst/>
          </a:prstGeom>
          <a:solidFill>
            <a:srgbClr val="DD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6032" y="5486399"/>
            <a:ext cx="347472" cy="347472"/>
          </a:xfrm>
          <a:prstGeom prst="rect">
            <a:avLst/>
          </a:prstGeom>
          <a:noFill/>
        </p:spPr>
        <p:txBody>
          <a:bodyPr wrap="square">
            <a:spAutoFit/>
          </a:bodyPr>
          <a:lstStyle/>
          <a:p>
            <a:pPr algn="ctr"/>
            <a:r>
              <a:rPr sz="900" b="1">
                <a:solidFill>
                  <a:srgbClr val="FFFFFF"/>
                </a:solidFill>
              </a:rPr>
              <a:t>09</a:t>
            </a:r>
          </a:p>
        </p:txBody>
      </p:sp>
      <p:sp>
        <p:nvSpPr>
          <p:cNvPr id="56" name="TextBox 55"/>
          <p:cNvSpPr txBox="1"/>
          <p:nvPr/>
        </p:nvSpPr>
        <p:spPr>
          <a:xfrm>
            <a:off x="658368" y="5449823"/>
            <a:ext cx="5212080" cy="256032"/>
          </a:xfrm>
          <a:prstGeom prst="rect">
            <a:avLst/>
          </a:prstGeom>
          <a:noFill/>
        </p:spPr>
        <p:txBody>
          <a:bodyPr wrap="square">
            <a:spAutoFit/>
          </a:bodyPr>
          <a:lstStyle/>
          <a:p>
            <a:pPr algn="l"/>
            <a:r>
              <a:rPr sz="950" b="1">
                <a:solidFill>
                  <a:srgbClr val="FFFFFF"/>
                </a:solidFill>
              </a:rPr>
              <a:t>NSP Software Install &amp; Layer 3 Services</a:t>
            </a:r>
          </a:p>
        </p:txBody>
      </p:sp>
      <p:sp>
        <p:nvSpPr>
          <p:cNvPr id="57" name="TextBox 56"/>
          <p:cNvSpPr txBox="1"/>
          <p:nvPr/>
        </p:nvSpPr>
        <p:spPr>
          <a:xfrm>
            <a:off x="658368" y="5678423"/>
            <a:ext cx="5212080" cy="201168"/>
          </a:xfrm>
          <a:prstGeom prst="rect">
            <a:avLst/>
          </a:prstGeom>
          <a:noFill/>
        </p:spPr>
        <p:txBody>
          <a:bodyPr wrap="square">
            <a:spAutoFit/>
          </a:bodyPr>
          <a:lstStyle/>
          <a:p>
            <a:pPr algn="l"/>
            <a:r>
              <a:rPr sz="750" b="0">
                <a:solidFill>
                  <a:srgbClr val="DD7700"/>
                </a:solidFill>
              </a:rPr>
              <a:t>📅 Mid–Late Apr 2026   👤 Nokia / Lee</a:t>
            </a:r>
          </a:p>
        </p:txBody>
      </p:sp>
      <p:sp>
        <p:nvSpPr>
          <p:cNvPr id="58" name="TextBox 57"/>
          <p:cNvSpPr txBox="1"/>
          <p:nvPr/>
        </p:nvSpPr>
        <p:spPr>
          <a:xfrm>
            <a:off x="658368" y="5870448"/>
            <a:ext cx="5212080" cy="411480"/>
          </a:xfrm>
          <a:prstGeom prst="rect">
            <a:avLst/>
          </a:prstGeom>
          <a:noFill/>
        </p:spPr>
        <p:txBody>
          <a:bodyPr wrap="square">
            <a:spAutoFit/>
          </a:bodyPr>
          <a:lstStyle/>
          <a:p>
            <a:pPr algn="l"/>
            <a:r>
              <a:rPr sz="750" b="0">
                <a:solidFill>
                  <a:srgbClr val="CCCCCC"/>
                </a:solidFill>
              </a:rPr>
              <a:t>Nokia activates NSP and Layer 3. Start Hicksville &amp; Melville, then site by site. 2 SFPs needed at Melville.</a:t>
            </a:r>
          </a:p>
        </p:txBody>
      </p:sp>
      <p:sp>
        <p:nvSpPr>
          <p:cNvPr id="59" name="Rectangle 58"/>
          <p:cNvSpPr/>
          <p:nvPr/>
        </p:nvSpPr>
        <p:spPr>
          <a:xfrm>
            <a:off x="6309360" y="5394959"/>
            <a:ext cx="5760720" cy="978407"/>
          </a:xfrm>
          <a:prstGeom prst="rect">
            <a:avLst/>
          </a:prstGeom>
          <a:solidFill>
            <a:srgbClr val="05102A"/>
          </a:solidFill>
          <a:ln w="1270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82512" y="5486399"/>
            <a:ext cx="347472" cy="347472"/>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82512" y="5486399"/>
            <a:ext cx="347472" cy="347472"/>
          </a:xfrm>
          <a:prstGeom prst="rect">
            <a:avLst/>
          </a:prstGeom>
          <a:noFill/>
        </p:spPr>
        <p:txBody>
          <a:bodyPr wrap="square">
            <a:spAutoFit/>
          </a:bodyPr>
          <a:lstStyle/>
          <a:p>
            <a:pPr algn="ctr"/>
            <a:r>
              <a:rPr sz="900" b="1">
                <a:solidFill>
                  <a:srgbClr val="FFFFFF"/>
                </a:solidFill>
              </a:rPr>
              <a:t>10</a:t>
            </a:r>
          </a:p>
        </p:txBody>
      </p:sp>
      <p:sp>
        <p:nvSpPr>
          <p:cNvPr id="62" name="TextBox 61"/>
          <p:cNvSpPr txBox="1"/>
          <p:nvPr/>
        </p:nvSpPr>
        <p:spPr>
          <a:xfrm>
            <a:off x="6784848" y="5449823"/>
            <a:ext cx="5212080" cy="256032"/>
          </a:xfrm>
          <a:prstGeom prst="rect">
            <a:avLst/>
          </a:prstGeom>
          <a:noFill/>
        </p:spPr>
        <p:txBody>
          <a:bodyPr wrap="square">
            <a:spAutoFit/>
          </a:bodyPr>
          <a:lstStyle/>
          <a:p>
            <a:pPr algn="l"/>
            <a:r>
              <a:rPr sz="950" b="1">
                <a:solidFill>
                  <a:srgbClr val="FFFFFF"/>
                </a:solidFill>
              </a:rPr>
              <a:t>Application &amp; RTU Cutovers Begin</a:t>
            </a:r>
          </a:p>
        </p:txBody>
      </p:sp>
      <p:sp>
        <p:nvSpPr>
          <p:cNvPr id="63" name="TextBox 62"/>
          <p:cNvSpPr txBox="1"/>
          <p:nvPr/>
        </p:nvSpPr>
        <p:spPr>
          <a:xfrm>
            <a:off x="6784848" y="5678423"/>
            <a:ext cx="5212080" cy="201168"/>
          </a:xfrm>
          <a:prstGeom prst="rect">
            <a:avLst/>
          </a:prstGeom>
          <a:noFill/>
        </p:spPr>
        <p:txBody>
          <a:bodyPr wrap="square">
            <a:spAutoFit/>
          </a:bodyPr>
          <a:lstStyle/>
          <a:p>
            <a:pPr algn="l"/>
            <a:r>
              <a:rPr sz="750" b="0">
                <a:solidFill>
                  <a:srgbClr val="2266CC"/>
                </a:solidFill>
              </a:rPr>
              <a:t>📅 May 2026   👤 PSEG LI / BMcD / Hawkeye</a:t>
            </a:r>
          </a:p>
        </p:txBody>
      </p:sp>
      <p:sp>
        <p:nvSpPr>
          <p:cNvPr id="64" name="TextBox 63"/>
          <p:cNvSpPr txBox="1"/>
          <p:nvPr/>
        </p:nvSpPr>
        <p:spPr>
          <a:xfrm>
            <a:off x="6784848" y="5870448"/>
            <a:ext cx="5212080" cy="411480"/>
          </a:xfrm>
          <a:prstGeom prst="rect">
            <a:avLst/>
          </a:prstGeom>
          <a:noFill/>
        </p:spPr>
        <p:txBody>
          <a:bodyPr wrap="square">
            <a:spAutoFit/>
          </a:bodyPr>
          <a:lstStyle/>
          <a:p>
            <a:pPr algn="l"/>
            <a:r>
              <a:rPr sz="750" b="0">
                <a:solidFill>
                  <a:srgbClr val="CCCCCC"/>
                </a:solidFill>
              </a:rPr>
              <a:t>First wave of app cutovers at lead sites. RTU cutovers follow. Phase 1 close target: June 2026.</a:t>
            </a:r>
          </a:p>
        </p:txBody>
      </p:sp>
      <p:sp>
        <p:nvSpPr>
          <p:cNvPr id="65" name="Rectangle 64"/>
          <p:cNvSpPr/>
          <p:nvPr/>
        </p:nvSpPr>
        <p:spPr>
          <a:xfrm>
            <a:off x="0" y="6537960"/>
            <a:ext cx="12188952" cy="320040"/>
          </a:xfrm>
          <a:prstGeom prst="rect">
            <a:avLst/>
          </a:prstGeom>
          <a:solidFill>
            <a:srgbClr val="00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4320" y="6565392"/>
            <a:ext cx="7315200" cy="228600"/>
          </a:xfrm>
          <a:prstGeom prst="rect">
            <a:avLst/>
          </a:prstGeom>
          <a:noFill/>
        </p:spPr>
        <p:txBody>
          <a:bodyPr wrap="square">
            <a:spAutoFit/>
          </a:bodyPr>
          <a:lstStyle/>
          <a:p>
            <a:pPr algn="l"/>
            <a:r>
              <a:rPr sz="800" b="0">
                <a:solidFill>
                  <a:srgbClr val="AABBCC"/>
                </a:solidFill>
              </a:rPr>
              <a:t>🔴 Critical   🟠 In Progress / Parallel   🟡 Pending Prior Step   🟢 On Track   🔵 Future Phase</a:t>
            </a:r>
          </a:p>
        </p:txBody>
      </p:sp>
      <p:sp>
        <p:nvSpPr>
          <p:cNvPr id="67" name="TextBox 66"/>
          <p:cNvSpPr txBox="1"/>
          <p:nvPr/>
        </p:nvSpPr>
        <p:spPr>
          <a:xfrm>
            <a:off x="8686800" y="6565392"/>
            <a:ext cx="3200400" cy="228600"/>
          </a:xfrm>
          <a:prstGeom prst="rect">
            <a:avLst/>
          </a:prstGeom>
          <a:noFill/>
        </p:spPr>
        <p:txBody>
          <a:bodyPr wrap="square">
            <a:spAutoFit/>
          </a:bodyPr>
          <a:lstStyle/>
          <a:p>
            <a:pPr algn="r"/>
            <a:r>
              <a:rPr sz="800" b="0">
                <a:solidFill>
                  <a:srgbClr val="667788"/>
                </a:solidFill>
              </a:rPr>
              <a:t>PRJ13797 | Confidential | Mar 18,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6EB495-10DB-45A6-8E6D-929653572431}">
  <ds:schemaRefs>
    <ds:schemaRef ds:uri="http://schemas.microsoft.com/office/2006/documentManagement/types"/>
    <ds:schemaRef ds:uri="http://purl.org/dc/terms/"/>
    <ds:schemaRef ds:uri="135ef2dc-24a0-47df-8b8a-1312283ed4bf"/>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128081</TotalTime>
  <Words>3196</Words>
  <Application>Microsoft Office PowerPoint</Application>
  <PresentationFormat>Widescreen</PresentationFormat>
  <Paragraphs>734</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Narrow</vt:lpstr>
      <vt:lpstr>Arial</vt:lpstr>
      <vt:lpstr>Calibri</vt:lpstr>
      <vt:lpstr>Calibri Light</vt:lpstr>
      <vt:lpstr>DM Serif Display</vt:lpstr>
      <vt:lpstr>Outfit Light</vt:lpstr>
      <vt:lpstr>Outfit SemiBold</vt:lpstr>
      <vt:lpstr>Symbol</vt:lpstr>
      <vt:lpstr>Times New Roman</vt:lpstr>
      <vt:lpstr>Wingdings</vt:lpstr>
      <vt:lpstr>Office Theme</vt:lpstr>
      <vt:lpstr>PRJ13797: JMUX Replacement Update Project Manager : Dhananjaya Gunaratne   </vt:lpstr>
      <vt:lpstr>PowerPoint Presentation</vt:lpstr>
      <vt:lpstr>PowerPoint Presentation</vt:lpstr>
      <vt:lpstr>PowerPoint Presentation</vt:lpstr>
      <vt:lpstr>PowerPoint Presentation</vt:lpstr>
      <vt:lpstr>PowerPoint Presentation</vt:lpstr>
      <vt:lpstr>PowerPoint Presentation</vt:lpstr>
      <vt:lpstr>JMUX Replacement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888</cp:revision>
  <dcterms:modified xsi:type="dcterms:W3CDTF">2026-03-13T14:39:24Z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