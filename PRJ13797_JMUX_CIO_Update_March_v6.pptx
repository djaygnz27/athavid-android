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3" r:id="rId4"/>
  </p:sldMasterIdLst>
  <p:notesMasterIdLst>
    <p:notesMasterId r:id="rId19"/>
  </p:notesMasterIdLst>
  <p:sldIdLst>
    <p:sldId id="454" r:id="rId5"/>
    <p:sldId id="265" r:id="rId6"/>
    <p:sldId id="258" r:id="rId7"/>
    <p:sldId id="259" r:id="rId8"/>
    <p:sldId id="260" r:id="rId9"/>
    <p:sldId id="2147477440" r:id="rId10"/>
    <p:sldId id="2147477445" r:id="rId11"/>
    <p:sldId id="2147477344" r:id="rId12"/>
    <p:sldId id="2147477433" r:id="rId13"/>
    <p:sldId id="2147477434" r:id="rId14"/>
    <p:sldId id="2147477435" r:id="rId15"/>
    <p:sldId id="2147477438" r:id="rId16"/>
    <p:sldId id="262"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5F1BB82B-E214-404B-B4A1-D1B60B4AAF9F}">
          <p14:sldIdLst>
            <p14:sldId id="454"/>
          </p14:sldIdLst>
        </p14:section>
        <p14:section name="Divider Section" id="{E082A701-3AD9-4733-BB9A-2631BFCCDFFB}">
          <p14:sldIdLst/>
        </p14:section>
        <p14:section name="Content Section" id="{46443504-A548-4F26-B7C8-B462ABD4EFF0}">
          <p14:sldIdLst>
            <p14:sldId id="265"/>
            <p14:sldId id="258"/>
            <p14:sldId id="259"/>
            <p14:sldId id="260"/>
            <p14:sldId id="2147477440"/>
            <p14:sldId id="2147477445"/>
            <p14:sldId id="2147477344"/>
            <p14:sldId id="2147477433"/>
            <p14:sldId id="2147477434"/>
            <p14:sldId id="2147477435"/>
            <p14:sldId id="2147477438"/>
            <p14:sldId id="262"/>
            <p14:sldId id="264"/>
          </p14:sldIdLst>
        </p14:section>
        <p14:section name="Closing Section" id="{9F918853-CC87-4290-A67C-08F0CA27339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B8484E-85E5-B6BC-69A0-322218EBF286}" name="Treber, Kaitlin" initials="TK" userId="S::31439@icf.com::9dfe7150-1d09-491d-af00-d225e3736704" providerId="AD"/>
  <p188:author id="{62CAADDC-D9D2-520D-42C7-343811CAF82E}" name="Silverman, Matt" initials="SM" userId="S::40292@icf.com::0daebbd3-6099-4db6-b0ec-f7787efe94c9" providerId="AD"/>
  <p188:author id="{CD2442DD-B799-B0EB-47B7-2497D9B753F7}" name="Specht, George" initials="SG" userId="S::34756@icf.com::339283ee-a0bb-48e3-b124-8f63f8ac955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an, Carlotta" initials="CC" lastIdx="4" clrIdx="0">
    <p:extLst>
      <p:ext uri="{19B8F6BF-5375-455C-9EA6-DF929625EA0E}">
        <p15:presenceInfo xmlns:p15="http://schemas.microsoft.com/office/powerpoint/2012/main" userId="S-1-5-21-1876172974-742851678-1849977318-1503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E5EDF8"/>
    <a:srgbClr val="142C41"/>
    <a:srgbClr val="E1FF01"/>
    <a:srgbClr val="FCFC92"/>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3690" autoAdjust="0"/>
  </p:normalViewPr>
  <p:slideViewPr>
    <p:cSldViewPr snapToGrid="0">
      <p:cViewPr>
        <p:scale>
          <a:sx n="60" d="100"/>
          <a:sy n="60" d="100"/>
        </p:scale>
        <p:origin x="280" y="6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commentAuthors" Target="commentAuthor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5693C9-38CA-445B-AEEA-616BD994FADC}" type="datetimeFigureOut">
              <a:rPr lang="en-US" smtClean="0"/>
              <a:t>3/9/2026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523DC-AC0C-4CF5-B9CB-C3612BF693EF}" type="slidenum">
              <a:rPr lang="en-US" smtClean="0"/>
              <a:t>‹#›</a:t>
            </a:fld>
            <a:endParaRPr lang="en-US" dirty="0"/>
          </a:p>
        </p:txBody>
      </p:sp>
    </p:spTree>
    <p:extLst>
      <p:ext uri="{BB962C8B-B14F-4D97-AF65-F5344CB8AC3E}">
        <p14:creationId xmlns:p14="http://schemas.microsoft.com/office/powerpoint/2010/main" val="489643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0523DC-AC0C-4CF5-B9CB-C3612BF693EF}" type="slidenum">
              <a:rPr lang="en-US" smtClean="0"/>
              <a:t>1</a:t>
            </a:fld>
            <a:endParaRPr lang="en-US" dirty="0"/>
          </a:p>
        </p:txBody>
      </p:sp>
    </p:spTree>
    <p:extLst>
      <p:ext uri="{BB962C8B-B14F-4D97-AF65-F5344CB8AC3E}">
        <p14:creationId xmlns:p14="http://schemas.microsoft.com/office/powerpoint/2010/main" val="3580109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6</a:t>
            </a:fld>
            <a:endParaRPr lang="en-US" dirty="0"/>
          </a:p>
        </p:txBody>
      </p:sp>
    </p:spTree>
    <p:extLst>
      <p:ext uri="{BB962C8B-B14F-4D97-AF65-F5344CB8AC3E}">
        <p14:creationId xmlns:p14="http://schemas.microsoft.com/office/powerpoint/2010/main" val="3927969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7</a:t>
            </a:fld>
            <a:endParaRPr lang="en-US" dirty="0"/>
          </a:p>
        </p:txBody>
      </p:sp>
    </p:spTree>
    <p:extLst>
      <p:ext uri="{BB962C8B-B14F-4D97-AF65-F5344CB8AC3E}">
        <p14:creationId xmlns:p14="http://schemas.microsoft.com/office/powerpoint/2010/main" val="144965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10</a:t>
            </a:fld>
            <a:endParaRPr lang="en-US" dirty="0"/>
          </a:p>
        </p:txBody>
      </p:sp>
    </p:spTree>
    <p:extLst>
      <p:ext uri="{BB962C8B-B14F-4D97-AF65-F5344CB8AC3E}">
        <p14:creationId xmlns:p14="http://schemas.microsoft.com/office/powerpoint/2010/main" val="3138547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557443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64001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368018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415832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387927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423877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32259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160322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841254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77318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707474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Full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0" y="0"/>
            <a:ext cx="12192000" cy="6858000"/>
          </a:xfrm>
        </p:spPr>
        <p:txBody>
          <a:bodyP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763079"/>
            <a:ext cx="5969000" cy="1699591"/>
          </a:xfrm>
        </p:spPr>
        <p:txBody>
          <a:bodyPr anchor="t" anchorCtr="0">
            <a:normAutofit/>
          </a:bodyPr>
          <a:lstStyle>
            <a:lvl1pPr algn="l">
              <a:defRPr sz="4600">
                <a:solidFill>
                  <a:schemeClr val="accent1"/>
                </a:solidFill>
              </a:defRPr>
            </a:lvl1pPr>
          </a:lstStyle>
          <a:p>
            <a:r>
              <a:rPr lang="en-US"/>
              <a:t>Click to edit Master title style</a:t>
            </a:r>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5" name="Subtitle 2">
            <a:extLst>
              <a:ext uri="{FF2B5EF4-FFF2-40B4-BE49-F238E27FC236}">
                <a16:creationId xmlns:a16="http://schemas.microsoft.com/office/drawing/2014/main" id="{B85B803C-754B-909B-4478-4FBB175B3749}"/>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3" name="Picture 2">
            <a:extLst>
              <a:ext uri="{FF2B5EF4-FFF2-40B4-BE49-F238E27FC236}">
                <a16:creationId xmlns:a16="http://schemas.microsoft.com/office/drawing/2014/main" id="{8D96E424-0B0B-4906-94B5-B37E7E0C7E08}"/>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60526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 Steel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6" name="Rectangle 5">
            <a:extLst>
              <a:ext uri="{FF2B5EF4-FFF2-40B4-BE49-F238E27FC236}">
                <a16:creationId xmlns:a16="http://schemas.microsoft.com/office/drawing/2014/main" id="{6AB575AC-86C2-D337-14DF-FCF46DCC0708}"/>
              </a:ext>
            </a:extLst>
          </p:cNvPr>
          <p:cNvSpPr/>
          <p:nvPr userDrawn="1"/>
        </p:nvSpPr>
        <p:spPr>
          <a:xfrm>
            <a:off x="10591800" y="0"/>
            <a:ext cx="1600200" cy="68525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4" name="Slide Number Placeholder 5">
            <a:extLst>
              <a:ext uri="{FF2B5EF4-FFF2-40B4-BE49-F238E27FC236}">
                <a16:creationId xmlns:a16="http://schemas.microsoft.com/office/drawing/2014/main" id="{B3799BAE-1EDC-B379-8D6B-9DE8FD3A626A}"/>
              </a:ext>
            </a:extLst>
          </p:cNvPr>
          <p:cNvSpPr txBox="1">
            <a:spLocks/>
          </p:cNvSpPr>
          <p:nvPr userDrawn="1"/>
        </p:nvSpPr>
        <p:spPr>
          <a:xfrm>
            <a:off x="11892520" y="65247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469974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Side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8214360" y="0"/>
            <a:ext cx="3977640" cy="6858000"/>
          </a:xfrm>
        </p:spPr>
        <p:txBody>
          <a:bodyPr/>
          <a:lstStyle/>
          <a:p>
            <a:endParaRPr lang="en-US" dirty="0"/>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4" name="Title 1">
            <a:extLst>
              <a:ext uri="{FF2B5EF4-FFF2-40B4-BE49-F238E27FC236}">
                <a16:creationId xmlns:a16="http://schemas.microsoft.com/office/drawing/2014/main" id="{0C698C27-9AFB-5139-37A3-B84E67D9F0B8}"/>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Subtitle 2">
            <a:extLst>
              <a:ext uri="{FF2B5EF4-FFF2-40B4-BE49-F238E27FC236}">
                <a16:creationId xmlns:a16="http://schemas.microsoft.com/office/drawing/2014/main" id="{89BDCC2C-E78C-0328-75E0-515B063111F3}"/>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6" name="Picture 5">
            <a:extLst>
              <a:ext uri="{FF2B5EF4-FFF2-40B4-BE49-F238E27FC236}">
                <a16:creationId xmlns:a16="http://schemas.microsoft.com/office/drawing/2014/main" id="{02650B90-B0BB-AE3C-F0AC-59812CE4D569}"/>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1983402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A51277D9-2ACD-423C-7F93-BB9DAF2C87B0}"/>
              </a:ext>
            </a:extLst>
          </p:cNvPr>
          <p:cNvSpPr>
            <a:spLocks noGrp="1"/>
          </p:cNvSpPr>
          <p:nvPr>
            <p:ph idx="12" hasCustomPrompt="1"/>
          </p:nvPr>
        </p:nvSpPr>
        <p:spPr>
          <a:xfrm>
            <a:off x="8891081" y="6445023"/>
            <a:ext cx="3095640" cy="278735"/>
          </a:xfrm>
        </p:spPr>
        <p:txBody>
          <a:bodyPr numCol="1" spcCol="0">
            <a:noAutofit/>
          </a:bodyPr>
          <a:lstStyle>
            <a:lvl1pPr algn="r">
              <a:spcBef>
                <a:spcPts val="300"/>
              </a:spcBef>
              <a:spcAft>
                <a:spcPts val="300"/>
              </a:spcAft>
              <a:defRPr sz="1000" i="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sp>
        <p:nvSpPr>
          <p:cNvPr id="4" name="Subtitle 2">
            <a:extLst>
              <a:ext uri="{FF2B5EF4-FFF2-40B4-BE49-F238E27FC236}">
                <a16:creationId xmlns:a16="http://schemas.microsoft.com/office/drawing/2014/main" id="{D32A9164-F04F-DDA7-649A-DE500A79FE37}"/>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7" name="Picture 6">
            <a:extLst>
              <a:ext uri="{FF2B5EF4-FFF2-40B4-BE49-F238E27FC236}">
                <a16:creationId xmlns:a16="http://schemas.microsoft.com/office/drawing/2014/main" id="{36CF2B6B-3475-1BC0-2928-40C8F4B6747D}"/>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3922401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Steel">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136F65-5519-5748-58DD-F416FBE55DEB}"/>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4"/>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35871"/>
            <a:ext cx="6528786" cy="1548213"/>
          </a:xfrm>
        </p:spPr>
        <p:txBody>
          <a:bodyPr anchor="t" anchorCtr="0">
            <a:normAutofit/>
          </a:bodyPr>
          <a:lstStyle>
            <a:lvl1pPr algn="l">
              <a:defRPr sz="4600">
                <a:solidFill>
                  <a:schemeClr val="accent4"/>
                </a:solidFill>
              </a:defRPr>
            </a:lvl1pPr>
          </a:lstStyle>
          <a:p>
            <a:r>
              <a:rPr lang="en-US"/>
              <a:t>Click to edit Master title style</a:t>
            </a:r>
          </a:p>
        </p:txBody>
      </p:sp>
      <p:sp>
        <p:nvSpPr>
          <p:cNvPr id="6" name="Content Placeholder 2">
            <a:extLst>
              <a:ext uri="{FF2B5EF4-FFF2-40B4-BE49-F238E27FC236}">
                <a16:creationId xmlns:a16="http://schemas.microsoft.com/office/drawing/2014/main" id="{76D4CFEA-AD6E-3BEA-BD0D-AEDC252517C2}"/>
              </a:ext>
            </a:extLst>
          </p:cNvPr>
          <p:cNvSpPr>
            <a:spLocks noGrp="1"/>
          </p:cNvSpPr>
          <p:nvPr>
            <p:ph idx="12" hasCustomPrompt="1"/>
          </p:nvPr>
        </p:nvSpPr>
        <p:spPr>
          <a:xfrm>
            <a:off x="9523379" y="6445023"/>
            <a:ext cx="2463342" cy="278735"/>
          </a:xfrm>
        </p:spPr>
        <p:txBody>
          <a:bodyPr numCol="1" spcCol="0">
            <a:noAutofit/>
          </a:bodyPr>
          <a:lstStyle>
            <a:lvl1pPr algn="r">
              <a:spcBef>
                <a:spcPts val="300"/>
              </a:spcBef>
              <a:spcAft>
                <a:spcPts val="300"/>
              </a:spcAft>
              <a:defRPr sz="10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pic>
        <p:nvPicPr>
          <p:cNvPr id="4" name="Picture 3">
            <a:extLst>
              <a:ext uri="{FF2B5EF4-FFF2-40B4-BE49-F238E27FC236}">
                <a16:creationId xmlns:a16="http://schemas.microsoft.com/office/drawing/2014/main" id="{7CACBAA6-21A2-5DBB-5959-DE259AA1F55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17558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imag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898C888C-0B26-783E-C8DD-285EE5C7D0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1554967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image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0E369C34-77C0-8157-D7A7-2F31EFEE0A4E}"/>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613360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Full - Platinu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accent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tx1">
                    <a:lumMod val="50000"/>
                    <a:lumOff val="50000"/>
                  </a:schemeClr>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67C0CE33-76BB-3B40-58CF-691261A5ED5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7B531C2-AD84-2C53-671D-F31A87405A4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3076965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Full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bg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accent3"/>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007DC57-4711-AB03-C8AF-2A14889A204C}"/>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496E1396-41C7-B1BB-5F02-6C1169B8AB33}"/>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3834668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Power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9863911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ivider Slide - Power - 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rgbClr val="E5EDF8"/>
                </a:solidFill>
                <a:latin typeface="Outfit Light" pitchFamily="2" charset="0"/>
              </a:defRPr>
            </a:lvl1pPr>
          </a:lstStyle>
          <a:p>
            <a:r>
              <a:rPr lang="en-US" dirty="0"/>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3510949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Internal Slide w/text - White">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66809D8-08F3-3C3E-A532-A1FC049D1B8D}"/>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7F73E556-955A-7C12-35AB-F8C217C888E9}"/>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9871656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Internal Slide w/text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71334F36-E631-69B0-5A4E-6FE9878F2537}"/>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EA91E68D-B7A1-85CF-3F3E-DBBEA2EF6283}"/>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4251009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ternal Slide w/text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bg1"/>
                </a:solidFill>
              </a:defRPr>
            </a:lvl1pPr>
          </a:lstStyle>
          <a:p>
            <a:r>
              <a:rPr lang="en-US"/>
              <a:t>Click to edit Master title style</a:t>
            </a:r>
          </a:p>
        </p:txBody>
      </p:sp>
      <p:sp>
        <p:nvSpPr>
          <p:cNvPr id="6" name="Freeform: Shape 54">
            <a:extLst>
              <a:ext uri="{FF2B5EF4-FFF2-40B4-BE49-F238E27FC236}">
                <a16:creationId xmlns:a16="http://schemas.microsoft.com/office/drawing/2014/main" id="{691EE3B5-4FBC-06F7-34D9-6D9EF2ABF31C}"/>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C1CBBB2E-C622-2202-821E-E3FA8E3F4FA5}"/>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8E2E9A8-DE4D-0203-CFA0-6C98829EE226}"/>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9FEC4438-1B2B-FCD7-77A7-439739D1300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6127786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White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4">
            <a:extLst>
              <a:ext uri="{FF2B5EF4-FFF2-40B4-BE49-F238E27FC236}">
                <a16:creationId xmlns:a16="http://schemas.microsoft.com/office/drawing/2014/main" id="{DF29F394-EC6E-8834-E179-A8033F8FD8B2}"/>
              </a:ext>
            </a:extLst>
          </p:cNvPr>
          <p:cNvSpPr>
            <a:spLocks noGrp="1"/>
          </p:cNvSpPr>
          <p:nvPr>
            <p:ph type="pic" sz="quarter" idx="10"/>
          </p:nvPr>
        </p:nvSpPr>
        <p:spPr>
          <a:xfrm>
            <a:off x="10414000" y="0"/>
            <a:ext cx="1778000" cy="6858000"/>
          </a:xfrm>
        </p:spPr>
        <p:txBody>
          <a:bodyPr/>
          <a:lstStyle/>
          <a:p>
            <a:endParaRPr lang="en-US" dirty="0"/>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41920204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and Content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088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and Content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54759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 White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15817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Title and Content - Platinum Arrow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56810E-B3D1-AB29-F34A-C85AC8B6A909}"/>
              </a:ext>
            </a:extLst>
          </p:cNvPr>
          <p:cNvSpPr/>
          <p:nvPr userDrawn="1"/>
        </p:nvSpPr>
        <p:spPr>
          <a:xfrm>
            <a:off x="10591800" y="0"/>
            <a:ext cx="1600200" cy="68525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F699251-C167-B7FD-7B25-7FA7C75CBBF8}"/>
              </a:ext>
            </a:extLst>
          </p:cNvPr>
          <p:cNvGrpSpPr/>
          <p:nvPr userDrawn="1"/>
        </p:nvGrpSpPr>
        <p:grpSpPr>
          <a:xfrm>
            <a:off x="10701084" y="97530"/>
            <a:ext cx="1493520" cy="6760470"/>
            <a:chOff x="10701084" y="97530"/>
            <a:chExt cx="1493520" cy="6760470"/>
          </a:xfrm>
        </p:grpSpPr>
        <p:grpSp>
          <p:nvGrpSpPr>
            <p:cNvPr id="17" name="Group 16">
              <a:extLst>
                <a:ext uri="{FF2B5EF4-FFF2-40B4-BE49-F238E27FC236}">
                  <a16:creationId xmlns:a16="http://schemas.microsoft.com/office/drawing/2014/main" id="{579C48C7-0728-517B-6E7E-8B75A97052D8}"/>
                </a:ext>
              </a:extLst>
            </p:cNvPr>
            <p:cNvGrpSpPr/>
            <p:nvPr/>
          </p:nvGrpSpPr>
          <p:grpSpPr>
            <a:xfrm>
              <a:off x="10787679" y="97530"/>
              <a:ext cx="1264298" cy="1005053"/>
              <a:chOff x="8867133" y="-492224"/>
              <a:chExt cx="1264298" cy="1005053"/>
            </a:xfrm>
          </p:grpSpPr>
          <p:sp>
            <p:nvSpPr>
              <p:cNvPr id="343" name="Freeform: Shape 131">
                <a:extLst>
                  <a:ext uri="{FF2B5EF4-FFF2-40B4-BE49-F238E27FC236}">
                    <a16:creationId xmlns:a16="http://schemas.microsoft.com/office/drawing/2014/main" id="{57F42C08-33C6-5276-A883-403357D36EFD}"/>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4" name="Freeform: Shape 132">
                <a:extLst>
                  <a:ext uri="{FF2B5EF4-FFF2-40B4-BE49-F238E27FC236}">
                    <a16:creationId xmlns:a16="http://schemas.microsoft.com/office/drawing/2014/main" id="{D32CE52C-E208-B572-A603-D29B74212155}"/>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5" name="Freeform: Shape 133">
                <a:extLst>
                  <a:ext uri="{FF2B5EF4-FFF2-40B4-BE49-F238E27FC236}">
                    <a16:creationId xmlns:a16="http://schemas.microsoft.com/office/drawing/2014/main" id="{4F705B74-26BF-749C-FD3A-3ED23BA1A47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6" name="Freeform: Shape 134">
                <a:extLst>
                  <a:ext uri="{FF2B5EF4-FFF2-40B4-BE49-F238E27FC236}">
                    <a16:creationId xmlns:a16="http://schemas.microsoft.com/office/drawing/2014/main" id="{D9E35474-D126-93B2-8829-EE06E3D12A35}"/>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7" name="Freeform: Shape 135">
                <a:extLst>
                  <a:ext uri="{FF2B5EF4-FFF2-40B4-BE49-F238E27FC236}">
                    <a16:creationId xmlns:a16="http://schemas.microsoft.com/office/drawing/2014/main" id="{C98DE941-6BC6-23E9-5A03-B9CEAA1A9C63}"/>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8" name="Freeform: Shape 136">
                <a:extLst>
                  <a:ext uri="{FF2B5EF4-FFF2-40B4-BE49-F238E27FC236}">
                    <a16:creationId xmlns:a16="http://schemas.microsoft.com/office/drawing/2014/main" id="{BA2B2082-EBCD-D79F-2DBD-BD4BDA8BCF2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9" name="Freeform: Shape 137">
                <a:extLst>
                  <a:ext uri="{FF2B5EF4-FFF2-40B4-BE49-F238E27FC236}">
                    <a16:creationId xmlns:a16="http://schemas.microsoft.com/office/drawing/2014/main" id="{33EB1112-1B85-AF93-3BB8-EE0F5EE0C63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0" name="Freeform: Shape 138">
                <a:extLst>
                  <a:ext uri="{FF2B5EF4-FFF2-40B4-BE49-F238E27FC236}">
                    <a16:creationId xmlns:a16="http://schemas.microsoft.com/office/drawing/2014/main" id="{7E8B3184-1911-4203-4458-7D2632B590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1" name="Freeform: Shape 139">
                <a:extLst>
                  <a:ext uri="{FF2B5EF4-FFF2-40B4-BE49-F238E27FC236}">
                    <a16:creationId xmlns:a16="http://schemas.microsoft.com/office/drawing/2014/main" id="{57D5A795-E5C8-5F0B-C0B1-A6C4E6EAE366}"/>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2" name="Freeform: Shape 140">
                <a:extLst>
                  <a:ext uri="{FF2B5EF4-FFF2-40B4-BE49-F238E27FC236}">
                    <a16:creationId xmlns:a16="http://schemas.microsoft.com/office/drawing/2014/main" id="{E4A28CA3-B5EF-B0F3-7F07-C21248ECBE0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3" name="Freeform: Shape 141">
                <a:extLst>
                  <a:ext uri="{FF2B5EF4-FFF2-40B4-BE49-F238E27FC236}">
                    <a16:creationId xmlns:a16="http://schemas.microsoft.com/office/drawing/2014/main" id="{72F71302-C0D6-03F9-4300-52F017619BA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4" name="Freeform: Shape 142">
                <a:extLst>
                  <a:ext uri="{FF2B5EF4-FFF2-40B4-BE49-F238E27FC236}">
                    <a16:creationId xmlns:a16="http://schemas.microsoft.com/office/drawing/2014/main" id="{572A89E4-C617-B639-70C3-CFD4338C3069}"/>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5" name="Freeform: Shape 143">
                <a:extLst>
                  <a:ext uri="{FF2B5EF4-FFF2-40B4-BE49-F238E27FC236}">
                    <a16:creationId xmlns:a16="http://schemas.microsoft.com/office/drawing/2014/main" id="{AC9DD01C-9A87-CBCD-5855-424E7B7DE5FB}"/>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6" name="Freeform: Shape 144">
                <a:extLst>
                  <a:ext uri="{FF2B5EF4-FFF2-40B4-BE49-F238E27FC236}">
                    <a16:creationId xmlns:a16="http://schemas.microsoft.com/office/drawing/2014/main" id="{9E6D4C02-AE97-2E8C-6E8D-FA8DB963B66C}"/>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7" name="Freeform: Shape 145">
                <a:extLst>
                  <a:ext uri="{FF2B5EF4-FFF2-40B4-BE49-F238E27FC236}">
                    <a16:creationId xmlns:a16="http://schemas.microsoft.com/office/drawing/2014/main" id="{D2914DA8-A11D-AF59-68EA-C924B52D4B4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8" name="Freeform: Shape 146">
                <a:extLst>
                  <a:ext uri="{FF2B5EF4-FFF2-40B4-BE49-F238E27FC236}">
                    <a16:creationId xmlns:a16="http://schemas.microsoft.com/office/drawing/2014/main" id="{28C338A1-6190-AEB6-C71B-5B447FC422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9" name="Freeform: Shape 147">
                <a:extLst>
                  <a:ext uri="{FF2B5EF4-FFF2-40B4-BE49-F238E27FC236}">
                    <a16:creationId xmlns:a16="http://schemas.microsoft.com/office/drawing/2014/main" id="{6462718F-F039-0FF2-F76D-6D45609290A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0" name="Freeform: Shape 148">
                <a:extLst>
                  <a:ext uri="{FF2B5EF4-FFF2-40B4-BE49-F238E27FC236}">
                    <a16:creationId xmlns:a16="http://schemas.microsoft.com/office/drawing/2014/main" id="{97E5D18F-689E-2155-6D5C-88F25E1BCE58}"/>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1" name="Freeform: Shape 149">
                <a:extLst>
                  <a:ext uri="{FF2B5EF4-FFF2-40B4-BE49-F238E27FC236}">
                    <a16:creationId xmlns:a16="http://schemas.microsoft.com/office/drawing/2014/main" id="{A2558AC2-B66C-3BCA-4907-89AF62ED4E63}"/>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2" name="Freeform: Shape 150">
                <a:extLst>
                  <a:ext uri="{FF2B5EF4-FFF2-40B4-BE49-F238E27FC236}">
                    <a16:creationId xmlns:a16="http://schemas.microsoft.com/office/drawing/2014/main" id="{8BF15784-BA2B-0B80-5374-3EC98EF509F6}"/>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3" name="Freeform: Shape 151">
                <a:extLst>
                  <a:ext uri="{FF2B5EF4-FFF2-40B4-BE49-F238E27FC236}">
                    <a16:creationId xmlns:a16="http://schemas.microsoft.com/office/drawing/2014/main" id="{1B0EC508-4FD1-7E84-936B-98CE4D400357}"/>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4" name="Freeform: Shape 152">
                <a:extLst>
                  <a:ext uri="{FF2B5EF4-FFF2-40B4-BE49-F238E27FC236}">
                    <a16:creationId xmlns:a16="http://schemas.microsoft.com/office/drawing/2014/main" id="{B9EC03D4-8E18-4343-286B-08DE534442A9}"/>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5" name="Freeform: Shape 153">
                <a:extLst>
                  <a:ext uri="{FF2B5EF4-FFF2-40B4-BE49-F238E27FC236}">
                    <a16:creationId xmlns:a16="http://schemas.microsoft.com/office/drawing/2014/main" id="{5BEE624B-6E40-207E-70C7-F2AB3E09CEB5}"/>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6" name="Freeform: Shape 154">
                <a:extLst>
                  <a:ext uri="{FF2B5EF4-FFF2-40B4-BE49-F238E27FC236}">
                    <a16:creationId xmlns:a16="http://schemas.microsoft.com/office/drawing/2014/main" id="{EC1D97FC-20CE-D48A-E823-FE8D64014A5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7" name="Freeform: Shape 155">
                <a:extLst>
                  <a:ext uri="{FF2B5EF4-FFF2-40B4-BE49-F238E27FC236}">
                    <a16:creationId xmlns:a16="http://schemas.microsoft.com/office/drawing/2014/main" id="{2D73E1AD-19FB-7EB5-AD9E-DC1D28F519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68" name="Freeform: Shape 156">
                <a:extLst>
                  <a:ext uri="{FF2B5EF4-FFF2-40B4-BE49-F238E27FC236}">
                    <a16:creationId xmlns:a16="http://schemas.microsoft.com/office/drawing/2014/main" id="{1E310345-1008-9780-AB1F-664E669907D6}"/>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69" name="Freeform: Shape 157">
                <a:extLst>
                  <a:ext uri="{FF2B5EF4-FFF2-40B4-BE49-F238E27FC236}">
                    <a16:creationId xmlns:a16="http://schemas.microsoft.com/office/drawing/2014/main" id="{205467B6-94C0-6AEC-C445-2BB292DA3D7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70" name="Freeform: Shape 158">
                <a:extLst>
                  <a:ext uri="{FF2B5EF4-FFF2-40B4-BE49-F238E27FC236}">
                    <a16:creationId xmlns:a16="http://schemas.microsoft.com/office/drawing/2014/main" id="{E862B08B-C197-1C6D-7A6F-C0E30B5CA3C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1" name="Freeform: Shape 159">
                <a:extLst>
                  <a:ext uri="{FF2B5EF4-FFF2-40B4-BE49-F238E27FC236}">
                    <a16:creationId xmlns:a16="http://schemas.microsoft.com/office/drawing/2014/main" id="{9EAEB050-A861-7A11-01A5-875BE087365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2" name="Freeform: Shape 160">
                <a:extLst>
                  <a:ext uri="{FF2B5EF4-FFF2-40B4-BE49-F238E27FC236}">
                    <a16:creationId xmlns:a16="http://schemas.microsoft.com/office/drawing/2014/main" id="{920620D3-0163-7DE0-2775-B8B54805DAE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3" name="Group 192">
              <a:extLst>
                <a:ext uri="{FF2B5EF4-FFF2-40B4-BE49-F238E27FC236}">
                  <a16:creationId xmlns:a16="http://schemas.microsoft.com/office/drawing/2014/main" id="{103E6AAA-270B-0716-A572-481483B525DB}"/>
                </a:ext>
              </a:extLst>
            </p:cNvPr>
            <p:cNvGrpSpPr/>
            <p:nvPr/>
          </p:nvGrpSpPr>
          <p:grpSpPr>
            <a:xfrm>
              <a:off x="10787679" y="1260775"/>
              <a:ext cx="1264298" cy="1005053"/>
              <a:chOff x="8867133" y="-492224"/>
              <a:chExt cx="1264298" cy="1005053"/>
            </a:xfrm>
          </p:grpSpPr>
          <p:sp>
            <p:nvSpPr>
              <p:cNvPr id="313" name="Freeform: Shape 131">
                <a:extLst>
                  <a:ext uri="{FF2B5EF4-FFF2-40B4-BE49-F238E27FC236}">
                    <a16:creationId xmlns:a16="http://schemas.microsoft.com/office/drawing/2014/main" id="{3587C69E-229C-9E89-2C8F-BA1B4215FEA0}"/>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4" name="Freeform: Shape 132">
                <a:extLst>
                  <a:ext uri="{FF2B5EF4-FFF2-40B4-BE49-F238E27FC236}">
                    <a16:creationId xmlns:a16="http://schemas.microsoft.com/office/drawing/2014/main" id="{B096A9C5-5214-DDB3-A6A7-17BB545E275E}"/>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5" name="Freeform: Shape 133">
                <a:extLst>
                  <a:ext uri="{FF2B5EF4-FFF2-40B4-BE49-F238E27FC236}">
                    <a16:creationId xmlns:a16="http://schemas.microsoft.com/office/drawing/2014/main" id="{F3665446-98FC-BDAE-BD97-549A3DD883C7}"/>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6" name="Freeform: Shape 134">
                <a:extLst>
                  <a:ext uri="{FF2B5EF4-FFF2-40B4-BE49-F238E27FC236}">
                    <a16:creationId xmlns:a16="http://schemas.microsoft.com/office/drawing/2014/main" id="{4DCCA078-55E3-F6DA-3B85-9F7BE687B13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7" name="Freeform: Shape 135">
                <a:extLst>
                  <a:ext uri="{FF2B5EF4-FFF2-40B4-BE49-F238E27FC236}">
                    <a16:creationId xmlns:a16="http://schemas.microsoft.com/office/drawing/2014/main" id="{0A8DBE2F-D7B3-6A66-53F0-B27F0A6FCDF8}"/>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8" name="Freeform: Shape 136">
                <a:extLst>
                  <a:ext uri="{FF2B5EF4-FFF2-40B4-BE49-F238E27FC236}">
                    <a16:creationId xmlns:a16="http://schemas.microsoft.com/office/drawing/2014/main" id="{1C861F19-49AB-D6DF-C401-1F7F75613B0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9" name="Freeform: Shape 137">
                <a:extLst>
                  <a:ext uri="{FF2B5EF4-FFF2-40B4-BE49-F238E27FC236}">
                    <a16:creationId xmlns:a16="http://schemas.microsoft.com/office/drawing/2014/main" id="{CDA5B5BE-FD5E-6B58-9697-A844977A960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0" name="Freeform: Shape 138">
                <a:extLst>
                  <a:ext uri="{FF2B5EF4-FFF2-40B4-BE49-F238E27FC236}">
                    <a16:creationId xmlns:a16="http://schemas.microsoft.com/office/drawing/2014/main" id="{24C90700-1965-111C-1833-9BB686589E4C}"/>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1" name="Freeform: Shape 139">
                <a:extLst>
                  <a:ext uri="{FF2B5EF4-FFF2-40B4-BE49-F238E27FC236}">
                    <a16:creationId xmlns:a16="http://schemas.microsoft.com/office/drawing/2014/main" id="{E7D702E6-5FF1-1B41-EE84-DFA6DBFFBFC2}"/>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2" name="Freeform: Shape 140">
                <a:extLst>
                  <a:ext uri="{FF2B5EF4-FFF2-40B4-BE49-F238E27FC236}">
                    <a16:creationId xmlns:a16="http://schemas.microsoft.com/office/drawing/2014/main" id="{04A5BC54-6526-5F06-08C5-C4BEED8A529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3" name="Freeform: Shape 141">
                <a:extLst>
                  <a:ext uri="{FF2B5EF4-FFF2-40B4-BE49-F238E27FC236}">
                    <a16:creationId xmlns:a16="http://schemas.microsoft.com/office/drawing/2014/main" id="{42E9CB64-84A3-B916-B9ED-082835D0C2EB}"/>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4" name="Freeform: Shape 142">
                <a:extLst>
                  <a:ext uri="{FF2B5EF4-FFF2-40B4-BE49-F238E27FC236}">
                    <a16:creationId xmlns:a16="http://schemas.microsoft.com/office/drawing/2014/main" id="{109B1561-EF54-A6EC-3557-F34C7284C334}"/>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5" name="Freeform: Shape 143">
                <a:extLst>
                  <a:ext uri="{FF2B5EF4-FFF2-40B4-BE49-F238E27FC236}">
                    <a16:creationId xmlns:a16="http://schemas.microsoft.com/office/drawing/2014/main" id="{98356881-7665-7D78-DB10-CAE09196718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6" name="Freeform: Shape 144">
                <a:extLst>
                  <a:ext uri="{FF2B5EF4-FFF2-40B4-BE49-F238E27FC236}">
                    <a16:creationId xmlns:a16="http://schemas.microsoft.com/office/drawing/2014/main" id="{8EA6D433-9E78-A4AA-D603-A7C95C7963C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7" name="Freeform: Shape 145">
                <a:extLst>
                  <a:ext uri="{FF2B5EF4-FFF2-40B4-BE49-F238E27FC236}">
                    <a16:creationId xmlns:a16="http://schemas.microsoft.com/office/drawing/2014/main" id="{02B4CEB7-7851-C14B-4910-91F97431E4BB}"/>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8" name="Freeform: Shape 146">
                <a:extLst>
                  <a:ext uri="{FF2B5EF4-FFF2-40B4-BE49-F238E27FC236}">
                    <a16:creationId xmlns:a16="http://schemas.microsoft.com/office/drawing/2014/main" id="{8FD0B43B-49E8-0760-3BBC-73716FFB117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9" name="Freeform: Shape 147">
                <a:extLst>
                  <a:ext uri="{FF2B5EF4-FFF2-40B4-BE49-F238E27FC236}">
                    <a16:creationId xmlns:a16="http://schemas.microsoft.com/office/drawing/2014/main" id="{BEC4E3B0-A7F6-B81A-0C83-96122DC589DF}"/>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0" name="Freeform: Shape 148">
                <a:extLst>
                  <a:ext uri="{FF2B5EF4-FFF2-40B4-BE49-F238E27FC236}">
                    <a16:creationId xmlns:a16="http://schemas.microsoft.com/office/drawing/2014/main" id="{3D44FD96-A033-19CA-FC57-30302C8F6D93}"/>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1" name="Freeform: Shape 149">
                <a:extLst>
                  <a:ext uri="{FF2B5EF4-FFF2-40B4-BE49-F238E27FC236}">
                    <a16:creationId xmlns:a16="http://schemas.microsoft.com/office/drawing/2014/main" id="{1ECBB1E3-D490-04A8-E1B4-FEA01BAFAF1F}"/>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2" name="Freeform: Shape 150">
                <a:extLst>
                  <a:ext uri="{FF2B5EF4-FFF2-40B4-BE49-F238E27FC236}">
                    <a16:creationId xmlns:a16="http://schemas.microsoft.com/office/drawing/2014/main" id="{83AD7853-7768-6951-46C9-FF1A3C6897A8}"/>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3" name="Freeform: Shape 151">
                <a:extLst>
                  <a:ext uri="{FF2B5EF4-FFF2-40B4-BE49-F238E27FC236}">
                    <a16:creationId xmlns:a16="http://schemas.microsoft.com/office/drawing/2014/main" id="{64C07D1A-3616-583B-B9DD-D25A22983F7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4" name="Freeform: Shape 152">
                <a:extLst>
                  <a:ext uri="{FF2B5EF4-FFF2-40B4-BE49-F238E27FC236}">
                    <a16:creationId xmlns:a16="http://schemas.microsoft.com/office/drawing/2014/main" id="{670FEFBB-3740-CD89-C1FD-16F32710B30F}"/>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5" name="Freeform: Shape 153">
                <a:extLst>
                  <a:ext uri="{FF2B5EF4-FFF2-40B4-BE49-F238E27FC236}">
                    <a16:creationId xmlns:a16="http://schemas.microsoft.com/office/drawing/2014/main" id="{323CBE4B-2C2A-002D-56D3-F1A7589FBBF0}"/>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6" name="Freeform: Shape 154">
                <a:extLst>
                  <a:ext uri="{FF2B5EF4-FFF2-40B4-BE49-F238E27FC236}">
                    <a16:creationId xmlns:a16="http://schemas.microsoft.com/office/drawing/2014/main" id="{2EE0A93E-ECB1-76CA-3320-541A1CA68768}"/>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7" name="Freeform: Shape 155">
                <a:extLst>
                  <a:ext uri="{FF2B5EF4-FFF2-40B4-BE49-F238E27FC236}">
                    <a16:creationId xmlns:a16="http://schemas.microsoft.com/office/drawing/2014/main" id="{675EAD30-4B0A-A40E-93BB-981C683F816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38" name="Freeform: Shape 156">
                <a:extLst>
                  <a:ext uri="{FF2B5EF4-FFF2-40B4-BE49-F238E27FC236}">
                    <a16:creationId xmlns:a16="http://schemas.microsoft.com/office/drawing/2014/main" id="{8E755DEF-B640-9247-DD66-6DD48ABAD9A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39" name="Freeform: Shape 157">
                <a:extLst>
                  <a:ext uri="{FF2B5EF4-FFF2-40B4-BE49-F238E27FC236}">
                    <a16:creationId xmlns:a16="http://schemas.microsoft.com/office/drawing/2014/main" id="{4E46C120-B362-9F89-A276-E83256D3F9E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40" name="Freeform: Shape 158">
                <a:extLst>
                  <a:ext uri="{FF2B5EF4-FFF2-40B4-BE49-F238E27FC236}">
                    <a16:creationId xmlns:a16="http://schemas.microsoft.com/office/drawing/2014/main" id="{F2C59790-A6E8-312A-E946-31BE21587378}"/>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1" name="Freeform: Shape 159">
                <a:extLst>
                  <a:ext uri="{FF2B5EF4-FFF2-40B4-BE49-F238E27FC236}">
                    <a16:creationId xmlns:a16="http://schemas.microsoft.com/office/drawing/2014/main" id="{A884385C-0D17-0849-EDAA-B7B2A8722A2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2" name="Freeform: Shape 160">
                <a:extLst>
                  <a:ext uri="{FF2B5EF4-FFF2-40B4-BE49-F238E27FC236}">
                    <a16:creationId xmlns:a16="http://schemas.microsoft.com/office/drawing/2014/main" id="{EC2F6470-B4AB-2A31-25EF-9AC595E5FB8A}"/>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4" name="Group 193">
              <a:extLst>
                <a:ext uri="{FF2B5EF4-FFF2-40B4-BE49-F238E27FC236}">
                  <a16:creationId xmlns:a16="http://schemas.microsoft.com/office/drawing/2014/main" id="{B53F533C-BF04-CE80-2B2A-6E3BCDB0AC17}"/>
                </a:ext>
              </a:extLst>
            </p:cNvPr>
            <p:cNvGrpSpPr/>
            <p:nvPr/>
          </p:nvGrpSpPr>
          <p:grpSpPr>
            <a:xfrm>
              <a:off x="10787679" y="2413972"/>
              <a:ext cx="1264298" cy="1005053"/>
              <a:chOff x="8867133" y="-492224"/>
              <a:chExt cx="1264298" cy="1005053"/>
            </a:xfrm>
          </p:grpSpPr>
          <p:sp>
            <p:nvSpPr>
              <p:cNvPr id="283" name="Freeform: Shape 131">
                <a:extLst>
                  <a:ext uri="{FF2B5EF4-FFF2-40B4-BE49-F238E27FC236}">
                    <a16:creationId xmlns:a16="http://schemas.microsoft.com/office/drawing/2014/main" id="{A340DFDA-ACB7-DDD0-E9F6-43BB153485D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4" name="Freeform: Shape 132">
                <a:extLst>
                  <a:ext uri="{FF2B5EF4-FFF2-40B4-BE49-F238E27FC236}">
                    <a16:creationId xmlns:a16="http://schemas.microsoft.com/office/drawing/2014/main" id="{D0BB0720-C57A-656E-58B9-202C7DB8C09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5" name="Freeform: Shape 133">
                <a:extLst>
                  <a:ext uri="{FF2B5EF4-FFF2-40B4-BE49-F238E27FC236}">
                    <a16:creationId xmlns:a16="http://schemas.microsoft.com/office/drawing/2014/main" id="{20FFB692-03F4-3697-DDF9-8BA2CCB036A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6" name="Freeform: Shape 134">
                <a:extLst>
                  <a:ext uri="{FF2B5EF4-FFF2-40B4-BE49-F238E27FC236}">
                    <a16:creationId xmlns:a16="http://schemas.microsoft.com/office/drawing/2014/main" id="{61452AA2-52EB-B487-E43E-A52F9E42B5AF}"/>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7" name="Freeform: Shape 135">
                <a:extLst>
                  <a:ext uri="{FF2B5EF4-FFF2-40B4-BE49-F238E27FC236}">
                    <a16:creationId xmlns:a16="http://schemas.microsoft.com/office/drawing/2014/main" id="{47498E91-93F0-BAF3-4573-74A477E315C5}"/>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8" name="Freeform: Shape 136">
                <a:extLst>
                  <a:ext uri="{FF2B5EF4-FFF2-40B4-BE49-F238E27FC236}">
                    <a16:creationId xmlns:a16="http://schemas.microsoft.com/office/drawing/2014/main" id="{13B0C120-54E4-E0E8-F2D1-0E4EF31B9E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9" name="Freeform: Shape 137">
                <a:extLst>
                  <a:ext uri="{FF2B5EF4-FFF2-40B4-BE49-F238E27FC236}">
                    <a16:creationId xmlns:a16="http://schemas.microsoft.com/office/drawing/2014/main" id="{964E015A-8CE7-0A74-9AE2-8F826CAFD3C3}"/>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0" name="Freeform: Shape 138">
                <a:extLst>
                  <a:ext uri="{FF2B5EF4-FFF2-40B4-BE49-F238E27FC236}">
                    <a16:creationId xmlns:a16="http://schemas.microsoft.com/office/drawing/2014/main" id="{F45C2754-BA7D-B809-456D-F814411AAF11}"/>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1" name="Freeform: Shape 139">
                <a:extLst>
                  <a:ext uri="{FF2B5EF4-FFF2-40B4-BE49-F238E27FC236}">
                    <a16:creationId xmlns:a16="http://schemas.microsoft.com/office/drawing/2014/main" id="{BA9ABD14-2325-F6B0-DC4C-ACD23EE270A9}"/>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2" name="Freeform: Shape 140">
                <a:extLst>
                  <a:ext uri="{FF2B5EF4-FFF2-40B4-BE49-F238E27FC236}">
                    <a16:creationId xmlns:a16="http://schemas.microsoft.com/office/drawing/2014/main" id="{137078ED-08A9-0E71-57AD-945CF4F329F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3" name="Freeform: Shape 141">
                <a:extLst>
                  <a:ext uri="{FF2B5EF4-FFF2-40B4-BE49-F238E27FC236}">
                    <a16:creationId xmlns:a16="http://schemas.microsoft.com/office/drawing/2014/main" id="{4BACD203-C34C-442C-5E19-D242AB38B290}"/>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4" name="Freeform: Shape 142">
                <a:extLst>
                  <a:ext uri="{FF2B5EF4-FFF2-40B4-BE49-F238E27FC236}">
                    <a16:creationId xmlns:a16="http://schemas.microsoft.com/office/drawing/2014/main" id="{2692229D-527F-BD28-789E-DE0A3090421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5" name="Freeform: Shape 143">
                <a:extLst>
                  <a:ext uri="{FF2B5EF4-FFF2-40B4-BE49-F238E27FC236}">
                    <a16:creationId xmlns:a16="http://schemas.microsoft.com/office/drawing/2014/main" id="{4902D0CD-585D-B283-F20F-1497C42DE56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6" name="Freeform: Shape 144">
                <a:extLst>
                  <a:ext uri="{FF2B5EF4-FFF2-40B4-BE49-F238E27FC236}">
                    <a16:creationId xmlns:a16="http://schemas.microsoft.com/office/drawing/2014/main" id="{E7BDD6F4-9EA0-AACB-C560-107C3F8B69DB}"/>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7" name="Freeform: Shape 145">
                <a:extLst>
                  <a:ext uri="{FF2B5EF4-FFF2-40B4-BE49-F238E27FC236}">
                    <a16:creationId xmlns:a16="http://schemas.microsoft.com/office/drawing/2014/main" id="{5157DE42-1A13-FA92-424C-1F68A5F5279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8" name="Freeform: Shape 146">
                <a:extLst>
                  <a:ext uri="{FF2B5EF4-FFF2-40B4-BE49-F238E27FC236}">
                    <a16:creationId xmlns:a16="http://schemas.microsoft.com/office/drawing/2014/main" id="{CA2A9167-5B16-82FE-82AB-81DE4975240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9" name="Freeform: Shape 147">
                <a:extLst>
                  <a:ext uri="{FF2B5EF4-FFF2-40B4-BE49-F238E27FC236}">
                    <a16:creationId xmlns:a16="http://schemas.microsoft.com/office/drawing/2014/main" id="{5B9A7AA3-3856-3210-65D3-7BEA6F82505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0" name="Freeform: Shape 148">
                <a:extLst>
                  <a:ext uri="{FF2B5EF4-FFF2-40B4-BE49-F238E27FC236}">
                    <a16:creationId xmlns:a16="http://schemas.microsoft.com/office/drawing/2014/main" id="{E47671A7-1A7D-595C-230F-8E5CF0D57A5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1" name="Freeform: Shape 149">
                <a:extLst>
                  <a:ext uri="{FF2B5EF4-FFF2-40B4-BE49-F238E27FC236}">
                    <a16:creationId xmlns:a16="http://schemas.microsoft.com/office/drawing/2014/main" id="{AE325C95-9DB4-4ABC-64E2-C13625EA8F2C}"/>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2" name="Freeform: Shape 150">
                <a:extLst>
                  <a:ext uri="{FF2B5EF4-FFF2-40B4-BE49-F238E27FC236}">
                    <a16:creationId xmlns:a16="http://schemas.microsoft.com/office/drawing/2014/main" id="{70470266-8149-DB0F-31AB-D0D227AB518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3" name="Freeform: Shape 151">
                <a:extLst>
                  <a:ext uri="{FF2B5EF4-FFF2-40B4-BE49-F238E27FC236}">
                    <a16:creationId xmlns:a16="http://schemas.microsoft.com/office/drawing/2014/main" id="{C7DAE5ED-0241-8E68-BB8D-B58F31BD3B24}"/>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4" name="Freeform: Shape 152">
                <a:extLst>
                  <a:ext uri="{FF2B5EF4-FFF2-40B4-BE49-F238E27FC236}">
                    <a16:creationId xmlns:a16="http://schemas.microsoft.com/office/drawing/2014/main" id="{52D706E0-6868-E48E-0768-545A5EA16BD1}"/>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5" name="Freeform: Shape 153">
                <a:extLst>
                  <a:ext uri="{FF2B5EF4-FFF2-40B4-BE49-F238E27FC236}">
                    <a16:creationId xmlns:a16="http://schemas.microsoft.com/office/drawing/2014/main" id="{3DDF3FAE-C888-F360-DEC2-AC1DF699210C}"/>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6" name="Freeform: Shape 154">
                <a:extLst>
                  <a:ext uri="{FF2B5EF4-FFF2-40B4-BE49-F238E27FC236}">
                    <a16:creationId xmlns:a16="http://schemas.microsoft.com/office/drawing/2014/main" id="{94A932A9-A9E7-0A9D-A807-BA3C3F611946}"/>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7" name="Freeform: Shape 155">
                <a:extLst>
                  <a:ext uri="{FF2B5EF4-FFF2-40B4-BE49-F238E27FC236}">
                    <a16:creationId xmlns:a16="http://schemas.microsoft.com/office/drawing/2014/main" id="{A3B55091-63C6-729A-C27F-06A0FAF42C9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08" name="Freeform: Shape 156">
                <a:extLst>
                  <a:ext uri="{FF2B5EF4-FFF2-40B4-BE49-F238E27FC236}">
                    <a16:creationId xmlns:a16="http://schemas.microsoft.com/office/drawing/2014/main" id="{EFE4B22A-2167-0F87-9CD0-674492E83261}"/>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09" name="Freeform: Shape 157">
                <a:extLst>
                  <a:ext uri="{FF2B5EF4-FFF2-40B4-BE49-F238E27FC236}">
                    <a16:creationId xmlns:a16="http://schemas.microsoft.com/office/drawing/2014/main" id="{78A90422-BCAC-6DA6-D96A-830ADF74AA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10" name="Freeform: Shape 158">
                <a:extLst>
                  <a:ext uri="{FF2B5EF4-FFF2-40B4-BE49-F238E27FC236}">
                    <a16:creationId xmlns:a16="http://schemas.microsoft.com/office/drawing/2014/main" id="{7772D494-0CB8-F701-1287-9FA4C8D6FE0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1" name="Freeform: Shape 159">
                <a:extLst>
                  <a:ext uri="{FF2B5EF4-FFF2-40B4-BE49-F238E27FC236}">
                    <a16:creationId xmlns:a16="http://schemas.microsoft.com/office/drawing/2014/main" id="{7F0F2D36-127A-859C-76A1-D221BBF530FF}"/>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2" name="Freeform: Shape 160">
                <a:extLst>
                  <a:ext uri="{FF2B5EF4-FFF2-40B4-BE49-F238E27FC236}">
                    <a16:creationId xmlns:a16="http://schemas.microsoft.com/office/drawing/2014/main" id="{3EFB03EB-F6D2-DC77-46B7-5273B0D351F6}"/>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5" name="Group 194">
              <a:extLst>
                <a:ext uri="{FF2B5EF4-FFF2-40B4-BE49-F238E27FC236}">
                  <a16:creationId xmlns:a16="http://schemas.microsoft.com/office/drawing/2014/main" id="{9FF5EF6B-BE6B-08C7-8FC9-3F61FF01A694}"/>
                </a:ext>
              </a:extLst>
            </p:cNvPr>
            <p:cNvGrpSpPr/>
            <p:nvPr/>
          </p:nvGrpSpPr>
          <p:grpSpPr>
            <a:xfrm>
              <a:off x="10787679" y="3577217"/>
              <a:ext cx="1264298" cy="1005053"/>
              <a:chOff x="8867133" y="-492224"/>
              <a:chExt cx="1264298" cy="1005053"/>
            </a:xfrm>
          </p:grpSpPr>
          <p:sp>
            <p:nvSpPr>
              <p:cNvPr id="253" name="Freeform: Shape 131">
                <a:extLst>
                  <a:ext uri="{FF2B5EF4-FFF2-40B4-BE49-F238E27FC236}">
                    <a16:creationId xmlns:a16="http://schemas.microsoft.com/office/drawing/2014/main" id="{2F966702-0E74-EDBB-323B-8408DA20831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4" name="Freeform: Shape 132">
                <a:extLst>
                  <a:ext uri="{FF2B5EF4-FFF2-40B4-BE49-F238E27FC236}">
                    <a16:creationId xmlns:a16="http://schemas.microsoft.com/office/drawing/2014/main" id="{1F1341CA-5706-51C2-9232-4BDC9E9173F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5" name="Freeform: Shape 133">
                <a:extLst>
                  <a:ext uri="{FF2B5EF4-FFF2-40B4-BE49-F238E27FC236}">
                    <a16:creationId xmlns:a16="http://schemas.microsoft.com/office/drawing/2014/main" id="{4C7E1104-2709-9E57-5948-246B6B5152C5}"/>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6" name="Freeform: Shape 134">
                <a:extLst>
                  <a:ext uri="{FF2B5EF4-FFF2-40B4-BE49-F238E27FC236}">
                    <a16:creationId xmlns:a16="http://schemas.microsoft.com/office/drawing/2014/main" id="{F301332F-E56B-3CC3-30E6-49C93B40DC36}"/>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7" name="Freeform: Shape 135">
                <a:extLst>
                  <a:ext uri="{FF2B5EF4-FFF2-40B4-BE49-F238E27FC236}">
                    <a16:creationId xmlns:a16="http://schemas.microsoft.com/office/drawing/2014/main" id="{41F265F0-B8F1-015D-BCC0-97B113B619E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8" name="Freeform: Shape 136">
                <a:extLst>
                  <a:ext uri="{FF2B5EF4-FFF2-40B4-BE49-F238E27FC236}">
                    <a16:creationId xmlns:a16="http://schemas.microsoft.com/office/drawing/2014/main" id="{960EDF1E-2D4E-4CF2-F034-B14441F097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9" name="Freeform: Shape 137">
                <a:extLst>
                  <a:ext uri="{FF2B5EF4-FFF2-40B4-BE49-F238E27FC236}">
                    <a16:creationId xmlns:a16="http://schemas.microsoft.com/office/drawing/2014/main" id="{8219C2D0-3D15-92BC-7A08-F593D2B0705E}"/>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0" name="Freeform: Shape 138">
                <a:extLst>
                  <a:ext uri="{FF2B5EF4-FFF2-40B4-BE49-F238E27FC236}">
                    <a16:creationId xmlns:a16="http://schemas.microsoft.com/office/drawing/2014/main" id="{FC446D3A-93F5-A7B2-CB8A-CF350A9739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1" name="Freeform: Shape 139">
                <a:extLst>
                  <a:ext uri="{FF2B5EF4-FFF2-40B4-BE49-F238E27FC236}">
                    <a16:creationId xmlns:a16="http://schemas.microsoft.com/office/drawing/2014/main" id="{ED0AE599-36DC-C779-194C-7093CCF4F207}"/>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2" name="Freeform: Shape 140">
                <a:extLst>
                  <a:ext uri="{FF2B5EF4-FFF2-40B4-BE49-F238E27FC236}">
                    <a16:creationId xmlns:a16="http://schemas.microsoft.com/office/drawing/2014/main" id="{FD1CF0C5-F958-B124-D51E-218915F636F1}"/>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3" name="Freeform: Shape 141">
                <a:extLst>
                  <a:ext uri="{FF2B5EF4-FFF2-40B4-BE49-F238E27FC236}">
                    <a16:creationId xmlns:a16="http://schemas.microsoft.com/office/drawing/2014/main" id="{FBB77B73-BE23-4E32-E55B-84BED8CAA3F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4" name="Freeform: Shape 142">
                <a:extLst>
                  <a:ext uri="{FF2B5EF4-FFF2-40B4-BE49-F238E27FC236}">
                    <a16:creationId xmlns:a16="http://schemas.microsoft.com/office/drawing/2014/main" id="{3D966FF4-8901-796C-FEDA-93A9FC5BF2CF}"/>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5" name="Freeform: Shape 143">
                <a:extLst>
                  <a:ext uri="{FF2B5EF4-FFF2-40B4-BE49-F238E27FC236}">
                    <a16:creationId xmlns:a16="http://schemas.microsoft.com/office/drawing/2014/main" id="{9963E82D-64D1-CE96-9AB2-4D48F3EF2514}"/>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6" name="Freeform: Shape 144">
                <a:extLst>
                  <a:ext uri="{FF2B5EF4-FFF2-40B4-BE49-F238E27FC236}">
                    <a16:creationId xmlns:a16="http://schemas.microsoft.com/office/drawing/2014/main" id="{202902B0-2314-D6F0-4822-EF986647120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7" name="Freeform: Shape 145">
                <a:extLst>
                  <a:ext uri="{FF2B5EF4-FFF2-40B4-BE49-F238E27FC236}">
                    <a16:creationId xmlns:a16="http://schemas.microsoft.com/office/drawing/2014/main" id="{B890E0B9-9DB0-6AF8-DA0B-2E13F9CE8794}"/>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8" name="Freeform: Shape 146">
                <a:extLst>
                  <a:ext uri="{FF2B5EF4-FFF2-40B4-BE49-F238E27FC236}">
                    <a16:creationId xmlns:a16="http://schemas.microsoft.com/office/drawing/2014/main" id="{73593DB9-3722-596D-9FAB-0EA88B852D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9" name="Freeform: Shape 147">
                <a:extLst>
                  <a:ext uri="{FF2B5EF4-FFF2-40B4-BE49-F238E27FC236}">
                    <a16:creationId xmlns:a16="http://schemas.microsoft.com/office/drawing/2014/main" id="{2318831A-ADAF-D87A-D4F6-EB76D5D9DC0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0" name="Freeform: Shape 148">
                <a:extLst>
                  <a:ext uri="{FF2B5EF4-FFF2-40B4-BE49-F238E27FC236}">
                    <a16:creationId xmlns:a16="http://schemas.microsoft.com/office/drawing/2014/main" id="{B4219E9B-FE83-1E92-D605-3C7B484AEAC5}"/>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1" name="Freeform: Shape 149">
                <a:extLst>
                  <a:ext uri="{FF2B5EF4-FFF2-40B4-BE49-F238E27FC236}">
                    <a16:creationId xmlns:a16="http://schemas.microsoft.com/office/drawing/2014/main" id="{49D5BA8F-0278-79EE-B1E7-FE80E5DF6CC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2" name="Freeform: Shape 150">
                <a:extLst>
                  <a:ext uri="{FF2B5EF4-FFF2-40B4-BE49-F238E27FC236}">
                    <a16:creationId xmlns:a16="http://schemas.microsoft.com/office/drawing/2014/main" id="{C49E4EE3-0FFE-CB9E-CC73-2A1AFC71B8A7}"/>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3" name="Freeform: Shape 151">
                <a:extLst>
                  <a:ext uri="{FF2B5EF4-FFF2-40B4-BE49-F238E27FC236}">
                    <a16:creationId xmlns:a16="http://schemas.microsoft.com/office/drawing/2014/main" id="{D786AF54-38CE-0657-338E-6EEFBC8BE2B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4" name="Freeform: Shape 152">
                <a:extLst>
                  <a:ext uri="{FF2B5EF4-FFF2-40B4-BE49-F238E27FC236}">
                    <a16:creationId xmlns:a16="http://schemas.microsoft.com/office/drawing/2014/main" id="{BAAA88C8-ADC8-FDA0-56DC-1AD099FE49B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5" name="Freeform: Shape 153">
                <a:extLst>
                  <a:ext uri="{FF2B5EF4-FFF2-40B4-BE49-F238E27FC236}">
                    <a16:creationId xmlns:a16="http://schemas.microsoft.com/office/drawing/2014/main" id="{7F016FFF-9C30-2706-94DE-E99446C82EAE}"/>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6" name="Freeform: Shape 154">
                <a:extLst>
                  <a:ext uri="{FF2B5EF4-FFF2-40B4-BE49-F238E27FC236}">
                    <a16:creationId xmlns:a16="http://schemas.microsoft.com/office/drawing/2014/main" id="{785E9A80-4398-E072-7E55-73F370C2DE6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7" name="Freeform: Shape 155">
                <a:extLst>
                  <a:ext uri="{FF2B5EF4-FFF2-40B4-BE49-F238E27FC236}">
                    <a16:creationId xmlns:a16="http://schemas.microsoft.com/office/drawing/2014/main" id="{807B3314-E6F2-45BC-DA08-A6B33C2B8CD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78" name="Freeform: Shape 156">
                <a:extLst>
                  <a:ext uri="{FF2B5EF4-FFF2-40B4-BE49-F238E27FC236}">
                    <a16:creationId xmlns:a16="http://schemas.microsoft.com/office/drawing/2014/main" id="{7EC15654-E5FD-F098-04B5-AD3B44049F9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79" name="Freeform: Shape 157">
                <a:extLst>
                  <a:ext uri="{FF2B5EF4-FFF2-40B4-BE49-F238E27FC236}">
                    <a16:creationId xmlns:a16="http://schemas.microsoft.com/office/drawing/2014/main" id="{84FF780F-546E-C892-EF4C-D62E02A7ED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80" name="Freeform: Shape 158">
                <a:extLst>
                  <a:ext uri="{FF2B5EF4-FFF2-40B4-BE49-F238E27FC236}">
                    <a16:creationId xmlns:a16="http://schemas.microsoft.com/office/drawing/2014/main" id="{078905F8-B95A-2FB3-DF5E-B4389AE7D50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1" name="Freeform: Shape 159">
                <a:extLst>
                  <a:ext uri="{FF2B5EF4-FFF2-40B4-BE49-F238E27FC236}">
                    <a16:creationId xmlns:a16="http://schemas.microsoft.com/office/drawing/2014/main" id="{6189FBFB-389B-B278-2553-FC5F28D9BE7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2" name="Freeform: Shape 160">
                <a:extLst>
                  <a:ext uri="{FF2B5EF4-FFF2-40B4-BE49-F238E27FC236}">
                    <a16:creationId xmlns:a16="http://schemas.microsoft.com/office/drawing/2014/main" id="{B9582A29-926B-4022-74E9-E80BCDF41A62}"/>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6" name="Group 195">
              <a:extLst>
                <a:ext uri="{FF2B5EF4-FFF2-40B4-BE49-F238E27FC236}">
                  <a16:creationId xmlns:a16="http://schemas.microsoft.com/office/drawing/2014/main" id="{7765B2B6-F687-B1A0-C8CB-B480269B7D5D}"/>
                </a:ext>
              </a:extLst>
            </p:cNvPr>
            <p:cNvGrpSpPr/>
            <p:nvPr/>
          </p:nvGrpSpPr>
          <p:grpSpPr>
            <a:xfrm>
              <a:off x="10790283" y="4770606"/>
              <a:ext cx="1264298" cy="1005053"/>
              <a:chOff x="8867133" y="-492224"/>
              <a:chExt cx="1264298" cy="1005053"/>
            </a:xfrm>
          </p:grpSpPr>
          <p:sp>
            <p:nvSpPr>
              <p:cNvPr id="223" name="Freeform: Shape 131">
                <a:extLst>
                  <a:ext uri="{FF2B5EF4-FFF2-40B4-BE49-F238E27FC236}">
                    <a16:creationId xmlns:a16="http://schemas.microsoft.com/office/drawing/2014/main" id="{A18B3889-AB13-53BE-2D2C-5F3058D92D73}"/>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4" name="Freeform: Shape 132">
                <a:extLst>
                  <a:ext uri="{FF2B5EF4-FFF2-40B4-BE49-F238E27FC236}">
                    <a16:creationId xmlns:a16="http://schemas.microsoft.com/office/drawing/2014/main" id="{0B197A8F-A1CF-9810-93C5-874DAAE3B85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5" name="Freeform: Shape 133">
                <a:extLst>
                  <a:ext uri="{FF2B5EF4-FFF2-40B4-BE49-F238E27FC236}">
                    <a16:creationId xmlns:a16="http://schemas.microsoft.com/office/drawing/2014/main" id="{9D9D23BA-BB7A-4533-A18F-A978297A75D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6" name="Freeform: Shape 134">
                <a:extLst>
                  <a:ext uri="{FF2B5EF4-FFF2-40B4-BE49-F238E27FC236}">
                    <a16:creationId xmlns:a16="http://schemas.microsoft.com/office/drawing/2014/main" id="{BBA049FF-0CA9-5777-F3EC-9CBF878B188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7" name="Freeform: Shape 135">
                <a:extLst>
                  <a:ext uri="{FF2B5EF4-FFF2-40B4-BE49-F238E27FC236}">
                    <a16:creationId xmlns:a16="http://schemas.microsoft.com/office/drawing/2014/main" id="{9EB985FC-006E-6E22-D801-FFF1C621D466}"/>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8" name="Freeform: Shape 136">
                <a:extLst>
                  <a:ext uri="{FF2B5EF4-FFF2-40B4-BE49-F238E27FC236}">
                    <a16:creationId xmlns:a16="http://schemas.microsoft.com/office/drawing/2014/main" id="{16F63C8C-77B6-ED30-7F41-34F662BFBFFE}"/>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9" name="Freeform: Shape 137">
                <a:extLst>
                  <a:ext uri="{FF2B5EF4-FFF2-40B4-BE49-F238E27FC236}">
                    <a16:creationId xmlns:a16="http://schemas.microsoft.com/office/drawing/2014/main" id="{0737BEA7-5D85-2AD8-00E7-04CCFFA895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0" name="Freeform: Shape 138">
                <a:extLst>
                  <a:ext uri="{FF2B5EF4-FFF2-40B4-BE49-F238E27FC236}">
                    <a16:creationId xmlns:a16="http://schemas.microsoft.com/office/drawing/2014/main" id="{BF8C2B69-152E-74FE-9E61-7235B8B48C2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1" name="Freeform: Shape 139">
                <a:extLst>
                  <a:ext uri="{FF2B5EF4-FFF2-40B4-BE49-F238E27FC236}">
                    <a16:creationId xmlns:a16="http://schemas.microsoft.com/office/drawing/2014/main" id="{A7DBE652-36DF-9163-08EA-EA412F47EA5D}"/>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2" name="Freeform: Shape 140">
                <a:extLst>
                  <a:ext uri="{FF2B5EF4-FFF2-40B4-BE49-F238E27FC236}">
                    <a16:creationId xmlns:a16="http://schemas.microsoft.com/office/drawing/2014/main" id="{D80C1650-9F41-3245-43E5-4DB873E10329}"/>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3" name="Freeform: Shape 141">
                <a:extLst>
                  <a:ext uri="{FF2B5EF4-FFF2-40B4-BE49-F238E27FC236}">
                    <a16:creationId xmlns:a16="http://schemas.microsoft.com/office/drawing/2014/main" id="{CAF9A948-8F72-203E-3516-C758594DB9F5}"/>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4" name="Freeform: Shape 142">
                <a:extLst>
                  <a:ext uri="{FF2B5EF4-FFF2-40B4-BE49-F238E27FC236}">
                    <a16:creationId xmlns:a16="http://schemas.microsoft.com/office/drawing/2014/main" id="{1EAD676A-689E-D3C3-7D9D-C4651E466E7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5" name="Freeform: Shape 143">
                <a:extLst>
                  <a:ext uri="{FF2B5EF4-FFF2-40B4-BE49-F238E27FC236}">
                    <a16:creationId xmlns:a16="http://schemas.microsoft.com/office/drawing/2014/main" id="{4E638940-93C1-F526-9CD1-DCD4ED73149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6" name="Freeform: Shape 144">
                <a:extLst>
                  <a:ext uri="{FF2B5EF4-FFF2-40B4-BE49-F238E27FC236}">
                    <a16:creationId xmlns:a16="http://schemas.microsoft.com/office/drawing/2014/main" id="{B1D81BAB-ECCC-A195-ECC8-C46CF423AA5E}"/>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7" name="Freeform: Shape 145">
                <a:extLst>
                  <a:ext uri="{FF2B5EF4-FFF2-40B4-BE49-F238E27FC236}">
                    <a16:creationId xmlns:a16="http://schemas.microsoft.com/office/drawing/2014/main" id="{05C89757-E599-FECF-2D50-5955585297AC}"/>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8" name="Freeform: Shape 146">
                <a:extLst>
                  <a:ext uri="{FF2B5EF4-FFF2-40B4-BE49-F238E27FC236}">
                    <a16:creationId xmlns:a16="http://schemas.microsoft.com/office/drawing/2014/main" id="{E1360129-27B1-BD79-C8AA-8F44DB5A3B33}"/>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9" name="Freeform: Shape 147">
                <a:extLst>
                  <a:ext uri="{FF2B5EF4-FFF2-40B4-BE49-F238E27FC236}">
                    <a16:creationId xmlns:a16="http://schemas.microsoft.com/office/drawing/2014/main" id="{13DFD579-809B-8474-883A-4B55CDD32D9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0" name="Freeform: Shape 148">
                <a:extLst>
                  <a:ext uri="{FF2B5EF4-FFF2-40B4-BE49-F238E27FC236}">
                    <a16:creationId xmlns:a16="http://schemas.microsoft.com/office/drawing/2014/main" id="{88EA25CE-7CB4-5194-ED47-61E059C6944B}"/>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1" name="Freeform: Shape 149">
                <a:extLst>
                  <a:ext uri="{FF2B5EF4-FFF2-40B4-BE49-F238E27FC236}">
                    <a16:creationId xmlns:a16="http://schemas.microsoft.com/office/drawing/2014/main" id="{2D8D8CE6-E1B7-587A-847C-5941ACB9AC15}"/>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2" name="Freeform: Shape 150">
                <a:extLst>
                  <a:ext uri="{FF2B5EF4-FFF2-40B4-BE49-F238E27FC236}">
                    <a16:creationId xmlns:a16="http://schemas.microsoft.com/office/drawing/2014/main" id="{8BC5CBC6-9EE9-39D7-ED8F-07710A360E0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3" name="Freeform: Shape 151">
                <a:extLst>
                  <a:ext uri="{FF2B5EF4-FFF2-40B4-BE49-F238E27FC236}">
                    <a16:creationId xmlns:a16="http://schemas.microsoft.com/office/drawing/2014/main" id="{1B3D5177-AF08-AB1C-DC75-17BBB1F301E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4" name="Freeform: Shape 152">
                <a:extLst>
                  <a:ext uri="{FF2B5EF4-FFF2-40B4-BE49-F238E27FC236}">
                    <a16:creationId xmlns:a16="http://schemas.microsoft.com/office/drawing/2014/main" id="{1A722BFE-03A6-890F-92C9-AABC3C35AF7A}"/>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5" name="Freeform: Shape 153">
                <a:extLst>
                  <a:ext uri="{FF2B5EF4-FFF2-40B4-BE49-F238E27FC236}">
                    <a16:creationId xmlns:a16="http://schemas.microsoft.com/office/drawing/2014/main" id="{78053181-E1FD-7EC5-8947-FB4A54AA7E5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6" name="Freeform: Shape 154">
                <a:extLst>
                  <a:ext uri="{FF2B5EF4-FFF2-40B4-BE49-F238E27FC236}">
                    <a16:creationId xmlns:a16="http://schemas.microsoft.com/office/drawing/2014/main" id="{9ED2E186-9CFC-81CF-7691-8085C576E840}"/>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7" name="Freeform: Shape 155">
                <a:extLst>
                  <a:ext uri="{FF2B5EF4-FFF2-40B4-BE49-F238E27FC236}">
                    <a16:creationId xmlns:a16="http://schemas.microsoft.com/office/drawing/2014/main" id="{9EB89204-39A6-4131-F605-2828D960BF1C}"/>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48" name="Freeform: Shape 156">
                <a:extLst>
                  <a:ext uri="{FF2B5EF4-FFF2-40B4-BE49-F238E27FC236}">
                    <a16:creationId xmlns:a16="http://schemas.microsoft.com/office/drawing/2014/main" id="{4ADB8665-025E-D139-05C5-F5C3012D55A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49" name="Freeform: Shape 157">
                <a:extLst>
                  <a:ext uri="{FF2B5EF4-FFF2-40B4-BE49-F238E27FC236}">
                    <a16:creationId xmlns:a16="http://schemas.microsoft.com/office/drawing/2014/main" id="{8131E12C-599B-E502-7A80-678C7CEC1AC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50" name="Freeform: Shape 158">
                <a:extLst>
                  <a:ext uri="{FF2B5EF4-FFF2-40B4-BE49-F238E27FC236}">
                    <a16:creationId xmlns:a16="http://schemas.microsoft.com/office/drawing/2014/main" id="{C0E3567B-CB0B-EB69-D811-09D763F85B6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1" name="Freeform: Shape 159">
                <a:extLst>
                  <a:ext uri="{FF2B5EF4-FFF2-40B4-BE49-F238E27FC236}">
                    <a16:creationId xmlns:a16="http://schemas.microsoft.com/office/drawing/2014/main" id="{6BFF59CA-0AB7-F3D3-766B-50E9FF642A78}"/>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2" name="Freeform: Shape 160">
                <a:extLst>
                  <a:ext uri="{FF2B5EF4-FFF2-40B4-BE49-F238E27FC236}">
                    <a16:creationId xmlns:a16="http://schemas.microsoft.com/office/drawing/2014/main" id="{CFF006CC-2504-600E-8C8D-061BF611536F}"/>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7" name="Group 196">
              <a:extLst>
                <a:ext uri="{FF2B5EF4-FFF2-40B4-BE49-F238E27FC236}">
                  <a16:creationId xmlns:a16="http://schemas.microsoft.com/office/drawing/2014/main" id="{20FAEAC8-7633-C0ED-16D8-85DD90DB6BA7}"/>
                </a:ext>
              </a:extLst>
            </p:cNvPr>
            <p:cNvGrpSpPr/>
            <p:nvPr/>
          </p:nvGrpSpPr>
          <p:grpSpPr>
            <a:xfrm>
              <a:off x="10701084" y="5836321"/>
              <a:ext cx="1493520" cy="1021679"/>
              <a:chOff x="10698480" y="0"/>
              <a:chExt cx="1493520" cy="1021679"/>
            </a:xfrm>
          </p:grpSpPr>
          <p:sp>
            <p:nvSpPr>
              <p:cNvPr id="198" name="Rectangle 197">
                <a:extLst>
                  <a:ext uri="{FF2B5EF4-FFF2-40B4-BE49-F238E27FC236}">
                    <a16:creationId xmlns:a16="http://schemas.microsoft.com/office/drawing/2014/main" id="{EBCF0B54-351D-C38D-7663-135FEC1FF921}"/>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9" name="Group 198">
                <a:extLst>
                  <a:ext uri="{FF2B5EF4-FFF2-40B4-BE49-F238E27FC236}">
                    <a16:creationId xmlns:a16="http://schemas.microsoft.com/office/drawing/2014/main" id="{AA008DC5-5FFA-3CA6-E50E-455ED3A807FA}"/>
                  </a:ext>
                </a:extLst>
              </p:cNvPr>
              <p:cNvGrpSpPr/>
              <p:nvPr/>
            </p:nvGrpSpPr>
            <p:grpSpPr>
              <a:xfrm>
                <a:off x="10787679" y="97530"/>
                <a:ext cx="1264298" cy="769086"/>
                <a:chOff x="8867133" y="-492224"/>
                <a:chExt cx="1264298" cy="769086"/>
              </a:xfrm>
            </p:grpSpPr>
            <p:sp>
              <p:nvSpPr>
                <p:cNvPr id="200" name="Freeform: Shape 131">
                  <a:extLst>
                    <a:ext uri="{FF2B5EF4-FFF2-40B4-BE49-F238E27FC236}">
                      <a16:creationId xmlns:a16="http://schemas.microsoft.com/office/drawing/2014/main" id="{614D64B0-A2BB-D2A1-7B26-719E2968FB7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1" name="Freeform: Shape 132">
                  <a:extLst>
                    <a:ext uri="{FF2B5EF4-FFF2-40B4-BE49-F238E27FC236}">
                      <a16:creationId xmlns:a16="http://schemas.microsoft.com/office/drawing/2014/main" id="{324D23FB-7C6E-2B25-2737-824F9C2827AA}"/>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2" name="Freeform: Shape 133">
                  <a:extLst>
                    <a:ext uri="{FF2B5EF4-FFF2-40B4-BE49-F238E27FC236}">
                      <a16:creationId xmlns:a16="http://schemas.microsoft.com/office/drawing/2014/main" id="{291001BA-A2AD-02D8-95F8-1AFD49B5200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3" name="Freeform: Shape 134">
                  <a:extLst>
                    <a:ext uri="{FF2B5EF4-FFF2-40B4-BE49-F238E27FC236}">
                      <a16:creationId xmlns:a16="http://schemas.microsoft.com/office/drawing/2014/main" id="{95E36737-AF0F-ADF0-EC67-4A0287AEF07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4" name="Freeform: Shape 135">
                  <a:extLst>
                    <a:ext uri="{FF2B5EF4-FFF2-40B4-BE49-F238E27FC236}">
                      <a16:creationId xmlns:a16="http://schemas.microsoft.com/office/drawing/2014/main" id="{9006DC27-8FCF-44EE-A555-031F1AB4597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5" name="Freeform: Shape 136">
                  <a:extLst>
                    <a:ext uri="{FF2B5EF4-FFF2-40B4-BE49-F238E27FC236}">
                      <a16:creationId xmlns:a16="http://schemas.microsoft.com/office/drawing/2014/main" id="{DDF25CA9-EE35-7569-A3D5-3C55FEF10432}"/>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6" name="Freeform: Shape 137">
                  <a:extLst>
                    <a:ext uri="{FF2B5EF4-FFF2-40B4-BE49-F238E27FC236}">
                      <a16:creationId xmlns:a16="http://schemas.microsoft.com/office/drawing/2014/main" id="{E79EEFAE-90A4-0F6A-627E-57F7B43CFA26}"/>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7" name="Freeform: Shape 138">
                  <a:extLst>
                    <a:ext uri="{FF2B5EF4-FFF2-40B4-BE49-F238E27FC236}">
                      <a16:creationId xmlns:a16="http://schemas.microsoft.com/office/drawing/2014/main" id="{877D0A70-5296-AF0A-A358-0EC98CD2AD16}"/>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8" name="Freeform: Shape 139">
                  <a:extLst>
                    <a:ext uri="{FF2B5EF4-FFF2-40B4-BE49-F238E27FC236}">
                      <a16:creationId xmlns:a16="http://schemas.microsoft.com/office/drawing/2014/main" id="{A4254E57-33F3-3BAD-FF68-22B91BE861E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9" name="Freeform: Shape 140">
                  <a:extLst>
                    <a:ext uri="{FF2B5EF4-FFF2-40B4-BE49-F238E27FC236}">
                      <a16:creationId xmlns:a16="http://schemas.microsoft.com/office/drawing/2014/main" id="{94B6A35E-F6A5-0526-3F52-2DBC259D906E}"/>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0" name="Freeform: Shape 141">
                  <a:extLst>
                    <a:ext uri="{FF2B5EF4-FFF2-40B4-BE49-F238E27FC236}">
                      <a16:creationId xmlns:a16="http://schemas.microsoft.com/office/drawing/2014/main" id="{110BD815-9C88-3C27-3EFA-5D4E89D776D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1" name="Freeform: Shape 142">
                  <a:extLst>
                    <a:ext uri="{FF2B5EF4-FFF2-40B4-BE49-F238E27FC236}">
                      <a16:creationId xmlns:a16="http://schemas.microsoft.com/office/drawing/2014/main" id="{4F9E96E1-8F79-42DD-3D00-2076779EAE38}"/>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2" name="Freeform: Shape 143">
                  <a:extLst>
                    <a:ext uri="{FF2B5EF4-FFF2-40B4-BE49-F238E27FC236}">
                      <a16:creationId xmlns:a16="http://schemas.microsoft.com/office/drawing/2014/main" id="{E4DA058D-277D-CDF6-04B1-63B3BD9C9A0A}"/>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3" name="Freeform: Shape 144">
                  <a:extLst>
                    <a:ext uri="{FF2B5EF4-FFF2-40B4-BE49-F238E27FC236}">
                      <a16:creationId xmlns:a16="http://schemas.microsoft.com/office/drawing/2014/main" id="{6F10E194-1BD8-3EDC-7EE8-7E8405DF57D5}"/>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4" name="Freeform: Shape 145">
                  <a:extLst>
                    <a:ext uri="{FF2B5EF4-FFF2-40B4-BE49-F238E27FC236}">
                      <a16:creationId xmlns:a16="http://schemas.microsoft.com/office/drawing/2014/main" id="{29D06D89-63A6-FE9F-3E58-F2D4B46839EF}"/>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5" name="Freeform: Shape 146">
                  <a:extLst>
                    <a:ext uri="{FF2B5EF4-FFF2-40B4-BE49-F238E27FC236}">
                      <a16:creationId xmlns:a16="http://schemas.microsoft.com/office/drawing/2014/main" id="{32051BFF-00A7-EA0F-73E4-61C59544F79F}"/>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6" name="Freeform: Shape 147">
                  <a:extLst>
                    <a:ext uri="{FF2B5EF4-FFF2-40B4-BE49-F238E27FC236}">
                      <a16:creationId xmlns:a16="http://schemas.microsoft.com/office/drawing/2014/main" id="{9B9F7A47-A865-B219-73AD-8FA60BD49DC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7" name="Freeform: Shape 155">
                  <a:extLst>
                    <a:ext uri="{FF2B5EF4-FFF2-40B4-BE49-F238E27FC236}">
                      <a16:creationId xmlns:a16="http://schemas.microsoft.com/office/drawing/2014/main" id="{B529A8E0-4EBA-B745-FF64-0C7EB1DAAB0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18" name="Freeform: Shape 156">
                  <a:extLst>
                    <a:ext uri="{FF2B5EF4-FFF2-40B4-BE49-F238E27FC236}">
                      <a16:creationId xmlns:a16="http://schemas.microsoft.com/office/drawing/2014/main" id="{D732A7E1-68DA-2E1E-96AF-14C8FA7FE6FA}"/>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19" name="Freeform: Shape 157">
                  <a:extLst>
                    <a:ext uri="{FF2B5EF4-FFF2-40B4-BE49-F238E27FC236}">
                      <a16:creationId xmlns:a16="http://schemas.microsoft.com/office/drawing/2014/main" id="{636C6756-93AE-738D-2BDB-946C87602CB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20" name="Freeform: Shape 158">
                  <a:extLst>
                    <a:ext uri="{FF2B5EF4-FFF2-40B4-BE49-F238E27FC236}">
                      <a16:creationId xmlns:a16="http://schemas.microsoft.com/office/drawing/2014/main" id="{9FB60ACC-4591-B6D6-CEA9-4A460BE73A1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1" name="Freeform: Shape 159">
                  <a:extLst>
                    <a:ext uri="{FF2B5EF4-FFF2-40B4-BE49-F238E27FC236}">
                      <a16:creationId xmlns:a16="http://schemas.microsoft.com/office/drawing/2014/main" id="{EB34CB89-D635-0812-1F6D-50E856B3878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2" name="Freeform: Shape 160">
                  <a:extLst>
                    <a:ext uri="{FF2B5EF4-FFF2-40B4-BE49-F238E27FC236}">
                      <a16:creationId xmlns:a16="http://schemas.microsoft.com/office/drawing/2014/main" id="{ED8CA160-B795-D671-8597-3F60E34FAA0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763797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Picture Left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7872869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Picture Left Content Blu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30885803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 Power Word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7864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52802540-9D17-2CC9-FBE9-CFED3230EE4F}"/>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05356E6B-0EA2-F6E9-AF30-A3A66A25F2BD}"/>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6052736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Power Word - white/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1"/>
                </a:solidFill>
                <a:latin typeface="Outfit Light" pitchFamily="2" charset="0"/>
              </a:defRPr>
            </a:lvl1pPr>
          </a:lstStyle>
          <a:p>
            <a:r>
              <a:rPr lang="en-US" dirty="0"/>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BB43FACA-FBC2-0633-CE89-84238C1DAAC3}"/>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F33B0035-E6A3-AD30-2EF3-23D401CF2E9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0781082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Power Word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6813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3"/>
            <a:ext cx="8993309" cy="1327112"/>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45634395-AFB9-1964-945B-EAB79638442D}"/>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6F8408E-8DC5-BC4F-218E-F4A49E63081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057614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6"/>
            <a:ext cx="9006010" cy="2452522"/>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bg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0" name="Content Placeholder 2">
            <a:extLst>
              <a:ext uri="{FF2B5EF4-FFF2-40B4-BE49-F238E27FC236}">
                <a16:creationId xmlns:a16="http://schemas.microsoft.com/office/drawing/2014/main" id="{E29E37D8-5073-8420-E497-7D71636ABDB7}"/>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3" name="Slide Number Placeholder 5">
            <a:extLst>
              <a:ext uri="{FF2B5EF4-FFF2-40B4-BE49-F238E27FC236}">
                <a16:creationId xmlns:a16="http://schemas.microsoft.com/office/drawing/2014/main" id="{AF93878B-70D6-3441-AFD9-B2506613940C}"/>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1443103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sz="2000">
                <a:solidFill>
                  <a:schemeClr val="accent1"/>
                </a:solidFill>
              </a:defRPr>
            </a:lvl1pPr>
            <a:lvl2pPr>
              <a:spcBef>
                <a:spcPts val="300"/>
              </a:spcBef>
              <a:spcAft>
                <a:spcPts val="300"/>
              </a:spcAft>
              <a:defRPr sz="1800">
                <a:solidFill>
                  <a:schemeClr val="accent1"/>
                </a:solidFill>
              </a:defRPr>
            </a:lvl2pPr>
            <a:lvl3pPr>
              <a:spcBef>
                <a:spcPts val="300"/>
              </a:spcBef>
              <a:spcAft>
                <a:spcPts val="300"/>
              </a:spcAft>
              <a:defRPr sz="1600">
                <a:solidFill>
                  <a:schemeClr val="accent1"/>
                </a:solidFill>
              </a:defRPr>
            </a:lvl3pPr>
            <a:lvl4pPr>
              <a:spcBef>
                <a:spcPts val="300"/>
              </a:spcBef>
              <a:spcAft>
                <a:spcPts val="300"/>
              </a:spcAft>
              <a:defRPr sz="1400">
                <a:solidFill>
                  <a:schemeClr val="accent1"/>
                </a:solidFill>
              </a:defRPr>
            </a:lvl4pPr>
            <a:lvl5pPr>
              <a:spcBef>
                <a:spcPts val="300"/>
              </a:spcBef>
              <a:spcAft>
                <a:spcPts val="300"/>
              </a:spcAft>
              <a:defRPr sz="14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reeform: Shape 18">
            <a:extLst>
              <a:ext uri="{FF2B5EF4-FFF2-40B4-BE49-F238E27FC236}">
                <a16:creationId xmlns:a16="http://schemas.microsoft.com/office/drawing/2014/main" id="{6B61184C-B93E-ECFD-8108-B0FDA2FECBC8}"/>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7" name="Content Placeholder 2">
            <a:extLst>
              <a:ext uri="{FF2B5EF4-FFF2-40B4-BE49-F238E27FC236}">
                <a16:creationId xmlns:a16="http://schemas.microsoft.com/office/drawing/2014/main" id="{087513A7-C127-FBA9-2411-6DACB506A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9B555C45-BF68-6D27-B96D-DE13828713FA}"/>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4741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 Image - platinum">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A1523-308A-20BA-325B-DCC6C201399A}"/>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1" name="Content Placeholder 2">
            <a:extLst>
              <a:ext uri="{FF2B5EF4-FFF2-40B4-BE49-F238E27FC236}">
                <a16:creationId xmlns:a16="http://schemas.microsoft.com/office/drawing/2014/main" id="{7E98F8E5-8778-FB43-3984-0633BD1FC678}"/>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6692FD45-83AD-586A-3C9B-63B66CF6209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692225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de Title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8402" y="252345"/>
            <a:ext cx="2590800" cy="1609859"/>
          </a:xfrm>
        </p:spPr>
        <p:txBody>
          <a:bodyPr anchor="ctr" anchorCtr="0">
            <a:normAutofit/>
          </a:bodyPr>
          <a:lstStyle>
            <a:lvl1pPr>
              <a:defRPr sz="3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4217828" y="436105"/>
            <a:ext cx="3814184" cy="5308536"/>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38C6D6D2-5187-5271-139E-B580F38E349B}"/>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83D52FB8-BE38-3892-4C76-249A2A904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3155EEF-2E74-6BBF-AD6A-BF979CC9E5B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034925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image - Power Word ">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5031979"/>
            <a:ext cx="9478778" cy="3125787"/>
          </a:xfrm>
        </p:spPr>
        <p:txBody>
          <a:bodyPr anchor="t" anchorCtr="0">
            <a:noAutofit/>
          </a:bodyPr>
          <a:lstStyle>
            <a:lvl1pPr algn="l">
              <a:defRPr sz="20000" b="0" i="0">
                <a:solidFill>
                  <a:schemeClr val="accent2"/>
                </a:solidFill>
                <a:latin typeface="Outfit Light" pitchFamily="2" charset="0"/>
              </a:defRPr>
            </a:lvl1pPr>
          </a:lstStyle>
          <a:p>
            <a:r>
              <a:rPr lang="en-US"/>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6" name="Picture Placeholder 4">
            <a:extLst>
              <a:ext uri="{FF2B5EF4-FFF2-40B4-BE49-F238E27FC236}">
                <a16:creationId xmlns:a16="http://schemas.microsoft.com/office/drawing/2014/main" id="{C851EF96-4DAA-EDF0-DAED-FE2994C21D9E}"/>
              </a:ext>
            </a:extLst>
          </p:cNvPr>
          <p:cNvSpPr>
            <a:spLocks noGrp="1"/>
          </p:cNvSpPr>
          <p:nvPr>
            <p:ph type="pic" sz="quarter" idx="10"/>
          </p:nvPr>
        </p:nvSpPr>
        <p:spPr>
          <a:xfrm>
            <a:off x="0" y="2346325"/>
            <a:ext cx="5670550" cy="3165475"/>
          </a:xfrm>
        </p:spPr>
        <p:txBody>
          <a:bodyPr/>
          <a:lstStyle/>
          <a:p>
            <a:endParaRPr lang="en-US" dirty="0"/>
          </a:p>
        </p:txBody>
      </p:sp>
      <p:sp>
        <p:nvSpPr>
          <p:cNvPr id="18" name="Content Placeholder 2">
            <a:extLst>
              <a:ext uri="{FF2B5EF4-FFF2-40B4-BE49-F238E27FC236}">
                <a16:creationId xmlns:a16="http://schemas.microsoft.com/office/drawing/2014/main" id="{5B47BB93-F99A-7109-8396-BB6AC4EC1AD1}"/>
              </a:ext>
            </a:extLst>
          </p:cNvPr>
          <p:cNvSpPr>
            <a:spLocks noGrp="1"/>
          </p:cNvSpPr>
          <p:nvPr>
            <p:ph idx="1"/>
          </p:nvPr>
        </p:nvSpPr>
        <p:spPr>
          <a:xfrm>
            <a:off x="5883515" y="2346325"/>
            <a:ext cx="5397629" cy="3178175"/>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
            <a:extLst>
              <a:ext uri="{FF2B5EF4-FFF2-40B4-BE49-F238E27FC236}">
                <a16:creationId xmlns:a16="http://schemas.microsoft.com/office/drawing/2014/main" id="{ED5414B8-AF52-83E1-7CDB-47BDE5877B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2C92FFAD-E8D6-7BAD-44AA-3FCC1191272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677523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 Bullets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E7F10388-2644-4BA8-473A-44E06DFCABC1}"/>
              </a:ext>
            </a:extLst>
          </p:cNvPr>
          <p:cNvSpPr>
            <a:spLocks noGrp="1"/>
          </p:cNvSpPr>
          <p:nvPr>
            <p:ph idx="1"/>
          </p:nvPr>
        </p:nvSpPr>
        <p:spPr>
          <a:xfrm>
            <a:off x="5883515" y="2346325"/>
            <a:ext cx="5397629" cy="414655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Slide Number Placeholder 5">
            <a:extLst>
              <a:ext uri="{FF2B5EF4-FFF2-40B4-BE49-F238E27FC236}">
                <a16:creationId xmlns:a16="http://schemas.microsoft.com/office/drawing/2014/main" id="{98C049C0-7552-0F48-9188-024C24F2A9E3}"/>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9" name="Picture Placeholder 4">
            <a:extLst>
              <a:ext uri="{FF2B5EF4-FFF2-40B4-BE49-F238E27FC236}">
                <a16:creationId xmlns:a16="http://schemas.microsoft.com/office/drawing/2014/main" id="{DB21F27A-8A19-6AD5-0134-4D11D1CB3185}"/>
              </a:ext>
            </a:extLst>
          </p:cNvPr>
          <p:cNvSpPr>
            <a:spLocks noGrp="1"/>
          </p:cNvSpPr>
          <p:nvPr>
            <p:ph type="pic" sz="quarter" idx="10"/>
          </p:nvPr>
        </p:nvSpPr>
        <p:spPr>
          <a:xfrm>
            <a:off x="0" y="2346325"/>
            <a:ext cx="5670550" cy="4511675"/>
          </a:xfrm>
          <a:solidFill>
            <a:schemeClr val="accent4"/>
          </a:solidFill>
        </p:spPr>
        <p:txBody>
          <a:bodyPr/>
          <a:lstStyle/>
          <a:p>
            <a:endParaRPr lang="en-US" dirty="0"/>
          </a:p>
        </p:txBody>
      </p:sp>
      <p:sp>
        <p:nvSpPr>
          <p:cNvPr id="16" name="Content Placeholder 2">
            <a:extLst>
              <a:ext uri="{FF2B5EF4-FFF2-40B4-BE49-F238E27FC236}">
                <a16:creationId xmlns:a16="http://schemas.microsoft.com/office/drawing/2014/main" id="{36EA7EA7-BF43-E670-B282-9BFD78936CE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2" name="Slide Number Placeholder 5">
            <a:extLst>
              <a:ext uri="{FF2B5EF4-FFF2-40B4-BE49-F238E27FC236}">
                <a16:creationId xmlns:a16="http://schemas.microsoft.com/office/drawing/2014/main" id="{9D007173-AFB4-9AD5-B2A4-A1719ED8BE6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87097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4030256" y="2416372"/>
            <a:ext cx="6793688" cy="1624005"/>
          </a:xfrm>
        </p:spPr>
        <p:txBody>
          <a:bodyPr anchor="t" anchorCtr="0">
            <a:noAutofit/>
          </a:bodyPr>
          <a:lstStyle>
            <a:lvl1pPr algn="l">
              <a:lnSpc>
                <a:spcPct val="60000"/>
              </a:lnSpc>
              <a:defRPr sz="13000" b="1" i="0">
                <a:solidFill>
                  <a:schemeClr val="bg1"/>
                </a:solidFill>
                <a:latin typeface="Outfit SemiBold" pitchFamily="2" charset="0"/>
              </a:defRPr>
            </a:lvl1pPr>
          </a:lstStyle>
          <a:p>
            <a:r>
              <a:rPr lang="en-US" dirty="0"/>
              <a:t>Thank        </a:t>
            </a:r>
          </a:p>
        </p:txBody>
      </p:sp>
      <p:pic>
        <p:nvPicPr>
          <p:cNvPr id="9" name="Picture 8">
            <a:extLst>
              <a:ext uri="{FF2B5EF4-FFF2-40B4-BE49-F238E27FC236}">
                <a16:creationId xmlns:a16="http://schemas.microsoft.com/office/drawing/2014/main" id="{53480EDC-732B-3B90-A0BD-9F3FB34BDA3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67800" y="2203480"/>
            <a:ext cx="1921953" cy="1921953"/>
          </a:xfrm>
          <a:prstGeom prst="rect">
            <a:avLst/>
          </a:prstGeom>
        </p:spPr>
      </p:pic>
      <p:sp>
        <p:nvSpPr>
          <p:cNvPr id="10" name="Content Placeholder 2">
            <a:extLst>
              <a:ext uri="{FF2B5EF4-FFF2-40B4-BE49-F238E27FC236}">
                <a16:creationId xmlns:a16="http://schemas.microsoft.com/office/drawing/2014/main" id="{35F8EBD3-094C-1237-3D91-07BF2B96448C}"/>
              </a:ext>
            </a:extLst>
          </p:cNvPr>
          <p:cNvSpPr>
            <a:spLocks noGrp="1"/>
          </p:cNvSpPr>
          <p:nvPr>
            <p:ph idx="1" hasCustomPrompt="1"/>
          </p:nvPr>
        </p:nvSpPr>
        <p:spPr>
          <a:xfrm>
            <a:off x="1967801" y="4830040"/>
            <a:ext cx="3624926" cy="1273048"/>
          </a:xfrm>
        </p:spPr>
        <p:txBody>
          <a:bodyPr tIns="0" numCol="1" spcCol="0">
            <a:noAutofit/>
          </a:bodyPr>
          <a:lstStyle>
            <a:lvl1pPr>
              <a:spcBef>
                <a:spcPts val="300"/>
              </a:spcBef>
              <a:spcAft>
                <a:spcPts val="300"/>
              </a:spcAft>
              <a:defRPr>
                <a:solidFill>
                  <a:schemeClr val="accent4"/>
                </a:solidFill>
              </a:defRPr>
            </a:lvl1pPr>
            <a:lvl2pPr>
              <a:spcBef>
                <a:spcPts val="300"/>
              </a:spcBef>
              <a:spcAft>
                <a:spcPts val="300"/>
              </a:spcAft>
              <a:defRPr>
                <a:solidFill>
                  <a:schemeClr val="accent4"/>
                </a:solidFill>
              </a:defRPr>
            </a:lvl2pPr>
            <a:lvl3pPr>
              <a:spcBef>
                <a:spcPts val="300"/>
              </a:spcBef>
              <a:spcAft>
                <a:spcPts val="300"/>
              </a:spcAft>
              <a:defRPr>
                <a:solidFill>
                  <a:schemeClr val="accent4"/>
                </a:solidFill>
              </a:defRPr>
            </a:lvl3pPr>
            <a:lvl4pPr>
              <a:spcBef>
                <a:spcPts val="300"/>
              </a:spcBef>
              <a:spcAft>
                <a:spcPts val="300"/>
              </a:spcAft>
              <a:defRPr>
                <a:solidFill>
                  <a:schemeClr val="accent4"/>
                </a:solidFill>
              </a:defRPr>
            </a:lvl4pPr>
            <a:lvl5pPr>
              <a:spcBef>
                <a:spcPts val="300"/>
              </a:spcBef>
              <a:spcAft>
                <a:spcPts val="300"/>
              </a:spcAft>
              <a:defRPr>
                <a:solidFill>
                  <a:schemeClr val="accent4"/>
                </a:solidFill>
              </a:defRPr>
            </a:lvl5pPr>
          </a:lstStyle>
          <a:p>
            <a:pPr lvl="0"/>
            <a:r>
              <a:rPr lang="en-US"/>
              <a:t>Contact Name</a:t>
            </a:r>
          </a:p>
          <a:p>
            <a:pPr lvl="0"/>
            <a:r>
              <a:rPr lang="en-US"/>
              <a:t>Email</a:t>
            </a:r>
          </a:p>
          <a:p>
            <a:pPr lvl="0"/>
            <a:r>
              <a:rPr lang="en-US"/>
              <a:t>Phone</a:t>
            </a:r>
          </a:p>
        </p:txBody>
      </p:sp>
      <p:sp>
        <p:nvSpPr>
          <p:cNvPr id="4" name="Slide Number Placeholder 5">
            <a:extLst>
              <a:ext uri="{FF2B5EF4-FFF2-40B4-BE49-F238E27FC236}">
                <a16:creationId xmlns:a16="http://schemas.microsoft.com/office/drawing/2014/main" id="{165412F6-6CFA-B25B-605C-0D1408B6D376}"/>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
        <p:nvSpPr>
          <p:cNvPr id="5" name="TextBox 4">
            <a:extLst>
              <a:ext uri="{FF2B5EF4-FFF2-40B4-BE49-F238E27FC236}">
                <a16:creationId xmlns:a16="http://schemas.microsoft.com/office/drawing/2014/main" id="{AF6EEB09-6D28-0349-00D3-ABC8EB2B59E2}"/>
              </a:ext>
            </a:extLst>
          </p:cNvPr>
          <p:cNvSpPr txBox="1"/>
          <p:nvPr userDrawn="1"/>
        </p:nvSpPr>
        <p:spPr>
          <a:xfrm>
            <a:off x="7408731" y="2896862"/>
            <a:ext cx="6094476" cy="2092881"/>
          </a:xfrm>
          <a:prstGeom prst="rect">
            <a:avLst/>
          </a:prstGeom>
          <a:noFill/>
        </p:spPr>
        <p:txBody>
          <a:bodyPr wrap="square">
            <a:spAutoFit/>
          </a:bodyPr>
          <a:lstStyle/>
          <a:p>
            <a:r>
              <a:rPr lang="en-US" sz="13000" i="1" dirty="0">
                <a:solidFill>
                  <a:schemeClr val="accent2"/>
                </a:solidFill>
                <a:latin typeface="DM Serif Display" pitchFamily="2" charset="0"/>
              </a:rPr>
              <a:t>you</a:t>
            </a:r>
          </a:p>
        </p:txBody>
      </p:sp>
      <p:pic>
        <p:nvPicPr>
          <p:cNvPr id="7" name="Picture 6">
            <a:extLst>
              <a:ext uri="{FF2B5EF4-FFF2-40B4-BE49-F238E27FC236}">
                <a16:creationId xmlns:a16="http://schemas.microsoft.com/office/drawing/2014/main" id="{15557FE9-F7F0-F7C7-38FF-831E9C3408DD}"/>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2431274" y="1218128"/>
            <a:ext cx="2981692" cy="920896"/>
          </a:xfrm>
          <a:prstGeom prst="rect">
            <a:avLst/>
          </a:prstGeom>
        </p:spPr>
      </p:pic>
    </p:spTree>
    <p:extLst>
      <p:ext uri="{BB962C8B-B14F-4D97-AF65-F5344CB8AC3E}">
        <p14:creationId xmlns:p14="http://schemas.microsoft.com/office/powerpoint/2010/main" val="31122077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T_Body_2">
    <p:spTree>
      <p:nvGrpSpPr>
        <p:cNvPr id="1" name=""/>
        <p:cNvGrpSpPr/>
        <p:nvPr/>
      </p:nvGrpSpPr>
      <p:grpSpPr>
        <a:xfrm>
          <a:off x="0" y="0"/>
          <a:ext cx="0" cy="0"/>
          <a:chOff x="0" y="0"/>
          <a:chExt cx="0" cy="0"/>
        </a:xfrm>
      </p:grpSpPr>
      <p:sp>
        <p:nvSpPr>
          <p:cNvPr id="13" name="Title 1"/>
          <p:cNvSpPr>
            <a:spLocks noGrp="1"/>
          </p:cNvSpPr>
          <p:nvPr>
            <p:ph type="title"/>
          </p:nvPr>
        </p:nvSpPr>
        <p:spPr>
          <a:xfrm>
            <a:off x="457200" y="365760"/>
            <a:ext cx="11308080" cy="548640"/>
          </a:xfrm>
        </p:spPr>
        <p:txBody>
          <a:bodyPr/>
          <a:lstStyle/>
          <a:p>
            <a:r>
              <a:rPr lang="en-US" dirty="0"/>
              <a:t>Click to edit Master title style</a:t>
            </a:r>
          </a:p>
        </p:txBody>
      </p:sp>
    </p:spTree>
    <p:extLst>
      <p:ext uri="{BB962C8B-B14F-4D97-AF65-F5344CB8AC3E}">
        <p14:creationId xmlns:p14="http://schemas.microsoft.com/office/powerpoint/2010/main" val="36085891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
        <p:nvSpPr>
          <p:cNvPr id="7" name="Slide Number Placeholder 5">
            <a:extLst>
              <a:ext uri="{FF2B5EF4-FFF2-40B4-BE49-F238E27FC236}">
                <a16:creationId xmlns:a16="http://schemas.microsoft.com/office/drawing/2014/main" id="{57D1E85A-45C3-46D5-6AB0-132D0C17E0B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95366147"/>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668" r:id="rId14"/>
    <p:sldLayoutId id="2147483669" r:id="rId15"/>
    <p:sldLayoutId id="2147483670" r:id="rId16"/>
    <p:sldLayoutId id="2147483686" r:id="rId17"/>
    <p:sldLayoutId id="2147483671" r:id="rId18"/>
    <p:sldLayoutId id="2147483689" r:id="rId19"/>
    <p:sldLayoutId id="2147483688" r:id="rId20"/>
    <p:sldLayoutId id="2147483674" r:id="rId21"/>
    <p:sldLayoutId id="2147483712" r:id="rId22"/>
    <p:sldLayoutId id="2147483710" r:id="rId23"/>
    <p:sldLayoutId id="2147483711" r:id="rId24"/>
    <p:sldLayoutId id="2147483687" r:id="rId25"/>
    <p:sldLayoutId id="2147483682" r:id="rId26"/>
    <p:sldLayoutId id="2147483715" r:id="rId27"/>
    <p:sldLayoutId id="2147483717" r:id="rId28"/>
    <p:sldLayoutId id="2147483713" r:id="rId29"/>
    <p:sldLayoutId id="2147483716" r:id="rId30"/>
    <p:sldLayoutId id="2147483718" r:id="rId31"/>
    <p:sldLayoutId id="2147483719" r:id="rId32"/>
    <p:sldLayoutId id="2147483695" r:id="rId33"/>
    <p:sldLayoutId id="2147483696" r:id="rId34"/>
    <p:sldLayoutId id="2147483694" r:id="rId35"/>
    <p:sldLayoutId id="2147483697" r:id="rId36"/>
    <p:sldLayoutId id="2147483681" r:id="rId37"/>
    <p:sldLayoutId id="2147483700" r:id="rId38"/>
    <p:sldLayoutId id="2147483684" r:id="rId39"/>
    <p:sldLayoutId id="2147483703" r:id="rId40"/>
    <p:sldLayoutId id="2147483706" r:id="rId41"/>
    <p:sldLayoutId id="2147483709" r:id="rId42"/>
    <p:sldLayoutId id="2147483847" r:id="rId4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hyperlink" Target="https://portal.psegliny.com/sites/SO/PSEGLIISSO/Solution%20Delivery/Forms/AllItems.aspx?RootFolder=%2Fsites%2FSO%2FPSEGLIISSO%2FSolution%20Delivery%2F024%2EInfr%20%2D%20Burns%2DMcDonnell%20JMUX%20Replacement&amp;View=%7BF1034167%2D7ACC%2D465A%2DA26E%2D2EFECC9A118D%7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F8ED0DA0-EE44-6A25-92A6-1464D7BF9C60}"/>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t="119" b="119"/>
          <a:stretch/>
        </p:blipFill>
        <p:spPr/>
      </p:pic>
      <p:sp>
        <p:nvSpPr>
          <p:cNvPr id="7" name="Title 6">
            <a:extLst>
              <a:ext uri="{FF2B5EF4-FFF2-40B4-BE49-F238E27FC236}">
                <a16:creationId xmlns:a16="http://schemas.microsoft.com/office/drawing/2014/main" id="{F061BD6C-4759-C293-5CA3-F972D28C1D81}"/>
              </a:ext>
            </a:extLst>
          </p:cNvPr>
          <p:cNvSpPr>
            <a:spLocks noGrp="1"/>
          </p:cNvSpPr>
          <p:nvPr>
            <p:ph type="ctrTitle"/>
          </p:nvPr>
        </p:nvSpPr>
        <p:spPr>
          <a:xfrm>
            <a:off x="1875918" y="2232137"/>
            <a:ext cx="6065445" cy="1552251"/>
          </a:xfrm>
        </p:spPr>
        <p:txBody>
          <a:bodyPr>
            <a:normAutofit fontScale="90000"/>
          </a:bodyPr>
          <a:lstStyle/>
          <a:p>
            <a:r>
              <a:rPr lang="en-US" sz="2700" dirty="0">
                <a:solidFill>
                  <a:schemeClr val="bg1"/>
                </a:solidFill>
              </a:rPr>
              <a:t>PRJ13797: JMUX Replacement Update</a:t>
            </a:r>
            <a:br>
              <a:rPr lang="en-US" sz="2700" dirty="0">
                <a:solidFill>
                  <a:schemeClr val="bg1"/>
                </a:solidFill>
              </a:rPr>
            </a:br>
            <a:r>
              <a:rPr lang="en-US" sz="2700" dirty="0">
                <a:solidFill>
                  <a:schemeClr val="bg1"/>
                </a:solidFill>
              </a:rPr>
              <a:t>Project Manager : Dhananjaya Gunaratne </a:t>
            </a:r>
            <a:br>
              <a:rPr lang="en-US" sz="2700" dirty="0">
                <a:solidFill>
                  <a:schemeClr val="bg1"/>
                </a:solidFill>
              </a:rPr>
            </a:br>
            <a:br>
              <a:rPr lang="en-US" dirty="0">
                <a:solidFill>
                  <a:schemeClr val="bg1"/>
                </a:solidFill>
              </a:rPr>
            </a:br>
            <a:endParaRPr lang="en-US" dirty="0">
              <a:solidFill>
                <a:schemeClr val="bg1"/>
              </a:solidFill>
            </a:endParaRPr>
          </a:p>
        </p:txBody>
      </p:sp>
      <p:sp>
        <p:nvSpPr>
          <p:cNvPr id="8" name="Subtitle 7">
            <a:extLst>
              <a:ext uri="{FF2B5EF4-FFF2-40B4-BE49-F238E27FC236}">
                <a16:creationId xmlns:a16="http://schemas.microsoft.com/office/drawing/2014/main" id="{EE993FB0-36D8-46A2-29A8-EE8A722FA73C}"/>
              </a:ext>
            </a:extLst>
          </p:cNvPr>
          <p:cNvSpPr>
            <a:spLocks noGrp="1"/>
          </p:cNvSpPr>
          <p:nvPr>
            <p:ph type="subTitle" idx="1"/>
          </p:nvPr>
        </p:nvSpPr>
        <p:spPr>
          <a:xfrm>
            <a:off x="1875919" y="4739601"/>
            <a:ext cx="6065445" cy="923779"/>
          </a:xfrm>
        </p:spPr>
        <p:txBody>
          <a:bodyPr/>
          <a:lstStyle/>
          <a:p>
            <a:br>
              <a:rPr lang="en-US" dirty="0">
                <a:solidFill>
                  <a:schemeClr val="bg1"/>
                </a:solidFill>
              </a:rPr>
            </a:br>
            <a:endParaRPr lang="en-US" sz="1200" dirty="0">
              <a:solidFill>
                <a:schemeClr val="bg1"/>
              </a:solidFill>
            </a:endParaRPr>
          </a:p>
        </p:txBody>
      </p:sp>
      <p:sp>
        <p:nvSpPr>
          <p:cNvPr id="5" name="Content Placeholder 2">
            <a:extLst>
              <a:ext uri="{FF2B5EF4-FFF2-40B4-BE49-F238E27FC236}">
                <a16:creationId xmlns:a16="http://schemas.microsoft.com/office/drawing/2014/main" id="{CB334AD1-9FAC-24C9-CD9B-3DC36EC1A1FB}"/>
              </a:ext>
            </a:extLst>
          </p:cNvPr>
          <p:cNvSpPr txBox="1">
            <a:spLocks/>
          </p:cNvSpPr>
          <p:nvPr/>
        </p:nvSpPr>
        <p:spPr>
          <a:xfrm>
            <a:off x="8891081" y="6264048"/>
            <a:ext cx="3095640" cy="278735"/>
          </a:xfrm>
          <a:prstGeom prst="rect">
            <a:avLst/>
          </a:prstGeom>
        </p:spPr>
        <p:txBody>
          <a:bodyPr numCol="1" spcCol="0">
            <a:noAutofit/>
          </a:bodyPr>
          <a:lstStyle>
            <a:lvl1pPr marL="0" indent="0" algn="r" defTabSz="914400" rtl="0" eaLnBrk="1" latinLnBrk="0" hangingPunct="1">
              <a:lnSpc>
                <a:spcPct val="120000"/>
              </a:lnSpc>
              <a:spcBef>
                <a:spcPts val="300"/>
              </a:spcBef>
              <a:spcAft>
                <a:spcPts val="300"/>
              </a:spcAft>
              <a:buFont typeface="Arial" panose="020B0604020202020204" pitchFamily="34" charset="0"/>
              <a:buNone/>
              <a:defRPr sz="1000" i="1" kern="1200">
                <a:solidFill>
                  <a:schemeClr val="accent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20000"/>
              </a:lnSpc>
              <a:spcBef>
                <a:spcPts val="300"/>
              </a:spcBef>
              <a:spcAft>
                <a:spcPts val="300"/>
              </a:spcAft>
              <a:buFont typeface="Arial" panose="020B0604020202020204" pitchFamily="34" charset="0"/>
              <a:buNone/>
              <a:defRPr sz="1800" kern="1200">
                <a:solidFill>
                  <a:schemeClr val="accent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20000"/>
              </a:lnSpc>
              <a:spcBef>
                <a:spcPts val="300"/>
              </a:spcBef>
              <a:spcAft>
                <a:spcPts val="300"/>
              </a:spcAft>
              <a:buFont typeface="Arial" panose="020B0604020202020204" pitchFamily="34" charset="0"/>
              <a:buNone/>
              <a:defRPr sz="1600" kern="1200">
                <a:solidFill>
                  <a:schemeClr val="accent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20000"/>
              </a:lnSpc>
              <a:spcBef>
                <a:spcPts val="300"/>
              </a:spcBef>
              <a:spcAft>
                <a:spcPts val="300"/>
              </a:spcAft>
              <a:buFont typeface="Arial" panose="020B0604020202020204" pitchFamily="34" charset="0"/>
              <a:buNone/>
              <a:defRPr sz="1400" kern="1200">
                <a:solidFill>
                  <a:schemeClr val="accent1"/>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20000"/>
              </a:lnSpc>
              <a:spcBef>
                <a:spcPts val="300"/>
              </a:spcBef>
              <a:spcAft>
                <a:spcPts val="300"/>
              </a:spcAft>
              <a:buFont typeface="Arial" panose="020B0604020202020204" pitchFamily="34" charset="0"/>
              <a:buNone/>
              <a:defRPr sz="1200" kern="1200">
                <a:solidFill>
                  <a:schemeClr val="accent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March 2026</a:t>
            </a:r>
          </a:p>
        </p:txBody>
      </p:sp>
      <p:pic>
        <p:nvPicPr>
          <p:cNvPr id="6" name="Picture 5">
            <a:extLst>
              <a:ext uri="{FF2B5EF4-FFF2-40B4-BE49-F238E27FC236}">
                <a16:creationId xmlns:a16="http://schemas.microsoft.com/office/drawing/2014/main" id="{5797CDCD-E6FC-9247-80E4-BBF1747843EF}"/>
              </a:ext>
            </a:extLst>
          </p:cNvPr>
          <p:cNvPicPr>
            <a:picLocks noChangeAspect="1"/>
          </p:cNvPicPr>
          <p:nvPr/>
        </p:nvPicPr>
        <p:blipFill>
          <a:blip r:embed="rId4"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3586605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Goals &amp; Objectives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chemeClr val="bg1"/>
                </a:solidFill>
              </a:rPr>
              <a:t>JMUX Replacement: Private Field Area Network</a:t>
            </a:r>
          </a:p>
        </p:txBody>
      </p:sp>
      <p:sp>
        <p:nvSpPr>
          <p:cNvPr id="6" name="Rectangle 5"/>
          <p:cNvSpPr/>
          <p:nvPr/>
        </p:nvSpPr>
        <p:spPr>
          <a:xfrm>
            <a:off x="0" y="6743171"/>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30700" y="6274200"/>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30701" y="954233"/>
            <a:ext cx="11612880" cy="365760"/>
          </a:xfrm>
          <a:prstGeom prst="rect">
            <a:avLst/>
          </a:prstGeom>
          <a:solidFill>
            <a:srgbClr val="F2F2F2"/>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042415"/>
            <a:ext cx="11247120" cy="276999"/>
          </a:xfrm>
          <a:prstGeom prst="rect">
            <a:avLst/>
          </a:prstGeom>
          <a:noFill/>
        </p:spPr>
        <p:txBody>
          <a:bodyPr wrap="square">
            <a:spAutoFit/>
          </a:bodyPr>
          <a:lstStyle/>
          <a:p>
            <a:pPr algn="l"/>
            <a:r>
              <a:rPr sz="1200" b="0" i="1" dirty="0"/>
              <a:t>Modernize PSEG LI's substation communications by replacing legacy JMUX with MPLS nodes to deliver a reliable, scalable, and future-ready network.</a:t>
            </a:r>
          </a:p>
        </p:txBody>
      </p:sp>
      <p:sp>
        <p:nvSpPr>
          <p:cNvPr id="10" name="Rectangle 9"/>
          <p:cNvSpPr/>
          <p:nvPr/>
        </p:nvSpPr>
        <p:spPr>
          <a:xfrm>
            <a:off x="23070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0701" y="1435608"/>
            <a:ext cx="3566160" cy="365760"/>
          </a:xfrm>
          <a:prstGeom prst="rect">
            <a:avLst/>
          </a:prstGeom>
          <a:noFill/>
        </p:spPr>
        <p:txBody>
          <a:bodyPr wrap="square">
            <a:spAutoFit/>
          </a:bodyPr>
          <a:lstStyle/>
          <a:p>
            <a:pPr algn="l"/>
            <a:r>
              <a:rPr sz="1200" b="1" i="0">
                <a:solidFill>
                  <a:srgbClr val="FFFFFF"/>
                </a:solidFill>
              </a:rPr>
              <a:t>🔧  Engineering Services</a:t>
            </a:r>
          </a:p>
        </p:txBody>
      </p:sp>
      <p:sp>
        <p:nvSpPr>
          <p:cNvPr id="12" name="Rectangle 11"/>
          <p:cNvSpPr/>
          <p:nvPr/>
        </p:nvSpPr>
        <p:spPr>
          <a:xfrm>
            <a:off x="230701" y="1816501"/>
            <a:ext cx="3749039" cy="3200400"/>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429" y="1935374"/>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4" name="TextBox 13"/>
          <p:cNvSpPr txBox="1"/>
          <p:nvPr/>
        </p:nvSpPr>
        <p:spPr>
          <a:xfrm>
            <a:off x="596461" y="1880510"/>
            <a:ext cx="3291840" cy="365760"/>
          </a:xfrm>
          <a:prstGeom prst="rect">
            <a:avLst/>
          </a:prstGeom>
          <a:noFill/>
        </p:spPr>
        <p:txBody>
          <a:bodyPr wrap="square">
            <a:spAutoFit/>
          </a:bodyPr>
          <a:lstStyle/>
          <a:p>
            <a:pPr algn="l"/>
            <a:r>
              <a:rPr sz="1000" b="0" i="0" dirty="0">
                <a:solidFill>
                  <a:srgbClr val="404040"/>
                </a:solidFill>
              </a:rPr>
              <a:t>Detailed site surveys at all substations</a:t>
            </a:r>
          </a:p>
        </p:txBody>
      </p:sp>
      <p:sp>
        <p:nvSpPr>
          <p:cNvPr id="15" name="Rectangle 14"/>
          <p:cNvSpPr/>
          <p:nvPr/>
        </p:nvSpPr>
        <p:spPr>
          <a:xfrm>
            <a:off x="340429" y="2314850"/>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6" name="TextBox 15"/>
          <p:cNvSpPr txBox="1"/>
          <p:nvPr/>
        </p:nvSpPr>
        <p:spPr>
          <a:xfrm>
            <a:off x="596461" y="2259986"/>
            <a:ext cx="3291840" cy="365760"/>
          </a:xfrm>
          <a:prstGeom prst="rect">
            <a:avLst/>
          </a:prstGeom>
          <a:noFill/>
        </p:spPr>
        <p:txBody>
          <a:bodyPr wrap="square">
            <a:spAutoFit/>
          </a:bodyPr>
          <a:lstStyle/>
          <a:p>
            <a:pPr algn="l"/>
            <a:r>
              <a:rPr sz="1000" b="0" i="0">
                <a:solidFill>
                  <a:srgbClr val="404040"/>
                </a:solidFill>
              </a:rPr>
              <a:t>Rack elevations, power design &amp; supplemental docs</a:t>
            </a:r>
          </a:p>
        </p:txBody>
      </p:sp>
      <p:sp>
        <p:nvSpPr>
          <p:cNvPr id="17" name="Rectangle 16"/>
          <p:cNvSpPr/>
          <p:nvPr/>
        </p:nvSpPr>
        <p:spPr>
          <a:xfrm>
            <a:off x="340429" y="2694326"/>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9" name="Rectangle 18"/>
          <p:cNvSpPr/>
          <p:nvPr/>
        </p:nvSpPr>
        <p:spPr>
          <a:xfrm>
            <a:off x="340429" y="3073802"/>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20" name="TextBox 19"/>
          <p:cNvSpPr txBox="1"/>
          <p:nvPr/>
        </p:nvSpPr>
        <p:spPr>
          <a:xfrm>
            <a:off x="596434" y="2666531"/>
            <a:ext cx="3291840" cy="365760"/>
          </a:xfrm>
          <a:prstGeom prst="rect">
            <a:avLst/>
          </a:prstGeom>
          <a:noFill/>
        </p:spPr>
        <p:txBody>
          <a:bodyPr wrap="square">
            <a:spAutoFit/>
          </a:bodyPr>
          <a:lstStyle/>
          <a:p>
            <a:pPr algn="l"/>
            <a:r>
              <a:rPr sz="1000" b="0" i="0" dirty="0">
                <a:solidFill>
                  <a:srgbClr val="404040"/>
                </a:solidFill>
              </a:rPr>
              <a:t>All substations aligned to PSEG LI standards</a:t>
            </a:r>
          </a:p>
        </p:txBody>
      </p:sp>
      <p:sp>
        <p:nvSpPr>
          <p:cNvPr id="24" name="TextBox 23"/>
          <p:cNvSpPr txBox="1"/>
          <p:nvPr/>
        </p:nvSpPr>
        <p:spPr>
          <a:xfrm>
            <a:off x="596448" y="3063240"/>
            <a:ext cx="3291840" cy="365760"/>
          </a:xfrm>
          <a:prstGeom prst="rect">
            <a:avLst/>
          </a:prstGeom>
          <a:noFill/>
        </p:spPr>
        <p:txBody>
          <a:bodyPr wrap="square">
            <a:spAutoFit/>
          </a:bodyPr>
          <a:lstStyle/>
          <a:p>
            <a:pPr algn="l"/>
            <a:r>
              <a:rPr sz="1000" b="0" i="0" dirty="0">
                <a:solidFill>
                  <a:srgbClr val="404040"/>
                </a:solidFill>
              </a:rPr>
              <a:t>Phase 2 surveys: Completed during Phase 1</a:t>
            </a:r>
          </a:p>
        </p:txBody>
      </p:sp>
      <p:sp>
        <p:nvSpPr>
          <p:cNvPr id="26" name="TextBox 25"/>
          <p:cNvSpPr txBox="1"/>
          <p:nvPr/>
        </p:nvSpPr>
        <p:spPr>
          <a:xfrm>
            <a:off x="596448" y="3442716"/>
            <a:ext cx="3291840" cy="365760"/>
          </a:xfrm>
          <a:prstGeom prst="rect">
            <a:avLst/>
          </a:prstGeom>
          <a:noFill/>
        </p:spPr>
        <p:txBody>
          <a:bodyPr wrap="square">
            <a:spAutoFit/>
          </a:bodyPr>
          <a:lstStyle/>
          <a:p>
            <a:pPr algn="l"/>
            <a:r>
              <a:rPr sz="1000" b="0" i="0">
                <a:solidFill>
                  <a:srgbClr val="404040"/>
                </a:solidFill>
              </a:rPr>
              <a:t>Phase 2 IFRs: Being issued by BMcD</a:t>
            </a:r>
          </a:p>
        </p:txBody>
      </p:sp>
      <p:sp>
        <p:nvSpPr>
          <p:cNvPr id="28" name="TextBox 27"/>
          <p:cNvSpPr txBox="1"/>
          <p:nvPr/>
        </p:nvSpPr>
        <p:spPr>
          <a:xfrm>
            <a:off x="596434" y="3789761"/>
            <a:ext cx="3291840" cy="365760"/>
          </a:xfrm>
          <a:prstGeom prst="rect">
            <a:avLst/>
          </a:prstGeom>
          <a:noFill/>
        </p:spPr>
        <p:txBody>
          <a:bodyPr wrap="square">
            <a:spAutoFit/>
          </a:bodyPr>
          <a:lstStyle/>
          <a:p>
            <a:pPr algn="l"/>
            <a:r>
              <a:rPr sz="1000" b="0" i="0">
                <a:solidFill>
                  <a:srgbClr val="404040"/>
                </a:solidFill>
              </a:rPr>
              <a:t>Phase 2 IFCs: In progress</a:t>
            </a:r>
          </a:p>
        </p:txBody>
      </p:sp>
      <p:sp>
        <p:nvSpPr>
          <p:cNvPr id="29" name="Rectangle 28"/>
          <p:cNvSpPr/>
          <p:nvPr/>
        </p:nvSpPr>
        <p:spPr>
          <a:xfrm>
            <a:off x="416262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54060" y="1405022"/>
            <a:ext cx="3566160" cy="365760"/>
          </a:xfrm>
          <a:prstGeom prst="rect">
            <a:avLst/>
          </a:prstGeom>
          <a:noFill/>
        </p:spPr>
        <p:txBody>
          <a:bodyPr wrap="square">
            <a:spAutoFit/>
          </a:bodyPr>
          <a:lstStyle/>
          <a:p>
            <a:pPr algn="l"/>
            <a:r>
              <a:rPr sz="1200" b="1" i="0" dirty="0">
                <a:solidFill>
                  <a:srgbClr val="FFFFFF"/>
                </a:solidFill>
              </a:rPr>
              <a:t>📦  Procurement &amp; Staging</a:t>
            </a:r>
          </a:p>
        </p:txBody>
      </p:sp>
      <p:sp>
        <p:nvSpPr>
          <p:cNvPr id="31" name="Rectangle 30"/>
          <p:cNvSpPr/>
          <p:nvPr/>
        </p:nvSpPr>
        <p:spPr>
          <a:xfrm>
            <a:off x="4154611" y="1825593"/>
            <a:ext cx="3749039" cy="3200400"/>
          </a:xfrm>
          <a:prstGeom prst="rect">
            <a:avLst/>
          </a:prstGeom>
          <a:solidFill>
            <a:schemeClr val="bg1"/>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ctr">
              <a:buFont typeface="Wingdings" panose="05000000000000000000" pitchFamily="2" charset="2"/>
              <a:buChar char="q"/>
            </a:pPr>
            <a:endParaRPr dirty="0"/>
          </a:p>
        </p:txBody>
      </p:sp>
      <p:sp>
        <p:nvSpPr>
          <p:cNvPr id="32" name="Rectangle 31"/>
          <p:cNvSpPr/>
          <p:nvPr/>
        </p:nvSpPr>
        <p:spPr>
          <a:xfrm>
            <a:off x="4272349" y="1935374"/>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3" name="TextBox 32"/>
          <p:cNvSpPr txBox="1"/>
          <p:nvPr/>
        </p:nvSpPr>
        <p:spPr>
          <a:xfrm>
            <a:off x="4528381" y="1880510"/>
            <a:ext cx="3291840" cy="365760"/>
          </a:xfrm>
          <a:prstGeom prst="rect">
            <a:avLst/>
          </a:prstGeom>
          <a:noFill/>
        </p:spPr>
        <p:txBody>
          <a:bodyPr wrap="square">
            <a:spAutoFit/>
          </a:bodyPr>
          <a:lstStyle/>
          <a:p>
            <a:pPr algn="l"/>
            <a:r>
              <a:rPr sz="1000" b="0" i="0">
                <a:solidFill>
                  <a:srgbClr val="404040"/>
                </a:solidFill>
              </a:rPr>
              <a:t>All Phase 1 equipment purchased by PSEG LI</a:t>
            </a:r>
          </a:p>
        </p:txBody>
      </p:sp>
      <p:sp>
        <p:nvSpPr>
          <p:cNvPr id="34" name="Rectangle 33"/>
          <p:cNvSpPr/>
          <p:nvPr/>
        </p:nvSpPr>
        <p:spPr>
          <a:xfrm>
            <a:off x="4272349" y="2314850"/>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6" name="Rectangle 35"/>
          <p:cNvSpPr/>
          <p:nvPr/>
        </p:nvSpPr>
        <p:spPr>
          <a:xfrm>
            <a:off x="4272349" y="2694326"/>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7" name="TextBox 36"/>
          <p:cNvSpPr txBox="1"/>
          <p:nvPr/>
        </p:nvSpPr>
        <p:spPr>
          <a:xfrm>
            <a:off x="4546669" y="2279246"/>
            <a:ext cx="3291840" cy="365760"/>
          </a:xfrm>
          <a:prstGeom prst="rect">
            <a:avLst/>
          </a:prstGeom>
          <a:noFill/>
        </p:spPr>
        <p:txBody>
          <a:bodyPr wrap="square">
            <a:spAutoFit/>
          </a:bodyPr>
          <a:lstStyle/>
          <a:p>
            <a:pPr algn="l"/>
            <a:r>
              <a:rPr sz="1000" b="0" i="0" dirty="0">
                <a:solidFill>
                  <a:srgbClr val="404040"/>
                </a:solidFill>
              </a:rPr>
              <a:t>Phase 1 staging completed: Sept 29, 2025</a:t>
            </a:r>
          </a:p>
        </p:txBody>
      </p:sp>
      <p:sp>
        <p:nvSpPr>
          <p:cNvPr id="38" name="Rectangle 37"/>
          <p:cNvSpPr/>
          <p:nvPr/>
        </p:nvSpPr>
        <p:spPr>
          <a:xfrm>
            <a:off x="4272349" y="3073802"/>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9" name="TextBox 38"/>
          <p:cNvSpPr txBox="1"/>
          <p:nvPr/>
        </p:nvSpPr>
        <p:spPr>
          <a:xfrm>
            <a:off x="4546669" y="2658722"/>
            <a:ext cx="3291840" cy="365760"/>
          </a:xfrm>
          <a:prstGeom prst="rect">
            <a:avLst/>
          </a:prstGeom>
          <a:noFill/>
        </p:spPr>
        <p:txBody>
          <a:bodyPr wrap="square">
            <a:spAutoFit/>
          </a:bodyPr>
          <a:lstStyle/>
          <a:p>
            <a:pPr algn="l"/>
            <a:r>
              <a:rPr sz="1000" b="0" i="0" dirty="0">
                <a:solidFill>
                  <a:srgbClr val="404040"/>
                </a:solidFill>
              </a:rPr>
              <a:t>Nokia Phase 2 equipment delivered: Feb 19, 2026</a:t>
            </a:r>
          </a:p>
        </p:txBody>
      </p:sp>
      <p:sp>
        <p:nvSpPr>
          <p:cNvPr id="41" name="TextBox 40"/>
          <p:cNvSpPr txBox="1"/>
          <p:nvPr/>
        </p:nvSpPr>
        <p:spPr>
          <a:xfrm>
            <a:off x="4546669" y="3038198"/>
            <a:ext cx="3291840" cy="365760"/>
          </a:xfrm>
          <a:prstGeom prst="rect">
            <a:avLst/>
          </a:prstGeom>
          <a:noFill/>
        </p:spPr>
        <p:txBody>
          <a:bodyPr wrap="square">
            <a:spAutoFit/>
          </a:bodyPr>
          <a:lstStyle/>
          <a:p>
            <a:pPr algn="l"/>
            <a:r>
              <a:rPr sz="1000" b="0" i="0" dirty="0">
                <a:solidFill>
                  <a:srgbClr val="404040"/>
                </a:solidFill>
              </a:rPr>
              <a:t>Equipment safely stored at Hawkeye warehouse</a:t>
            </a:r>
          </a:p>
        </p:txBody>
      </p:sp>
      <p:sp>
        <p:nvSpPr>
          <p:cNvPr id="42" name="Rectangle 41"/>
          <p:cNvSpPr/>
          <p:nvPr/>
        </p:nvSpPr>
        <p:spPr>
          <a:xfrm>
            <a:off x="809454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85981" y="1369705"/>
            <a:ext cx="3665590" cy="276999"/>
          </a:xfrm>
          <a:prstGeom prst="rect">
            <a:avLst/>
          </a:prstGeom>
          <a:noFill/>
        </p:spPr>
        <p:txBody>
          <a:bodyPr wrap="square">
            <a:spAutoFit/>
          </a:bodyPr>
          <a:lstStyle/>
          <a:p>
            <a:pPr algn="l"/>
            <a:r>
              <a:rPr sz="1200" b="1" i="0">
                <a:solidFill>
                  <a:srgbClr val="FFFFFF"/>
                </a:solidFill>
              </a:rPr>
              <a:t>🏗  Construction &amp; Installation</a:t>
            </a:r>
          </a:p>
        </p:txBody>
      </p:sp>
      <p:sp>
        <p:nvSpPr>
          <p:cNvPr id="44" name="Rectangle 43"/>
          <p:cNvSpPr/>
          <p:nvPr/>
        </p:nvSpPr>
        <p:spPr>
          <a:xfrm>
            <a:off x="8102532" y="1830216"/>
            <a:ext cx="3749039" cy="3200400"/>
          </a:xfrm>
          <a:prstGeom prst="rect">
            <a:avLst/>
          </a:prstGeom>
          <a:solidFill>
            <a:srgbClr val="FFFFFF"/>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Rectangle 44"/>
          <p:cNvSpPr/>
          <p:nvPr/>
        </p:nvSpPr>
        <p:spPr>
          <a:xfrm>
            <a:off x="8204269" y="193537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6" name="TextBox 45"/>
          <p:cNvSpPr txBox="1"/>
          <p:nvPr/>
        </p:nvSpPr>
        <p:spPr>
          <a:xfrm>
            <a:off x="8460301" y="1880510"/>
            <a:ext cx="3291840" cy="365760"/>
          </a:xfrm>
          <a:prstGeom prst="rect">
            <a:avLst/>
          </a:prstGeom>
          <a:noFill/>
        </p:spPr>
        <p:txBody>
          <a:bodyPr wrap="square">
            <a:spAutoFit/>
          </a:bodyPr>
          <a:lstStyle/>
          <a:p>
            <a:pPr algn="l"/>
            <a:r>
              <a:rPr sz="1000" b="0" i="0">
                <a:solidFill>
                  <a:srgbClr val="404040"/>
                </a:solidFill>
              </a:rPr>
              <a:t>BMcD on-site coordination throughout Phase 1</a:t>
            </a:r>
          </a:p>
        </p:txBody>
      </p:sp>
      <p:sp>
        <p:nvSpPr>
          <p:cNvPr id="47" name="Rectangle 46"/>
          <p:cNvSpPr/>
          <p:nvPr/>
        </p:nvSpPr>
        <p:spPr>
          <a:xfrm>
            <a:off x="8204269" y="231485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9" name="Rectangle 48"/>
          <p:cNvSpPr/>
          <p:nvPr/>
        </p:nvSpPr>
        <p:spPr>
          <a:xfrm>
            <a:off x="8204269" y="269432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0" name="TextBox 49"/>
          <p:cNvSpPr txBox="1"/>
          <p:nvPr/>
        </p:nvSpPr>
        <p:spPr>
          <a:xfrm>
            <a:off x="8460301" y="2264558"/>
            <a:ext cx="3291840" cy="365760"/>
          </a:xfrm>
          <a:prstGeom prst="rect">
            <a:avLst/>
          </a:prstGeom>
          <a:noFill/>
        </p:spPr>
        <p:txBody>
          <a:bodyPr wrap="square">
            <a:spAutoFit/>
          </a:bodyPr>
          <a:lstStyle/>
          <a:p>
            <a:pPr algn="l"/>
            <a:r>
              <a:rPr sz="1000" b="0" i="0">
                <a:solidFill>
                  <a:srgbClr val="404040"/>
                </a:solidFill>
              </a:rPr>
              <a:t>31/31 Phase 1 sites installed &amp; commissioned</a:t>
            </a:r>
          </a:p>
        </p:txBody>
      </p:sp>
      <p:sp>
        <p:nvSpPr>
          <p:cNvPr id="52" name="TextBox 51"/>
          <p:cNvSpPr txBox="1"/>
          <p:nvPr/>
        </p:nvSpPr>
        <p:spPr>
          <a:xfrm>
            <a:off x="8460301" y="2644034"/>
            <a:ext cx="3291840" cy="365760"/>
          </a:xfrm>
          <a:prstGeom prst="rect">
            <a:avLst/>
          </a:prstGeom>
          <a:noFill/>
        </p:spPr>
        <p:txBody>
          <a:bodyPr wrap="square">
            <a:spAutoFit/>
          </a:bodyPr>
          <a:lstStyle/>
          <a:p>
            <a:pPr algn="l"/>
            <a:r>
              <a:rPr sz="1000" b="0" i="0">
                <a:solidFill>
                  <a:srgbClr val="404040"/>
                </a:solidFill>
              </a:rPr>
              <a:t>SSP documentation: Submitted &amp; approved</a:t>
            </a:r>
          </a:p>
        </p:txBody>
      </p:sp>
      <p:sp>
        <p:nvSpPr>
          <p:cNvPr id="54" name="TextBox 53"/>
          <p:cNvSpPr txBox="1"/>
          <p:nvPr/>
        </p:nvSpPr>
        <p:spPr>
          <a:xfrm>
            <a:off x="8506021" y="3508140"/>
            <a:ext cx="3291840" cy="365760"/>
          </a:xfrm>
          <a:prstGeom prst="rect">
            <a:avLst/>
          </a:prstGeom>
          <a:noFill/>
        </p:spPr>
        <p:txBody>
          <a:bodyPr wrap="square">
            <a:spAutoFit/>
          </a:bodyPr>
          <a:lstStyle/>
          <a:p>
            <a:pPr algn="l"/>
            <a:r>
              <a:rPr sz="1000" b="0" i="0" dirty="0">
                <a:solidFill>
                  <a:srgbClr val="404040"/>
                </a:solidFill>
              </a:rPr>
              <a:t>Remote connectivity to nodes: In progress</a:t>
            </a:r>
          </a:p>
        </p:txBody>
      </p:sp>
      <p:sp>
        <p:nvSpPr>
          <p:cNvPr id="55" name="Rectangle 54"/>
          <p:cNvSpPr/>
          <p:nvPr/>
        </p:nvSpPr>
        <p:spPr>
          <a:xfrm>
            <a:off x="8222557" y="31084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p:cNvSpPr/>
          <p:nvPr/>
        </p:nvSpPr>
        <p:spPr>
          <a:xfrm>
            <a:off x="230700" y="5067192"/>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84981" y="5085533"/>
            <a:ext cx="3657600" cy="230832"/>
          </a:xfrm>
          <a:prstGeom prst="rect">
            <a:avLst/>
          </a:prstGeom>
          <a:noFill/>
        </p:spPr>
        <p:txBody>
          <a:bodyPr wrap="square">
            <a:spAutoFit/>
          </a:bodyPr>
          <a:lstStyle/>
          <a:p>
            <a:pPr algn="l"/>
            <a:r>
              <a:rPr sz="900" b="1" i="0" dirty="0">
                <a:solidFill>
                  <a:srgbClr val="FFFFFF"/>
                </a:solidFill>
              </a:rPr>
              <a:t>PROGRAM SCOPE SUMMARY</a:t>
            </a:r>
          </a:p>
        </p:txBody>
      </p:sp>
      <p:sp>
        <p:nvSpPr>
          <p:cNvPr id="60" name="TextBox 59"/>
          <p:cNvSpPr txBox="1"/>
          <p:nvPr/>
        </p:nvSpPr>
        <p:spPr>
          <a:xfrm>
            <a:off x="1785181" y="5094624"/>
            <a:ext cx="2011680" cy="274320"/>
          </a:xfrm>
          <a:prstGeom prst="rect">
            <a:avLst/>
          </a:prstGeom>
          <a:noFill/>
        </p:spPr>
        <p:txBody>
          <a:bodyPr wrap="square">
            <a:spAutoFit/>
          </a:bodyPr>
          <a:lstStyle/>
          <a:p>
            <a:pPr algn="ctr"/>
            <a:r>
              <a:rPr sz="900" b="1" i="0" dirty="0">
                <a:solidFill>
                  <a:srgbClr val="FFFFFF"/>
                </a:solidFill>
              </a:rPr>
              <a:t>Total Substations</a:t>
            </a:r>
          </a:p>
        </p:txBody>
      </p:sp>
      <p:sp>
        <p:nvSpPr>
          <p:cNvPr id="61" name="TextBox 60"/>
          <p:cNvSpPr txBox="1"/>
          <p:nvPr/>
        </p:nvSpPr>
        <p:spPr>
          <a:xfrm>
            <a:off x="3659700" y="5094624"/>
            <a:ext cx="1737360" cy="274320"/>
          </a:xfrm>
          <a:prstGeom prst="rect">
            <a:avLst/>
          </a:prstGeom>
          <a:noFill/>
        </p:spPr>
        <p:txBody>
          <a:bodyPr wrap="square">
            <a:spAutoFit/>
          </a:bodyPr>
          <a:lstStyle/>
          <a:p>
            <a:pPr algn="ctr"/>
            <a:r>
              <a:rPr sz="900" b="1" i="0">
                <a:solidFill>
                  <a:srgbClr val="FFFFFF"/>
                </a:solidFill>
              </a:rPr>
              <a:t>MPLS Sites</a:t>
            </a:r>
          </a:p>
        </p:txBody>
      </p:sp>
      <p:sp>
        <p:nvSpPr>
          <p:cNvPr id="62" name="TextBox 61"/>
          <p:cNvSpPr txBox="1"/>
          <p:nvPr/>
        </p:nvSpPr>
        <p:spPr>
          <a:xfrm>
            <a:off x="5397060" y="5094624"/>
            <a:ext cx="1737360" cy="274320"/>
          </a:xfrm>
          <a:prstGeom prst="rect">
            <a:avLst/>
          </a:prstGeom>
          <a:noFill/>
        </p:spPr>
        <p:txBody>
          <a:bodyPr wrap="square">
            <a:spAutoFit/>
          </a:bodyPr>
          <a:lstStyle/>
          <a:p>
            <a:pPr algn="ctr"/>
            <a:r>
              <a:rPr sz="900" b="1" i="0">
                <a:solidFill>
                  <a:srgbClr val="FFFFFF"/>
                </a:solidFill>
              </a:rPr>
              <a:t>DF RTU Sites</a:t>
            </a:r>
          </a:p>
        </p:txBody>
      </p:sp>
      <p:sp>
        <p:nvSpPr>
          <p:cNvPr id="63" name="TextBox 62"/>
          <p:cNvSpPr txBox="1"/>
          <p:nvPr/>
        </p:nvSpPr>
        <p:spPr>
          <a:xfrm>
            <a:off x="7134420" y="5094624"/>
            <a:ext cx="2103120" cy="274320"/>
          </a:xfrm>
          <a:prstGeom prst="rect">
            <a:avLst/>
          </a:prstGeom>
          <a:noFill/>
        </p:spPr>
        <p:txBody>
          <a:bodyPr wrap="square">
            <a:spAutoFit/>
          </a:bodyPr>
          <a:lstStyle/>
          <a:p>
            <a:pPr algn="ctr"/>
            <a:r>
              <a:rPr sz="900" b="1" i="0">
                <a:solidFill>
                  <a:srgbClr val="FFFFFF"/>
                </a:solidFill>
              </a:rPr>
              <a:t>Radio Shelter Sites</a:t>
            </a:r>
          </a:p>
        </p:txBody>
      </p:sp>
      <p:sp>
        <p:nvSpPr>
          <p:cNvPr id="64" name="TextBox 63"/>
          <p:cNvSpPr txBox="1"/>
          <p:nvPr/>
        </p:nvSpPr>
        <p:spPr>
          <a:xfrm>
            <a:off x="9237540" y="5094624"/>
            <a:ext cx="2194560" cy="274320"/>
          </a:xfrm>
          <a:prstGeom prst="rect">
            <a:avLst/>
          </a:prstGeom>
          <a:noFill/>
        </p:spPr>
        <p:txBody>
          <a:bodyPr wrap="square">
            <a:spAutoFit/>
          </a:bodyPr>
          <a:lstStyle/>
          <a:p>
            <a:pPr algn="ctr"/>
            <a:r>
              <a:rPr sz="900" b="1" i="0" dirty="0">
                <a:solidFill>
                  <a:srgbClr val="FFFFFF"/>
                </a:solidFill>
              </a:rPr>
              <a:t>Nokia MPLS Nodes</a:t>
            </a:r>
          </a:p>
        </p:txBody>
      </p:sp>
      <p:sp>
        <p:nvSpPr>
          <p:cNvPr id="65" name="Rectangle 64"/>
          <p:cNvSpPr/>
          <p:nvPr/>
        </p:nvSpPr>
        <p:spPr>
          <a:xfrm>
            <a:off x="230700" y="545124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100" y="5486836"/>
            <a:ext cx="1371600" cy="246221"/>
          </a:xfrm>
          <a:prstGeom prst="rect">
            <a:avLst/>
          </a:prstGeom>
          <a:noFill/>
        </p:spPr>
        <p:txBody>
          <a:bodyPr wrap="square">
            <a:spAutoFit/>
          </a:bodyPr>
          <a:lstStyle/>
          <a:p>
            <a:pPr algn="ctr"/>
            <a:r>
              <a:rPr lang="en-US" sz="1000" dirty="0">
                <a:solidFill>
                  <a:srgbClr val="008000"/>
                </a:solidFill>
              </a:rPr>
              <a:t>✅        </a:t>
            </a:r>
            <a:r>
              <a:rPr lang="en-US" sz="1000" dirty="0"/>
              <a:t>Phase 1</a:t>
            </a:r>
            <a:endParaRPr sz="1000" b="0" i="0" dirty="0"/>
          </a:p>
        </p:txBody>
      </p:sp>
      <p:sp>
        <p:nvSpPr>
          <p:cNvPr id="67" name="TextBox 66"/>
          <p:cNvSpPr txBox="1"/>
          <p:nvPr/>
        </p:nvSpPr>
        <p:spPr>
          <a:xfrm>
            <a:off x="1648020" y="5487816"/>
            <a:ext cx="2011680" cy="237744"/>
          </a:xfrm>
          <a:prstGeom prst="rect">
            <a:avLst/>
          </a:prstGeom>
          <a:noFill/>
        </p:spPr>
        <p:txBody>
          <a:bodyPr wrap="square">
            <a:spAutoFit/>
          </a:bodyPr>
          <a:lstStyle/>
          <a:p>
            <a:pPr algn="ctr"/>
            <a:r>
              <a:rPr sz="1000" b="0" i="0" dirty="0">
                <a:solidFill>
                  <a:srgbClr val="404040"/>
                </a:solidFill>
              </a:rPr>
              <a:t>49</a:t>
            </a:r>
          </a:p>
        </p:txBody>
      </p:sp>
      <p:sp>
        <p:nvSpPr>
          <p:cNvPr id="68" name="TextBox 67"/>
          <p:cNvSpPr txBox="1"/>
          <p:nvPr/>
        </p:nvSpPr>
        <p:spPr>
          <a:xfrm>
            <a:off x="3659700" y="5487816"/>
            <a:ext cx="1737360" cy="237744"/>
          </a:xfrm>
          <a:prstGeom prst="rect">
            <a:avLst/>
          </a:prstGeom>
          <a:noFill/>
        </p:spPr>
        <p:txBody>
          <a:bodyPr wrap="square">
            <a:spAutoFit/>
          </a:bodyPr>
          <a:lstStyle/>
          <a:p>
            <a:pPr algn="ctr"/>
            <a:r>
              <a:rPr sz="1000" b="0" i="0">
                <a:solidFill>
                  <a:srgbClr val="404040"/>
                </a:solidFill>
              </a:rPr>
              <a:t>26</a:t>
            </a:r>
          </a:p>
        </p:txBody>
      </p:sp>
      <p:sp>
        <p:nvSpPr>
          <p:cNvPr id="69" name="TextBox 68"/>
          <p:cNvSpPr txBox="1"/>
          <p:nvPr/>
        </p:nvSpPr>
        <p:spPr>
          <a:xfrm>
            <a:off x="5397060" y="5487816"/>
            <a:ext cx="1737360" cy="237744"/>
          </a:xfrm>
          <a:prstGeom prst="rect">
            <a:avLst/>
          </a:prstGeom>
          <a:noFill/>
        </p:spPr>
        <p:txBody>
          <a:bodyPr wrap="square">
            <a:spAutoFit/>
          </a:bodyPr>
          <a:lstStyle/>
          <a:p>
            <a:pPr algn="ctr"/>
            <a:r>
              <a:rPr sz="1000" b="0" i="0">
                <a:solidFill>
                  <a:srgbClr val="404040"/>
                </a:solidFill>
              </a:rPr>
              <a:t>17</a:t>
            </a:r>
          </a:p>
        </p:txBody>
      </p:sp>
      <p:sp>
        <p:nvSpPr>
          <p:cNvPr id="70" name="TextBox 69"/>
          <p:cNvSpPr txBox="1"/>
          <p:nvPr/>
        </p:nvSpPr>
        <p:spPr>
          <a:xfrm>
            <a:off x="7134420" y="5487816"/>
            <a:ext cx="2103120" cy="237744"/>
          </a:xfrm>
          <a:prstGeom prst="rect">
            <a:avLst/>
          </a:prstGeom>
          <a:noFill/>
        </p:spPr>
        <p:txBody>
          <a:bodyPr wrap="square">
            <a:spAutoFit/>
          </a:bodyPr>
          <a:lstStyle/>
          <a:p>
            <a:pPr algn="ctr"/>
            <a:r>
              <a:rPr sz="1000" b="0" i="0">
                <a:solidFill>
                  <a:srgbClr val="404040"/>
                </a:solidFill>
              </a:rPr>
              <a:t>6</a:t>
            </a:r>
          </a:p>
        </p:txBody>
      </p:sp>
      <p:sp>
        <p:nvSpPr>
          <p:cNvPr id="71" name="TextBox 70"/>
          <p:cNvSpPr txBox="1"/>
          <p:nvPr/>
        </p:nvSpPr>
        <p:spPr>
          <a:xfrm>
            <a:off x="9237540" y="5487816"/>
            <a:ext cx="2194560" cy="237744"/>
          </a:xfrm>
          <a:prstGeom prst="rect">
            <a:avLst/>
          </a:prstGeom>
          <a:noFill/>
        </p:spPr>
        <p:txBody>
          <a:bodyPr wrap="square">
            <a:spAutoFit/>
          </a:bodyPr>
          <a:lstStyle/>
          <a:p>
            <a:pPr algn="ctr"/>
            <a:r>
              <a:rPr sz="1000" b="0" i="0">
                <a:solidFill>
                  <a:srgbClr val="404040"/>
                </a:solidFill>
              </a:rPr>
              <a:t>31</a:t>
            </a:r>
          </a:p>
        </p:txBody>
      </p:sp>
      <p:sp>
        <p:nvSpPr>
          <p:cNvPr id="72" name="Rectangle 71"/>
          <p:cNvSpPr/>
          <p:nvPr/>
        </p:nvSpPr>
        <p:spPr>
          <a:xfrm>
            <a:off x="230700" y="5771280"/>
            <a:ext cx="1161288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74320" y="5843016"/>
            <a:ext cx="1371600" cy="237744"/>
          </a:xfrm>
          <a:prstGeom prst="rect">
            <a:avLst/>
          </a:prstGeom>
          <a:noFill/>
        </p:spPr>
        <p:txBody>
          <a:bodyPr wrap="square">
            <a:spAutoFit/>
          </a:bodyPr>
          <a:lstStyle/>
          <a:p>
            <a:pPr algn="ctr"/>
            <a:r>
              <a:rPr sz="1000" b="0" i="0">
                <a:solidFill>
                  <a:srgbClr val="404040"/>
                </a:solidFill>
              </a:rPr>
              <a:t>Phase 2</a:t>
            </a:r>
          </a:p>
        </p:txBody>
      </p:sp>
      <p:sp>
        <p:nvSpPr>
          <p:cNvPr id="74" name="TextBox 73"/>
          <p:cNvSpPr txBox="1"/>
          <p:nvPr/>
        </p:nvSpPr>
        <p:spPr>
          <a:xfrm>
            <a:off x="1648020" y="5807856"/>
            <a:ext cx="2011680" cy="237744"/>
          </a:xfrm>
          <a:prstGeom prst="rect">
            <a:avLst/>
          </a:prstGeom>
          <a:noFill/>
        </p:spPr>
        <p:txBody>
          <a:bodyPr wrap="square">
            <a:spAutoFit/>
          </a:bodyPr>
          <a:lstStyle/>
          <a:p>
            <a:pPr algn="ctr"/>
            <a:r>
              <a:rPr sz="1000" b="0" i="0">
                <a:solidFill>
                  <a:srgbClr val="404040"/>
                </a:solidFill>
              </a:rPr>
              <a:t>45</a:t>
            </a:r>
          </a:p>
        </p:txBody>
      </p:sp>
      <p:sp>
        <p:nvSpPr>
          <p:cNvPr id="75" name="TextBox 74"/>
          <p:cNvSpPr txBox="1"/>
          <p:nvPr/>
        </p:nvSpPr>
        <p:spPr>
          <a:xfrm>
            <a:off x="3659700" y="5807856"/>
            <a:ext cx="1737360" cy="237744"/>
          </a:xfrm>
          <a:prstGeom prst="rect">
            <a:avLst/>
          </a:prstGeom>
          <a:noFill/>
        </p:spPr>
        <p:txBody>
          <a:bodyPr wrap="square">
            <a:spAutoFit/>
          </a:bodyPr>
          <a:lstStyle/>
          <a:p>
            <a:pPr algn="ctr"/>
            <a:r>
              <a:rPr sz="1000" b="0" i="0">
                <a:solidFill>
                  <a:srgbClr val="404040"/>
                </a:solidFill>
              </a:rPr>
              <a:t>26</a:t>
            </a:r>
          </a:p>
        </p:txBody>
      </p:sp>
      <p:sp>
        <p:nvSpPr>
          <p:cNvPr id="76" name="TextBox 75"/>
          <p:cNvSpPr txBox="1"/>
          <p:nvPr/>
        </p:nvSpPr>
        <p:spPr>
          <a:xfrm>
            <a:off x="5397060" y="5807856"/>
            <a:ext cx="1737360" cy="237744"/>
          </a:xfrm>
          <a:prstGeom prst="rect">
            <a:avLst/>
          </a:prstGeom>
          <a:noFill/>
        </p:spPr>
        <p:txBody>
          <a:bodyPr wrap="square">
            <a:spAutoFit/>
          </a:bodyPr>
          <a:lstStyle/>
          <a:p>
            <a:pPr algn="ctr"/>
            <a:r>
              <a:rPr sz="1000" b="0" i="0">
                <a:solidFill>
                  <a:srgbClr val="404040"/>
                </a:solidFill>
              </a:rPr>
              <a:t>12</a:t>
            </a:r>
          </a:p>
        </p:txBody>
      </p:sp>
      <p:sp>
        <p:nvSpPr>
          <p:cNvPr id="77" name="TextBox 76"/>
          <p:cNvSpPr txBox="1"/>
          <p:nvPr/>
        </p:nvSpPr>
        <p:spPr>
          <a:xfrm>
            <a:off x="7134420" y="5807856"/>
            <a:ext cx="2103120" cy="237744"/>
          </a:xfrm>
          <a:prstGeom prst="rect">
            <a:avLst/>
          </a:prstGeom>
          <a:noFill/>
        </p:spPr>
        <p:txBody>
          <a:bodyPr wrap="square">
            <a:spAutoFit/>
          </a:bodyPr>
          <a:lstStyle/>
          <a:p>
            <a:pPr algn="ctr"/>
            <a:r>
              <a:rPr sz="1000" b="0" i="0">
                <a:solidFill>
                  <a:srgbClr val="404040"/>
                </a:solidFill>
              </a:rPr>
              <a:t>7</a:t>
            </a:r>
          </a:p>
        </p:txBody>
      </p:sp>
      <p:sp>
        <p:nvSpPr>
          <p:cNvPr id="78" name="TextBox 77"/>
          <p:cNvSpPr txBox="1"/>
          <p:nvPr/>
        </p:nvSpPr>
        <p:spPr>
          <a:xfrm>
            <a:off x="9237540" y="5807856"/>
            <a:ext cx="2194560" cy="237744"/>
          </a:xfrm>
          <a:prstGeom prst="rect">
            <a:avLst/>
          </a:prstGeom>
          <a:noFill/>
        </p:spPr>
        <p:txBody>
          <a:bodyPr wrap="square">
            <a:spAutoFit/>
          </a:bodyPr>
          <a:lstStyle/>
          <a:p>
            <a:pPr algn="ctr"/>
            <a:r>
              <a:rPr sz="1000" b="0" i="0">
                <a:solidFill>
                  <a:srgbClr val="404040"/>
                </a:solidFill>
              </a:rPr>
              <a:t>26</a:t>
            </a:r>
          </a:p>
        </p:txBody>
      </p:sp>
      <p:sp>
        <p:nvSpPr>
          <p:cNvPr id="79" name="Rectangle 78"/>
          <p:cNvSpPr/>
          <p:nvPr/>
        </p:nvSpPr>
        <p:spPr>
          <a:xfrm>
            <a:off x="230700" y="609132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76420" y="6127896"/>
            <a:ext cx="1371600" cy="237744"/>
          </a:xfrm>
          <a:prstGeom prst="rect">
            <a:avLst/>
          </a:prstGeom>
          <a:noFill/>
        </p:spPr>
        <p:txBody>
          <a:bodyPr wrap="square">
            <a:spAutoFit/>
          </a:bodyPr>
          <a:lstStyle/>
          <a:p>
            <a:pPr algn="ctr"/>
            <a:r>
              <a:rPr sz="1000" b="0" i="0">
                <a:solidFill>
                  <a:srgbClr val="404040"/>
                </a:solidFill>
              </a:rPr>
              <a:t>Phase 3</a:t>
            </a:r>
          </a:p>
        </p:txBody>
      </p:sp>
      <p:sp>
        <p:nvSpPr>
          <p:cNvPr id="81" name="TextBox 80"/>
          <p:cNvSpPr txBox="1"/>
          <p:nvPr/>
        </p:nvSpPr>
        <p:spPr>
          <a:xfrm>
            <a:off x="1648020" y="6190488"/>
            <a:ext cx="2011680" cy="237744"/>
          </a:xfrm>
          <a:prstGeom prst="rect">
            <a:avLst/>
          </a:prstGeom>
          <a:noFill/>
        </p:spPr>
        <p:txBody>
          <a:bodyPr wrap="square">
            <a:spAutoFit/>
          </a:bodyPr>
          <a:lstStyle/>
          <a:p>
            <a:pPr algn="ctr"/>
            <a:r>
              <a:rPr sz="1000" b="0" i="0">
                <a:solidFill>
                  <a:srgbClr val="404040"/>
                </a:solidFill>
              </a:rPr>
              <a:t>35</a:t>
            </a:r>
          </a:p>
        </p:txBody>
      </p:sp>
      <p:sp>
        <p:nvSpPr>
          <p:cNvPr id="82" name="TextBox 81"/>
          <p:cNvSpPr txBox="1"/>
          <p:nvPr/>
        </p:nvSpPr>
        <p:spPr>
          <a:xfrm>
            <a:off x="3659700" y="6127896"/>
            <a:ext cx="1737360" cy="237744"/>
          </a:xfrm>
          <a:prstGeom prst="rect">
            <a:avLst/>
          </a:prstGeom>
          <a:noFill/>
        </p:spPr>
        <p:txBody>
          <a:bodyPr wrap="square">
            <a:spAutoFit/>
          </a:bodyPr>
          <a:lstStyle/>
          <a:p>
            <a:pPr algn="ctr"/>
            <a:r>
              <a:rPr sz="1000" b="0" i="0">
                <a:solidFill>
                  <a:srgbClr val="404040"/>
                </a:solidFill>
              </a:rPr>
              <a:t>22</a:t>
            </a:r>
          </a:p>
        </p:txBody>
      </p:sp>
      <p:sp>
        <p:nvSpPr>
          <p:cNvPr id="83" name="TextBox 82"/>
          <p:cNvSpPr txBox="1"/>
          <p:nvPr/>
        </p:nvSpPr>
        <p:spPr>
          <a:xfrm>
            <a:off x="5397060" y="6127896"/>
            <a:ext cx="1737360" cy="237744"/>
          </a:xfrm>
          <a:prstGeom prst="rect">
            <a:avLst/>
          </a:prstGeom>
          <a:noFill/>
        </p:spPr>
        <p:txBody>
          <a:bodyPr wrap="square">
            <a:spAutoFit/>
          </a:bodyPr>
          <a:lstStyle/>
          <a:p>
            <a:pPr algn="ctr"/>
            <a:r>
              <a:rPr sz="1000" b="0" i="0">
                <a:solidFill>
                  <a:srgbClr val="404040"/>
                </a:solidFill>
              </a:rPr>
              <a:t>7</a:t>
            </a:r>
          </a:p>
        </p:txBody>
      </p:sp>
      <p:sp>
        <p:nvSpPr>
          <p:cNvPr id="84" name="TextBox 83"/>
          <p:cNvSpPr txBox="1"/>
          <p:nvPr/>
        </p:nvSpPr>
        <p:spPr>
          <a:xfrm>
            <a:off x="7134420" y="6127896"/>
            <a:ext cx="2103120" cy="237744"/>
          </a:xfrm>
          <a:prstGeom prst="rect">
            <a:avLst/>
          </a:prstGeom>
          <a:noFill/>
        </p:spPr>
        <p:txBody>
          <a:bodyPr wrap="square">
            <a:spAutoFit/>
          </a:bodyPr>
          <a:lstStyle/>
          <a:p>
            <a:pPr algn="ctr"/>
            <a:r>
              <a:rPr sz="1000" b="0" i="0">
                <a:solidFill>
                  <a:srgbClr val="404040"/>
                </a:solidFill>
              </a:rPr>
              <a:t>6</a:t>
            </a:r>
          </a:p>
        </p:txBody>
      </p:sp>
      <p:sp>
        <p:nvSpPr>
          <p:cNvPr id="85" name="TextBox 84"/>
          <p:cNvSpPr txBox="1"/>
          <p:nvPr/>
        </p:nvSpPr>
        <p:spPr>
          <a:xfrm>
            <a:off x="9237540" y="6127896"/>
            <a:ext cx="2194560" cy="237744"/>
          </a:xfrm>
          <a:prstGeom prst="rect">
            <a:avLst/>
          </a:prstGeom>
          <a:noFill/>
        </p:spPr>
        <p:txBody>
          <a:bodyPr wrap="square">
            <a:spAutoFit/>
          </a:bodyPr>
          <a:lstStyle/>
          <a:p>
            <a:pPr algn="ctr"/>
            <a:r>
              <a:rPr sz="1000" b="0" i="0">
                <a:solidFill>
                  <a:srgbClr val="404040"/>
                </a:solidFill>
              </a:rPr>
              <a:t>22</a:t>
            </a:r>
          </a:p>
        </p:txBody>
      </p:sp>
      <p:sp>
        <p:nvSpPr>
          <p:cNvPr id="86" name="Rectangle 85"/>
          <p:cNvSpPr/>
          <p:nvPr/>
        </p:nvSpPr>
        <p:spPr>
          <a:xfrm>
            <a:off x="230700" y="6411360"/>
            <a:ext cx="11612880" cy="301752"/>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276420" y="6447936"/>
            <a:ext cx="1371600" cy="237744"/>
          </a:xfrm>
          <a:prstGeom prst="rect">
            <a:avLst/>
          </a:prstGeom>
          <a:noFill/>
        </p:spPr>
        <p:txBody>
          <a:bodyPr wrap="square">
            <a:spAutoFit/>
          </a:bodyPr>
          <a:lstStyle/>
          <a:p>
            <a:pPr algn="ctr"/>
            <a:r>
              <a:rPr sz="1000" b="1" i="0">
                <a:solidFill>
                  <a:srgbClr val="003387"/>
                </a:solidFill>
              </a:rPr>
              <a:t>TOTAL</a:t>
            </a:r>
          </a:p>
        </p:txBody>
      </p:sp>
      <p:sp>
        <p:nvSpPr>
          <p:cNvPr id="88" name="TextBox 87"/>
          <p:cNvSpPr txBox="1"/>
          <p:nvPr/>
        </p:nvSpPr>
        <p:spPr>
          <a:xfrm>
            <a:off x="1648020" y="6447936"/>
            <a:ext cx="2011680" cy="237744"/>
          </a:xfrm>
          <a:prstGeom prst="rect">
            <a:avLst/>
          </a:prstGeom>
          <a:noFill/>
        </p:spPr>
        <p:txBody>
          <a:bodyPr wrap="square">
            <a:spAutoFit/>
          </a:bodyPr>
          <a:lstStyle/>
          <a:p>
            <a:pPr algn="ctr"/>
            <a:r>
              <a:rPr sz="1000" b="1" i="0">
                <a:solidFill>
                  <a:srgbClr val="003387"/>
                </a:solidFill>
              </a:rPr>
              <a:t>129</a:t>
            </a:r>
          </a:p>
        </p:txBody>
      </p:sp>
      <p:sp>
        <p:nvSpPr>
          <p:cNvPr id="89" name="TextBox 88"/>
          <p:cNvSpPr txBox="1"/>
          <p:nvPr/>
        </p:nvSpPr>
        <p:spPr>
          <a:xfrm>
            <a:off x="3659700" y="6447936"/>
            <a:ext cx="1737360" cy="237744"/>
          </a:xfrm>
          <a:prstGeom prst="rect">
            <a:avLst/>
          </a:prstGeom>
          <a:noFill/>
        </p:spPr>
        <p:txBody>
          <a:bodyPr wrap="square">
            <a:spAutoFit/>
          </a:bodyPr>
          <a:lstStyle/>
          <a:p>
            <a:pPr algn="ctr"/>
            <a:r>
              <a:rPr sz="1000" b="1" i="0">
                <a:solidFill>
                  <a:srgbClr val="003387"/>
                </a:solidFill>
              </a:rPr>
              <a:t>74</a:t>
            </a:r>
          </a:p>
        </p:txBody>
      </p:sp>
      <p:sp>
        <p:nvSpPr>
          <p:cNvPr id="90" name="TextBox 89"/>
          <p:cNvSpPr txBox="1"/>
          <p:nvPr/>
        </p:nvSpPr>
        <p:spPr>
          <a:xfrm>
            <a:off x="5397060" y="6447936"/>
            <a:ext cx="1737360" cy="237744"/>
          </a:xfrm>
          <a:prstGeom prst="rect">
            <a:avLst/>
          </a:prstGeom>
          <a:noFill/>
        </p:spPr>
        <p:txBody>
          <a:bodyPr wrap="square">
            <a:spAutoFit/>
          </a:bodyPr>
          <a:lstStyle/>
          <a:p>
            <a:pPr algn="ctr"/>
            <a:r>
              <a:rPr sz="1000" b="1" i="0">
                <a:solidFill>
                  <a:srgbClr val="003387"/>
                </a:solidFill>
              </a:rPr>
              <a:t>36</a:t>
            </a:r>
          </a:p>
        </p:txBody>
      </p:sp>
      <p:sp>
        <p:nvSpPr>
          <p:cNvPr id="91" name="TextBox 90"/>
          <p:cNvSpPr txBox="1"/>
          <p:nvPr/>
        </p:nvSpPr>
        <p:spPr>
          <a:xfrm>
            <a:off x="7134420" y="6447936"/>
            <a:ext cx="2103120" cy="237744"/>
          </a:xfrm>
          <a:prstGeom prst="rect">
            <a:avLst/>
          </a:prstGeom>
          <a:noFill/>
        </p:spPr>
        <p:txBody>
          <a:bodyPr wrap="square">
            <a:spAutoFit/>
          </a:bodyPr>
          <a:lstStyle/>
          <a:p>
            <a:pPr algn="ctr"/>
            <a:r>
              <a:rPr sz="1000" b="1" i="0">
                <a:solidFill>
                  <a:srgbClr val="003387"/>
                </a:solidFill>
              </a:rPr>
              <a:t>19</a:t>
            </a:r>
          </a:p>
        </p:txBody>
      </p:sp>
      <p:sp>
        <p:nvSpPr>
          <p:cNvPr id="92" name="TextBox 91"/>
          <p:cNvSpPr txBox="1"/>
          <p:nvPr/>
        </p:nvSpPr>
        <p:spPr>
          <a:xfrm>
            <a:off x="9237540" y="6447936"/>
            <a:ext cx="2194560" cy="237744"/>
          </a:xfrm>
          <a:prstGeom prst="rect">
            <a:avLst/>
          </a:prstGeom>
          <a:noFill/>
        </p:spPr>
        <p:txBody>
          <a:bodyPr wrap="square">
            <a:spAutoFit/>
          </a:bodyPr>
          <a:lstStyle/>
          <a:p>
            <a:pPr algn="ctr"/>
            <a:r>
              <a:rPr sz="1000" b="1" i="0">
                <a:solidFill>
                  <a:srgbClr val="003387"/>
                </a:solidFill>
              </a:rPr>
              <a:t>79</a:t>
            </a:r>
          </a:p>
        </p:txBody>
      </p:sp>
      <p:sp>
        <p:nvSpPr>
          <p:cNvPr id="95" name="TextBox 94">
            <a:extLst>
              <a:ext uri="{FF2B5EF4-FFF2-40B4-BE49-F238E27FC236}">
                <a16:creationId xmlns:a16="http://schemas.microsoft.com/office/drawing/2014/main" id="{3B15B81E-CC47-D1BB-FB05-95EBF0371DE3}"/>
              </a:ext>
            </a:extLst>
          </p:cNvPr>
          <p:cNvSpPr txBox="1"/>
          <p:nvPr/>
        </p:nvSpPr>
        <p:spPr>
          <a:xfrm>
            <a:off x="8478589" y="3054482"/>
            <a:ext cx="3025697" cy="246221"/>
          </a:xfrm>
          <a:prstGeom prst="rect">
            <a:avLst/>
          </a:prstGeom>
          <a:noFill/>
        </p:spPr>
        <p:txBody>
          <a:bodyPr wrap="square" rtlCol="0">
            <a:spAutoFit/>
          </a:bodyPr>
          <a:lstStyle/>
          <a:p>
            <a:r>
              <a:rPr lang="en-US" sz="1000" dirty="0"/>
              <a:t>OTDR testing from Hicksville to Syosset</a:t>
            </a:r>
            <a:endParaRPr lang="en-US" dirty="0"/>
          </a:p>
        </p:txBody>
      </p:sp>
      <p:sp>
        <p:nvSpPr>
          <p:cNvPr id="98" name="TextBox 97">
            <a:extLst>
              <a:ext uri="{FF2B5EF4-FFF2-40B4-BE49-F238E27FC236}">
                <a16:creationId xmlns:a16="http://schemas.microsoft.com/office/drawing/2014/main" id="{28B3DF57-4DE9-EAAC-C619-67704B496FAA}"/>
              </a:ext>
            </a:extLst>
          </p:cNvPr>
          <p:cNvSpPr txBox="1"/>
          <p:nvPr/>
        </p:nvSpPr>
        <p:spPr>
          <a:xfrm>
            <a:off x="8185980" y="3848273"/>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99" name="TextBox 98">
            <a:extLst>
              <a:ext uri="{FF2B5EF4-FFF2-40B4-BE49-F238E27FC236}">
                <a16:creationId xmlns:a16="http://schemas.microsoft.com/office/drawing/2014/main" id="{79A606F6-3D1B-BCE5-572C-CDB01FA5D973}"/>
              </a:ext>
            </a:extLst>
          </p:cNvPr>
          <p:cNvSpPr txBox="1"/>
          <p:nvPr/>
        </p:nvSpPr>
        <p:spPr>
          <a:xfrm>
            <a:off x="8181038" y="3463421"/>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0" name="TextBox 99">
            <a:extLst>
              <a:ext uri="{FF2B5EF4-FFF2-40B4-BE49-F238E27FC236}">
                <a16:creationId xmlns:a16="http://schemas.microsoft.com/office/drawing/2014/main" id="{55ADC1A2-EFF1-D285-C45D-C04AC2133770}"/>
              </a:ext>
            </a:extLst>
          </p:cNvPr>
          <p:cNvSpPr txBox="1"/>
          <p:nvPr/>
        </p:nvSpPr>
        <p:spPr>
          <a:xfrm>
            <a:off x="266913" y="3403958"/>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1" name="TextBox 100">
            <a:extLst>
              <a:ext uri="{FF2B5EF4-FFF2-40B4-BE49-F238E27FC236}">
                <a16:creationId xmlns:a16="http://schemas.microsoft.com/office/drawing/2014/main" id="{8B3832DE-8459-0230-A772-DA2CE09602C7}"/>
              </a:ext>
            </a:extLst>
          </p:cNvPr>
          <p:cNvSpPr txBox="1"/>
          <p:nvPr/>
        </p:nvSpPr>
        <p:spPr>
          <a:xfrm>
            <a:off x="277546" y="3757869"/>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1 Accomplishments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31 Substations | Complete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28599" y="1069848"/>
            <a:ext cx="7498079"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955279" y="1005840"/>
            <a:ext cx="39319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05840"/>
            <a:ext cx="7498079"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42415"/>
            <a:ext cx="7315200" cy="347472"/>
          </a:xfrm>
          <a:prstGeom prst="rect">
            <a:avLst/>
          </a:prstGeom>
          <a:noFill/>
        </p:spPr>
        <p:txBody>
          <a:bodyPr wrap="square">
            <a:spAutoFit/>
          </a:bodyPr>
          <a:lstStyle/>
          <a:p>
            <a:pPr algn="l"/>
            <a:r>
              <a:rPr sz="1200" b="1" i="0">
                <a:solidFill>
                  <a:srgbClr val="FFFFFF"/>
                </a:solidFill>
              </a:rPr>
              <a:t>KEY ACCOMPLISHMENTS</a:t>
            </a:r>
          </a:p>
        </p:txBody>
      </p:sp>
      <p:sp>
        <p:nvSpPr>
          <p:cNvPr id="13" name="TextBox 12"/>
          <p:cNvSpPr txBox="1"/>
          <p:nvPr/>
        </p:nvSpPr>
        <p:spPr>
          <a:xfrm>
            <a:off x="640080" y="1490472"/>
            <a:ext cx="6949440" cy="261610"/>
          </a:xfrm>
          <a:prstGeom prst="rect">
            <a:avLst/>
          </a:prstGeom>
          <a:noFill/>
        </p:spPr>
        <p:txBody>
          <a:bodyPr wrap="square">
            <a:spAutoFit/>
          </a:bodyPr>
          <a:lstStyle/>
          <a:p>
            <a:pPr algn="l"/>
            <a:r>
              <a:rPr lang="en-US" sz="1100" b="0" i="0" dirty="0">
                <a:solidFill>
                  <a:srgbClr val="404040"/>
                </a:solidFill>
              </a:rPr>
              <a:t>Staging completed at Hawkeye Warehouse  - Work Completed - 9/29/2025</a:t>
            </a:r>
          </a:p>
        </p:txBody>
      </p:sp>
      <p:sp>
        <p:nvSpPr>
          <p:cNvPr id="15" name="TextBox 14"/>
          <p:cNvSpPr txBox="1"/>
          <p:nvPr/>
        </p:nvSpPr>
        <p:spPr>
          <a:xfrm>
            <a:off x="640080" y="1929384"/>
            <a:ext cx="6949440" cy="261610"/>
          </a:xfrm>
          <a:prstGeom prst="rect">
            <a:avLst/>
          </a:prstGeom>
          <a:noFill/>
        </p:spPr>
        <p:txBody>
          <a:bodyPr wrap="square">
            <a:spAutoFit/>
          </a:bodyPr>
          <a:lstStyle/>
          <a:p>
            <a:pPr algn="l"/>
            <a:r>
              <a:rPr lang="en-US" sz="1100" b="0" i="0" dirty="0">
                <a:solidFill>
                  <a:srgbClr val="404040"/>
                </a:solidFill>
              </a:rPr>
              <a:t>Nokia equipment for Phase 2 has been delivered – Work Completed - 2/19/2026</a:t>
            </a:r>
          </a:p>
        </p:txBody>
      </p:sp>
      <p:sp>
        <p:nvSpPr>
          <p:cNvPr id="17" name="TextBox 16"/>
          <p:cNvSpPr txBox="1"/>
          <p:nvPr/>
        </p:nvSpPr>
        <p:spPr>
          <a:xfrm>
            <a:off x="640080" y="2368296"/>
            <a:ext cx="6949440" cy="261610"/>
          </a:xfrm>
          <a:prstGeom prst="rect">
            <a:avLst/>
          </a:prstGeom>
          <a:noFill/>
        </p:spPr>
        <p:txBody>
          <a:bodyPr wrap="square">
            <a:spAutoFit/>
          </a:bodyPr>
          <a:lstStyle/>
          <a:p>
            <a:pPr algn="l"/>
            <a:r>
              <a:rPr lang="en-US" sz="1100" b="0" i="0" dirty="0">
                <a:solidFill>
                  <a:srgbClr val="404040"/>
                </a:solidFill>
              </a:rPr>
              <a:t>Complete CWDM cutover at Hicksville and ACC -  Work completed </a:t>
            </a:r>
          </a:p>
        </p:txBody>
      </p:sp>
      <p:sp>
        <p:nvSpPr>
          <p:cNvPr id="19" name="TextBox 18"/>
          <p:cNvSpPr txBox="1"/>
          <p:nvPr/>
        </p:nvSpPr>
        <p:spPr>
          <a:xfrm>
            <a:off x="640080" y="2807208"/>
            <a:ext cx="6949440" cy="261610"/>
          </a:xfrm>
          <a:prstGeom prst="rect">
            <a:avLst/>
          </a:prstGeom>
          <a:noFill/>
        </p:spPr>
        <p:txBody>
          <a:bodyPr wrap="square">
            <a:spAutoFit/>
          </a:bodyPr>
          <a:lstStyle/>
          <a:p>
            <a:pPr algn="l"/>
            <a:r>
              <a:rPr lang="en-US" sz="1100" b="0" i="0" dirty="0">
                <a:solidFill>
                  <a:srgbClr val="404040"/>
                </a:solidFill>
              </a:rPr>
              <a:t>Install routers in the primary &amp; secondary cabinet – Work Completed </a:t>
            </a:r>
          </a:p>
        </p:txBody>
      </p:sp>
      <p:sp>
        <p:nvSpPr>
          <p:cNvPr id="21" name="TextBox 20"/>
          <p:cNvSpPr txBox="1"/>
          <p:nvPr/>
        </p:nvSpPr>
        <p:spPr>
          <a:xfrm>
            <a:off x="640080" y="4557277"/>
            <a:ext cx="6949440" cy="261610"/>
          </a:xfrm>
          <a:prstGeom prst="rect">
            <a:avLst/>
          </a:prstGeom>
          <a:noFill/>
        </p:spPr>
        <p:txBody>
          <a:bodyPr wrap="square">
            <a:spAutoFit/>
          </a:bodyPr>
          <a:lstStyle/>
          <a:p>
            <a:pPr algn="l"/>
            <a:r>
              <a:rPr lang="en-US" sz="1100" b="0" i="0" dirty="0">
                <a:solidFill>
                  <a:srgbClr val="404040"/>
                </a:solidFill>
              </a:rPr>
              <a:t>NSP installed racked &amp; powered up in Melville and Hicksville – Work Completed </a:t>
            </a:r>
          </a:p>
        </p:txBody>
      </p:sp>
      <p:sp>
        <p:nvSpPr>
          <p:cNvPr id="23" name="TextBox 22"/>
          <p:cNvSpPr txBox="1"/>
          <p:nvPr/>
        </p:nvSpPr>
        <p:spPr>
          <a:xfrm>
            <a:off x="640080" y="4996189"/>
            <a:ext cx="6949440" cy="261610"/>
          </a:xfrm>
          <a:prstGeom prst="rect">
            <a:avLst/>
          </a:prstGeom>
          <a:noFill/>
        </p:spPr>
        <p:txBody>
          <a:bodyPr wrap="square">
            <a:spAutoFit/>
          </a:bodyPr>
          <a:lstStyle/>
          <a:p>
            <a:pPr algn="l"/>
            <a:r>
              <a:rPr sz="1100" b="0" i="0" dirty="0">
                <a:solidFill>
                  <a:srgbClr val="404040"/>
                </a:solidFill>
              </a:rPr>
              <a:t>Staging </a:t>
            </a:r>
            <a:r>
              <a:rPr lang="en-US" sz="1100" b="0" i="0" dirty="0">
                <a:solidFill>
                  <a:srgbClr val="404040"/>
                </a:solidFill>
              </a:rPr>
              <a:t>CMDB document updated and added to CMDB database – Work Completed </a:t>
            </a:r>
          </a:p>
        </p:txBody>
      </p:sp>
      <p:sp>
        <p:nvSpPr>
          <p:cNvPr id="25" name="TextBox 24"/>
          <p:cNvSpPr txBox="1"/>
          <p:nvPr/>
        </p:nvSpPr>
        <p:spPr>
          <a:xfrm>
            <a:off x="640080" y="5435101"/>
            <a:ext cx="6949440" cy="261610"/>
          </a:xfrm>
          <a:prstGeom prst="rect">
            <a:avLst/>
          </a:prstGeom>
          <a:noFill/>
        </p:spPr>
        <p:txBody>
          <a:bodyPr wrap="square">
            <a:spAutoFit/>
          </a:bodyPr>
          <a:lstStyle/>
          <a:p>
            <a:pPr algn="l"/>
            <a:r>
              <a:rPr lang="en-US" sz="1100" b="0" i="0" dirty="0">
                <a:solidFill>
                  <a:srgbClr val="404040"/>
                </a:solidFill>
              </a:rPr>
              <a:t>OTDR testing from Hicksville to Syosset – Work Completed </a:t>
            </a:r>
          </a:p>
        </p:txBody>
      </p:sp>
      <p:sp>
        <p:nvSpPr>
          <p:cNvPr id="32" name="Rectangle 31"/>
          <p:cNvSpPr/>
          <p:nvPr/>
        </p:nvSpPr>
        <p:spPr>
          <a:xfrm>
            <a:off x="7955279" y="1005840"/>
            <a:ext cx="3931920" cy="411480"/>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20" y="1042415"/>
            <a:ext cx="3749039" cy="276999"/>
          </a:xfrm>
          <a:prstGeom prst="rect">
            <a:avLst/>
          </a:prstGeom>
          <a:noFill/>
        </p:spPr>
        <p:txBody>
          <a:bodyPr wrap="square">
            <a:spAutoFit/>
          </a:bodyPr>
          <a:lstStyle/>
          <a:p>
            <a:pPr algn="l"/>
            <a:r>
              <a:rPr sz="1200" b="1" i="0" dirty="0">
                <a:solidFill>
                  <a:srgbClr val="FFFFFF"/>
                </a:solidFill>
              </a:rPr>
              <a:t>PHASE 1 AT A GLANCE</a:t>
            </a:r>
            <a:r>
              <a:rPr lang="en-US" sz="1200" b="1" i="0" dirty="0">
                <a:solidFill>
                  <a:srgbClr val="FFFFFF"/>
                </a:solidFill>
              </a:rPr>
              <a:t> - Completion</a:t>
            </a:r>
            <a:endParaRPr sz="1200" b="1" i="0" dirty="0">
              <a:solidFill>
                <a:srgbClr val="FFFFFF"/>
              </a:solidFill>
            </a:endParaRPr>
          </a:p>
        </p:txBody>
      </p:sp>
      <p:sp>
        <p:nvSpPr>
          <p:cNvPr id="34" name="Rectangle 33"/>
          <p:cNvSpPr/>
          <p:nvPr/>
        </p:nvSpPr>
        <p:spPr>
          <a:xfrm>
            <a:off x="8001000" y="15087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0" y="1527048"/>
            <a:ext cx="3749039" cy="347472"/>
          </a:xfrm>
          <a:prstGeom prst="rect">
            <a:avLst/>
          </a:prstGeom>
          <a:noFill/>
        </p:spPr>
        <p:txBody>
          <a:bodyPr wrap="square">
            <a:spAutoFit/>
          </a:bodyPr>
          <a:lstStyle/>
          <a:p>
            <a:pPr algn="ctr"/>
            <a:r>
              <a:rPr sz="1800" b="1" i="0">
                <a:solidFill>
                  <a:srgbClr val="003387"/>
                </a:solidFill>
              </a:rPr>
              <a:t>31 / 31</a:t>
            </a:r>
          </a:p>
        </p:txBody>
      </p:sp>
      <p:sp>
        <p:nvSpPr>
          <p:cNvPr id="36" name="TextBox 35"/>
          <p:cNvSpPr txBox="1"/>
          <p:nvPr/>
        </p:nvSpPr>
        <p:spPr>
          <a:xfrm>
            <a:off x="8046720" y="1856231"/>
            <a:ext cx="3749039" cy="274320"/>
          </a:xfrm>
          <a:prstGeom prst="rect">
            <a:avLst/>
          </a:prstGeom>
          <a:noFill/>
        </p:spPr>
        <p:txBody>
          <a:bodyPr wrap="square">
            <a:spAutoFit/>
          </a:bodyPr>
          <a:lstStyle/>
          <a:p>
            <a:pPr algn="ctr"/>
            <a:r>
              <a:rPr sz="1000" b="0" i="0">
                <a:solidFill>
                  <a:srgbClr val="404040"/>
                </a:solidFill>
              </a:rPr>
              <a:t>Sites Complete</a:t>
            </a:r>
          </a:p>
        </p:txBody>
      </p:sp>
      <p:sp>
        <p:nvSpPr>
          <p:cNvPr id="37" name="Rectangle 36"/>
          <p:cNvSpPr/>
          <p:nvPr/>
        </p:nvSpPr>
        <p:spPr>
          <a:xfrm>
            <a:off x="8001000" y="228600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46720" y="2304288"/>
            <a:ext cx="3749039" cy="347472"/>
          </a:xfrm>
          <a:prstGeom prst="rect">
            <a:avLst/>
          </a:prstGeom>
          <a:noFill/>
        </p:spPr>
        <p:txBody>
          <a:bodyPr wrap="square">
            <a:spAutoFit/>
          </a:bodyPr>
          <a:lstStyle/>
          <a:p>
            <a:pPr algn="ctr"/>
            <a:r>
              <a:rPr sz="1800" b="1" i="0">
                <a:solidFill>
                  <a:srgbClr val="F7941D"/>
                </a:solidFill>
              </a:rPr>
              <a:t>~65%</a:t>
            </a:r>
          </a:p>
        </p:txBody>
      </p:sp>
      <p:sp>
        <p:nvSpPr>
          <p:cNvPr id="39" name="TextBox 38"/>
          <p:cNvSpPr txBox="1"/>
          <p:nvPr/>
        </p:nvSpPr>
        <p:spPr>
          <a:xfrm>
            <a:off x="8046720" y="2633472"/>
            <a:ext cx="3749039" cy="274320"/>
          </a:xfrm>
          <a:prstGeom prst="rect">
            <a:avLst/>
          </a:prstGeom>
          <a:noFill/>
        </p:spPr>
        <p:txBody>
          <a:bodyPr wrap="square">
            <a:spAutoFit/>
          </a:bodyPr>
          <a:lstStyle/>
          <a:p>
            <a:pPr algn="ctr"/>
            <a:r>
              <a:rPr sz="1000" b="0" i="0">
                <a:solidFill>
                  <a:srgbClr val="404040"/>
                </a:solidFill>
              </a:rPr>
              <a:t>Phase 1 Complete</a:t>
            </a:r>
          </a:p>
        </p:txBody>
      </p:sp>
      <p:sp>
        <p:nvSpPr>
          <p:cNvPr id="40" name="Rectangle 39"/>
          <p:cNvSpPr/>
          <p:nvPr/>
        </p:nvSpPr>
        <p:spPr>
          <a:xfrm>
            <a:off x="8001000" y="306323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046720" y="3081527"/>
            <a:ext cx="3749039" cy="347472"/>
          </a:xfrm>
          <a:prstGeom prst="rect">
            <a:avLst/>
          </a:prstGeom>
          <a:noFill/>
        </p:spPr>
        <p:txBody>
          <a:bodyPr wrap="square">
            <a:spAutoFit/>
          </a:bodyPr>
          <a:lstStyle/>
          <a:p>
            <a:pPr algn="ctr"/>
            <a:r>
              <a:rPr sz="1800" b="1" i="0">
                <a:solidFill>
                  <a:srgbClr val="003387"/>
                </a:solidFill>
              </a:rPr>
              <a:t>2</a:t>
            </a:r>
          </a:p>
        </p:txBody>
      </p:sp>
      <p:sp>
        <p:nvSpPr>
          <p:cNvPr id="42" name="TextBox 41"/>
          <p:cNvSpPr txBox="1"/>
          <p:nvPr/>
        </p:nvSpPr>
        <p:spPr>
          <a:xfrm>
            <a:off x="8046720" y="3410711"/>
            <a:ext cx="3749039" cy="246221"/>
          </a:xfrm>
          <a:prstGeom prst="rect">
            <a:avLst/>
          </a:prstGeom>
          <a:noFill/>
        </p:spPr>
        <p:txBody>
          <a:bodyPr wrap="square">
            <a:spAutoFit/>
          </a:bodyPr>
          <a:lstStyle/>
          <a:p>
            <a:pPr algn="ctr"/>
            <a:r>
              <a:rPr lang="en-US" sz="1000" b="0" i="0" dirty="0">
                <a:solidFill>
                  <a:srgbClr val="404040"/>
                </a:solidFill>
              </a:rPr>
              <a:t>Network Ring - 1 &amp; 6</a:t>
            </a:r>
            <a:endParaRPr sz="1000" b="0" i="0" dirty="0">
              <a:solidFill>
                <a:srgbClr val="404040"/>
              </a:solidFill>
            </a:endParaRPr>
          </a:p>
        </p:txBody>
      </p:sp>
      <p:sp>
        <p:nvSpPr>
          <p:cNvPr id="43" name="Rectangle 42"/>
          <p:cNvSpPr/>
          <p:nvPr/>
        </p:nvSpPr>
        <p:spPr>
          <a:xfrm>
            <a:off x="8001000" y="384047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20" y="3858767"/>
            <a:ext cx="3749039" cy="369332"/>
          </a:xfrm>
          <a:prstGeom prst="rect">
            <a:avLst/>
          </a:prstGeom>
          <a:noFill/>
        </p:spPr>
        <p:txBody>
          <a:bodyPr wrap="square">
            <a:spAutoFit/>
          </a:bodyPr>
          <a:lstStyle/>
          <a:p>
            <a:pPr algn="ctr"/>
            <a:r>
              <a:rPr lang="en-US" sz="1800" b="1" i="0" dirty="0">
                <a:solidFill>
                  <a:srgbClr val="003387"/>
                </a:solidFill>
              </a:rPr>
              <a:t>Deployment &amp; Cutover</a:t>
            </a:r>
            <a:endParaRPr sz="1800" b="1" i="0" dirty="0">
              <a:solidFill>
                <a:srgbClr val="003387"/>
              </a:solidFill>
            </a:endParaRPr>
          </a:p>
        </p:txBody>
      </p:sp>
      <p:sp>
        <p:nvSpPr>
          <p:cNvPr id="45" name="TextBox 44"/>
          <p:cNvSpPr txBox="1"/>
          <p:nvPr/>
        </p:nvSpPr>
        <p:spPr>
          <a:xfrm>
            <a:off x="8046720" y="4187951"/>
            <a:ext cx="3749039" cy="246221"/>
          </a:xfrm>
          <a:prstGeom prst="rect">
            <a:avLst/>
          </a:prstGeom>
          <a:noFill/>
        </p:spPr>
        <p:txBody>
          <a:bodyPr wrap="square">
            <a:spAutoFit/>
          </a:bodyPr>
          <a:lstStyle/>
          <a:p>
            <a:pPr algn="ctr"/>
            <a:r>
              <a:rPr lang="en-US" sz="1000" dirty="0">
                <a:solidFill>
                  <a:srgbClr val="404040"/>
                </a:solidFill>
              </a:rPr>
              <a:t>non-tie and tie sites</a:t>
            </a:r>
            <a:endParaRPr sz="1000" b="0" i="0" dirty="0">
              <a:solidFill>
                <a:srgbClr val="404040"/>
              </a:solidFill>
            </a:endParaRPr>
          </a:p>
        </p:txBody>
      </p:sp>
      <p:sp>
        <p:nvSpPr>
          <p:cNvPr id="46" name="Rectangle 45"/>
          <p:cNvSpPr/>
          <p:nvPr/>
        </p:nvSpPr>
        <p:spPr>
          <a:xfrm>
            <a:off x="8001000" y="461772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046720" y="4636007"/>
            <a:ext cx="3749039" cy="347472"/>
          </a:xfrm>
          <a:prstGeom prst="rect">
            <a:avLst/>
          </a:prstGeom>
          <a:noFill/>
        </p:spPr>
        <p:txBody>
          <a:bodyPr wrap="square">
            <a:spAutoFit/>
          </a:bodyPr>
          <a:lstStyle/>
          <a:p>
            <a:pPr algn="ctr"/>
            <a:r>
              <a:rPr sz="1800" b="1" i="0">
                <a:solidFill>
                  <a:srgbClr val="003387"/>
                </a:solidFill>
              </a:rPr>
              <a:t>Jan 2026</a:t>
            </a:r>
          </a:p>
        </p:txBody>
      </p:sp>
      <p:sp>
        <p:nvSpPr>
          <p:cNvPr id="48" name="TextBox 47"/>
          <p:cNvSpPr txBox="1"/>
          <p:nvPr/>
        </p:nvSpPr>
        <p:spPr>
          <a:xfrm>
            <a:off x="8046720" y="4965192"/>
            <a:ext cx="3749039" cy="246221"/>
          </a:xfrm>
          <a:prstGeom prst="rect">
            <a:avLst/>
          </a:prstGeom>
          <a:noFill/>
        </p:spPr>
        <p:txBody>
          <a:bodyPr wrap="square">
            <a:spAutoFit/>
          </a:bodyPr>
          <a:lstStyle/>
          <a:p>
            <a:pPr algn="ctr"/>
            <a:r>
              <a:rPr sz="1000" b="0" i="0" dirty="0">
                <a:solidFill>
                  <a:srgbClr val="404040"/>
                </a:solidFill>
              </a:rPr>
              <a:t>Final </a:t>
            </a:r>
            <a:r>
              <a:rPr lang="en-US" sz="1000" b="0" i="0" dirty="0">
                <a:solidFill>
                  <a:srgbClr val="404040"/>
                </a:solidFill>
              </a:rPr>
              <a:t>Phase 1 Cutover</a:t>
            </a:r>
            <a:endParaRPr sz="1000" b="0" i="0" dirty="0">
              <a:solidFill>
                <a:srgbClr val="404040"/>
              </a:solidFill>
            </a:endParaRPr>
          </a:p>
        </p:txBody>
      </p:sp>
      <p:sp>
        <p:nvSpPr>
          <p:cNvPr id="49" name="Rectangle 48"/>
          <p:cNvSpPr/>
          <p:nvPr/>
        </p:nvSpPr>
        <p:spPr>
          <a:xfrm>
            <a:off x="8001000" y="53949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46720" y="5413248"/>
            <a:ext cx="3749039" cy="347472"/>
          </a:xfrm>
          <a:prstGeom prst="rect">
            <a:avLst/>
          </a:prstGeom>
          <a:noFill/>
        </p:spPr>
        <p:txBody>
          <a:bodyPr wrap="square">
            <a:spAutoFit/>
          </a:bodyPr>
          <a:lstStyle/>
          <a:p>
            <a:pPr algn="ctr"/>
            <a:r>
              <a:rPr sz="1800" b="1" i="0">
                <a:solidFill>
                  <a:srgbClr val="003387"/>
                </a:solidFill>
              </a:rPr>
              <a:t>$4.44M</a:t>
            </a:r>
          </a:p>
        </p:txBody>
      </p:sp>
      <p:sp>
        <p:nvSpPr>
          <p:cNvPr id="51" name="TextBox 50"/>
          <p:cNvSpPr txBox="1"/>
          <p:nvPr/>
        </p:nvSpPr>
        <p:spPr>
          <a:xfrm>
            <a:off x="8046720" y="5742432"/>
            <a:ext cx="3749039" cy="274320"/>
          </a:xfrm>
          <a:prstGeom prst="rect">
            <a:avLst/>
          </a:prstGeom>
          <a:noFill/>
        </p:spPr>
        <p:txBody>
          <a:bodyPr wrap="square">
            <a:spAutoFit/>
          </a:bodyPr>
          <a:lstStyle/>
          <a:p>
            <a:pPr algn="ctr"/>
            <a:r>
              <a:rPr sz="1000" b="0" i="0">
                <a:solidFill>
                  <a:srgbClr val="404040"/>
                </a:solidFill>
              </a:rPr>
              <a:t>Spent to Date</a:t>
            </a:r>
          </a:p>
        </p:txBody>
      </p:sp>
      <p:sp>
        <p:nvSpPr>
          <p:cNvPr id="27" name="Rectangle 26">
            <a:extLst>
              <a:ext uri="{FF2B5EF4-FFF2-40B4-BE49-F238E27FC236}">
                <a16:creationId xmlns:a16="http://schemas.microsoft.com/office/drawing/2014/main" id="{2E6ECA06-86F9-227F-68F6-C7B15F17688D}"/>
              </a:ext>
            </a:extLst>
          </p:cNvPr>
          <p:cNvSpPr/>
          <p:nvPr/>
        </p:nvSpPr>
        <p:spPr>
          <a:xfrm>
            <a:off x="396241" y="151790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29" name="Rectangle 28">
            <a:extLst>
              <a:ext uri="{FF2B5EF4-FFF2-40B4-BE49-F238E27FC236}">
                <a16:creationId xmlns:a16="http://schemas.microsoft.com/office/drawing/2014/main" id="{1001BEDE-AAB7-09B2-A8A6-6C07194DB742}"/>
              </a:ext>
            </a:extLst>
          </p:cNvPr>
          <p:cNvSpPr/>
          <p:nvPr/>
        </p:nvSpPr>
        <p:spPr>
          <a:xfrm>
            <a:off x="396241" y="196595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31" name="Rectangle 30">
            <a:extLst>
              <a:ext uri="{FF2B5EF4-FFF2-40B4-BE49-F238E27FC236}">
                <a16:creationId xmlns:a16="http://schemas.microsoft.com/office/drawing/2014/main" id="{D2738422-3D3E-8214-9370-0B3001D41C79}"/>
              </a:ext>
            </a:extLst>
          </p:cNvPr>
          <p:cNvSpPr/>
          <p:nvPr/>
        </p:nvSpPr>
        <p:spPr>
          <a:xfrm>
            <a:off x="396241" y="242770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2" name="Rectangle 51">
            <a:extLst>
              <a:ext uri="{FF2B5EF4-FFF2-40B4-BE49-F238E27FC236}">
                <a16:creationId xmlns:a16="http://schemas.microsoft.com/office/drawing/2014/main" id="{0BDA7391-2DE8-1321-6C96-AB9A4734A0D7}"/>
              </a:ext>
            </a:extLst>
          </p:cNvPr>
          <p:cNvSpPr/>
          <p:nvPr/>
        </p:nvSpPr>
        <p:spPr>
          <a:xfrm>
            <a:off x="396241" y="286666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3" name="Rectangle 52">
            <a:extLst>
              <a:ext uri="{FF2B5EF4-FFF2-40B4-BE49-F238E27FC236}">
                <a16:creationId xmlns:a16="http://schemas.microsoft.com/office/drawing/2014/main" id="{E63F1B6F-7F67-A85F-3725-647E2E66A9CB}"/>
              </a:ext>
            </a:extLst>
          </p:cNvPr>
          <p:cNvSpPr/>
          <p:nvPr/>
        </p:nvSpPr>
        <p:spPr>
          <a:xfrm>
            <a:off x="384048" y="46281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4" name="Rectangle 53">
            <a:extLst>
              <a:ext uri="{FF2B5EF4-FFF2-40B4-BE49-F238E27FC236}">
                <a16:creationId xmlns:a16="http://schemas.microsoft.com/office/drawing/2014/main" id="{A685FAD6-CFA7-FD48-1B9E-B72276E6242A}"/>
              </a:ext>
            </a:extLst>
          </p:cNvPr>
          <p:cNvSpPr/>
          <p:nvPr/>
        </p:nvSpPr>
        <p:spPr>
          <a:xfrm>
            <a:off x="399996" y="504953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5" name="Rectangle 54">
            <a:extLst>
              <a:ext uri="{FF2B5EF4-FFF2-40B4-BE49-F238E27FC236}">
                <a16:creationId xmlns:a16="http://schemas.microsoft.com/office/drawing/2014/main" id="{4742FC2C-6BAF-6EF6-2279-5EC326DAF97E}"/>
              </a:ext>
            </a:extLst>
          </p:cNvPr>
          <p:cNvSpPr/>
          <p:nvPr/>
        </p:nvSpPr>
        <p:spPr>
          <a:xfrm>
            <a:off x="399996" y="5511278"/>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6" name="Rectangle 55">
            <a:extLst>
              <a:ext uri="{FF2B5EF4-FFF2-40B4-BE49-F238E27FC236}">
                <a16:creationId xmlns:a16="http://schemas.microsoft.com/office/drawing/2014/main" id="{BED1DCA2-8A19-34F3-11E0-C1D8E0BB862E}"/>
              </a:ext>
            </a:extLst>
          </p:cNvPr>
          <p:cNvSpPr/>
          <p:nvPr/>
        </p:nvSpPr>
        <p:spPr>
          <a:xfrm>
            <a:off x="396241" y="3241905"/>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a:extLst>
              <a:ext uri="{FF2B5EF4-FFF2-40B4-BE49-F238E27FC236}">
                <a16:creationId xmlns:a16="http://schemas.microsoft.com/office/drawing/2014/main" id="{8FB1C231-EA10-006E-FB9D-519D15DBE688}"/>
              </a:ext>
            </a:extLst>
          </p:cNvPr>
          <p:cNvSpPr/>
          <p:nvPr/>
        </p:nvSpPr>
        <p:spPr>
          <a:xfrm>
            <a:off x="384048" y="361477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8" name="TextBox 57">
            <a:extLst>
              <a:ext uri="{FF2B5EF4-FFF2-40B4-BE49-F238E27FC236}">
                <a16:creationId xmlns:a16="http://schemas.microsoft.com/office/drawing/2014/main" id="{8277783C-1A81-A45E-3A31-B82A4A6B712B}"/>
              </a:ext>
            </a:extLst>
          </p:cNvPr>
          <p:cNvSpPr txBox="1"/>
          <p:nvPr/>
        </p:nvSpPr>
        <p:spPr>
          <a:xfrm>
            <a:off x="640080" y="3193396"/>
            <a:ext cx="6949440" cy="261610"/>
          </a:xfrm>
          <a:prstGeom prst="rect">
            <a:avLst/>
          </a:prstGeom>
          <a:noFill/>
        </p:spPr>
        <p:txBody>
          <a:bodyPr wrap="square">
            <a:spAutoFit/>
          </a:bodyPr>
          <a:lstStyle/>
          <a:p>
            <a:pPr algn="l"/>
            <a:r>
              <a:rPr lang="en-US" sz="1100" b="0" i="0" dirty="0">
                <a:solidFill>
                  <a:srgbClr val="404040"/>
                </a:solidFill>
              </a:rPr>
              <a:t>Wave 1 – non-tie sites – Ring 6 </a:t>
            </a:r>
          </a:p>
        </p:txBody>
      </p:sp>
      <p:sp>
        <p:nvSpPr>
          <p:cNvPr id="59" name="TextBox 58">
            <a:extLst>
              <a:ext uri="{FF2B5EF4-FFF2-40B4-BE49-F238E27FC236}">
                <a16:creationId xmlns:a16="http://schemas.microsoft.com/office/drawing/2014/main" id="{67289DA8-387A-32C1-9483-518790BB8B09}"/>
              </a:ext>
            </a:extLst>
          </p:cNvPr>
          <p:cNvSpPr txBox="1"/>
          <p:nvPr/>
        </p:nvSpPr>
        <p:spPr>
          <a:xfrm>
            <a:off x="640080" y="3563191"/>
            <a:ext cx="6949440" cy="261610"/>
          </a:xfrm>
          <a:prstGeom prst="rect">
            <a:avLst/>
          </a:prstGeom>
          <a:noFill/>
        </p:spPr>
        <p:txBody>
          <a:bodyPr wrap="square">
            <a:spAutoFit/>
          </a:bodyPr>
          <a:lstStyle/>
          <a:p>
            <a:pPr algn="l"/>
            <a:r>
              <a:rPr lang="en-US" sz="1100" b="0" i="0" dirty="0">
                <a:solidFill>
                  <a:srgbClr val="404040"/>
                </a:solidFill>
              </a:rPr>
              <a:t>Wave 2 – non-tie sites – Ring 1</a:t>
            </a:r>
          </a:p>
        </p:txBody>
      </p:sp>
      <p:sp>
        <p:nvSpPr>
          <p:cNvPr id="60" name="TextBox 59"/>
          <p:cNvSpPr txBox="1"/>
          <p:nvPr/>
        </p:nvSpPr>
        <p:spPr>
          <a:xfrm>
            <a:off x="228600" y="2999232"/>
            <a:ext cx="8412480" cy="201168"/>
          </a:xfrm>
          <a:prstGeom prst="rect">
            <a:avLst/>
          </a:prstGeom>
          <a:noFill/>
        </p:spPr>
        <p:txBody>
          <a:bodyPr wrap="square">
            <a:spAutoFit/>
          </a:bodyPr>
          <a:lstStyle/>
          <a:p>
            <a:pPr algn="l"/>
            <a:r>
              <a:rPr b="1" sz="800" i="0">
                <a:solidFill>
                  <a:srgbClr val="003387"/>
                </a:solidFill>
              </a:rPr>
              <a:t>PHASE 1 — MICRO-PHASE BREAKDOWN  |  Vik Vohra directive · Mar 16, 2026</a:t>
            </a:r>
          </a:p>
        </p:txBody>
      </p:sp>
      <p:sp>
        <p:nvSpPr>
          <p:cNvPr id="61" name="Rectangle 60"/>
          <p:cNvSpPr/>
          <p:nvPr/>
        </p:nvSpPr>
        <p:spPr>
          <a:xfrm>
            <a:off x="228600" y="3200400"/>
            <a:ext cx="8412480" cy="3810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2" name="Table 61"/>
          <p:cNvGraphicFramePr>
            <a:graphicFrameLocks noGrp="1"/>
          </p:cNvGraphicFramePr>
          <p:nvPr/>
        </p:nvGraphicFramePr>
        <p:xfrm>
          <a:off x="228600" y="3255264"/>
          <a:ext cx="8412480" cy="2788920"/>
        </p:xfrm>
        <a:graphic>
          <a:graphicData uri="http://schemas.openxmlformats.org/drawingml/2006/table">
            <a:tbl>
              <a:tblPr firstRow="1" bandRow="1">
                <a:tableStyleId>{5C22544A-7EE6-4342-B048-85BDC9FD1C3A}</a:tableStyleId>
              </a:tblPr>
              <a:tblGrid>
                <a:gridCol w="201168"/>
                <a:gridCol w="1920240"/>
                <a:gridCol w="713232"/>
                <a:gridCol w="3840480"/>
                <a:gridCol w="1737360"/>
              </a:tblGrid>
              <a:tr h="309880">
                <a:tc>
                  <a:txBody>
                    <a:bodyPr wrap="square"/>
                    <a:lstStyle/>
                    <a:p>
                      <a:pPr algn="ctr"/>
                      <a:r>
                        <a:rPr b="1" sz="800" i="0">
                          <a:solidFill>
                            <a:srgbClr val="FFFFFF"/>
                          </a:solidFill>
                        </a:rPr>
                        <a:t>#</a:t>
                      </a:r>
                    </a:p>
                  </a:txBody>
                  <a:tcPr>
                    <a:solidFill>
                      <a:srgbClr val="003387"/>
                    </a:solidFill>
                  </a:tcPr>
                </a:tc>
                <a:tc>
                  <a:txBody>
                    <a:bodyPr wrap="square"/>
                    <a:lstStyle/>
                    <a:p>
                      <a:pPr algn="l"/>
                      <a:r>
                        <a:rPr b="1" sz="800" i="0">
                          <a:solidFill>
                            <a:srgbClr val="FFFFFF"/>
                          </a:solidFill>
                        </a:rPr>
                        <a:t>MICRO-PHASE</a:t>
                      </a:r>
                    </a:p>
                  </a:txBody>
                  <a:tcPr>
                    <a:solidFill>
                      <a:srgbClr val="003387"/>
                    </a:solidFill>
                  </a:tcPr>
                </a:tc>
                <a:tc>
                  <a:txBody>
                    <a:bodyPr wrap="square"/>
                    <a:lstStyle/>
                    <a:p>
                      <a:pPr algn="ctr"/>
                      <a:r>
                        <a:rPr b="1" sz="800" i="0">
                          <a:solidFill>
                            <a:srgbClr val="FFFFFF"/>
                          </a:solidFill>
                        </a:rPr>
                        <a:t>STATUS</a:t>
                      </a:r>
                    </a:p>
                  </a:txBody>
                  <a:tcPr>
                    <a:solidFill>
                      <a:srgbClr val="003387"/>
                    </a:solidFill>
                  </a:tcPr>
                </a:tc>
                <a:tc>
                  <a:txBody>
                    <a:bodyPr wrap="square"/>
                    <a:lstStyle/>
                    <a:p>
                      <a:pPr algn="l"/>
                      <a:r>
                        <a:rPr b="1" sz="800" i="0">
                          <a:solidFill>
                            <a:srgbClr val="FFFFFF"/>
                          </a:solidFill>
                        </a:rPr>
                        <a:t>WHAT VIK SAID  ·  DETAIL</a:t>
                      </a:r>
                    </a:p>
                  </a:txBody>
                  <a:tcPr>
                    <a:solidFill>
                      <a:srgbClr val="003387"/>
                    </a:solidFill>
                  </a:tcPr>
                </a:tc>
                <a:tc>
                  <a:txBody>
                    <a:bodyPr wrap="square"/>
                    <a:lstStyle/>
                    <a:p>
                      <a:pPr algn="ctr"/>
                      <a:r>
                        <a:rPr b="1" sz="800" i="0">
                          <a:solidFill>
                            <a:srgbClr val="FFFFFF"/>
                          </a:solidFill>
                        </a:rPr>
                        <a:t>OWNER / DUE</a:t>
                      </a:r>
                    </a:p>
                  </a:txBody>
                  <a:tcPr>
                    <a:solidFill>
                      <a:srgbClr val="003387"/>
                    </a:solidFill>
                  </a:tcPr>
                </a:tc>
              </a:tr>
              <a:tr h="309880">
                <a:tc>
                  <a:txBody>
                    <a:bodyPr wrap="square"/>
                    <a:lstStyle/>
                    <a:p>
                      <a:pPr algn="ctr"/>
                      <a:r>
                        <a:rPr b="1" sz="800" i="0">
                          <a:solidFill>
                            <a:srgbClr val="155724"/>
                          </a:solidFill>
                        </a:rPr>
                        <a:t>1</a:t>
                      </a:r>
                    </a:p>
                  </a:txBody>
                  <a:tcPr>
                    <a:solidFill>
                      <a:srgbClr val="D4EDDA"/>
                    </a:solidFill>
                  </a:tcPr>
                </a:tc>
                <a:tc>
                  <a:txBody>
                    <a:bodyPr wrap="square"/>
                    <a:lstStyle/>
                    <a:p>
                      <a:pPr algn="l"/>
                      <a:r>
                        <a:rPr b="1" sz="800" i="0">
                          <a:solidFill>
                            <a:srgbClr val="155724"/>
                          </a:solidFill>
                        </a:rPr>
                        <a:t>Engineering &amp; Design</a:t>
                      </a:r>
                    </a:p>
                  </a:txBody>
                  <a:tcPr>
                    <a:solidFill>
                      <a:srgbClr val="D4EDDA"/>
                    </a:solidFill>
                  </a:tcPr>
                </a:tc>
                <a:tc>
                  <a:txBody>
                    <a:bodyPr wrap="square"/>
                    <a:lstStyle/>
                    <a:p>
                      <a:pPr algn="ctr"/>
                      <a:r>
                        <a:rPr b="1" sz="800" i="0">
                          <a:solidFill>
                            <a:srgbClr val="155724"/>
                          </a:solidFill>
                        </a:rPr>
                        <a:t>✅ 100%</a:t>
                      </a:r>
                    </a:p>
                  </a:txBody>
                  <a:tcPr>
                    <a:solidFill>
                      <a:srgbClr val="D4EDDA"/>
                    </a:solidFill>
                  </a:tcPr>
                </a:tc>
                <a:tc>
                  <a:txBody>
                    <a:bodyPr wrap="square"/>
                    <a:lstStyle/>
                    <a:p>
                      <a:pPr algn="l"/>
                      <a:r>
                        <a:rPr b="0" sz="700" i="0">
                          <a:solidFill>
                            <a:srgbClr val="222222"/>
                          </a:solidFill>
                        </a:rPr>
                        <a:t>"Engineering 100% done" — Vik confirmed. Site surveys, IFRs, IFCs, HLD all complete for 31 sites.</a:t>
                      </a:r>
                    </a:p>
                  </a:txBody>
                  <a:tcPr>
                    <a:solidFill>
                      <a:srgbClr val="FFFFFF"/>
                    </a:solidFill>
                  </a:tcPr>
                </a:tc>
                <a:tc>
                  <a:txBody>
                    <a:bodyPr wrap="square"/>
                    <a:lstStyle/>
                    <a:p>
                      <a:pPr algn="ctr"/>
                      <a:r>
                        <a:rPr b="0" sz="750" i="0">
                          <a:solidFill>
                            <a:srgbClr val="003387"/>
                          </a:solidFill>
                        </a:rPr>
                        <a:t>B&amp;M ✅ Complete</a:t>
                      </a:r>
                    </a:p>
                  </a:txBody>
                  <a:tcPr>
                    <a:solidFill>
                      <a:srgbClr val="F4F6FA"/>
                    </a:solidFill>
                  </a:tcPr>
                </a:tc>
              </a:tr>
              <a:tr h="309880">
                <a:tc>
                  <a:txBody>
                    <a:bodyPr wrap="square"/>
                    <a:lstStyle/>
                    <a:p>
                      <a:pPr algn="ctr"/>
                      <a:r>
                        <a:rPr b="1" sz="800" i="0">
                          <a:solidFill>
                            <a:srgbClr val="155724"/>
                          </a:solidFill>
                        </a:rPr>
                        <a:t>2</a:t>
                      </a:r>
                    </a:p>
                  </a:txBody>
                  <a:tcPr>
                    <a:solidFill>
                      <a:srgbClr val="D4EDDA"/>
                    </a:solidFill>
                  </a:tcPr>
                </a:tc>
                <a:tc>
                  <a:txBody>
                    <a:bodyPr wrap="square"/>
                    <a:lstStyle/>
                    <a:p>
                      <a:pPr algn="l"/>
                      <a:r>
                        <a:rPr b="1" sz="800" i="0">
                          <a:solidFill>
                            <a:srgbClr val="155724"/>
                          </a:solidFill>
                        </a:rPr>
                        <a:t>Procurement &amp; Staging</a:t>
                      </a:r>
                    </a:p>
                  </a:txBody>
                  <a:tcPr>
                    <a:solidFill>
                      <a:srgbClr val="D4EDDA"/>
                    </a:solidFill>
                  </a:tcPr>
                </a:tc>
                <a:tc>
                  <a:txBody>
                    <a:bodyPr wrap="square"/>
                    <a:lstStyle/>
                    <a:p>
                      <a:pPr algn="ctr"/>
                      <a:r>
                        <a:rPr b="1" sz="800" i="0">
                          <a:solidFill>
                            <a:srgbClr val="155724"/>
                          </a:solidFill>
                        </a:rPr>
                        <a:t>✅ 100%</a:t>
                      </a:r>
                    </a:p>
                  </a:txBody>
                  <a:tcPr>
                    <a:solidFill>
                      <a:srgbClr val="D4EDDA"/>
                    </a:solidFill>
                  </a:tcPr>
                </a:tc>
                <a:tc>
                  <a:txBody>
                    <a:bodyPr wrap="square"/>
                    <a:lstStyle/>
                    <a:p>
                      <a:pPr algn="l"/>
                      <a:r>
                        <a:rPr b="0" sz="700" i="0">
                          <a:solidFill>
                            <a:srgbClr val="222222"/>
                          </a:solidFill>
                        </a:rPr>
                        <a:t>Equipment purchased, staged &amp; tested (9/29/25). Ph2 Nokia equip delivered 2/19/26. Identify Phase 1 leftover equipment with Vinnie before Ph2 procurement.</a:t>
                      </a:r>
                    </a:p>
                  </a:txBody>
                  <a:tcPr>
                    <a:solidFill>
                      <a:srgbClr val="FFFFFF"/>
                    </a:solidFill>
                  </a:tcPr>
                </a:tc>
                <a:tc>
                  <a:txBody>
                    <a:bodyPr wrap="square"/>
                    <a:lstStyle/>
                    <a:p>
                      <a:pPr algn="ctr"/>
                      <a:r>
                        <a:rPr b="0" sz="750" i="0">
                          <a:solidFill>
                            <a:srgbClr val="003387"/>
                          </a:solidFill>
                        </a:rPr>
                        <a:t>PSEG LI / Hawkeye ✅</a:t>
                      </a:r>
                    </a:p>
                  </a:txBody>
                  <a:tcPr>
                    <a:solidFill>
                      <a:srgbClr val="F4F6FA"/>
                    </a:solidFill>
                  </a:tcPr>
                </a:tc>
              </a:tr>
              <a:tr h="309880">
                <a:tc>
                  <a:txBody>
                    <a:bodyPr wrap="square"/>
                    <a:lstStyle/>
                    <a:p>
                      <a:pPr algn="ctr"/>
                      <a:r>
                        <a:rPr b="1" sz="800" i="0">
                          <a:solidFill>
                            <a:srgbClr val="155724"/>
                          </a:solidFill>
                        </a:rPr>
                        <a:t>3</a:t>
                      </a:r>
                    </a:p>
                  </a:txBody>
                  <a:tcPr>
                    <a:solidFill>
                      <a:srgbClr val="D4EDDA"/>
                    </a:solidFill>
                  </a:tcPr>
                </a:tc>
                <a:tc>
                  <a:txBody>
                    <a:bodyPr wrap="square"/>
                    <a:lstStyle/>
                    <a:p>
                      <a:pPr algn="l"/>
                      <a:r>
                        <a:rPr b="1" sz="800" i="0">
                          <a:solidFill>
                            <a:srgbClr val="155724"/>
                          </a:solidFill>
                        </a:rPr>
                        <a:t>Construction &amp; Installation</a:t>
                      </a:r>
                    </a:p>
                  </a:txBody>
                  <a:tcPr>
                    <a:solidFill>
                      <a:srgbClr val="D4EDDA"/>
                    </a:solidFill>
                  </a:tcPr>
                </a:tc>
                <a:tc>
                  <a:txBody>
                    <a:bodyPr wrap="square"/>
                    <a:lstStyle/>
                    <a:p>
                      <a:pPr algn="ctr"/>
                      <a:r>
                        <a:rPr b="1" sz="800" i="0">
                          <a:solidFill>
                            <a:srgbClr val="155724"/>
                          </a:solidFill>
                        </a:rPr>
                        <a:t>✅ 100%</a:t>
                      </a:r>
                    </a:p>
                  </a:txBody>
                  <a:tcPr>
                    <a:solidFill>
                      <a:srgbClr val="D4EDDA"/>
                    </a:solidFill>
                  </a:tcPr>
                </a:tc>
                <a:tc>
                  <a:txBody>
                    <a:bodyPr wrap="square"/>
                    <a:lstStyle/>
                    <a:p>
                      <a:pPr algn="l"/>
                      <a:r>
                        <a:rPr b="0" sz="700" i="0">
                          <a:solidFill>
                            <a:srgbClr val="222222"/>
                          </a:solidFill>
                        </a:rPr>
                        <a:t>31/31 sites installed. CWDM cutovers Oct–Jan. Cat6 done 3/4. "What's done is done — don't report on it." BGP design approved today 3/16 ✅</a:t>
                      </a:r>
                    </a:p>
                  </a:txBody>
                  <a:tcPr>
                    <a:solidFill>
                      <a:srgbClr val="FFFFFF"/>
                    </a:solidFill>
                  </a:tcPr>
                </a:tc>
                <a:tc>
                  <a:txBody>
                    <a:bodyPr wrap="square"/>
                    <a:lstStyle/>
                    <a:p>
                      <a:pPr algn="ctr"/>
                      <a:r>
                        <a:rPr b="0" sz="750" i="0">
                          <a:solidFill>
                            <a:srgbClr val="003387"/>
                          </a:solidFill>
                        </a:rPr>
                        <a:t>Hawkeye ✅ Complete</a:t>
                      </a:r>
                    </a:p>
                  </a:txBody>
                  <a:tcPr>
                    <a:solidFill>
                      <a:srgbClr val="F4F6FA"/>
                    </a:solidFill>
                  </a:tcPr>
                </a:tc>
              </a:tr>
              <a:tr h="309880">
                <a:tc>
                  <a:txBody>
                    <a:bodyPr wrap="square"/>
                    <a:lstStyle/>
                    <a:p>
                      <a:pPr algn="ctr"/>
                      <a:r>
                        <a:rPr b="1" sz="800" i="0">
                          <a:solidFill>
                            <a:srgbClr val="721C24"/>
                          </a:solidFill>
                        </a:rPr>
                        <a:t>4</a:t>
                      </a:r>
                    </a:p>
                  </a:txBody>
                  <a:tcPr>
                    <a:solidFill>
                      <a:srgbClr val="F8D7DA"/>
                    </a:solidFill>
                  </a:tcPr>
                </a:tc>
                <a:tc>
                  <a:txBody>
                    <a:bodyPr wrap="square"/>
                    <a:lstStyle/>
                    <a:p>
                      <a:pPr algn="l"/>
                      <a:r>
                        <a:rPr b="1" sz="800" i="0">
                          <a:solidFill>
                            <a:srgbClr val="721C24"/>
                          </a:solidFill>
                        </a:rPr>
                        <a:t>Deployment / Pre-Cutover</a:t>
                      </a:r>
                    </a:p>
                  </a:txBody>
                  <a:tcPr>
                    <a:solidFill>
                      <a:srgbClr val="F8D7DA"/>
                    </a:solidFill>
                  </a:tcPr>
                </a:tc>
                <a:tc>
                  <a:txBody>
                    <a:bodyPr wrap="square"/>
                    <a:lstStyle/>
                    <a:p>
                      <a:pPr algn="ctr"/>
                      <a:r>
                        <a:rPr b="1" sz="800" i="0">
                          <a:solidFill>
                            <a:srgbClr val="721C24"/>
                          </a:solidFill>
                        </a:rPr>
                        <a:t>🔴 ~5%</a:t>
                      </a:r>
                    </a:p>
                  </a:txBody>
                  <a:tcPr>
                    <a:solidFill>
                      <a:srgbClr val="F8D7DA"/>
                    </a:solidFill>
                  </a:tcPr>
                </a:tc>
                <a:tc>
                  <a:txBody>
                    <a:bodyPr wrap="square"/>
                    <a:lstStyle/>
                    <a:p>
                      <a:pPr algn="l"/>
                      <a:r>
                        <a:rPr b="0" sz="700" i="0">
                          <a:solidFill>
                            <a:srgbClr val="222222"/>
                          </a:solidFill>
                        </a:rPr>
                        <a:t>"Deployment only 5% done." BGP ✅ approved 3/16. BLOCKED on NSP software install — Nokia critical path. Connectivity to production apps not yet established. Target: Jun 2026.</a:t>
                      </a:r>
                    </a:p>
                  </a:txBody>
                  <a:tcPr>
                    <a:solidFill>
                      <a:srgbClr val="FFFFFF"/>
                    </a:solidFill>
                  </a:tcPr>
                </a:tc>
                <a:tc>
                  <a:txBody>
                    <a:bodyPr wrap="square"/>
                    <a:lstStyle/>
                    <a:p>
                      <a:pPr algn="ctr"/>
                      <a:r>
                        <a:rPr b="0" sz="750" i="0">
                          <a:solidFill>
                            <a:srgbClr val="003387"/>
                          </a:solidFill>
                        </a:rPr>
                        <a:t>Nokia → Lee B. 🔴 Jun 2026</a:t>
                      </a:r>
                    </a:p>
                  </a:txBody>
                  <a:tcPr>
                    <a:solidFill>
                      <a:srgbClr val="F4F6FA"/>
                    </a:solidFill>
                  </a:tcPr>
                </a:tc>
              </a:tr>
              <a:tr h="309880">
                <a:tc>
                  <a:txBody>
                    <a:bodyPr wrap="square"/>
                    <a:lstStyle/>
                    <a:p>
                      <a:pPr algn="ctr"/>
                      <a:r>
                        <a:rPr b="1" sz="800" i="0">
                          <a:solidFill>
                            <a:srgbClr val="721C24"/>
                          </a:solidFill>
                        </a:rPr>
                        <a:t>5</a:t>
                      </a:r>
                    </a:p>
                  </a:txBody>
                  <a:tcPr>
                    <a:solidFill>
                      <a:srgbClr val="F8D7DA"/>
                    </a:solidFill>
                  </a:tcPr>
                </a:tc>
                <a:tc>
                  <a:txBody>
                    <a:bodyPr wrap="square"/>
                    <a:lstStyle/>
                    <a:p>
                      <a:pPr algn="l"/>
                      <a:r>
                        <a:rPr b="1" sz="800" i="0">
                          <a:solidFill>
                            <a:srgbClr val="721C24"/>
                          </a:solidFill>
                        </a:rPr>
                        <a:t>Application Layer 3 Cutover</a:t>
                      </a:r>
                    </a:p>
                  </a:txBody>
                  <a:tcPr>
                    <a:solidFill>
                      <a:srgbClr val="F8D7DA"/>
                    </a:solidFill>
                  </a:tcPr>
                </a:tc>
                <a:tc>
                  <a:txBody>
                    <a:bodyPr wrap="square"/>
                    <a:lstStyle/>
                    <a:p>
                      <a:pPr algn="ctr"/>
                      <a:r>
                        <a:rPr b="1" sz="800" i="0">
                          <a:solidFill>
                            <a:srgbClr val="721C24"/>
                          </a:solidFill>
                        </a:rPr>
                        <a:t>🔴 0%</a:t>
                      </a:r>
                    </a:p>
                  </a:txBody>
                  <a:tcPr>
                    <a:solidFill>
                      <a:srgbClr val="F8D7DA"/>
                    </a:solidFill>
                  </a:tcPr>
                </a:tc>
                <a:tc>
                  <a:txBody>
                    <a:bodyPr wrap="square"/>
                    <a:lstStyle/>
                    <a:p>
                      <a:pPr algn="l"/>
                      <a:r>
                        <a:rPr b="0" sz="700" i="0">
                          <a:solidFill>
                            <a:srgbClr val="222222"/>
                          </a:solidFill>
                        </a:rPr>
                        <a:t>5 apps: 2-way radio, DA radio, dSCADA, MicroPAQ, Security. "Accelerate app cutover PREP into Phase 2." Production traffic migration stays Phase 3. Pilot: Syosset first.</a:t>
                      </a:r>
                    </a:p>
                  </a:txBody>
                  <a:tcPr>
                    <a:solidFill>
                      <a:srgbClr val="FFFFFF"/>
                    </a:solidFill>
                  </a:tcPr>
                </a:tc>
                <a:tc>
                  <a:txBody>
                    <a:bodyPr wrap="square"/>
                    <a:lstStyle/>
                    <a:p>
                      <a:pPr algn="ctr"/>
                      <a:r>
                        <a:rPr b="0" sz="750" i="0">
                          <a:solidFill>
                            <a:srgbClr val="003387"/>
                          </a:solidFill>
                        </a:rPr>
                        <a:t>B&amp;M + App Owners 🔴</a:t>
                      </a:r>
                    </a:p>
                  </a:txBody>
                  <a:tcPr>
                    <a:solidFill>
                      <a:srgbClr val="F4F6FA"/>
                    </a:solidFill>
                  </a:tcPr>
                </a:tc>
              </a:tr>
              <a:tr h="309880">
                <a:tc>
                  <a:txBody>
                    <a:bodyPr wrap="square"/>
                    <a:lstStyle/>
                    <a:p>
                      <a:pPr algn="ctr"/>
                      <a:r>
                        <a:rPr b="1" sz="800" i="0">
                          <a:solidFill>
                            <a:srgbClr val="721C24"/>
                          </a:solidFill>
                        </a:rPr>
                        <a:t>6</a:t>
                      </a:r>
                    </a:p>
                  </a:txBody>
                  <a:tcPr>
                    <a:solidFill>
                      <a:srgbClr val="F8D7DA"/>
                    </a:solidFill>
                  </a:tcPr>
                </a:tc>
                <a:tc>
                  <a:txBody>
                    <a:bodyPr wrap="square"/>
                    <a:lstStyle/>
                    <a:p>
                      <a:pPr algn="l"/>
                      <a:r>
                        <a:rPr b="1" sz="800" i="0">
                          <a:solidFill>
                            <a:srgbClr val="721C24"/>
                          </a:solidFill>
                        </a:rPr>
                        <a:t>RTU / Layer 2 Cutover</a:t>
                      </a:r>
                    </a:p>
                  </a:txBody>
                  <a:tcPr>
                    <a:solidFill>
                      <a:srgbClr val="F8D7DA"/>
                    </a:solidFill>
                  </a:tcPr>
                </a:tc>
                <a:tc>
                  <a:txBody>
                    <a:bodyPr wrap="square"/>
                    <a:lstStyle/>
                    <a:p>
                      <a:pPr algn="ctr"/>
                      <a:r>
                        <a:rPr b="1" sz="800" i="0">
                          <a:solidFill>
                            <a:srgbClr val="721C24"/>
                          </a:solidFill>
                        </a:rPr>
                        <a:t>🔴 0%</a:t>
                      </a:r>
                    </a:p>
                  </a:txBody>
                  <a:tcPr>
                    <a:solidFill>
                      <a:srgbClr val="F8D7DA"/>
                    </a:solidFill>
                  </a:tcPr>
                </a:tc>
                <a:tc>
                  <a:txBody>
                    <a:bodyPr wrap="square"/>
                    <a:lstStyle/>
                    <a:p>
                      <a:pPr algn="l"/>
                      <a:r>
                        <a:rPr b="0" sz="700" i="0">
                          <a:solidFill>
                            <a:srgbClr val="222222"/>
                          </a:solidFill>
                        </a:rPr>
                        <a:t>On-site only — physical cable migration. "RTU and security/radio aspects are part of Phase 1, not separate phases." ~32 days effort. Sequential: must follow Layer 3.</a:t>
                      </a:r>
                    </a:p>
                  </a:txBody>
                  <a:tcPr>
                    <a:solidFill>
                      <a:srgbClr val="FFFFFF"/>
                    </a:solidFill>
                  </a:tcPr>
                </a:tc>
                <a:tc>
                  <a:txBody>
                    <a:bodyPr wrap="square"/>
                    <a:lstStyle/>
                    <a:p>
                      <a:pPr algn="ctr"/>
                      <a:r>
                        <a:rPr b="0" sz="750" i="0">
                          <a:solidFill>
                            <a:srgbClr val="003387"/>
                          </a:solidFill>
                        </a:rPr>
                        <a:t>PSEG LI Relay 🔴</a:t>
                      </a:r>
                    </a:p>
                  </a:txBody>
                  <a:tcPr>
                    <a:solidFill>
                      <a:srgbClr val="F4F6FA"/>
                    </a:solidFill>
                  </a:tcPr>
                </a:tc>
              </a:tr>
              <a:tr h="309880">
                <a:tc>
                  <a:txBody>
                    <a:bodyPr wrap="square"/>
                    <a:lstStyle/>
                    <a:p>
                      <a:pPr algn="ctr"/>
                      <a:r>
                        <a:rPr b="1" sz="800" i="0">
                          <a:solidFill>
                            <a:srgbClr val="856404"/>
                          </a:solidFill>
                        </a:rPr>
                        <a:t>7</a:t>
                      </a:r>
                    </a:p>
                  </a:txBody>
                  <a:tcPr>
                    <a:solidFill>
                      <a:srgbClr val="FFF3CD"/>
                    </a:solidFill>
                  </a:tcPr>
                </a:tc>
                <a:tc>
                  <a:txBody>
                    <a:bodyPr wrap="square"/>
                    <a:lstStyle/>
                    <a:p>
                      <a:pPr algn="l"/>
                      <a:r>
                        <a:rPr b="1" sz="800" i="0">
                          <a:solidFill>
                            <a:srgbClr val="856404"/>
                          </a:solidFill>
                        </a:rPr>
                        <a:t>As-Builts &amp; Decommission</a:t>
                      </a:r>
                    </a:p>
                  </a:txBody>
                  <a:tcPr>
                    <a:solidFill>
                      <a:srgbClr val="FFF3CD"/>
                    </a:solidFill>
                  </a:tcPr>
                </a:tc>
                <a:tc>
                  <a:txBody>
                    <a:bodyPr wrap="square"/>
                    <a:lstStyle/>
                    <a:p>
                      <a:pPr algn="ctr"/>
                      <a:r>
                        <a:rPr b="1" sz="800" i="0">
                          <a:solidFill>
                            <a:srgbClr val="856404"/>
                          </a:solidFill>
                        </a:rPr>
                        <a:t>⏳ 2027</a:t>
                      </a:r>
                    </a:p>
                  </a:txBody>
                  <a:tcPr>
                    <a:solidFill>
                      <a:srgbClr val="FFF3CD"/>
                    </a:solidFill>
                  </a:tcPr>
                </a:tc>
                <a:tc>
                  <a:txBody>
                    <a:bodyPr wrap="square"/>
                    <a:lstStyle/>
                    <a:p>
                      <a:pPr algn="l"/>
                      <a:r>
                        <a:rPr b="0" sz="700" i="0">
                          <a:solidFill>
                            <a:srgbClr val="222222"/>
                          </a:solidFill>
                        </a:rPr>
                        <a:t>"Funding for app transitioning and decommissioning is in 2027." Exclude as-built dates from weekly report — too many changes. JMUX Ring 1 decommission = post-Phase 3.</a:t>
                      </a:r>
                    </a:p>
                  </a:txBody>
                  <a:tcPr>
                    <a:solidFill>
                      <a:srgbClr val="FFFFFF"/>
                    </a:solidFill>
                  </a:tcPr>
                </a:tc>
                <a:tc>
                  <a:txBody>
                    <a:bodyPr wrap="square"/>
                    <a:lstStyle/>
                    <a:p>
                      <a:pPr algn="ctr"/>
                      <a:r>
                        <a:rPr b="0" sz="750" i="0">
                          <a:solidFill>
                            <a:srgbClr val="003387"/>
                          </a:solidFill>
                        </a:rPr>
                        <a:t>B&amp;M / Hawkeye ⏳ 2027</a:t>
                      </a:r>
                    </a:p>
                  </a:txBody>
                  <a:tcPr>
                    <a:solidFill>
                      <a:srgbClr val="F4F6FA"/>
                    </a:solidFill>
                  </a:tcPr>
                </a:tc>
              </a:tr>
              <a:tr h="309880">
                <a:tc>
                  <a:txBody>
                    <a:bodyPr wrap="square"/>
                    <a:lstStyle/>
                    <a:p>
                      <a:pPr algn="l"/>
                      <a:r>
                        <a:rPr b="0" sz="800" i="0">
                          <a:solidFill>
                            <a:srgbClr val="FFFFFF"/>
                          </a:solidFill>
                        </a:rPr>
                        <a:t/>
                      </a:r>
                    </a:p>
                  </a:txBody>
                  <a:tcPr>
                    <a:solidFill>
                      <a:srgbClr val="003387"/>
                    </a:solidFill>
                  </a:tcPr>
                </a:tc>
                <a:tc>
                  <a:txBody>
                    <a:bodyPr wrap="square"/>
                    <a:lstStyle/>
                    <a:p>
                      <a:pPr algn="l"/>
                      <a:r>
                        <a:rPr b="1" sz="900" i="0">
                          <a:solidFill>
                            <a:srgbClr val="FFFFFF"/>
                          </a:solidFill>
                        </a:rPr>
                        <a:t>PHASE 1 OVERALL</a:t>
                      </a:r>
                    </a:p>
                  </a:txBody>
                  <a:tcPr>
                    <a:solidFill>
                      <a:srgbClr val="003387"/>
                    </a:solidFill>
                  </a:tcPr>
                </a:tc>
                <a:tc>
                  <a:txBody>
                    <a:bodyPr wrap="square"/>
                    <a:lstStyle/>
                    <a:p>
                      <a:pPr algn="ctr"/>
                      <a:r>
                        <a:rPr b="1" sz="900" i="0">
                          <a:solidFill>
                            <a:srgbClr val="F7941D"/>
                          </a:solidFill>
                        </a:rPr>
                        <a:t>🟡 ~65%</a:t>
                      </a:r>
                    </a:p>
                  </a:txBody>
                  <a:tcPr>
                    <a:solidFill>
                      <a:srgbClr val="003387"/>
                    </a:solidFill>
                  </a:tcPr>
                </a:tc>
                <a:tc>
                  <a:txBody>
                    <a:bodyPr wrap="square"/>
                    <a:lstStyle/>
                    <a:p>
                      <a:pPr algn="l"/>
                      <a:r>
                        <a:rPr b="0" sz="750" i="1">
                          <a:solidFill>
                            <a:srgbClr val="F7941D"/>
                          </a:solidFill>
                        </a:rPr>
                        <a:t>"Phase One needs to be broken into micro-phases. The entire phase is not complete." — Vik Vohra · Mar 16, 2026  |  Target: June 2026  |  Critical path: NSP (Nokia)</a:t>
                      </a:r>
                    </a:p>
                  </a:txBody>
                  <a:tcPr>
                    <a:solidFill>
                      <a:srgbClr val="003387"/>
                    </a:solidFill>
                  </a:tcPr>
                </a:tc>
                <a:tc>
                  <a:txBody>
                    <a:bodyPr wrap="square"/>
                    <a:lstStyle/>
                    <a:p>
                      <a:pPr algn="ctr"/>
                      <a:r>
                        <a:rPr b="1" sz="800" i="0">
                          <a:solidFill>
                            <a:srgbClr val="F7941D"/>
                          </a:solidFill>
                        </a:rPr>
                        <a:t>PM: Jaya · SPI: 0.76</a:t>
                      </a:r>
                    </a:p>
                  </a:txBody>
                  <a:tcPr>
                    <a:solidFill>
                      <a:srgbClr val="003387"/>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2 Status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rgbClr val="F7941D"/>
                </a:solidFill>
              </a:rPr>
              <a:t>3</a:t>
            </a:r>
            <a:r>
              <a:rPr lang="en-US" sz="1200" dirty="0">
                <a:solidFill>
                  <a:srgbClr val="F7941D"/>
                </a:solidFill>
              </a:rPr>
              <a:t>4</a:t>
            </a:r>
            <a:r>
              <a:rPr sz="1200" b="0" i="0" dirty="0">
                <a:solidFill>
                  <a:srgbClr val="F7941D"/>
                </a:solidFill>
              </a:rPr>
              <a:t> Sites | Engineering Design Underway | Burns &amp; McDonnell SOW: $1.37M</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060704"/>
            <a:ext cx="1737360" cy="256032"/>
          </a:xfrm>
          <a:prstGeom prst="rect">
            <a:avLst/>
          </a:prstGeom>
          <a:noFill/>
        </p:spPr>
        <p:txBody>
          <a:bodyPr wrap="square">
            <a:spAutoFit/>
          </a:bodyPr>
          <a:lstStyle/>
          <a:p>
            <a:pPr algn="ctr"/>
            <a:r>
              <a:rPr sz="900" b="1" i="0">
                <a:solidFill>
                  <a:srgbClr val="FFFFFF"/>
                </a:solidFill>
              </a:rPr>
              <a:t>Site Surveys</a:t>
            </a:r>
          </a:p>
        </p:txBody>
      </p:sp>
      <p:sp>
        <p:nvSpPr>
          <p:cNvPr id="10" name="TextBox 9"/>
          <p:cNvSpPr txBox="1"/>
          <p:nvPr/>
        </p:nvSpPr>
        <p:spPr>
          <a:xfrm>
            <a:off x="320040"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1" name="Rectangle 10"/>
          <p:cNvSpPr/>
          <p:nvPr/>
        </p:nvSpPr>
        <p:spPr>
          <a:xfrm>
            <a:off x="2240279"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5999" y="1060704"/>
            <a:ext cx="1737360" cy="256032"/>
          </a:xfrm>
          <a:prstGeom prst="rect">
            <a:avLst/>
          </a:prstGeom>
          <a:noFill/>
        </p:spPr>
        <p:txBody>
          <a:bodyPr wrap="square">
            <a:spAutoFit/>
          </a:bodyPr>
          <a:lstStyle/>
          <a:p>
            <a:pPr algn="ctr"/>
            <a:r>
              <a:rPr sz="900" b="1" i="0">
                <a:solidFill>
                  <a:srgbClr val="FFFFFF"/>
                </a:solidFill>
              </a:rPr>
              <a:t>Nokia Equip. Delivery</a:t>
            </a:r>
          </a:p>
        </p:txBody>
      </p:sp>
      <p:sp>
        <p:nvSpPr>
          <p:cNvPr id="13" name="TextBox 12"/>
          <p:cNvSpPr txBox="1"/>
          <p:nvPr/>
        </p:nvSpPr>
        <p:spPr>
          <a:xfrm>
            <a:off x="2285999"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4" name="Rectangle 13"/>
          <p:cNvSpPr/>
          <p:nvPr/>
        </p:nvSpPr>
        <p:spPr>
          <a:xfrm>
            <a:off x="4206240"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59" y="1060704"/>
            <a:ext cx="1737360" cy="256032"/>
          </a:xfrm>
          <a:prstGeom prst="rect">
            <a:avLst/>
          </a:prstGeom>
          <a:noFill/>
        </p:spPr>
        <p:txBody>
          <a:bodyPr wrap="square">
            <a:spAutoFit/>
          </a:bodyPr>
          <a:lstStyle/>
          <a:p>
            <a:pPr algn="ctr"/>
            <a:r>
              <a:rPr sz="900" b="1" i="0">
                <a:solidFill>
                  <a:srgbClr val="FFFFFF"/>
                </a:solidFill>
              </a:rPr>
              <a:t>IFR Design (B&amp;McD)</a:t>
            </a:r>
          </a:p>
        </p:txBody>
      </p:sp>
      <p:sp>
        <p:nvSpPr>
          <p:cNvPr id="16" name="TextBox 15"/>
          <p:cNvSpPr txBox="1"/>
          <p:nvPr/>
        </p:nvSpPr>
        <p:spPr>
          <a:xfrm>
            <a:off x="425195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17" name="Rectangle 16"/>
          <p:cNvSpPr/>
          <p:nvPr/>
        </p:nvSpPr>
        <p:spPr>
          <a:xfrm>
            <a:off x="6172199"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19" y="1060704"/>
            <a:ext cx="1737360" cy="256032"/>
          </a:xfrm>
          <a:prstGeom prst="rect">
            <a:avLst/>
          </a:prstGeom>
          <a:noFill/>
        </p:spPr>
        <p:txBody>
          <a:bodyPr wrap="square">
            <a:spAutoFit/>
          </a:bodyPr>
          <a:lstStyle/>
          <a:p>
            <a:pPr algn="ctr"/>
            <a:r>
              <a:rPr sz="900" b="1" i="0">
                <a:solidFill>
                  <a:srgbClr val="FFFFFF"/>
                </a:solidFill>
              </a:rPr>
              <a:t>IFC Design</a:t>
            </a:r>
          </a:p>
        </p:txBody>
      </p:sp>
      <p:sp>
        <p:nvSpPr>
          <p:cNvPr id="19" name="TextBox 18"/>
          <p:cNvSpPr txBox="1"/>
          <p:nvPr/>
        </p:nvSpPr>
        <p:spPr>
          <a:xfrm>
            <a:off x="621791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20" name="Rectangle 19"/>
          <p:cNvSpPr/>
          <p:nvPr/>
        </p:nvSpPr>
        <p:spPr>
          <a:xfrm>
            <a:off x="813816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83880" y="1060704"/>
            <a:ext cx="1737360" cy="256032"/>
          </a:xfrm>
          <a:prstGeom prst="rect">
            <a:avLst/>
          </a:prstGeom>
          <a:noFill/>
        </p:spPr>
        <p:txBody>
          <a:bodyPr wrap="square">
            <a:spAutoFit/>
          </a:bodyPr>
          <a:lstStyle/>
          <a:p>
            <a:pPr algn="ctr"/>
            <a:r>
              <a:rPr sz="900" b="1" i="0">
                <a:solidFill>
                  <a:srgbClr val="FFFFFF"/>
                </a:solidFill>
              </a:rPr>
              <a:t>Construction</a:t>
            </a:r>
          </a:p>
        </p:txBody>
      </p:sp>
      <p:sp>
        <p:nvSpPr>
          <p:cNvPr id="22" name="TextBox 21"/>
          <p:cNvSpPr txBox="1"/>
          <p:nvPr/>
        </p:nvSpPr>
        <p:spPr>
          <a:xfrm>
            <a:off x="818388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3" name="Rectangle 22"/>
          <p:cNvSpPr/>
          <p:nvPr/>
        </p:nvSpPr>
        <p:spPr>
          <a:xfrm>
            <a:off x="1010412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149840" y="1060704"/>
            <a:ext cx="1737360" cy="256032"/>
          </a:xfrm>
          <a:prstGeom prst="rect">
            <a:avLst/>
          </a:prstGeom>
          <a:noFill/>
        </p:spPr>
        <p:txBody>
          <a:bodyPr wrap="square">
            <a:spAutoFit/>
          </a:bodyPr>
          <a:lstStyle/>
          <a:p>
            <a:pPr algn="ctr"/>
            <a:r>
              <a:rPr sz="900" b="1" i="0">
                <a:solidFill>
                  <a:srgbClr val="FFFFFF"/>
                </a:solidFill>
              </a:rPr>
              <a:t>Cutover</a:t>
            </a:r>
          </a:p>
        </p:txBody>
      </p:sp>
      <p:sp>
        <p:nvSpPr>
          <p:cNvPr id="25" name="TextBox 24"/>
          <p:cNvSpPr txBox="1"/>
          <p:nvPr/>
        </p:nvSpPr>
        <p:spPr>
          <a:xfrm>
            <a:off x="1014984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6" name="Rectangle 25"/>
          <p:cNvSpPr/>
          <p:nvPr/>
        </p:nvSpPr>
        <p:spPr>
          <a:xfrm>
            <a:off x="274320" y="1691640"/>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1709928"/>
            <a:ext cx="3657600" cy="292608"/>
          </a:xfrm>
          <a:prstGeom prst="rect">
            <a:avLst/>
          </a:prstGeom>
          <a:noFill/>
        </p:spPr>
        <p:txBody>
          <a:bodyPr wrap="square">
            <a:spAutoFit/>
          </a:bodyPr>
          <a:lstStyle/>
          <a:p>
            <a:pPr algn="l"/>
            <a:r>
              <a:rPr sz="1100" b="1" i="0">
                <a:solidFill>
                  <a:srgbClr val="FFFFFF"/>
                </a:solidFill>
              </a:rPr>
              <a:t>Milestone</a:t>
            </a:r>
          </a:p>
        </p:txBody>
      </p:sp>
      <p:sp>
        <p:nvSpPr>
          <p:cNvPr id="28" name="TextBox 27"/>
          <p:cNvSpPr txBox="1"/>
          <p:nvPr/>
        </p:nvSpPr>
        <p:spPr>
          <a:xfrm>
            <a:off x="3977639" y="1709928"/>
            <a:ext cx="2011680" cy="292608"/>
          </a:xfrm>
          <a:prstGeom prst="rect">
            <a:avLst/>
          </a:prstGeom>
          <a:noFill/>
        </p:spPr>
        <p:txBody>
          <a:bodyPr wrap="square">
            <a:spAutoFit/>
          </a:bodyPr>
          <a:lstStyle/>
          <a:p>
            <a:pPr algn="l"/>
            <a:r>
              <a:rPr sz="1100" b="1" i="0">
                <a:solidFill>
                  <a:srgbClr val="FFFFFF"/>
                </a:solidFill>
              </a:rPr>
              <a:t>Contract Date</a:t>
            </a:r>
          </a:p>
        </p:txBody>
      </p:sp>
      <p:sp>
        <p:nvSpPr>
          <p:cNvPr id="29" name="TextBox 28"/>
          <p:cNvSpPr txBox="1"/>
          <p:nvPr/>
        </p:nvSpPr>
        <p:spPr>
          <a:xfrm>
            <a:off x="5989320" y="1709928"/>
            <a:ext cx="1828800" cy="292608"/>
          </a:xfrm>
          <a:prstGeom prst="rect">
            <a:avLst/>
          </a:prstGeom>
          <a:noFill/>
        </p:spPr>
        <p:txBody>
          <a:bodyPr wrap="square">
            <a:spAutoFit/>
          </a:bodyPr>
          <a:lstStyle/>
          <a:p>
            <a:pPr algn="l"/>
            <a:r>
              <a:rPr sz="1100" b="1" i="0">
                <a:solidFill>
                  <a:srgbClr val="FFFFFF"/>
                </a:solidFill>
              </a:rPr>
              <a:t>Status</a:t>
            </a:r>
          </a:p>
        </p:txBody>
      </p:sp>
      <p:sp>
        <p:nvSpPr>
          <p:cNvPr id="30" name="TextBox 29"/>
          <p:cNvSpPr txBox="1"/>
          <p:nvPr/>
        </p:nvSpPr>
        <p:spPr>
          <a:xfrm>
            <a:off x="7818120" y="1709928"/>
            <a:ext cx="4114800" cy="292608"/>
          </a:xfrm>
          <a:prstGeom prst="rect">
            <a:avLst/>
          </a:prstGeom>
          <a:noFill/>
        </p:spPr>
        <p:txBody>
          <a:bodyPr wrap="square">
            <a:spAutoFit/>
          </a:bodyPr>
          <a:lstStyle/>
          <a:p>
            <a:pPr algn="l"/>
            <a:r>
              <a:rPr sz="1100" b="1" i="0">
                <a:solidFill>
                  <a:srgbClr val="FFFFFF"/>
                </a:solidFill>
              </a:rPr>
              <a:t>Notes</a:t>
            </a:r>
          </a:p>
        </p:txBody>
      </p:sp>
      <p:sp>
        <p:nvSpPr>
          <p:cNvPr id="31" name="Rectangle 30"/>
          <p:cNvSpPr/>
          <p:nvPr/>
        </p:nvSpPr>
        <p:spPr>
          <a:xfrm>
            <a:off x="274320" y="2103120"/>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4320" y="2761487"/>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74320" y="3419856"/>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4320" y="2907792"/>
            <a:ext cx="3566160" cy="530352"/>
          </a:xfrm>
          <a:prstGeom prst="rect">
            <a:avLst/>
          </a:prstGeom>
          <a:noFill/>
        </p:spPr>
        <p:txBody>
          <a:bodyPr wrap="square">
            <a:spAutoFit/>
          </a:bodyPr>
          <a:lstStyle/>
          <a:p>
            <a:pPr algn="l"/>
            <a:r>
              <a:rPr sz="1000" b="0" i="0" dirty="0">
                <a:solidFill>
                  <a:srgbClr val="404040"/>
                </a:solidFill>
              </a:rPr>
              <a:t>Substation Site Surveys (Phase 2)</a:t>
            </a:r>
          </a:p>
        </p:txBody>
      </p:sp>
      <p:sp>
        <p:nvSpPr>
          <p:cNvPr id="43" name="TextBox 42"/>
          <p:cNvSpPr txBox="1"/>
          <p:nvPr/>
        </p:nvSpPr>
        <p:spPr>
          <a:xfrm>
            <a:off x="3931919" y="2907792"/>
            <a:ext cx="1920240" cy="530352"/>
          </a:xfrm>
          <a:prstGeom prst="rect">
            <a:avLst/>
          </a:prstGeom>
          <a:noFill/>
        </p:spPr>
        <p:txBody>
          <a:bodyPr wrap="square">
            <a:spAutoFit/>
          </a:bodyPr>
          <a:lstStyle/>
          <a:p>
            <a:pPr algn="l"/>
            <a:r>
              <a:rPr sz="1000" b="0" i="0">
                <a:solidFill>
                  <a:srgbClr val="404040"/>
                </a:solidFill>
              </a:rPr>
              <a:t>2/27/2026</a:t>
            </a:r>
          </a:p>
        </p:txBody>
      </p:sp>
      <p:sp>
        <p:nvSpPr>
          <p:cNvPr id="44" name="TextBox 43"/>
          <p:cNvSpPr txBox="1"/>
          <p:nvPr/>
        </p:nvSpPr>
        <p:spPr>
          <a:xfrm>
            <a:off x="5943600" y="2907792"/>
            <a:ext cx="1737360" cy="530352"/>
          </a:xfrm>
          <a:prstGeom prst="rect">
            <a:avLst/>
          </a:prstGeom>
          <a:noFill/>
        </p:spPr>
        <p:txBody>
          <a:bodyPr wrap="square">
            <a:spAutoFit/>
          </a:bodyPr>
          <a:lstStyle/>
          <a:p>
            <a:pPr algn="l"/>
            <a:r>
              <a:rPr sz="1000" b="0" i="0" dirty="0">
                <a:solidFill>
                  <a:srgbClr val="008000"/>
                </a:solidFill>
              </a:rPr>
              <a:t>✅ Complete</a:t>
            </a:r>
          </a:p>
        </p:txBody>
      </p:sp>
      <p:sp>
        <p:nvSpPr>
          <p:cNvPr id="45" name="TextBox 44"/>
          <p:cNvSpPr txBox="1"/>
          <p:nvPr/>
        </p:nvSpPr>
        <p:spPr>
          <a:xfrm>
            <a:off x="7772400" y="2907792"/>
            <a:ext cx="4023360" cy="530352"/>
          </a:xfrm>
          <a:prstGeom prst="rect">
            <a:avLst/>
          </a:prstGeom>
          <a:noFill/>
        </p:spPr>
        <p:txBody>
          <a:bodyPr wrap="square">
            <a:spAutoFit/>
          </a:bodyPr>
          <a:lstStyle/>
          <a:p>
            <a:pPr algn="l"/>
            <a:r>
              <a:rPr sz="1000" b="0" i="0">
                <a:solidFill>
                  <a:srgbClr val="404040"/>
                </a:solidFill>
              </a:rPr>
              <a:t>Completed during Phase 1 — ahead of schedule</a:t>
            </a:r>
          </a:p>
        </p:txBody>
      </p:sp>
      <p:sp>
        <p:nvSpPr>
          <p:cNvPr id="46" name="Rectangle 45"/>
          <p:cNvSpPr/>
          <p:nvPr/>
        </p:nvSpPr>
        <p:spPr>
          <a:xfrm>
            <a:off x="274320" y="4078224"/>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4320" y="3566161"/>
            <a:ext cx="3566160" cy="530352"/>
          </a:xfrm>
          <a:prstGeom prst="rect">
            <a:avLst/>
          </a:prstGeom>
          <a:noFill/>
        </p:spPr>
        <p:txBody>
          <a:bodyPr wrap="square">
            <a:spAutoFit/>
          </a:bodyPr>
          <a:lstStyle/>
          <a:p>
            <a:pPr algn="l"/>
            <a:r>
              <a:rPr sz="1000" b="0" i="0" dirty="0">
                <a:solidFill>
                  <a:srgbClr val="404040"/>
                </a:solidFill>
              </a:rPr>
              <a:t>MPLS Network Node Design — IFR</a:t>
            </a:r>
          </a:p>
        </p:txBody>
      </p:sp>
      <p:sp>
        <p:nvSpPr>
          <p:cNvPr id="48" name="TextBox 47"/>
          <p:cNvSpPr txBox="1"/>
          <p:nvPr/>
        </p:nvSpPr>
        <p:spPr>
          <a:xfrm>
            <a:off x="3931919" y="3566161"/>
            <a:ext cx="1920240" cy="530352"/>
          </a:xfrm>
          <a:prstGeom prst="rect">
            <a:avLst/>
          </a:prstGeom>
          <a:noFill/>
        </p:spPr>
        <p:txBody>
          <a:bodyPr wrap="square">
            <a:spAutoFit/>
          </a:bodyPr>
          <a:lstStyle/>
          <a:p>
            <a:pPr algn="l"/>
            <a:r>
              <a:rPr sz="1000" b="0" i="0">
                <a:solidFill>
                  <a:srgbClr val="404040"/>
                </a:solidFill>
              </a:rPr>
              <a:t>Wave 1: 2/23/26</a:t>
            </a:r>
          </a:p>
        </p:txBody>
      </p:sp>
      <p:sp>
        <p:nvSpPr>
          <p:cNvPr id="49" name="TextBox 48"/>
          <p:cNvSpPr txBox="1"/>
          <p:nvPr/>
        </p:nvSpPr>
        <p:spPr>
          <a:xfrm>
            <a:off x="5943600" y="3566161"/>
            <a:ext cx="1737360" cy="530352"/>
          </a:xfrm>
          <a:prstGeom prst="rect">
            <a:avLst/>
          </a:prstGeom>
          <a:noFill/>
        </p:spPr>
        <p:txBody>
          <a:bodyPr wrap="square">
            <a:spAutoFit/>
          </a:bodyPr>
          <a:lstStyle/>
          <a:p>
            <a:pPr algn="l"/>
            <a:r>
              <a:rPr sz="1000" b="0" i="0" dirty="0">
                <a:solidFill>
                  <a:srgbClr val="FFC000"/>
                </a:solidFill>
              </a:rPr>
              <a:t>🟡 In Progress</a:t>
            </a:r>
          </a:p>
        </p:txBody>
      </p:sp>
      <p:sp>
        <p:nvSpPr>
          <p:cNvPr id="50" name="TextBox 49"/>
          <p:cNvSpPr txBox="1"/>
          <p:nvPr/>
        </p:nvSpPr>
        <p:spPr>
          <a:xfrm>
            <a:off x="7772400" y="3566161"/>
            <a:ext cx="4023360" cy="530352"/>
          </a:xfrm>
          <a:prstGeom prst="rect">
            <a:avLst/>
          </a:prstGeom>
          <a:noFill/>
        </p:spPr>
        <p:txBody>
          <a:bodyPr wrap="square">
            <a:spAutoFit/>
          </a:bodyPr>
          <a:lstStyle/>
          <a:p>
            <a:pPr algn="l"/>
            <a:r>
              <a:rPr sz="1000" b="0" i="0">
                <a:solidFill>
                  <a:srgbClr val="404040"/>
                </a:solidFill>
              </a:rPr>
              <a:t>Wave 1 (3 sites) ✅ Approved &amp; IFC uploaded. Wave 2 in progress.</a:t>
            </a:r>
          </a:p>
        </p:txBody>
      </p:sp>
      <p:sp>
        <p:nvSpPr>
          <p:cNvPr id="51" name="Rectangle 50"/>
          <p:cNvSpPr/>
          <p:nvPr/>
        </p:nvSpPr>
        <p:spPr>
          <a:xfrm>
            <a:off x="274320" y="4736592"/>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4320" y="4224529"/>
            <a:ext cx="3566160" cy="530352"/>
          </a:xfrm>
          <a:prstGeom prst="rect">
            <a:avLst/>
          </a:prstGeom>
          <a:noFill/>
        </p:spPr>
        <p:txBody>
          <a:bodyPr wrap="square">
            <a:spAutoFit/>
          </a:bodyPr>
          <a:lstStyle/>
          <a:p>
            <a:pPr algn="l"/>
            <a:r>
              <a:rPr sz="1000" b="0" i="0">
                <a:solidFill>
                  <a:srgbClr val="404040"/>
                </a:solidFill>
              </a:rPr>
              <a:t>MPLS Network Node Design — IFC</a:t>
            </a:r>
          </a:p>
        </p:txBody>
      </p:sp>
      <p:sp>
        <p:nvSpPr>
          <p:cNvPr id="53" name="TextBox 52"/>
          <p:cNvSpPr txBox="1"/>
          <p:nvPr/>
        </p:nvSpPr>
        <p:spPr>
          <a:xfrm>
            <a:off x="3931919" y="4224529"/>
            <a:ext cx="1920240" cy="530352"/>
          </a:xfrm>
          <a:prstGeom prst="rect">
            <a:avLst/>
          </a:prstGeom>
          <a:noFill/>
        </p:spPr>
        <p:txBody>
          <a:bodyPr wrap="square">
            <a:spAutoFit/>
          </a:bodyPr>
          <a:lstStyle/>
          <a:p>
            <a:pPr algn="l"/>
            <a:r>
              <a:rPr sz="1000" b="0" i="0">
                <a:solidFill>
                  <a:srgbClr val="404040"/>
                </a:solidFill>
              </a:rPr>
              <a:t>Wave 1: 3/23/26</a:t>
            </a:r>
          </a:p>
        </p:txBody>
      </p:sp>
      <p:sp>
        <p:nvSpPr>
          <p:cNvPr id="55" name="TextBox 54"/>
          <p:cNvSpPr txBox="1"/>
          <p:nvPr/>
        </p:nvSpPr>
        <p:spPr>
          <a:xfrm>
            <a:off x="7772400" y="4224529"/>
            <a:ext cx="4023360" cy="530352"/>
          </a:xfrm>
          <a:prstGeom prst="rect">
            <a:avLst/>
          </a:prstGeom>
          <a:noFill/>
        </p:spPr>
        <p:txBody>
          <a:bodyPr wrap="square">
            <a:spAutoFit/>
          </a:bodyPr>
          <a:lstStyle/>
          <a:p>
            <a:pPr algn="l"/>
            <a:r>
              <a:rPr sz="1000" b="0" i="0">
                <a:solidFill>
                  <a:srgbClr val="00B050"/>
                </a:solidFill>
              </a:rPr>
              <a:t>Wave 1 IFC COMPLETE ✅ — Far Rockaway, Valley Stream, Cedarhurst uploaded to shared drive</a:t>
            </a:r>
          </a:p>
        </p:txBody>
      </p:sp>
      <p:sp>
        <p:nvSpPr>
          <p:cNvPr id="56" name="Rectangle 55"/>
          <p:cNvSpPr/>
          <p:nvPr/>
        </p:nvSpPr>
        <p:spPr>
          <a:xfrm>
            <a:off x="274320" y="5394959"/>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4320" y="4882896"/>
            <a:ext cx="3566160" cy="530352"/>
          </a:xfrm>
          <a:prstGeom prst="rect">
            <a:avLst/>
          </a:prstGeom>
          <a:noFill/>
        </p:spPr>
        <p:txBody>
          <a:bodyPr wrap="square">
            <a:spAutoFit/>
          </a:bodyPr>
          <a:lstStyle/>
          <a:p>
            <a:pPr algn="l"/>
            <a:r>
              <a:rPr sz="1000" b="0" i="0">
                <a:solidFill>
                  <a:srgbClr val="404040"/>
                </a:solidFill>
              </a:rPr>
              <a:t>Construction &amp; Installation</a:t>
            </a:r>
          </a:p>
        </p:txBody>
      </p:sp>
      <p:sp>
        <p:nvSpPr>
          <p:cNvPr id="58" name="TextBox 57"/>
          <p:cNvSpPr txBox="1"/>
          <p:nvPr/>
        </p:nvSpPr>
        <p:spPr>
          <a:xfrm>
            <a:off x="3931919" y="4882896"/>
            <a:ext cx="1920240" cy="530352"/>
          </a:xfrm>
          <a:prstGeom prst="rect">
            <a:avLst/>
          </a:prstGeom>
          <a:noFill/>
        </p:spPr>
        <p:txBody>
          <a:bodyPr wrap="square">
            <a:spAutoFit/>
          </a:bodyPr>
          <a:lstStyle/>
          <a:p>
            <a:pPr algn="l"/>
            <a:r>
              <a:rPr sz="1000" b="0" i="0">
                <a:solidFill>
                  <a:srgbClr val="404040"/>
                </a:solidFill>
              </a:rPr>
              <a:t>Aug–Dec 2026</a:t>
            </a:r>
          </a:p>
        </p:txBody>
      </p:sp>
      <p:sp>
        <p:nvSpPr>
          <p:cNvPr id="59" name="TextBox 58"/>
          <p:cNvSpPr txBox="1"/>
          <p:nvPr/>
        </p:nvSpPr>
        <p:spPr>
          <a:xfrm>
            <a:off x="5943600" y="4882896"/>
            <a:ext cx="1737360" cy="530352"/>
          </a:xfrm>
          <a:prstGeom prst="rect">
            <a:avLst/>
          </a:prstGeom>
          <a:noFill/>
        </p:spPr>
        <p:txBody>
          <a:bodyPr wrap="square">
            <a:spAutoFit/>
          </a:bodyPr>
          <a:lstStyle/>
          <a:p>
            <a:pPr algn="l"/>
            <a:r>
              <a:rPr sz="1000" b="0" i="0">
                <a:solidFill>
                  <a:srgbClr val="404040"/>
                </a:solidFill>
              </a:rPr>
              <a:t>⏳ Not Started</a:t>
            </a:r>
          </a:p>
        </p:txBody>
      </p:sp>
      <p:sp>
        <p:nvSpPr>
          <p:cNvPr id="60" name="TextBox 59"/>
          <p:cNvSpPr txBox="1"/>
          <p:nvPr/>
        </p:nvSpPr>
        <p:spPr>
          <a:xfrm>
            <a:off x="7772400" y="4882896"/>
            <a:ext cx="4023360" cy="530352"/>
          </a:xfrm>
          <a:prstGeom prst="rect">
            <a:avLst/>
          </a:prstGeom>
          <a:noFill/>
        </p:spPr>
        <p:txBody>
          <a:bodyPr wrap="square">
            <a:spAutoFit/>
          </a:bodyPr>
          <a:lstStyle/>
          <a:p>
            <a:pPr algn="l"/>
            <a:r>
              <a:rPr sz="1000" b="0" i="0">
                <a:solidFill>
                  <a:srgbClr val="404040"/>
                </a:solidFill>
              </a:rPr>
              <a:t>Pending IFC completion</a:t>
            </a:r>
          </a:p>
        </p:txBody>
      </p:sp>
      <p:sp>
        <p:nvSpPr>
          <p:cNvPr id="61" name="TextBox 60">
            <a:extLst>
              <a:ext uri="{FF2B5EF4-FFF2-40B4-BE49-F238E27FC236}">
                <a16:creationId xmlns:a16="http://schemas.microsoft.com/office/drawing/2014/main" id="{2263C558-1343-251C-9BD8-E1E433828654}"/>
              </a:ext>
            </a:extLst>
          </p:cNvPr>
          <p:cNvSpPr txBox="1"/>
          <p:nvPr/>
        </p:nvSpPr>
        <p:spPr>
          <a:xfrm>
            <a:off x="320040" y="2258568"/>
            <a:ext cx="3566160" cy="400110"/>
          </a:xfrm>
          <a:prstGeom prst="rect">
            <a:avLst/>
          </a:prstGeom>
          <a:noFill/>
        </p:spPr>
        <p:txBody>
          <a:bodyPr wrap="square">
            <a:spAutoFit/>
          </a:bodyPr>
          <a:lstStyle/>
          <a:p>
            <a:r>
              <a:rPr lang="en-US" sz="1000" dirty="0">
                <a:solidFill>
                  <a:srgbClr val="404040"/>
                </a:solidFill>
              </a:rPr>
              <a:t>Nokia equipment for Phase 2 has been delivered – Work Completed - 2/19/2026</a:t>
            </a:r>
          </a:p>
        </p:txBody>
      </p:sp>
      <p:sp>
        <p:nvSpPr>
          <p:cNvPr id="63" name="TextBox 62">
            <a:extLst>
              <a:ext uri="{FF2B5EF4-FFF2-40B4-BE49-F238E27FC236}">
                <a16:creationId xmlns:a16="http://schemas.microsoft.com/office/drawing/2014/main" id="{BB8BC7D2-0DD4-D28C-B992-202E71C28A13}"/>
              </a:ext>
            </a:extLst>
          </p:cNvPr>
          <p:cNvSpPr txBox="1"/>
          <p:nvPr/>
        </p:nvSpPr>
        <p:spPr>
          <a:xfrm>
            <a:off x="3886200" y="2231801"/>
            <a:ext cx="931057" cy="246221"/>
          </a:xfrm>
          <a:prstGeom prst="rect">
            <a:avLst/>
          </a:prstGeom>
          <a:noFill/>
        </p:spPr>
        <p:txBody>
          <a:bodyPr wrap="square">
            <a:spAutoFit/>
          </a:bodyPr>
          <a:lstStyle/>
          <a:p>
            <a:r>
              <a:rPr lang="en-US" sz="1000" dirty="0">
                <a:solidFill>
                  <a:srgbClr val="404040"/>
                </a:solidFill>
              </a:rPr>
              <a:t> 2/19/2026</a:t>
            </a:r>
          </a:p>
        </p:txBody>
      </p:sp>
      <p:sp>
        <p:nvSpPr>
          <p:cNvPr id="65" name="TextBox 64">
            <a:extLst>
              <a:ext uri="{FF2B5EF4-FFF2-40B4-BE49-F238E27FC236}">
                <a16:creationId xmlns:a16="http://schemas.microsoft.com/office/drawing/2014/main" id="{9D76885D-1CCF-5D63-AB03-03E827C7C174}"/>
              </a:ext>
            </a:extLst>
          </p:cNvPr>
          <p:cNvSpPr txBox="1"/>
          <p:nvPr/>
        </p:nvSpPr>
        <p:spPr>
          <a:xfrm>
            <a:off x="5943600" y="2231135"/>
            <a:ext cx="1737360" cy="530352"/>
          </a:xfrm>
          <a:prstGeom prst="rect">
            <a:avLst/>
          </a:prstGeom>
          <a:noFill/>
        </p:spPr>
        <p:txBody>
          <a:bodyPr wrap="square">
            <a:spAutoFit/>
          </a:bodyPr>
          <a:lstStyle/>
          <a:p>
            <a:pPr algn="l"/>
            <a:r>
              <a:rPr sz="1000" b="0" i="0" dirty="0">
                <a:solidFill>
                  <a:srgbClr val="008000"/>
                </a:solidFill>
              </a:rPr>
              <a:t>✅ Complete</a:t>
            </a:r>
          </a:p>
        </p:txBody>
      </p:sp>
      <p:sp>
        <p:nvSpPr>
          <p:cNvPr id="66" name="TextBox 65">
            <a:extLst>
              <a:ext uri="{FF2B5EF4-FFF2-40B4-BE49-F238E27FC236}">
                <a16:creationId xmlns:a16="http://schemas.microsoft.com/office/drawing/2014/main" id="{DB240B93-4719-2197-34B9-A76497E1B436}"/>
              </a:ext>
            </a:extLst>
          </p:cNvPr>
          <p:cNvSpPr txBox="1"/>
          <p:nvPr/>
        </p:nvSpPr>
        <p:spPr>
          <a:xfrm>
            <a:off x="5943600" y="4251959"/>
            <a:ext cx="1737360" cy="530352"/>
          </a:xfrm>
          <a:prstGeom prst="rect">
            <a:avLst/>
          </a:prstGeom>
          <a:noFill/>
        </p:spPr>
        <p:txBody>
          <a:bodyPr wrap="square">
            <a:spAutoFit/>
          </a:bodyPr>
          <a:lstStyle/>
          <a:p>
            <a:pPr algn="l"/>
            <a:r>
              <a:rPr sz="1000" b="0" i="0" dirty="0">
                <a:solidFill>
                  <a:srgbClr val="FFC000"/>
                </a:solidFill>
              </a:rPr>
              <a:t>🟡 In Progress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Schedule Status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Overall: 🟡 Yellow | Recovery Plan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304800" y="982777"/>
            <a:ext cx="53035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1005840"/>
            <a:ext cx="612648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880360"/>
            <a:ext cx="4937760" cy="320040"/>
          </a:xfrm>
          <a:prstGeom prst="rect">
            <a:avLst/>
          </a:prstGeom>
          <a:noFill/>
        </p:spPr>
        <p:txBody>
          <a:bodyPr wrap="square">
            <a:spAutoFit/>
          </a:bodyPr>
          <a:lstStyle/>
          <a:p>
            <a:pPr algn="l"/>
            <a:r>
              <a:rPr sz="1200" b="1" i="0">
                <a:solidFill>
                  <a:srgbClr val="404040"/>
                </a:solidFill>
              </a:rPr>
              <a:t>Root Causes:</a:t>
            </a:r>
          </a:p>
        </p:txBody>
      </p:sp>
      <p:sp>
        <p:nvSpPr>
          <p:cNvPr id="15" name="TextBox 14"/>
          <p:cNvSpPr txBox="1"/>
          <p:nvPr/>
        </p:nvSpPr>
        <p:spPr>
          <a:xfrm>
            <a:off x="457200" y="3246120"/>
            <a:ext cx="4937760" cy="384048"/>
          </a:xfrm>
          <a:prstGeom prst="rect">
            <a:avLst/>
          </a:prstGeom>
          <a:noFill/>
        </p:spPr>
        <p:txBody>
          <a:bodyPr wrap="square">
            <a:spAutoFit/>
          </a:bodyPr>
          <a:lstStyle/>
          <a:p>
            <a:pPr algn="l"/>
            <a:r>
              <a:rPr sz="1000" b="0" i="0">
                <a:solidFill>
                  <a:srgbClr val="404040"/>
                </a:solidFill>
              </a:rPr>
              <a:t>• SSP documentation delays (security review queue)</a:t>
            </a:r>
          </a:p>
        </p:txBody>
      </p:sp>
      <p:sp>
        <p:nvSpPr>
          <p:cNvPr id="16" name="TextBox 15"/>
          <p:cNvSpPr txBox="1"/>
          <p:nvPr/>
        </p:nvSpPr>
        <p:spPr>
          <a:xfrm>
            <a:off x="457200" y="3657600"/>
            <a:ext cx="4937760" cy="384048"/>
          </a:xfrm>
          <a:prstGeom prst="rect">
            <a:avLst/>
          </a:prstGeom>
          <a:noFill/>
        </p:spPr>
        <p:txBody>
          <a:bodyPr wrap="square">
            <a:spAutoFit/>
          </a:bodyPr>
          <a:lstStyle/>
          <a:p>
            <a:pPr algn="l"/>
            <a:r>
              <a:rPr sz="1000" b="0" i="0">
                <a:solidFill>
                  <a:srgbClr val="404040"/>
                </a:solidFill>
              </a:rPr>
              <a:t>• CMDB update coordination time</a:t>
            </a:r>
          </a:p>
        </p:txBody>
      </p:sp>
      <p:sp>
        <p:nvSpPr>
          <p:cNvPr id="17" name="TextBox 16"/>
          <p:cNvSpPr txBox="1"/>
          <p:nvPr/>
        </p:nvSpPr>
        <p:spPr>
          <a:xfrm>
            <a:off x="457200" y="4069080"/>
            <a:ext cx="4937760" cy="384048"/>
          </a:xfrm>
          <a:prstGeom prst="rect">
            <a:avLst/>
          </a:prstGeom>
          <a:noFill/>
        </p:spPr>
        <p:txBody>
          <a:bodyPr wrap="square">
            <a:spAutoFit/>
          </a:bodyPr>
          <a:lstStyle/>
          <a:p>
            <a:pPr algn="l"/>
            <a:r>
              <a:rPr sz="1000" b="0" i="0">
                <a:solidFill>
                  <a:srgbClr val="404040"/>
                </a:solidFill>
              </a:rPr>
              <a:t>• Inclement weather affecting field work</a:t>
            </a:r>
          </a:p>
        </p:txBody>
      </p:sp>
      <p:sp>
        <p:nvSpPr>
          <p:cNvPr id="18" name="TextBox 17"/>
          <p:cNvSpPr txBox="1"/>
          <p:nvPr/>
        </p:nvSpPr>
        <p:spPr>
          <a:xfrm>
            <a:off x="457200" y="4480560"/>
            <a:ext cx="4937760" cy="384048"/>
          </a:xfrm>
          <a:prstGeom prst="rect">
            <a:avLst/>
          </a:prstGeom>
          <a:noFill/>
        </p:spPr>
        <p:txBody>
          <a:bodyPr wrap="square">
            <a:spAutoFit/>
          </a:bodyPr>
          <a:lstStyle/>
          <a:p>
            <a:pPr algn="l"/>
            <a:r>
              <a:rPr sz="1000" b="0" i="0">
                <a:solidFill>
                  <a:srgbClr val="404040"/>
                </a:solidFill>
              </a:rPr>
              <a:t>• Crown Castle fiber issue at Hicksville (OTDR testing pending)</a:t>
            </a:r>
          </a:p>
        </p:txBody>
      </p:sp>
      <p:sp>
        <p:nvSpPr>
          <p:cNvPr id="19" name="TextBox 18"/>
          <p:cNvSpPr txBox="1"/>
          <p:nvPr/>
        </p:nvSpPr>
        <p:spPr>
          <a:xfrm>
            <a:off x="457200" y="5074920"/>
            <a:ext cx="4937760" cy="320040"/>
          </a:xfrm>
          <a:prstGeom prst="rect">
            <a:avLst/>
          </a:prstGeom>
          <a:noFill/>
        </p:spPr>
        <p:txBody>
          <a:bodyPr wrap="square">
            <a:spAutoFit/>
          </a:bodyPr>
          <a:lstStyle/>
          <a:p>
            <a:pPr algn="l"/>
            <a:r>
              <a:rPr sz="1200" b="1" i="0" dirty="0">
                <a:solidFill>
                  <a:srgbClr val="003387"/>
                </a:solidFill>
              </a:rPr>
              <a:t>Recovery Actions:</a:t>
            </a:r>
          </a:p>
        </p:txBody>
      </p:sp>
      <p:sp>
        <p:nvSpPr>
          <p:cNvPr id="20" name="TextBox 19"/>
          <p:cNvSpPr txBox="1"/>
          <p:nvPr/>
        </p:nvSpPr>
        <p:spPr>
          <a:xfrm>
            <a:off x="274320" y="5324729"/>
            <a:ext cx="4937760" cy="707886"/>
          </a:xfrm>
          <a:prstGeom prst="rect">
            <a:avLst/>
          </a:prstGeom>
          <a:noFill/>
        </p:spPr>
        <p:txBody>
          <a:bodyPr wrap="square">
            <a:spAutoFit/>
          </a:bodyPr>
          <a:lstStyle/>
          <a:p>
            <a:pPr marL="171450" indent="-171450" algn="l">
              <a:buFont typeface="Arial" panose="020B0604020202020204" pitchFamily="34" charset="0"/>
              <a:buChar char="•"/>
            </a:pPr>
            <a:r>
              <a:rPr lang="en-US" sz="800" b="0" i="0" dirty="0">
                <a:solidFill>
                  <a:srgbClr val="404040"/>
                </a:solidFill>
              </a:rPr>
              <a:t>ILO config (Bill/Rahiq — #1 BLOCKER) → BGP config Hicksville &amp; Melville (Lee) → Remote access config 31 routers → App cutovers → RTU cutovers → Phase 1 close Jun 2026</a:t>
            </a:r>
          </a:p>
          <a:p>
            <a:pPr marL="171450" indent="-171450" algn="l">
              <a:buFont typeface="Arial" panose="020B0604020202020204" pitchFamily="34" charset="0"/>
              <a:buChar char="•"/>
            </a:pPr>
            <a:r>
              <a:rPr sz="800" b="0" i="0" dirty="0">
                <a:solidFill>
                  <a:srgbClr val="F7941D"/>
                </a:solidFill>
              </a:rPr>
              <a:t>SPI = 0.76 (Yellow). ILO config is #1 critical path blocker — Bill (B&amp;M) working with Rahiq to resolve console cable &amp; firmware. Northport DC power RESOLVED ✅. Phase 1 construction 100% done; deployment micro-phase ~5%. June 2026 revised target.</a:t>
            </a:r>
            <a:endParaRPr lang="en-US" sz="1000" b="0" i="0" dirty="0">
              <a:solidFill>
                <a:srgbClr val="404040"/>
              </a:solidFill>
            </a:endParaRPr>
          </a:p>
          <a:p>
            <a:pPr marL="171450" indent="-171450" algn="l">
              <a:buFont typeface="Arial" panose="020B0604020202020204" pitchFamily="34" charset="0"/>
              <a:buChar char="•"/>
            </a:pPr>
            <a:r>
              <a:rPr sz="1000" b="0" i="0" dirty="0">
                <a:solidFill>
                  <a:srgbClr val="404040"/>
                </a:solidFill>
              </a:rPr>
              <a:t>Phase 2 IFR/IFC design on track.</a:t>
            </a:r>
          </a:p>
        </p:txBody>
      </p:sp>
      <p:sp>
        <p:nvSpPr>
          <p:cNvPr id="21" name="Rectangle 20"/>
          <p:cNvSpPr/>
          <p:nvPr/>
        </p:nvSpPr>
        <p:spPr>
          <a:xfrm>
            <a:off x="5760720" y="1005840"/>
            <a:ext cx="6126480"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2160" y="1033271"/>
            <a:ext cx="5943600" cy="347472"/>
          </a:xfrm>
          <a:prstGeom prst="rect">
            <a:avLst/>
          </a:prstGeom>
          <a:noFill/>
        </p:spPr>
        <p:txBody>
          <a:bodyPr wrap="square">
            <a:spAutoFit/>
          </a:bodyPr>
          <a:lstStyle/>
          <a:p>
            <a:pPr algn="l"/>
            <a:r>
              <a:rPr sz="1100" b="1" i="0">
                <a:solidFill>
                  <a:srgbClr val="FFFFFF"/>
                </a:solidFill>
              </a:rPr>
              <a:t>PROGRAM TIMELINE</a:t>
            </a:r>
          </a:p>
        </p:txBody>
      </p:sp>
      <p:sp>
        <p:nvSpPr>
          <p:cNvPr id="24" name="TextBox 23"/>
          <p:cNvSpPr txBox="1"/>
          <p:nvPr/>
        </p:nvSpPr>
        <p:spPr>
          <a:xfrm>
            <a:off x="6080760" y="1490472"/>
            <a:ext cx="5669280" cy="347472"/>
          </a:xfrm>
          <a:prstGeom prst="rect">
            <a:avLst/>
          </a:prstGeom>
          <a:noFill/>
        </p:spPr>
        <p:txBody>
          <a:bodyPr wrap="square">
            <a:spAutoFit/>
          </a:bodyPr>
          <a:lstStyle/>
          <a:p>
            <a:pPr algn="l"/>
            <a:r>
              <a:rPr sz="1000" b="0" i="0">
                <a:solidFill>
                  <a:srgbClr val="404040"/>
                </a:solidFill>
              </a:rPr>
              <a:t>Apr 2024  —  Project Start</a:t>
            </a:r>
          </a:p>
        </p:txBody>
      </p:sp>
      <p:sp>
        <p:nvSpPr>
          <p:cNvPr id="26" name="TextBox 25"/>
          <p:cNvSpPr txBox="1"/>
          <p:nvPr/>
        </p:nvSpPr>
        <p:spPr>
          <a:xfrm>
            <a:off x="6080760" y="1947672"/>
            <a:ext cx="5669280" cy="347472"/>
          </a:xfrm>
          <a:prstGeom prst="rect">
            <a:avLst/>
          </a:prstGeom>
          <a:noFill/>
        </p:spPr>
        <p:txBody>
          <a:bodyPr wrap="square">
            <a:spAutoFit/>
          </a:bodyPr>
          <a:lstStyle/>
          <a:p>
            <a:pPr algn="l"/>
            <a:r>
              <a:rPr sz="1000" b="0" i="0">
                <a:solidFill>
                  <a:srgbClr val="404040"/>
                </a:solidFill>
              </a:rPr>
              <a:t>Oct 2024  —  RFP Award &amp; SOW Executed</a:t>
            </a:r>
          </a:p>
        </p:txBody>
      </p:sp>
      <p:sp>
        <p:nvSpPr>
          <p:cNvPr id="28" name="TextBox 27"/>
          <p:cNvSpPr txBox="1"/>
          <p:nvPr/>
        </p:nvSpPr>
        <p:spPr>
          <a:xfrm>
            <a:off x="6080760" y="2404872"/>
            <a:ext cx="5669280" cy="347472"/>
          </a:xfrm>
          <a:prstGeom prst="rect">
            <a:avLst/>
          </a:prstGeom>
          <a:noFill/>
        </p:spPr>
        <p:txBody>
          <a:bodyPr wrap="square">
            <a:spAutoFit/>
          </a:bodyPr>
          <a:lstStyle/>
          <a:p>
            <a:pPr algn="l"/>
            <a:r>
              <a:rPr sz="1000" b="0" i="0">
                <a:solidFill>
                  <a:srgbClr val="404040"/>
                </a:solidFill>
              </a:rPr>
              <a:t>Jan 2025  —  Phase 1 Detailed Design Start</a:t>
            </a:r>
          </a:p>
        </p:txBody>
      </p:sp>
      <p:sp>
        <p:nvSpPr>
          <p:cNvPr id="30" name="TextBox 29"/>
          <p:cNvSpPr txBox="1"/>
          <p:nvPr/>
        </p:nvSpPr>
        <p:spPr>
          <a:xfrm>
            <a:off x="6080760" y="2862072"/>
            <a:ext cx="5669280" cy="347472"/>
          </a:xfrm>
          <a:prstGeom prst="rect">
            <a:avLst/>
          </a:prstGeom>
          <a:noFill/>
        </p:spPr>
        <p:txBody>
          <a:bodyPr wrap="square">
            <a:spAutoFit/>
          </a:bodyPr>
          <a:lstStyle/>
          <a:p>
            <a:pPr algn="l"/>
            <a:r>
              <a:rPr sz="1000" b="0" i="0">
                <a:solidFill>
                  <a:srgbClr val="404040"/>
                </a:solidFill>
              </a:rPr>
              <a:t>Sep 2025  —  Staging Complete (Hawkeye)</a:t>
            </a:r>
          </a:p>
        </p:txBody>
      </p:sp>
      <p:sp>
        <p:nvSpPr>
          <p:cNvPr id="32" name="TextBox 31"/>
          <p:cNvSpPr txBox="1"/>
          <p:nvPr/>
        </p:nvSpPr>
        <p:spPr>
          <a:xfrm>
            <a:off x="6080760" y="3319272"/>
            <a:ext cx="5669280" cy="347472"/>
          </a:xfrm>
          <a:prstGeom prst="rect">
            <a:avLst/>
          </a:prstGeom>
          <a:noFill/>
        </p:spPr>
        <p:txBody>
          <a:bodyPr wrap="square">
            <a:spAutoFit/>
          </a:bodyPr>
          <a:lstStyle/>
          <a:p>
            <a:pPr algn="l"/>
            <a:r>
              <a:rPr sz="1000" b="0" i="0">
                <a:solidFill>
                  <a:srgbClr val="404040"/>
                </a:solidFill>
              </a:rPr>
              <a:t>Oct 2025  —  Phase 1 Construction Start</a:t>
            </a:r>
          </a:p>
        </p:txBody>
      </p:sp>
      <p:sp>
        <p:nvSpPr>
          <p:cNvPr id="34" name="TextBox 33"/>
          <p:cNvSpPr txBox="1"/>
          <p:nvPr/>
        </p:nvSpPr>
        <p:spPr>
          <a:xfrm>
            <a:off x="6080760" y="3776472"/>
            <a:ext cx="5669280" cy="347472"/>
          </a:xfrm>
          <a:prstGeom prst="rect">
            <a:avLst/>
          </a:prstGeom>
          <a:noFill/>
        </p:spPr>
        <p:txBody>
          <a:bodyPr wrap="square">
            <a:spAutoFit/>
          </a:bodyPr>
          <a:lstStyle/>
          <a:p>
            <a:pPr algn="l"/>
            <a:r>
              <a:rPr sz="1000" b="0" i="0" dirty="0">
                <a:solidFill>
                  <a:srgbClr val="404040"/>
                </a:solidFill>
              </a:rPr>
              <a:t>Dec 2025 – Jan 2026  —  Wave 1 &amp; 2 Cutovers Complete</a:t>
            </a:r>
          </a:p>
        </p:txBody>
      </p:sp>
      <p:sp>
        <p:nvSpPr>
          <p:cNvPr id="36" name="TextBox 35"/>
          <p:cNvSpPr txBox="1"/>
          <p:nvPr/>
        </p:nvSpPr>
        <p:spPr>
          <a:xfrm>
            <a:off x="6080760" y="4233672"/>
            <a:ext cx="5669280" cy="347472"/>
          </a:xfrm>
          <a:prstGeom prst="rect">
            <a:avLst/>
          </a:prstGeom>
          <a:noFill/>
        </p:spPr>
        <p:txBody>
          <a:bodyPr wrap="square">
            <a:spAutoFit/>
          </a:bodyPr>
          <a:lstStyle/>
          <a:p>
            <a:pPr algn="l"/>
            <a:r>
              <a:rPr sz="1000" b="0" i="0" dirty="0">
                <a:solidFill>
                  <a:srgbClr val="404040"/>
                </a:solidFill>
              </a:rPr>
              <a:t>Feb 2026  —  Nokia Phase 2 Equipment Delivered</a:t>
            </a:r>
          </a:p>
        </p:txBody>
      </p:sp>
      <p:sp>
        <p:nvSpPr>
          <p:cNvPr id="37" name="Rectangle 36"/>
          <p:cNvSpPr/>
          <p:nvPr/>
        </p:nvSpPr>
        <p:spPr>
          <a:xfrm>
            <a:off x="5806440" y="4709160"/>
            <a:ext cx="182880" cy="25603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080760" y="4690872"/>
            <a:ext cx="5669280" cy="347472"/>
          </a:xfrm>
          <a:prstGeom prst="rect">
            <a:avLst/>
          </a:prstGeom>
          <a:noFill/>
        </p:spPr>
        <p:txBody>
          <a:bodyPr wrap="square">
            <a:spAutoFit/>
          </a:bodyPr>
          <a:lstStyle/>
          <a:p>
            <a:pPr algn="l"/>
            <a:r>
              <a:rPr sz="1000" b="1" i="0" dirty="0">
                <a:solidFill>
                  <a:srgbClr val="F7941D"/>
                </a:solidFill>
              </a:rPr>
              <a:t>Mar 2026  —  Phase 2 IFR Design in Progress  ◀ NOW</a:t>
            </a:r>
          </a:p>
        </p:txBody>
      </p:sp>
      <p:sp>
        <p:nvSpPr>
          <p:cNvPr id="39" name="Rectangle 38"/>
          <p:cNvSpPr/>
          <p:nvPr/>
        </p:nvSpPr>
        <p:spPr>
          <a:xfrm>
            <a:off x="5806440" y="51663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080760" y="5148072"/>
            <a:ext cx="5669280" cy="347472"/>
          </a:xfrm>
          <a:prstGeom prst="rect">
            <a:avLst/>
          </a:prstGeom>
          <a:noFill/>
        </p:spPr>
        <p:txBody>
          <a:bodyPr wrap="square">
            <a:spAutoFit/>
          </a:bodyPr>
          <a:lstStyle/>
          <a:p>
            <a:pPr algn="l"/>
            <a:r>
              <a:rPr sz="1000" b="1" i="0">
                <a:solidFill>
                  <a:srgbClr val="404040"/>
                </a:solidFill>
              </a:rPr>
              <a:t>Mar–Jul 2026  —  Phase 2 IFC Design &amp; Review</a:t>
            </a:r>
          </a:p>
        </p:txBody>
      </p:sp>
      <p:sp>
        <p:nvSpPr>
          <p:cNvPr id="41" name="Rectangle 40"/>
          <p:cNvSpPr/>
          <p:nvPr/>
        </p:nvSpPr>
        <p:spPr>
          <a:xfrm>
            <a:off x="5806440" y="56235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80760" y="5605272"/>
            <a:ext cx="5669280" cy="347472"/>
          </a:xfrm>
          <a:prstGeom prst="rect">
            <a:avLst/>
          </a:prstGeom>
          <a:noFill/>
        </p:spPr>
        <p:txBody>
          <a:bodyPr wrap="square">
            <a:spAutoFit/>
          </a:bodyPr>
          <a:lstStyle/>
          <a:p>
            <a:pPr algn="l"/>
            <a:r>
              <a:rPr sz="1000" b="1" i="0">
                <a:solidFill>
                  <a:srgbClr val="404040"/>
                </a:solidFill>
              </a:rPr>
              <a:t>Aug–Dec 2026  —  Phase 2 Construction</a:t>
            </a:r>
          </a:p>
        </p:txBody>
      </p:sp>
      <p:sp>
        <p:nvSpPr>
          <p:cNvPr id="43" name="Rectangle 42"/>
          <p:cNvSpPr/>
          <p:nvPr/>
        </p:nvSpPr>
        <p:spPr>
          <a:xfrm>
            <a:off x="5806440" y="60807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080760" y="6062472"/>
            <a:ext cx="5669280" cy="347472"/>
          </a:xfrm>
          <a:prstGeom prst="rect">
            <a:avLst/>
          </a:prstGeom>
          <a:noFill/>
        </p:spPr>
        <p:txBody>
          <a:bodyPr wrap="square">
            <a:spAutoFit/>
          </a:bodyPr>
          <a:lstStyle/>
          <a:p>
            <a:pPr algn="l"/>
            <a:r>
              <a:rPr sz="1000" b="1" i="0">
                <a:solidFill>
                  <a:srgbClr val="404040"/>
                </a:solidFill>
              </a:rPr>
              <a:t>Jul 2027  —  Program Completion (Target)</a:t>
            </a:r>
          </a:p>
        </p:txBody>
      </p:sp>
      <p:sp>
        <p:nvSpPr>
          <p:cNvPr id="45" name="Rectangle 44"/>
          <p:cNvSpPr/>
          <p:nvPr/>
        </p:nvSpPr>
        <p:spPr>
          <a:xfrm>
            <a:off x="274320" y="1143000"/>
            <a:ext cx="5212080" cy="396745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92608" y="1154857"/>
            <a:ext cx="5212080" cy="36576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4800" y="1184523"/>
            <a:ext cx="5029200" cy="310896"/>
          </a:xfrm>
          <a:prstGeom prst="rect">
            <a:avLst/>
          </a:prstGeom>
          <a:noFill/>
        </p:spPr>
        <p:txBody>
          <a:bodyPr wrap="square">
            <a:spAutoFit/>
          </a:bodyPr>
          <a:lstStyle/>
          <a:p>
            <a:pPr algn="l"/>
            <a:r>
              <a:rPr sz="1100" b="1" i="0">
                <a:solidFill>
                  <a:srgbClr val="FFFFFF"/>
                </a:solidFill>
              </a:rPr>
              <a:t>SCHEDULE PERFORMANCE INDEX (SPI)</a:t>
            </a:r>
          </a:p>
        </p:txBody>
      </p:sp>
      <p:sp>
        <p:nvSpPr>
          <p:cNvPr id="48" name="Oval 47"/>
          <p:cNvSpPr/>
          <p:nvPr/>
        </p:nvSpPr>
        <p:spPr>
          <a:xfrm>
            <a:off x="2385935" y="24630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2369330" y="24304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2352725" y="239786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2336120" y="2365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2319515" y="23326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2302910" y="230009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286304" y="226750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33847" y="249140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315476" y="24597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297105" y="24281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2278734" y="23965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2260364" y="23648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2241993" y="2333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2223622" y="23016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2283396" y="25225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2263315" y="24920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2243234" y="24614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2223153" y="24308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2203072" y="24003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2182991" y="236974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2162910" y="23391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2234736" y="255651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2213005" y="252709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2191274" y="24976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169544" y="2468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2147813" y="243882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2126083" y="240940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2104352" y="23799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2188012" y="25930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2164698" y="2564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2141383" y="2536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2118069" y="250850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2094754" y="24803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2071440" y="24521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2048126" y="2423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143367" y="263209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2118539" y="260524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2093711" y="25783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2068883" y="25515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2044056" y="252466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2019228" y="24978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1994400" y="247094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2100935" y="26735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2074669" y="26480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2048403" y="262263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2022136" y="25971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1995870" y="25717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1969604" y="25462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943338" y="25208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2060844" y="27172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2033219" y="26932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2005594" y="26693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1977969" y="264534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950344" y="26213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1922719" y="259739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1895093" y="25734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2023217" y="27631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1994316" y="27406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965415" y="2718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1936514" y="26958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1907614" y="267343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1878713" y="26510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1849812" y="262860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1988165" y="281095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1958076" y="279015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1927987" y="276936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1897898" y="274856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1867809" y="27277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1837720" y="27069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1807632" y="2686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1955796" y="28606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1924609" y="284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1893423" y="282243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1862237" y="28033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1831051" y="27842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1799865" y="27651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1768679" y="274599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1926206" y="29120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1894017" y="289469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1861828" y="28773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1829639" y="2859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1797449" y="28425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1765260" y="282522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1733071" y="280785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1899486" y="296501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866391" y="29494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1833296" y="2933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1800201" y="29182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767107" y="290272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1734012" y="28871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1700917" y="28715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1875717" y="30193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1841816" y="300562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1807915" y="29918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1774015" y="297816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1740114" y="296443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1706213" y="29507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1672312" y="2936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1854969" y="30749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1820365" y="30630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1785761" y="30512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1751157" y="30393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716553" y="30275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1681949" y="3015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p:cNvSpPr/>
          <p:nvPr/>
        </p:nvSpPr>
        <p:spPr>
          <a:xfrm>
            <a:off x="1647345" y="30038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1837306" y="313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1802103" y="31216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val 154"/>
          <p:cNvSpPr/>
          <p:nvPr/>
        </p:nvSpPr>
        <p:spPr>
          <a:xfrm>
            <a:off x="1766900" y="31116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p:cNvSpPr/>
          <p:nvPr/>
        </p:nvSpPr>
        <p:spPr>
          <a:xfrm>
            <a:off x="1731698" y="31017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1696495" y="30918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p:cNvSpPr/>
          <p:nvPr/>
        </p:nvSpPr>
        <p:spPr>
          <a:xfrm>
            <a:off x="1661292" y="308190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1626089" y="30719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p:cNvSpPr/>
          <p:nvPr/>
        </p:nvSpPr>
        <p:spPr>
          <a:xfrm>
            <a:off x="1822781" y="31890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1787086" y="318107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1751391" y="31730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1715696" y="31651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1680001" y="3157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p:cNvSpPr/>
          <p:nvPr/>
        </p:nvSpPr>
        <p:spPr>
          <a:xfrm>
            <a:off x="1644305" y="314915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p:cNvSpPr/>
          <p:nvPr/>
        </p:nvSpPr>
        <p:spPr>
          <a:xfrm>
            <a:off x="1608610" y="3141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1811438" y="32472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val 167"/>
          <p:cNvSpPr/>
          <p:nvPr/>
        </p:nvSpPr>
        <p:spPr>
          <a:xfrm>
            <a:off x="1775359" y="324126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p:cNvSpPr/>
          <p:nvPr/>
        </p:nvSpPr>
        <p:spPr>
          <a:xfrm>
            <a:off x="1739279" y="32352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val 169"/>
          <p:cNvSpPr/>
          <p:nvPr/>
        </p:nvSpPr>
        <p:spPr>
          <a:xfrm>
            <a:off x="1703199" y="322925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p:cNvSpPr/>
          <p:nvPr/>
        </p:nvSpPr>
        <p:spPr>
          <a:xfrm>
            <a:off x="1667120" y="3223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val 171"/>
          <p:cNvSpPr/>
          <p:nvPr/>
        </p:nvSpPr>
        <p:spPr>
          <a:xfrm>
            <a:off x="1631040" y="32172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172"/>
          <p:cNvSpPr/>
          <p:nvPr/>
        </p:nvSpPr>
        <p:spPr>
          <a:xfrm>
            <a:off x="1594960" y="32112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p:cNvSpPr/>
          <p:nvPr/>
        </p:nvSpPr>
        <p:spPr>
          <a:xfrm>
            <a:off x="1803312" y="33060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174"/>
          <p:cNvSpPr/>
          <p:nvPr/>
        </p:nvSpPr>
        <p:spPr>
          <a:xfrm>
            <a:off x="1766956" y="330201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175"/>
          <p:cNvSpPr/>
          <p:nvPr/>
        </p:nvSpPr>
        <p:spPr>
          <a:xfrm>
            <a:off x="1730601" y="32979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176"/>
          <p:cNvSpPr/>
          <p:nvPr/>
        </p:nvSpPr>
        <p:spPr>
          <a:xfrm>
            <a:off x="1694246" y="32939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p:cNvSpPr/>
          <p:nvPr/>
        </p:nvSpPr>
        <p:spPr>
          <a:xfrm>
            <a:off x="1657891" y="3289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p:cNvSpPr/>
          <p:nvPr/>
        </p:nvSpPr>
        <p:spPr>
          <a:xfrm>
            <a:off x="1621536" y="32859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p:cNvSpPr/>
          <p:nvPr/>
        </p:nvSpPr>
        <p:spPr>
          <a:xfrm>
            <a:off x="1585181" y="32819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80"/>
          <p:cNvSpPr/>
          <p:nvPr/>
        </p:nvSpPr>
        <p:spPr>
          <a:xfrm>
            <a:off x="1798426" y="3365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1761905" y="33631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82"/>
          <p:cNvSpPr/>
          <p:nvPr/>
        </p:nvSpPr>
        <p:spPr>
          <a:xfrm>
            <a:off x="1725384" y="33611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1688864" y="335910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84"/>
          <p:cNvSpPr/>
          <p:nvPr/>
        </p:nvSpPr>
        <p:spPr>
          <a:xfrm>
            <a:off x="1652343" y="335709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val 185"/>
          <p:cNvSpPr/>
          <p:nvPr/>
        </p:nvSpPr>
        <p:spPr>
          <a:xfrm>
            <a:off x="1615822" y="33550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6"/>
          <p:cNvSpPr/>
          <p:nvPr/>
        </p:nvSpPr>
        <p:spPr>
          <a:xfrm>
            <a:off x="1579301" y="335307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val 187"/>
          <p:cNvSpPr/>
          <p:nvPr/>
        </p:nvSpPr>
        <p:spPr>
          <a:xfrm>
            <a:off x="179679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188"/>
          <p:cNvSpPr/>
          <p:nvPr/>
        </p:nvSpPr>
        <p:spPr>
          <a:xfrm>
            <a:off x="176022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189"/>
          <p:cNvSpPr/>
          <p:nvPr/>
        </p:nvSpPr>
        <p:spPr>
          <a:xfrm>
            <a:off x="1723644"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190"/>
          <p:cNvSpPr/>
          <p:nvPr/>
        </p:nvSpPr>
        <p:spPr>
          <a:xfrm>
            <a:off x="1687068"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191"/>
          <p:cNvSpPr/>
          <p:nvPr/>
        </p:nvSpPr>
        <p:spPr>
          <a:xfrm>
            <a:off x="1650492"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p:cNvSpPr/>
          <p:nvPr/>
        </p:nvSpPr>
        <p:spPr>
          <a:xfrm>
            <a:off x="161391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193"/>
          <p:cNvSpPr/>
          <p:nvPr/>
        </p:nvSpPr>
        <p:spPr>
          <a:xfrm>
            <a:off x="157734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2706996" y="235872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val 195"/>
          <p:cNvSpPr/>
          <p:nvPr/>
        </p:nvSpPr>
        <p:spPr>
          <a:xfrm>
            <a:off x="2701274" y="232259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196"/>
          <p:cNvSpPr/>
          <p:nvPr/>
        </p:nvSpPr>
        <p:spPr>
          <a:xfrm>
            <a:off x="2695552" y="228646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val 197"/>
          <p:cNvSpPr/>
          <p:nvPr/>
        </p:nvSpPr>
        <p:spPr>
          <a:xfrm>
            <a:off x="2689831" y="22503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198"/>
          <p:cNvSpPr/>
          <p:nvPr/>
        </p:nvSpPr>
        <p:spPr>
          <a:xfrm>
            <a:off x="2684109" y="221421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val 199"/>
          <p:cNvSpPr/>
          <p:nvPr/>
        </p:nvSpPr>
        <p:spPr>
          <a:xfrm>
            <a:off x="2678387" y="2178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val 200"/>
          <p:cNvSpPr/>
          <p:nvPr/>
        </p:nvSpPr>
        <p:spPr>
          <a:xfrm>
            <a:off x="2672665" y="214196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val 201"/>
          <p:cNvSpPr/>
          <p:nvPr/>
        </p:nvSpPr>
        <p:spPr>
          <a:xfrm>
            <a:off x="2640413" y="237142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val 202"/>
          <p:cNvSpPr/>
          <p:nvPr/>
        </p:nvSpPr>
        <p:spPr>
          <a:xfrm>
            <a:off x="2632434" y="233572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val 203"/>
          <p:cNvSpPr/>
          <p:nvPr/>
        </p:nvSpPr>
        <p:spPr>
          <a:xfrm>
            <a:off x="2624455" y="2300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val 204"/>
          <p:cNvSpPr/>
          <p:nvPr/>
        </p:nvSpPr>
        <p:spPr>
          <a:xfrm>
            <a:off x="2616476" y="22643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val 205"/>
          <p:cNvSpPr/>
          <p:nvPr/>
        </p:nvSpPr>
        <p:spPr>
          <a:xfrm>
            <a:off x="2608497" y="222864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val 206"/>
          <p:cNvSpPr/>
          <p:nvPr/>
        </p:nvSpPr>
        <p:spPr>
          <a:xfrm>
            <a:off x="2600519" y="219294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val 207"/>
          <p:cNvSpPr/>
          <p:nvPr/>
        </p:nvSpPr>
        <p:spPr>
          <a:xfrm>
            <a:off x="2592540" y="215725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val 208"/>
          <p:cNvSpPr/>
          <p:nvPr/>
        </p:nvSpPr>
        <p:spPr>
          <a:xfrm>
            <a:off x="2574758" y="23882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val 209"/>
          <p:cNvSpPr/>
          <p:nvPr/>
        </p:nvSpPr>
        <p:spPr>
          <a:xfrm>
            <a:off x="2564554" y="235315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val 210"/>
          <p:cNvSpPr/>
          <p:nvPr/>
        </p:nvSpPr>
        <p:spPr>
          <a:xfrm>
            <a:off x="2554350" y="2318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val 211"/>
          <p:cNvSpPr/>
          <p:nvPr/>
        </p:nvSpPr>
        <p:spPr>
          <a:xfrm>
            <a:off x="2544145" y="228290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val 212"/>
          <p:cNvSpPr/>
          <p:nvPr/>
        </p:nvSpPr>
        <p:spPr>
          <a:xfrm>
            <a:off x="2533941" y="224778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val 213"/>
          <p:cNvSpPr/>
          <p:nvPr/>
        </p:nvSpPr>
        <p:spPr>
          <a:xfrm>
            <a:off x="2523736" y="22126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val 214"/>
          <p:cNvSpPr/>
          <p:nvPr/>
        </p:nvSpPr>
        <p:spPr>
          <a:xfrm>
            <a:off x="2513532" y="21775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val 215"/>
          <p:cNvSpPr/>
          <p:nvPr/>
        </p:nvSpPr>
        <p:spPr>
          <a:xfrm>
            <a:off x="2510292" y="240922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val 216"/>
          <p:cNvSpPr/>
          <p:nvPr/>
        </p:nvSpPr>
        <p:spPr>
          <a:xfrm>
            <a:off x="2497902" y="237481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val 217"/>
          <p:cNvSpPr/>
          <p:nvPr/>
        </p:nvSpPr>
        <p:spPr>
          <a:xfrm>
            <a:off x="2485513" y="234039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val 218"/>
          <p:cNvSpPr/>
          <p:nvPr/>
        </p:nvSpPr>
        <p:spPr>
          <a:xfrm>
            <a:off x="2473123" y="230598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val 219"/>
          <p:cNvSpPr/>
          <p:nvPr/>
        </p:nvSpPr>
        <p:spPr>
          <a:xfrm>
            <a:off x="2460733" y="22715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val 220"/>
          <p:cNvSpPr/>
          <p:nvPr/>
        </p:nvSpPr>
        <p:spPr>
          <a:xfrm>
            <a:off x="2448344" y="223715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val 221"/>
          <p:cNvSpPr/>
          <p:nvPr/>
        </p:nvSpPr>
        <p:spPr>
          <a:xfrm>
            <a:off x="2435954" y="22027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val 222"/>
          <p:cNvSpPr/>
          <p:nvPr/>
        </p:nvSpPr>
        <p:spPr>
          <a:xfrm>
            <a:off x="2447268" y="24341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val 223"/>
          <p:cNvSpPr/>
          <p:nvPr/>
        </p:nvSpPr>
        <p:spPr>
          <a:xfrm>
            <a:off x="2432742" y="240061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val 224"/>
          <p:cNvSpPr/>
          <p:nvPr/>
        </p:nvSpPr>
        <p:spPr>
          <a:xfrm>
            <a:off x="2418216" y="236704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val 225"/>
          <p:cNvSpPr/>
          <p:nvPr/>
        </p:nvSpPr>
        <p:spPr>
          <a:xfrm>
            <a:off x="2403690" y="233347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val 226"/>
          <p:cNvSpPr/>
          <p:nvPr/>
        </p:nvSpPr>
        <p:spPr>
          <a:xfrm>
            <a:off x="2389164" y="229990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val 227"/>
          <p:cNvSpPr/>
          <p:nvPr/>
        </p:nvSpPr>
        <p:spPr>
          <a:xfrm>
            <a:off x="2374638" y="22663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val 228"/>
          <p:cNvSpPr/>
          <p:nvPr/>
        </p:nvSpPr>
        <p:spPr>
          <a:xfrm>
            <a:off x="2360112" y="223277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val 229"/>
          <p:cNvSpPr/>
          <p:nvPr/>
        </p:nvSpPr>
        <p:spPr>
          <a:xfrm>
            <a:off x="2385935" y="24630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val 230"/>
          <p:cNvSpPr/>
          <p:nvPr/>
        </p:nvSpPr>
        <p:spPr>
          <a:xfrm>
            <a:off x="2369330" y="243044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val 231"/>
          <p:cNvSpPr/>
          <p:nvPr/>
        </p:nvSpPr>
        <p:spPr>
          <a:xfrm>
            <a:off x="2352725" y="23978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val 232"/>
          <p:cNvSpPr/>
          <p:nvPr/>
        </p:nvSpPr>
        <p:spPr>
          <a:xfrm>
            <a:off x="2336120" y="23652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val 233"/>
          <p:cNvSpPr/>
          <p:nvPr/>
        </p:nvSpPr>
        <p:spPr>
          <a:xfrm>
            <a:off x="2319515" y="233268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val 234"/>
          <p:cNvSpPr/>
          <p:nvPr/>
        </p:nvSpPr>
        <p:spPr>
          <a:xfrm>
            <a:off x="2302910" y="2300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val 235"/>
          <p:cNvSpPr/>
          <p:nvPr/>
        </p:nvSpPr>
        <p:spPr>
          <a:xfrm>
            <a:off x="2286304" y="226750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val 236"/>
          <p:cNvSpPr/>
          <p:nvPr/>
        </p:nvSpPr>
        <p:spPr>
          <a:xfrm>
            <a:off x="3044579"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val 237"/>
          <p:cNvSpPr/>
          <p:nvPr/>
        </p:nvSpPr>
        <p:spPr>
          <a:xfrm>
            <a:off x="3050301"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val 238"/>
          <p:cNvSpPr/>
          <p:nvPr/>
        </p:nvSpPr>
        <p:spPr>
          <a:xfrm>
            <a:off x="3056023"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val 239"/>
          <p:cNvSpPr/>
          <p:nvPr/>
        </p:nvSpPr>
        <p:spPr>
          <a:xfrm>
            <a:off x="3061744"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val 240"/>
          <p:cNvSpPr/>
          <p:nvPr/>
        </p:nvSpPr>
        <p:spPr>
          <a:xfrm>
            <a:off x="3067466"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val 241"/>
          <p:cNvSpPr/>
          <p:nvPr/>
        </p:nvSpPr>
        <p:spPr>
          <a:xfrm>
            <a:off x="3073188"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val 242"/>
          <p:cNvSpPr/>
          <p:nvPr/>
        </p:nvSpPr>
        <p:spPr>
          <a:xfrm>
            <a:off x="3078910"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val 243"/>
          <p:cNvSpPr/>
          <p:nvPr/>
        </p:nvSpPr>
        <p:spPr>
          <a:xfrm>
            <a:off x="2988573"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val 244"/>
          <p:cNvSpPr/>
          <p:nvPr/>
        </p:nvSpPr>
        <p:spPr>
          <a:xfrm>
            <a:off x="2992396"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val 245"/>
          <p:cNvSpPr/>
          <p:nvPr/>
        </p:nvSpPr>
        <p:spPr>
          <a:xfrm>
            <a:off x="2996219"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val 246"/>
          <p:cNvSpPr/>
          <p:nvPr/>
        </p:nvSpPr>
        <p:spPr>
          <a:xfrm>
            <a:off x="3000043"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val 247"/>
          <p:cNvSpPr/>
          <p:nvPr/>
        </p:nvSpPr>
        <p:spPr>
          <a:xfrm>
            <a:off x="3003866"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val 248"/>
          <p:cNvSpPr/>
          <p:nvPr/>
        </p:nvSpPr>
        <p:spPr>
          <a:xfrm>
            <a:off x="3007689"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val 249"/>
          <p:cNvSpPr/>
          <p:nvPr/>
        </p:nvSpPr>
        <p:spPr>
          <a:xfrm>
            <a:off x="3011512"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val 250"/>
          <p:cNvSpPr/>
          <p:nvPr/>
        </p:nvSpPr>
        <p:spPr>
          <a:xfrm>
            <a:off x="2932258"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val 251"/>
          <p:cNvSpPr/>
          <p:nvPr/>
        </p:nvSpPr>
        <p:spPr>
          <a:xfrm>
            <a:off x="2934172"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val 252"/>
          <p:cNvSpPr/>
          <p:nvPr/>
        </p:nvSpPr>
        <p:spPr>
          <a:xfrm>
            <a:off x="2936086"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val 253"/>
          <p:cNvSpPr/>
          <p:nvPr/>
        </p:nvSpPr>
        <p:spPr>
          <a:xfrm>
            <a:off x="2938000"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val 254"/>
          <p:cNvSpPr/>
          <p:nvPr/>
        </p:nvSpPr>
        <p:spPr>
          <a:xfrm>
            <a:off x="2939915"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val 255"/>
          <p:cNvSpPr/>
          <p:nvPr/>
        </p:nvSpPr>
        <p:spPr>
          <a:xfrm>
            <a:off x="2941829"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val 256"/>
          <p:cNvSpPr/>
          <p:nvPr/>
        </p:nvSpPr>
        <p:spPr>
          <a:xfrm>
            <a:off x="2943743"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val 257"/>
          <p:cNvSpPr/>
          <p:nvPr/>
        </p:nvSpPr>
        <p:spPr>
          <a:xfrm>
            <a:off x="2875788" y="234543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val 258"/>
          <p:cNvSpPr/>
          <p:nvPr/>
        </p:nvSpPr>
        <p:spPr>
          <a:xfrm>
            <a:off x="2875788" y="230886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val 259"/>
          <p:cNvSpPr/>
          <p:nvPr/>
        </p:nvSpPr>
        <p:spPr>
          <a:xfrm>
            <a:off x="2875788" y="227228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val 260"/>
          <p:cNvSpPr/>
          <p:nvPr/>
        </p:nvSpPr>
        <p:spPr>
          <a:xfrm>
            <a:off x="2875788" y="223570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val 261"/>
          <p:cNvSpPr/>
          <p:nvPr/>
        </p:nvSpPr>
        <p:spPr>
          <a:xfrm>
            <a:off x="2875788" y="219913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val 262"/>
          <p:cNvSpPr/>
          <p:nvPr/>
        </p:nvSpPr>
        <p:spPr>
          <a:xfrm>
            <a:off x="2875788" y="216255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val 263"/>
          <p:cNvSpPr/>
          <p:nvPr/>
        </p:nvSpPr>
        <p:spPr>
          <a:xfrm>
            <a:off x="2875788" y="212597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val 264"/>
          <p:cNvSpPr/>
          <p:nvPr/>
        </p:nvSpPr>
        <p:spPr>
          <a:xfrm>
            <a:off x="2819317"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val 265"/>
          <p:cNvSpPr/>
          <p:nvPr/>
        </p:nvSpPr>
        <p:spPr>
          <a:xfrm>
            <a:off x="2817403"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val 266"/>
          <p:cNvSpPr/>
          <p:nvPr/>
        </p:nvSpPr>
        <p:spPr>
          <a:xfrm>
            <a:off x="2815489"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val 267"/>
          <p:cNvSpPr/>
          <p:nvPr/>
        </p:nvSpPr>
        <p:spPr>
          <a:xfrm>
            <a:off x="2813575"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val 268"/>
          <p:cNvSpPr/>
          <p:nvPr/>
        </p:nvSpPr>
        <p:spPr>
          <a:xfrm>
            <a:off x="2811660"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val 269"/>
          <p:cNvSpPr/>
          <p:nvPr/>
        </p:nvSpPr>
        <p:spPr>
          <a:xfrm>
            <a:off x="2809746"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val 270"/>
          <p:cNvSpPr/>
          <p:nvPr/>
        </p:nvSpPr>
        <p:spPr>
          <a:xfrm>
            <a:off x="2807832"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val 271"/>
          <p:cNvSpPr/>
          <p:nvPr/>
        </p:nvSpPr>
        <p:spPr>
          <a:xfrm>
            <a:off x="2763002"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val 272"/>
          <p:cNvSpPr/>
          <p:nvPr/>
        </p:nvSpPr>
        <p:spPr>
          <a:xfrm>
            <a:off x="2759179"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val 273"/>
          <p:cNvSpPr/>
          <p:nvPr/>
        </p:nvSpPr>
        <p:spPr>
          <a:xfrm>
            <a:off x="2755356"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val 274"/>
          <p:cNvSpPr/>
          <p:nvPr/>
        </p:nvSpPr>
        <p:spPr>
          <a:xfrm>
            <a:off x="2751532"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val 275"/>
          <p:cNvSpPr/>
          <p:nvPr/>
        </p:nvSpPr>
        <p:spPr>
          <a:xfrm>
            <a:off x="2747709"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val 276"/>
          <p:cNvSpPr/>
          <p:nvPr/>
        </p:nvSpPr>
        <p:spPr>
          <a:xfrm>
            <a:off x="2743886"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val 277"/>
          <p:cNvSpPr/>
          <p:nvPr/>
        </p:nvSpPr>
        <p:spPr>
          <a:xfrm>
            <a:off x="2740063"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val 278"/>
          <p:cNvSpPr/>
          <p:nvPr/>
        </p:nvSpPr>
        <p:spPr>
          <a:xfrm>
            <a:off x="2706996"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val 279"/>
          <p:cNvSpPr/>
          <p:nvPr/>
        </p:nvSpPr>
        <p:spPr>
          <a:xfrm>
            <a:off x="2701274"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val 280"/>
          <p:cNvSpPr/>
          <p:nvPr/>
        </p:nvSpPr>
        <p:spPr>
          <a:xfrm>
            <a:off x="2695552"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val 281"/>
          <p:cNvSpPr/>
          <p:nvPr/>
        </p:nvSpPr>
        <p:spPr>
          <a:xfrm>
            <a:off x="2689831"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val 282"/>
          <p:cNvSpPr/>
          <p:nvPr/>
        </p:nvSpPr>
        <p:spPr>
          <a:xfrm>
            <a:off x="2684109"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Oval 283"/>
          <p:cNvSpPr/>
          <p:nvPr/>
        </p:nvSpPr>
        <p:spPr>
          <a:xfrm>
            <a:off x="2678387"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val 284"/>
          <p:cNvSpPr/>
          <p:nvPr/>
        </p:nvSpPr>
        <p:spPr>
          <a:xfrm>
            <a:off x="2672665"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val 285"/>
          <p:cNvSpPr/>
          <p:nvPr/>
        </p:nvSpPr>
        <p:spPr>
          <a:xfrm>
            <a:off x="395478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val 286"/>
          <p:cNvSpPr/>
          <p:nvPr/>
        </p:nvSpPr>
        <p:spPr>
          <a:xfrm>
            <a:off x="399135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val 287"/>
          <p:cNvSpPr/>
          <p:nvPr/>
        </p:nvSpPr>
        <p:spPr>
          <a:xfrm>
            <a:off x="4027932"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val 288"/>
          <p:cNvSpPr/>
          <p:nvPr/>
        </p:nvSpPr>
        <p:spPr>
          <a:xfrm>
            <a:off x="4064508"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val 289"/>
          <p:cNvSpPr/>
          <p:nvPr/>
        </p:nvSpPr>
        <p:spPr>
          <a:xfrm>
            <a:off x="4101084"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val 290"/>
          <p:cNvSpPr/>
          <p:nvPr/>
        </p:nvSpPr>
        <p:spPr>
          <a:xfrm>
            <a:off x="413766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val 291"/>
          <p:cNvSpPr/>
          <p:nvPr/>
        </p:nvSpPr>
        <p:spPr>
          <a:xfrm>
            <a:off x="417423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val 292"/>
          <p:cNvSpPr/>
          <p:nvPr/>
        </p:nvSpPr>
        <p:spPr>
          <a:xfrm>
            <a:off x="3953185" y="33657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val 293"/>
          <p:cNvSpPr/>
          <p:nvPr/>
        </p:nvSpPr>
        <p:spPr>
          <a:xfrm>
            <a:off x="3989707" y="33638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val 294"/>
          <p:cNvSpPr/>
          <p:nvPr/>
        </p:nvSpPr>
        <p:spPr>
          <a:xfrm>
            <a:off x="4026229" y="33618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val 295"/>
          <p:cNvSpPr/>
          <p:nvPr/>
        </p:nvSpPr>
        <p:spPr>
          <a:xfrm>
            <a:off x="4062751" y="33598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val 296"/>
          <p:cNvSpPr/>
          <p:nvPr/>
        </p:nvSpPr>
        <p:spPr>
          <a:xfrm>
            <a:off x="4099273" y="33578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val 297"/>
          <p:cNvSpPr/>
          <p:nvPr/>
        </p:nvSpPr>
        <p:spPr>
          <a:xfrm>
            <a:off x="4135795" y="33558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val 298"/>
          <p:cNvSpPr/>
          <p:nvPr/>
        </p:nvSpPr>
        <p:spPr>
          <a:xfrm>
            <a:off x="4172317" y="3353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val 299"/>
          <p:cNvSpPr/>
          <p:nvPr/>
        </p:nvSpPr>
        <p:spPr>
          <a:xfrm>
            <a:off x="3948406" y="330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val 300"/>
          <p:cNvSpPr/>
          <p:nvPr/>
        </p:nvSpPr>
        <p:spPr>
          <a:xfrm>
            <a:off x="3984766" y="330335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val 301"/>
          <p:cNvSpPr/>
          <p:nvPr/>
        </p:nvSpPr>
        <p:spPr>
          <a:xfrm>
            <a:off x="4021126" y="32993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val 302"/>
          <p:cNvSpPr/>
          <p:nvPr/>
        </p:nvSpPr>
        <p:spPr>
          <a:xfrm>
            <a:off x="4057486" y="32954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val 303"/>
          <p:cNvSpPr/>
          <p:nvPr/>
        </p:nvSpPr>
        <p:spPr>
          <a:xfrm>
            <a:off x="4093845" y="32914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val 304"/>
          <p:cNvSpPr/>
          <p:nvPr/>
        </p:nvSpPr>
        <p:spPr>
          <a:xfrm>
            <a:off x="4130205" y="32874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val 305"/>
          <p:cNvSpPr/>
          <p:nvPr/>
        </p:nvSpPr>
        <p:spPr>
          <a:xfrm>
            <a:off x="4166565" y="32835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val 306"/>
          <p:cNvSpPr/>
          <p:nvPr/>
        </p:nvSpPr>
        <p:spPr>
          <a:xfrm>
            <a:off x="3940456" y="324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val 307"/>
          <p:cNvSpPr/>
          <p:nvPr/>
        </p:nvSpPr>
        <p:spPr>
          <a:xfrm>
            <a:off x="3976547" y="32432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val 308"/>
          <p:cNvSpPr/>
          <p:nvPr/>
        </p:nvSpPr>
        <p:spPr>
          <a:xfrm>
            <a:off x="4012637" y="323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val 309"/>
          <p:cNvSpPr/>
          <p:nvPr/>
        </p:nvSpPr>
        <p:spPr>
          <a:xfrm>
            <a:off x="4048728" y="32313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val 310"/>
          <p:cNvSpPr/>
          <p:nvPr/>
        </p:nvSpPr>
        <p:spPr>
          <a:xfrm>
            <a:off x="4084818" y="32254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val 311"/>
          <p:cNvSpPr/>
          <p:nvPr/>
        </p:nvSpPr>
        <p:spPr>
          <a:xfrm>
            <a:off x="4120908" y="32195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val 312"/>
          <p:cNvSpPr/>
          <p:nvPr/>
        </p:nvSpPr>
        <p:spPr>
          <a:xfrm>
            <a:off x="4156999" y="3213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val 313"/>
          <p:cNvSpPr/>
          <p:nvPr/>
        </p:nvSpPr>
        <p:spPr>
          <a:xfrm>
            <a:off x="3929360" y="319159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val 314"/>
          <p:cNvSpPr/>
          <p:nvPr/>
        </p:nvSpPr>
        <p:spPr>
          <a:xfrm>
            <a:off x="3965074" y="318370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val 315"/>
          <p:cNvSpPr/>
          <p:nvPr/>
        </p:nvSpPr>
        <p:spPr>
          <a:xfrm>
            <a:off x="4000788" y="31758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val 316"/>
          <p:cNvSpPr/>
          <p:nvPr/>
        </p:nvSpPr>
        <p:spPr>
          <a:xfrm>
            <a:off x="4036503" y="31679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val 317"/>
          <p:cNvSpPr/>
          <p:nvPr/>
        </p:nvSpPr>
        <p:spPr>
          <a:xfrm>
            <a:off x="4072217" y="3160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val 318"/>
          <p:cNvSpPr/>
          <p:nvPr/>
        </p:nvSpPr>
        <p:spPr>
          <a:xfrm>
            <a:off x="4107931" y="315213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val 319"/>
          <p:cNvSpPr/>
          <p:nvPr/>
        </p:nvSpPr>
        <p:spPr>
          <a:xfrm>
            <a:off x="4143645" y="31442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val 320"/>
          <p:cNvSpPr/>
          <p:nvPr/>
        </p:nvSpPr>
        <p:spPr>
          <a:xfrm>
            <a:off x="3915149" y="31346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val 321"/>
          <p:cNvSpPr/>
          <p:nvPr/>
        </p:nvSpPr>
        <p:spPr>
          <a:xfrm>
            <a:off x="3950382" y="31248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val 322"/>
          <p:cNvSpPr/>
          <p:nvPr/>
        </p:nvSpPr>
        <p:spPr>
          <a:xfrm>
            <a:off x="3985614" y="31150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val 323"/>
          <p:cNvSpPr/>
          <p:nvPr/>
        </p:nvSpPr>
        <p:spPr>
          <a:xfrm>
            <a:off x="4020847" y="310521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val 324"/>
          <p:cNvSpPr/>
          <p:nvPr/>
        </p:nvSpPr>
        <p:spPr>
          <a:xfrm>
            <a:off x="4056079" y="30953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val 325"/>
          <p:cNvSpPr/>
          <p:nvPr/>
        </p:nvSpPr>
        <p:spPr>
          <a:xfrm>
            <a:off x="4091312" y="308557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val 326"/>
          <p:cNvSpPr/>
          <p:nvPr/>
        </p:nvSpPr>
        <p:spPr>
          <a:xfrm>
            <a:off x="4126545" y="30757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val 327"/>
          <p:cNvSpPr/>
          <p:nvPr/>
        </p:nvSpPr>
        <p:spPr>
          <a:xfrm>
            <a:off x="3897866" y="30786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val 328"/>
          <p:cNvSpPr/>
          <p:nvPr/>
        </p:nvSpPr>
        <p:spPr>
          <a:xfrm>
            <a:off x="3932513" y="30669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val 329"/>
          <p:cNvSpPr/>
          <p:nvPr/>
        </p:nvSpPr>
        <p:spPr>
          <a:xfrm>
            <a:off x="3967160" y="30551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val 330"/>
          <p:cNvSpPr/>
          <p:nvPr/>
        </p:nvSpPr>
        <p:spPr>
          <a:xfrm>
            <a:off x="4001806" y="3043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val 331"/>
          <p:cNvSpPr/>
          <p:nvPr/>
        </p:nvSpPr>
        <p:spPr>
          <a:xfrm>
            <a:off x="4036453" y="303173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val 332"/>
          <p:cNvSpPr/>
          <p:nvPr/>
        </p:nvSpPr>
        <p:spPr>
          <a:xfrm>
            <a:off x="4071100" y="30200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val 333"/>
          <p:cNvSpPr/>
          <p:nvPr/>
        </p:nvSpPr>
        <p:spPr>
          <a:xfrm>
            <a:off x="4105747" y="30082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val 334"/>
          <p:cNvSpPr/>
          <p:nvPr/>
        </p:nvSpPr>
        <p:spPr>
          <a:xfrm>
            <a:off x="3877562" y="30235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Oval 335"/>
          <p:cNvSpPr/>
          <p:nvPr/>
        </p:nvSpPr>
        <p:spPr>
          <a:xfrm>
            <a:off x="3911521" y="30100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val 336"/>
          <p:cNvSpPr/>
          <p:nvPr/>
        </p:nvSpPr>
        <p:spPr>
          <a:xfrm>
            <a:off x="3945479" y="29964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val 337"/>
          <p:cNvSpPr/>
          <p:nvPr/>
        </p:nvSpPr>
        <p:spPr>
          <a:xfrm>
            <a:off x="3979438" y="29828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val 338"/>
          <p:cNvSpPr/>
          <p:nvPr/>
        </p:nvSpPr>
        <p:spPr>
          <a:xfrm>
            <a:off x="4013396" y="2969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val 339"/>
          <p:cNvSpPr/>
          <p:nvPr/>
        </p:nvSpPr>
        <p:spPr>
          <a:xfrm>
            <a:off x="4047355" y="29556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val 340"/>
          <p:cNvSpPr/>
          <p:nvPr/>
        </p:nvSpPr>
        <p:spPr>
          <a:xfrm>
            <a:off x="4081313" y="294206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val 341"/>
          <p:cNvSpPr/>
          <p:nvPr/>
        </p:nvSpPr>
        <p:spPr>
          <a:xfrm>
            <a:off x="3854298" y="29697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val 342"/>
          <p:cNvSpPr/>
          <p:nvPr/>
        </p:nvSpPr>
        <p:spPr>
          <a:xfrm>
            <a:off x="3887468" y="29543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Oval 343"/>
          <p:cNvSpPr/>
          <p:nvPr/>
        </p:nvSpPr>
        <p:spPr>
          <a:xfrm>
            <a:off x="3920637" y="29389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Oval 344"/>
          <p:cNvSpPr/>
          <p:nvPr/>
        </p:nvSpPr>
        <p:spPr>
          <a:xfrm>
            <a:off x="3953807" y="29235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val 345"/>
          <p:cNvSpPr/>
          <p:nvPr/>
        </p:nvSpPr>
        <p:spPr>
          <a:xfrm>
            <a:off x="3986977" y="290808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Oval 346"/>
          <p:cNvSpPr/>
          <p:nvPr/>
        </p:nvSpPr>
        <p:spPr>
          <a:xfrm>
            <a:off x="4020147" y="289267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val 347"/>
          <p:cNvSpPr/>
          <p:nvPr/>
        </p:nvSpPr>
        <p:spPr>
          <a:xfrm>
            <a:off x="4053317" y="28772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val 348"/>
          <p:cNvSpPr/>
          <p:nvPr/>
        </p:nvSpPr>
        <p:spPr>
          <a:xfrm>
            <a:off x="3828141" y="29172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val 349"/>
          <p:cNvSpPr/>
          <p:nvPr/>
        </p:nvSpPr>
        <p:spPr>
          <a:xfrm>
            <a:off x="3860424" y="29000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val 350"/>
          <p:cNvSpPr/>
          <p:nvPr/>
        </p:nvSpPr>
        <p:spPr>
          <a:xfrm>
            <a:off x="3892707" y="28828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val 351"/>
          <p:cNvSpPr/>
          <p:nvPr/>
        </p:nvSpPr>
        <p:spPr>
          <a:xfrm>
            <a:off x="3924990" y="28656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val 352"/>
          <p:cNvSpPr/>
          <p:nvPr/>
        </p:nvSpPr>
        <p:spPr>
          <a:xfrm>
            <a:off x="3957273" y="2848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val 353"/>
          <p:cNvSpPr/>
          <p:nvPr/>
        </p:nvSpPr>
        <p:spPr>
          <a:xfrm>
            <a:off x="3989556" y="283126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val 354"/>
          <p:cNvSpPr/>
          <p:nvPr/>
        </p:nvSpPr>
        <p:spPr>
          <a:xfrm>
            <a:off x="4021840" y="28140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Oval 355"/>
          <p:cNvSpPr/>
          <p:nvPr/>
        </p:nvSpPr>
        <p:spPr>
          <a:xfrm>
            <a:off x="3799169" y="28662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Oval 356"/>
          <p:cNvSpPr/>
          <p:nvPr/>
        </p:nvSpPr>
        <p:spPr>
          <a:xfrm>
            <a:off x="3830470" y="28473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Oval 357"/>
          <p:cNvSpPr/>
          <p:nvPr/>
        </p:nvSpPr>
        <p:spPr>
          <a:xfrm>
            <a:off x="3861771" y="28283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Oval 358"/>
          <p:cNvSpPr/>
          <p:nvPr/>
        </p:nvSpPr>
        <p:spPr>
          <a:xfrm>
            <a:off x="3893072" y="28094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val 359"/>
          <p:cNvSpPr/>
          <p:nvPr/>
        </p:nvSpPr>
        <p:spPr>
          <a:xfrm>
            <a:off x="3924373" y="27905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Oval 360"/>
          <p:cNvSpPr/>
          <p:nvPr/>
        </p:nvSpPr>
        <p:spPr>
          <a:xfrm>
            <a:off x="3955674" y="27716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val 361"/>
          <p:cNvSpPr/>
          <p:nvPr/>
        </p:nvSpPr>
        <p:spPr>
          <a:xfrm>
            <a:off x="3986975" y="2752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Oval 362"/>
          <p:cNvSpPr/>
          <p:nvPr/>
        </p:nvSpPr>
        <p:spPr>
          <a:xfrm>
            <a:off x="3767467" y="28168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val 363"/>
          <p:cNvSpPr/>
          <p:nvPr/>
        </p:nvSpPr>
        <p:spPr>
          <a:xfrm>
            <a:off x="3797694" y="27962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Oval 364"/>
          <p:cNvSpPr/>
          <p:nvPr/>
        </p:nvSpPr>
        <p:spPr>
          <a:xfrm>
            <a:off x="3827920" y="27756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val 365"/>
          <p:cNvSpPr/>
          <p:nvPr/>
        </p:nvSpPr>
        <p:spPr>
          <a:xfrm>
            <a:off x="3858147" y="27550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val 366"/>
          <p:cNvSpPr/>
          <p:nvPr/>
        </p:nvSpPr>
        <p:spPr>
          <a:xfrm>
            <a:off x="3888373" y="273448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val 367"/>
          <p:cNvSpPr/>
          <p:nvPr/>
        </p:nvSpPr>
        <p:spPr>
          <a:xfrm>
            <a:off x="3918600" y="27138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Oval 368"/>
          <p:cNvSpPr/>
          <p:nvPr/>
        </p:nvSpPr>
        <p:spPr>
          <a:xfrm>
            <a:off x="3948826" y="26932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val 369"/>
          <p:cNvSpPr/>
          <p:nvPr/>
        </p:nvSpPr>
        <p:spPr>
          <a:xfrm>
            <a:off x="3733130" y="27693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Oval 370"/>
          <p:cNvSpPr/>
          <p:nvPr/>
        </p:nvSpPr>
        <p:spPr>
          <a:xfrm>
            <a:off x="3762193" y="27470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val 371"/>
          <p:cNvSpPr/>
          <p:nvPr/>
        </p:nvSpPr>
        <p:spPr>
          <a:xfrm>
            <a:off x="3791255" y="27248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Oval 372"/>
          <p:cNvSpPr/>
          <p:nvPr/>
        </p:nvSpPr>
        <p:spPr>
          <a:xfrm>
            <a:off x="3820318" y="27026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val 373"/>
          <p:cNvSpPr/>
          <p:nvPr/>
        </p:nvSpPr>
        <p:spPr>
          <a:xfrm>
            <a:off x="3849380" y="26804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Oval 374"/>
          <p:cNvSpPr/>
          <p:nvPr/>
        </p:nvSpPr>
        <p:spPr>
          <a:xfrm>
            <a:off x="3878443" y="26582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val 375"/>
          <p:cNvSpPr/>
          <p:nvPr/>
        </p:nvSpPr>
        <p:spPr>
          <a:xfrm>
            <a:off x="3907505" y="26360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val 376"/>
          <p:cNvSpPr/>
          <p:nvPr/>
        </p:nvSpPr>
        <p:spPr>
          <a:xfrm>
            <a:off x="3696259" y="27236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val 377"/>
          <p:cNvSpPr/>
          <p:nvPr/>
        </p:nvSpPr>
        <p:spPr>
          <a:xfrm>
            <a:off x="3724072" y="26999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val 378"/>
          <p:cNvSpPr/>
          <p:nvPr/>
        </p:nvSpPr>
        <p:spPr>
          <a:xfrm>
            <a:off x="3751885" y="26761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val 379"/>
          <p:cNvSpPr/>
          <p:nvPr/>
        </p:nvSpPr>
        <p:spPr>
          <a:xfrm>
            <a:off x="3779697" y="265241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val 380"/>
          <p:cNvSpPr/>
          <p:nvPr/>
        </p:nvSpPr>
        <p:spPr>
          <a:xfrm>
            <a:off x="3807510" y="2628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Oval 381"/>
          <p:cNvSpPr/>
          <p:nvPr/>
        </p:nvSpPr>
        <p:spPr>
          <a:xfrm>
            <a:off x="3835322" y="26049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Oval 382"/>
          <p:cNvSpPr/>
          <p:nvPr/>
        </p:nvSpPr>
        <p:spPr>
          <a:xfrm>
            <a:off x="3863135" y="25811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Oval 383"/>
          <p:cNvSpPr/>
          <p:nvPr/>
        </p:nvSpPr>
        <p:spPr>
          <a:xfrm>
            <a:off x="3656963" y="26801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Oval 384"/>
          <p:cNvSpPr/>
          <p:nvPr/>
        </p:nvSpPr>
        <p:spPr>
          <a:xfrm>
            <a:off x="3683444" y="26548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Oval 385"/>
          <p:cNvSpPr/>
          <p:nvPr/>
        </p:nvSpPr>
        <p:spPr>
          <a:xfrm>
            <a:off x="3709924" y="26296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Oval 386"/>
          <p:cNvSpPr/>
          <p:nvPr/>
        </p:nvSpPr>
        <p:spPr>
          <a:xfrm>
            <a:off x="3736405" y="26044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Oval 387"/>
          <p:cNvSpPr/>
          <p:nvPr/>
        </p:nvSpPr>
        <p:spPr>
          <a:xfrm>
            <a:off x="3762885" y="257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Oval 388"/>
          <p:cNvSpPr/>
          <p:nvPr/>
        </p:nvSpPr>
        <p:spPr>
          <a:xfrm>
            <a:off x="3789366" y="25539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Oval 389"/>
          <p:cNvSpPr/>
          <p:nvPr/>
        </p:nvSpPr>
        <p:spPr>
          <a:xfrm>
            <a:off x="3815847" y="25287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Oval 390"/>
          <p:cNvSpPr/>
          <p:nvPr/>
        </p:nvSpPr>
        <p:spPr>
          <a:xfrm>
            <a:off x="3615358" y="26387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Oval 391"/>
          <p:cNvSpPr/>
          <p:nvPr/>
        </p:nvSpPr>
        <p:spPr>
          <a:xfrm>
            <a:off x="3640428" y="26121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Oval 392"/>
          <p:cNvSpPr/>
          <p:nvPr/>
        </p:nvSpPr>
        <p:spPr>
          <a:xfrm>
            <a:off x="3665499" y="25855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Oval 393"/>
          <p:cNvSpPr/>
          <p:nvPr/>
        </p:nvSpPr>
        <p:spPr>
          <a:xfrm>
            <a:off x="3690569" y="25588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 name="Oval 394"/>
          <p:cNvSpPr/>
          <p:nvPr/>
        </p:nvSpPr>
        <p:spPr>
          <a:xfrm>
            <a:off x="3715639" y="2532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Oval 395"/>
          <p:cNvSpPr/>
          <p:nvPr/>
        </p:nvSpPr>
        <p:spPr>
          <a:xfrm>
            <a:off x="3740709" y="25056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Oval 396"/>
          <p:cNvSpPr/>
          <p:nvPr/>
        </p:nvSpPr>
        <p:spPr>
          <a:xfrm>
            <a:off x="3765779" y="24789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Oval 397"/>
          <p:cNvSpPr/>
          <p:nvPr/>
        </p:nvSpPr>
        <p:spPr>
          <a:xfrm>
            <a:off x="3571567" y="25997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Oval 398"/>
          <p:cNvSpPr/>
          <p:nvPr/>
        </p:nvSpPr>
        <p:spPr>
          <a:xfrm>
            <a:off x="3595153" y="25717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val 399"/>
          <p:cNvSpPr/>
          <p:nvPr/>
        </p:nvSpPr>
        <p:spPr>
          <a:xfrm>
            <a:off x="3618739" y="25438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Oval 400"/>
          <p:cNvSpPr/>
          <p:nvPr/>
        </p:nvSpPr>
        <p:spPr>
          <a:xfrm>
            <a:off x="3642324" y="25158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val 401"/>
          <p:cNvSpPr/>
          <p:nvPr/>
        </p:nvSpPr>
        <p:spPr>
          <a:xfrm>
            <a:off x="3665910" y="24879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Oval 402"/>
          <p:cNvSpPr/>
          <p:nvPr/>
        </p:nvSpPr>
        <p:spPr>
          <a:xfrm>
            <a:off x="3689496" y="24599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val 403"/>
          <p:cNvSpPr/>
          <p:nvPr/>
        </p:nvSpPr>
        <p:spPr>
          <a:xfrm>
            <a:off x="3713082" y="24320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Oval 404"/>
          <p:cNvSpPr/>
          <p:nvPr/>
        </p:nvSpPr>
        <p:spPr>
          <a:xfrm>
            <a:off x="3525719" y="25631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val 405"/>
          <p:cNvSpPr/>
          <p:nvPr/>
        </p:nvSpPr>
        <p:spPr>
          <a:xfrm>
            <a:off x="3547751" y="25339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val 406"/>
          <p:cNvSpPr/>
          <p:nvPr/>
        </p:nvSpPr>
        <p:spPr>
          <a:xfrm>
            <a:off x="3569783" y="250475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Oval 407"/>
          <p:cNvSpPr/>
          <p:nvPr/>
        </p:nvSpPr>
        <p:spPr>
          <a:xfrm>
            <a:off x="3591814" y="247555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Oval 408"/>
          <p:cNvSpPr/>
          <p:nvPr/>
        </p:nvSpPr>
        <p:spPr>
          <a:xfrm>
            <a:off x="3613846" y="24463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val 409"/>
          <p:cNvSpPr/>
          <p:nvPr/>
        </p:nvSpPr>
        <p:spPr>
          <a:xfrm>
            <a:off x="3635877" y="24171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Oval 410"/>
          <p:cNvSpPr/>
          <p:nvPr/>
        </p:nvSpPr>
        <p:spPr>
          <a:xfrm>
            <a:off x="3657909" y="2387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val 411"/>
          <p:cNvSpPr/>
          <p:nvPr/>
        </p:nvSpPr>
        <p:spPr>
          <a:xfrm>
            <a:off x="3477951" y="25290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val 412"/>
          <p:cNvSpPr/>
          <p:nvPr/>
        </p:nvSpPr>
        <p:spPr>
          <a:xfrm>
            <a:off x="3498363" y="24987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val 413"/>
          <p:cNvSpPr/>
          <p:nvPr/>
        </p:nvSpPr>
        <p:spPr>
          <a:xfrm>
            <a:off x="3518775" y="24683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val 414"/>
          <p:cNvSpPr/>
          <p:nvPr/>
        </p:nvSpPr>
        <p:spPr>
          <a:xfrm>
            <a:off x="3539188" y="24380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Oval 415"/>
          <p:cNvSpPr/>
          <p:nvPr/>
        </p:nvSpPr>
        <p:spPr>
          <a:xfrm>
            <a:off x="3559600" y="240769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val 416"/>
          <p:cNvSpPr/>
          <p:nvPr/>
        </p:nvSpPr>
        <p:spPr>
          <a:xfrm>
            <a:off x="3580012" y="23773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val 417"/>
          <p:cNvSpPr/>
          <p:nvPr/>
        </p:nvSpPr>
        <p:spPr>
          <a:xfrm>
            <a:off x="3600425" y="23469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Oval 418"/>
          <p:cNvSpPr/>
          <p:nvPr/>
        </p:nvSpPr>
        <p:spPr>
          <a:xfrm>
            <a:off x="3428402" y="2497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val 419"/>
          <p:cNvSpPr/>
          <p:nvPr/>
        </p:nvSpPr>
        <p:spPr>
          <a:xfrm>
            <a:off x="3447135" y="24662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Oval 420"/>
          <p:cNvSpPr/>
          <p:nvPr/>
        </p:nvSpPr>
        <p:spPr>
          <a:xfrm>
            <a:off x="3465867" y="2434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Oval 421"/>
          <p:cNvSpPr/>
          <p:nvPr/>
        </p:nvSpPr>
        <p:spPr>
          <a:xfrm>
            <a:off x="3484600" y="24034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val 422"/>
          <p:cNvSpPr/>
          <p:nvPr/>
        </p:nvSpPr>
        <p:spPr>
          <a:xfrm>
            <a:off x="3503333" y="23720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Oval 423"/>
          <p:cNvSpPr/>
          <p:nvPr/>
        </p:nvSpPr>
        <p:spPr>
          <a:xfrm>
            <a:off x="3522066" y="23406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Oval 424"/>
          <p:cNvSpPr/>
          <p:nvPr/>
        </p:nvSpPr>
        <p:spPr>
          <a:xfrm>
            <a:off x="3540798" y="23092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Oval 425"/>
          <p:cNvSpPr/>
          <p:nvPr/>
        </p:nvSpPr>
        <p:spPr>
          <a:xfrm>
            <a:off x="3377220" y="2469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Oval 426"/>
          <p:cNvSpPr/>
          <p:nvPr/>
        </p:nvSpPr>
        <p:spPr>
          <a:xfrm>
            <a:off x="3394218" y="24366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Oval 427"/>
          <p:cNvSpPr/>
          <p:nvPr/>
        </p:nvSpPr>
        <p:spPr>
          <a:xfrm>
            <a:off x="3411216" y="240425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Oval 428"/>
          <p:cNvSpPr/>
          <p:nvPr/>
        </p:nvSpPr>
        <p:spPr>
          <a:xfrm>
            <a:off x="3428213" y="23718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Oval 429"/>
          <p:cNvSpPr/>
          <p:nvPr/>
        </p:nvSpPr>
        <p:spPr>
          <a:xfrm>
            <a:off x="3445211" y="23394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Oval 430"/>
          <p:cNvSpPr/>
          <p:nvPr/>
        </p:nvSpPr>
        <p:spPr>
          <a:xfrm>
            <a:off x="3462209" y="230709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val 431"/>
          <p:cNvSpPr/>
          <p:nvPr/>
        </p:nvSpPr>
        <p:spPr>
          <a:xfrm>
            <a:off x="3479206" y="22747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 name="Oval 432"/>
          <p:cNvSpPr/>
          <p:nvPr/>
        </p:nvSpPr>
        <p:spPr>
          <a:xfrm>
            <a:off x="3324556" y="24431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val 433"/>
          <p:cNvSpPr/>
          <p:nvPr/>
        </p:nvSpPr>
        <p:spPr>
          <a:xfrm>
            <a:off x="3339768" y="24099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Oval 434"/>
          <p:cNvSpPr/>
          <p:nvPr/>
        </p:nvSpPr>
        <p:spPr>
          <a:xfrm>
            <a:off x="3354981" y="237666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val 435"/>
          <p:cNvSpPr/>
          <p:nvPr/>
        </p:nvSpPr>
        <p:spPr>
          <a:xfrm>
            <a:off x="3370193" y="23434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Oval 436"/>
          <p:cNvSpPr/>
          <p:nvPr/>
        </p:nvSpPr>
        <p:spPr>
          <a:xfrm>
            <a:off x="3385406" y="23101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Oval 437"/>
          <p:cNvSpPr/>
          <p:nvPr/>
        </p:nvSpPr>
        <p:spPr>
          <a:xfrm>
            <a:off x="3400618" y="22768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val 438"/>
          <p:cNvSpPr/>
          <p:nvPr/>
        </p:nvSpPr>
        <p:spPr>
          <a:xfrm>
            <a:off x="3415831" y="224361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Oval 439"/>
          <p:cNvSpPr/>
          <p:nvPr/>
        </p:nvSpPr>
        <p:spPr>
          <a:xfrm>
            <a:off x="3270565" y="24202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val 440"/>
          <p:cNvSpPr/>
          <p:nvPr/>
        </p:nvSpPr>
        <p:spPr>
          <a:xfrm>
            <a:off x="3283948" y="23862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val 441"/>
          <p:cNvSpPr/>
          <p:nvPr/>
        </p:nvSpPr>
        <p:spPr>
          <a:xfrm>
            <a:off x="3297330" y="235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Oval 442"/>
          <p:cNvSpPr/>
          <p:nvPr/>
        </p:nvSpPr>
        <p:spPr>
          <a:xfrm>
            <a:off x="3310712" y="231812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Oval 443"/>
          <p:cNvSpPr/>
          <p:nvPr/>
        </p:nvSpPr>
        <p:spPr>
          <a:xfrm>
            <a:off x="3324095" y="22840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Oval 444"/>
          <p:cNvSpPr/>
          <p:nvPr/>
        </p:nvSpPr>
        <p:spPr>
          <a:xfrm>
            <a:off x="3337477" y="22500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val 445"/>
          <p:cNvSpPr/>
          <p:nvPr/>
        </p:nvSpPr>
        <p:spPr>
          <a:xfrm>
            <a:off x="3350859" y="22160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val 446"/>
          <p:cNvSpPr/>
          <p:nvPr/>
        </p:nvSpPr>
        <p:spPr>
          <a:xfrm>
            <a:off x="3215408" y="24002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val 447"/>
          <p:cNvSpPr/>
          <p:nvPr/>
        </p:nvSpPr>
        <p:spPr>
          <a:xfrm>
            <a:off x="3226921" y="2365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val 448"/>
          <p:cNvSpPr/>
          <p:nvPr/>
        </p:nvSpPr>
        <p:spPr>
          <a:xfrm>
            <a:off x="3238433" y="233084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Oval 449"/>
          <p:cNvSpPr/>
          <p:nvPr/>
        </p:nvSpPr>
        <p:spPr>
          <a:xfrm>
            <a:off x="3249946" y="22961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Oval 450"/>
          <p:cNvSpPr/>
          <p:nvPr/>
        </p:nvSpPr>
        <p:spPr>
          <a:xfrm>
            <a:off x="3261458" y="226141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Oval 451"/>
          <p:cNvSpPr/>
          <p:nvPr/>
        </p:nvSpPr>
        <p:spPr>
          <a:xfrm>
            <a:off x="3272971" y="22266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Oval 452"/>
          <p:cNvSpPr/>
          <p:nvPr/>
        </p:nvSpPr>
        <p:spPr>
          <a:xfrm>
            <a:off x="3284483" y="219197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Oval 453"/>
          <p:cNvSpPr/>
          <p:nvPr/>
        </p:nvSpPr>
        <p:spPr>
          <a:xfrm>
            <a:off x="3159247" y="238333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Oval 454"/>
          <p:cNvSpPr/>
          <p:nvPr/>
        </p:nvSpPr>
        <p:spPr>
          <a:xfrm>
            <a:off x="3168855" y="23480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Oval 455"/>
          <p:cNvSpPr/>
          <p:nvPr/>
        </p:nvSpPr>
        <p:spPr>
          <a:xfrm>
            <a:off x="3178464" y="23127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Oval 456"/>
          <p:cNvSpPr/>
          <p:nvPr/>
        </p:nvSpPr>
        <p:spPr>
          <a:xfrm>
            <a:off x="3188073" y="22774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Oval 457"/>
          <p:cNvSpPr/>
          <p:nvPr/>
        </p:nvSpPr>
        <p:spPr>
          <a:xfrm>
            <a:off x="3197682" y="224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Oval 458"/>
          <p:cNvSpPr/>
          <p:nvPr/>
        </p:nvSpPr>
        <p:spPr>
          <a:xfrm>
            <a:off x="3207291" y="22068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val 459"/>
          <p:cNvSpPr/>
          <p:nvPr/>
        </p:nvSpPr>
        <p:spPr>
          <a:xfrm>
            <a:off x="3216899" y="217158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Oval 460"/>
          <p:cNvSpPr/>
          <p:nvPr/>
        </p:nvSpPr>
        <p:spPr>
          <a:xfrm>
            <a:off x="3102248" y="2369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Oval 461"/>
          <p:cNvSpPr/>
          <p:nvPr/>
        </p:nvSpPr>
        <p:spPr>
          <a:xfrm>
            <a:off x="3109924" y="23337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Oval 462"/>
          <p:cNvSpPr/>
          <p:nvPr/>
        </p:nvSpPr>
        <p:spPr>
          <a:xfrm>
            <a:off x="3117601" y="229794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Oval 463"/>
          <p:cNvSpPr/>
          <p:nvPr/>
        </p:nvSpPr>
        <p:spPr>
          <a:xfrm>
            <a:off x="3125277" y="22621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 name="Oval 464"/>
          <p:cNvSpPr/>
          <p:nvPr/>
        </p:nvSpPr>
        <p:spPr>
          <a:xfrm>
            <a:off x="3132954" y="222642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Oval 465"/>
          <p:cNvSpPr/>
          <p:nvPr/>
        </p:nvSpPr>
        <p:spPr>
          <a:xfrm>
            <a:off x="3140631" y="2190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Oval 466"/>
          <p:cNvSpPr/>
          <p:nvPr/>
        </p:nvSpPr>
        <p:spPr>
          <a:xfrm>
            <a:off x="3148307" y="21549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Oval 467"/>
          <p:cNvSpPr/>
          <p:nvPr/>
        </p:nvSpPr>
        <p:spPr>
          <a:xfrm>
            <a:off x="3044579" y="235872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Oval 468"/>
          <p:cNvSpPr/>
          <p:nvPr/>
        </p:nvSpPr>
        <p:spPr>
          <a:xfrm>
            <a:off x="3050301" y="23225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Oval 469"/>
          <p:cNvSpPr/>
          <p:nvPr/>
        </p:nvSpPr>
        <p:spPr>
          <a:xfrm>
            <a:off x="3056023" y="2286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Oval 470"/>
          <p:cNvSpPr/>
          <p:nvPr/>
        </p:nvSpPr>
        <p:spPr>
          <a:xfrm>
            <a:off x="3061744" y="22503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Oval 471"/>
          <p:cNvSpPr/>
          <p:nvPr/>
        </p:nvSpPr>
        <p:spPr>
          <a:xfrm>
            <a:off x="3067466" y="22142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Oval 472"/>
          <p:cNvSpPr/>
          <p:nvPr/>
        </p:nvSpPr>
        <p:spPr>
          <a:xfrm>
            <a:off x="3073188" y="21780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Oval 473"/>
          <p:cNvSpPr/>
          <p:nvPr/>
        </p:nvSpPr>
        <p:spPr>
          <a:xfrm>
            <a:off x="3078910" y="2141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5" name="Oval 474"/>
          <p:cNvSpPr/>
          <p:nvPr/>
        </p:nvSpPr>
        <p:spPr>
          <a:xfrm>
            <a:off x="191566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Oval 475"/>
          <p:cNvSpPr/>
          <p:nvPr/>
        </p:nvSpPr>
        <p:spPr>
          <a:xfrm>
            <a:off x="186537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Oval 476"/>
          <p:cNvSpPr/>
          <p:nvPr/>
        </p:nvSpPr>
        <p:spPr>
          <a:xfrm>
            <a:off x="181508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Oval 477"/>
          <p:cNvSpPr/>
          <p:nvPr/>
        </p:nvSpPr>
        <p:spPr>
          <a:xfrm>
            <a:off x="176479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Oval 478"/>
          <p:cNvSpPr/>
          <p:nvPr/>
        </p:nvSpPr>
        <p:spPr>
          <a:xfrm>
            <a:off x="1714500"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Oval 479"/>
          <p:cNvSpPr/>
          <p:nvPr/>
        </p:nvSpPr>
        <p:spPr>
          <a:xfrm>
            <a:off x="16642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Oval 480"/>
          <p:cNvSpPr/>
          <p:nvPr/>
        </p:nvSpPr>
        <p:spPr>
          <a:xfrm>
            <a:off x="16139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Oval 481"/>
          <p:cNvSpPr/>
          <p:nvPr/>
        </p:nvSpPr>
        <p:spPr>
          <a:xfrm>
            <a:off x="15636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3" name="Oval 482"/>
          <p:cNvSpPr/>
          <p:nvPr/>
        </p:nvSpPr>
        <p:spPr>
          <a:xfrm>
            <a:off x="15133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TextBox 483"/>
          <p:cNvSpPr txBox="1"/>
          <p:nvPr/>
        </p:nvSpPr>
        <p:spPr>
          <a:xfrm>
            <a:off x="1170432" y="3364991"/>
            <a:ext cx="365760" cy="219456"/>
          </a:xfrm>
          <a:prstGeom prst="rect">
            <a:avLst/>
          </a:prstGeom>
          <a:noFill/>
        </p:spPr>
        <p:txBody>
          <a:bodyPr wrap="square">
            <a:spAutoFit/>
          </a:bodyPr>
          <a:lstStyle/>
          <a:p>
            <a:pPr algn="ctr"/>
            <a:r>
              <a:rPr sz="800" b="0" i="0">
                <a:solidFill>
                  <a:srgbClr val="404040"/>
                </a:solidFill>
              </a:rPr>
              <a:t>0.00</a:t>
            </a:r>
          </a:p>
        </p:txBody>
      </p:sp>
      <p:sp>
        <p:nvSpPr>
          <p:cNvPr id="485" name="Oval 484"/>
          <p:cNvSpPr/>
          <p:nvPr/>
        </p:nvSpPr>
        <p:spPr>
          <a:xfrm>
            <a:off x="2204915"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6" name="Oval 485"/>
          <p:cNvSpPr/>
          <p:nvPr/>
        </p:nvSpPr>
        <p:spPr>
          <a:xfrm>
            <a:off x="2169353"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7" name="Oval 486"/>
          <p:cNvSpPr/>
          <p:nvPr/>
        </p:nvSpPr>
        <p:spPr>
          <a:xfrm>
            <a:off x="2133791"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8" name="Oval 487"/>
          <p:cNvSpPr/>
          <p:nvPr/>
        </p:nvSpPr>
        <p:spPr>
          <a:xfrm>
            <a:off x="2098229"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9" name="Oval 488"/>
          <p:cNvSpPr/>
          <p:nvPr/>
        </p:nvSpPr>
        <p:spPr>
          <a:xfrm>
            <a:off x="2062668"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0" name="Oval 489"/>
          <p:cNvSpPr/>
          <p:nvPr/>
        </p:nvSpPr>
        <p:spPr>
          <a:xfrm>
            <a:off x="2027106"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1" name="Oval 490"/>
          <p:cNvSpPr/>
          <p:nvPr/>
        </p:nvSpPr>
        <p:spPr>
          <a:xfrm>
            <a:off x="1991544"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2" name="Oval 491"/>
          <p:cNvSpPr/>
          <p:nvPr/>
        </p:nvSpPr>
        <p:spPr>
          <a:xfrm>
            <a:off x="1955982"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Oval 492"/>
          <p:cNvSpPr/>
          <p:nvPr/>
        </p:nvSpPr>
        <p:spPr>
          <a:xfrm>
            <a:off x="1920420"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1631085" y="2252877"/>
            <a:ext cx="365760" cy="219456"/>
          </a:xfrm>
          <a:prstGeom prst="rect">
            <a:avLst/>
          </a:prstGeom>
          <a:noFill/>
        </p:spPr>
        <p:txBody>
          <a:bodyPr wrap="square">
            <a:spAutoFit/>
          </a:bodyPr>
          <a:lstStyle/>
          <a:p>
            <a:pPr algn="ctr"/>
            <a:r>
              <a:rPr sz="800" b="0" i="0">
                <a:solidFill>
                  <a:srgbClr val="404040"/>
                </a:solidFill>
              </a:rPr>
              <a:t>0.50</a:t>
            </a:r>
          </a:p>
        </p:txBody>
      </p:sp>
      <p:sp>
        <p:nvSpPr>
          <p:cNvPr id="495" name="Oval 494"/>
          <p:cNvSpPr/>
          <p:nvPr/>
        </p:nvSpPr>
        <p:spPr>
          <a:xfrm>
            <a:off x="2525300"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Oval 495"/>
          <p:cNvSpPr/>
          <p:nvPr/>
        </p:nvSpPr>
        <p:spPr>
          <a:xfrm>
            <a:off x="2506054"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7" name="Oval 496"/>
          <p:cNvSpPr/>
          <p:nvPr/>
        </p:nvSpPr>
        <p:spPr>
          <a:xfrm>
            <a:off x="2486808"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8" name="Oval 497"/>
          <p:cNvSpPr/>
          <p:nvPr/>
        </p:nvSpPr>
        <p:spPr>
          <a:xfrm>
            <a:off x="2467562"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9" name="Oval 498"/>
          <p:cNvSpPr/>
          <p:nvPr/>
        </p:nvSpPr>
        <p:spPr>
          <a:xfrm>
            <a:off x="2448316"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Oval 499"/>
          <p:cNvSpPr/>
          <p:nvPr/>
        </p:nvSpPr>
        <p:spPr>
          <a:xfrm>
            <a:off x="2429070"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Oval 500"/>
          <p:cNvSpPr/>
          <p:nvPr/>
        </p:nvSpPr>
        <p:spPr>
          <a:xfrm>
            <a:off x="2409824"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Oval 501"/>
          <p:cNvSpPr/>
          <p:nvPr/>
        </p:nvSpPr>
        <p:spPr>
          <a:xfrm>
            <a:off x="2390578"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Oval 502"/>
          <p:cNvSpPr/>
          <p:nvPr/>
        </p:nvSpPr>
        <p:spPr>
          <a:xfrm>
            <a:off x="2371332"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TextBox 503"/>
          <p:cNvSpPr txBox="1"/>
          <p:nvPr/>
        </p:nvSpPr>
        <p:spPr>
          <a:xfrm>
            <a:off x="2141327" y="1911943"/>
            <a:ext cx="365760" cy="219456"/>
          </a:xfrm>
          <a:prstGeom prst="rect">
            <a:avLst/>
          </a:prstGeom>
          <a:noFill/>
        </p:spPr>
        <p:txBody>
          <a:bodyPr wrap="square">
            <a:spAutoFit/>
          </a:bodyPr>
          <a:lstStyle/>
          <a:p>
            <a:pPr algn="ctr"/>
            <a:r>
              <a:rPr sz="800" b="1" i="0">
                <a:solidFill>
                  <a:srgbClr val="404040"/>
                </a:solidFill>
              </a:rPr>
              <a:t>0.75</a:t>
            </a:r>
          </a:p>
        </p:txBody>
      </p:sp>
      <p:sp>
        <p:nvSpPr>
          <p:cNvPr id="505" name="Oval 504"/>
          <p:cNvSpPr/>
          <p:nvPr/>
        </p:nvSpPr>
        <p:spPr>
          <a:xfrm>
            <a:off x="2903220" y="2464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Oval 505"/>
          <p:cNvSpPr/>
          <p:nvPr/>
        </p:nvSpPr>
        <p:spPr>
          <a:xfrm>
            <a:off x="2903220" y="241401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Oval 506"/>
          <p:cNvSpPr/>
          <p:nvPr/>
        </p:nvSpPr>
        <p:spPr>
          <a:xfrm>
            <a:off x="2903220" y="236372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Oval 507"/>
          <p:cNvSpPr/>
          <p:nvPr/>
        </p:nvSpPr>
        <p:spPr>
          <a:xfrm>
            <a:off x="2903220" y="231343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Oval 508"/>
          <p:cNvSpPr/>
          <p:nvPr/>
        </p:nvSpPr>
        <p:spPr>
          <a:xfrm>
            <a:off x="2903220" y="226314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Oval 509"/>
          <p:cNvSpPr/>
          <p:nvPr/>
        </p:nvSpPr>
        <p:spPr>
          <a:xfrm>
            <a:off x="2903220" y="221284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1" name="Oval 510"/>
          <p:cNvSpPr/>
          <p:nvPr/>
        </p:nvSpPr>
        <p:spPr>
          <a:xfrm>
            <a:off x="2903220" y="216255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Oval 511"/>
          <p:cNvSpPr/>
          <p:nvPr/>
        </p:nvSpPr>
        <p:spPr>
          <a:xfrm>
            <a:off x="2903220" y="211226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 name="Oval 512"/>
          <p:cNvSpPr/>
          <p:nvPr/>
        </p:nvSpPr>
        <p:spPr>
          <a:xfrm>
            <a:off x="2903220" y="206197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 name="TextBox 513"/>
          <p:cNvSpPr txBox="1"/>
          <p:nvPr/>
        </p:nvSpPr>
        <p:spPr>
          <a:xfrm>
            <a:off x="2743200" y="1792224"/>
            <a:ext cx="365760" cy="219456"/>
          </a:xfrm>
          <a:prstGeom prst="rect">
            <a:avLst/>
          </a:prstGeom>
          <a:noFill/>
        </p:spPr>
        <p:txBody>
          <a:bodyPr wrap="square">
            <a:spAutoFit/>
          </a:bodyPr>
          <a:lstStyle/>
          <a:p>
            <a:pPr algn="ctr"/>
            <a:r>
              <a:rPr sz="800" b="1" i="0">
                <a:solidFill>
                  <a:srgbClr val="404040"/>
                </a:solidFill>
              </a:rPr>
              <a:t>1.00</a:t>
            </a:r>
          </a:p>
        </p:txBody>
      </p:sp>
      <p:sp>
        <p:nvSpPr>
          <p:cNvPr id="515" name="Oval 514"/>
          <p:cNvSpPr/>
          <p:nvPr/>
        </p:nvSpPr>
        <p:spPr>
          <a:xfrm>
            <a:off x="3281139"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Oval 515"/>
          <p:cNvSpPr/>
          <p:nvPr/>
        </p:nvSpPr>
        <p:spPr>
          <a:xfrm>
            <a:off x="3300385"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Oval 516"/>
          <p:cNvSpPr/>
          <p:nvPr/>
        </p:nvSpPr>
        <p:spPr>
          <a:xfrm>
            <a:off x="3319631"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8" name="Oval 517"/>
          <p:cNvSpPr/>
          <p:nvPr/>
        </p:nvSpPr>
        <p:spPr>
          <a:xfrm>
            <a:off x="3338877"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9" name="Oval 518"/>
          <p:cNvSpPr/>
          <p:nvPr/>
        </p:nvSpPr>
        <p:spPr>
          <a:xfrm>
            <a:off x="3358123"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Oval 519"/>
          <p:cNvSpPr/>
          <p:nvPr/>
        </p:nvSpPr>
        <p:spPr>
          <a:xfrm>
            <a:off x="3377369"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Oval 520"/>
          <p:cNvSpPr/>
          <p:nvPr/>
        </p:nvSpPr>
        <p:spPr>
          <a:xfrm>
            <a:off x="3396615"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2" name="Oval 521"/>
          <p:cNvSpPr/>
          <p:nvPr/>
        </p:nvSpPr>
        <p:spPr>
          <a:xfrm>
            <a:off x="3415861"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3" name="Oval 522"/>
          <p:cNvSpPr/>
          <p:nvPr/>
        </p:nvSpPr>
        <p:spPr>
          <a:xfrm>
            <a:off x="3435107"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4" name="TextBox 523"/>
          <p:cNvSpPr txBox="1"/>
          <p:nvPr/>
        </p:nvSpPr>
        <p:spPr>
          <a:xfrm>
            <a:off x="3345072" y="1911943"/>
            <a:ext cx="365760" cy="219456"/>
          </a:xfrm>
          <a:prstGeom prst="rect">
            <a:avLst/>
          </a:prstGeom>
          <a:noFill/>
        </p:spPr>
        <p:txBody>
          <a:bodyPr wrap="square">
            <a:spAutoFit/>
          </a:bodyPr>
          <a:lstStyle/>
          <a:p>
            <a:pPr algn="ctr"/>
            <a:r>
              <a:rPr sz="800" b="0" i="0">
                <a:solidFill>
                  <a:srgbClr val="404040"/>
                </a:solidFill>
              </a:rPr>
              <a:t>1.25</a:t>
            </a:r>
          </a:p>
        </p:txBody>
      </p:sp>
      <p:sp>
        <p:nvSpPr>
          <p:cNvPr id="525" name="Oval 524"/>
          <p:cNvSpPr/>
          <p:nvPr/>
        </p:nvSpPr>
        <p:spPr>
          <a:xfrm>
            <a:off x="3601524"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6" name="Oval 525"/>
          <p:cNvSpPr/>
          <p:nvPr/>
        </p:nvSpPr>
        <p:spPr>
          <a:xfrm>
            <a:off x="3637086"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7" name="Oval 526"/>
          <p:cNvSpPr/>
          <p:nvPr/>
        </p:nvSpPr>
        <p:spPr>
          <a:xfrm>
            <a:off x="3672648"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Oval 527"/>
          <p:cNvSpPr/>
          <p:nvPr/>
        </p:nvSpPr>
        <p:spPr>
          <a:xfrm>
            <a:off x="3708210"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9" name="Oval 528"/>
          <p:cNvSpPr/>
          <p:nvPr/>
        </p:nvSpPr>
        <p:spPr>
          <a:xfrm>
            <a:off x="3743771"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0" name="Oval 529"/>
          <p:cNvSpPr/>
          <p:nvPr/>
        </p:nvSpPr>
        <p:spPr>
          <a:xfrm>
            <a:off x="3779333"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Oval 530"/>
          <p:cNvSpPr/>
          <p:nvPr/>
        </p:nvSpPr>
        <p:spPr>
          <a:xfrm>
            <a:off x="3814895"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2" name="Oval 531"/>
          <p:cNvSpPr/>
          <p:nvPr/>
        </p:nvSpPr>
        <p:spPr>
          <a:xfrm>
            <a:off x="3850457"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3" name="Oval 532"/>
          <p:cNvSpPr/>
          <p:nvPr/>
        </p:nvSpPr>
        <p:spPr>
          <a:xfrm>
            <a:off x="3886019"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TextBox 533"/>
          <p:cNvSpPr txBox="1"/>
          <p:nvPr/>
        </p:nvSpPr>
        <p:spPr>
          <a:xfrm>
            <a:off x="3855314" y="2252877"/>
            <a:ext cx="365760" cy="219456"/>
          </a:xfrm>
          <a:prstGeom prst="rect">
            <a:avLst/>
          </a:prstGeom>
          <a:noFill/>
        </p:spPr>
        <p:txBody>
          <a:bodyPr wrap="square">
            <a:spAutoFit/>
          </a:bodyPr>
          <a:lstStyle/>
          <a:p>
            <a:pPr algn="ctr"/>
            <a:r>
              <a:rPr sz="800" b="0" i="0">
                <a:solidFill>
                  <a:srgbClr val="404040"/>
                </a:solidFill>
              </a:rPr>
              <a:t>1.50</a:t>
            </a:r>
          </a:p>
        </p:txBody>
      </p:sp>
      <p:sp>
        <p:nvSpPr>
          <p:cNvPr id="535" name="Oval 534"/>
          <p:cNvSpPr/>
          <p:nvPr/>
        </p:nvSpPr>
        <p:spPr>
          <a:xfrm>
            <a:off x="389077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6" name="Oval 535"/>
          <p:cNvSpPr/>
          <p:nvPr/>
        </p:nvSpPr>
        <p:spPr>
          <a:xfrm>
            <a:off x="3941063"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7" name="Oval 536"/>
          <p:cNvSpPr/>
          <p:nvPr/>
        </p:nvSpPr>
        <p:spPr>
          <a:xfrm>
            <a:off x="399135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8" name="Oval 537"/>
          <p:cNvSpPr/>
          <p:nvPr/>
        </p:nvSpPr>
        <p:spPr>
          <a:xfrm>
            <a:off x="404164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Oval 538"/>
          <p:cNvSpPr/>
          <p:nvPr/>
        </p:nvSpPr>
        <p:spPr>
          <a:xfrm>
            <a:off x="4091939"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Oval 539"/>
          <p:cNvSpPr/>
          <p:nvPr/>
        </p:nvSpPr>
        <p:spPr>
          <a:xfrm>
            <a:off x="41422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Oval 540"/>
          <p:cNvSpPr/>
          <p:nvPr/>
        </p:nvSpPr>
        <p:spPr>
          <a:xfrm>
            <a:off x="41925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2" name="Oval 541"/>
          <p:cNvSpPr/>
          <p:nvPr/>
        </p:nvSpPr>
        <p:spPr>
          <a:xfrm>
            <a:off x="42428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Oval 542"/>
          <p:cNvSpPr/>
          <p:nvPr/>
        </p:nvSpPr>
        <p:spPr>
          <a:xfrm>
            <a:off x="42931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TextBox 543"/>
          <p:cNvSpPr txBox="1"/>
          <p:nvPr/>
        </p:nvSpPr>
        <p:spPr>
          <a:xfrm>
            <a:off x="4315968" y="3364991"/>
            <a:ext cx="365760" cy="219456"/>
          </a:xfrm>
          <a:prstGeom prst="rect">
            <a:avLst/>
          </a:prstGeom>
          <a:noFill/>
        </p:spPr>
        <p:txBody>
          <a:bodyPr wrap="square">
            <a:spAutoFit/>
          </a:bodyPr>
          <a:lstStyle/>
          <a:p>
            <a:pPr algn="ctr"/>
            <a:r>
              <a:rPr sz="800" b="0" i="0">
                <a:solidFill>
                  <a:srgbClr val="404040"/>
                </a:solidFill>
              </a:rPr>
              <a:t>2.00</a:t>
            </a:r>
          </a:p>
        </p:txBody>
      </p:sp>
      <p:sp>
        <p:nvSpPr>
          <p:cNvPr id="545" name="Oval 544"/>
          <p:cNvSpPr/>
          <p:nvPr/>
        </p:nvSpPr>
        <p:spPr>
          <a:xfrm>
            <a:off x="2889504" y="343814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Oval 545"/>
          <p:cNvSpPr/>
          <p:nvPr/>
        </p:nvSpPr>
        <p:spPr>
          <a:xfrm>
            <a:off x="2874807" y="340266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Oval 546"/>
          <p:cNvSpPr/>
          <p:nvPr/>
        </p:nvSpPr>
        <p:spPr>
          <a:xfrm>
            <a:off x="2860110" y="336718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Oval 547"/>
          <p:cNvSpPr/>
          <p:nvPr/>
        </p:nvSpPr>
        <p:spPr>
          <a:xfrm>
            <a:off x="2845413" y="333169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Oval 548"/>
          <p:cNvSpPr/>
          <p:nvPr/>
        </p:nvSpPr>
        <p:spPr>
          <a:xfrm>
            <a:off x="2830716" y="329621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Oval 549"/>
          <p:cNvSpPr/>
          <p:nvPr/>
        </p:nvSpPr>
        <p:spPr>
          <a:xfrm>
            <a:off x="2816019" y="3260736"/>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Oval 550"/>
          <p:cNvSpPr/>
          <p:nvPr/>
        </p:nvSpPr>
        <p:spPr>
          <a:xfrm>
            <a:off x="2801322" y="322525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Oval 551"/>
          <p:cNvSpPr/>
          <p:nvPr/>
        </p:nvSpPr>
        <p:spPr>
          <a:xfrm>
            <a:off x="2786625" y="318977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Oval 552"/>
          <p:cNvSpPr/>
          <p:nvPr/>
        </p:nvSpPr>
        <p:spPr>
          <a:xfrm>
            <a:off x="2771928" y="315429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Oval 553"/>
          <p:cNvSpPr/>
          <p:nvPr/>
        </p:nvSpPr>
        <p:spPr>
          <a:xfrm>
            <a:off x="2757232" y="311881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Oval 554"/>
          <p:cNvSpPr/>
          <p:nvPr/>
        </p:nvSpPr>
        <p:spPr>
          <a:xfrm>
            <a:off x="2742535" y="308332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Oval 555"/>
          <p:cNvSpPr/>
          <p:nvPr/>
        </p:nvSpPr>
        <p:spPr>
          <a:xfrm>
            <a:off x="2727838" y="304784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Oval 556"/>
          <p:cNvSpPr/>
          <p:nvPr/>
        </p:nvSpPr>
        <p:spPr>
          <a:xfrm>
            <a:off x="2713141" y="301236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Oval 557"/>
          <p:cNvSpPr/>
          <p:nvPr/>
        </p:nvSpPr>
        <p:spPr>
          <a:xfrm>
            <a:off x="2698444" y="297688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9" name="Oval 558"/>
          <p:cNvSpPr/>
          <p:nvPr/>
        </p:nvSpPr>
        <p:spPr>
          <a:xfrm>
            <a:off x="2683747" y="294140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Oval 559"/>
          <p:cNvSpPr/>
          <p:nvPr/>
        </p:nvSpPr>
        <p:spPr>
          <a:xfrm>
            <a:off x="2669050" y="290592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1" name="Oval 560"/>
          <p:cNvSpPr/>
          <p:nvPr/>
        </p:nvSpPr>
        <p:spPr>
          <a:xfrm>
            <a:off x="2654353" y="287044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2" name="Oval 561"/>
          <p:cNvSpPr/>
          <p:nvPr/>
        </p:nvSpPr>
        <p:spPr>
          <a:xfrm>
            <a:off x="2639657" y="2834960"/>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3" name="Oval 562"/>
          <p:cNvSpPr/>
          <p:nvPr/>
        </p:nvSpPr>
        <p:spPr>
          <a:xfrm>
            <a:off x="2624960" y="279947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4" name="Oval 563"/>
          <p:cNvSpPr/>
          <p:nvPr/>
        </p:nvSpPr>
        <p:spPr>
          <a:xfrm>
            <a:off x="2610263" y="276399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5" name="Oval 564"/>
          <p:cNvSpPr/>
          <p:nvPr/>
        </p:nvSpPr>
        <p:spPr>
          <a:xfrm>
            <a:off x="2595566" y="272851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6" name="Oval 565"/>
          <p:cNvSpPr/>
          <p:nvPr/>
        </p:nvSpPr>
        <p:spPr>
          <a:xfrm>
            <a:off x="2580869" y="269303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7" name="Oval 566"/>
          <p:cNvSpPr/>
          <p:nvPr/>
        </p:nvSpPr>
        <p:spPr>
          <a:xfrm>
            <a:off x="2579888" y="2671269"/>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8" name="Oval 567"/>
          <p:cNvSpPr/>
          <p:nvPr/>
        </p:nvSpPr>
        <p:spPr>
          <a:xfrm>
            <a:off x="2565191" y="2635787"/>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9" name="Oval 568"/>
          <p:cNvSpPr/>
          <p:nvPr/>
        </p:nvSpPr>
        <p:spPr>
          <a:xfrm>
            <a:off x="2550494" y="2600306"/>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0" name="Oval 569"/>
          <p:cNvSpPr/>
          <p:nvPr/>
        </p:nvSpPr>
        <p:spPr>
          <a:xfrm>
            <a:off x="2535797" y="2564824"/>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Oval 570"/>
          <p:cNvSpPr/>
          <p:nvPr/>
        </p:nvSpPr>
        <p:spPr>
          <a:xfrm>
            <a:off x="2898648" y="3408883"/>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2" name="Oval 571"/>
          <p:cNvSpPr/>
          <p:nvPr/>
        </p:nvSpPr>
        <p:spPr>
          <a:xfrm>
            <a:off x="2898648" y="337047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3" name="Oval 572"/>
          <p:cNvSpPr/>
          <p:nvPr/>
        </p:nvSpPr>
        <p:spPr>
          <a:xfrm>
            <a:off x="2898648" y="32936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4" name="Oval 573"/>
          <p:cNvSpPr/>
          <p:nvPr/>
        </p:nvSpPr>
        <p:spPr>
          <a:xfrm>
            <a:off x="2898648" y="325526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Oval 574"/>
          <p:cNvSpPr/>
          <p:nvPr/>
        </p:nvSpPr>
        <p:spPr>
          <a:xfrm>
            <a:off x="2898648" y="317845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6" name="Oval 575"/>
          <p:cNvSpPr/>
          <p:nvPr/>
        </p:nvSpPr>
        <p:spPr>
          <a:xfrm>
            <a:off x="2898648" y="3140049"/>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7" name="Oval 576"/>
          <p:cNvSpPr/>
          <p:nvPr/>
        </p:nvSpPr>
        <p:spPr>
          <a:xfrm>
            <a:off x="2898648" y="306324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8" name="Oval 577"/>
          <p:cNvSpPr/>
          <p:nvPr/>
        </p:nvSpPr>
        <p:spPr>
          <a:xfrm>
            <a:off x="2898648" y="302483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9" name="Oval 578"/>
          <p:cNvSpPr/>
          <p:nvPr/>
        </p:nvSpPr>
        <p:spPr>
          <a:xfrm>
            <a:off x="2898648" y="294802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0" name="Oval 579"/>
          <p:cNvSpPr/>
          <p:nvPr/>
        </p:nvSpPr>
        <p:spPr>
          <a:xfrm>
            <a:off x="2898648" y="290962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1" name="Oval 580"/>
          <p:cNvSpPr/>
          <p:nvPr/>
        </p:nvSpPr>
        <p:spPr>
          <a:xfrm>
            <a:off x="2898648" y="2832811"/>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2" name="Oval 581"/>
          <p:cNvSpPr/>
          <p:nvPr/>
        </p:nvSpPr>
        <p:spPr>
          <a:xfrm>
            <a:off x="2898648" y="279440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3" name="Oval 582"/>
          <p:cNvSpPr/>
          <p:nvPr/>
        </p:nvSpPr>
        <p:spPr>
          <a:xfrm>
            <a:off x="2898648" y="271759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4" name="Oval 583"/>
          <p:cNvSpPr/>
          <p:nvPr/>
        </p:nvSpPr>
        <p:spPr>
          <a:xfrm>
            <a:off x="2898648" y="267919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5" name="Oval 584"/>
          <p:cNvSpPr/>
          <p:nvPr/>
        </p:nvSpPr>
        <p:spPr>
          <a:xfrm>
            <a:off x="2898648" y="260238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6" name="Oval 585"/>
          <p:cNvSpPr/>
          <p:nvPr/>
        </p:nvSpPr>
        <p:spPr>
          <a:xfrm>
            <a:off x="2898648" y="2563977"/>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7" name="Oval 586"/>
          <p:cNvSpPr/>
          <p:nvPr/>
        </p:nvSpPr>
        <p:spPr>
          <a:xfrm>
            <a:off x="2898648" y="24871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8" name="Oval 587"/>
          <p:cNvSpPr/>
          <p:nvPr/>
        </p:nvSpPr>
        <p:spPr>
          <a:xfrm>
            <a:off x="2834640" y="3383279"/>
            <a:ext cx="182880" cy="18288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3" name="TextBox 592"/>
          <p:cNvSpPr txBox="1"/>
          <p:nvPr/>
        </p:nvSpPr>
        <p:spPr>
          <a:xfrm>
            <a:off x="434517" y="4206240"/>
            <a:ext cx="182880" cy="182880"/>
          </a:xfrm>
          <a:prstGeom prst="rect">
            <a:avLst/>
          </a:prstGeom>
          <a:noFill/>
        </p:spPr>
        <p:txBody>
          <a:bodyPr wrap="square">
            <a:spAutoFit/>
          </a:bodyPr>
          <a:lstStyle/>
          <a:p>
            <a:pPr algn="l"/>
            <a:r>
              <a:rPr sz="1000" b="0" i="0" dirty="0">
                <a:solidFill>
                  <a:srgbClr val="C00000"/>
                </a:solidFill>
              </a:rPr>
              <a:t>●</a:t>
            </a:r>
          </a:p>
        </p:txBody>
      </p:sp>
      <p:sp>
        <p:nvSpPr>
          <p:cNvPr id="594" name="TextBox 593"/>
          <p:cNvSpPr txBox="1"/>
          <p:nvPr/>
        </p:nvSpPr>
        <p:spPr>
          <a:xfrm>
            <a:off x="594572" y="4215384"/>
            <a:ext cx="2560320" cy="182880"/>
          </a:xfrm>
          <a:prstGeom prst="rect">
            <a:avLst/>
          </a:prstGeom>
          <a:noFill/>
        </p:spPr>
        <p:txBody>
          <a:bodyPr wrap="square">
            <a:spAutoFit/>
          </a:bodyPr>
          <a:lstStyle/>
          <a:p>
            <a:pPr algn="l"/>
            <a:r>
              <a:rPr sz="900" b="0" i="0" dirty="0">
                <a:solidFill>
                  <a:srgbClr val="404040"/>
                </a:solidFill>
              </a:rPr>
              <a:t>Below 0.70 — Critical</a:t>
            </a:r>
          </a:p>
        </p:txBody>
      </p:sp>
      <p:sp>
        <p:nvSpPr>
          <p:cNvPr id="595" name="TextBox 594"/>
          <p:cNvSpPr txBox="1"/>
          <p:nvPr/>
        </p:nvSpPr>
        <p:spPr>
          <a:xfrm>
            <a:off x="441960" y="4398264"/>
            <a:ext cx="182880" cy="182880"/>
          </a:xfrm>
          <a:prstGeom prst="rect">
            <a:avLst/>
          </a:prstGeom>
          <a:noFill/>
        </p:spPr>
        <p:txBody>
          <a:bodyPr wrap="square">
            <a:spAutoFit/>
          </a:bodyPr>
          <a:lstStyle/>
          <a:p>
            <a:pPr algn="l"/>
            <a:r>
              <a:rPr sz="1000" b="0" i="0" dirty="0">
                <a:solidFill>
                  <a:srgbClr val="FFC000"/>
                </a:solidFill>
              </a:rPr>
              <a:t>●</a:t>
            </a:r>
          </a:p>
        </p:txBody>
      </p:sp>
      <p:sp>
        <p:nvSpPr>
          <p:cNvPr id="596" name="TextBox 595"/>
          <p:cNvSpPr txBox="1"/>
          <p:nvPr/>
        </p:nvSpPr>
        <p:spPr>
          <a:xfrm>
            <a:off x="594573" y="4389120"/>
            <a:ext cx="2560320" cy="182880"/>
          </a:xfrm>
          <a:prstGeom prst="rect">
            <a:avLst/>
          </a:prstGeom>
          <a:noFill/>
        </p:spPr>
        <p:txBody>
          <a:bodyPr wrap="square">
            <a:spAutoFit/>
          </a:bodyPr>
          <a:lstStyle/>
          <a:p>
            <a:pPr algn="l"/>
            <a:r>
              <a:rPr sz="900" b="0" i="0" dirty="0">
                <a:solidFill>
                  <a:srgbClr val="404040"/>
                </a:solidFill>
              </a:rPr>
              <a:t>0.70–0.90 — Yellow</a:t>
            </a:r>
          </a:p>
        </p:txBody>
      </p:sp>
      <p:sp>
        <p:nvSpPr>
          <p:cNvPr id="597" name="TextBox 596"/>
          <p:cNvSpPr txBox="1"/>
          <p:nvPr/>
        </p:nvSpPr>
        <p:spPr>
          <a:xfrm>
            <a:off x="441960" y="4580506"/>
            <a:ext cx="182880" cy="182880"/>
          </a:xfrm>
          <a:prstGeom prst="rect">
            <a:avLst/>
          </a:prstGeom>
          <a:noFill/>
        </p:spPr>
        <p:txBody>
          <a:bodyPr wrap="square">
            <a:spAutoFit/>
          </a:bodyPr>
          <a:lstStyle/>
          <a:p>
            <a:pPr algn="l"/>
            <a:r>
              <a:rPr sz="1000" b="0" i="0" dirty="0">
                <a:solidFill>
                  <a:srgbClr val="008000"/>
                </a:solidFill>
              </a:rPr>
              <a:t>●</a:t>
            </a:r>
          </a:p>
        </p:txBody>
      </p:sp>
      <p:sp>
        <p:nvSpPr>
          <p:cNvPr id="598" name="TextBox 597"/>
          <p:cNvSpPr txBox="1"/>
          <p:nvPr/>
        </p:nvSpPr>
        <p:spPr>
          <a:xfrm>
            <a:off x="615838" y="4562830"/>
            <a:ext cx="2560320" cy="182880"/>
          </a:xfrm>
          <a:prstGeom prst="rect">
            <a:avLst/>
          </a:prstGeom>
          <a:noFill/>
        </p:spPr>
        <p:txBody>
          <a:bodyPr wrap="square">
            <a:spAutoFit/>
          </a:bodyPr>
          <a:lstStyle/>
          <a:p>
            <a:pPr algn="l"/>
            <a:r>
              <a:rPr sz="900" b="0" i="0" dirty="0">
                <a:solidFill>
                  <a:srgbClr val="404040"/>
                </a:solidFill>
              </a:rPr>
              <a:t>0.90–1.10 — On Track</a:t>
            </a:r>
          </a:p>
        </p:txBody>
      </p:sp>
      <p:sp>
        <p:nvSpPr>
          <p:cNvPr id="599" name="TextBox 598"/>
          <p:cNvSpPr txBox="1"/>
          <p:nvPr/>
        </p:nvSpPr>
        <p:spPr>
          <a:xfrm>
            <a:off x="442314" y="4745736"/>
            <a:ext cx="182880" cy="182880"/>
          </a:xfrm>
          <a:prstGeom prst="rect">
            <a:avLst/>
          </a:prstGeom>
          <a:noFill/>
        </p:spPr>
        <p:txBody>
          <a:bodyPr wrap="square">
            <a:spAutoFit/>
          </a:bodyPr>
          <a:lstStyle/>
          <a:p>
            <a:pPr algn="l"/>
            <a:r>
              <a:rPr sz="1000" b="0" i="0" dirty="0">
                <a:solidFill>
                  <a:srgbClr val="0033CC"/>
                </a:solidFill>
              </a:rPr>
              <a:t>●</a:t>
            </a:r>
          </a:p>
        </p:txBody>
      </p:sp>
      <p:sp>
        <p:nvSpPr>
          <p:cNvPr id="600" name="TextBox 599"/>
          <p:cNvSpPr txBox="1"/>
          <p:nvPr/>
        </p:nvSpPr>
        <p:spPr>
          <a:xfrm>
            <a:off x="614562" y="4712988"/>
            <a:ext cx="2560320" cy="182880"/>
          </a:xfrm>
          <a:prstGeom prst="rect">
            <a:avLst/>
          </a:prstGeom>
          <a:noFill/>
        </p:spPr>
        <p:txBody>
          <a:bodyPr wrap="square">
            <a:spAutoFit/>
          </a:bodyPr>
          <a:lstStyle/>
          <a:p>
            <a:pPr algn="l"/>
            <a:r>
              <a:rPr sz="900" b="0" i="0" dirty="0">
                <a:solidFill>
                  <a:srgbClr val="404040"/>
                </a:solidFill>
              </a:rPr>
              <a:t>Above 1.10 — Ahead</a:t>
            </a:r>
          </a:p>
        </p:txBody>
      </p:sp>
      <p:sp>
        <p:nvSpPr>
          <p:cNvPr id="601" name="TextBox 600"/>
          <p:cNvSpPr txBox="1"/>
          <p:nvPr/>
        </p:nvSpPr>
        <p:spPr>
          <a:xfrm>
            <a:off x="2486519" y="4226868"/>
            <a:ext cx="2908441" cy="230832"/>
          </a:xfrm>
          <a:prstGeom prst="rect">
            <a:avLst/>
          </a:prstGeom>
          <a:noFill/>
        </p:spPr>
        <p:txBody>
          <a:bodyPr wrap="square">
            <a:spAutoFit/>
          </a:bodyPr>
          <a:lstStyle/>
          <a:p>
            <a:pPr algn="l"/>
            <a:r>
              <a:rPr lang="en-US" sz="900" b="1" dirty="0">
                <a:solidFill>
                  <a:srgbClr val="F7941D"/>
                </a:solidFill>
              </a:rPr>
              <a:t>     --- </a:t>
            </a:r>
            <a:r>
              <a:rPr sz="900" b="1" i="0" dirty="0">
                <a:solidFill>
                  <a:srgbClr val="F7941D"/>
                </a:solidFill>
              </a:rPr>
              <a:t> </a:t>
            </a:r>
            <a:r>
              <a:rPr lang="en-US" sz="900" b="1" i="0" dirty="0">
                <a:solidFill>
                  <a:srgbClr val="F7941D"/>
                </a:solidFill>
              </a:rPr>
              <a:t>February 2026 </a:t>
            </a:r>
            <a:r>
              <a:rPr sz="900" b="1" i="0" dirty="0">
                <a:solidFill>
                  <a:srgbClr val="F7941D"/>
                </a:solidFill>
              </a:rPr>
              <a:t>: 0.75  (Orange)</a:t>
            </a:r>
          </a:p>
        </p:txBody>
      </p:sp>
      <p:sp>
        <p:nvSpPr>
          <p:cNvPr id="602" name="TextBox 601"/>
          <p:cNvSpPr txBox="1"/>
          <p:nvPr/>
        </p:nvSpPr>
        <p:spPr>
          <a:xfrm>
            <a:off x="2608167" y="4437264"/>
            <a:ext cx="2603913" cy="230832"/>
          </a:xfrm>
          <a:prstGeom prst="rect">
            <a:avLst/>
          </a:prstGeom>
          <a:noFill/>
        </p:spPr>
        <p:txBody>
          <a:bodyPr wrap="square">
            <a:spAutoFit/>
          </a:bodyPr>
          <a:lstStyle/>
          <a:p>
            <a:pPr algn="l"/>
            <a:r>
              <a:rPr sz="900" b="0" i="0" dirty="0">
                <a:solidFill>
                  <a:srgbClr val="404040"/>
                </a:solidFill>
              </a:rPr>
              <a:t>╌╌</a:t>
            </a:r>
            <a:r>
              <a:rPr lang="en-US" sz="900" b="0" i="0" dirty="0">
                <a:solidFill>
                  <a:srgbClr val="404040"/>
                </a:solidFill>
              </a:rPr>
              <a:t> </a:t>
            </a:r>
            <a:r>
              <a:rPr sz="900" b="0" i="0" dirty="0">
                <a:solidFill>
                  <a:srgbClr val="404040"/>
                </a:solidFill>
              </a:rPr>
              <a:t> </a:t>
            </a:r>
            <a:r>
              <a:rPr lang="en-US" sz="900" b="0" i="0" dirty="0">
                <a:solidFill>
                  <a:srgbClr val="404040"/>
                </a:solidFill>
              </a:rPr>
              <a:t>January 2026    : </a:t>
            </a:r>
            <a:r>
              <a:rPr sz="900" b="0" i="0" dirty="0">
                <a:solidFill>
                  <a:srgbClr val="404040"/>
                </a:solidFill>
              </a:rPr>
              <a:t> 1.00  (Gray)</a:t>
            </a:r>
          </a:p>
        </p:txBody>
      </p:sp>
      <p:sp>
        <p:nvSpPr>
          <p:cNvPr id="11" name="TextBox 10">
            <a:extLst>
              <a:ext uri="{FF2B5EF4-FFF2-40B4-BE49-F238E27FC236}">
                <a16:creationId xmlns:a16="http://schemas.microsoft.com/office/drawing/2014/main" id="{D8DCC11B-AE40-024F-BFC9-B0646C4365B0}"/>
              </a:ext>
            </a:extLst>
          </p:cNvPr>
          <p:cNvSpPr txBox="1"/>
          <p:nvPr/>
        </p:nvSpPr>
        <p:spPr>
          <a:xfrm>
            <a:off x="2486519" y="4039416"/>
            <a:ext cx="5029200" cy="230832"/>
          </a:xfrm>
          <a:prstGeom prst="rect">
            <a:avLst/>
          </a:prstGeom>
          <a:noFill/>
        </p:spPr>
        <p:txBody>
          <a:bodyPr wrap="square">
            <a:spAutoFit/>
          </a:bodyPr>
          <a:lstStyle/>
          <a:p>
            <a:pPr algn="l"/>
            <a:r>
              <a:rPr lang="en-US" sz="900" b="1" dirty="0">
                <a:solidFill>
                  <a:srgbClr val="F7941D"/>
                </a:solidFill>
              </a:rPr>
              <a:t>     ---</a:t>
            </a:r>
            <a:r>
              <a:rPr sz="900" b="1" i="0" dirty="0">
                <a:solidFill>
                  <a:srgbClr val="F7941D"/>
                </a:solidFill>
              </a:rPr>
              <a:t> </a:t>
            </a:r>
            <a:r>
              <a:rPr lang="en-US" sz="900" b="1" i="0" dirty="0">
                <a:solidFill>
                  <a:srgbClr val="F7941D"/>
                </a:solidFill>
              </a:rPr>
              <a:t> </a:t>
            </a:r>
            <a:r>
              <a:rPr lang="en-US" sz="900" b="1" i="0" dirty="0">
                <a:solidFill>
                  <a:schemeClr val="bg2">
                    <a:lumMod val="10000"/>
                  </a:schemeClr>
                </a:solidFill>
              </a:rPr>
              <a:t>March  2026 </a:t>
            </a:r>
            <a:r>
              <a:rPr sz="900" b="1" i="0" dirty="0">
                <a:solidFill>
                  <a:schemeClr val="bg2">
                    <a:lumMod val="10000"/>
                  </a:schemeClr>
                </a:solidFill>
              </a:rPr>
              <a:t>: </a:t>
            </a:r>
            <a:r>
              <a:rPr lang="en-US" sz="900" b="1" i="0" dirty="0">
                <a:solidFill>
                  <a:srgbClr val="F7941D"/>
                </a:solidFill>
              </a:rPr>
              <a:t>0.76  (Yellow ↓)</a:t>
            </a:r>
            <a:endParaRPr sz="900" b="1" i="0" dirty="0">
              <a:solidFill>
                <a:schemeClr val="bg2">
                  <a:lumMod val="10000"/>
                </a:schemeClr>
              </a:solidFill>
            </a:endParaRPr>
          </a:p>
        </p:txBody>
      </p:sp>
      <p:sp>
        <p:nvSpPr>
          <p:cNvPr id="12" name="Rectangle 11">
            <a:extLst>
              <a:ext uri="{FF2B5EF4-FFF2-40B4-BE49-F238E27FC236}">
                <a16:creationId xmlns:a16="http://schemas.microsoft.com/office/drawing/2014/main" id="{83FAF528-BF5F-D1AE-33B7-2DF81CAD24BF}"/>
              </a:ext>
            </a:extLst>
          </p:cNvPr>
          <p:cNvSpPr/>
          <p:nvPr/>
        </p:nvSpPr>
        <p:spPr>
          <a:xfrm>
            <a:off x="5792618" y="196596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3" name="Rectangle 12">
            <a:extLst>
              <a:ext uri="{FF2B5EF4-FFF2-40B4-BE49-F238E27FC236}">
                <a16:creationId xmlns:a16="http://schemas.microsoft.com/office/drawing/2014/main" id="{68FC4F1C-0CBA-CB69-81D6-A688C4A7B97E}"/>
              </a:ext>
            </a:extLst>
          </p:cNvPr>
          <p:cNvSpPr/>
          <p:nvPr/>
        </p:nvSpPr>
        <p:spPr>
          <a:xfrm>
            <a:off x="5806440" y="155447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3" name="Rectangle 602">
            <a:extLst>
              <a:ext uri="{FF2B5EF4-FFF2-40B4-BE49-F238E27FC236}">
                <a16:creationId xmlns:a16="http://schemas.microsoft.com/office/drawing/2014/main" id="{BB74F8E3-F713-87B9-2C3D-D86AA35EFF5A}"/>
              </a:ext>
            </a:extLst>
          </p:cNvPr>
          <p:cNvSpPr/>
          <p:nvPr/>
        </p:nvSpPr>
        <p:spPr>
          <a:xfrm>
            <a:off x="5824728" y="287568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4" name="Rectangle 603">
            <a:extLst>
              <a:ext uri="{FF2B5EF4-FFF2-40B4-BE49-F238E27FC236}">
                <a16:creationId xmlns:a16="http://schemas.microsoft.com/office/drawing/2014/main" id="{2DC5CD6E-D2D7-5CA5-1145-6646B952DE5E}"/>
              </a:ext>
            </a:extLst>
          </p:cNvPr>
          <p:cNvSpPr/>
          <p:nvPr/>
        </p:nvSpPr>
        <p:spPr>
          <a:xfrm>
            <a:off x="5806440" y="241718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5" name="Rectangle 604">
            <a:extLst>
              <a:ext uri="{FF2B5EF4-FFF2-40B4-BE49-F238E27FC236}">
                <a16:creationId xmlns:a16="http://schemas.microsoft.com/office/drawing/2014/main" id="{4728407C-F0AA-A939-D1A8-46F9600057F8}"/>
              </a:ext>
            </a:extLst>
          </p:cNvPr>
          <p:cNvSpPr/>
          <p:nvPr/>
        </p:nvSpPr>
        <p:spPr>
          <a:xfrm>
            <a:off x="5829194" y="332118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6" name="Rectangle 605">
            <a:extLst>
              <a:ext uri="{FF2B5EF4-FFF2-40B4-BE49-F238E27FC236}">
                <a16:creationId xmlns:a16="http://schemas.microsoft.com/office/drawing/2014/main" id="{220B252F-A1ED-BDA9-CB99-7D58E1575E94}"/>
              </a:ext>
            </a:extLst>
          </p:cNvPr>
          <p:cNvSpPr/>
          <p:nvPr/>
        </p:nvSpPr>
        <p:spPr>
          <a:xfrm>
            <a:off x="5806440" y="426515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7" name="Rectangle 606">
            <a:extLst>
              <a:ext uri="{FF2B5EF4-FFF2-40B4-BE49-F238E27FC236}">
                <a16:creationId xmlns:a16="http://schemas.microsoft.com/office/drawing/2014/main" id="{826A6865-4EBD-4E0C-7F6B-51010379E6F5}"/>
              </a:ext>
            </a:extLst>
          </p:cNvPr>
          <p:cNvSpPr/>
          <p:nvPr/>
        </p:nvSpPr>
        <p:spPr>
          <a:xfrm>
            <a:off x="5815584" y="378455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146080"/>
            <a:ext cx="10049622" cy="9310241"/>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Ø"/>
            </a:pPr>
            <a:endParaRPr lang="en-US" sz="1400" dirty="0"/>
          </a:p>
          <a:p>
            <a:pPr marL="285750" indent="-285750">
              <a:spcBef>
                <a:spcPts val="600"/>
              </a:spcBef>
              <a:spcAft>
                <a:spcPts val="600"/>
              </a:spcAft>
              <a:buFont typeface="Wingdings" panose="05000000000000000000" pitchFamily="2" charset="2"/>
              <a:buChar char="Ø"/>
            </a:pPr>
            <a:endParaRPr lang="en-US" sz="1400" b="1" dirty="0"/>
          </a:p>
          <a:p>
            <a:pPr>
              <a:spcBef>
                <a:spcPts val="600"/>
              </a:spcBef>
              <a:spcAft>
                <a:spcPts val="600"/>
              </a:spcAft>
            </a:pPr>
            <a:endParaRPr lang="en-US" sz="1400" b="1" dirty="0"/>
          </a:p>
          <a:p>
            <a:pPr marL="285750" indent="-285750">
              <a:spcBef>
                <a:spcPts val="600"/>
              </a:spcBef>
              <a:spcAft>
                <a:spcPts val="600"/>
              </a:spcAft>
              <a:buFont typeface="Wingdings" panose="05000000000000000000" pitchFamily="2" charset="2"/>
              <a:buChar char="Ø"/>
            </a:pPr>
            <a:r>
              <a:rPr lang="en-US" sz="1400" b="1" dirty="0"/>
              <a:t>Phase-1 </a:t>
            </a:r>
          </a:p>
          <a:p>
            <a:pPr marL="285750" indent="-285750">
              <a:spcBef>
                <a:spcPts val="600"/>
              </a:spcBef>
              <a:spcAft>
                <a:spcPts val="600"/>
              </a:spcAft>
              <a:buFont typeface="Wingdings" panose="05000000000000000000" pitchFamily="2" charset="2"/>
              <a:buChar char="§"/>
            </a:pPr>
            <a:r>
              <a:rPr lang="en-US" sz="1400" b="1" dirty="0"/>
              <a:t>Engineering Services</a:t>
            </a:r>
          </a:p>
          <a:p>
            <a:endParaRPr lang="en-US" sz="1100" b="1" dirty="0">
              <a:solidFill>
                <a:schemeClr val="accent2"/>
              </a:solidFill>
            </a:endParaRPr>
          </a:p>
          <a:p>
            <a:endParaRPr lang="en-US" sz="1100" b="1" dirty="0">
              <a:solidFill>
                <a:schemeClr val="accent2"/>
              </a:solidFill>
            </a:endParaRPr>
          </a:p>
          <a:p>
            <a:endParaRPr lang="en-US" sz="1100" b="1" dirty="0">
              <a:solidFill>
                <a:schemeClr val="accent2"/>
              </a:solidFill>
            </a:endParaRPr>
          </a:p>
          <a:p>
            <a:pPr lvl="1" fontAlgn="ctr"/>
            <a:endParaRPr lang="en-US" sz="1100" dirty="0"/>
          </a:p>
          <a:p>
            <a:pPr marL="285750" indent="-285750" fontAlgn="ctr">
              <a:buFont typeface="Arial" panose="020B0604020202020204" pitchFamily="34" charset="0"/>
              <a:buChar char="•"/>
            </a:pPr>
            <a:r>
              <a:rPr lang="en-US" sz="1400" b="1" dirty="0"/>
              <a:t>Procurement and Staging </a:t>
            </a:r>
            <a:endParaRPr lang="en-US" sz="1400" dirty="0"/>
          </a:p>
          <a:p>
            <a:pPr marL="742950" lvl="1" indent="-285750" fontAlgn="ctr">
              <a:buFont typeface="Arial" panose="020B0604020202020204" pitchFamily="34" charset="0"/>
              <a:buChar char="•"/>
            </a:pPr>
            <a:r>
              <a:rPr lang="en-US" sz="1400" dirty="0"/>
              <a:t>Staging completed at Hawkeye Warehouse  - </a:t>
            </a:r>
            <a:r>
              <a:rPr lang="en-US" sz="1400" dirty="0">
                <a:solidFill>
                  <a:srgbClr val="00B050"/>
                </a:solidFill>
              </a:rPr>
              <a:t>Work Completed - 9/29/2025</a:t>
            </a:r>
          </a:p>
          <a:p>
            <a:pPr marL="742950" lvl="1" indent="-285750" fontAlgn="ctr">
              <a:buFont typeface="Arial" panose="020B0604020202020204" pitchFamily="34" charset="0"/>
              <a:buChar char="•"/>
            </a:pPr>
            <a:r>
              <a:rPr lang="en-US" sz="1400" dirty="0"/>
              <a:t>Nokia equipment for Phase 2 has been delivered – </a:t>
            </a:r>
            <a:r>
              <a:rPr lang="en-US" sz="1400" dirty="0">
                <a:solidFill>
                  <a:srgbClr val="00B050"/>
                </a:solidFill>
              </a:rPr>
              <a:t>Work Completed - 2/19/2026</a:t>
            </a:r>
          </a:p>
          <a:p>
            <a:pPr marL="285750" indent="-285750" fontAlgn="ctr">
              <a:buFont typeface="Arial" panose="020B0604020202020204" pitchFamily="34" charset="0"/>
              <a:buChar char="•"/>
            </a:pPr>
            <a:r>
              <a:rPr lang="en-US" sz="1400" b="1" dirty="0"/>
              <a:t>Construction and Installation Support</a:t>
            </a:r>
            <a:endParaRPr lang="en-US" sz="1400" dirty="0"/>
          </a:p>
          <a:p>
            <a:pPr marL="742950" lvl="1" indent="-285750" fontAlgn="ctr">
              <a:buFont typeface="Arial" panose="020B0604020202020204" pitchFamily="34" charset="0"/>
              <a:buChar char="•"/>
            </a:pPr>
            <a:r>
              <a:rPr lang="en-US" sz="1400" dirty="0"/>
              <a:t>Installing equipment at substations. – 31/31 sites completed </a:t>
            </a:r>
          </a:p>
          <a:p>
            <a:pPr marL="742950" lvl="1" indent="-285750" fontAlgn="ctr">
              <a:buFont typeface="Arial" panose="020B0604020202020204" pitchFamily="34" charset="0"/>
              <a:buChar char="•"/>
            </a:pPr>
            <a:r>
              <a:rPr lang="en-US" sz="1400" dirty="0"/>
              <a:t>ACC cabling and fiber panel installed – 1/7/26</a:t>
            </a:r>
          </a:p>
          <a:p>
            <a:pPr marL="742950" lvl="1" indent="-285750" fontAlgn="ctr">
              <a:buFont typeface="Arial" panose="020B0604020202020204" pitchFamily="34" charset="0"/>
              <a:buChar char="•"/>
            </a:pPr>
            <a:r>
              <a:rPr lang="en-US" sz="1400" dirty="0"/>
              <a:t>Throwover from Hicksville to ACC will happen - 1/13/2026</a:t>
            </a:r>
          </a:p>
          <a:p>
            <a:pPr marL="1200150" lvl="2" indent="-285750" fontAlgn="ctr">
              <a:buFont typeface="Arial" panose="020B0604020202020204" pitchFamily="34" charset="0"/>
              <a:buChar char="•"/>
            </a:pPr>
            <a:r>
              <a:rPr lang="en-US" sz="1400" dirty="0"/>
              <a:t>J-mux  eqpt. Will be moved on the primary &amp; secondary cabinet to </a:t>
            </a:r>
          </a:p>
          <a:p>
            <a:pPr lvl="2" fontAlgn="ctr"/>
            <a:r>
              <a:rPr lang="en-US" sz="1400" dirty="0"/>
              <a:t>       make room for the MPLS routers. – 1/13/26 -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Complete CWDM cutover at Hicksville and ACC </a:t>
            </a:r>
            <a:r>
              <a:rPr lang="en-US" sz="1400" b="1" i="1" dirty="0"/>
              <a:t>-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Install routers in the primary &amp; secondary cabinet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NSP installed racked &amp; powered up in Melville and Hicksville –</a:t>
            </a:r>
            <a:r>
              <a:rPr lang="en-US" sz="1400" b="1" i="1" dirty="0"/>
              <a:t> </a:t>
            </a:r>
            <a:r>
              <a:rPr lang="en-US" sz="1400" b="1" i="1" dirty="0">
                <a:solidFill>
                  <a:srgbClr val="00B050"/>
                </a:solidFill>
              </a:rPr>
              <a:t>Work Completed </a:t>
            </a:r>
          </a:p>
          <a:p>
            <a:pPr marL="1200150" lvl="2" indent="-285750" fontAlgn="ctr">
              <a:buFont typeface="Arial" panose="020B0604020202020204" pitchFamily="34" charset="0"/>
              <a:buChar char="•"/>
            </a:pPr>
            <a:r>
              <a:rPr lang="en-US" sz="1400" i="1" dirty="0"/>
              <a:t>CMDB document updated and added to CMDB database </a:t>
            </a:r>
            <a:r>
              <a:rPr lang="en-US" sz="1400" b="1" i="1" dirty="0">
                <a:solidFill>
                  <a:srgbClr val="00B050"/>
                </a:solidFill>
              </a:rPr>
              <a:t>– Work Completed </a:t>
            </a:r>
          </a:p>
          <a:p>
            <a:pPr marL="1200150" lvl="2" indent="-285750" fontAlgn="ctr">
              <a:buFont typeface="Arial" panose="020B0604020202020204" pitchFamily="34" charset="0"/>
              <a:buChar char="•"/>
            </a:pPr>
            <a:r>
              <a:rPr lang="en-US" sz="1400" b="1" i="1" dirty="0"/>
              <a:t>Cat 6 cables needs to be run to NSP in Hicksville </a:t>
            </a:r>
            <a:r>
              <a:rPr lang="en-US" sz="1400" b="1" i="1" dirty="0">
                <a:solidFill>
                  <a:srgbClr val="00B050"/>
                </a:solidFill>
              </a:rPr>
              <a:t>– Work Completed</a:t>
            </a:r>
          </a:p>
          <a:p>
            <a:pPr marL="1200150" lvl="2" indent="-285750" fontAlgn="ctr">
              <a:buFont typeface="Arial" panose="020B0604020202020204" pitchFamily="34" charset="0"/>
              <a:buChar char="•"/>
            </a:pPr>
            <a:r>
              <a:rPr lang="en-US" sz="1400" b="1" i="1" dirty="0"/>
              <a:t>OTDR testing from Hicksville to Syosset </a:t>
            </a:r>
            <a:r>
              <a:rPr lang="en-US" sz="1400" b="1" i="1" dirty="0">
                <a:solidFill>
                  <a:srgbClr val="00B050"/>
                </a:solidFill>
              </a:rPr>
              <a:t>– Work Completed </a:t>
            </a:r>
          </a:p>
          <a:p>
            <a:pPr marL="1200150" lvl="2" indent="-285750" fontAlgn="ctr">
              <a:buFont typeface="Wingdings" panose="05000000000000000000" pitchFamily="2" charset="2"/>
              <a:buChar char="q"/>
            </a:pPr>
            <a:endParaRPr lang="en-US" sz="1400" dirty="0"/>
          </a:p>
          <a:p>
            <a:pPr lvl="1" fontAlgn="ctr"/>
            <a:endParaRPr lang="en-US" sz="1400" dirty="0"/>
          </a:p>
          <a:p>
            <a:pPr marL="285750" indent="-285750" fontAlgn="ctr">
              <a:buFont typeface="Arial" panose="020B0604020202020204" pitchFamily="34" charset="0"/>
              <a:buChar char="•"/>
            </a:pPr>
            <a:r>
              <a:rPr lang="en-US" sz="1400" b="1" dirty="0">
                <a:solidFill>
                  <a:srgbClr val="DC3545"/>
                </a:solidFill>
              </a:rPr>
              <a:t>Deployment &amp; Cutover</a:t>
            </a:r>
          </a:p>
          <a:p>
            <a:pPr marL="742950" lvl="1" indent="-285750" fontAlgn="ctr">
              <a:buFont typeface="Arial" panose="020B0604020202020204" pitchFamily="34" charset="0"/>
              <a:buChar char="•"/>
            </a:pPr>
            <a:r>
              <a:rPr lang="en-US" sz="1400" dirty="0"/>
              <a:t>Cutover of CWDM started at Bagatelle, Melville, Pilgrim -11/19- 11/20/2025 – </a:t>
            </a:r>
            <a:r>
              <a:rPr lang="en-US" sz="1200" b="1" i="1" dirty="0"/>
              <a:t>we ran into fiber panel issues.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1 - 12/8/2025 – 12/18/2025 (</a:t>
            </a:r>
            <a:r>
              <a:rPr lang="en-US" sz="1400" dirty="0">
                <a:solidFill>
                  <a:srgbClr val="FF0000"/>
                </a:solidFill>
              </a:rPr>
              <a:t>non-tie sites</a:t>
            </a:r>
            <a:r>
              <a:rPr lang="en-US" sz="1400" dirty="0"/>
              <a:t>) – </a:t>
            </a:r>
            <a:r>
              <a:rPr lang="en-US" sz="1200" b="1" i="1" dirty="0"/>
              <a:t>Decided to start with the no tie sites.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2 - 01/06/2026 – 1/08/2026 (</a:t>
            </a:r>
            <a:r>
              <a:rPr lang="en-US" sz="1400" dirty="0">
                <a:solidFill>
                  <a:srgbClr val="FF0000"/>
                </a:solidFill>
              </a:rPr>
              <a:t>tie-in-sites</a:t>
            </a:r>
            <a:r>
              <a:rPr lang="en-US" sz="1400" dirty="0"/>
              <a:t>) – </a:t>
            </a:r>
            <a:r>
              <a:rPr lang="en-US" sz="1200" b="1" i="1" dirty="0"/>
              <a:t>with experience cutting over the tie sites, we felt comfortable to complete the tie sites. – </a:t>
            </a:r>
            <a:r>
              <a:rPr lang="en-US" sz="1200" b="1" i="1" dirty="0">
                <a:solidFill>
                  <a:srgbClr val="00B050"/>
                </a:solidFill>
              </a:rPr>
              <a:t>Work Completed  </a:t>
            </a:r>
          </a:p>
          <a:p>
            <a:pPr marL="742950" lvl="1" indent="-285750" fontAlgn="ctr">
              <a:buFont typeface="Arial" panose="020B0604020202020204" pitchFamily="34" charset="0"/>
              <a:buChar char="•"/>
            </a:pPr>
            <a:endParaRPr lang="en-US" sz="1400" dirty="0"/>
          </a:p>
          <a:p>
            <a:pPr lvl="1" fontAlgn="ctr"/>
            <a:endParaRPr lang="en-US" sz="1400" dirty="0"/>
          </a:p>
          <a:p>
            <a:pPr marL="742950" lvl="1" indent="-285750" fontAlgn="ctr">
              <a:buFont typeface="Arial" panose="020B0604020202020204" pitchFamily="34" charset="0"/>
              <a:buChar char="•"/>
            </a:pPr>
            <a:endParaRPr lang="en-US" sz="1400" dirty="0"/>
          </a:p>
          <a:p>
            <a:pPr lvl="1" fontAlgn="ct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a:t>
            </a:r>
            <a:r>
              <a:rPr lang="en-US" sz="1400" dirty="0"/>
              <a:t>. </a:t>
            </a:r>
          </a:p>
          <a:p>
            <a:pPr marL="800100" lvl="1" indent="-342900">
              <a:spcBef>
                <a:spcPts val="600"/>
              </a:spcBef>
              <a:spcAft>
                <a:spcPts val="600"/>
              </a:spcAft>
              <a:buFont typeface="+mj-lt"/>
              <a:buAutoNum type="arabicPeriod"/>
            </a:pPr>
            <a:endParaRPr lang="en-US" sz="1400" dirty="0"/>
          </a:p>
          <a:p>
            <a:pPr marL="800100" lvl="1" indent="-342900">
              <a:spcBef>
                <a:spcPts val="600"/>
              </a:spcBef>
              <a:spcAft>
                <a:spcPts val="600"/>
              </a:spcAft>
              <a:buFont typeface="+mj-lt"/>
              <a:buAutoNum type="arabicPeriod"/>
            </a:pPr>
            <a:endParaRPr lang="en-US" sz="1400" dirty="0"/>
          </a:p>
          <a:p>
            <a:pPr lvl="2">
              <a:spcBef>
                <a:spcPts val="600"/>
              </a:spcBef>
              <a:spcAft>
                <a:spcPts val="600"/>
              </a:spcAft>
            </a:pPr>
            <a:endParaRPr lang="en-US" sz="1400" dirty="0"/>
          </a:p>
        </p:txBody>
      </p:sp>
      <p:graphicFrame>
        <p:nvGraphicFramePr>
          <p:cNvPr id="8" name="Table 7"/>
          <p:cNvGraphicFramePr>
            <a:graphicFrameLocks noGrp="1"/>
          </p:cNvGraphicFramePr>
          <p:nvPr/>
        </p:nvGraphicFramePr>
        <p:xfrm>
          <a:off x="1556426" y="1567369"/>
          <a:ext cx="4941651" cy="567690"/>
        </p:xfrm>
        <a:graphic>
          <a:graphicData uri="http://schemas.openxmlformats.org/drawingml/2006/table">
            <a:tbl>
              <a:tblPr>
                <a:tableStyleId>{5C22544A-7EE6-4342-B048-85BDC9FD1C3A}</a:tableStyleId>
              </a:tblPr>
              <a:tblGrid>
                <a:gridCol w="2573448">
                  <a:extLst>
                    <a:ext uri="{9D8B030D-6E8A-4147-A177-3AD203B41FA5}">
                      <a16:colId xmlns:a16="http://schemas.microsoft.com/office/drawing/2014/main" val="1279083359"/>
                    </a:ext>
                  </a:extLst>
                </a:gridCol>
                <a:gridCol w="1152526">
                  <a:extLst>
                    <a:ext uri="{9D8B030D-6E8A-4147-A177-3AD203B41FA5}">
                      <a16:colId xmlns:a16="http://schemas.microsoft.com/office/drawing/2014/main" val="1105639966"/>
                    </a:ext>
                  </a:extLst>
                </a:gridCol>
                <a:gridCol w="1215677">
                  <a:extLst>
                    <a:ext uri="{9D8B030D-6E8A-4147-A177-3AD203B41FA5}">
                      <a16:colId xmlns:a16="http://schemas.microsoft.com/office/drawing/2014/main" val="2657568295"/>
                    </a:ext>
                  </a:extLst>
                </a:gridCol>
              </a:tblGrid>
              <a:tr h="189230">
                <a:tc>
                  <a:txBody>
                    <a:bodyPr/>
                    <a:lstStyle/>
                    <a:p>
                      <a:pPr algn="ctr" fontAlgn="b"/>
                      <a:r>
                        <a:rPr lang="en-US" sz="1100" u="none" strike="noStrike">
                          <a:effectLst/>
                        </a:rPr>
                        <a:t>Burns &amp; Mac - Phase 1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Total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Completed</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3699450358"/>
                  </a:ext>
                </a:extLst>
              </a:tr>
              <a:tr h="189230">
                <a:tc>
                  <a:txBody>
                    <a:bodyPr/>
                    <a:lstStyle/>
                    <a:p>
                      <a:pPr algn="ctr" fontAlgn="b"/>
                      <a:r>
                        <a:rPr lang="en-US" sz="1100" u="none" strike="noStrike">
                          <a:effectLst/>
                        </a:rPr>
                        <a:t>IFR - Issued for review design</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31</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657657533"/>
                  </a:ext>
                </a:extLst>
              </a:tr>
              <a:tr h="189230">
                <a:tc>
                  <a:txBody>
                    <a:bodyPr/>
                    <a:lstStyle/>
                    <a:p>
                      <a:pPr algn="ctr" fontAlgn="b"/>
                      <a:r>
                        <a:rPr lang="en-US" sz="1100" u="none" strike="noStrike" dirty="0">
                          <a:effectLst/>
                        </a:rPr>
                        <a:t>IFC - Issued for construction </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31</a:t>
                      </a:r>
                    </a:p>
                  </a:txBody>
                  <a:tcPr marL="7620" marR="7620" marT="7620" marB="0" anchor="b">
                    <a:solidFill>
                      <a:schemeClr val="accent1">
                        <a:lumMod val="40000"/>
                        <a:lumOff val="60000"/>
                      </a:schemeClr>
                    </a:solidFill>
                  </a:tcPr>
                </a:tc>
                <a:extLst>
                  <a:ext uri="{0D108BD9-81ED-4DB2-BD59-A6C34878D82A}">
                    <a16:rowId xmlns:a16="http://schemas.microsoft.com/office/drawing/2014/main" val="2772479479"/>
                  </a:ext>
                </a:extLst>
              </a:tr>
            </a:tbl>
          </a:graphicData>
        </a:graphic>
      </p:graphicFrame>
      <p:sp>
        <p:nvSpPr>
          <p:cNvPr id="10" name="Title 3"/>
          <p:cNvSpPr txBox="1">
            <a:spLocks/>
          </p:cNvSpPr>
          <p:nvPr/>
        </p:nvSpPr>
        <p:spPr bwMode="auto">
          <a:xfrm>
            <a:off x="971442" y="231090"/>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Highlight Project Accomplishments  </a:t>
            </a:r>
          </a:p>
        </p:txBody>
      </p:sp>
      <p:graphicFrame>
        <p:nvGraphicFramePr>
          <p:cNvPr id="5" name="Table 4">
            <a:extLst>
              <a:ext uri="{FF2B5EF4-FFF2-40B4-BE49-F238E27FC236}">
                <a16:creationId xmlns:a16="http://schemas.microsoft.com/office/drawing/2014/main" id="{ACF7F624-CA47-9A8B-BEB6-C52CFB6231C0}"/>
              </a:ext>
            </a:extLst>
          </p:cNvPr>
          <p:cNvGraphicFramePr>
            <a:graphicFrameLocks noGrp="1"/>
          </p:cNvGraphicFramePr>
          <p:nvPr>
            <p:extLst>
              <p:ext uri="{D42A27DB-BD31-4B8C-83A1-F6EECF244321}">
                <p14:modId xmlns:p14="http://schemas.microsoft.com/office/powerpoint/2010/main" val="3192296392"/>
              </p:ext>
            </p:extLst>
          </p:nvPr>
        </p:nvGraphicFramePr>
        <p:xfrm>
          <a:off x="7185502" y="1112388"/>
          <a:ext cx="2933069" cy="3598393"/>
        </p:xfrm>
        <a:graphic>
          <a:graphicData uri="http://schemas.openxmlformats.org/drawingml/2006/table">
            <a:tbl>
              <a:tblPr>
                <a:tableStyleId>{5C22544A-7EE6-4342-B048-85BDC9FD1C3A}</a:tableStyleId>
              </a:tblPr>
              <a:tblGrid>
                <a:gridCol w="2259660">
                  <a:extLst>
                    <a:ext uri="{9D8B030D-6E8A-4147-A177-3AD203B41FA5}">
                      <a16:colId xmlns:a16="http://schemas.microsoft.com/office/drawing/2014/main" val="911109585"/>
                    </a:ext>
                  </a:extLst>
                </a:gridCol>
                <a:gridCol w="673409">
                  <a:extLst>
                    <a:ext uri="{9D8B030D-6E8A-4147-A177-3AD203B41FA5}">
                      <a16:colId xmlns:a16="http://schemas.microsoft.com/office/drawing/2014/main" val="679552774"/>
                    </a:ext>
                  </a:extLst>
                </a:gridCol>
              </a:tblGrid>
              <a:tr h="219414">
                <a:tc gridSpan="2">
                  <a:txBody>
                    <a:bodyPr/>
                    <a:lstStyle/>
                    <a:p>
                      <a:pPr algn="ctr" rtl="0" fontAlgn="b">
                        <a:buNone/>
                      </a:pPr>
                      <a:r>
                        <a:rPr lang="en-US" sz="1000" u="none" strike="noStrike">
                          <a:effectLst/>
                        </a:rPr>
                        <a:t>Total Phase 1 scope </a:t>
                      </a:r>
                      <a:endParaRPr lang="en-US" sz="1000" b="0" i="0" u="none" strike="noStrike">
                        <a:solidFill>
                          <a:srgbClr val="000000"/>
                        </a:solidFill>
                        <a:effectLst/>
                        <a:latin typeface="Calibri" panose="020F0502020204030204" pitchFamily="34" charset="0"/>
                      </a:endParaRPr>
                    </a:p>
                  </a:txBody>
                  <a:tcPr marL="6350" marR="6350" marT="6350" marB="0" anchor="b"/>
                </a:tc>
                <a:tc hMerge="1">
                  <a:txBody>
                    <a:bodyPr/>
                    <a:lstStyle/>
                    <a:p>
                      <a:endParaRPr lang="en-US"/>
                    </a:p>
                  </a:txBody>
                  <a:tcPr/>
                </a:tc>
                <a:extLst>
                  <a:ext uri="{0D108BD9-81ED-4DB2-BD59-A6C34878D82A}">
                    <a16:rowId xmlns:a16="http://schemas.microsoft.com/office/drawing/2014/main" val="1979291364"/>
                  </a:ext>
                </a:extLst>
              </a:tr>
              <a:tr h="585105">
                <a:tc>
                  <a:txBody>
                    <a:bodyPr/>
                    <a:lstStyle/>
                    <a:p>
                      <a:pPr algn="l" rtl="0" fontAlgn="b">
                        <a:buNone/>
                      </a:pPr>
                      <a:r>
                        <a:rPr lang="en-US" sz="1000" u="none" strike="noStrike">
                          <a:effectLst/>
                        </a:rPr>
                        <a:t>Initiation &amp; Planning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38191846"/>
                  </a:ext>
                </a:extLst>
              </a:tr>
              <a:tr h="394946">
                <a:tc>
                  <a:txBody>
                    <a:bodyPr/>
                    <a:lstStyle/>
                    <a:p>
                      <a:pPr algn="l" rtl="0" fontAlgn="b">
                        <a:buNone/>
                      </a:pPr>
                      <a:r>
                        <a:rPr lang="en-US" sz="1000" u="none" strike="noStrike" dirty="0">
                          <a:effectLst/>
                        </a:rPr>
                        <a:t>Site Surveys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65055005"/>
                  </a:ext>
                </a:extLst>
              </a:tr>
              <a:tr h="219414">
                <a:tc>
                  <a:txBody>
                    <a:bodyPr/>
                    <a:lstStyle/>
                    <a:p>
                      <a:pPr algn="l" rtl="0" fontAlgn="b">
                        <a:buNone/>
                      </a:pPr>
                      <a:r>
                        <a:rPr lang="en-US" sz="1000" u="none" strike="noStrike">
                          <a:effectLst/>
                        </a:rPr>
                        <a:t>Test Plan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34250441"/>
                  </a:ext>
                </a:extLst>
              </a:tr>
              <a:tr h="219414">
                <a:tc>
                  <a:txBody>
                    <a:bodyPr/>
                    <a:lstStyle/>
                    <a:p>
                      <a:pPr algn="l" rtl="0" fontAlgn="b">
                        <a:buNone/>
                      </a:pPr>
                      <a:r>
                        <a:rPr lang="en-US" sz="1000" u="none" strike="noStrike">
                          <a:effectLst/>
                        </a:rPr>
                        <a:t>HLD</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62946182"/>
                  </a:ext>
                </a:extLst>
              </a:tr>
              <a:tr h="219414">
                <a:tc>
                  <a:txBody>
                    <a:bodyPr/>
                    <a:lstStyle/>
                    <a:p>
                      <a:pPr algn="l" rtl="0" fontAlgn="b">
                        <a:buNone/>
                      </a:pPr>
                      <a:r>
                        <a:rPr lang="en-US" sz="1000" u="none" strike="noStrike">
                          <a:effectLst/>
                        </a:rPr>
                        <a:t>IFR/IFC</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04545583"/>
                  </a:ext>
                </a:extLst>
              </a:tr>
              <a:tr h="394946">
                <a:tc>
                  <a:txBody>
                    <a:bodyPr/>
                    <a:lstStyle/>
                    <a:p>
                      <a:pPr algn="l" rtl="0" fontAlgn="b">
                        <a:buNone/>
                      </a:pPr>
                      <a:r>
                        <a:rPr lang="en-US" sz="1000" u="none" strike="noStrike">
                          <a:effectLst/>
                        </a:rPr>
                        <a:t>Procurement</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15060852"/>
                  </a:ext>
                </a:extLst>
              </a:tr>
              <a:tr h="219414">
                <a:tc>
                  <a:txBody>
                    <a:bodyPr/>
                    <a:lstStyle/>
                    <a:p>
                      <a:pPr algn="l" rtl="0" fontAlgn="b">
                        <a:buNone/>
                      </a:pPr>
                      <a:r>
                        <a:rPr lang="en-US" sz="1000" u="none" strike="noStrike" dirty="0">
                          <a:effectLst/>
                        </a:rPr>
                        <a:t>Staging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03479597"/>
                  </a:ext>
                </a:extLst>
              </a:tr>
              <a:tr h="219414">
                <a:tc>
                  <a:txBody>
                    <a:bodyPr/>
                    <a:lstStyle/>
                    <a:p>
                      <a:pPr algn="l" rtl="0" fontAlgn="b">
                        <a:buNone/>
                      </a:pPr>
                      <a:r>
                        <a:rPr lang="en-US" sz="1000" u="none" strike="noStrike">
                          <a:effectLst/>
                        </a:rPr>
                        <a:t>Field Installation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28702971"/>
                  </a:ext>
                </a:extLst>
              </a:tr>
              <a:tr h="219414">
                <a:tc>
                  <a:txBody>
                    <a:bodyPr/>
                    <a:lstStyle/>
                    <a:p>
                      <a:pPr algn="l" rtl="0" fontAlgn="b">
                        <a:buNone/>
                      </a:pPr>
                      <a:r>
                        <a:rPr lang="en-US" sz="1000" u="none" strike="noStrike" dirty="0">
                          <a:effectLst/>
                        </a:rPr>
                        <a:t>Deployment - CWDM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34456911"/>
                  </a:ext>
                </a:extLst>
              </a:tr>
              <a:tr h="343749">
                <a:tc>
                  <a:txBody>
                    <a:bodyPr/>
                    <a:lstStyle/>
                    <a:p>
                      <a:pPr algn="l" rtl="0" fontAlgn="b">
                        <a:buNone/>
                      </a:pPr>
                      <a:r>
                        <a:rPr lang="en-US" sz="1000" u="none" strike="noStrike" dirty="0">
                          <a:effectLst/>
                        </a:rPr>
                        <a:t>Pre-Deployment Deployment -          Security &amp; Radio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5%</a:t>
                      </a:r>
                      <a:endParaRPr lang="en-US" sz="1100" u="none" strike="noStrike" kern="1200" dirty="0">
                        <a:solidFill>
                          <a:schemeClr val="dk1"/>
                        </a:solidFill>
                        <a:effectLst/>
                        <a:latin typeface="+mn-lt"/>
                        <a:ea typeface="+mn-ea"/>
                        <a:cs typeface="+mn-cs"/>
                      </a:endParaRPr>
                    </a:p>
                  </a:txBody>
                  <a:tcPr marL="6350" marR="6350" marT="6350" marB="0" anchor="b"/>
                </a:tc>
                <a:extLst>
                  <a:ext uri="{0D108BD9-81ED-4DB2-BD59-A6C34878D82A}">
                    <a16:rowId xmlns:a16="http://schemas.microsoft.com/office/drawing/2014/main" val="763113042"/>
                  </a:ext>
                </a:extLst>
              </a:tr>
              <a:tr h="343749">
                <a:tc>
                  <a:txBody>
                    <a:bodyPr/>
                    <a:lstStyle/>
                    <a:p>
                      <a:pPr algn="l" rtl="0" fontAlgn="b">
                        <a:buNone/>
                      </a:pPr>
                      <a:r>
                        <a:rPr lang="en-US" sz="1000" u="none" strike="noStrike">
                          <a:effectLst/>
                        </a:rPr>
                        <a:t>Deployment - Relay/RTU Cutover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not started</a:t>
                      </a:r>
                    </a:p>
                  </a:txBody>
                  <a:tcPr marL="6350" marR="6350" marT="6350" marB="0" anchor="b"/>
                </a:tc>
                <a:extLst>
                  <a:ext uri="{0D108BD9-81ED-4DB2-BD59-A6C34878D82A}">
                    <a16:rowId xmlns:a16="http://schemas.microsoft.com/office/drawing/2014/main" val="4102666781"/>
                  </a:ext>
                </a:extLst>
              </a:tr>
            </a:tbl>
          </a:graphicData>
        </a:graphic>
      </p:graphicFrame>
      <p:sp>
        <p:nvSpPr>
          <p:cNvPr id="11" name="TextBox 10"/>
          <p:cNvSpPr txBox="1"/>
          <p:nvPr/>
        </p:nvSpPr>
        <p:spPr>
          <a:xfrm>
            <a:off x="228600" y="5806440"/>
            <a:ext cx="8412480" cy="411480"/>
          </a:xfrm>
          <a:prstGeom prst="rect">
            <a:avLst/>
          </a:prstGeom>
          <a:noFill/>
        </p:spPr>
        <p:txBody>
          <a:bodyPr wrap="square">
            <a:spAutoFit/>
          </a:bodyPr>
          <a:lstStyle/>
          <a:p>
            <a:pPr algn="l"/>
            <a:r>
              <a:rPr b="0" sz="750" i="1">
                <a:solidFill>
                  <a:srgbClr val="856404"/>
                </a:solidFill>
              </a:rPr>
              <a:t>⚠ Vik (Mar 16): "Sub-phases of Phase 1 aren't being documented and separated — leading to inaccurate reporting. Phase 1 has several micro-phases. Even though we've completed some, the entire phase is NOT complete. People don't come back and say '31 is all done — everything about 31 is done.' It's not that kind of project."</a:t>
            </a:r>
          </a:p>
        </p:txBody>
      </p:sp>
    </p:spTree>
    <p:extLst>
      <p:ext uri="{BB962C8B-B14F-4D97-AF65-F5344CB8AC3E}">
        <p14:creationId xmlns:p14="http://schemas.microsoft.com/office/powerpoint/2010/main" val="1417963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F204FD2-C527-D8B9-A788-0D242A78DE3D}"/>
              </a:ext>
            </a:extLst>
          </p:cNvPr>
          <p:cNvSpPr txBox="1"/>
          <p:nvPr/>
        </p:nvSpPr>
        <p:spPr>
          <a:xfrm>
            <a:off x="643467" y="651752"/>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kern="1200" dirty="0">
                <a:solidFill>
                  <a:schemeClr val="bg1"/>
                </a:solidFill>
                <a:latin typeface="+mj-lt"/>
                <a:ea typeface="+mj-ea"/>
                <a:cs typeface="+mj-cs"/>
              </a:rPr>
              <a:t>Phase 1 – Layer 1-3 configuration – Next steps  </a:t>
            </a:r>
          </a:p>
        </p:txBody>
      </p:sp>
      <p:graphicFrame>
        <p:nvGraphicFramePr>
          <p:cNvPr id="8" name="Table 7">
            <a:extLst>
              <a:ext uri="{FF2B5EF4-FFF2-40B4-BE49-F238E27FC236}">
                <a16:creationId xmlns:a16="http://schemas.microsoft.com/office/drawing/2014/main" id="{4EE937DA-E63A-38EB-953F-746B2D530FFB}"/>
              </a:ext>
            </a:extLst>
          </p:cNvPr>
          <p:cNvGraphicFramePr>
            <a:graphicFrameLocks noGrp="1"/>
          </p:cNvGraphicFramePr>
          <p:nvPr>
            <p:extLst>
              <p:ext uri="{D42A27DB-BD31-4B8C-83A1-F6EECF244321}">
                <p14:modId xmlns:p14="http://schemas.microsoft.com/office/powerpoint/2010/main" val="1690904527"/>
              </p:ext>
            </p:extLst>
          </p:nvPr>
        </p:nvGraphicFramePr>
        <p:xfrm>
          <a:off x="643467" y="1873958"/>
          <a:ext cx="11060853" cy="4087929"/>
        </p:xfrm>
        <a:graphic>
          <a:graphicData uri="http://schemas.openxmlformats.org/drawingml/2006/table">
            <a:tbl>
              <a:tblPr/>
              <a:tblGrid>
                <a:gridCol w="2034979">
                  <a:extLst>
                    <a:ext uri="{9D8B030D-6E8A-4147-A177-3AD203B41FA5}">
                      <a16:colId xmlns:a16="http://schemas.microsoft.com/office/drawing/2014/main" val="639203627"/>
                    </a:ext>
                  </a:extLst>
                </a:gridCol>
                <a:gridCol w="5498432">
                  <a:extLst>
                    <a:ext uri="{9D8B030D-6E8A-4147-A177-3AD203B41FA5}">
                      <a16:colId xmlns:a16="http://schemas.microsoft.com/office/drawing/2014/main" val="2492720301"/>
                    </a:ext>
                  </a:extLst>
                </a:gridCol>
                <a:gridCol w="1070103">
                  <a:extLst>
                    <a:ext uri="{9D8B030D-6E8A-4147-A177-3AD203B41FA5}">
                      <a16:colId xmlns:a16="http://schemas.microsoft.com/office/drawing/2014/main" val="1030227231"/>
                    </a:ext>
                  </a:extLst>
                </a:gridCol>
                <a:gridCol w="1216223">
                  <a:extLst>
                    <a:ext uri="{9D8B030D-6E8A-4147-A177-3AD203B41FA5}">
                      <a16:colId xmlns:a16="http://schemas.microsoft.com/office/drawing/2014/main" val="585339364"/>
                    </a:ext>
                  </a:extLst>
                </a:gridCol>
                <a:gridCol w="1241116">
                  <a:extLst>
                    <a:ext uri="{9D8B030D-6E8A-4147-A177-3AD203B41FA5}">
                      <a16:colId xmlns:a16="http://schemas.microsoft.com/office/drawing/2014/main" val="1405953580"/>
                    </a:ext>
                  </a:extLst>
                </a:gridCol>
              </a:tblGrid>
              <a:tr h="433388">
                <a:tc>
                  <a:txBody>
                    <a:bodyPr/>
                    <a:lstStyle/>
                    <a:p>
                      <a:pPr algn="ctr" fontAlgn="t">
                        <a:buNone/>
                      </a:pPr>
                      <a:r>
                        <a:rPr lang="en-US" sz="1200" b="0" i="0" u="none" strike="noStrike" dirty="0">
                          <a:solidFill>
                            <a:srgbClr val="FFFFFF"/>
                          </a:solidFill>
                          <a:effectLst/>
                          <a:latin typeface="Aptos Narrow" panose="020B0004020202020204" pitchFamily="34" charset="0"/>
                        </a:rPr>
                        <a:t>Mobilization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ptos Narrow" panose="020B0004020202020204" pitchFamily="34" charset="0"/>
                          <a:ea typeface="+mn-ea"/>
                          <a:cs typeface="+mn-cs"/>
                        </a:rPr>
                        <a:t>Description</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Responsible Stakeholder</a:t>
                      </a:r>
                      <a:endParaRPr lang="en-US" sz="2000" b="0" i="0" u="none" strike="noStrike">
                        <a:effectLst/>
                        <a:latin typeface="Arial" panose="020B0604020202020204" pitchFamily="34" charset="0"/>
                      </a:endParaRPr>
                    </a:p>
                  </a:txBody>
                  <a:tcPr marL="7114" marR="7114" marT="7114"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ctr">
                        <a:buNone/>
                      </a:pPr>
                      <a:r>
                        <a:rPr lang="en-US" sz="1200" b="0" i="0" u="none" strike="noStrike">
                          <a:solidFill>
                            <a:srgbClr val="FFFFFF"/>
                          </a:solidFill>
                          <a:effectLst/>
                          <a:latin typeface="Aptos Narrow" panose="020B0004020202020204" pitchFamily="34" charset="0"/>
                        </a:rPr>
                        <a:t>Present On Site </a:t>
                      </a:r>
                      <a:endParaRPr lang="en-US" sz="2000" b="0" i="0" u="none" strike="noStrike">
                        <a:effectLst/>
                        <a:latin typeface="Arial" panose="020B0604020202020204" pitchFamily="34" charset="0"/>
                      </a:endParaRPr>
                    </a:p>
                  </a:txBody>
                  <a:tcPr marL="7114" marR="7114" marT="7114" marB="0" anchor="ctr">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Estimated Duration/Site</a:t>
                      </a:r>
                      <a:endParaRPr lang="en-US" sz="2000" b="0" i="0" u="none" strike="noStrike">
                        <a:effectLst/>
                        <a:latin typeface="Arial" panose="020B0604020202020204" pitchFamily="34" charset="0"/>
                      </a:endParaRPr>
                    </a:p>
                  </a:txBody>
                  <a:tcPr marL="7114" marR="7114" marT="7114" marB="0" anchor="b">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extLst>
                  <a:ext uri="{0D108BD9-81ED-4DB2-BD59-A6C34878D82A}">
                    <a16:rowId xmlns:a16="http://schemas.microsoft.com/office/drawing/2014/main" val="3674121576"/>
                  </a:ext>
                </a:extLst>
              </a:tr>
              <a:tr h="1009684">
                <a:tc>
                  <a:txBody>
                    <a:bodyPr/>
                    <a:lstStyle/>
                    <a:p>
                      <a:pPr algn="l" fontAlgn="ctr">
                        <a:buNone/>
                      </a:pPr>
                      <a:r>
                        <a:rPr lang="en-US" sz="1200" b="0" i="0" u="none" strike="noStrike">
                          <a:solidFill>
                            <a:srgbClr val="000000"/>
                          </a:solidFill>
                          <a:effectLst/>
                          <a:latin typeface="Aptos Narrow" panose="020B0004020202020204" pitchFamily="34" charset="0"/>
                        </a:rPr>
                        <a:t>Initial Installation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Clr>
                          <a:srgbClr val="000000"/>
                        </a:buClr>
                        <a:buSzPts val="1100"/>
                        <a:buFont typeface="Aptos Narrow" panose="020B0004020202020204" pitchFamily="34" charset="0"/>
                        <a:buNone/>
                      </a:pP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power feeds - </a:t>
                      </a:r>
                      <a:r>
                        <a:rPr lang="en-US" sz="1200" b="0" i="0" u="none" strike="noStrike" dirty="0">
                          <a:solidFill>
                            <a:srgbClr val="00B050"/>
                          </a:solidFill>
                          <a:effectLst/>
                          <a:latin typeface="Aptos Narrow" panose="020B0004020202020204" pitchFamily="34" charset="0"/>
                        </a:rPr>
                        <a:t>Completed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Power MPLS router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new communication cables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endParaRPr lang="en-US" sz="1200" b="0" i="0" u="none" strike="noStrike" dirty="0">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BMcD,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24325104"/>
                  </a:ext>
                </a:extLst>
              </a:tr>
              <a:tr h="625487">
                <a:tc>
                  <a:txBody>
                    <a:bodyPr/>
                    <a:lstStyle/>
                    <a:p>
                      <a:pPr algn="l" fontAlgn="ctr">
                        <a:buNone/>
                      </a:pPr>
                      <a:r>
                        <a:rPr lang="en-US" sz="1200" b="0" i="0" u="none" strike="noStrike">
                          <a:solidFill>
                            <a:srgbClr val="000000"/>
                          </a:solidFill>
                          <a:effectLst/>
                          <a:latin typeface="Aptos Narrow" panose="020B0004020202020204" pitchFamily="34" charset="0"/>
                        </a:rPr>
                        <a:t>Fiber Integration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JMUX OC-48 Circuits &amp; Nokia MPLS over CWDM filters  - </a:t>
                      </a:r>
                      <a:r>
                        <a:rPr lang="en-US" sz="1200" b="0" i="0" u="none" strike="noStrike">
                          <a:solidFill>
                            <a:srgbClr val="00B050"/>
                          </a:solidFill>
                          <a:effectLst/>
                          <a:latin typeface="Aptos Narrow" panose="020B0004020202020204" pitchFamily="34" charset="0"/>
                        </a:rPr>
                        <a:t>Completed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new MPLS parallel links  -</a:t>
                      </a:r>
                      <a:r>
                        <a:rPr lang="en-US" sz="1200" b="0" i="0" u="none" strike="noStrike">
                          <a:solidFill>
                            <a:srgbClr val="00B050"/>
                          </a:solidFill>
                          <a:effectLst/>
                          <a:latin typeface="Aptos Narrow" panose="020B0004020202020204" pitchFamily="34" charset="0"/>
                        </a:rPr>
                        <a:t> Completed</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Nokia parallel network &amp; connectivity - </a:t>
                      </a:r>
                      <a:r>
                        <a:rPr lang="en-US" sz="1200" b="0" i="0" u="none" strike="noStrike">
                          <a:solidFill>
                            <a:srgbClr val="00B050"/>
                          </a:solidFill>
                          <a:effectLst/>
                          <a:latin typeface="Aptos Narrow" panose="020B0004020202020204" pitchFamily="34" charset="0"/>
                        </a:rPr>
                        <a:t>Completed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1 Week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1288650"/>
                  </a:ext>
                </a:extLst>
              </a:tr>
              <a:tr h="1393883">
                <a:tc>
                  <a:txBody>
                    <a:bodyPr/>
                    <a:lstStyle/>
                    <a:p>
                      <a:pPr algn="l" fontAlgn="ctr">
                        <a:buNone/>
                      </a:pPr>
                      <a:r>
                        <a:rPr lang="en-US" sz="1200" b="0" i="0" u="none" strike="noStrike">
                          <a:solidFill>
                            <a:srgbClr val="000000"/>
                          </a:solidFill>
                          <a:effectLst/>
                          <a:latin typeface="Aptos Narrow" panose="020B0004020202020204" pitchFamily="34" charset="0"/>
                        </a:rPr>
                        <a:t>Layer 3 Connect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Establish Ethernet circuits with Nokia MPLS in paralled with JMUX where possible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Security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FEMA 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Two-way Radio</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DSCADA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MicroPAQ</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51813853"/>
                  </a:ext>
                </a:extLst>
              </a:tr>
              <a:tr h="625487">
                <a:tc>
                  <a:txBody>
                    <a:bodyPr/>
                    <a:lstStyle/>
                    <a:p>
                      <a:pPr algn="l" fontAlgn="ctr">
                        <a:buNone/>
                      </a:pPr>
                      <a:r>
                        <a:rPr lang="en-US" sz="1200" b="0" i="0" u="none" strike="noStrike" dirty="0">
                          <a:solidFill>
                            <a:srgbClr val="000000"/>
                          </a:solidFill>
                          <a:effectLst/>
                          <a:latin typeface="Aptos Narrow" panose="020B0004020202020204" pitchFamily="34" charset="0"/>
                        </a:rPr>
                        <a:t> Layer 1 </a:t>
                      </a:r>
                      <a:endParaRPr lang="en-US" sz="2000" b="0" i="0" u="none" strike="noStrike" dirty="0">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Cutover of relay and RTU circuits from JMUX to MPLS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Cutover any other circuits (PAR, DRD, etc.) as possble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Only RTUs/Circuits with no dependency on other JMUX rings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 (Relay)</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5 days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30843798"/>
                  </a:ext>
                </a:extLst>
              </a:tr>
            </a:tbl>
          </a:graphicData>
        </a:graphic>
      </p:graphicFrame>
    </p:spTree>
    <p:extLst>
      <p:ext uri="{BB962C8B-B14F-4D97-AF65-F5344CB8AC3E}">
        <p14:creationId xmlns:p14="http://schemas.microsoft.com/office/powerpoint/2010/main" val="314420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111D16C-0D70-4DF7-A884-2B965BBE9EE0}"/>
              </a:ext>
            </a:extLst>
          </p:cNvPr>
          <p:cNvSpPr/>
          <p:nvPr/>
        </p:nvSpPr>
        <p:spPr>
          <a:xfrm>
            <a:off x="0" y="6183086"/>
            <a:ext cx="12192000" cy="6688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Box 43">
            <a:extLst>
              <a:ext uri="{FF2B5EF4-FFF2-40B4-BE49-F238E27FC236}">
                <a16:creationId xmlns:a16="http://schemas.microsoft.com/office/drawing/2014/main" id="{F46A4095-A75E-441B-8801-2005C3DACEC8}"/>
              </a:ext>
            </a:extLst>
          </p:cNvPr>
          <p:cNvSpPr txBox="1"/>
          <p:nvPr/>
        </p:nvSpPr>
        <p:spPr>
          <a:xfrm>
            <a:off x="1" y="4037992"/>
            <a:ext cx="6254880" cy="1366317"/>
          </a:xfrm>
          <a:prstGeom prst="rect">
            <a:avLst/>
          </a:prstGeom>
          <a:solidFill>
            <a:schemeClr val="accent1">
              <a:lumMod val="10000"/>
              <a:lumOff val="90000"/>
            </a:schemeClr>
          </a:solidFill>
          <a:ln w="19050">
            <a:solidFill>
              <a:schemeClr val="accent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600"/>
              </a:spcAft>
            </a:pPr>
            <a:r>
              <a:rPr lang="en-GB" sz="1000" b="1" u="sng" dirty="0">
                <a:solidFill>
                  <a:schemeClr val="tx1"/>
                </a:solidFill>
                <a:latin typeface="Arial" panose="020B0604020202020204" pitchFamily="34" charset="0"/>
                <a:ea typeface="Times New Roman" panose="02020603050405020304" pitchFamily="18" charset="0"/>
              </a:rPr>
              <a:t>Progress Current Period (past 2 weeks)- Milestones/Key Deliverables with Dates</a:t>
            </a: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CAT6 cable run completed by Hawkeye 				03/04/2026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OTDR testing completed from Hicksville to Syosset , found bad filter 		                                03/09/2026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First batch of IFR(3) have been converted to IFC and uploaded to shared drive	                                03/09/2026</a:t>
            </a:r>
          </a:p>
          <a:p>
            <a:r>
              <a:rPr lang="en-US" sz="800" dirty="0">
                <a:ea typeface="Times New Roman" panose="02020603050405020304" pitchFamily="18" charset="0"/>
              </a:rPr>
              <a:t>	</a:t>
            </a:r>
          </a:p>
        </p:txBody>
      </p:sp>
      <p:sp>
        <p:nvSpPr>
          <p:cNvPr id="34" name="Title 5">
            <a:extLst>
              <a:ext uri="{FF2B5EF4-FFF2-40B4-BE49-F238E27FC236}">
                <a16:creationId xmlns:a16="http://schemas.microsoft.com/office/drawing/2014/main" id="{750A431B-B608-496E-9DA5-C69F700B2284}"/>
              </a:ext>
            </a:extLst>
          </p:cNvPr>
          <p:cNvSpPr>
            <a:spLocks noGrp="1"/>
          </p:cNvSpPr>
          <p:nvPr>
            <p:ph type="title"/>
          </p:nvPr>
        </p:nvSpPr>
        <p:spPr>
          <a:xfrm>
            <a:off x="0" y="-32"/>
            <a:ext cx="12192000" cy="811732"/>
          </a:xfrm>
          <a:solidFill>
            <a:schemeClr val="bg1">
              <a:lumMod val="85000"/>
            </a:schemeClr>
          </a:solidFill>
          <a:ln w="12700">
            <a:solidFill>
              <a:prstClr val="black"/>
            </a:solidFill>
          </a:ln>
        </p:spPr>
        <p:txBody>
          <a:bodyPr anchor="ctr"/>
          <a:lstStyle/>
          <a:p>
            <a:pPr algn="ctr"/>
            <a:r>
              <a:rPr lang="en-US" altLang="en-US" sz="2400" dirty="0"/>
              <a:t>JMUX Replacement</a:t>
            </a:r>
            <a:endParaRPr lang="en-US" sz="1000" b="0" dirty="0">
              <a:solidFill>
                <a:schemeClr val="tx1"/>
              </a:solidFill>
              <a:latin typeface="+mn-lt"/>
            </a:endParaRPr>
          </a:p>
        </p:txBody>
      </p:sp>
      <p:graphicFrame>
        <p:nvGraphicFramePr>
          <p:cNvPr id="35" name="Table 34">
            <a:extLst>
              <a:ext uri="{FF2B5EF4-FFF2-40B4-BE49-F238E27FC236}">
                <a16:creationId xmlns:a16="http://schemas.microsoft.com/office/drawing/2014/main" id="{059ECB7F-20E3-4CCE-ACDC-23A88D3722C0}"/>
              </a:ext>
            </a:extLst>
          </p:cNvPr>
          <p:cNvGraphicFramePr>
            <a:graphicFrameLocks noGrp="1"/>
          </p:cNvGraphicFramePr>
          <p:nvPr/>
        </p:nvGraphicFramePr>
        <p:xfrm>
          <a:off x="3960666" y="812584"/>
          <a:ext cx="2321027" cy="2082214"/>
        </p:xfrm>
        <a:graphic>
          <a:graphicData uri="http://schemas.openxmlformats.org/drawingml/2006/table">
            <a:tbl>
              <a:tblPr firstRow="1" firstCol="1" bandRow="1">
                <a:tableStyleId>{5C22544A-7EE6-4342-B048-85BDC9FD1C3A}</a:tableStyleId>
              </a:tblPr>
              <a:tblGrid>
                <a:gridCol w="1023425">
                  <a:extLst>
                    <a:ext uri="{9D8B030D-6E8A-4147-A177-3AD203B41FA5}">
                      <a16:colId xmlns:a16="http://schemas.microsoft.com/office/drawing/2014/main" val="20000"/>
                    </a:ext>
                  </a:extLst>
                </a:gridCol>
                <a:gridCol w="651516">
                  <a:extLst>
                    <a:ext uri="{9D8B030D-6E8A-4147-A177-3AD203B41FA5}">
                      <a16:colId xmlns:a16="http://schemas.microsoft.com/office/drawing/2014/main" val="20001"/>
                    </a:ext>
                  </a:extLst>
                </a:gridCol>
                <a:gridCol w="646086">
                  <a:extLst>
                    <a:ext uri="{9D8B030D-6E8A-4147-A177-3AD203B41FA5}">
                      <a16:colId xmlns:a16="http://schemas.microsoft.com/office/drawing/2014/main" val="20002"/>
                    </a:ext>
                  </a:extLst>
                </a:gridCol>
              </a:tblGrid>
              <a:tr h="173199">
                <a:tc>
                  <a:txBody>
                    <a:bodyPr/>
                    <a:lstStyle/>
                    <a:p>
                      <a:pPr marL="0" marR="0" algn="l">
                        <a:spcBef>
                          <a:spcPts val="600"/>
                        </a:spcBef>
                        <a:spcAft>
                          <a:spcPts val="0"/>
                        </a:spcAft>
                      </a:pPr>
                      <a:r>
                        <a:rPr lang="en-GB" sz="1000" dirty="0">
                          <a:solidFill>
                            <a:schemeClr val="tx1"/>
                          </a:solidFill>
                          <a:effectLst/>
                        </a:rPr>
                        <a:t> </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600"/>
                        </a:spcBef>
                        <a:spcAft>
                          <a:spcPts val="0"/>
                        </a:spcAft>
                      </a:pPr>
                      <a:r>
                        <a:rPr lang="en-GB" sz="1000" b="1" dirty="0">
                          <a:solidFill>
                            <a:schemeClr val="tx1"/>
                          </a:solidFill>
                          <a:effectLst/>
                        </a:rPr>
                        <a:t>Status*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algn="l">
                        <a:spcBef>
                          <a:spcPts val="600"/>
                        </a:spcBef>
                        <a:spcAft>
                          <a:spcPts val="0"/>
                        </a:spcAft>
                      </a:pPr>
                      <a:r>
                        <a:rPr lang="en-GB" sz="1000" b="1" dirty="0">
                          <a:solidFill>
                            <a:schemeClr val="tx1"/>
                          </a:solidFill>
                          <a:effectLst/>
                        </a:rPr>
                        <a:t>Trends*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0"/>
                  </a:ext>
                </a:extLst>
              </a:tr>
              <a:tr h="381803">
                <a:tc>
                  <a:txBody>
                    <a:bodyPr/>
                    <a:lstStyle/>
                    <a:p>
                      <a:pPr marL="0" marR="0" algn="ctr">
                        <a:spcBef>
                          <a:spcPts val="300"/>
                        </a:spcBef>
                        <a:spcAft>
                          <a:spcPts val="300"/>
                        </a:spcAft>
                      </a:pPr>
                      <a:r>
                        <a:rPr lang="en-GB" sz="1000" dirty="0">
                          <a:solidFill>
                            <a:schemeClr val="tx1"/>
                          </a:solidFill>
                          <a:effectLst/>
                        </a:rPr>
                        <a:t>Schedule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Yellow</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2"/>
                  </a:ext>
                </a:extLst>
              </a:tr>
              <a:tr h="381803">
                <a:tc>
                  <a:txBody>
                    <a:bodyPr/>
                    <a:lstStyle/>
                    <a:p>
                      <a:pPr marL="0" marR="0" algn="ctr">
                        <a:spcBef>
                          <a:spcPts val="300"/>
                        </a:spcBef>
                        <a:spcAft>
                          <a:spcPts val="300"/>
                        </a:spcAft>
                      </a:pPr>
                      <a:r>
                        <a:rPr lang="en-GB" sz="1000" dirty="0">
                          <a:solidFill>
                            <a:schemeClr val="tx1"/>
                          </a:solidFill>
                          <a:effectLst/>
                        </a:rPr>
                        <a:t>Financial</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3"/>
                  </a:ext>
                </a:extLst>
              </a:tr>
              <a:tr h="381803">
                <a:tc>
                  <a:txBody>
                    <a:bodyPr/>
                    <a:lstStyle/>
                    <a:p>
                      <a:pPr marL="0" marR="0" algn="ctr">
                        <a:spcBef>
                          <a:spcPts val="300"/>
                        </a:spcBef>
                        <a:spcAft>
                          <a:spcPts val="300"/>
                        </a:spcAft>
                      </a:pPr>
                      <a:r>
                        <a:rPr lang="en-GB" sz="1000" dirty="0">
                          <a:solidFill>
                            <a:schemeClr val="tx1"/>
                          </a:solidFill>
                          <a:effectLst/>
                        </a:rPr>
                        <a:t>Scope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4"/>
                  </a:ext>
                </a:extLst>
              </a:tr>
              <a:tr h="381803">
                <a:tc>
                  <a:txBody>
                    <a:bodyPr/>
                    <a:lstStyle/>
                    <a:p>
                      <a:pPr marL="0" marR="0" algn="ctr">
                        <a:spcBef>
                          <a:spcPts val="300"/>
                        </a:spcBef>
                        <a:spcAft>
                          <a:spcPts val="300"/>
                        </a:spcAft>
                      </a:pPr>
                      <a:r>
                        <a:rPr lang="en-GB" sz="1000" dirty="0">
                          <a:solidFill>
                            <a:schemeClr val="tx1"/>
                          </a:solidFill>
                          <a:effectLst/>
                        </a:rPr>
                        <a:t>Risk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5"/>
                  </a:ext>
                </a:extLst>
              </a:tr>
              <a:tr h="381803">
                <a:tc>
                  <a:txBody>
                    <a:bodyPr/>
                    <a:lstStyle/>
                    <a:p>
                      <a:pPr marL="0" marR="0" algn="ctr">
                        <a:spcBef>
                          <a:spcPts val="300"/>
                        </a:spcBef>
                        <a:spcAft>
                          <a:spcPts val="300"/>
                        </a:spcAft>
                      </a:pPr>
                      <a:r>
                        <a:rPr lang="en-GB" sz="1000" dirty="0">
                          <a:solidFill>
                            <a:schemeClr val="tx1"/>
                          </a:solidFill>
                          <a:effectLst/>
                        </a:rPr>
                        <a:t> Resource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6"/>
                  </a:ext>
                </a:extLst>
              </a:tr>
            </a:tbl>
          </a:graphicData>
        </a:graphic>
      </p:graphicFrame>
      <p:sp>
        <p:nvSpPr>
          <p:cNvPr id="36" name="Text Box 6">
            <a:extLst>
              <a:ext uri="{FF2B5EF4-FFF2-40B4-BE49-F238E27FC236}">
                <a16:creationId xmlns:a16="http://schemas.microsoft.com/office/drawing/2014/main" id="{01308F76-0B61-47B3-9C87-8083E00E34E4}"/>
              </a:ext>
            </a:extLst>
          </p:cNvPr>
          <p:cNvSpPr txBox="1"/>
          <p:nvPr/>
        </p:nvSpPr>
        <p:spPr>
          <a:xfrm>
            <a:off x="0" y="-17595"/>
            <a:ext cx="2906763" cy="83269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Status Date:</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03/13/2026</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IT/Cyber:</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IT </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Director:</a:t>
            </a:r>
            <a:r>
              <a:rPr lang="en-GB" sz="1000" dirty="0">
                <a:solidFill>
                  <a:schemeClr val="tx1"/>
                </a:solidFill>
                <a:latin typeface="Arial" panose="020B0604020202020204" pitchFamily="34" charset="0"/>
                <a:ea typeface="Times New Roman" panose="02020603050405020304" pitchFamily="18" charset="0"/>
              </a:rPr>
              <a:t>	Irving Landesbaum</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GPM:</a:t>
            </a:r>
            <a:r>
              <a:rPr lang="en-GB" sz="1000" dirty="0">
                <a:solidFill>
                  <a:schemeClr val="tx1"/>
                </a:solidFill>
                <a:latin typeface="Arial" panose="020B0604020202020204" pitchFamily="34" charset="0"/>
                <a:ea typeface="Times New Roman" panose="02020603050405020304" pitchFamily="18" charset="0"/>
              </a:rPr>
              <a:t>	Vikas Vohra</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Program Manager</a:t>
            </a:r>
            <a:r>
              <a:rPr lang="en-GB" sz="1000" dirty="0">
                <a:solidFill>
                  <a:schemeClr val="tx1"/>
                </a:solidFill>
                <a:latin typeface="Arial" panose="020B0604020202020204" pitchFamily="34" charset="0"/>
                <a:ea typeface="Times New Roman" panose="02020603050405020304" pitchFamily="18" charset="0"/>
              </a:rPr>
              <a:t>	Jay Gunaratne</a:t>
            </a:r>
            <a:endParaRPr lang="en-US" sz="1000" dirty="0">
              <a:solidFill>
                <a:schemeClr val="tx1"/>
              </a:solidFill>
              <a:latin typeface="Arial" panose="020B0604020202020204" pitchFamily="34" charset="0"/>
              <a:ea typeface="Times New Roman" panose="02020603050405020304" pitchFamily="18" charset="0"/>
            </a:endParaRPr>
          </a:p>
        </p:txBody>
      </p:sp>
      <p:sp>
        <p:nvSpPr>
          <p:cNvPr id="37" name="Text Box 49">
            <a:extLst>
              <a:ext uri="{FF2B5EF4-FFF2-40B4-BE49-F238E27FC236}">
                <a16:creationId xmlns:a16="http://schemas.microsoft.com/office/drawing/2014/main" id="{D4DA2A4F-BC50-4ABE-8BF1-B0E6B4CC4157}"/>
              </a:ext>
            </a:extLst>
          </p:cNvPr>
          <p:cNvSpPr txBox="1"/>
          <p:nvPr/>
        </p:nvSpPr>
        <p:spPr>
          <a:xfrm>
            <a:off x="1" y="2902834"/>
            <a:ext cx="3194778" cy="1130582"/>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Time Management</a:t>
            </a:r>
            <a:endParaRPr lang="en-US" sz="10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Start 		</a:t>
            </a:r>
            <a:r>
              <a:rPr lang="en-US" sz="800" dirty="0">
                <a:solidFill>
                  <a:schemeClr val="tx1"/>
                </a:solidFill>
                <a:latin typeface="Arial" panose="020B0604020202020204" pitchFamily="34" charset="0"/>
                <a:ea typeface="Times New Roman" panose="02020603050405020304" pitchFamily="18" charset="0"/>
              </a:rPr>
              <a:t>03-01-2024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Start 		</a:t>
            </a:r>
            <a:r>
              <a:rPr lang="en-US" sz="800" dirty="0">
                <a:solidFill>
                  <a:schemeClr val="tx1"/>
                </a:solidFill>
                <a:latin typeface="Arial" panose="020B0604020202020204" pitchFamily="34" charset="0"/>
                <a:ea typeface="Times New Roman" panose="02020603050405020304" pitchFamily="18" charset="0"/>
              </a:rPr>
              <a:t>04-18-2024</a:t>
            </a:r>
          </a:p>
          <a:p>
            <a:pPr>
              <a:tabLst>
                <a:tab pos="1260475" algn="l"/>
                <a:tab pos="2457450" algn="l"/>
              </a:tabLst>
            </a:pPr>
            <a:r>
              <a:rPr lang="en-GB" sz="800" dirty="0">
                <a:solidFill>
                  <a:schemeClr val="tx1"/>
                </a:solidFill>
                <a:latin typeface="Arial" panose="020B0604020202020204" pitchFamily="34" charset="0"/>
                <a:ea typeface="Times New Roman" panose="02020603050405020304" pitchFamily="18" charset="0"/>
              </a:rPr>
              <a:t>Go-Live/In Service/Next Sprint Release	</a:t>
            </a:r>
            <a:r>
              <a:rPr lang="en-US" sz="800" dirty="0">
                <a:solidFill>
                  <a:schemeClr val="tx1"/>
                </a:solidFill>
                <a:latin typeface="Arial" panose="020B0604020202020204" pitchFamily="34" charset="0"/>
                <a:ea typeface="Times New Roman" panose="02020603050405020304" pitchFamily="18" charset="0"/>
              </a:rPr>
              <a:t>01-01-2024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End 		</a:t>
            </a:r>
            <a:r>
              <a:rPr lang="en-US" sz="800" dirty="0">
                <a:solidFill>
                  <a:schemeClr val="tx1"/>
                </a:solidFill>
                <a:latin typeface="Arial" panose="020B0604020202020204" pitchFamily="34" charset="0"/>
                <a:ea typeface="Times New Roman" panose="02020603050405020304" pitchFamily="18" charset="0"/>
              </a:rPr>
              <a:t>04-08-2027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Target End 		</a:t>
            </a:r>
            <a:r>
              <a:rPr lang="en-US" sz="800" dirty="0">
                <a:solidFill>
                  <a:schemeClr val="tx1"/>
                </a:solidFill>
                <a:latin typeface="Arial" panose="020B0604020202020204" pitchFamily="34" charset="0"/>
                <a:ea typeface="Times New Roman" panose="02020603050405020304" pitchFamily="18" charset="0"/>
              </a:rPr>
              <a:t>07-08-2027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endParaRPr lang="en-GB" sz="800" dirty="0">
              <a:solidFill>
                <a:schemeClr val="tx1"/>
              </a:solidFill>
              <a:latin typeface="Arial" panose="020B0604020202020204" pitchFamily="34" charset="0"/>
              <a:ea typeface="Times New Roman" panose="02020603050405020304" pitchFamily="18" charset="0"/>
            </a:endParaRPr>
          </a:p>
        </p:txBody>
      </p:sp>
      <p:sp>
        <p:nvSpPr>
          <p:cNvPr id="38" name="Right Arrow 15">
            <a:extLst>
              <a:ext uri="{FF2B5EF4-FFF2-40B4-BE49-F238E27FC236}">
                <a16:creationId xmlns:a16="http://schemas.microsoft.com/office/drawing/2014/main" id="{DF3D39DB-8948-4A91-AD85-640DD2CC862F}"/>
              </a:ext>
            </a:extLst>
          </p:cNvPr>
          <p:cNvSpPr/>
          <p:nvPr/>
        </p:nvSpPr>
        <p:spPr>
          <a:xfrm rot="16200000">
            <a:off x="5667924" y="253968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Text Box 50">
            <a:extLst>
              <a:ext uri="{FF2B5EF4-FFF2-40B4-BE49-F238E27FC236}">
                <a16:creationId xmlns:a16="http://schemas.microsoft.com/office/drawing/2014/main" id="{B213B5BC-8D69-4471-9CAE-BA4912EAD2F2}"/>
              </a:ext>
            </a:extLst>
          </p:cNvPr>
          <p:cNvSpPr txBox="1"/>
          <p:nvPr/>
        </p:nvSpPr>
        <p:spPr>
          <a:xfrm>
            <a:off x="3194779" y="2901950"/>
            <a:ext cx="3080579" cy="112511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Project Financials / Budget</a:t>
            </a:r>
            <a:endParaRPr lang="en-US" sz="1000" dirty="0">
              <a:solidFill>
                <a:schemeClr val="tx1"/>
              </a:solidFill>
              <a:latin typeface="Arial" panose="020B0604020202020204" pitchFamily="34" charset="0"/>
              <a:ea typeface="Times New Roman" panose="02020603050405020304" pitchFamily="18" charset="0"/>
            </a:endParaRP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WBS Code:                                                             I.39424.1.x</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LIPA approved total project budget: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URB approved funding to date: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Spend to date:	 $4,437,070.00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Estimate to complete:	$2,162,930.00</a:t>
            </a:r>
          </a:p>
          <a:p>
            <a:pPr lvl="0">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Estimate at completion:	 $6,600,000.00 </a:t>
            </a:r>
          </a:p>
          <a:p>
            <a:pPr>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Over (+) / Under (-) LIPA approved budget:	+/- $00.00</a:t>
            </a:r>
          </a:p>
          <a:p>
            <a:pPr lvl="0">
              <a:tabLst>
                <a:tab pos="2800350" algn="dec"/>
              </a:tabLst>
              <a:defRPr/>
            </a:pPr>
            <a:endParaRPr lang="en-US" sz="900" b="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p:txBody>
      </p:sp>
      <p:sp>
        <p:nvSpPr>
          <p:cNvPr id="40" name="Text Box 1">
            <a:extLst>
              <a:ext uri="{FF2B5EF4-FFF2-40B4-BE49-F238E27FC236}">
                <a16:creationId xmlns:a16="http://schemas.microsoft.com/office/drawing/2014/main" id="{CEF097BC-791C-42C4-B22F-75102FACFBBF}"/>
              </a:ext>
            </a:extLst>
          </p:cNvPr>
          <p:cNvSpPr txBox="1"/>
          <p:nvPr/>
        </p:nvSpPr>
        <p:spPr>
          <a:xfrm>
            <a:off x="6270720" y="1705230"/>
            <a:ext cx="5921280" cy="819368"/>
          </a:xfrm>
          <a:prstGeom prst="rect">
            <a:avLst/>
          </a:prstGeom>
          <a:solidFill>
            <a:schemeClr val="accent3">
              <a:lumMod val="20000"/>
              <a:lumOff val="80000"/>
            </a:schemeClr>
          </a:solidFill>
          <a:ln w="1270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Benefit</a:t>
            </a:r>
            <a:endParaRPr lang="en-US" dirty="0"/>
          </a:p>
          <a:p>
            <a:pPr>
              <a:defRPr/>
            </a:pPr>
            <a:r>
              <a:rPr lang="en-US" sz="800" dirty="0">
                <a:latin typeface="Arial" panose="020B0604020202020204" pitchFamily="34" charset="0"/>
                <a:cs typeface="Arial" panose="020B0604020202020204" pitchFamily="34" charset="0"/>
              </a:rPr>
              <a:t>Due to GE announcing End of Life for the GE Jungle Mux system as of EOY 2025, the benefits for project is to allow the Systems Integrator to select the most appropriate ‘Equipment Vendor’ via the RFP process to replace the GE JMUX equipment.  </a:t>
            </a:r>
          </a:p>
          <a:p>
            <a:r>
              <a:rPr lang="en-GB" sz="800" dirty="0">
                <a:latin typeface="Arial" panose="020B0604020202020204" pitchFamily="34" charset="0"/>
                <a:ea typeface="Times New Roman" panose="02020603050405020304" pitchFamily="18" charset="0"/>
              </a:rPr>
              <a:t> </a:t>
            </a:r>
            <a:endParaRPr lang="en-US" sz="800" dirty="0">
              <a:latin typeface="Arial" panose="020B0604020202020204" pitchFamily="34" charset="0"/>
              <a:ea typeface="Times New Roman" panose="02020603050405020304" pitchFamily="18" charset="0"/>
            </a:endParaRPr>
          </a:p>
        </p:txBody>
      </p:sp>
      <p:sp>
        <p:nvSpPr>
          <p:cNvPr id="41" name="Text Box 2">
            <a:extLst>
              <a:ext uri="{FF2B5EF4-FFF2-40B4-BE49-F238E27FC236}">
                <a16:creationId xmlns:a16="http://schemas.microsoft.com/office/drawing/2014/main" id="{3692495C-C8E2-4AB1-BF84-0E6A5EEB7EB0}"/>
              </a:ext>
            </a:extLst>
          </p:cNvPr>
          <p:cNvSpPr txBox="1"/>
          <p:nvPr/>
        </p:nvSpPr>
        <p:spPr>
          <a:xfrm>
            <a:off x="6270720" y="2524598"/>
            <a:ext cx="5921280" cy="743465"/>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rgbClr val="F7941D"/>
                </a:solidFill>
                <a:latin typeface="Arial" panose="020B0604020202020204" pitchFamily="34" charset="0"/>
                <a:cs typeface="Arial" panose="020B0604020202020204" pitchFamily="34" charset="0"/>
              </a:rPr>
              <a:t>Scope (65%-Complete) </a:t>
            </a:r>
            <a:endParaRPr lang="en-US" sz="1000" b="1" u="sng" dirty="0">
              <a:solidFill>
                <a:schemeClr val="tx1"/>
              </a:solidFill>
              <a:latin typeface="Arial" panose="020B0604020202020204" pitchFamily="34" charset="0"/>
              <a:cs typeface="Arial" panose="020B0604020202020204" pitchFamily="34" charset="0"/>
            </a:endParaRPr>
          </a:p>
          <a:p>
            <a:pPr>
              <a:spcAft>
                <a:spcPts val="300"/>
              </a:spcAft>
            </a:pPr>
            <a:r>
              <a:rPr lang="en-US" sz="800" dirty="0"/>
              <a:t>The purpose of this project is to install new Multiprotocol Label Switching (MPLS) nodes, remove existing GE Jungle MUX (JMUX) equipment, and design new circuits from the existing substation .</a:t>
            </a:r>
            <a:endParaRPr lang="en-US" sz="800" dirty="0">
              <a:solidFill>
                <a:schemeClr val="tx1"/>
              </a:solidFill>
              <a:latin typeface="Arial" panose="020B0604020202020204" pitchFamily="34" charset="0"/>
              <a:cs typeface="Arial" panose="020B0604020202020204" pitchFamily="34" charset="0"/>
            </a:endParaRPr>
          </a:p>
        </p:txBody>
      </p:sp>
      <p:sp>
        <p:nvSpPr>
          <p:cNvPr id="42" name="Text Box 44">
            <a:extLst>
              <a:ext uri="{FF2B5EF4-FFF2-40B4-BE49-F238E27FC236}">
                <a16:creationId xmlns:a16="http://schemas.microsoft.com/office/drawing/2014/main" id="{742DE467-4541-4411-A18E-7A2EB3246BE3}"/>
              </a:ext>
            </a:extLst>
          </p:cNvPr>
          <p:cNvSpPr txBox="1"/>
          <p:nvPr/>
        </p:nvSpPr>
        <p:spPr>
          <a:xfrm>
            <a:off x="0" y="5404311"/>
            <a:ext cx="6270063" cy="144758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Major Steps (next 2 weeks): Milestones/Key Deliverables with Dates</a:t>
            </a:r>
            <a:endParaRPr lang="en-US" sz="10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rgbClr val="28A745"/>
                </a:solidFill>
                <a:latin typeface="Arial" panose="020B0604020202020204" pitchFamily="34" charset="0"/>
                <a:ea typeface="Times New Roman" panose="02020603050405020304" pitchFamily="18" charset="0"/>
              </a:rPr>
              <a:t>✅ BGP design APPROVED Mar 16, 2026 — Lee Blackman to begin change documentation for Melville &amp; Hicksville Nokia integration.</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Receiving new set of IFRs on 03/13		                           		                                 03/13/2026 </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Fiber termination to the NSP will be completed by 3/13 by Hawkeye.		                                 03/13/2026</a:t>
            </a:r>
          </a:p>
          <a:p>
            <a:pPr marL="171450" indent="-171450">
              <a:buFont typeface="Arial" panose="020B0604020202020204" pitchFamily="34" charset="0"/>
              <a:buChar char="•"/>
            </a:pPr>
            <a:r>
              <a:rPr lang="en-US" sz="800" dirty="0">
                <a:solidFill>
                  <a:srgbClr val="DC3545"/>
                </a:solidFill>
                <a:latin typeface="Arial" panose="020B0604020202020204" pitchFamily="34" charset="0"/>
                <a:ea typeface="Times New Roman" panose="02020603050405020304" pitchFamily="18" charset="0"/>
              </a:rPr>
              <a:t>🔴 ILO configuration — Bill (B&amp;M) coordinating with Rahiq. Console cable &amp; firmware issue identified. CRITICAL PATH BLOCKER #1.
🔴 BGP config at Hicksville &amp; Melville (Lee) — pending ILO completion.
🔴 Remote access config — 31 routers pending BGP completion.</a:t>
            </a:r>
          </a:p>
          <a:p>
            <a:r>
              <a:rPr lang="en-US" sz="800" dirty="0">
                <a:solidFill>
                  <a:schemeClr val="tx1"/>
                </a:solidFill>
                <a:latin typeface="Arial" panose="020B0604020202020204" pitchFamily="34" charset="0"/>
                <a:ea typeface="Times New Roman" panose="02020603050405020304" pitchFamily="18" charset="0"/>
              </a:rPr>
              <a:t>      corporate directly into the managed servers)		                                                                 03/16/2026</a:t>
            </a:r>
          </a:p>
        </p:txBody>
      </p:sp>
      <p:sp>
        <p:nvSpPr>
          <p:cNvPr id="43" name="Text Box 48">
            <a:extLst>
              <a:ext uri="{FF2B5EF4-FFF2-40B4-BE49-F238E27FC236}">
                <a16:creationId xmlns:a16="http://schemas.microsoft.com/office/drawing/2014/main" id="{F58AB777-D75A-4987-A0B9-DC4DA02EF15F}"/>
              </a:ext>
            </a:extLst>
          </p:cNvPr>
          <p:cNvSpPr txBox="1"/>
          <p:nvPr/>
        </p:nvSpPr>
        <p:spPr>
          <a:xfrm>
            <a:off x="6258911" y="5397961"/>
            <a:ext cx="5921937" cy="69804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Risk Management- Top 3 (in descending order of possible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Vendor installation delays – inclement weather</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Legacy JMUX equipment old and need to be very careful when doing cutovers. </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Other projects and work being done at the substation simultaneously </a:t>
            </a:r>
          </a:p>
          <a:p>
            <a:pPr marL="171450" indent="-171450">
              <a:buFont typeface="Arial" panose="020B0604020202020204" pitchFamily="34" charset="0"/>
              <a:buChar char="•"/>
              <a:tabLst>
                <a:tab pos="4857750" algn="r"/>
              </a:tabLst>
            </a:pPr>
            <a:endParaRPr lang="en-US" sz="800" dirty="0">
              <a:latin typeface="Arial" panose="020B0604020202020204" pitchFamily="34" charset="0"/>
              <a:cs typeface="Arial" panose="020B0604020202020204" pitchFamily="34" charset="0"/>
            </a:endParaRPr>
          </a:p>
        </p:txBody>
      </p:sp>
      <p:sp>
        <p:nvSpPr>
          <p:cNvPr id="44" name="Text Box 47">
            <a:extLst>
              <a:ext uri="{FF2B5EF4-FFF2-40B4-BE49-F238E27FC236}">
                <a16:creationId xmlns:a16="http://schemas.microsoft.com/office/drawing/2014/main" id="{BBA6DA4A-2903-4034-B47F-A4721929DA70}"/>
              </a:ext>
            </a:extLst>
          </p:cNvPr>
          <p:cNvSpPr txBox="1"/>
          <p:nvPr/>
        </p:nvSpPr>
        <p:spPr>
          <a:xfrm>
            <a:off x="6258912" y="6096000"/>
            <a:ext cx="5921936" cy="755897"/>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Issue Management- Top 3 (in descending order of actual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Accelerating phase 2 site surveys by getting them completed in Phase 1. </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Working closely with vendors and tracking installation.</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Equipment procurement and delays in SCM.</a:t>
            </a:r>
            <a:endParaRPr lang="en-US" sz="1000" dirty="0">
              <a:latin typeface="Arial" panose="020B0604020202020204" pitchFamily="34" charset="0"/>
              <a:ea typeface="Times New Roman" panose="02020603050405020304" pitchFamily="18" charset="0"/>
            </a:endParaRPr>
          </a:p>
          <a:p>
            <a:pPr marL="342900" indent="-342900">
              <a:buFont typeface="Symbol" panose="05050102010706020507" pitchFamily="18" charset="2"/>
              <a:buChar char=""/>
              <a:tabLst>
                <a:tab pos="4857750" algn="r"/>
              </a:tabLst>
            </a:pP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5" name="Text Box 45">
            <a:extLst>
              <a:ext uri="{FF2B5EF4-FFF2-40B4-BE49-F238E27FC236}">
                <a16:creationId xmlns:a16="http://schemas.microsoft.com/office/drawing/2014/main" id="{A15D1C75-5401-4D07-A51A-9CE2CDD522CF}"/>
              </a:ext>
            </a:extLst>
          </p:cNvPr>
          <p:cNvSpPr txBox="1"/>
          <p:nvPr/>
        </p:nvSpPr>
        <p:spPr>
          <a:xfrm>
            <a:off x="6254881" y="4406680"/>
            <a:ext cx="5921939" cy="99763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Scope/Change Management (most recent approved)</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Adding 7 additional nodes to the original 25 Phase 1 nodes. The additional 7 nodes completes both ring 1 and ring 2 in this Phase 1 effort.</a:t>
            </a:r>
          </a:p>
          <a:p>
            <a:pPr marL="171450" indent="-171450">
              <a:buFont typeface="Arial" panose="020B0604020202020204" pitchFamily="34" charset="0"/>
              <a:buChar char="•"/>
              <a:tabLst>
                <a:tab pos="4402138" algn="r"/>
                <a:tab pos="4857750" algn="r"/>
              </a:tabLst>
            </a:pPr>
            <a:endParaRPr lang="en-US" sz="800" dirty="0">
              <a:solidFill>
                <a:schemeClr val="tx1"/>
              </a:solidFill>
              <a:latin typeface="Arial" panose="020B0604020202020204" pitchFamily="34" charset="0"/>
              <a:cs typeface="Arial" panose="020B0604020202020204" pitchFamily="34" charset="0"/>
            </a:endParaRPr>
          </a:p>
          <a:p>
            <a:pPr>
              <a:tabLst>
                <a:tab pos="4402138" algn="r"/>
                <a:tab pos="4857750" algn="r"/>
              </a:tabLst>
            </a:pPr>
            <a:r>
              <a:rPr lang="en-US" sz="1000" dirty="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6" name="Right Arrow 24">
            <a:extLst>
              <a:ext uri="{FF2B5EF4-FFF2-40B4-BE49-F238E27FC236}">
                <a16:creationId xmlns:a16="http://schemas.microsoft.com/office/drawing/2014/main" id="{2088CA12-63D4-4C65-8EA3-5E585AFD96E5}"/>
              </a:ext>
            </a:extLst>
          </p:cNvPr>
          <p:cNvSpPr/>
          <p:nvPr/>
        </p:nvSpPr>
        <p:spPr>
          <a:xfrm>
            <a:off x="5677629" y="289560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Right Arrow 25">
            <a:extLst>
              <a:ext uri="{FF2B5EF4-FFF2-40B4-BE49-F238E27FC236}">
                <a16:creationId xmlns:a16="http://schemas.microsoft.com/office/drawing/2014/main" id="{99A0F9B8-3D51-4C3A-91A7-906152F6A2DC}"/>
              </a:ext>
            </a:extLst>
          </p:cNvPr>
          <p:cNvSpPr/>
          <p:nvPr/>
        </p:nvSpPr>
        <p:spPr>
          <a:xfrm>
            <a:off x="5677629" y="3272135"/>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Right Arrow 26">
            <a:extLst>
              <a:ext uri="{FF2B5EF4-FFF2-40B4-BE49-F238E27FC236}">
                <a16:creationId xmlns:a16="http://schemas.microsoft.com/office/drawing/2014/main" id="{ADFEBA27-D38F-49AE-B09C-A461C0E1C624}"/>
              </a:ext>
            </a:extLst>
          </p:cNvPr>
          <p:cNvSpPr/>
          <p:nvPr/>
        </p:nvSpPr>
        <p:spPr>
          <a:xfrm>
            <a:off x="5667923" y="3655064"/>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 name="Right Arrow 27">
            <a:extLst>
              <a:ext uri="{FF2B5EF4-FFF2-40B4-BE49-F238E27FC236}">
                <a16:creationId xmlns:a16="http://schemas.microsoft.com/office/drawing/2014/main" id="{17243CF0-21F8-40EB-A66E-731F988B439A}"/>
              </a:ext>
            </a:extLst>
          </p:cNvPr>
          <p:cNvSpPr/>
          <p:nvPr/>
        </p:nvSpPr>
        <p:spPr>
          <a:xfrm rot="16200000">
            <a:off x="5667922" y="4012551"/>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0" name="Text Box 6">
            <a:extLst>
              <a:ext uri="{FF2B5EF4-FFF2-40B4-BE49-F238E27FC236}">
                <a16:creationId xmlns:a16="http://schemas.microsoft.com/office/drawing/2014/main" id="{CA880BDC-D1B0-437D-9414-965F284C1198}"/>
              </a:ext>
            </a:extLst>
          </p:cNvPr>
          <p:cNvSpPr txBox="1"/>
          <p:nvPr/>
        </p:nvSpPr>
        <p:spPr>
          <a:xfrm>
            <a:off x="9249937" y="-1302"/>
            <a:ext cx="2935564" cy="39264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US" sz="1000" b="1" dirty="0">
                <a:latin typeface="Arial" panose="020B0604020202020204" pitchFamily="34" charset="0"/>
                <a:ea typeface="Times New Roman" panose="02020603050405020304" pitchFamily="18" charset="0"/>
              </a:rPr>
              <a:t>PRJ (ServiceNow</a:t>
            </a:r>
            <a:r>
              <a:rPr lang="en-US" sz="900" dirty="0">
                <a:latin typeface="Arial" panose="020B0604020202020204" pitchFamily="34" charset="0"/>
                <a:ea typeface="Times New Roman" panose="02020603050405020304" pitchFamily="18" charset="0"/>
              </a:rPr>
              <a:t>)</a:t>
            </a:r>
            <a:r>
              <a:rPr lang="en-US" sz="1000" b="1" dirty="0">
                <a:latin typeface="Arial" panose="020B0604020202020204" pitchFamily="34" charset="0"/>
                <a:ea typeface="Times New Roman" panose="02020603050405020304" pitchFamily="18" charset="0"/>
              </a:rPr>
              <a:t>:  PRJ13797</a:t>
            </a:r>
          </a:p>
          <a:p>
            <a:pPr>
              <a:tabLst>
                <a:tab pos="1261872" algn="l"/>
              </a:tabLst>
            </a:pPr>
            <a:r>
              <a:rPr lang="en-US" sz="1000" b="1" dirty="0">
                <a:latin typeface="Arial" panose="020B0604020202020204" pitchFamily="34" charset="0"/>
                <a:ea typeface="Times New Roman" panose="02020603050405020304" pitchFamily="18" charset="0"/>
              </a:rPr>
              <a:t>Repository Link   : </a:t>
            </a:r>
            <a:r>
              <a:rPr lang="en-US" sz="1000" dirty="0">
                <a:hlinkClick r:id="rId2"/>
              </a:rPr>
              <a:t>JMUX Repository</a:t>
            </a:r>
            <a:endParaRPr lang="en-US" sz="1000" dirty="0">
              <a:latin typeface="Arial" panose="020B0604020202020204" pitchFamily="34" charset="0"/>
              <a:ea typeface="Times New Roman" panose="02020603050405020304" pitchFamily="18" charset="0"/>
            </a:endParaRPr>
          </a:p>
        </p:txBody>
      </p:sp>
      <p:sp>
        <p:nvSpPr>
          <p:cNvPr id="51" name="Text Box 51">
            <a:extLst>
              <a:ext uri="{FF2B5EF4-FFF2-40B4-BE49-F238E27FC236}">
                <a16:creationId xmlns:a16="http://schemas.microsoft.com/office/drawing/2014/main" id="{B497CBAA-FEFB-4E96-B9AE-23EABC83D589}"/>
              </a:ext>
            </a:extLst>
          </p:cNvPr>
          <p:cNvSpPr txBox="1"/>
          <p:nvPr/>
        </p:nvSpPr>
        <p:spPr>
          <a:xfrm>
            <a:off x="0" y="807860"/>
            <a:ext cx="3971461" cy="2086938"/>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Lifecycle Phase</a:t>
            </a:r>
            <a:r>
              <a:rPr lang="en-GB" sz="1000" b="1" dirty="0">
                <a:solidFill>
                  <a:schemeClr val="tx1"/>
                </a:solidFill>
                <a:latin typeface="Arial" panose="020B0604020202020204" pitchFamily="34" charset="0"/>
                <a:ea typeface="Times New Roman" panose="02020603050405020304" pitchFamily="18" charset="0"/>
              </a:rPr>
              <a:t>: </a:t>
            </a:r>
          </a:p>
          <a:p>
            <a:pPr>
              <a:spcAft>
                <a:spcPts val="300"/>
              </a:spcAft>
              <a:tabLst>
                <a:tab pos="2057400" algn="r"/>
              </a:tabLst>
            </a:pPr>
            <a:r>
              <a:rPr lang="en-GB" sz="800" dirty="0">
                <a:solidFill>
                  <a:schemeClr val="tx1"/>
                </a:solidFill>
                <a:latin typeface="Arial" panose="020B0604020202020204" pitchFamily="34" charset="0"/>
                <a:ea typeface="Times New Roman" panose="02020603050405020304" pitchFamily="18" charset="0"/>
              </a:rPr>
              <a:t>Execution</a:t>
            </a:r>
            <a:endParaRPr lang="en-GB" sz="800" dirty="0">
              <a:solidFill>
                <a:schemeClr val="tx1"/>
              </a:solidFill>
              <a:latin typeface="Arial" panose="020B0604020202020204" pitchFamily="34" charset="0"/>
            </a:endParaRPr>
          </a:p>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Current Period (past 2 weeks) Status Narrative:</a:t>
            </a:r>
            <a:endParaRPr lang="en-US" sz="1000" b="1" u="sng" dirty="0">
              <a:solidFill>
                <a:schemeClr val="tx1"/>
              </a:solidFill>
              <a:latin typeface="Arial" panose="020B0604020202020204" pitchFamily="34" charset="0"/>
              <a:ea typeface="Times New Roman" panose="02020603050405020304" pitchFamily="18" charset="0"/>
            </a:endParaRP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CAT6 cable run completed on 03/04</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Fiber termination to the NSP will be completed by 3/13 by Hawkeye.</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rgbClr val="F7941D"/>
                </a:solidFill>
                <a:latin typeface="Arial" panose="020B0604020202020204" pitchFamily="34" charset="0"/>
                <a:ea typeface="Times New Roman" panose="02020603050405020304" pitchFamily="18" charset="0"/>
              </a:rPr>
              <a:t>✅ BGP design approved Mar 16 — Lee Blackman to proceed with Melville &amp; Hicksville change docs. NSP = critical path.</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 ✅ Northport DC power RESOLVED — Relay team ran new feed to fuse, eliminating tripping issue (3/18/2026). </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Receiving new set of IFRs on 03/13</a:t>
            </a:r>
            <a:endParaRPr lang="en-US" sz="800" dirty="0">
              <a:solidFill>
                <a:schemeClr val="tx1"/>
              </a:solidFill>
            </a:endParaRPr>
          </a:p>
          <a:p>
            <a:pPr>
              <a:spcAft>
                <a:spcPts val="300"/>
              </a:spcAft>
              <a:tabLst>
                <a:tab pos="2057400" algn="r"/>
              </a:tabLst>
            </a:pPr>
            <a:r>
              <a:rPr lang="en-US" sz="1000" b="1" u="sng" dirty="0">
                <a:solidFill>
                  <a:schemeClr val="tx1"/>
                </a:solidFill>
                <a:latin typeface="Arial" panose="020B0604020202020204" pitchFamily="34" charset="0"/>
                <a:ea typeface="Times New Roman" panose="02020603050405020304" pitchFamily="18" charset="0"/>
              </a:rPr>
              <a:t>Remediation (For Non-Green Statuses)</a:t>
            </a:r>
          </a:p>
          <a:p>
            <a:pPr>
              <a:spcAft>
                <a:spcPts val="300"/>
              </a:spcAft>
              <a:tabLst>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Schedule : Plan to complete all the remote configuration of the routers and complete testing to bring the schedule back to green</a:t>
            </a:r>
            <a:endParaRPr lang="en-US" sz="800" dirty="0">
              <a:solidFill>
                <a:schemeClr val="tx1"/>
              </a:solidFill>
              <a:latin typeface="Arial" panose="020B0604020202020204" pitchFamily="34" charset="0"/>
              <a:ea typeface="Times New Roman" panose="02020603050405020304" pitchFamily="18" charset="0"/>
            </a:endParaRPr>
          </a:p>
        </p:txBody>
      </p:sp>
      <p:sp>
        <p:nvSpPr>
          <p:cNvPr id="52" name="Text Box 7">
            <a:extLst>
              <a:ext uri="{FF2B5EF4-FFF2-40B4-BE49-F238E27FC236}">
                <a16:creationId xmlns:a16="http://schemas.microsoft.com/office/drawing/2014/main" id="{50A5D7AB-3185-409B-9CFD-A028BA5B0763}"/>
              </a:ext>
            </a:extLst>
          </p:cNvPr>
          <p:cNvSpPr txBox="1"/>
          <p:nvPr/>
        </p:nvSpPr>
        <p:spPr>
          <a:xfrm>
            <a:off x="6270720" y="812878"/>
            <a:ext cx="5921280" cy="892351"/>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900" b="1" u="sng" dirty="0">
                <a:latin typeface="Arial" panose="020B0604020202020204" pitchFamily="34" charset="0"/>
                <a:ea typeface="Times New Roman" panose="02020603050405020304" pitchFamily="18" charset="0"/>
              </a:rPr>
              <a:t>Project Description</a:t>
            </a:r>
            <a:endParaRPr lang="en-US" sz="900" dirty="0">
              <a:latin typeface="Arial" panose="020B0604020202020204" pitchFamily="34" charset="0"/>
              <a:ea typeface="Times New Roman" panose="02020603050405020304" pitchFamily="18" charset="0"/>
            </a:endParaRPr>
          </a:p>
          <a:p>
            <a:r>
              <a:rPr lang="en-US" sz="800" i="1" dirty="0">
                <a:solidFill>
                  <a:schemeClr val="tx1"/>
                </a:solidFill>
                <a:latin typeface="Arial" panose="020B0604020202020204" pitchFamily="34" charset="0"/>
                <a:cs typeface="Arial" panose="020B0604020202020204" pitchFamily="34" charset="0"/>
              </a:rPr>
              <a:t>The Systems Integrator will create, facilitate, and execute the process for generating an RFP to select an ‘Equipment Vendor’ to replace the existing Private Network vendor – GE Jungle MUX. In parallel, the Systems Integrator will conduct ‘high-level’ design activities for the MPLS Private Network, including site surveys at 88 COMPANY substations to assess specific structural and infrastructure modifications required for the new equipment.</a:t>
            </a:r>
          </a:p>
        </p:txBody>
      </p:sp>
      <p:sp>
        <p:nvSpPr>
          <p:cNvPr id="53" name="Right Arrow 31">
            <a:extLst>
              <a:ext uri="{FF2B5EF4-FFF2-40B4-BE49-F238E27FC236}">
                <a16:creationId xmlns:a16="http://schemas.microsoft.com/office/drawing/2014/main" id="{61241709-E113-4D6C-BED2-F4AE13EC92F0}"/>
              </a:ext>
            </a:extLst>
          </p:cNvPr>
          <p:cNvSpPr/>
          <p:nvPr/>
        </p:nvSpPr>
        <p:spPr>
          <a:xfrm rot="16200000">
            <a:off x="5783087" y="105506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32">
            <a:extLst>
              <a:ext uri="{FF2B5EF4-FFF2-40B4-BE49-F238E27FC236}">
                <a16:creationId xmlns:a16="http://schemas.microsoft.com/office/drawing/2014/main" id="{EF284793-0805-4741-B700-69540AFAF81F}"/>
              </a:ext>
            </a:extLst>
          </p:cNvPr>
          <p:cNvSpPr/>
          <p:nvPr/>
        </p:nvSpPr>
        <p:spPr>
          <a:xfrm>
            <a:off x="5783087" y="1442431"/>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33">
            <a:extLst>
              <a:ext uri="{FF2B5EF4-FFF2-40B4-BE49-F238E27FC236}">
                <a16:creationId xmlns:a16="http://schemas.microsoft.com/office/drawing/2014/main" id="{7F53E16B-81D2-402C-AC8B-0F8C350C64E7}"/>
              </a:ext>
            </a:extLst>
          </p:cNvPr>
          <p:cNvSpPr/>
          <p:nvPr/>
        </p:nvSpPr>
        <p:spPr>
          <a:xfrm rot="5400000">
            <a:off x="5783087" y="1824899"/>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ight Arrow 34">
            <a:extLst>
              <a:ext uri="{FF2B5EF4-FFF2-40B4-BE49-F238E27FC236}">
                <a16:creationId xmlns:a16="http://schemas.microsoft.com/office/drawing/2014/main" id="{46E48AAE-A8FE-4897-BAA4-3660A5660953}"/>
              </a:ext>
            </a:extLst>
          </p:cNvPr>
          <p:cNvSpPr/>
          <p:nvPr/>
        </p:nvSpPr>
        <p:spPr>
          <a:xfrm>
            <a:off x="5783087" y="2194654"/>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35">
            <a:extLst>
              <a:ext uri="{FF2B5EF4-FFF2-40B4-BE49-F238E27FC236}">
                <a16:creationId xmlns:a16="http://schemas.microsoft.com/office/drawing/2014/main" id="{F8AC5779-D0B0-40F6-8295-DAE648BA2579}"/>
              </a:ext>
            </a:extLst>
          </p:cNvPr>
          <p:cNvSpPr/>
          <p:nvPr/>
        </p:nvSpPr>
        <p:spPr>
          <a:xfrm>
            <a:off x="5783087" y="2586488"/>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 name="Table 59">
            <a:extLst>
              <a:ext uri="{FF2B5EF4-FFF2-40B4-BE49-F238E27FC236}">
                <a16:creationId xmlns:a16="http://schemas.microsoft.com/office/drawing/2014/main" id="{2DFF6007-A3FB-4869-99A4-2DF9E8D268F3}"/>
              </a:ext>
            </a:extLst>
          </p:cNvPr>
          <p:cNvGraphicFramePr>
            <a:graphicFrameLocks noGrp="1"/>
          </p:cNvGraphicFramePr>
          <p:nvPr/>
        </p:nvGraphicFramePr>
        <p:xfrm>
          <a:off x="6264484" y="3303048"/>
          <a:ext cx="5921940" cy="1132063"/>
        </p:xfrm>
        <a:graphic>
          <a:graphicData uri="http://schemas.openxmlformats.org/drawingml/2006/table">
            <a:tbl>
              <a:tblPr firstRow="1" bandRow="1">
                <a:tableStyleId>{5C22544A-7EE6-4342-B048-85BDC9FD1C3A}</a:tableStyleId>
              </a:tblPr>
              <a:tblGrid>
                <a:gridCol w="1885640">
                  <a:extLst>
                    <a:ext uri="{9D8B030D-6E8A-4147-A177-3AD203B41FA5}">
                      <a16:colId xmlns:a16="http://schemas.microsoft.com/office/drawing/2014/main" val="20000"/>
                    </a:ext>
                  </a:extLst>
                </a:gridCol>
                <a:gridCol w="3056738">
                  <a:extLst>
                    <a:ext uri="{9D8B030D-6E8A-4147-A177-3AD203B41FA5}">
                      <a16:colId xmlns:a16="http://schemas.microsoft.com/office/drawing/2014/main" val="20001"/>
                    </a:ext>
                  </a:extLst>
                </a:gridCol>
                <a:gridCol w="979562">
                  <a:extLst>
                    <a:ext uri="{9D8B030D-6E8A-4147-A177-3AD203B41FA5}">
                      <a16:colId xmlns:a16="http://schemas.microsoft.com/office/drawing/2014/main" val="20002"/>
                    </a:ext>
                  </a:extLst>
                </a:gridCol>
              </a:tblGrid>
              <a:tr h="278623">
                <a:tc gridSpan="3">
                  <a:txBody>
                    <a:bodyPr/>
                    <a:lstStyle/>
                    <a:p>
                      <a:pPr algn="ctr"/>
                      <a:r>
                        <a:rPr lang="en-US" sz="1000" b="1" u="sng" dirty="0">
                          <a:solidFill>
                            <a:schemeClr val="tx1"/>
                          </a:solidFill>
                        </a:rPr>
                        <a:t>Dependency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3">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70925">
                <a:tc>
                  <a:txBody>
                    <a:bodyPr/>
                    <a:lstStyle/>
                    <a:p>
                      <a:pPr algn="ctr"/>
                      <a:r>
                        <a:rPr lang="en-US" sz="800" b="1" dirty="0"/>
                        <a:t>Project</a:t>
                      </a:r>
                    </a:p>
                  </a:txBody>
                  <a:tcPr>
                    <a:lnL w="12700" cap="flat" cmpd="sng" algn="ctr">
                      <a:solidFill>
                        <a:schemeClr val="tx1"/>
                      </a:solidFill>
                      <a:prstDash val="solid"/>
                      <a:round/>
                      <a:headEnd type="none" w="med" len="med"/>
                      <a:tailEnd type="none" w="med" len="med"/>
                    </a:lnL>
                    <a:solidFill>
                      <a:schemeClr val="accent3">
                        <a:lumMod val="60000"/>
                        <a:lumOff val="40000"/>
                      </a:schemeClr>
                    </a:solidFill>
                  </a:tcPr>
                </a:tc>
                <a:tc>
                  <a:txBody>
                    <a:bodyPr/>
                    <a:lstStyle/>
                    <a:p>
                      <a:pPr algn="ctr"/>
                      <a:r>
                        <a:rPr lang="en-US" sz="800" b="1" dirty="0"/>
                        <a:t>Deliverable</a:t>
                      </a:r>
                    </a:p>
                  </a:txBody>
                  <a:tcPr>
                    <a:solidFill>
                      <a:schemeClr val="accent3">
                        <a:lumMod val="60000"/>
                        <a:lumOff val="40000"/>
                      </a:schemeClr>
                    </a:solidFill>
                  </a:tcPr>
                </a:tc>
                <a:tc>
                  <a:txBody>
                    <a:bodyPr/>
                    <a:lstStyle/>
                    <a:p>
                      <a:pPr algn="ctr"/>
                      <a:r>
                        <a:rPr lang="en-US" sz="800" b="1" dirty="0"/>
                        <a:t>Date</a:t>
                      </a:r>
                    </a:p>
                  </a:txBody>
                  <a:tcPr>
                    <a:lnR w="12700" cap="flat" cmpd="sng" algn="ctr">
                      <a:solidFill>
                        <a:schemeClr val="tx1"/>
                      </a:solidFill>
                      <a:prstDash val="solid"/>
                      <a:round/>
                      <a:headEnd type="none" w="med" len="med"/>
                      <a:tailEnd type="none" w="med" len="med"/>
                    </a:lnR>
                    <a:solidFill>
                      <a:schemeClr val="accent3">
                        <a:lumMod val="60000"/>
                        <a:lumOff val="40000"/>
                      </a:schemeClr>
                    </a:solidFill>
                  </a:tcPr>
                </a:tc>
                <a:extLst>
                  <a:ext uri="{0D108BD9-81ED-4DB2-BD59-A6C34878D82A}">
                    <a16:rowId xmlns:a16="http://schemas.microsoft.com/office/drawing/2014/main" val="10001"/>
                  </a:ext>
                </a:extLst>
              </a:tr>
              <a:tr h="170925">
                <a:tc>
                  <a:txBody>
                    <a:bodyPr/>
                    <a:lstStyle/>
                    <a:p>
                      <a:r>
                        <a:rPr lang="en-US" sz="800" dirty="0">
                          <a:latin typeface="Arial" panose="020B0604020202020204" pitchFamily="34" charset="0"/>
                          <a:cs typeface="Arial" panose="020B0604020202020204" pitchFamily="34" charset="0"/>
                        </a:rPr>
                        <a:t>NA</a:t>
                      </a: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2"/>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3"/>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421505031"/>
                  </a:ext>
                </a:extLst>
              </a:tr>
            </a:tbl>
          </a:graphicData>
        </a:graphic>
      </p:graphicFrame>
      <p:sp>
        <p:nvSpPr>
          <p:cNvPr id="30" name="Text Box 6">
            <a:extLst>
              <a:ext uri="{FF2B5EF4-FFF2-40B4-BE49-F238E27FC236}">
                <a16:creationId xmlns:a16="http://schemas.microsoft.com/office/drawing/2014/main" id="{01308F76-0B61-47B3-9C87-8083E00E34E4}"/>
              </a:ext>
            </a:extLst>
          </p:cNvPr>
          <p:cNvSpPr txBox="1"/>
          <p:nvPr/>
        </p:nvSpPr>
        <p:spPr>
          <a:xfrm>
            <a:off x="9249794" y="596549"/>
            <a:ext cx="2935083" cy="211048"/>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800" b="1" u="sng" dirty="0">
                <a:solidFill>
                  <a:schemeClr val="tx1"/>
                </a:solidFill>
                <a:latin typeface="Arial" panose="020B0604020202020204" pitchFamily="34" charset="0"/>
                <a:ea typeface="Times New Roman" panose="02020603050405020304" pitchFamily="18" charset="0"/>
              </a:rPr>
              <a:t>Overall Health</a:t>
            </a:r>
            <a:r>
              <a:rPr lang="en-GB" sz="800" b="1" dirty="0">
                <a:solidFill>
                  <a:schemeClr val="tx1"/>
                </a:solidFill>
                <a:latin typeface="Arial" panose="020B0604020202020204" pitchFamily="34" charset="0"/>
                <a:ea typeface="Times New Roman" panose="02020603050405020304" pitchFamily="18" charset="0"/>
              </a:rPr>
              <a:t>    This Period   	Last Period</a:t>
            </a:r>
            <a:endParaRPr lang="en-US" sz="800" dirty="0">
              <a:solidFill>
                <a:schemeClr val="tx1"/>
              </a:solidFill>
              <a:latin typeface="Arial" panose="020B0604020202020204" pitchFamily="34" charset="0"/>
              <a:ea typeface="Times New Roman" panose="02020603050405020304" pitchFamily="18" charset="0"/>
            </a:endParaRPr>
          </a:p>
        </p:txBody>
      </p:sp>
      <p:sp>
        <p:nvSpPr>
          <p:cNvPr id="32" name="Rectangle 31"/>
          <p:cNvSpPr/>
          <p:nvPr/>
        </p:nvSpPr>
        <p:spPr>
          <a:xfrm>
            <a:off x="10756163" y="657235"/>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11768197" y="657912"/>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Box 6">
            <a:extLst>
              <a:ext uri="{FF2B5EF4-FFF2-40B4-BE49-F238E27FC236}">
                <a16:creationId xmlns:a16="http://schemas.microsoft.com/office/drawing/2014/main" id="{01308F76-0B61-47B3-9C87-8083E00E34E4}"/>
              </a:ext>
            </a:extLst>
          </p:cNvPr>
          <p:cNvSpPr txBox="1"/>
          <p:nvPr/>
        </p:nvSpPr>
        <p:spPr>
          <a:xfrm>
            <a:off x="9251648" y="390567"/>
            <a:ext cx="2935083" cy="20789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endParaRPr lang="en-US" sz="800" dirty="0">
              <a:solidFill>
                <a:schemeClr val="tx1"/>
              </a:solidFill>
              <a:latin typeface="Arial" panose="020B0604020202020204" pitchFamily="34" charset="0"/>
              <a:ea typeface="Times New Roman" panose="02020603050405020304" pitchFamily="18" charset="0"/>
            </a:endParaRPr>
          </a:p>
        </p:txBody>
      </p:sp>
      <p:sp>
        <p:nvSpPr>
          <p:cNvPr id="2" name="TextBox 1"/>
          <p:cNvSpPr txBox="1"/>
          <p:nvPr/>
        </p:nvSpPr>
        <p:spPr>
          <a:xfrm>
            <a:off x="11482827" y="6642556"/>
            <a:ext cx="714749" cy="184666"/>
          </a:xfrm>
          <a:prstGeom prst="rect">
            <a:avLst/>
          </a:prstGeom>
          <a:noFill/>
        </p:spPr>
        <p:txBody>
          <a:bodyPr wrap="square" rtlCol="0">
            <a:spAutoFit/>
          </a:bodyPr>
          <a:lstStyle/>
          <a:p>
            <a:r>
              <a:rPr lang="en-US" sz="600" dirty="0"/>
              <a:t>Version 3.0</a:t>
            </a:r>
          </a:p>
        </p:txBody>
      </p:sp>
    </p:spTree>
    <p:extLst>
      <p:ext uri="{BB962C8B-B14F-4D97-AF65-F5344CB8AC3E}">
        <p14:creationId xmlns:p14="http://schemas.microsoft.com/office/powerpoint/2010/main" val="2138560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634F-D3C6-E8CF-B607-CF78B911C7C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A5F56E4-0ED8-5D2F-169D-E4D7DDF16EB8}"/>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1C90B10A-82EC-4DB7-EC6D-7998FD54B4D7}"/>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C060AE65-F7A1-7CD4-D48C-2354999E0916}"/>
              </a:ext>
            </a:extLst>
          </p:cNvPr>
          <p:cNvGraphicFramePr>
            <a:graphicFrameLocks noGrp="1"/>
          </p:cNvGraphicFramePr>
          <p:nvPr>
            <p:extLst>
              <p:ext uri="{D42A27DB-BD31-4B8C-83A1-F6EECF244321}">
                <p14:modId xmlns:p14="http://schemas.microsoft.com/office/powerpoint/2010/main" val="126070919"/>
              </p:ext>
            </p:extLst>
          </p:nvPr>
        </p:nvGraphicFramePr>
        <p:xfrm>
          <a:off x="612648" y="691945"/>
          <a:ext cx="9615422" cy="5155308"/>
        </p:xfrm>
        <a:graphic>
          <a:graphicData uri="http://schemas.openxmlformats.org/drawingml/2006/table">
            <a:tbl>
              <a:tblPr firstRow="1" bandRow="1">
                <a:tableStyleId>{F5AB1C69-6EDB-4FF4-983F-18BD219EF322}</a:tableStyleId>
              </a:tblPr>
              <a:tblGrid>
                <a:gridCol w="546570">
                  <a:extLst>
                    <a:ext uri="{9D8B030D-6E8A-4147-A177-3AD203B41FA5}">
                      <a16:colId xmlns:a16="http://schemas.microsoft.com/office/drawing/2014/main" val="3586926317"/>
                    </a:ext>
                  </a:extLst>
                </a:gridCol>
                <a:gridCol w="1999503">
                  <a:extLst>
                    <a:ext uri="{9D8B030D-6E8A-4147-A177-3AD203B41FA5}">
                      <a16:colId xmlns:a16="http://schemas.microsoft.com/office/drawing/2014/main" val="3683718648"/>
                    </a:ext>
                  </a:extLst>
                </a:gridCol>
                <a:gridCol w="1078748">
                  <a:extLst>
                    <a:ext uri="{9D8B030D-6E8A-4147-A177-3AD203B41FA5}">
                      <a16:colId xmlns:a16="http://schemas.microsoft.com/office/drawing/2014/main" val="789135036"/>
                    </a:ext>
                  </a:extLst>
                </a:gridCol>
                <a:gridCol w="1112858">
                  <a:extLst>
                    <a:ext uri="{9D8B030D-6E8A-4147-A177-3AD203B41FA5}">
                      <a16:colId xmlns:a16="http://schemas.microsoft.com/office/drawing/2014/main" val="2765420810"/>
                    </a:ext>
                  </a:extLst>
                </a:gridCol>
                <a:gridCol w="1191691">
                  <a:extLst>
                    <a:ext uri="{9D8B030D-6E8A-4147-A177-3AD203B41FA5}">
                      <a16:colId xmlns:a16="http://schemas.microsoft.com/office/drawing/2014/main" val="3759070369"/>
                    </a:ext>
                  </a:extLst>
                </a:gridCol>
                <a:gridCol w="1697383">
                  <a:extLst>
                    <a:ext uri="{9D8B030D-6E8A-4147-A177-3AD203B41FA5}">
                      <a16:colId xmlns:a16="http://schemas.microsoft.com/office/drawing/2014/main" val="2034665736"/>
                    </a:ext>
                  </a:extLst>
                </a:gridCol>
                <a:gridCol w="1988669">
                  <a:extLst>
                    <a:ext uri="{9D8B030D-6E8A-4147-A177-3AD203B41FA5}">
                      <a16:colId xmlns:a16="http://schemas.microsoft.com/office/drawing/2014/main" val="4238625106"/>
                    </a:ext>
                  </a:extLst>
                </a:gridCol>
              </a:tblGrid>
              <a:tr h="450605">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IFR</a:t>
                      </a:r>
                    </a:p>
                    <a:p>
                      <a:pPr algn="ctr"/>
                      <a:endParaRPr lang="en-US" sz="1200" dirty="0"/>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62733">
                <a:tc>
                  <a:txBody>
                    <a:bodyPr/>
                    <a:lstStyle/>
                    <a:p>
                      <a:pPr marL="0" algn="ctr" defTabSz="914400" rtl="0" eaLnBrk="1" latinLnBrk="0" hangingPunct="1"/>
                      <a:r>
                        <a:rPr lang="en-US" sz="1200" kern="1200" dirty="0">
                          <a:solidFill>
                            <a:schemeClr val="dk1"/>
                          </a:solidFill>
                          <a:latin typeface="+mn-lt"/>
                          <a:ea typeface="+mn-ea"/>
                          <a:cs typeface="+mn-cs"/>
                        </a:rPr>
                        <a:t>1</a:t>
                      </a:r>
                    </a:p>
                  </a:txBody>
                  <a:tcPr anchor="ctr"/>
                </a:tc>
                <a:tc>
                  <a:txBody>
                    <a:bodyPr/>
                    <a:lstStyle/>
                    <a:p>
                      <a:pPr algn="l" fontAlgn="b">
                        <a:buNone/>
                      </a:pPr>
                      <a:r>
                        <a:rPr lang="en-US" sz="1200" u="none" strike="noStrike" dirty="0">
                          <a:effectLst/>
                        </a:rPr>
                        <a:t>7RM Bayport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1370786517"/>
                  </a:ext>
                </a:extLst>
              </a:tr>
              <a:tr h="2754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2</a:t>
                      </a:r>
                    </a:p>
                  </a:txBody>
                  <a:tcPr anchor="ctr"/>
                </a:tc>
                <a:tc>
                  <a:txBody>
                    <a:bodyPr/>
                    <a:lstStyle/>
                    <a:p>
                      <a:pPr algn="l" fontAlgn="b">
                        <a:buNone/>
                      </a:pPr>
                      <a:r>
                        <a:rPr lang="en-US" sz="1200" u="none" strike="noStrike" dirty="0">
                          <a:effectLst/>
                        </a:rPr>
                        <a:t>7R Sayville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64850426"/>
                  </a:ext>
                </a:extLst>
              </a:tr>
              <a:tr h="3054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a:t>
                      </a:r>
                    </a:p>
                  </a:txBody>
                  <a:tcPr anchor="ctr"/>
                </a:tc>
                <a:tc>
                  <a:txBody>
                    <a:bodyPr/>
                    <a:lstStyle/>
                    <a:p>
                      <a:pPr algn="l" fontAlgn="b">
                        <a:buNone/>
                      </a:pPr>
                      <a:r>
                        <a:rPr lang="en-US" sz="1200" u="none" strike="noStrike" dirty="0">
                          <a:effectLst/>
                        </a:rPr>
                        <a:t>7XM Great River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4</a:t>
                      </a:r>
                    </a:p>
                  </a:txBody>
                  <a:tcPr anchor="ctr"/>
                </a:tc>
                <a:tc>
                  <a:txBody>
                    <a:bodyPr/>
                    <a:lstStyle/>
                    <a:p>
                      <a:pPr algn="l" fontAlgn="b">
                        <a:buNone/>
                      </a:pPr>
                      <a:r>
                        <a:rPr lang="en-US" sz="1200" u="none" strike="noStrike" dirty="0">
                          <a:effectLst/>
                        </a:rPr>
                        <a:t>7XM Great River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3444944646"/>
                  </a:ext>
                </a:extLst>
              </a:tr>
              <a:tr h="313191">
                <a:tc>
                  <a:txBody>
                    <a:bodyPr/>
                    <a:lstStyle/>
                    <a:p>
                      <a:pPr marL="0" algn="ctr" defTabSz="914400" rtl="0" eaLnBrk="1" latinLnBrk="0" hangingPunct="1"/>
                      <a:r>
                        <a:rPr lang="en-US" sz="1200" kern="1200" dirty="0">
                          <a:solidFill>
                            <a:schemeClr val="dk1"/>
                          </a:solidFill>
                          <a:latin typeface="+mn-lt"/>
                          <a:ea typeface="+mn-ea"/>
                          <a:cs typeface="+mn-cs"/>
                        </a:rPr>
                        <a:t>5</a:t>
                      </a:r>
                    </a:p>
                  </a:txBody>
                  <a:tcPr anchor="ctr"/>
                </a:tc>
                <a:tc>
                  <a:txBody>
                    <a:bodyPr/>
                    <a:lstStyle/>
                    <a:p>
                      <a:pPr algn="l" fontAlgn="b">
                        <a:buNone/>
                      </a:pPr>
                      <a:r>
                        <a:rPr lang="en-US" sz="1200" u="none" strike="noStrike" dirty="0">
                          <a:effectLst/>
                        </a:rPr>
                        <a:t>6H Hauppauge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029141390"/>
                  </a:ext>
                </a:extLst>
              </a:tr>
              <a:tr h="265569">
                <a:tc>
                  <a:txBody>
                    <a:bodyPr/>
                    <a:lstStyle/>
                    <a:p>
                      <a:pPr marL="0" algn="ctr" defTabSz="914400" rtl="0" eaLnBrk="1" latinLnBrk="0" hangingPunct="1"/>
                      <a:r>
                        <a:rPr lang="en-US" sz="1200" kern="1200" dirty="0">
                          <a:solidFill>
                            <a:schemeClr val="dk1"/>
                          </a:solidFill>
                          <a:latin typeface="+mn-lt"/>
                          <a:ea typeface="+mn-ea"/>
                          <a:cs typeface="+mn-cs"/>
                        </a:rPr>
                        <a:t>6</a:t>
                      </a:r>
                    </a:p>
                  </a:txBody>
                  <a:tcPr anchor="ctr"/>
                </a:tc>
                <a:tc>
                  <a:txBody>
                    <a:bodyPr/>
                    <a:lstStyle/>
                    <a:p>
                      <a:pPr algn="l" fontAlgn="b">
                        <a:buNone/>
                      </a:pPr>
                      <a:r>
                        <a:rPr lang="en-US" sz="1200" u="none" strike="noStrike" dirty="0">
                          <a:effectLst/>
                        </a:rPr>
                        <a:t>6H Hauppauge Tower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05421">
                <a:tc>
                  <a:txBody>
                    <a:bodyPr/>
                    <a:lstStyle/>
                    <a:p>
                      <a:pPr marL="0" algn="ctr" defTabSz="914400" rtl="0" eaLnBrk="1" latinLnBrk="0" hangingPunct="1"/>
                      <a:r>
                        <a:rPr lang="en-US" sz="1200" kern="1200" dirty="0">
                          <a:solidFill>
                            <a:schemeClr val="dk1"/>
                          </a:solidFill>
                          <a:latin typeface="+mn-lt"/>
                          <a:ea typeface="+mn-ea"/>
                          <a:cs typeface="+mn-cs"/>
                        </a:rPr>
                        <a:t>7</a:t>
                      </a:r>
                    </a:p>
                  </a:txBody>
                  <a:tcPr anchor="ctr"/>
                </a:tc>
                <a:tc>
                  <a:txBody>
                    <a:bodyPr/>
                    <a:lstStyle/>
                    <a:p>
                      <a:pPr algn="l" fontAlgn="b">
                        <a:buNone/>
                      </a:pPr>
                      <a:r>
                        <a:rPr lang="en-US" sz="1200" u="none" strike="noStrike" dirty="0">
                          <a:effectLst/>
                        </a:rPr>
                        <a:t>6S Kings Hwy</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1355104002"/>
                  </a:ext>
                </a:extLst>
              </a:tr>
              <a:tr h="230059">
                <a:tc>
                  <a:txBody>
                    <a:bodyPr/>
                    <a:lstStyle/>
                    <a:p>
                      <a:pPr marL="0" algn="ctr" defTabSz="914400" rtl="0" eaLnBrk="1" latinLnBrk="0" hangingPunct="1"/>
                      <a:r>
                        <a:rPr lang="en-US" sz="1200" kern="1200" dirty="0">
                          <a:solidFill>
                            <a:schemeClr val="dk1"/>
                          </a:solidFill>
                          <a:latin typeface="+mn-lt"/>
                          <a:ea typeface="+mn-ea"/>
                          <a:cs typeface="+mn-cs"/>
                        </a:rPr>
                        <a:t>8</a:t>
                      </a:r>
                    </a:p>
                  </a:txBody>
                  <a:tcPr anchor="ctr"/>
                </a:tc>
                <a:tc>
                  <a:txBody>
                    <a:bodyPr/>
                    <a:lstStyle/>
                    <a:p>
                      <a:pPr algn="l" fontAlgn="b">
                        <a:buNone/>
                      </a:pPr>
                      <a:r>
                        <a:rPr lang="en-US" sz="1200" u="none" strike="noStrike" dirty="0">
                          <a:effectLst/>
                        </a:rPr>
                        <a:t>Brentwood DO</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2781583672"/>
                  </a:ext>
                </a:extLst>
              </a:tr>
              <a:tr h="385985">
                <a:tc>
                  <a:txBody>
                    <a:bodyPr/>
                    <a:lstStyle/>
                    <a:p>
                      <a:pPr marL="0" algn="ctr" defTabSz="914400" rtl="0" eaLnBrk="1" latinLnBrk="0" hangingPunct="1"/>
                      <a:r>
                        <a:rPr lang="en-US" sz="1200" kern="1200" dirty="0">
                          <a:solidFill>
                            <a:schemeClr val="dk1"/>
                          </a:solidFill>
                          <a:latin typeface="+mn-lt"/>
                          <a:ea typeface="+mn-ea"/>
                          <a:cs typeface="+mn-cs"/>
                        </a:rPr>
                        <a:t>9</a:t>
                      </a:r>
                    </a:p>
                  </a:txBody>
                  <a:tcPr anchor="ctr"/>
                </a:tc>
                <a:tc>
                  <a:txBody>
                    <a:bodyPr/>
                    <a:lstStyle/>
                    <a:p>
                      <a:pPr algn="l" fontAlgn="b">
                        <a:buNone/>
                      </a:pPr>
                      <a:r>
                        <a:rPr lang="en-US" sz="1200" u="none" strike="noStrike" dirty="0">
                          <a:effectLst/>
                        </a:rPr>
                        <a:t>7H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3319541799"/>
                  </a:ext>
                </a:extLst>
              </a:tr>
              <a:tr h="305421">
                <a:tc>
                  <a:txBody>
                    <a:bodyPr/>
                    <a:lstStyle/>
                    <a:p>
                      <a:pPr marL="0" algn="ctr" defTabSz="914400" rtl="0" eaLnBrk="1" latinLnBrk="0" hangingPunct="1"/>
                      <a:r>
                        <a:rPr lang="en-US" sz="1200" kern="1200" dirty="0">
                          <a:solidFill>
                            <a:schemeClr val="dk1"/>
                          </a:solidFill>
                          <a:latin typeface="+mn-lt"/>
                          <a:ea typeface="+mn-ea"/>
                          <a:cs typeface="+mn-cs"/>
                        </a:rPr>
                        <a:t>10</a:t>
                      </a:r>
                    </a:p>
                  </a:txBody>
                  <a:tcPr anchor="ctr"/>
                </a:tc>
                <a:tc>
                  <a:txBody>
                    <a:bodyPr/>
                    <a:lstStyle/>
                    <a:p>
                      <a:pPr algn="l" fontAlgn="b">
                        <a:buNone/>
                      </a:pPr>
                      <a:r>
                        <a:rPr lang="en-US" sz="1200" u="none" strike="noStrike" dirty="0">
                          <a:effectLst/>
                        </a:rPr>
                        <a:t>7H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9/22/26</a:t>
                      </a:r>
                    </a:p>
                  </a:txBody>
                  <a:tcPr anchor="ctr"/>
                </a:tc>
                <a:extLst>
                  <a:ext uri="{0D108BD9-81ED-4DB2-BD59-A6C34878D82A}">
                    <a16:rowId xmlns:a16="http://schemas.microsoft.com/office/drawing/2014/main" val="1288149223"/>
                  </a:ext>
                </a:extLst>
              </a:tr>
              <a:tr h="305421">
                <a:tc>
                  <a:txBody>
                    <a:bodyPr/>
                    <a:lstStyle/>
                    <a:p>
                      <a:pPr marL="0" algn="ctr" defTabSz="914400" rtl="0" eaLnBrk="1" latinLnBrk="0" hangingPunct="1"/>
                      <a:r>
                        <a:rPr lang="en-US" sz="1200" kern="1200" dirty="0">
                          <a:solidFill>
                            <a:schemeClr val="dk1"/>
                          </a:solidFill>
                          <a:latin typeface="+mn-lt"/>
                          <a:ea typeface="+mn-ea"/>
                          <a:cs typeface="+mn-cs"/>
                        </a:rPr>
                        <a:t>11</a:t>
                      </a:r>
                    </a:p>
                  </a:txBody>
                  <a:tcPr anchor="ctr"/>
                </a:tc>
                <a:tc>
                  <a:txBody>
                    <a:bodyPr/>
                    <a:lstStyle/>
                    <a:p>
                      <a:pPr algn="l" fontAlgn="b">
                        <a:buNone/>
                      </a:pPr>
                      <a:r>
                        <a:rPr lang="en-US" sz="1200" u="none" strike="noStrike" dirty="0">
                          <a:effectLst/>
                        </a:rPr>
                        <a:t>7D West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438867382"/>
                  </a:ext>
                </a:extLst>
              </a:tr>
              <a:tr h="305421">
                <a:tc>
                  <a:txBody>
                    <a:bodyPr/>
                    <a:lstStyle/>
                    <a:p>
                      <a:pPr marL="0" algn="ctr" defTabSz="914400" rtl="0" eaLnBrk="1" latinLnBrk="0" hangingPunct="1"/>
                      <a:r>
                        <a:rPr lang="en-US" sz="1200" kern="1200" dirty="0">
                          <a:solidFill>
                            <a:schemeClr val="dk1"/>
                          </a:solidFill>
                          <a:latin typeface="+mn-lt"/>
                          <a:ea typeface="+mn-ea"/>
                          <a:cs typeface="+mn-cs"/>
                        </a:rPr>
                        <a:t>12</a:t>
                      </a:r>
                    </a:p>
                  </a:txBody>
                  <a:tcPr anchor="ctr"/>
                </a:tc>
                <a:tc>
                  <a:txBody>
                    <a:bodyPr/>
                    <a:lstStyle/>
                    <a:p>
                      <a:pPr algn="l" fontAlgn="b">
                        <a:buNone/>
                      </a:pPr>
                      <a:r>
                        <a:rPr lang="en-US" sz="1200" u="none" strike="noStrike" dirty="0">
                          <a:effectLst/>
                        </a:rPr>
                        <a:t>7D West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1765565004"/>
                  </a:ext>
                </a:extLst>
              </a:tr>
              <a:tr h="305421">
                <a:tc>
                  <a:txBody>
                    <a:bodyPr/>
                    <a:lstStyle/>
                    <a:p>
                      <a:pPr marL="0" algn="ctr" defTabSz="914400" rtl="0" eaLnBrk="1" latinLnBrk="0" hangingPunct="1"/>
                      <a:r>
                        <a:rPr lang="en-US" sz="1200" kern="1200" dirty="0">
                          <a:solidFill>
                            <a:schemeClr val="dk1"/>
                          </a:solidFill>
                          <a:latin typeface="+mn-lt"/>
                          <a:ea typeface="+mn-ea"/>
                          <a:cs typeface="+mn-cs"/>
                        </a:rPr>
                        <a:t>13</a:t>
                      </a:r>
                    </a:p>
                  </a:txBody>
                  <a:tcPr anchor="ctr"/>
                </a:tc>
                <a:tc>
                  <a:txBody>
                    <a:bodyPr/>
                    <a:lstStyle/>
                    <a:p>
                      <a:pPr algn="l" fontAlgn="b">
                        <a:buNone/>
                      </a:pPr>
                      <a:r>
                        <a:rPr lang="en-US" sz="1200" u="none" strike="noStrike" dirty="0">
                          <a:effectLst/>
                        </a:rPr>
                        <a:t>7W Berry St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5697042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14</a:t>
                      </a:r>
                    </a:p>
                  </a:txBody>
                  <a:tcPr/>
                </a:tc>
                <a:tc>
                  <a:txBody>
                    <a:bodyPr/>
                    <a:lstStyle/>
                    <a:p>
                      <a:pPr algn="l" fontAlgn="b">
                        <a:buNone/>
                      </a:pPr>
                      <a:r>
                        <a:rPr lang="en-US" sz="1200" b="0" i="0" u="none" strike="noStrike" dirty="0">
                          <a:solidFill>
                            <a:srgbClr val="000000"/>
                          </a:solidFill>
                          <a:effectLst/>
                          <a:latin typeface="+mn-lt"/>
                        </a:rPr>
                        <a:t>3J Whiteside</a:t>
                      </a:r>
                    </a:p>
                  </a:txBody>
                  <a:tcPr marL="0" marR="0" marT="0" marB="0" anchor="b"/>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26685270"/>
                  </a:ext>
                </a:extLst>
              </a:tr>
              <a:tr h="442614">
                <a:tc>
                  <a:txBody>
                    <a:bodyPr/>
                    <a:lstStyle/>
                    <a:p>
                      <a:pPr marL="0" algn="ctr" defTabSz="914400" rtl="0" eaLnBrk="1" latinLnBrk="0" hangingPunct="1"/>
                      <a:r>
                        <a:rPr lang="en-US" sz="1200" kern="1200" dirty="0">
                          <a:solidFill>
                            <a:schemeClr val="dk1"/>
                          </a:solidFill>
                          <a:latin typeface="+mn-lt"/>
                          <a:ea typeface="+mn-ea"/>
                          <a:cs typeface="+mn-cs"/>
                        </a:rPr>
                        <a:t>15</a:t>
                      </a:r>
                    </a:p>
                  </a:txBody>
                  <a:tcPr/>
                </a:tc>
                <a:tc>
                  <a:txBody>
                    <a:bodyPr/>
                    <a:lstStyle/>
                    <a:p>
                      <a:pPr algn="l" fontAlgn="b">
                        <a:buNone/>
                      </a:pPr>
                      <a:r>
                        <a:rPr lang="en-US" sz="1200" b="0" i="0" u="none" strike="noStrike" dirty="0">
                          <a:solidFill>
                            <a:srgbClr val="000000"/>
                          </a:solidFill>
                          <a:effectLst/>
                          <a:latin typeface="+mn-lt"/>
                        </a:rPr>
                        <a:t>2K Valley Stream</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3561936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8D28-4191-64D8-9095-9DCC2D6CB87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E76EF5-4EA1-C9EA-5073-1FA6B9B25905}"/>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40B7BEC1-9D05-8207-851E-F9A504C9BE5F}"/>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644D24B7-14F5-6B82-C5BA-2BEA991C8AFA}"/>
              </a:ext>
            </a:extLst>
          </p:cNvPr>
          <p:cNvGraphicFramePr>
            <a:graphicFrameLocks noGrp="1"/>
          </p:cNvGraphicFramePr>
          <p:nvPr>
            <p:extLst>
              <p:ext uri="{D42A27DB-BD31-4B8C-83A1-F6EECF244321}">
                <p14:modId xmlns:p14="http://schemas.microsoft.com/office/powerpoint/2010/main" val="4276176840"/>
              </p:ext>
            </p:extLst>
          </p:nvPr>
        </p:nvGraphicFramePr>
        <p:xfrm>
          <a:off x="676405" y="805737"/>
          <a:ext cx="9615676" cy="4839736"/>
        </p:xfrm>
        <a:graphic>
          <a:graphicData uri="http://schemas.openxmlformats.org/drawingml/2006/table">
            <a:tbl>
              <a:tblPr firstRow="1" bandRow="1">
                <a:tableStyleId>{F5AB1C69-6EDB-4FF4-983F-18BD219EF322}</a:tableStyleId>
              </a:tblPr>
              <a:tblGrid>
                <a:gridCol w="541072">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161419">
                  <a:extLst>
                    <a:ext uri="{9D8B030D-6E8A-4147-A177-3AD203B41FA5}">
                      <a16:colId xmlns:a16="http://schemas.microsoft.com/office/drawing/2014/main" val="3759070369"/>
                    </a:ext>
                  </a:extLst>
                </a:gridCol>
                <a:gridCol w="1064712">
                  <a:extLst>
                    <a:ext uri="{9D8B030D-6E8A-4147-A177-3AD203B41FA5}">
                      <a16:colId xmlns:a16="http://schemas.microsoft.com/office/drawing/2014/main" val="2431206455"/>
                    </a:ext>
                  </a:extLst>
                </a:gridCol>
                <a:gridCol w="1400310">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344249">
                <a:tc>
                  <a:txBody>
                    <a:bodyPr/>
                    <a:lstStyle/>
                    <a:p>
                      <a:pPr marL="0" algn="ctr" defTabSz="914400" rtl="0" eaLnBrk="1" latinLnBrk="0" hangingPunct="1"/>
                      <a:r>
                        <a:rPr lang="en-US" sz="1200" kern="1200" dirty="0">
                          <a:solidFill>
                            <a:schemeClr val="dk1"/>
                          </a:solidFill>
                          <a:latin typeface="+mn-lt"/>
                          <a:ea typeface="+mn-ea"/>
                          <a:cs typeface="+mn-cs"/>
                        </a:rPr>
                        <a:t>16</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2RB Green Acres</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70786517"/>
                  </a:ext>
                </a:extLst>
              </a:tr>
              <a:tr h="284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17</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Hewlett DO</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3154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18</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2ZB EF Barrett PS Inside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020739305"/>
                  </a:ext>
                </a:extLst>
              </a:tr>
              <a:tr h="315486">
                <a:tc>
                  <a:txBody>
                    <a:bodyPr/>
                    <a:lstStyle/>
                    <a:p>
                      <a:pPr marL="0" algn="ctr" defTabSz="914400" rtl="0" eaLnBrk="1" latinLnBrk="0" hangingPunct="1"/>
                      <a:r>
                        <a:rPr lang="en-US" sz="1200" kern="1200" dirty="0">
                          <a:solidFill>
                            <a:schemeClr val="dk1"/>
                          </a:solidFill>
                          <a:latin typeface="+mn-lt"/>
                          <a:ea typeface="+mn-ea"/>
                          <a:cs typeface="+mn-cs"/>
                        </a:rPr>
                        <a:t>19</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2WB Barrett Outside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444944646"/>
                  </a:ext>
                </a:extLst>
              </a:tr>
              <a:tr h="0">
                <a:tc>
                  <a:txBody>
                    <a:bodyPr/>
                    <a:lstStyle/>
                    <a:p>
                      <a:pPr marL="0" algn="ctr" defTabSz="914400" rtl="0" eaLnBrk="1" latinLnBrk="0" hangingPunct="1"/>
                      <a:r>
                        <a:rPr lang="en-US" sz="1200" kern="1200" dirty="0">
                          <a:solidFill>
                            <a:schemeClr val="dk1"/>
                          </a:solidFill>
                          <a:latin typeface="+mn-lt"/>
                          <a:ea typeface="+mn-ea"/>
                          <a:cs typeface="+mn-cs"/>
                        </a:rPr>
                        <a:t>20</a:t>
                      </a:r>
                    </a:p>
                  </a:txBody>
                  <a:tcPr anchor="ctr"/>
                </a:tc>
                <a:tc>
                  <a:txBody>
                    <a:bodyPr/>
                    <a:lstStyle/>
                    <a:p>
                      <a:pPr marL="0" marR="0">
                        <a:buNone/>
                      </a:pPr>
                      <a:r>
                        <a:rPr lang="en-US" sz="1200">
                          <a:effectLst/>
                          <a:latin typeface="+mn-lt"/>
                          <a:ea typeface="Aptos" panose="020B0004020202020204" pitchFamily="34" charset="0"/>
                          <a:cs typeface="Aptos" panose="020B0004020202020204" pitchFamily="34" charset="0"/>
                        </a:rPr>
                        <a:t>5HK Hicksville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3029141390"/>
                  </a:ext>
                </a:extLst>
              </a:tr>
              <a:tr h="251922">
                <a:tc>
                  <a:txBody>
                    <a:bodyPr/>
                    <a:lstStyle/>
                    <a:p>
                      <a:pPr marL="0" algn="ctr" defTabSz="914400" rtl="0" eaLnBrk="1" latinLnBrk="0" hangingPunct="1"/>
                      <a:r>
                        <a:rPr lang="en-US" sz="1200" kern="1200" dirty="0">
                          <a:solidFill>
                            <a:schemeClr val="dk1"/>
                          </a:solidFill>
                          <a:latin typeface="+mn-lt"/>
                          <a:ea typeface="+mn-ea"/>
                          <a:cs typeface="+mn-cs"/>
                        </a:rPr>
                        <a:t>21</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2H Far Rockaway</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22</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2KB Cedarhurst</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23</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781583672"/>
                  </a:ext>
                </a:extLst>
              </a:tr>
              <a:tr h="398705">
                <a:tc>
                  <a:txBody>
                    <a:bodyPr/>
                    <a:lstStyle/>
                    <a:p>
                      <a:pPr marL="0" algn="ctr" defTabSz="914400" rtl="0" eaLnBrk="1" latinLnBrk="0" hangingPunct="1"/>
                      <a:r>
                        <a:rPr lang="en-US" sz="1200" kern="1200" dirty="0">
                          <a:solidFill>
                            <a:schemeClr val="dk1"/>
                          </a:solidFill>
                          <a:latin typeface="+mn-lt"/>
                          <a:ea typeface="+mn-ea"/>
                          <a:cs typeface="+mn-cs"/>
                        </a:rPr>
                        <a:t>24</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319541799"/>
                  </a:ext>
                </a:extLst>
              </a:tr>
              <a:tr h="315486">
                <a:tc>
                  <a:txBody>
                    <a:bodyPr/>
                    <a:lstStyle/>
                    <a:p>
                      <a:pPr marL="0" algn="ctr" defTabSz="914400" rtl="0" eaLnBrk="1" latinLnBrk="0" hangingPunct="1"/>
                      <a:r>
                        <a:rPr lang="en-US" sz="1200" kern="1200" dirty="0">
                          <a:solidFill>
                            <a:schemeClr val="dk1"/>
                          </a:solidFill>
                          <a:latin typeface="+mn-lt"/>
                          <a:ea typeface="+mn-ea"/>
                          <a:cs typeface="+mn-cs"/>
                        </a:rPr>
                        <a:t>25</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 Baldwin </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88149223"/>
                  </a:ext>
                </a:extLst>
              </a:tr>
              <a:tr h="315486">
                <a:tc>
                  <a:txBody>
                    <a:bodyPr/>
                    <a:lstStyle/>
                    <a:p>
                      <a:pPr marL="0" algn="ctr" defTabSz="914400" rtl="0" eaLnBrk="1" latinLnBrk="0" hangingPunct="1"/>
                      <a:r>
                        <a:rPr lang="en-US" sz="1200" kern="1200" dirty="0">
                          <a:solidFill>
                            <a:schemeClr val="dk1"/>
                          </a:solidFill>
                          <a:latin typeface="+mn-lt"/>
                          <a:ea typeface="+mn-ea"/>
                          <a:cs typeface="+mn-cs"/>
                        </a:rPr>
                        <a:t>26</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4M1 Baldwin Shelter</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43886738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27</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6K State School</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9/17/26</a:t>
                      </a:r>
                    </a:p>
                  </a:txBody>
                  <a:tcPr anchor="ctr"/>
                </a:tc>
                <a:extLst>
                  <a:ext uri="{0D108BD9-81ED-4DB2-BD59-A6C34878D82A}">
                    <a16:rowId xmlns:a16="http://schemas.microsoft.com/office/drawing/2014/main" val="176556500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28</a:t>
                      </a:r>
                    </a:p>
                  </a:txBody>
                  <a:tcPr anchor="ctr"/>
                </a:tc>
                <a:tc>
                  <a:txBody>
                    <a:bodyPr/>
                    <a:lstStyle/>
                    <a:p>
                      <a:pPr algn="l" fontAlgn="b">
                        <a:buNone/>
                      </a:pPr>
                      <a:r>
                        <a:rPr lang="en-US" sz="1200" b="0" i="0" u="none" strike="noStrike" dirty="0">
                          <a:solidFill>
                            <a:srgbClr val="000000"/>
                          </a:solidFill>
                          <a:effectLst/>
                          <a:latin typeface="Arial" panose="020B0604020202020204" pitchFamily="34" charset="0"/>
                        </a:rPr>
                        <a:t> 7BH Bohemia </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569704205"/>
                  </a:ext>
                </a:extLst>
              </a:tr>
              <a:tr h="0">
                <a:tc>
                  <a:txBody>
                    <a:bodyPr/>
                    <a:lstStyle/>
                    <a:p>
                      <a:pPr marL="0" algn="ctr" defTabSz="914400" rtl="0" eaLnBrk="1" latinLnBrk="0" hangingPunct="1"/>
                      <a:r>
                        <a:rPr lang="en-US" sz="1200" kern="1200" dirty="0">
                          <a:solidFill>
                            <a:schemeClr val="dk1"/>
                          </a:solidFill>
                          <a:latin typeface="+mn-lt"/>
                          <a:ea typeface="+mn-ea"/>
                          <a:cs typeface="+mn-cs"/>
                        </a:rPr>
                        <a:t>29</a:t>
                      </a:r>
                    </a:p>
                  </a:txBody>
                  <a:tcPr anchor="ctr"/>
                </a:tc>
                <a:tc>
                  <a:txBody>
                    <a:bodyPr/>
                    <a:lstStyle/>
                    <a:p>
                      <a:pPr algn="l" fontAlgn="b">
                        <a:buNone/>
                      </a:pPr>
                      <a:r>
                        <a:rPr lang="en-US" sz="1200" b="0" i="0" u="none" strike="noStrike" dirty="0">
                          <a:solidFill>
                            <a:srgbClr val="000000"/>
                          </a:solidFill>
                          <a:effectLst/>
                          <a:latin typeface="+mn-lt"/>
                        </a:rPr>
                        <a:t>7M MacArthur</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38851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41EE5-E7C1-A9CC-A23C-1D0A056DCEA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D29A1BE-788C-CF89-3841-0B87433FA531}"/>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89014D30-3AE4-81FD-F51A-09DD07C3CA2B}"/>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47EA892D-C687-A0E8-474D-83B918A34730}"/>
              </a:ext>
            </a:extLst>
          </p:cNvPr>
          <p:cNvGraphicFramePr>
            <a:graphicFrameLocks noGrp="1"/>
          </p:cNvGraphicFramePr>
          <p:nvPr/>
        </p:nvGraphicFramePr>
        <p:xfrm>
          <a:off x="670560" y="805737"/>
          <a:ext cx="9621521" cy="5108128"/>
        </p:xfrm>
        <a:graphic>
          <a:graphicData uri="http://schemas.openxmlformats.org/drawingml/2006/table">
            <a:tbl>
              <a:tblPr firstRow="1" bandRow="1">
                <a:tableStyleId>{F5AB1C69-6EDB-4FF4-983F-18BD219EF322}</a:tableStyleId>
              </a:tblPr>
              <a:tblGrid>
                <a:gridCol w="546917">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085010">
                  <a:extLst>
                    <a:ext uri="{9D8B030D-6E8A-4147-A177-3AD203B41FA5}">
                      <a16:colId xmlns:a16="http://schemas.microsoft.com/office/drawing/2014/main" val="3759070369"/>
                    </a:ext>
                  </a:extLst>
                </a:gridCol>
                <a:gridCol w="1028387">
                  <a:extLst>
                    <a:ext uri="{9D8B030D-6E8A-4147-A177-3AD203B41FA5}">
                      <a16:colId xmlns:a16="http://schemas.microsoft.com/office/drawing/2014/main" val="2431206455"/>
                    </a:ext>
                  </a:extLst>
                </a:gridCol>
                <a:gridCol w="1513044">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46713">
                <a:tc>
                  <a:txBody>
                    <a:bodyPr/>
                    <a:lstStyle/>
                    <a:p>
                      <a:pPr marL="0" algn="ctr" defTabSz="914400" rtl="0" eaLnBrk="1" latinLnBrk="0" hangingPunct="1"/>
                      <a:r>
                        <a:rPr lang="en-US" sz="1200" kern="1200" dirty="0">
                          <a:solidFill>
                            <a:schemeClr val="dk1"/>
                          </a:solidFill>
                          <a:latin typeface="+mn-lt"/>
                          <a:ea typeface="+mn-ea"/>
                          <a:cs typeface="+mn-cs"/>
                        </a:rPr>
                        <a:t>30</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1370786517"/>
                  </a:ext>
                </a:extLst>
              </a:tr>
              <a:tr h="2467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31</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2101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32</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7Z Lindenhurst</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182705">
                <a:tc>
                  <a:txBody>
                    <a:bodyPr/>
                    <a:lstStyle/>
                    <a:p>
                      <a:pPr marL="0" algn="ctr" defTabSz="914400" rtl="0" eaLnBrk="1" latinLnBrk="0" hangingPunct="1"/>
                      <a:r>
                        <a:rPr lang="en-US" sz="1200" kern="1200" dirty="0">
                          <a:solidFill>
                            <a:schemeClr val="dk1"/>
                          </a:solidFill>
                          <a:latin typeface="+mn-lt"/>
                          <a:ea typeface="+mn-ea"/>
                          <a:cs typeface="+mn-cs"/>
                        </a:rPr>
                        <a:t>33</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7J Sterling</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3444944646"/>
                  </a:ext>
                </a:extLst>
              </a:tr>
              <a:tr h="173561">
                <a:tc>
                  <a:txBody>
                    <a:bodyPr/>
                    <a:lstStyle/>
                    <a:p>
                      <a:pPr marL="0" algn="ctr" defTabSz="914400" rtl="0" eaLnBrk="1" latinLnBrk="0" hangingPunct="1"/>
                      <a:r>
                        <a:rPr lang="en-US" sz="1200" kern="1200" dirty="0">
                          <a:solidFill>
                            <a:schemeClr val="dk1"/>
                          </a:solidFill>
                          <a:latin typeface="+mn-lt"/>
                          <a:ea typeface="+mn-ea"/>
                          <a:cs typeface="+mn-cs"/>
                        </a:rPr>
                        <a:t>34</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7UM South Farmingdale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29141390"/>
                  </a:ext>
                </a:extLst>
              </a:tr>
              <a:tr h="0">
                <a:tc>
                  <a:txBody>
                    <a:bodyPr/>
                    <a:lstStyle/>
                    <a:p>
                      <a:pPr marL="0" algn="ctr" defTabSz="914400" rtl="0" eaLnBrk="1" latinLnBrk="0" hangingPunct="1"/>
                      <a:r>
                        <a:rPr lang="en-US" sz="1200" kern="1200" dirty="0">
                          <a:solidFill>
                            <a:schemeClr val="dk1"/>
                          </a:solidFill>
                          <a:latin typeface="+mn-lt"/>
                          <a:ea typeface="+mn-ea"/>
                          <a:cs typeface="+mn-cs"/>
                        </a:rPr>
                        <a:t>35</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ACC</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206406284"/>
                  </a:ext>
                </a:extLst>
              </a:tr>
              <a:tr h="0">
                <a:tc>
                  <a:txBody>
                    <a:bodyPr/>
                    <a:lstStyle/>
                    <a:p>
                      <a:pPr marL="0" algn="ctr" defTabSz="914400" rtl="0" eaLnBrk="1" latinLnBrk="0" hangingPunct="1"/>
                      <a:r>
                        <a:rPr lang="en-US" sz="1200" kern="1200" dirty="0">
                          <a:solidFill>
                            <a:schemeClr val="dk1"/>
                          </a:solidFill>
                          <a:latin typeface="+mn-lt"/>
                          <a:ea typeface="+mn-ea"/>
                          <a:cs typeface="+mn-cs"/>
                        </a:rPr>
                        <a:t>36</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6U Ruland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extLst>
                  <a:ext uri="{0D108BD9-81ED-4DB2-BD59-A6C34878D82A}">
                    <a16:rowId xmlns:a16="http://schemas.microsoft.com/office/drawing/2014/main" val="2781583672"/>
                  </a:ext>
                </a:extLst>
              </a:tr>
              <a:tr h="398705">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3319541799"/>
                  </a:ext>
                </a:extLst>
              </a:tr>
              <a:tr h="430813">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88149223"/>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43886738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765565004"/>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569704205"/>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26685270"/>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482033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DC2193-B7FE-D8BE-DE47-7FE1525029A6}"/>
              </a:ext>
            </a:extLst>
          </p:cNvPr>
          <p:cNvSpPr txBox="1"/>
          <p:nvPr/>
        </p:nvSpPr>
        <p:spPr>
          <a:xfrm>
            <a:off x="557505" y="3303840"/>
            <a:ext cx="8511850" cy="3077766"/>
          </a:xfrm>
          <a:prstGeom prst="rect">
            <a:avLst/>
          </a:prstGeom>
          <a:noFill/>
        </p:spPr>
        <p:txBody>
          <a:bodyPr wrap="square">
            <a:spAutoFit/>
          </a:bodyPr>
          <a:lstStyle/>
          <a:p>
            <a:pPr marL="228600" indent="-228600">
              <a:spcBef>
                <a:spcPts val="600"/>
              </a:spcBef>
              <a:spcAft>
                <a:spcPts val="600"/>
              </a:spcAft>
              <a:buFont typeface="Wingdings" panose="05000000000000000000" pitchFamily="2" charset="2"/>
              <a:buChar char="Ø"/>
            </a:pPr>
            <a:r>
              <a:rPr lang="en-US" b="1" dirty="0"/>
              <a:t>Current Risk</a:t>
            </a:r>
          </a:p>
          <a:p>
            <a:pPr marL="800100" lvl="1" indent="-342900">
              <a:spcBef>
                <a:spcPts val="600"/>
              </a:spcBef>
              <a:spcAft>
                <a:spcPts val="600"/>
              </a:spcAft>
              <a:buFont typeface="+mj-lt"/>
              <a:buAutoNum type="arabicPeriod"/>
            </a:pPr>
            <a:r>
              <a:rPr lang="en-US" dirty="0"/>
              <a:t>Legacy JMUX equipment old and delicate. Potential for Outage. </a:t>
            </a:r>
          </a:p>
          <a:p>
            <a:pPr marL="1714500" lvl="3" indent="-342900">
              <a:spcBef>
                <a:spcPts val="600"/>
              </a:spcBef>
              <a:spcAft>
                <a:spcPts val="600"/>
              </a:spcAft>
              <a:buFont typeface="Arial" panose="020B0604020202020204" pitchFamily="34" charset="0"/>
              <a:buChar char="•"/>
            </a:pPr>
            <a:r>
              <a:rPr lang="en-US" dirty="0"/>
              <a:t>Ran into faulty connectors that are over25 years old and not readily available with vendors.</a:t>
            </a:r>
          </a:p>
          <a:p>
            <a:pPr marL="1714500" lvl="3" indent="-342900">
              <a:spcBef>
                <a:spcPts val="600"/>
              </a:spcBef>
              <a:spcAft>
                <a:spcPts val="600"/>
              </a:spcAft>
              <a:buFont typeface="Arial" panose="020B0604020202020204" pitchFamily="34" charset="0"/>
              <a:buChar char="•"/>
            </a:pPr>
            <a:r>
              <a:rPr lang="en-US" dirty="0"/>
              <a:t>Potential brittle fiber patch panels, Face plates, connectors and cables.</a:t>
            </a:r>
          </a:p>
          <a:p>
            <a:pPr marL="800100" lvl="1" indent="-342900">
              <a:spcBef>
                <a:spcPts val="600"/>
              </a:spcBef>
              <a:spcAft>
                <a:spcPts val="600"/>
              </a:spcAft>
              <a:buFont typeface="+mj-lt"/>
              <a:buAutoNum type="arabicPeriod"/>
            </a:pPr>
            <a:r>
              <a:rPr lang="en-US" dirty="0"/>
              <a:t>Weather delay and delay in installing the equipment at sub-station (tracking weekly).</a:t>
            </a:r>
          </a:p>
          <a:p>
            <a:pPr marL="800100" lvl="1" indent="-342900">
              <a:spcBef>
                <a:spcPts val="600"/>
              </a:spcBef>
              <a:spcAft>
                <a:spcPts val="600"/>
              </a:spcAft>
              <a:buFont typeface="+mj-lt"/>
              <a:buAutoNum type="arabicPeriod"/>
            </a:pPr>
            <a:r>
              <a:rPr lang="en-US" dirty="0"/>
              <a:t>Other major substation project conflicts. </a:t>
            </a:r>
          </a:p>
        </p:txBody>
      </p:sp>
      <p:sp>
        <p:nvSpPr>
          <p:cNvPr id="8" name="TextBox 7">
            <a:extLst>
              <a:ext uri="{FF2B5EF4-FFF2-40B4-BE49-F238E27FC236}">
                <a16:creationId xmlns:a16="http://schemas.microsoft.com/office/drawing/2014/main" id="{A2C3A67E-29DB-19F7-057D-329C6D37C7B4}"/>
              </a:ext>
            </a:extLst>
          </p:cNvPr>
          <p:cNvSpPr txBox="1"/>
          <p:nvPr/>
        </p:nvSpPr>
        <p:spPr>
          <a:xfrm>
            <a:off x="429489" y="170709"/>
            <a:ext cx="9199984" cy="2939266"/>
          </a:xfrm>
          <a:prstGeom prst="rect">
            <a:avLst/>
          </a:prstGeom>
          <a:noFill/>
        </p:spPr>
        <p:txBody>
          <a:bodyPr wrap="square" rtlCol="0">
            <a:spAutoFit/>
          </a:bodyPr>
          <a:lstStyle/>
          <a:p>
            <a:pPr marL="228600" indent="-228600">
              <a:spcBef>
                <a:spcPts val="600"/>
              </a:spcBef>
              <a:spcAft>
                <a:spcPts val="600"/>
              </a:spcAft>
              <a:buFont typeface="Wingdings" panose="05000000000000000000" pitchFamily="2" charset="2"/>
              <a:buChar char="Ø"/>
            </a:pPr>
            <a:r>
              <a:rPr lang="en-US" b="1" dirty="0"/>
              <a:t>Next Steps</a:t>
            </a:r>
            <a:endParaRPr lang="en-US" dirty="0"/>
          </a:p>
          <a:p>
            <a:pPr marL="342900" lvl="0" indent="-342900">
              <a:buFont typeface="+mj-lt"/>
              <a:buAutoNum type="arabicPeriod"/>
              <a:tabLst>
                <a:tab pos="457200" algn="l"/>
              </a:tabLst>
            </a:pPr>
            <a:r>
              <a:rPr lang="en-US" dirty="0">
                <a:solidFill>
                  <a:srgbClr val="28A745"/>
                </a:solidFill>
                <a:latin typeface="Aptos" panose="020B0004020202020204" pitchFamily="34" charset="0"/>
                <a:cs typeface="Aptos" panose="020B0004020202020204" pitchFamily="34" charset="0"/>
              </a:rPr>
              <a:t>✅ Cat6 COMPLETE (3/4) · ✅ OTDR COMPLETE (3/9) · ✅ BGP APPROVED (3/16) · ✅ Northport DC RESOLVED (3/18)</a:t>
            </a:r>
            <a:r>
              <a:rPr lang="en-US" dirty="0">
                <a:solidFill>
                  <a:srgbClr val="00B050"/>
                </a:solidFill>
              </a:rPr>
              <a:t> (change ticket planned </a:t>
            </a:r>
            <a:r>
              <a:rPr lang="en-US" dirty="0">
                <a:solidFill>
                  <a:srgbClr val="00B050"/>
                </a:solidFill>
                <a:latin typeface="Aptos" panose="020B0004020202020204" pitchFamily="34" charset="0"/>
                <a:cs typeface="Aptos" panose="020B0004020202020204" pitchFamily="34" charset="0"/>
              </a:rPr>
              <a:t>03/03</a:t>
            </a:r>
            <a:r>
              <a:rPr lang="en-US" dirty="0">
                <a:solidFill>
                  <a:srgbClr val="00B050"/>
                </a:solidFill>
              </a:rPr>
              <a:t>).</a:t>
            </a:r>
          </a:p>
          <a:p>
            <a:pPr marL="342900" lvl="0" indent="-342900">
              <a:buFont typeface="+mj-lt"/>
              <a:buAutoNum type="arabicPeriod"/>
              <a:tabLst>
                <a:tab pos="457200" algn="l"/>
              </a:tabLst>
            </a:pPr>
            <a:r>
              <a:rPr lang="en-US" dirty="0">
                <a:solidFill>
                  <a:srgbClr val="00B050"/>
                </a:solidFill>
                <a:latin typeface="Aptos" panose="020B0004020202020204" pitchFamily="34" charset="0"/>
                <a:cs typeface="Aptos" panose="020B0004020202020204" pitchFamily="34" charset="0"/>
              </a:rPr>
              <a:t>🔴 ILO configuration — Bill (B&amp;M) working with Rahiq/Brianna to resolve console cable &amp; firmware. This is the #1 critical path blocker.</a:t>
            </a:r>
            <a:r>
              <a:rPr lang="en-US" dirty="0">
                <a:solidFill>
                  <a:srgbClr val="00B050"/>
                </a:solidFill>
              </a:rPr>
              <a:t> (planned </a:t>
            </a:r>
            <a:r>
              <a:rPr lang="en-US" dirty="0">
                <a:solidFill>
                  <a:srgbClr val="00B050"/>
                </a:solidFill>
                <a:latin typeface="Aptos" panose="020B0004020202020204" pitchFamily="34" charset="0"/>
                <a:cs typeface="Aptos" panose="020B0004020202020204" pitchFamily="34" charset="0"/>
              </a:rPr>
              <a:t>03/04</a:t>
            </a:r>
            <a:r>
              <a:rPr lang="en-US" dirty="0">
                <a:solidFill>
                  <a:srgbClr val="00B050"/>
                </a:solidFill>
              </a:rPr>
              <a:t>) to confirm whether the low DB level is internal vs </a:t>
            </a:r>
            <a:r>
              <a:rPr lang="en-US" dirty="0">
                <a:solidFill>
                  <a:srgbClr val="00B050"/>
                </a:solidFill>
                <a:latin typeface="Aptos" panose="020B0004020202020204" pitchFamily="34" charset="0"/>
                <a:cs typeface="Aptos" panose="020B0004020202020204" pitchFamily="34" charset="0"/>
              </a:rPr>
              <a:t>carrier-side (Crown Castle)</a:t>
            </a:r>
            <a:r>
              <a:rPr lang="en-US" dirty="0">
                <a:solidFill>
                  <a:srgbClr val="00B050"/>
                </a:solidFill>
              </a:rPr>
              <a:t>; validate filter/wavelength behavior.</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 BGP config at Hicksville &amp; Melville — Lee to begin once ILO is complete.</a:t>
            </a:r>
            <a:r>
              <a:rPr lang="en-US" dirty="0"/>
              <a:t> after cabling/OTDR so we can shift to “remote-first” execution.</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 Remote access config — Lee to configure all 31 routers once BGP is done at both hub sites.</a:t>
            </a:r>
            <a:r>
              <a:rPr lang="en-US" dirty="0"/>
              <a:t> on the powered routers for </a:t>
            </a:r>
            <a:r>
              <a:rPr lang="en-US" dirty="0">
                <a:latin typeface="Aptos" panose="020B0004020202020204" pitchFamily="34" charset="0"/>
                <a:cs typeface="Aptos" panose="020B0004020202020204" pitchFamily="34" charset="0"/>
              </a:rPr>
              <a:t>Ring 1 and Ring 6</a:t>
            </a:r>
            <a:r>
              <a:rPr lang="en-US" dirty="0"/>
              <a:t> (remote workstream), with standard config + validation.</a:t>
            </a:r>
          </a:p>
          <a:p>
            <a:pPr marL="342900" indent="-342900">
              <a:buAutoNum type="arabicPeriod"/>
            </a:pPr>
            <a:endParaRPr lang="en-US" dirty="0"/>
          </a:p>
          <a:p>
            <a:endParaRPr lang="en-US" dirty="0"/>
          </a:p>
        </p:txBody>
      </p:sp>
    </p:spTree>
    <p:extLst>
      <p:ext uri="{BB962C8B-B14F-4D97-AF65-F5344CB8AC3E}">
        <p14:creationId xmlns:p14="http://schemas.microsoft.com/office/powerpoint/2010/main" val="1198083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Risks &amp; Issues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Active Risks | Mitigations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05840"/>
            <a:ext cx="5486400" cy="3657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33271"/>
            <a:ext cx="5303520" cy="292608"/>
          </a:xfrm>
          <a:prstGeom prst="rect">
            <a:avLst/>
          </a:prstGeom>
          <a:noFill/>
        </p:spPr>
        <p:txBody>
          <a:bodyPr wrap="square">
            <a:spAutoFit/>
          </a:bodyPr>
          <a:lstStyle/>
          <a:p>
            <a:pPr algn="l"/>
            <a:r>
              <a:rPr sz="1200" b="1" i="0">
                <a:solidFill>
                  <a:srgbClr val="FFFFFF"/>
                </a:solidFill>
              </a:rPr>
              <a:t>⚠  ACTIVE RISKS</a:t>
            </a:r>
          </a:p>
        </p:txBody>
      </p:sp>
      <p:sp>
        <p:nvSpPr>
          <p:cNvPr id="10" name="Rectangle 9"/>
          <p:cNvSpPr/>
          <p:nvPr/>
        </p:nvSpPr>
        <p:spPr>
          <a:xfrm>
            <a:off x="5943600" y="1005840"/>
            <a:ext cx="5943600" cy="36576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0" y="1033271"/>
            <a:ext cx="5760720" cy="292608"/>
          </a:xfrm>
          <a:prstGeom prst="rect">
            <a:avLst/>
          </a:prstGeom>
          <a:noFill/>
        </p:spPr>
        <p:txBody>
          <a:bodyPr wrap="square">
            <a:spAutoFit/>
          </a:bodyPr>
          <a:lstStyle/>
          <a:p>
            <a:pPr algn="l"/>
            <a:r>
              <a:rPr sz="1200" b="1" i="0">
                <a:solidFill>
                  <a:srgbClr val="FFFFFF"/>
                </a:solidFill>
              </a:rPr>
              <a:t>🔧  ACTIVE ISSUES / IN RESOLUTION</a:t>
            </a:r>
          </a:p>
        </p:txBody>
      </p:sp>
      <p:sp>
        <p:nvSpPr>
          <p:cNvPr id="12" name="Rectangle 11"/>
          <p:cNvSpPr/>
          <p:nvPr/>
        </p:nvSpPr>
        <p:spPr>
          <a:xfrm>
            <a:off x="274320" y="1463040"/>
            <a:ext cx="5486400" cy="114300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1463040"/>
            <a:ext cx="1005840" cy="34747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 y="1499616"/>
            <a:ext cx="914400" cy="274320"/>
          </a:xfrm>
          <a:prstGeom prst="rect">
            <a:avLst/>
          </a:prstGeom>
          <a:noFill/>
        </p:spPr>
        <p:txBody>
          <a:bodyPr wrap="square">
            <a:spAutoFit/>
          </a:bodyPr>
          <a:lstStyle/>
          <a:p>
            <a:pPr algn="ctr"/>
            <a:r>
              <a:rPr sz="1000" b="1" i="0">
                <a:solidFill>
                  <a:srgbClr val="FFFFFF"/>
                </a:solidFill>
              </a:rPr>
              <a:t>HIGH</a:t>
            </a:r>
          </a:p>
        </p:txBody>
      </p:sp>
      <p:sp>
        <p:nvSpPr>
          <p:cNvPr id="15" name="TextBox 14"/>
          <p:cNvSpPr txBox="1"/>
          <p:nvPr/>
        </p:nvSpPr>
        <p:spPr>
          <a:xfrm>
            <a:off x="1325880" y="1499616"/>
            <a:ext cx="4297680" cy="292608"/>
          </a:xfrm>
          <a:prstGeom prst="rect">
            <a:avLst/>
          </a:prstGeom>
          <a:noFill/>
        </p:spPr>
        <p:txBody>
          <a:bodyPr wrap="square">
            <a:spAutoFit/>
          </a:bodyPr>
          <a:lstStyle/>
          <a:p>
            <a:pPr algn="l"/>
            <a:r>
              <a:rPr sz="1100" b="1" i="0">
                <a:solidFill>
                  <a:srgbClr val="404040"/>
                </a:solidFill>
              </a:rPr>
              <a:t>Legacy Equipment Fragility</a:t>
            </a:r>
          </a:p>
        </p:txBody>
      </p:sp>
      <p:sp>
        <p:nvSpPr>
          <p:cNvPr id="16" name="TextBox 15"/>
          <p:cNvSpPr txBox="1"/>
          <p:nvPr/>
        </p:nvSpPr>
        <p:spPr>
          <a:xfrm>
            <a:off x="365760" y="1847088"/>
            <a:ext cx="5212080" cy="384048"/>
          </a:xfrm>
          <a:prstGeom prst="rect">
            <a:avLst/>
          </a:prstGeom>
          <a:noFill/>
        </p:spPr>
        <p:txBody>
          <a:bodyPr wrap="square">
            <a:spAutoFit/>
          </a:bodyPr>
          <a:lstStyle/>
          <a:p>
            <a:pPr algn="l"/>
            <a:r>
              <a:rPr sz="900" b="0" i="0">
                <a:solidFill>
                  <a:srgbClr val="404040"/>
                </a:solidFill>
              </a:rPr>
              <a:t>JMUX equipment 25+ yrs old. Faulty connectors, brittle fiber panels. Potential for unplanned outage during cutover.</a:t>
            </a:r>
          </a:p>
        </p:txBody>
      </p:sp>
      <p:sp>
        <p:nvSpPr>
          <p:cNvPr id="17" name="TextBox 16"/>
          <p:cNvSpPr txBox="1"/>
          <p:nvPr/>
        </p:nvSpPr>
        <p:spPr>
          <a:xfrm>
            <a:off x="365760" y="2212848"/>
            <a:ext cx="5212080" cy="347472"/>
          </a:xfrm>
          <a:prstGeom prst="rect">
            <a:avLst/>
          </a:prstGeom>
          <a:noFill/>
        </p:spPr>
        <p:txBody>
          <a:bodyPr wrap="square">
            <a:spAutoFit/>
          </a:bodyPr>
          <a:lstStyle/>
          <a:p>
            <a:pPr algn="l"/>
            <a:r>
              <a:rPr sz="900" b="0" i="1">
                <a:solidFill>
                  <a:srgbClr val="003387"/>
                </a:solidFill>
              </a:rPr>
              <a:t>Mitigation: Careful cutover planning; dedicated B&amp;McD on-site support. Phase 1 complete — risk reduced going into Ph2.</a:t>
            </a:r>
          </a:p>
        </p:txBody>
      </p:sp>
      <p:sp>
        <p:nvSpPr>
          <p:cNvPr id="18" name="Rectangle 17"/>
          <p:cNvSpPr/>
          <p:nvPr/>
        </p:nvSpPr>
        <p:spPr>
          <a:xfrm>
            <a:off x="274320" y="269748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269748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 y="2734056"/>
            <a:ext cx="914400" cy="274320"/>
          </a:xfrm>
          <a:prstGeom prst="rect">
            <a:avLst/>
          </a:prstGeom>
          <a:noFill/>
        </p:spPr>
        <p:txBody>
          <a:bodyPr wrap="square">
            <a:spAutoFit/>
          </a:bodyPr>
          <a:lstStyle/>
          <a:p>
            <a:pPr algn="ctr"/>
            <a:r>
              <a:rPr sz="1000" b="1" i="0">
                <a:solidFill>
                  <a:srgbClr val="FFFFFF"/>
                </a:solidFill>
              </a:rPr>
              <a:t>MEDIUM</a:t>
            </a:r>
          </a:p>
        </p:txBody>
      </p:sp>
      <p:sp>
        <p:nvSpPr>
          <p:cNvPr id="21" name="TextBox 20"/>
          <p:cNvSpPr txBox="1"/>
          <p:nvPr/>
        </p:nvSpPr>
        <p:spPr>
          <a:xfrm>
            <a:off x="1325880" y="2734056"/>
            <a:ext cx="4297680" cy="292608"/>
          </a:xfrm>
          <a:prstGeom prst="rect">
            <a:avLst/>
          </a:prstGeom>
          <a:noFill/>
        </p:spPr>
        <p:txBody>
          <a:bodyPr wrap="square">
            <a:spAutoFit/>
          </a:bodyPr>
          <a:lstStyle/>
          <a:p>
            <a:pPr algn="l"/>
            <a:r>
              <a:rPr sz="1100" b="1" i="0">
                <a:solidFill>
                  <a:srgbClr val="404040"/>
                </a:solidFill>
              </a:rPr>
              <a:t>Substation Access Delays</a:t>
            </a:r>
          </a:p>
        </p:txBody>
      </p:sp>
      <p:sp>
        <p:nvSpPr>
          <p:cNvPr id="22" name="TextBox 21"/>
          <p:cNvSpPr txBox="1"/>
          <p:nvPr/>
        </p:nvSpPr>
        <p:spPr>
          <a:xfrm>
            <a:off x="365760" y="3081528"/>
            <a:ext cx="5212080" cy="384048"/>
          </a:xfrm>
          <a:prstGeom prst="rect">
            <a:avLst/>
          </a:prstGeom>
          <a:noFill/>
        </p:spPr>
        <p:txBody>
          <a:bodyPr wrap="square">
            <a:spAutoFit/>
          </a:bodyPr>
          <a:lstStyle/>
          <a:p>
            <a:pPr algn="l"/>
            <a:r>
              <a:rPr sz="900" b="0" i="0">
                <a:solidFill>
                  <a:srgbClr val="404040"/>
                </a:solidFill>
              </a:rPr>
              <a:t>Weather, scheduling conflicts, or escort availability can delay field work.</a:t>
            </a:r>
          </a:p>
        </p:txBody>
      </p:sp>
      <p:sp>
        <p:nvSpPr>
          <p:cNvPr id="23" name="TextBox 22"/>
          <p:cNvSpPr txBox="1"/>
          <p:nvPr/>
        </p:nvSpPr>
        <p:spPr>
          <a:xfrm>
            <a:off x="365760" y="3447288"/>
            <a:ext cx="5212080" cy="347472"/>
          </a:xfrm>
          <a:prstGeom prst="rect">
            <a:avLst/>
          </a:prstGeom>
          <a:noFill/>
        </p:spPr>
        <p:txBody>
          <a:bodyPr wrap="square">
            <a:spAutoFit/>
          </a:bodyPr>
          <a:lstStyle/>
          <a:p>
            <a:pPr algn="l"/>
            <a:r>
              <a:rPr sz="900" b="0" i="1">
                <a:solidFill>
                  <a:srgbClr val="003387"/>
                </a:solidFill>
              </a:rPr>
              <a:t>Mitigation: Verify weekly before mobilizing. Adjust site plan if specific sites inaccessible.</a:t>
            </a:r>
          </a:p>
        </p:txBody>
      </p:sp>
      <p:sp>
        <p:nvSpPr>
          <p:cNvPr id="24" name="Rectangle 23"/>
          <p:cNvSpPr/>
          <p:nvPr/>
        </p:nvSpPr>
        <p:spPr>
          <a:xfrm>
            <a:off x="274320" y="393192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393192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 y="3968496"/>
            <a:ext cx="914400" cy="274320"/>
          </a:xfrm>
          <a:prstGeom prst="rect">
            <a:avLst/>
          </a:prstGeom>
          <a:noFill/>
        </p:spPr>
        <p:txBody>
          <a:bodyPr wrap="square">
            <a:spAutoFit/>
          </a:bodyPr>
          <a:lstStyle/>
          <a:p>
            <a:pPr algn="ctr"/>
            <a:r>
              <a:rPr sz="1000" b="1" i="0">
                <a:solidFill>
                  <a:srgbClr val="FFFFFF"/>
                </a:solidFill>
              </a:rPr>
              <a:t>MEDIUM</a:t>
            </a:r>
          </a:p>
        </p:txBody>
      </p:sp>
      <p:sp>
        <p:nvSpPr>
          <p:cNvPr id="27" name="TextBox 26"/>
          <p:cNvSpPr txBox="1"/>
          <p:nvPr/>
        </p:nvSpPr>
        <p:spPr>
          <a:xfrm>
            <a:off x="1325880" y="3968496"/>
            <a:ext cx="4297680" cy="292608"/>
          </a:xfrm>
          <a:prstGeom prst="rect">
            <a:avLst/>
          </a:prstGeom>
          <a:noFill/>
        </p:spPr>
        <p:txBody>
          <a:bodyPr wrap="square">
            <a:spAutoFit/>
          </a:bodyPr>
          <a:lstStyle/>
          <a:p>
            <a:pPr algn="l"/>
            <a:r>
              <a:rPr sz="1100" b="1" i="0">
                <a:solidFill>
                  <a:srgbClr val="404040"/>
                </a:solidFill>
              </a:rPr>
              <a:t>Phase 2 Schedule Slippage</a:t>
            </a:r>
          </a:p>
        </p:txBody>
      </p:sp>
      <p:sp>
        <p:nvSpPr>
          <p:cNvPr id="28" name="TextBox 27"/>
          <p:cNvSpPr txBox="1"/>
          <p:nvPr/>
        </p:nvSpPr>
        <p:spPr>
          <a:xfrm>
            <a:off x="365760" y="4315968"/>
            <a:ext cx="5212080" cy="384048"/>
          </a:xfrm>
          <a:prstGeom prst="rect">
            <a:avLst/>
          </a:prstGeom>
          <a:noFill/>
        </p:spPr>
        <p:txBody>
          <a:bodyPr wrap="square">
            <a:spAutoFit/>
          </a:bodyPr>
          <a:lstStyle/>
          <a:p>
            <a:pPr algn="l"/>
            <a:r>
              <a:rPr sz="900" b="0" i="0">
                <a:solidFill>
                  <a:srgbClr val="404040"/>
                </a:solidFill>
              </a:rPr>
              <a:t>IFR/IFC design cycle (4-wk IFR + 2-wk review + 2-wk IFC) leaves limited buffer.</a:t>
            </a:r>
          </a:p>
        </p:txBody>
      </p:sp>
      <p:sp>
        <p:nvSpPr>
          <p:cNvPr id="29" name="TextBox 28"/>
          <p:cNvSpPr txBox="1"/>
          <p:nvPr/>
        </p:nvSpPr>
        <p:spPr>
          <a:xfrm>
            <a:off x="365760" y="4681728"/>
            <a:ext cx="5212080" cy="347472"/>
          </a:xfrm>
          <a:prstGeom prst="rect">
            <a:avLst/>
          </a:prstGeom>
          <a:noFill/>
        </p:spPr>
        <p:txBody>
          <a:bodyPr wrap="square">
            <a:spAutoFit/>
          </a:bodyPr>
          <a:lstStyle/>
          <a:p>
            <a:pPr algn="l"/>
            <a:r>
              <a:rPr sz="900" b="0" i="1">
                <a:solidFill>
                  <a:srgbClr val="003387"/>
                </a:solidFill>
              </a:rPr>
              <a:t>Mitigation: Phase 2 surveys done early. B&amp;McD running concurrent site designs. Weekly status calls tracking.</a:t>
            </a:r>
          </a:p>
        </p:txBody>
      </p:sp>
      <p:sp>
        <p:nvSpPr>
          <p:cNvPr id="30" name="Rectangle 29"/>
          <p:cNvSpPr/>
          <p:nvPr/>
        </p:nvSpPr>
        <p:spPr>
          <a:xfrm>
            <a:off x="274320" y="5166360"/>
            <a:ext cx="54864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74320" y="5166360"/>
            <a:ext cx="100584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2608" y="5202936"/>
            <a:ext cx="914400" cy="274320"/>
          </a:xfrm>
          <a:prstGeom prst="rect">
            <a:avLst/>
          </a:prstGeom>
          <a:noFill/>
        </p:spPr>
        <p:txBody>
          <a:bodyPr wrap="square">
            <a:spAutoFit/>
          </a:bodyPr>
          <a:lstStyle/>
          <a:p>
            <a:pPr algn="ctr"/>
            <a:r>
              <a:rPr sz="1000" b="1" i="0">
                <a:solidFill>
                  <a:srgbClr val="00B050"/>
                </a:solidFill>
              </a:rPr>
              <a:t>RESOLVED</a:t>
            </a:r>
          </a:p>
        </p:txBody>
      </p:sp>
      <p:sp>
        <p:nvSpPr>
          <p:cNvPr id="33" name="TextBox 32"/>
          <p:cNvSpPr txBox="1"/>
          <p:nvPr/>
        </p:nvSpPr>
        <p:spPr>
          <a:xfrm>
            <a:off x="1325880" y="5202936"/>
            <a:ext cx="4297680" cy="292608"/>
          </a:xfrm>
          <a:prstGeom prst="rect">
            <a:avLst/>
          </a:prstGeom>
          <a:noFill/>
        </p:spPr>
        <p:txBody>
          <a:bodyPr wrap="square">
            <a:spAutoFit/>
          </a:bodyPr>
          <a:lstStyle/>
          <a:p>
            <a:pPr algn="l"/>
            <a:r>
              <a:rPr sz="1100" b="1" i="0">
                <a:solidFill>
                  <a:srgbClr val="404040"/>
                </a:solidFill>
              </a:rPr>
              <a:t>Crown Castle Fiber Issue (Hicksville)</a:t>
            </a:r>
          </a:p>
        </p:txBody>
      </p:sp>
      <p:sp>
        <p:nvSpPr>
          <p:cNvPr id="34" name="TextBox 33"/>
          <p:cNvSpPr txBox="1"/>
          <p:nvPr/>
        </p:nvSpPr>
        <p:spPr>
          <a:xfrm>
            <a:off x="365760" y="5550408"/>
            <a:ext cx="5212080" cy="384048"/>
          </a:xfrm>
          <a:prstGeom prst="rect">
            <a:avLst/>
          </a:prstGeom>
          <a:noFill/>
        </p:spPr>
        <p:txBody>
          <a:bodyPr wrap="square">
            <a:spAutoFit/>
          </a:bodyPr>
          <a:lstStyle/>
          <a:p>
            <a:pPr algn="l"/>
            <a:r>
              <a:rPr sz="900" b="0" i="0">
                <a:solidFill>
                  <a:srgbClr val="404040"/>
                </a:solidFill>
              </a:rPr>
              <a:t>Low dB levels on fiber — may be Crown Castle's network, not PSEG LI.</a:t>
            </a:r>
          </a:p>
        </p:txBody>
      </p:sp>
      <p:sp>
        <p:nvSpPr>
          <p:cNvPr id="35" name="TextBox 34"/>
          <p:cNvSpPr txBox="1"/>
          <p:nvPr/>
        </p:nvSpPr>
        <p:spPr>
          <a:xfrm>
            <a:off x="365760" y="5916168"/>
            <a:ext cx="5212080" cy="347472"/>
          </a:xfrm>
          <a:prstGeom prst="rect">
            <a:avLst/>
          </a:prstGeom>
          <a:noFill/>
        </p:spPr>
        <p:txBody>
          <a:bodyPr wrap="square">
            <a:spAutoFit/>
          </a:bodyPr>
          <a:lstStyle/>
          <a:p>
            <a:pPr algn="l"/>
            <a:r>
              <a:rPr sz="900" b="0" i="1">
                <a:solidFill>
                  <a:srgbClr val="00B050"/>
                </a:solidFill>
              </a:rPr>
              <a:t>RESOLVED ✅ — OTDR confirmed bad filter 03/09/2026. Issue cleared, no Crown Castle escalation needed.</a:t>
            </a:r>
          </a:p>
        </p:txBody>
      </p:sp>
      <p:sp>
        <p:nvSpPr>
          <p:cNvPr id="36" name="Rectangle 35"/>
          <p:cNvSpPr/>
          <p:nvPr/>
        </p:nvSpPr>
        <p:spPr>
          <a:xfrm>
            <a:off x="5943600" y="146304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43600" y="146304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61888" y="1499616"/>
            <a:ext cx="1554480" cy="274320"/>
          </a:xfrm>
          <a:prstGeom prst="rect">
            <a:avLst/>
          </a:prstGeom>
          <a:noFill/>
        </p:spPr>
        <p:txBody>
          <a:bodyPr wrap="square">
            <a:spAutoFit/>
          </a:bodyPr>
          <a:lstStyle/>
          <a:p>
            <a:pPr algn="ctr"/>
            <a:r>
              <a:rPr sz="900" b="1" i="0">
                <a:solidFill>
                  <a:srgbClr val="00B050"/>
                </a:solidFill>
              </a:rPr>
              <a:t>COMPLETE ✅</a:t>
            </a:r>
          </a:p>
        </p:txBody>
      </p:sp>
      <p:sp>
        <p:nvSpPr>
          <p:cNvPr id="39" name="TextBox 38"/>
          <p:cNvSpPr txBox="1"/>
          <p:nvPr/>
        </p:nvSpPr>
        <p:spPr>
          <a:xfrm>
            <a:off x="7680960" y="1499616"/>
            <a:ext cx="4023360" cy="292608"/>
          </a:xfrm>
          <a:prstGeom prst="rect">
            <a:avLst/>
          </a:prstGeom>
          <a:noFill/>
        </p:spPr>
        <p:txBody>
          <a:bodyPr wrap="square">
            <a:spAutoFit/>
          </a:bodyPr>
          <a:lstStyle/>
          <a:p>
            <a:pPr algn="l"/>
            <a:r>
              <a:rPr sz="1100" b="1" i="0">
                <a:solidFill>
                  <a:srgbClr val="404040"/>
                </a:solidFill>
              </a:rPr>
              <a:t>Cat 6 Cabling — Hicksville NSP</a:t>
            </a:r>
          </a:p>
        </p:txBody>
      </p:sp>
      <p:sp>
        <p:nvSpPr>
          <p:cNvPr id="40" name="TextBox 39"/>
          <p:cNvSpPr txBox="1"/>
          <p:nvPr/>
        </p:nvSpPr>
        <p:spPr>
          <a:xfrm>
            <a:off x="6035040" y="1901952"/>
            <a:ext cx="5669280" cy="640080"/>
          </a:xfrm>
          <a:prstGeom prst="rect">
            <a:avLst/>
          </a:prstGeom>
          <a:noFill/>
        </p:spPr>
        <p:txBody>
          <a:bodyPr wrap="square">
            <a:spAutoFit/>
          </a:bodyPr>
          <a:lstStyle/>
          <a:p>
            <a:pPr algn="l"/>
            <a:r>
              <a:rPr sz="1000" b="0" i="0">
                <a:solidFill>
                  <a:srgbClr val="00B050"/>
                </a:solidFill>
              </a:rPr>
              <a:t>COMPLETE ✅ — Confirmed by Vinny (Hawkeye) 03/13/2026.</a:t>
            </a:r>
          </a:p>
        </p:txBody>
      </p:sp>
      <p:sp>
        <p:nvSpPr>
          <p:cNvPr id="41" name="Rectangle 40"/>
          <p:cNvSpPr/>
          <p:nvPr/>
        </p:nvSpPr>
        <p:spPr>
          <a:xfrm>
            <a:off x="5943600" y="2697480"/>
            <a:ext cx="5943600" cy="1143000"/>
          </a:xfrm>
          <a:prstGeom prst="rect">
            <a:avLst/>
          </a:prstGeom>
          <a:solidFill>
            <a:srgbClr val="FFFFFF"/>
          </a:solidFill>
          <a:ln w="2540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943600" y="2697480"/>
            <a:ext cx="164592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61888" y="2734056"/>
            <a:ext cx="1554480" cy="274320"/>
          </a:xfrm>
          <a:prstGeom prst="rect">
            <a:avLst/>
          </a:prstGeom>
          <a:noFill/>
        </p:spPr>
        <p:txBody>
          <a:bodyPr wrap="square">
            <a:spAutoFit/>
          </a:bodyPr>
          <a:lstStyle/>
          <a:p>
            <a:pPr algn="ctr"/>
            <a:r>
              <a:rPr sz="900" b="1" i="0" dirty="0">
                <a:solidFill>
                  <a:srgbClr val="00B050"/>
                </a:solidFill>
              </a:rPr>
              <a:t>COMPLETE ✅</a:t>
            </a:r>
          </a:p>
        </p:txBody>
      </p:sp>
      <p:sp>
        <p:nvSpPr>
          <p:cNvPr id="44" name="TextBox 43"/>
          <p:cNvSpPr txBox="1"/>
          <p:nvPr/>
        </p:nvSpPr>
        <p:spPr>
          <a:xfrm>
            <a:off x="7680960" y="2734056"/>
            <a:ext cx="4023360" cy="292608"/>
          </a:xfrm>
          <a:prstGeom prst="rect">
            <a:avLst/>
          </a:prstGeom>
          <a:noFill/>
        </p:spPr>
        <p:txBody>
          <a:bodyPr wrap="square">
            <a:spAutoFit/>
          </a:bodyPr>
          <a:lstStyle/>
          <a:p>
            <a:pPr algn="l"/>
            <a:r>
              <a:rPr sz="1100" b="1" i="0">
                <a:solidFill>
                  <a:srgbClr val="404040"/>
                </a:solidFill>
              </a:rPr>
              <a:t>OTDR Testing — Hicksville</a:t>
            </a:r>
          </a:p>
        </p:txBody>
      </p:sp>
      <p:sp>
        <p:nvSpPr>
          <p:cNvPr id="45" name="TextBox 44"/>
          <p:cNvSpPr txBox="1"/>
          <p:nvPr/>
        </p:nvSpPr>
        <p:spPr>
          <a:xfrm>
            <a:off x="6035040" y="3136392"/>
            <a:ext cx="5669280" cy="640080"/>
          </a:xfrm>
          <a:prstGeom prst="rect">
            <a:avLst/>
          </a:prstGeom>
          <a:noFill/>
        </p:spPr>
        <p:txBody>
          <a:bodyPr wrap="square">
            <a:spAutoFit/>
          </a:bodyPr>
          <a:lstStyle/>
          <a:p>
            <a:pPr algn="l"/>
            <a:r>
              <a:rPr sz="1000" b="0" i="0">
                <a:solidFill>
                  <a:srgbClr val="00B050"/>
                </a:solidFill>
              </a:rPr>
              <a:t>COMPLETE ✅ — 03/09/2026. Bad filter identified and resolved. Crown Castle fiber issue cleared.</a:t>
            </a:r>
          </a:p>
        </p:txBody>
      </p:sp>
      <p:sp>
        <p:nvSpPr>
          <p:cNvPr id="46" name="Rectangle 45"/>
          <p:cNvSpPr/>
          <p:nvPr/>
        </p:nvSpPr>
        <p:spPr>
          <a:xfrm>
            <a:off x="5943600" y="393192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943600" y="393192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961888" y="3968496"/>
            <a:ext cx="1554480" cy="274320"/>
          </a:xfrm>
          <a:prstGeom prst="rect">
            <a:avLst/>
          </a:prstGeom>
          <a:noFill/>
        </p:spPr>
        <p:txBody>
          <a:bodyPr wrap="square">
            <a:spAutoFit/>
          </a:bodyPr>
          <a:lstStyle/>
          <a:p>
            <a:pPr algn="ctr"/>
            <a:r>
              <a:rPr sz="900" b="1" i="0">
                <a:solidFill>
                  <a:srgbClr val="FFFFFF"/>
                </a:solidFill>
              </a:rPr>
              <a:t>IN PROGRESS</a:t>
            </a:r>
          </a:p>
        </p:txBody>
      </p:sp>
      <p:sp>
        <p:nvSpPr>
          <p:cNvPr id="49" name="TextBox 48"/>
          <p:cNvSpPr txBox="1"/>
          <p:nvPr/>
        </p:nvSpPr>
        <p:spPr>
          <a:xfrm>
            <a:off x="7680960" y="3968496"/>
            <a:ext cx="4023360" cy="292608"/>
          </a:xfrm>
          <a:prstGeom prst="rect">
            <a:avLst/>
          </a:prstGeom>
          <a:noFill/>
        </p:spPr>
        <p:txBody>
          <a:bodyPr wrap="square">
            <a:spAutoFit/>
          </a:bodyPr>
          <a:lstStyle/>
          <a:p>
            <a:pPr algn="l"/>
            <a:r>
              <a:rPr sz="1100" b="1" i="0">
                <a:solidFill>
                  <a:srgbClr val="404040"/>
                </a:solidFill>
              </a:rPr>
              <a:t>Remote Access — Phase 2 Nodes</a:t>
            </a:r>
          </a:p>
        </p:txBody>
      </p:sp>
      <p:sp>
        <p:nvSpPr>
          <p:cNvPr id="50" name="TextBox 49"/>
          <p:cNvSpPr txBox="1"/>
          <p:nvPr/>
        </p:nvSpPr>
        <p:spPr>
          <a:xfrm>
            <a:off x="6035040" y="4370832"/>
            <a:ext cx="5669280" cy="640080"/>
          </a:xfrm>
          <a:prstGeom prst="rect">
            <a:avLst/>
          </a:prstGeom>
          <a:noFill/>
        </p:spPr>
        <p:txBody>
          <a:bodyPr wrap="square">
            <a:spAutoFit/>
          </a:bodyPr>
          <a:lstStyle/>
          <a:p>
            <a:pPr algn="l"/>
            <a:r>
              <a:rPr sz="750" b="0" i="0">
                <a:solidFill>
                  <a:srgbClr val="F7941D"/>
                </a:solidFill>
              </a:rPr>
              <a:t>✅ BGP APPROVED 3/16/2026 — Lee Blackman to begin change documentation. 🔴 ILO configuration is NOW the #1 critical path blocker — Rahiq/Brianna missing console cable &amp; firmware. Bill (B&amp;M) stepping in to resolve. ILO → BGP config → Remote access 31 routers → Phase 1 close Jun 2026.</a:t>
            </a:r>
          </a:p>
        </p:txBody>
      </p:sp>
      <p:sp>
        <p:nvSpPr>
          <p:cNvPr id="51" name="Rectangle 50"/>
          <p:cNvSpPr/>
          <p:nvPr/>
        </p:nvSpPr>
        <p:spPr>
          <a:xfrm>
            <a:off x="5943600" y="5166360"/>
            <a:ext cx="59436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943600" y="5166360"/>
            <a:ext cx="164592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61888" y="5202936"/>
            <a:ext cx="1554480" cy="274320"/>
          </a:xfrm>
          <a:prstGeom prst="rect">
            <a:avLst/>
          </a:prstGeom>
          <a:noFill/>
        </p:spPr>
        <p:txBody>
          <a:bodyPr wrap="square">
            <a:spAutoFit/>
          </a:bodyPr>
          <a:lstStyle/>
          <a:p>
            <a:pPr algn="ctr"/>
            <a:r>
              <a:rPr sz="900" b="1" i="0">
                <a:solidFill>
                  <a:srgbClr val="FFFFFF"/>
                </a:solidFill>
              </a:rPr>
              <a:t>COMPLETE</a:t>
            </a:r>
          </a:p>
        </p:txBody>
      </p:sp>
      <p:sp>
        <p:nvSpPr>
          <p:cNvPr id="54" name="TextBox 53"/>
          <p:cNvSpPr txBox="1"/>
          <p:nvPr/>
        </p:nvSpPr>
        <p:spPr>
          <a:xfrm>
            <a:off x="7680960" y="5202936"/>
            <a:ext cx="4023360" cy="292608"/>
          </a:xfrm>
          <a:prstGeom prst="rect">
            <a:avLst/>
          </a:prstGeom>
          <a:noFill/>
        </p:spPr>
        <p:txBody>
          <a:bodyPr wrap="square">
            <a:spAutoFit/>
          </a:bodyPr>
          <a:lstStyle/>
          <a:p>
            <a:pPr algn="l"/>
            <a:r>
              <a:rPr sz="1100" b="1" i="0">
                <a:solidFill>
                  <a:srgbClr val="404040"/>
                </a:solidFill>
              </a:rPr>
              <a:t>Phase 2 SSP / Security Reviews</a:t>
            </a:r>
          </a:p>
        </p:txBody>
      </p:sp>
      <p:sp>
        <p:nvSpPr>
          <p:cNvPr id="55" name="TextBox 54"/>
          <p:cNvSpPr txBox="1"/>
          <p:nvPr/>
        </p:nvSpPr>
        <p:spPr>
          <a:xfrm>
            <a:off x="6035040" y="5605272"/>
            <a:ext cx="5669280" cy="640080"/>
          </a:xfrm>
          <a:prstGeom prst="rect">
            <a:avLst/>
          </a:prstGeom>
          <a:noFill/>
        </p:spPr>
        <p:txBody>
          <a:bodyPr wrap="square">
            <a:spAutoFit/>
          </a:bodyPr>
          <a:lstStyle/>
          <a:p>
            <a:pPr algn="l"/>
            <a:r>
              <a:rPr sz="1000" b="0" i="0">
                <a:solidFill>
                  <a:srgbClr val="404040"/>
                </a:solidFill>
              </a:rPr>
              <a:t>Architecture review, security assessment, compliance readiness all approved 2/10/2026.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Next Steps &amp; Path to Completion</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March 2026 — July 2027</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539496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852160" y="1051560"/>
            <a:ext cx="603504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539496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78992"/>
            <a:ext cx="5212080" cy="320040"/>
          </a:xfrm>
          <a:prstGeom prst="rect">
            <a:avLst/>
          </a:prstGeom>
          <a:noFill/>
        </p:spPr>
        <p:txBody>
          <a:bodyPr wrap="square">
            <a:spAutoFit/>
          </a:bodyPr>
          <a:lstStyle/>
          <a:p>
            <a:pPr algn="l"/>
            <a:r>
              <a:rPr sz="1200" b="1" i="0">
                <a:solidFill>
                  <a:srgbClr val="FFFFFF"/>
                </a:solidFill>
              </a:rPr>
              <a:t>IMMEDIATE (Next 30 Days)</a:t>
            </a:r>
          </a:p>
        </p:txBody>
      </p:sp>
      <p:sp>
        <p:nvSpPr>
          <p:cNvPr id="12" name="Rectangle 11"/>
          <p:cNvSpPr/>
          <p:nvPr/>
        </p:nvSpPr>
        <p:spPr>
          <a:xfrm>
            <a:off x="320040" y="153619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 y="1591056"/>
            <a:ext cx="960120" cy="320040"/>
          </a:xfrm>
          <a:prstGeom prst="rect">
            <a:avLst/>
          </a:prstGeom>
          <a:noFill/>
        </p:spPr>
        <p:txBody>
          <a:bodyPr wrap="square">
            <a:spAutoFit/>
          </a:bodyPr>
          <a:lstStyle/>
          <a:p>
            <a:pPr algn="ctr"/>
            <a:r>
              <a:rPr sz="900" b="1" i="0">
                <a:solidFill>
                  <a:srgbClr val="FFFFFF"/>
                </a:solidFill>
              </a:rPr>
              <a:t>Mar 16</a:t>
            </a:r>
          </a:p>
        </p:txBody>
      </p:sp>
      <p:sp>
        <p:nvSpPr>
          <p:cNvPr id="14" name="TextBox 13"/>
          <p:cNvSpPr txBox="1"/>
          <p:nvPr/>
        </p:nvSpPr>
        <p:spPr>
          <a:xfrm>
            <a:off x="1417320" y="1591056"/>
            <a:ext cx="4114800" cy="246221"/>
          </a:xfrm>
          <a:prstGeom prst="rect">
            <a:avLst/>
          </a:prstGeom>
          <a:noFill/>
        </p:spPr>
        <p:txBody>
          <a:bodyPr wrap="square">
            <a:spAutoFit/>
          </a:bodyPr>
          <a:lstStyle/>
          <a:p>
            <a:pPr algn="l"/>
            <a:r>
              <a:rPr lang="en-US" sz="1000" b="0" i="0" dirty="0">
                <a:solidFill>
                  <a:srgbClr val="28A745"/>
                </a:solidFill>
              </a:rPr>
              <a:t>✅ BGP design approved 3/16 — Lee Blackman to proceed with Melville &amp; Hicksville change documentation</a:t>
            </a:r>
            <a:endParaRPr sz="1000" b="0" i="0" dirty="0">
              <a:solidFill>
                <a:srgbClr val="404040"/>
              </a:solidFill>
            </a:endParaRPr>
          </a:p>
        </p:txBody>
      </p:sp>
      <p:sp>
        <p:nvSpPr>
          <p:cNvPr id="15" name="Rectangle 14"/>
          <p:cNvSpPr/>
          <p:nvPr/>
        </p:nvSpPr>
        <p:spPr>
          <a:xfrm>
            <a:off x="320040" y="2103120"/>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 y="2157984"/>
            <a:ext cx="960120" cy="320040"/>
          </a:xfrm>
          <a:prstGeom prst="rect">
            <a:avLst/>
          </a:prstGeom>
          <a:noFill/>
        </p:spPr>
        <p:txBody>
          <a:bodyPr wrap="square">
            <a:spAutoFit/>
          </a:bodyPr>
          <a:lstStyle/>
          <a:p>
            <a:pPr algn="ctr"/>
            <a:r>
              <a:rPr sz="900" b="1" i="0">
                <a:solidFill>
                  <a:srgbClr val="FFFFFF"/>
                </a:solidFill>
              </a:rPr>
              <a:t>Mar 16</a:t>
            </a:r>
          </a:p>
        </p:txBody>
      </p:sp>
      <p:sp>
        <p:nvSpPr>
          <p:cNvPr id="18" name="Rectangle 17"/>
          <p:cNvSpPr/>
          <p:nvPr/>
        </p:nvSpPr>
        <p:spPr>
          <a:xfrm>
            <a:off x="320040" y="2670048"/>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328" y="2724912"/>
            <a:ext cx="960120" cy="320040"/>
          </a:xfrm>
          <a:prstGeom prst="rect">
            <a:avLst/>
          </a:prstGeom>
          <a:noFill/>
        </p:spPr>
        <p:txBody>
          <a:bodyPr wrap="square">
            <a:spAutoFit/>
          </a:bodyPr>
          <a:lstStyle/>
          <a:p>
            <a:pPr algn="ctr"/>
            <a:r>
              <a:rPr sz="900" b="1" i="0">
                <a:solidFill>
                  <a:srgbClr val="FFFFFF"/>
                </a:solidFill>
              </a:rPr>
              <a:t>Mar 2026</a:t>
            </a:r>
          </a:p>
        </p:txBody>
      </p:sp>
      <p:sp>
        <p:nvSpPr>
          <p:cNvPr id="20" name="TextBox 19"/>
          <p:cNvSpPr txBox="1"/>
          <p:nvPr/>
        </p:nvSpPr>
        <p:spPr>
          <a:xfrm>
            <a:off x="1431036" y="2157984"/>
            <a:ext cx="4114800" cy="384048"/>
          </a:xfrm>
          <a:prstGeom prst="rect">
            <a:avLst/>
          </a:prstGeom>
          <a:noFill/>
        </p:spPr>
        <p:txBody>
          <a:bodyPr wrap="square">
            <a:spAutoFit/>
          </a:bodyPr>
          <a:lstStyle/>
          <a:p>
            <a:pPr algn="l"/>
            <a:r>
              <a:rPr sz="1000" b="0" i="0">
                <a:solidFill>
                  <a:srgbClr val="F7941D"/>
                </a:solidFill>
              </a:rPr>
              <a:t>ILO config (🔴 BLOCKER — Bill/Rahiq resolving) → BGP config Hicksville &amp; Melville (Lee) → Remote access 31 routers → App cutover PREP → RTU cutovers → Phase 1 close Jun 2026</a:t>
            </a:r>
          </a:p>
        </p:txBody>
      </p:sp>
      <p:sp>
        <p:nvSpPr>
          <p:cNvPr id="21" name="Rectangle 20"/>
          <p:cNvSpPr/>
          <p:nvPr/>
        </p:nvSpPr>
        <p:spPr>
          <a:xfrm>
            <a:off x="320040" y="3236976"/>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8328" y="3291840"/>
            <a:ext cx="960120" cy="320040"/>
          </a:xfrm>
          <a:prstGeom prst="rect">
            <a:avLst/>
          </a:prstGeom>
          <a:noFill/>
        </p:spPr>
        <p:txBody>
          <a:bodyPr wrap="square">
            <a:spAutoFit/>
          </a:bodyPr>
          <a:lstStyle/>
          <a:p>
            <a:pPr algn="ctr"/>
            <a:r>
              <a:rPr sz="900" b="1" i="0">
                <a:solidFill>
                  <a:srgbClr val="FFFFFF"/>
                </a:solidFill>
              </a:rPr>
              <a:t>Mar 2026</a:t>
            </a:r>
          </a:p>
        </p:txBody>
      </p:sp>
      <p:sp>
        <p:nvSpPr>
          <p:cNvPr id="23" name="TextBox 22"/>
          <p:cNvSpPr txBox="1"/>
          <p:nvPr/>
        </p:nvSpPr>
        <p:spPr>
          <a:xfrm>
            <a:off x="1431036" y="2724912"/>
            <a:ext cx="4114800" cy="384048"/>
          </a:xfrm>
          <a:prstGeom prst="rect">
            <a:avLst/>
          </a:prstGeom>
          <a:noFill/>
        </p:spPr>
        <p:txBody>
          <a:bodyPr wrap="square">
            <a:spAutoFit/>
          </a:bodyPr>
          <a:lstStyle/>
          <a:p>
            <a:pPr algn="l"/>
            <a:r>
              <a:rPr sz="1000" b="0" i="0">
                <a:solidFill>
                  <a:srgbClr val="00B050"/>
                </a:solidFill>
              </a:rPr>
              <a:t>Wave 1 IFRs (Far Rockaway, Valley Stream, Cedarhurst) — COMPLETE ✅ Converted to IFC &amp; uploaded to shared drive</a:t>
            </a:r>
          </a:p>
        </p:txBody>
      </p:sp>
      <p:sp>
        <p:nvSpPr>
          <p:cNvPr id="24" name="Rectangle 23"/>
          <p:cNvSpPr/>
          <p:nvPr/>
        </p:nvSpPr>
        <p:spPr>
          <a:xfrm>
            <a:off x="320040" y="3803904"/>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8328" y="3858768"/>
            <a:ext cx="960120" cy="320040"/>
          </a:xfrm>
          <a:prstGeom prst="rect">
            <a:avLst/>
          </a:prstGeom>
          <a:noFill/>
        </p:spPr>
        <p:txBody>
          <a:bodyPr wrap="square">
            <a:spAutoFit/>
          </a:bodyPr>
          <a:lstStyle/>
          <a:p>
            <a:pPr algn="ctr"/>
            <a:r>
              <a:rPr sz="900" b="1" i="0">
                <a:solidFill>
                  <a:srgbClr val="FFFFFF"/>
                </a:solidFill>
              </a:rPr>
              <a:t>Mar 9</a:t>
            </a:r>
          </a:p>
        </p:txBody>
      </p:sp>
      <p:sp>
        <p:nvSpPr>
          <p:cNvPr id="26" name="TextBox 25"/>
          <p:cNvSpPr txBox="1"/>
          <p:nvPr/>
        </p:nvSpPr>
        <p:spPr>
          <a:xfrm>
            <a:off x="1431036" y="3291840"/>
            <a:ext cx="4114800" cy="384048"/>
          </a:xfrm>
          <a:prstGeom prst="rect">
            <a:avLst/>
          </a:prstGeom>
          <a:noFill/>
        </p:spPr>
        <p:txBody>
          <a:bodyPr wrap="square">
            <a:spAutoFit/>
          </a:bodyPr>
          <a:lstStyle/>
          <a:p>
            <a:pPr algn="l"/>
            <a:r>
              <a:rPr sz="1000" b="0" i="0">
                <a:solidFill>
                  <a:srgbClr val="00B050"/>
                </a:solidFill>
              </a:rPr>
              <a:t>Wave 1 IFC approved by PSEG LI ✅ — Wave 2 IFR packages in progress</a:t>
            </a:r>
          </a:p>
        </p:txBody>
      </p:sp>
      <p:sp>
        <p:nvSpPr>
          <p:cNvPr id="27" name="Rectangle 26"/>
          <p:cNvSpPr/>
          <p:nvPr/>
        </p:nvSpPr>
        <p:spPr>
          <a:xfrm>
            <a:off x="320040" y="437083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8328" y="4425696"/>
            <a:ext cx="960120" cy="320040"/>
          </a:xfrm>
          <a:prstGeom prst="rect">
            <a:avLst/>
          </a:prstGeom>
          <a:noFill/>
        </p:spPr>
        <p:txBody>
          <a:bodyPr wrap="square">
            <a:spAutoFit/>
          </a:bodyPr>
          <a:lstStyle/>
          <a:p>
            <a:pPr algn="ctr"/>
            <a:r>
              <a:rPr sz="900" b="1" i="0">
                <a:solidFill>
                  <a:srgbClr val="FFFFFF"/>
                </a:solidFill>
              </a:rPr>
              <a:t>Mar 23</a:t>
            </a:r>
          </a:p>
        </p:txBody>
      </p:sp>
      <p:sp>
        <p:nvSpPr>
          <p:cNvPr id="29" name="TextBox 28"/>
          <p:cNvSpPr txBox="1"/>
          <p:nvPr/>
        </p:nvSpPr>
        <p:spPr>
          <a:xfrm>
            <a:off x="1431036" y="3858768"/>
            <a:ext cx="4114800" cy="384048"/>
          </a:xfrm>
          <a:prstGeom prst="rect">
            <a:avLst/>
          </a:prstGeom>
          <a:noFill/>
        </p:spPr>
        <p:txBody>
          <a:bodyPr wrap="square">
            <a:spAutoFit/>
          </a:bodyPr>
          <a:lstStyle/>
          <a:p>
            <a:pPr algn="l"/>
            <a:r>
              <a:rPr sz="1000" b="0" i="0">
                <a:solidFill>
                  <a:srgbClr val="00B050"/>
                </a:solidFill>
              </a:rPr>
              <a:t>✅ Wave 1 IFC complete — Far Rockaway, Valley Stream, Cedarhurst approved &amp; uploaded</a:t>
            </a:r>
          </a:p>
        </p:txBody>
      </p:sp>
      <p:sp>
        <p:nvSpPr>
          <p:cNvPr id="30" name="Rectangle 29"/>
          <p:cNvSpPr/>
          <p:nvPr/>
        </p:nvSpPr>
        <p:spPr>
          <a:xfrm>
            <a:off x="320040" y="4937759"/>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8328" y="4992623"/>
            <a:ext cx="960120" cy="320040"/>
          </a:xfrm>
          <a:prstGeom prst="rect">
            <a:avLst/>
          </a:prstGeom>
          <a:noFill/>
        </p:spPr>
        <p:txBody>
          <a:bodyPr wrap="square">
            <a:spAutoFit/>
          </a:bodyPr>
          <a:lstStyle/>
          <a:p>
            <a:pPr algn="ctr"/>
            <a:r>
              <a:rPr sz="900" b="1" i="0">
                <a:solidFill>
                  <a:srgbClr val="FFFFFF"/>
                </a:solidFill>
              </a:rPr>
              <a:t>Ongoing</a:t>
            </a:r>
          </a:p>
        </p:txBody>
      </p:sp>
      <p:sp>
        <p:nvSpPr>
          <p:cNvPr id="32" name="TextBox 31"/>
          <p:cNvSpPr txBox="1"/>
          <p:nvPr/>
        </p:nvSpPr>
        <p:spPr>
          <a:xfrm>
            <a:off x="1431036" y="4425695"/>
            <a:ext cx="4114800" cy="384048"/>
          </a:xfrm>
          <a:prstGeom prst="rect">
            <a:avLst/>
          </a:prstGeom>
          <a:noFill/>
        </p:spPr>
        <p:txBody>
          <a:bodyPr wrap="square">
            <a:spAutoFit/>
          </a:bodyPr>
          <a:lstStyle/>
          <a:p>
            <a:pPr algn="l"/>
            <a:r>
              <a:rPr sz="1000" b="0" i="0">
                <a:solidFill>
                  <a:srgbClr val="404040"/>
                </a:solidFill>
              </a:rPr>
              <a:t>Weekly status calls with B&amp;McD; monthly schedule updates</a:t>
            </a:r>
          </a:p>
        </p:txBody>
      </p:sp>
      <p:sp>
        <p:nvSpPr>
          <p:cNvPr id="33" name="Rectangle 32"/>
          <p:cNvSpPr/>
          <p:nvPr/>
        </p:nvSpPr>
        <p:spPr>
          <a:xfrm>
            <a:off x="5852160" y="1051560"/>
            <a:ext cx="603504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0" y="1078992"/>
            <a:ext cx="5852160" cy="320040"/>
          </a:xfrm>
          <a:prstGeom prst="rect">
            <a:avLst/>
          </a:prstGeom>
          <a:noFill/>
        </p:spPr>
        <p:txBody>
          <a:bodyPr wrap="square">
            <a:spAutoFit/>
          </a:bodyPr>
          <a:lstStyle/>
          <a:p>
            <a:pPr algn="l"/>
            <a:r>
              <a:rPr sz="1200" b="1" i="0">
                <a:solidFill>
                  <a:srgbClr val="FFFFFF"/>
                </a:solidFill>
              </a:rPr>
              <a:t>PATH TO COMPLETION</a:t>
            </a:r>
          </a:p>
        </p:txBody>
      </p:sp>
      <p:sp>
        <p:nvSpPr>
          <p:cNvPr id="35" name="Rectangle 34"/>
          <p:cNvSpPr/>
          <p:nvPr/>
        </p:nvSpPr>
        <p:spPr>
          <a:xfrm>
            <a:off x="5897880" y="1536192"/>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897880" y="1536192"/>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16168" y="1645919"/>
            <a:ext cx="1325880" cy="347472"/>
          </a:xfrm>
          <a:prstGeom prst="rect">
            <a:avLst/>
          </a:prstGeom>
          <a:noFill/>
        </p:spPr>
        <p:txBody>
          <a:bodyPr wrap="square">
            <a:spAutoFit/>
          </a:bodyPr>
          <a:lstStyle/>
          <a:p>
            <a:pPr algn="ctr"/>
            <a:r>
              <a:rPr sz="1000" b="1" i="0">
                <a:solidFill>
                  <a:srgbClr val="FFFFFF"/>
                </a:solidFill>
              </a:rPr>
              <a:t>Q1 2026</a:t>
            </a:r>
          </a:p>
        </p:txBody>
      </p:sp>
      <p:sp>
        <p:nvSpPr>
          <p:cNvPr id="38" name="TextBox 37"/>
          <p:cNvSpPr txBox="1"/>
          <p:nvPr/>
        </p:nvSpPr>
        <p:spPr>
          <a:xfrm>
            <a:off x="7360920" y="1645919"/>
            <a:ext cx="4343400" cy="347472"/>
          </a:xfrm>
          <a:prstGeom prst="rect">
            <a:avLst/>
          </a:prstGeom>
          <a:noFill/>
        </p:spPr>
        <p:txBody>
          <a:bodyPr wrap="square">
            <a:spAutoFit/>
          </a:bodyPr>
          <a:lstStyle/>
          <a:p>
            <a:pPr algn="l"/>
            <a:r>
              <a:rPr sz="1100" b="0" i="0">
                <a:solidFill>
                  <a:srgbClr val="F7941D"/>
                </a:solidFill>
              </a:rPr>
              <a:t>Phase 1 Operational (Jun 2026)* | Phase 2 IFR/IFC design underway</a:t>
            </a:r>
          </a:p>
        </p:txBody>
      </p:sp>
      <p:sp>
        <p:nvSpPr>
          <p:cNvPr id="39" name="Rectangle 38"/>
          <p:cNvSpPr/>
          <p:nvPr/>
        </p:nvSpPr>
        <p:spPr>
          <a:xfrm>
            <a:off x="5897880" y="2194560"/>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897880" y="2194560"/>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16168" y="2304288"/>
            <a:ext cx="1325880" cy="347472"/>
          </a:xfrm>
          <a:prstGeom prst="rect">
            <a:avLst/>
          </a:prstGeom>
          <a:noFill/>
        </p:spPr>
        <p:txBody>
          <a:bodyPr wrap="square">
            <a:spAutoFit/>
          </a:bodyPr>
          <a:lstStyle/>
          <a:p>
            <a:pPr algn="ctr"/>
            <a:r>
              <a:rPr sz="1000" b="1" i="0">
                <a:solidFill>
                  <a:srgbClr val="FFFFFF"/>
                </a:solidFill>
              </a:rPr>
              <a:t>Q2 2026</a:t>
            </a:r>
          </a:p>
        </p:txBody>
      </p:sp>
      <p:sp>
        <p:nvSpPr>
          <p:cNvPr id="42" name="TextBox 41"/>
          <p:cNvSpPr txBox="1"/>
          <p:nvPr/>
        </p:nvSpPr>
        <p:spPr>
          <a:xfrm>
            <a:off x="7360920" y="2304288"/>
            <a:ext cx="4343400" cy="347472"/>
          </a:xfrm>
          <a:prstGeom prst="rect">
            <a:avLst/>
          </a:prstGeom>
          <a:noFill/>
        </p:spPr>
        <p:txBody>
          <a:bodyPr wrap="square">
            <a:spAutoFit/>
          </a:bodyPr>
          <a:lstStyle/>
          <a:p>
            <a:pPr algn="l"/>
            <a:r>
              <a:rPr sz="1100" b="0" i="0">
                <a:solidFill>
                  <a:srgbClr val="404040"/>
                </a:solidFill>
              </a:rPr>
              <a:t>Phase 2 IFC completion (all 36 sites)</a:t>
            </a:r>
          </a:p>
        </p:txBody>
      </p:sp>
      <p:sp>
        <p:nvSpPr>
          <p:cNvPr id="43" name="Rectangle 42"/>
          <p:cNvSpPr/>
          <p:nvPr/>
        </p:nvSpPr>
        <p:spPr>
          <a:xfrm>
            <a:off x="5897880" y="2852928"/>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897880" y="2852928"/>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916168" y="2962656"/>
            <a:ext cx="1325880" cy="347472"/>
          </a:xfrm>
          <a:prstGeom prst="rect">
            <a:avLst/>
          </a:prstGeom>
          <a:noFill/>
        </p:spPr>
        <p:txBody>
          <a:bodyPr wrap="square">
            <a:spAutoFit/>
          </a:bodyPr>
          <a:lstStyle/>
          <a:p>
            <a:pPr algn="ctr"/>
            <a:r>
              <a:rPr sz="1000" b="1" i="0">
                <a:solidFill>
                  <a:srgbClr val="FFFFFF"/>
                </a:solidFill>
              </a:rPr>
              <a:t>Q2–Q3 2026</a:t>
            </a:r>
          </a:p>
        </p:txBody>
      </p:sp>
      <p:sp>
        <p:nvSpPr>
          <p:cNvPr id="46" name="TextBox 45"/>
          <p:cNvSpPr txBox="1"/>
          <p:nvPr/>
        </p:nvSpPr>
        <p:spPr>
          <a:xfrm>
            <a:off x="7360920" y="2962656"/>
            <a:ext cx="4343400" cy="347472"/>
          </a:xfrm>
          <a:prstGeom prst="rect">
            <a:avLst/>
          </a:prstGeom>
          <a:noFill/>
        </p:spPr>
        <p:txBody>
          <a:bodyPr wrap="square">
            <a:spAutoFit/>
          </a:bodyPr>
          <a:lstStyle/>
          <a:p>
            <a:pPr algn="l"/>
            <a:r>
              <a:rPr sz="1100" b="0" i="0">
                <a:solidFill>
                  <a:srgbClr val="404040"/>
                </a:solidFill>
              </a:rPr>
              <a:t>Phase 2 construction mobilization</a:t>
            </a:r>
          </a:p>
        </p:txBody>
      </p:sp>
      <p:sp>
        <p:nvSpPr>
          <p:cNvPr id="47" name="Rectangle 46"/>
          <p:cNvSpPr/>
          <p:nvPr/>
        </p:nvSpPr>
        <p:spPr>
          <a:xfrm>
            <a:off x="5897880" y="3511296"/>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897880" y="3511296"/>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16168" y="3621024"/>
            <a:ext cx="1325880" cy="347472"/>
          </a:xfrm>
          <a:prstGeom prst="rect">
            <a:avLst/>
          </a:prstGeom>
          <a:noFill/>
        </p:spPr>
        <p:txBody>
          <a:bodyPr wrap="square">
            <a:spAutoFit/>
          </a:bodyPr>
          <a:lstStyle/>
          <a:p>
            <a:pPr algn="ctr"/>
            <a:r>
              <a:rPr sz="1000" b="1" i="0">
                <a:solidFill>
                  <a:srgbClr val="FFFFFF"/>
                </a:solidFill>
              </a:rPr>
              <a:t>Q3–Q4 2026</a:t>
            </a:r>
          </a:p>
        </p:txBody>
      </p:sp>
      <p:sp>
        <p:nvSpPr>
          <p:cNvPr id="50" name="TextBox 49"/>
          <p:cNvSpPr txBox="1"/>
          <p:nvPr/>
        </p:nvSpPr>
        <p:spPr>
          <a:xfrm>
            <a:off x="7360920" y="3621024"/>
            <a:ext cx="4343400" cy="347472"/>
          </a:xfrm>
          <a:prstGeom prst="rect">
            <a:avLst/>
          </a:prstGeom>
          <a:noFill/>
        </p:spPr>
        <p:txBody>
          <a:bodyPr wrap="square">
            <a:spAutoFit/>
          </a:bodyPr>
          <a:lstStyle/>
          <a:p>
            <a:pPr algn="l"/>
            <a:r>
              <a:rPr sz="1100" b="0" i="0">
                <a:solidFill>
                  <a:srgbClr val="404040"/>
                </a:solidFill>
              </a:rPr>
              <a:t>Phase 2 installations at all 36 sites</a:t>
            </a:r>
          </a:p>
        </p:txBody>
      </p:sp>
      <p:sp>
        <p:nvSpPr>
          <p:cNvPr id="51" name="Rectangle 50"/>
          <p:cNvSpPr/>
          <p:nvPr/>
        </p:nvSpPr>
        <p:spPr>
          <a:xfrm>
            <a:off x="5897880" y="4169663"/>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97880" y="4169663"/>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16168" y="4279392"/>
            <a:ext cx="1325880" cy="347472"/>
          </a:xfrm>
          <a:prstGeom prst="rect">
            <a:avLst/>
          </a:prstGeom>
          <a:noFill/>
        </p:spPr>
        <p:txBody>
          <a:bodyPr wrap="square">
            <a:spAutoFit/>
          </a:bodyPr>
          <a:lstStyle/>
          <a:p>
            <a:pPr algn="ctr"/>
            <a:r>
              <a:rPr sz="1000" b="1" i="0">
                <a:solidFill>
                  <a:srgbClr val="FFFFFF"/>
                </a:solidFill>
              </a:rPr>
              <a:t>Q4 2026</a:t>
            </a:r>
          </a:p>
        </p:txBody>
      </p:sp>
      <p:sp>
        <p:nvSpPr>
          <p:cNvPr id="54" name="TextBox 53"/>
          <p:cNvSpPr txBox="1"/>
          <p:nvPr/>
        </p:nvSpPr>
        <p:spPr>
          <a:xfrm>
            <a:off x="7360920" y="4279392"/>
            <a:ext cx="4343400" cy="347472"/>
          </a:xfrm>
          <a:prstGeom prst="rect">
            <a:avLst/>
          </a:prstGeom>
          <a:noFill/>
        </p:spPr>
        <p:txBody>
          <a:bodyPr wrap="square">
            <a:spAutoFit/>
          </a:bodyPr>
          <a:lstStyle/>
          <a:p>
            <a:pPr algn="l"/>
            <a:r>
              <a:rPr sz="1100" b="0" i="0">
                <a:solidFill>
                  <a:srgbClr val="404040"/>
                </a:solidFill>
              </a:rPr>
              <a:t>Phase 2 cutovers — Waves 3 &amp; 4</a:t>
            </a:r>
          </a:p>
        </p:txBody>
      </p:sp>
      <p:sp>
        <p:nvSpPr>
          <p:cNvPr id="55" name="Rectangle 54"/>
          <p:cNvSpPr/>
          <p:nvPr/>
        </p:nvSpPr>
        <p:spPr>
          <a:xfrm>
            <a:off x="5897880" y="4828031"/>
            <a:ext cx="5897880" cy="566928"/>
          </a:xfrm>
          <a:prstGeom prst="rect">
            <a:avLst/>
          </a:prstGeom>
          <a:solidFill>
            <a:srgbClr val="FFFFFF"/>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897880" y="4828031"/>
            <a:ext cx="1371600" cy="5669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16168" y="4937759"/>
            <a:ext cx="1325880" cy="347472"/>
          </a:xfrm>
          <a:prstGeom prst="rect">
            <a:avLst/>
          </a:prstGeom>
          <a:noFill/>
        </p:spPr>
        <p:txBody>
          <a:bodyPr wrap="square">
            <a:spAutoFit/>
          </a:bodyPr>
          <a:lstStyle/>
          <a:p>
            <a:pPr algn="ctr"/>
            <a:r>
              <a:rPr sz="1000" b="1" i="0">
                <a:solidFill>
                  <a:srgbClr val="FFFFFF"/>
                </a:solidFill>
              </a:rPr>
              <a:t>Q1 2027</a:t>
            </a:r>
          </a:p>
        </p:txBody>
      </p:sp>
      <p:sp>
        <p:nvSpPr>
          <p:cNvPr id="58" name="TextBox 57"/>
          <p:cNvSpPr txBox="1"/>
          <p:nvPr/>
        </p:nvSpPr>
        <p:spPr>
          <a:xfrm>
            <a:off x="7360920" y="4937759"/>
            <a:ext cx="4343400" cy="347472"/>
          </a:xfrm>
          <a:prstGeom prst="rect">
            <a:avLst/>
          </a:prstGeom>
          <a:noFill/>
        </p:spPr>
        <p:txBody>
          <a:bodyPr wrap="square">
            <a:spAutoFit/>
          </a:bodyPr>
          <a:lstStyle/>
          <a:p>
            <a:pPr algn="l"/>
            <a:r>
              <a:rPr sz="1100" b="0" i="0">
                <a:solidFill>
                  <a:srgbClr val="404040"/>
                </a:solidFill>
              </a:rPr>
              <a:t>As-built documentation complete</a:t>
            </a:r>
          </a:p>
        </p:txBody>
      </p:sp>
      <p:sp>
        <p:nvSpPr>
          <p:cNvPr id="59" name="Rectangle 58"/>
          <p:cNvSpPr/>
          <p:nvPr/>
        </p:nvSpPr>
        <p:spPr>
          <a:xfrm>
            <a:off x="5897880" y="5486400"/>
            <a:ext cx="5897880" cy="566928"/>
          </a:xfrm>
          <a:prstGeom prst="rect">
            <a:avLst/>
          </a:prstGeom>
          <a:solidFill>
            <a:srgbClr val="FFFFFF"/>
          </a:solidFill>
          <a:ln w="1905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897880" y="5486400"/>
            <a:ext cx="1371600" cy="56692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16168" y="5596128"/>
            <a:ext cx="1325880" cy="347472"/>
          </a:xfrm>
          <a:prstGeom prst="rect">
            <a:avLst/>
          </a:prstGeom>
          <a:noFill/>
        </p:spPr>
        <p:txBody>
          <a:bodyPr wrap="square">
            <a:spAutoFit/>
          </a:bodyPr>
          <a:lstStyle/>
          <a:p>
            <a:pPr algn="ctr"/>
            <a:r>
              <a:rPr sz="1000" b="1" i="0">
                <a:solidFill>
                  <a:srgbClr val="FFFFFF"/>
                </a:solidFill>
              </a:rPr>
              <a:t>Jul 2027</a:t>
            </a:r>
          </a:p>
        </p:txBody>
      </p:sp>
      <p:sp>
        <p:nvSpPr>
          <p:cNvPr id="62" name="TextBox 61"/>
          <p:cNvSpPr txBox="1"/>
          <p:nvPr/>
        </p:nvSpPr>
        <p:spPr>
          <a:xfrm>
            <a:off x="7360920" y="5596128"/>
            <a:ext cx="4343400" cy="347472"/>
          </a:xfrm>
          <a:prstGeom prst="rect">
            <a:avLst/>
          </a:prstGeom>
          <a:noFill/>
        </p:spPr>
        <p:txBody>
          <a:bodyPr wrap="square">
            <a:spAutoFit/>
          </a:bodyPr>
          <a:lstStyle/>
          <a:p>
            <a:pPr algn="l"/>
            <a:r>
              <a:rPr sz="1100" b="0" i="0">
                <a:solidFill>
                  <a:srgbClr val="404040"/>
                </a:solidFill>
              </a:rPr>
              <a:t>🏁  Program Complete</a:t>
            </a:r>
          </a:p>
        </p:txBody>
      </p:sp>
      <p:sp>
        <p:nvSpPr>
          <p:cNvPr id="63" name="TextBox 62"/>
          <p:cNvSpPr txBox="1"/>
          <p:nvPr/>
        </p:nvSpPr>
        <p:spPr>
          <a:xfrm>
            <a:off x="274320" y="5870448"/>
            <a:ext cx="8321040" cy="384048"/>
          </a:xfrm>
          <a:prstGeom prst="rect">
            <a:avLst/>
          </a:prstGeom>
          <a:noFill/>
        </p:spPr>
        <p:txBody>
          <a:bodyPr wrap="square">
            <a:spAutoFit/>
          </a:bodyPr>
          <a:lstStyle/>
          <a:p>
            <a:r>
              <a:rPr sz="700" i="1">
                <a:solidFill>
                  <a:srgbClr val="F7941D"/>
                </a:solidFill>
              </a:rPr>
              <a:t>* Vik Vohra (Mar 16, 2026): "Phase One needs to be broken into micro-phases. Even though we've completed some, the entire phase is not complete."  Micro-phase status → Engineering ✅ 100% | Procurement ✅ 100% | Construction ✅ 100% | Deployment 🔴 ~5% | App Cutover 🔴 0% | RTU Cutover 🔴 0% | As-Builts/Decommission ⏳ 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81532C56BF694BBE06D977BB2FEE3A" ma:contentTypeVersion="4" ma:contentTypeDescription="Create a new document." ma:contentTypeScope="" ma:versionID="c0c5d99beca51eeef3e41ac89a733b71">
  <xsd:schema xmlns:xsd="http://www.w3.org/2001/XMLSchema" xmlns:xs="http://www.w3.org/2001/XMLSchema" xmlns:p="http://schemas.microsoft.com/office/2006/metadata/properties" xmlns:ns3="135ef2dc-24a0-47df-8b8a-1312283ed4bf" targetNamespace="http://schemas.microsoft.com/office/2006/metadata/properties" ma:root="true" ma:fieldsID="29e57b184215963e8167a7683ccc328b" ns3:_="">
    <xsd:import namespace="135ef2dc-24a0-47df-8b8a-1312283ed4b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5ef2dc-24a0-47df-8b8a-1312283ed4b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D0F57A-06E6-4442-B032-86B4EDB177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5ef2dc-24a0-47df-8b8a-1312283ed4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6EB495-10DB-45A6-8E6D-929653572431}">
  <ds:schemaRefs>
    <ds:schemaRef ds:uri="http://schemas.microsoft.com/office/2006/documentManagement/types"/>
    <ds:schemaRef ds:uri="http://purl.org/dc/terms/"/>
    <ds:schemaRef ds:uri="135ef2dc-24a0-47df-8b8a-1312283ed4bf"/>
    <ds:schemaRef ds:uri="http://purl.org/dc/dcmitype/"/>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712CF8B8-4325-4F4D-A7DB-9D2B054C8A6D}">
  <ds:schemaRefs>
    <ds:schemaRef ds:uri="http://schemas.microsoft.com/sharepoint/v3/contenttype/forms"/>
  </ds:schemaRefs>
</ds:datastoreItem>
</file>

<file path=docMetadata/LabelInfo.xml><?xml version="1.0" encoding="utf-8"?>
<clbl:labelList xmlns:clbl="http://schemas.microsoft.com/office/2020/mipLabelMetadata">
  <clbl:label id="{cf90b97b-be46-4a00-9700-81ce4ff1b7f6}" enabled="0" method="" siteId="{cf90b97b-be46-4a00-9700-81ce4ff1b7f6}" removed="1"/>
</clbl:labelList>
</file>

<file path=docProps/app.xml><?xml version="1.0" encoding="utf-8"?>
<Properties xmlns="http://schemas.openxmlformats.org/officeDocument/2006/extended-properties" xmlns:vt="http://schemas.openxmlformats.org/officeDocument/2006/docPropsVTypes">
  <Template/>
  <TotalTime>128081</TotalTime>
  <Words>3196</Words>
  <Application>Microsoft Office PowerPoint</Application>
  <PresentationFormat>Widescreen</PresentationFormat>
  <Paragraphs>734</Paragraphs>
  <Slides>14</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Aptos</vt:lpstr>
      <vt:lpstr>Aptos Narrow</vt:lpstr>
      <vt:lpstr>Arial</vt:lpstr>
      <vt:lpstr>Calibri</vt:lpstr>
      <vt:lpstr>Calibri Light</vt:lpstr>
      <vt:lpstr>DM Serif Display</vt:lpstr>
      <vt:lpstr>Outfit Light</vt:lpstr>
      <vt:lpstr>Outfit SemiBold</vt:lpstr>
      <vt:lpstr>Symbol</vt:lpstr>
      <vt:lpstr>Times New Roman</vt:lpstr>
      <vt:lpstr>Wingdings</vt:lpstr>
      <vt:lpstr>Office Theme</vt:lpstr>
      <vt:lpstr>PRJ13797: JMUX Replacement Update Project Manager : Dhananjaya Gunaratne   </vt:lpstr>
      <vt:lpstr>PowerPoint Presentation</vt:lpstr>
      <vt:lpstr>PowerPoint Presentation</vt:lpstr>
      <vt:lpstr>PowerPoint Presentation</vt:lpstr>
      <vt:lpstr>PowerPoint Presentation</vt:lpstr>
      <vt:lpstr>PowerPoint Presentation</vt:lpstr>
      <vt:lpstr>PowerPoint Presentation</vt:lpstr>
      <vt:lpstr>JMUX Replacement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Outfit SemiBold Bold 46 Dark Steel Gray</dc:title>
  <dc:creator>Cleeve, Karen</dc:creator>
  <cp:lastModifiedBy>GUNARATNE, DHANANJAYA</cp:lastModifiedBy>
  <cp:revision>888</cp:revision>
  <dcterms:modified xsi:type="dcterms:W3CDTF">2026-03-13T14:39:24Z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0x0101006081532C56BF694BBE06D977BB2FEE3A</vt:lpwstr>
  </property>
</Properties>
</file>