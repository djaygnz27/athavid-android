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2"/>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pic>
        <p:nvPicPr>
          <p:cNvPr id="15" name="Picture 14" descr="sachi_logo_transparent.png"/>
          <p:cNvPicPr>
            <a:picLocks noChangeAspect="1"/>
          </p:cNvPicPr>
          <p:nvPr/>
        </p:nvPicPr>
        <p:blipFill>
          <a:blip r:embed="rId2"/>
          <a:stretch>
            <a:fillRect/>
          </a:stretch>
        </p:blipFill>
        <p:spPr>
          <a:xfrm>
            <a:off x="9235440" y="274320"/>
            <a:ext cx="1005840" cy="1005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pic>
        <p:nvPicPr>
          <p:cNvPr id="15" name="Picture 14"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pic>
        <p:nvPicPr>
          <p:cNvPr id="21" name="Picture 20"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
            <a:ext cx="10515600" cy="640080"/>
          </a:xfrm>
          <a:prstGeom prst="rect">
            <a:avLst/>
          </a:prstGeom>
          <a:noFill/>
        </p:spPr>
        <p:txBody>
          <a:bodyPr wrap="square">
            <a:spAutoFit/>
          </a:bodyPr>
          <a:lstStyle/>
          <a:p>
            <a:pPr algn="l"/>
            <a:r>
              <a:rPr sz="3400" b="1" i="0">
                <a:solidFill>
                  <a:srgbClr val="F5C842"/>
                </a:solidFill>
              </a:rPr>
              <a:t>Truth First — AI Detection &amp; Content Integrity</a:t>
            </a:r>
          </a:p>
        </p:txBody>
      </p:sp>
      <p:sp>
        <p:nvSpPr>
          <p:cNvPr id="8" name="Rectangle 7"/>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15568"/>
            <a:ext cx="10515600" cy="594360"/>
          </a:xfrm>
          <a:prstGeom prst="rect">
            <a:avLst/>
          </a:prstGeom>
          <a:noFill/>
        </p:spPr>
        <p:txBody>
          <a:bodyPr wrap="square">
            <a:spAutoFit/>
          </a:bodyPr>
          <a:lstStyle/>
          <a:p>
            <a:pPr algn="l"/>
            <a:r>
              <a:rPr sz="1600" b="0" i="0">
                <a:solidFill>
                  <a:srgbClr val="FFFFFF"/>
                </a:solidFill>
              </a:rPr>
              <a:t>In a world flooded with deepfakes, AI-generated content, and misinformation — Sachi Stream is built on a foundation of authenticity and truth.</a:t>
            </a:r>
          </a:p>
        </p:txBody>
      </p:sp>
      <p:sp>
        <p:nvSpPr>
          <p:cNvPr id="10" name="Rectangle 9"/>
          <p:cNvSpPr/>
          <p:nvPr/>
        </p:nvSpPr>
        <p:spPr>
          <a:xfrm>
            <a:off x="640080" y="1874519"/>
            <a:ext cx="3566160" cy="416052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93392"/>
            <a:ext cx="3246120" cy="594360"/>
          </a:xfrm>
          <a:prstGeom prst="rect">
            <a:avLst/>
          </a:prstGeom>
          <a:noFill/>
        </p:spPr>
        <p:txBody>
          <a:bodyPr wrap="square">
            <a:spAutoFit/>
          </a:bodyPr>
          <a:lstStyle/>
          <a:p>
            <a:pPr algn="l"/>
            <a:r>
              <a:rPr sz="1500" b="1" i="0">
                <a:solidFill>
                  <a:srgbClr val="FF6B6B"/>
                </a:solidFill>
              </a:rPr>
              <a:t>🤖  AI-Generated
Content Detection</a:t>
            </a:r>
          </a:p>
        </p:txBody>
      </p:sp>
      <p:sp>
        <p:nvSpPr>
          <p:cNvPr id="12" name="Rectangle 11"/>
          <p:cNvSpPr/>
          <p:nvPr/>
        </p:nvSpPr>
        <p:spPr>
          <a:xfrm>
            <a:off x="804672" y="2633472"/>
            <a:ext cx="324612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724912"/>
            <a:ext cx="3246120" cy="3108960"/>
          </a:xfrm>
          <a:prstGeom prst="rect">
            <a:avLst/>
          </a:prstGeom>
          <a:noFill/>
        </p:spPr>
        <p:txBody>
          <a:bodyPr wrap="square">
            <a:spAutoFit/>
          </a:bodyPr>
          <a:lstStyle/>
          <a:p>
            <a:pPr algn="l"/>
            <a:r>
              <a:rPr sz="1200" b="0" i="0">
                <a:solidFill>
                  <a:srgbClr val="F0F0F0"/>
                </a:solidFill>
              </a:rPr>
              <a:t>Every video uploaded is automatically scanned for AI-generated or deepfake content using built-in detection models.
Flagged content is held for review before going live — fake videos never reach the feed unseen.</a:t>
            </a:r>
          </a:p>
        </p:txBody>
      </p:sp>
      <p:sp>
        <p:nvSpPr>
          <p:cNvPr id="14" name="Rectangle 13"/>
          <p:cNvSpPr/>
          <p:nvPr/>
        </p:nvSpPr>
        <p:spPr>
          <a:xfrm>
            <a:off x="4434840" y="1874519"/>
            <a:ext cx="3566160" cy="416052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93392"/>
            <a:ext cx="3246120" cy="594360"/>
          </a:xfrm>
          <a:prstGeom prst="rect">
            <a:avLst/>
          </a:prstGeom>
          <a:noFill/>
        </p:spPr>
        <p:txBody>
          <a:bodyPr wrap="square">
            <a:spAutoFit/>
          </a:bodyPr>
          <a:lstStyle/>
          <a:p>
            <a:pPr algn="l"/>
            <a:r>
              <a:rPr sz="1500" b="1" i="0">
                <a:solidFill>
                  <a:srgbClr val="F5C842"/>
                </a:solidFill>
              </a:rPr>
              <a:t>✅  Verified Real
Content Badge</a:t>
            </a:r>
          </a:p>
        </p:txBody>
      </p:sp>
      <p:sp>
        <p:nvSpPr>
          <p:cNvPr id="16" name="Rectangle 15"/>
          <p:cNvSpPr/>
          <p:nvPr/>
        </p:nvSpPr>
        <p:spPr>
          <a:xfrm>
            <a:off x="4599432" y="2633472"/>
            <a:ext cx="324612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9432" y="2724912"/>
            <a:ext cx="3246120" cy="3108960"/>
          </a:xfrm>
          <a:prstGeom prst="rect">
            <a:avLst/>
          </a:prstGeom>
          <a:noFill/>
        </p:spPr>
        <p:txBody>
          <a:bodyPr wrap="square">
            <a:spAutoFit/>
          </a:bodyPr>
          <a:lstStyle/>
          <a:p>
            <a:pPr algn="l"/>
            <a:r>
              <a:rPr sz="1200" b="0" i="0">
                <a:solidFill>
                  <a:srgbClr val="F0F0F0"/>
                </a:solidFill>
              </a:rPr>
              <a:t>Creators who pass verification receive a "Real Content" badge on their posts — giving audiences confidence that what they watch is genuine, human-created content.
Authenticity is a competitive advantage on Sachi.</a:t>
            </a:r>
          </a:p>
        </p:txBody>
      </p:sp>
      <p:sp>
        <p:nvSpPr>
          <p:cNvPr id="18" name="Rectangle 17"/>
          <p:cNvSpPr/>
          <p:nvPr/>
        </p:nvSpPr>
        <p:spPr>
          <a:xfrm>
            <a:off x="8229600" y="1874519"/>
            <a:ext cx="3566160" cy="4160520"/>
          </a:xfrm>
          <a:prstGeom prst="rect">
            <a:avLst/>
          </a:prstGeom>
          <a:solidFill>
            <a:srgbClr val="161830"/>
          </a:solidFill>
          <a:ln w="2286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993392"/>
            <a:ext cx="3246120" cy="594360"/>
          </a:xfrm>
          <a:prstGeom prst="rect">
            <a:avLst/>
          </a:prstGeom>
          <a:noFill/>
        </p:spPr>
        <p:txBody>
          <a:bodyPr wrap="square">
            <a:spAutoFit/>
          </a:bodyPr>
          <a:lstStyle/>
          <a:p>
            <a:pPr algn="l"/>
            <a:r>
              <a:rPr sz="1500" b="1" i="0">
                <a:solidFill>
                  <a:srgbClr val="A0FFB0"/>
                </a:solidFill>
              </a:rPr>
              <a:t>🛡️  Truth-First
Platform Policy</a:t>
            </a:r>
          </a:p>
        </p:txBody>
      </p:sp>
      <p:sp>
        <p:nvSpPr>
          <p:cNvPr id="20" name="Rectangle 19"/>
          <p:cNvSpPr/>
          <p:nvPr/>
        </p:nvSpPr>
        <p:spPr>
          <a:xfrm>
            <a:off x="8394192" y="2633472"/>
            <a:ext cx="3246120" cy="2286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2724912"/>
            <a:ext cx="3246120" cy="3108960"/>
          </a:xfrm>
          <a:prstGeom prst="rect">
            <a:avLst/>
          </a:prstGeom>
          <a:noFill/>
        </p:spPr>
        <p:txBody>
          <a:bodyPr wrap="square">
            <a:spAutoFit/>
          </a:bodyPr>
          <a:lstStyle/>
          <a:p>
            <a:pPr algn="l"/>
            <a:r>
              <a:rPr sz="1200" b="0" i="0">
                <a:solidFill>
                  <a:srgbClr val="F0F0F0"/>
                </a:solidFill>
              </a:rPr>
              <a:t>Zero tolerance for synthetic misinformation, manipulated media, and coordinated fake accounts.
Sachi's moderation stack combines AI flagging, human review, and community reporting — three layers of protection.</a:t>
            </a:r>
          </a:p>
        </p:txBody>
      </p:sp>
      <p:sp>
        <p:nvSpPr>
          <p:cNvPr id="22" name="TextBox 21"/>
          <p:cNvSpPr txBox="1"/>
          <p:nvPr/>
        </p:nvSpPr>
        <p:spPr>
          <a:xfrm>
            <a:off x="777240" y="5779008"/>
            <a:ext cx="10515600" cy="457200"/>
          </a:xfrm>
          <a:prstGeom prst="rect">
            <a:avLst/>
          </a:prstGeom>
          <a:noFill/>
        </p:spPr>
        <p:txBody>
          <a:bodyPr wrap="square">
            <a:spAutoFit/>
          </a:bodyPr>
          <a:lstStyle/>
          <a:p>
            <a:pPr algn="ctr"/>
            <a:r>
              <a:rPr sz="1400" b="0" i="1">
                <a:solidFill>
                  <a:srgbClr val="F5C842"/>
                </a:solidFill>
              </a:rPr>
              <a:t>"While other platforms profit from viral misinformation, Sachi Stream is where creators and audiences come for the truth."</a:t>
            </a:r>
          </a:p>
        </p:txBody>
      </p:sp>
      <p:pic>
        <p:nvPicPr>
          <p:cNvPr id="23" name="Picture 22"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pic>
        <p:nvPicPr>
          <p:cNvPr id="26" name="Picture 25"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pic>
        <p:nvPicPr>
          <p:cNvPr id="29" name="Picture 28"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pic>
        <p:nvPicPr>
          <p:cNvPr id="20" name="Picture 19"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pic>
        <p:nvPicPr>
          <p:cNvPr id="28" name="Picture 27"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
        <p:nvSpPr>
          <p:cNvPr id="24" name="Rectangle 23"/>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6032"/>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27" name="Rectangle 26"/>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1115568"/>
            <a:ext cx="10515600" cy="502920"/>
          </a:xfrm>
          <a:prstGeom prst="rect">
            <a:avLst/>
          </a:prstGeom>
          <a:noFill/>
        </p:spPr>
        <p:txBody>
          <a:bodyPr wrap="square">
            <a:spAutoFit/>
          </a:bodyPr>
          <a:lstStyle/>
          <a:p>
            <a:pPr algn="l"/>
            <a:r>
              <a:rPr sz="1500" b="0" i="0">
                <a:solidFill>
                  <a:srgbClr val="FFFFFF"/>
                </a:solidFill>
              </a:rPr>
              <a:t>A dedicated corporate engineering headquarters in Colombo — combining world-class talent, cost efficiency, and 24/7 global platform coverage.</a:t>
            </a:r>
          </a:p>
        </p:txBody>
      </p:sp>
      <p:sp>
        <p:nvSpPr>
          <p:cNvPr id="29" name="Rectangle 28"/>
          <p:cNvSpPr/>
          <p:nvPr/>
        </p:nvSpPr>
        <p:spPr>
          <a:xfrm>
            <a:off x="640080" y="1828800"/>
            <a:ext cx="3566160" cy="41605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1920240"/>
            <a:ext cx="3291840" cy="384048"/>
          </a:xfrm>
          <a:prstGeom prst="rect">
            <a:avLst/>
          </a:prstGeom>
          <a:noFill/>
        </p:spPr>
        <p:txBody>
          <a:bodyPr wrap="square">
            <a:spAutoFit/>
          </a:bodyPr>
          <a:lstStyle/>
          <a:p>
            <a:pPr algn="l"/>
            <a:r>
              <a:rPr sz="1300" b="1" i="0">
                <a:solidFill>
                  <a:srgbClr val="F5C842"/>
                </a:solidFill>
              </a:rPr>
              <a:t>🏢  CORPORATE OFFICE SPACE</a:t>
            </a:r>
          </a:p>
        </p:txBody>
      </p:sp>
      <p:sp>
        <p:nvSpPr>
          <p:cNvPr id="31" name="Rectangle 30"/>
          <p:cNvSpPr/>
          <p:nvPr/>
        </p:nvSpPr>
        <p:spPr>
          <a:xfrm>
            <a:off x="777240" y="2350008"/>
            <a:ext cx="329184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2450592"/>
            <a:ext cx="3291840" cy="438912"/>
          </a:xfrm>
          <a:prstGeom prst="rect">
            <a:avLst/>
          </a:prstGeom>
          <a:noFill/>
        </p:spPr>
        <p:txBody>
          <a:bodyPr wrap="square">
            <a:spAutoFit/>
          </a:bodyPr>
          <a:lstStyle/>
          <a:p>
            <a:pPr algn="l"/>
            <a:r>
              <a:rPr sz="1150" b="0" i="0">
                <a:solidFill>
                  <a:srgbClr val="F0F0F0"/>
                </a:solidFill>
              </a:rPr>
              <a:t>· Leased corporate office — Colombo 3 or Colombo 7</a:t>
            </a:r>
          </a:p>
        </p:txBody>
      </p:sp>
      <p:sp>
        <p:nvSpPr>
          <p:cNvPr id="33" name="TextBox 32"/>
          <p:cNvSpPr txBox="1"/>
          <p:nvPr/>
        </p:nvSpPr>
        <p:spPr>
          <a:xfrm>
            <a:off x="777240" y="2926080"/>
            <a:ext cx="3291840" cy="438912"/>
          </a:xfrm>
          <a:prstGeom prst="rect">
            <a:avLst/>
          </a:prstGeom>
          <a:noFill/>
        </p:spPr>
        <p:txBody>
          <a:bodyPr wrap="square">
            <a:spAutoFit/>
          </a:bodyPr>
          <a:lstStyle/>
          <a:p>
            <a:pPr algn="l"/>
            <a:r>
              <a:rPr sz="1150" b="0" i="0">
                <a:solidFill>
                  <a:srgbClr val="F0F0F0"/>
                </a:solidFill>
              </a:rPr>
              <a:t>· Prime tech district: Racecourse Ave / Flower Road area</a:t>
            </a:r>
          </a:p>
        </p:txBody>
      </p:sp>
      <p:sp>
        <p:nvSpPr>
          <p:cNvPr id="34" name="TextBox 33"/>
          <p:cNvSpPr txBox="1"/>
          <p:nvPr/>
        </p:nvSpPr>
        <p:spPr>
          <a:xfrm>
            <a:off x="777240" y="3401568"/>
            <a:ext cx="3291840" cy="438912"/>
          </a:xfrm>
          <a:prstGeom prst="rect">
            <a:avLst/>
          </a:prstGeom>
          <a:noFill/>
        </p:spPr>
        <p:txBody>
          <a:bodyPr wrap="square">
            <a:spAutoFit/>
          </a:bodyPr>
          <a:lstStyle/>
          <a:p>
            <a:pPr algn="l"/>
            <a:r>
              <a:rPr sz="1150" b="0" i="0">
                <a:solidFill>
                  <a:srgbClr val="F0F0F0"/>
                </a:solidFill>
              </a:rPr>
              <a:t>· Capacity: 20–30 workstations + meeting rooms</a:t>
            </a:r>
          </a:p>
        </p:txBody>
      </p:sp>
      <p:sp>
        <p:nvSpPr>
          <p:cNvPr id="35" name="TextBox 34"/>
          <p:cNvSpPr txBox="1"/>
          <p:nvPr/>
        </p:nvSpPr>
        <p:spPr>
          <a:xfrm>
            <a:off x="777240" y="3877056"/>
            <a:ext cx="3291840" cy="438912"/>
          </a:xfrm>
          <a:prstGeom prst="rect">
            <a:avLst/>
          </a:prstGeom>
          <a:noFill/>
        </p:spPr>
        <p:txBody>
          <a:bodyPr wrap="square">
            <a:spAutoFit/>
          </a:bodyPr>
          <a:lstStyle/>
          <a:p>
            <a:pPr algn="l"/>
            <a:r>
              <a:rPr sz="1150" b="0" i="0">
                <a:solidFill>
                  <a:srgbClr val="F0F0F0"/>
                </a:solidFill>
              </a:rPr>
              <a:t>· High-speed fiber internet: 1Gbps+ dedicated</a:t>
            </a:r>
          </a:p>
        </p:txBody>
      </p:sp>
      <p:sp>
        <p:nvSpPr>
          <p:cNvPr id="36" name="TextBox 35"/>
          <p:cNvSpPr txBox="1"/>
          <p:nvPr/>
        </p:nvSpPr>
        <p:spPr>
          <a:xfrm>
            <a:off x="777240" y="4352544"/>
            <a:ext cx="3291840" cy="438912"/>
          </a:xfrm>
          <a:prstGeom prst="rect">
            <a:avLst/>
          </a:prstGeom>
          <a:noFill/>
        </p:spPr>
        <p:txBody>
          <a:bodyPr wrap="square">
            <a:spAutoFit/>
          </a:bodyPr>
          <a:lstStyle/>
          <a:p>
            <a:pPr algn="l"/>
            <a:r>
              <a:rPr sz="1150" b="0" i="0">
                <a:solidFill>
                  <a:srgbClr val="F0F0F0"/>
                </a:solidFill>
              </a:rPr>
              <a:t>· Server room / infrastructure cage on-premises</a:t>
            </a:r>
          </a:p>
        </p:txBody>
      </p:sp>
      <p:sp>
        <p:nvSpPr>
          <p:cNvPr id="37" name="TextBox 36"/>
          <p:cNvSpPr txBox="1"/>
          <p:nvPr/>
        </p:nvSpPr>
        <p:spPr>
          <a:xfrm>
            <a:off x="777240" y="4828032"/>
            <a:ext cx="3291840" cy="438912"/>
          </a:xfrm>
          <a:prstGeom prst="rect">
            <a:avLst/>
          </a:prstGeom>
          <a:noFill/>
        </p:spPr>
        <p:txBody>
          <a:bodyPr wrap="square">
            <a:spAutoFit/>
          </a:bodyPr>
          <a:lstStyle/>
          <a:p>
            <a:pPr algn="l"/>
            <a:r>
              <a:rPr sz="1150" b="0" i="0">
                <a:solidFill>
                  <a:srgbClr val="F0F0F0"/>
                </a:solidFill>
              </a:rPr>
              <a:t>· Estimated lease: $2,000–$4,000 USD/month</a:t>
            </a:r>
          </a:p>
        </p:txBody>
      </p:sp>
      <p:sp>
        <p:nvSpPr>
          <p:cNvPr id="38" name="TextBox 37"/>
          <p:cNvSpPr txBox="1"/>
          <p:nvPr/>
        </p:nvSpPr>
        <p:spPr>
          <a:xfrm>
            <a:off x="777240" y="5303520"/>
            <a:ext cx="3291840" cy="438912"/>
          </a:xfrm>
          <a:prstGeom prst="rect">
            <a:avLst/>
          </a:prstGeom>
          <a:noFill/>
        </p:spPr>
        <p:txBody>
          <a:bodyPr wrap="square">
            <a:spAutoFit/>
          </a:bodyPr>
          <a:lstStyle/>
          <a:p>
            <a:pPr algn="l"/>
            <a:r>
              <a:rPr sz="1150" b="0" i="0">
                <a:solidFill>
                  <a:srgbClr val="F0F0F0"/>
                </a:solidFill>
              </a:rPr>
              <a:t>· Setup + fit-out budget: $80,000–$120,000</a:t>
            </a:r>
          </a:p>
        </p:txBody>
      </p:sp>
      <p:sp>
        <p:nvSpPr>
          <p:cNvPr id="39" name="Rectangle 38"/>
          <p:cNvSpPr/>
          <p:nvPr/>
        </p:nvSpPr>
        <p:spPr>
          <a:xfrm>
            <a:off x="4434840" y="1828800"/>
            <a:ext cx="3566160" cy="41605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1920240"/>
            <a:ext cx="3291840" cy="384048"/>
          </a:xfrm>
          <a:prstGeom prst="rect">
            <a:avLst/>
          </a:prstGeom>
          <a:noFill/>
        </p:spPr>
        <p:txBody>
          <a:bodyPr wrap="square">
            <a:spAutoFit/>
          </a:bodyPr>
          <a:lstStyle/>
          <a:p>
            <a:pPr algn="l"/>
            <a:r>
              <a:rPr sz="1300" b="1" i="0">
                <a:solidFill>
                  <a:srgbClr val="FF6B6B"/>
                </a:solidFill>
              </a:rPr>
              <a:t>👨‍💻  ENGINEERING TEAM</a:t>
            </a:r>
          </a:p>
        </p:txBody>
      </p:sp>
      <p:sp>
        <p:nvSpPr>
          <p:cNvPr id="41" name="Rectangle 40"/>
          <p:cNvSpPr/>
          <p:nvPr/>
        </p:nvSpPr>
        <p:spPr>
          <a:xfrm>
            <a:off x="4572000" y="2350008"/>
            <a:ext cx="329184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0" y="2450592"/>
            <a:ext cx="3291840" cy="438912"/>
          </a:xfrm>
          <a:prstGeom prst="rect">
            <a:avLst/>
          </a:prstGeom>
          <a:noFill/>
        </p:spPr>
        <p:txBody>
          <a:bodyPr wrap="square">
            <a:spAutoFit/>
          </a:bodyPr>
          <a:lstStyle/>
          <a:p>
            <a:pPr algn="l"/>
            <a:r>
              <a:rPr sz="1150" b="0" i="0">
                <a:solidFill>
                  <a:srgbClr val="F0F0F0"/>
                </a:solidFill>
              </a:rPr>
              <a:t>· 10–15 full-stack developers (Phase 1 hire)</a:t>
            </a:r>
          </a:p>
        </p:txBody>
      </p:sp>
      <p:sp>
        <p:nvSpPr>
          <p:cNvPr id="43" name="TextBox 42"/>
          <p:cNvSpPr txBox="1"/>
          <p:nvPr/>
        </p:nvSpPr>
        <p:spPr>
          <a:xfrm>
            <a:off x="4572000" y="2926080"/>
            <a:ext cx="3291840" cy="438912"/>
          </a:xfrm>
          <a:prstGeom prst="rect">
            <a:avLst/>
          </a:prstGeom>
          <a:noFill/>
        </p:spPr>
        <p:txBody>
          <a:bodyPr wrap="square">
            <a:spAutoFit/>
          </a:bodyPr>
          <a:lstStyle/>
          <a:p>
            <a:pPr algn="l"/>
            <a:r>
              <a:rPr sz="1150" b="0" i="0">
                <a:solidFill>
                  <a:srgbClr val="F0F0F0"/>
                </a:solidFill>
              </a:rPr>
              <a:t>· React, Node.js, mobile (iOS + Android)</a:t>
            </a:r>
          </a:p>
        </p:txBody>
      </p:sp>
      <p:sp>
        <p:nvSpPr>
          <p:cNvPr id="44" name="TextBox 43"/>
          <p:cNvSpPr txBox="1"/>
          <p:nvPr/>
        </p:nvSpPr>
        <p:spPr>
          <a:xfrm>
            <a:off x="4572000" y="3401568"/>
            <a:ext cx="3291840" cy="438912"/>
          </a:xfrm>
          <a:prstGeom prst="rect">
            <a:avLst/>
          </a:prstGeom>
          <a:noFill/>
        </p:spPr>
        <p:txBody>
          <a:bodyPr wrap="square">
            <a:spAutoFit/>
          </a:bodyPr>
          <a:lstStyle/>
          <a:p>
            <a:pPr algn="l"/>
            <a:r>
              <a:rPr sz="1150" b="0" i="0">
                <a:solidFill>
                  <a:srgbClr val="F0F0F0"/>
                </a:solidFill>
              </a:rPr>
              <a:t>· Dedicated QA, DevOps, and security engineers</a:t>
            </a:r>
          </a:p>
        </p:txBody>
      </p:sp>
      <p:sp>
        <p:nvSpPr>
          <p:cNvPr id="45" name="TextBox 44"/>
          <p:cNvSpPr txBox="1"/>
          <p:nvPr/>
        </p:nvSpPr>
        <p:spPr>
          <a:xfrm>
            <a:off x="4572000" y="3877056"/>
            <a:ext cx="3291840" cy="438912"/>
          </a:xfrm>
          <a:prstGeom prst="rect">
            <a:avLst/>
          </a:prstGeom>
          <a:noFill/>
        </p:spPr>
        <p:txBody>
          <a:bodyPr wrap="square">
            <a:spAutoFit/>
          </a:bodyPr>
          <a:lstStyle/>
          <a:p>
            <a:pPr algn="l"/>
            <a:r>
              <a:rPr sz="1150" b="0" i="0">
                <a:solidFill>
                  <a:srgbClr val="F0F0F0"/>
                </a:solidFill>
              </a:rPr>
              <a:t>· Led by VP Engineering (hiring Q3 2026)</a:t>
            </a:r>
          </a:p>
        </p:txBody>
      </p:sp>
      <p:sp>
        <p:nvSpPr>
          <p:cNvPr id="46" name="TextBox 45"/>
          <p:cNvSpPr txBox="1"/>
          <p:nvPr/>
        </p:nvSpPr>
        <p:spPr>
          <a:xfrm>
            <a:off x="4572000" y="4352544"/>
            <a:ext cx="3291840" cy="438912"/>
          </a:xfrm>
          <a:prstGeom prst="rect">
            <a:avLst/>
          </a:prstGeom>
          <a:noFill/>
        </p:spPr>
        <p:txBody>
          <a:bodyPr wrap="square">
            <a:spAutoFit/>
          </a:bodyPr>
          <a:lstStyle/>
          <a:p>
            <a:pPr algn="l"/>
            <a:r>
              <a:rPr sz="1150" b="0" i="0">
                <a:solidFill>
                  <a:srgbClr val="F0F0F0"/>
                </a:solidFill>
              </a:rPr>
              <a:t>· Avg Sri Lankan developer: $15,000–$25,000/yr</a:t>
            </a:r>
          </a:p>
        </p:txBody>
      </p:sp>
      <p:sp>
        <p:nvSpPr>
          <p:cNvPr id="47" name="TextBox 46"/>
          <p:cNvSpPr txBox="1"/>
          <p:nvPr/>
        </p:nvSpPr>
        <p:spPr>
          <a:xfrm>
            <a:off x="4572000" y="4828032"/>
            <a:ext cx="3291840" cy="438912"/>
          </a:xfrm>
          <a:prstGeom prst="rect">
            <a:avLst/>
          </a:prstGeom>
          <a:noFill/>
        </p:spPr>
        <p:txBody>
          <a:bodyPr wrap="square">
            <a:spAutoFit/>
          </a:bodyPr>
          <a:lstStyle/>
          <a:p>
            <a:pPr algn="l"/>
            <a:r>
              <a:rPr sz="1150" b="0" i="0">
                <a:solidFill>
                  <a:srgbClr val="F0F0F0"/>
                </a:solidFill>
              </a:rPr>
              <a:t>· vs. $120,000–$180,000 US equivalent</a:t>
            </a:r>
          </a:p>
        </p:txBody>
      </p:sp>
      <p:sp>
        <p:nvSpPr>
          <p:cNvPr id="48" name="TextBox 47"/>
          <p:cNvSpPr txBox="1"/>
          <p:nvPr/>
        </p:nvSpPr>
        <p:spPr>
          <a:xfrm>
            <a:off x="4572000" y="5303520"/>
            <a:ext cx="3291840" cy="438912"/>
          </a:xfrm>
          <a:prstGeom prst="rect">
            <a:avLst/>
          </a:prstGeom>
          <a:noFill/>
        </p:spPr>
        <p:txBody>
          <a:bodyPr wrap="square">
            <a:spAutoFit/>
          </a:bodyPr>
          <a:lstStyle/>
          <a:p>
            <a:pPr algn="l"/>
            <a:r>
              <a:rPr sz="1150" b="0" i="0">
                <a:solidFill>
                  <a:srgbClr val="F0F0F0"/>
                </a:solidFill>
              </a:rPr>
              <a:t>· 6–8x cost advantage vs. U.S. hiring</a:t>
            </a:r>
          </a:p>
        </p:txBody>
      </p:sp>
      <p:sp>
        <p:nvSpPr>
          <p:cNvPr id="49" name="Rectangle 48"/>
          <p:cNvSpPr/>
          <p:nvPr/>
        </p:nvSpPr>
        <p:spPr>
          <a:xfrm>
            <a:off x="8229600" y="1828800"/>
            <a:ext cx="3566160" cy="41605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66760" y="1920240"/>
            <a:ext cx="3291840" cy="384048"/>
          </a:xfrm>
          <a:prstGeom prst="rect">
            <a:avLst/>
          </a:prstGeom>
          <a:noFill/>
        </p:spPr>
        <p:txBody>
          <a:bodyPr wrap="square">
            <a:spAutoFit/>
          </a:bodyPr>
          <a:lstStyle/>
          <a:p>
            <a:pPr algn="l"/>
            <a:r>
              <a:rPr sz="1300" b="1" i="0">
                <a:solidFill>
                  <a:srgbClr val="7BD4FF"/>
                </a:solidFill>
              </a:rPr>
              <a:t>⚙️  RESPONSIBILITIES</a:t>
            </a:r>
          </a:p>
        </p:txBody>
      </p:sp>
      <p:sp>
        <p:nvSpPr>
          <p:cNvPr id="51" name="Rectangle 50"/>
          <p:cNvSpPr/>
          <p:nvPr/>
        </p:nvSpPr>
        <p:spPr>
          <a:xfrm>
            <a:off x="8366760" y="2350008"/>
            <a:ext cx="3291840" cy="2286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66760" y="2450592"/>
            <a:ext cx="3291840" cy="438912"/>
          </a:xfrm>
          <a:prstGeom prst="rect">
            <a:avLst/>
          </a:prstGeom>
          <a:noFill/>
        </p:spPr>
        <p:txBody>
          <a:bodyPr wrap="square">
            <a:spAutoFit/>
          </a:bodyPr>
          <a:lstStyle/>
          <a:p>
            <a:pPr algn="l"/>
            <a:r>
              <a:rPr sz="1150" b="0" i="0">
                <a:solidFill>
                  <a:srgbClr val="F0F0F0"/>
                </a:solidFill>
              </a:rPr>
              <a:t>· Platform cleanup, optimization, bug resolution</a:t>
            </a:r>
          </a:p>
        </p:txBody>
      </p:sp>
      <p:sp>
        <p:nvSpPr>
          <p:cNvPr id="53" name="TextBox 52"/>
          <p:cNvSpPr txBox="1"/>
          <p:nvPr/>
        </p:nvSpPr>
        <p:spPr>
          <a:xfrm>
            <a:off x="8366760" y="2926080"/>
            <a:ext cx="3291840" cy="438912"/>
          </a:xfrm>
          <a:prstGeom prst="rect">
            <a:avLst/>
          </a:prstGeom>
          <a:noFill/>
        </p:spPr>
        <p:txBody>
          <a:bodyPr wrap="square">
            <a:spAutoFit/>
          </a:bodyPr>
          <a:lstStyle/>
          <a:p>
            <a:pPr algn="l"/>
            <a:r>
              <a:rPr sz="1150" b="0" i="0">
                <a:solidFill>
                  <a:srgbClr val="F0F0F0"/>
                </a:solidFill>
              </a:rPr>
              <a:t>· Feature development and roadmap execution</a:t>
            </a:r>
          </a:p>
        </p:txBody>
      </p:sp>
      <p:sp>
        <p:nvSpPr>
          <p:cNvPr id="54" name="TextBox 53"/>
          <p:cNvSpPr txBox="1"/>
          <p:nvPr/>
        </p:nvSpPr>
        <p:spPr>
          <a:xfrm>
            <a:off x="8366760" y="3401568"/>
            <a:ext cx="3291840" cy="438912"/>
          </a:xfrm>
          <a:prstGeom prst="rect">
            <a:avLst/>
          </a:prstGeom>
          <a:noFill/>
        </p:spPr>
        <p:txBody>
          <a:bodyPr wrap="square">
            <a:spAutoFit/>
          </a:bodyPr>
          <a:lstStyle/>
          <a:p>
            <a:pPr algn="l"/>
            <a:r>
              <a:rPr sz="1150" b="0" i="0">
                <a:solidFill>
                  <a:srgbClr val="F0F0F0"/>
                </a:solidFill>
              </a:rPr>
              <a:t>· Infrastructure migration and scaling ops</a:t>
            </a:r>
          </a:p>
        </p:txBody>
      </p:sp>
      <p:sp>
        <p:nvSpPr>
          <p:cNvPr id="55" name="TextBox 54"/>
          <p:cNvSpPr txBox="1"/>
          <p:nvPr/>
        </p:nvSpPr>
        <p:spPr>
          <a:xfrm>
            <a:off x="8366760" y="3877056"/>
            <a:ext cx="3291840" cy="438912"/>
          </a:xfrm>
          <a:prstGeom prst="rect">
            <a:avLst/>
          </a:prstGeom>
          <a:noFill/>
        </p:spPr>
        <p:txBody>
          <a:bodyPr wrap="square">
            <a:spAutoFit/>
          </a:bodyPr>
          <a:lstStyle/>
          <a:p>
            <a:pPr algn="l"/>
            <a:r>
              <a:rPr sz="1150" b="0" i="0">
                <a:solidFill>
                  <a:srgbClr val="F0F0F0"/>
                </a:solidFill>
              </a:rPr>
              <a:t>· 24/7 customer service and monitoring</a:t>
            </a:r>
          </a:p>
        </p:txBody>
      </p:sp>
      <p:sp>
        <p:nvSpPr>
          <p:cNvPr id="56" name="TextBox 55"/>
          <p:cNvSpPr txBox="1"/>
          <p:nvPr/>
        </p:nvSpPr>
        <p:spPr>
          <a:xfrm>
            <a:off x="8366760" y="4352544"/>
            <a:ext cx="3291840" cy="438912"/>
          </a:xfrm>
          <a:prstGeom prst="rect">
            <a:avLst/>
          </a:prstGeom>
          <a:noFill/>
        </p:spPr>
        <p:txBody>
          <a:bodyPr wrap="square">
            <a:spAutoFit/>
          </a:bodyPr>
          <a:lstStyle/>
          <a:p>
            <a:pPr algn="l"/>
            <a:r>
              <a:rPr sz="1150" b="0" i="0">
                <a:solidFill>
                  <a:srgbClr val="F0F0F0"/>
                </a:solidFill>
              </a:rPr>
              <a:t>· App Store compliance + release management</a:t>
            </a:r>
          </a:p>
        </p:txBody>
      </p:sp>
      <p:sp>
        <p:nvSpPr>
          <p:cNvPr id="57" name="TextBox 56"/>
          <p:cNvSpPr txBox="1"/>
          <p:nvPr/>
        </p:nvSpPr>
        <p:spPr>
          <a:xfrm>
            <a:off x="8366760" y="4828032"/>
            <a:ext cx="3291840" cy="438912"/>
          </a:xfrm>
          <a:prstGeom prst="rect">
            <a:avLst/>
          </a:prstGeom>
          <a:noFill/>
        </p:spPr>
        <p:txBody>
          <a:bodyPr wrap="square">
            <a:spAutoFit/>
          </a:bodyPr>
          <a:lstStyle/>
          <a:p>
            <a:pPr algn="l"/>
            <a:r>
              <a:rPr sz="1150" b="0" i="0">
                <a:solidFill>
                  <a:srgbClr val="F0F0F0"/>
                </a:solidFill>
              </a:rPr>
              <a:t>· Bare metal infrastructure operations (Phase 3)</a:t>
            </a:r>
          </a:p>
        </p:txBody>
      </p:sp>
      <p:sp>
        <p:nvSpPr>
          <p:cNvPr id="58" name="TextBox 57"/>
          <p:cNvSpPr txBox="1"/>
          <p:nvPr/>
        </p:nvSpPr>
        <p:spPr>
          <a:xfrm>
            <a:off x="8366760" y="5303520"/>
            <a:ext cx="3291840" cy="438912"/>
          </a:xfrm>
          <a:prstGeom prst="rect">
            <a:avLst/>
          </a:prstGeom>
          <a:noFill/>
        </p:spPr>
        <p:txBody>
          <a:bodyPr wrap="square">
            <a:spAutoFit/>
          </a:bodyPr>
          <a:lstStyle/>
          <a:p>
            <a:pPr algn="l"/>
            <a:r>
              <a:rPr sz="1150" b="0" i="0">
                <a:solidFill>
                  <a:srgbClr val="F0F0F0"/>
                </a:solidFill>
              </a:rPr>
              <a:t>· LDNA Consulting LLC wholly-owned subsidiary</a:t>
            </a:r>
          </a:p>
        </p:txBody>
      </p:sp>
      <p:sp>
        <p:nvSpPr>
          <p:cNvPr id="59" name="Rectangle 58"/>
          <p:cNvSpPr/>
          <p:nvPr/>
        </p:nvSpPr>
        <p:spPr>
          <a:xfrm>
            <a:off x="640080" y="6053328"/>
            <a:ext cx="10881360" cy="621792"/>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6108192"/>
            <a:ext cx="10515600" cy="548640"/>
          </a:xfrm>
          <a:prstGeom prst="rect">
            <a:avLst/>
          </a:prstGeom>
          <a:noFill/>
        </p:spPr>
        <p:txBody>
          <a:bodyPr wrap="square">
            <a:spAutoFit/>
          </a:bodyPr>
          <a:lstStyle/>
          <a:p>
            <a:pPr algn="l"/>
            <a:r>
              <a:rPr sz="1200" b="0" i="0">
                <a:solidFill>
                  <a:srgbClr val="F0F0F0"/>
                </a:solidFill>
              </a:rPr>
              <a:t>📍  Colombo is ranked among Asia's top emerging tech hubs — home to 15,000+ software engineers, strong English proficiency, and a rapidly growing startup ecosystem. Office space and talent cost 80% less than equivalent U.S. operations.</a:t>
            </a:r>
          </a:p>
        </p:txBody>
      </p:sp>
      <p:pic>
        <p:nvPicPr>
          <p:cNvPr id="61" name="Picture 60"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pic>
        <p:nvPicPr>
          <p:cNvPr id="38" name="Picture 37"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
        <p:nvSpPr>
          <p:cNvPr id="32" name="Rectangle 31"/>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M Seed Round</a:t>
            </a:r>
          </a:p>
        </p:txBody>
      </p:sp>
      <p:sp>
        <p:nvSpPr>
          <p:cNvPr id="34" name="Rectangle 33"/>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160020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1600200"/>
            <a:ext cx="3108960" cy="2743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1325880"/>
            <a:ext cx="5029200" cy="292608"/>
          </a:xfrm>
          <a:prstGeom prst="rect">
            <a:avLst/>
          </a:prstGeom>
          <a:noFill/>
        </p:spPr>
        <p:txBody>
          <a:bodyPr wrap="square">
            <a:spAutoFit/>
          </a:bodyPr>
          <a:lstStyle/>
          <a:p>
            <a:pPr algn="l"/>
            <a:r>
              <a:rPr sz="1300" b="1" i="0">
                <a:solidFill>
                  <a:srgbClr val="F5C842"/>
                </a:solidFill>
              </a:rPr>
              <a:t>Infrastructure &amp; Bare Metal</a:t>
            </a:r>
          </a:p>
        </p:txBody>
      </p:sp>
      <p:sp>
        <p:nvSpPr>
          <p:cNvPr id="39" name="TextBox 38"/>
          <p:cNvSpPr txBox="1"/>
          <p:nvPr/>
        </p:nvSpPr>
        <p:spPr>
          <a:xfrm>
            <a:off x="5577840" y="1325880"/>
            <a:ext cx="2926080" cy="292608"/>
          </a:xfrm>
          <a:prstGeom prst="rect">
            <a:avLst/>
          </a:prstGeom>
          <a:noFill/>
        </p:spPr>
        <p:txBody>
          <a:bodyPr wrap="square">
            <a:spAutoFit/>
          </a:bodyPr>
          <a:lstStyle/>
          <a:p>
            <a:pPr algn="r"/>
            <a:r>
              <a:rPr sz="1300" b="1" i="0">
                <a:solidFill>
                  <a:srgbClr val="FFFFFF"/>
                </a:solidFill>
              </a:rPr>
              <a:t>$2,000,000  (40%)</a:t>
            </a:r>
          </a:p>
        </p:txBody>
      </p:sp>
      <p:sp>
        <p:nvSpPr>
          <p:cNvPr id="40" name="TextBox 39"/>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41" name="Rectangle 40"/>
          <p:cNvSpPr/>
          <p:nvPr/>
        </p:nvSpPr>
        <p:spPr>
          <a:xfrm>
            <a:off x="640080" y="2359151"/>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2359151"/>
            <a:ext cx="1865376" cy="27432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2084831"/>
            <a:ext cx="5029200" cy="292608"/>
          </a:xfrm>
          <a:prstGeom prst="rect">
            <a:avLst/>
          </a:prstGeom>
          <a:noFill/>
        </p:spPr>
        <p:txBody>
          <a:bodyPr wrap="square">
            <a:spAutoFit/>
          </a:bodyPr>
          <a:lstStyle/>
          <a:p>
            <a:pPr algn="l"/>
            <a:r>
              <a:rPr sz="1300" b="1" i="0">
                <a:solidFill>
                  <a:srgbClr val="FF6B6B"/>
                </a:solidFill>
              </a:rPr>
              <a:t>Engineering Team (Colombo)</a:t>
            </a:r>
          </a:p>
        </p:txBody>
      </p:sp>
      <p:sp>
        <p:nvSpPr>
          <p:cNvPr id="44" name="TextBox 43"/>
          <p:cNvSpPr txBox="1"/>
          <p:nvPr/>
        </p:nvSpPr>
        <p:spPr>
          <a:xfrm>
            <a:off x="5577840" y="2084831"/>
            <a:ext cx="2926080" cy="292608"/>
          </a:xfrm>
          <a:prstGeom prst="rect">
            <a:avLst/>
          </a:prstGeom>
          <a:noFill/>
        </p:spPr>
        <p:txBody>
          <a:bodyPr wrap="square">
            <a:spAutoFit/>
          </a:bodyPr>
          <a:lstStyle/>
          <a:p>
            <a:pPr algn="r"/>
            <a:r>
              <a:rPr sz="1300" b="1" i="0">
                <a:solidFill>
                  <a:srgbClr val="FFFFFF"/>
                </a:solidFill>
              </a:rPr>
              <a:t>$1,200,000  (24%)</a:t>
            </a:r>
          </a:p>
        </p:txBody>
      </p:sp>
      <p:sp>
        <p:nvSpPr>
          <p:cNvPr id="45" name="TextBox 44"/>
          <p:cNvSpPr txBox="1"/>
          <p:nvPr/>
        </p:nvSpPr>
        <p:spPr>
          <a:xfrm>
            <a:off x="8549640" y="215798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46" name="Rectangle 45"/>
          <p:cNvSpPr/>
          <p:nvPr/>
        </p:nvSpPr>
        <p:spPr>
          <a:xfrm>
            <a:off x="640080" y="3118104"/>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3118104"/>
            <a:ext cx="777240" cy="27432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2843784"/>
            <a:ext cx="5029200" cy="292608"/>
          </a:xfrm>
          <a:prstGeom prst="rect">
            <a:avLst/>
          </a:prstGeom>
          <a:noFill/>
        </p:spPr>
        <p:txBody>
          <a:bodyPr wrap="square">
            <a:spAutoFit/>
          </a:bodyPr>
          <a:lstStyle/>
          <a:p>
            <a:pPr algn="l"/>
            <a:r>
              <a:rPr sz="1300" b="1" i="0">
                <a:solidFill>
                  <a:srgbClr val="A0FFB0"/>
                </a:solidFill>
              </a:rPr>
              <a:t>U.S. Operations Office</a:t>
            </a:r>
          </a:p>
        </p:txBody>
      </p:sp>
      <p:sp>
        <p:nvSpPr>
          <p:cNvPr id="49" name="TextBox 48"/>
          <p:cNvSpPr txBox="1"/>
          <p:nvPr/>
        </p:nvSpPr>
        <p:spPr>
          <a:xfrm>
            <a:off x="5577840" y="2843784"/>
            <a:ext cx="2926080" cy="292608"/>
          </a:xfrm>
          <a:prstGeom prst="rect">
            <a:avLst/>
          </a:prstGeom>
          <a:noFill/>
        </p:spPr>
        <p:txBody>
          <a:bodyPr wrap="square">
            <a:spAutoFit/>
          </a:bodyPr>
          <a:lstStyle/>
          <a:p>
            <a:pPr algn="r"/>
            <a:r>
              <a:rPr sz="1300" b="1" i="0">
                <a:solidFill>
                  <a:srgbClr val="FFFFFF"/>
                </a:solidFill>
              </a:rPr>
              <a:t>$500,000  (10%)</a:t>
            </a:r>
          </a:p>
        </p:txBody>
      </p:sp>
      <p:sp>
        <p:nvSpPr>
          <p:cNvPr id="50" name="TextBox 49"/>
          <p:cNvSpPr txBox="1"/>
          <p:nvPr/>
        </p:nvSpPr>
        <p:spPr>
          <a:xfrm>
            <a:off x="8549640" y="2916936"/>
            <a:ext cx="3383280" cy="502920"/>
          </a:xfrm>
          <a:prstGeom prst="rect">
            <a:avLst/>
          </a:prstGeom>
          <a:noFill/>
        </p:spPr>
        <p:txBody>
          <a:bodyPr wrap="square">
            <a:spAutoFit/>
          </a:bodyPr>
          <a:lstStyle/>
          <a:p>
            <a:pPr algn="l"/>
            <a:r>
              <a:rPr sz="1100" b="0" i="0">
                <a:solidFill>
                  <a:srgbClr val="CCCCCC"/>
                </a:solidFill>
              </a:rPr>
              <a:t>New Providence, NJ headquarters — office space,
U.S. executive team, legal entity ops, compliance</a:t>
            </a:r>
          </a:p>
        </p:txBody>
      </p:sp>
      <p:sp>
        <p:nvSpPr>
          <p:cNvPr id="51" name="Rectangle 50"/>
          <p:cNvSpPr/>
          <p:nvPr/>
        </p:nvSpPr>
        <p:spPr>
          <a:xfrm>
            <a:off x="640080" y="3877055"/>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3877055"/>
            <a:ext cx="932688" cy="27432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3602735"/>
            <a:ext cx="5029200" cy="292608"/>
          </a:xfrm>
          <a:prstGeom prst="rect">
            <a:avLst/>
          </a:prstGeom>
          <a:noFill/>
        </p:spPr>
        <p:txBody>
          <a:bodyPr wrap="square">
            <a:spAutoFit/>
          </a:bodyPr>
          <a:lstStyle/>
          <a:p>
            <a:pPr algn="l"/>
            <a:r>
              <a:rPr sz="1300" b="1" i="0">
                <a:solidFill>
                  <a:srgbClr val="7BD4FF"/>
                </a:solidFill>
              </a:rPr>
              <a:t>Platform Development</a:t>
            </a:r>
          </a:p>
        </p:txBody>
      </p:sp>
      <p:sp>
        <p:nvSpPr>
          <p:cNvPr id="54" name="TextBox 53"/>
          <p:cNvSpPr txBox="1"/>
          <p:nvPr/>
        </p:nvSpPr>
        <p:spPr>
          <a:xfrm>
            <a:off x="5577840" y="3602735"/>
            <a:ext cx="2926080" cy="292608"/>
          </a:xfrm>
          <a:prstGeom prst="rect">
            <a:avLst/>
          </a:prstGeom>
          <a:noFill/>
        </p:spPr>
        <p:txBody>
          <a:bodyPr wrap="square">
            <a:spAutoFit/>
          </a:bodyPr>
          <a:lstStyle/>
          <a:p>
            <a:pPr algn="r"/>
            <a:r>
              <a:rPr sz="1300" b="1" i="0">
                <a:solidFill>
                  <a:srgbClr val="FFFFFF"/>
                </a:solidFill>
              </a:rPr>
              <a:t>$600,000  (12%)</a:t>
            </a:r>
          </a:p>
        </p:txBody>
      </p:sp>
      <p:sp>
        <p:nvSpPr>
          <p:cNvPr id="55" name="TextBox 54"/>
          <p:cNvSpPr txBox="1"/>
          <p:nvPr/>
        </p:nvSpPr>
        <p:spPr>
          <a:xfrm>
            <a:off x="8549640" y="3675887"/>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56" name="Rectangle 55"/>
          <p:cNvSpPr/>
          <p:nvPr/>
        </p:nvSpPr>
        <p:spPr>
          <a:xfrm>
            <a:off x="640080" y="4636008"/>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4636008"/>
            <a:ext cx="699516" cy="27432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61688"/>
            <a:ext cx="5029200" cy="292608"/>
          </a:xfrm>
          <a:prstGeom prst="rect">
            <a:avLst/>
          </a:prstGeom>
          <a:noFill/>
        </p:spPr>
        <p:txBody>
          <a:bodyPr wrap="square">
            <a:spAutoFit/>
          </a:bodyPr>
          <a:lstStyle/>
          <a:p>
            <a:pPr algn="l"/>
            <a:r>
              <a:rPr sz="1300" b="1" i="0">
                <a:solidFill>
                  <a:srgbClr val="FFA050"/>
                </a:solidFill>
              </a:rPr>
              <a:t>Marketing &amp; User Acquisition</a:t>
            </a:r>
          </a:p>
        </p:txBody>
      </p:sp>
      <p:sp>
        <p:nvSpPr>
          <p:cNvPr id="59" name="TextBox 58"/>
          <p:cNvSpPr txBox="1"/>
          <p:nvPr/>
        </p:nvSpPr>
        <p:spPr>
          <a:xfrm>
            <a:off x="5577840" y="4361688"/>
            <a:ext cx="2926080" cy="292608"/>
          </a:xfrm>
          <a:prstGeom prst="rect">
            <a:avLst/>
          </a:prstGeom>
          <a:noFill/>
        </p:spPr>
        <p:txBody>
          <a:bodyPr wrap="square">
            <a:spAutoFit/>
          </a:bodyPr>
          <a:lstStyle/>
          <a:p>
            <a:pPr algn="r"/>
            <a:r>
              <a:rPr sz="1300" b="1" i="0">
                <a:solidFill>
                  <a:srgbClr val="FFFFFF"/>
                </a:solidFill>
              </a:rPr>
              <a:t>$450,000  (9%)</a:t>
            </a:r>
          </a:p>
        </p:txBody>
      </p:sp>
      <p:sp>
        <p:nvSpPr>
          <p:cNvPr id="60" name="TextBox 59"/>
          <p:cNvSpPr txBox="1"/>
          <p:nvPr/>
        </p:nvSpPr>
        <p:spPr>
          <a:xfrm>
            <a:off x="8549640" y="4434840"/>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61" name="Rectangle 60"/>
          <p:cNvSpPr/>
          <p:nvPr/>
        </p:nvSpPr>
        <p:spPr>
          <a:xfrm>
            <a:off x="640080" y="539496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394960"/>
            <a:ext cx="388620" cy="27432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5120640"/>
            <a:ext cx="5029200" cy="292608"/>
          </a:xfrm>
          <a:prstGeom prst="rect">
            <a:avLst/>
          </a:prstGeom>
          <a:noFill/>
        </p:spPr>
        <p:txBody>
          <a:bodyPr wrap="square">
            <a:spAutoFit/>
          </a:bodyPr>
          <a:lstStyle/>
          <a:p>
            <a:pPr algn="l"/>
            <a:r>
              <a:rPr sz="1300" b="1" i="0">
                <a:solidFill>
                  <a:srgbClr val="CCCCCC"/>
                </a:solidFill>
              </a:rPr>
              <a:t>Operations &amp; Legal</a:t>
            </a:r>
          </a:p>
        </p:txBody>
      </p:sp>
      <p:sp>
        <p:nvSpPr>
          <p:cNvPr id="64" name="TextBox 63"/>
          <p:cNvSpPr txBox="1"/>
          <p:nvPr/>
        </p:nvSpPr>
        <p:spPr>
          <a:xfrm>
            <a:off x="5577840" y="5120640"/>
            <a:ext cx="2926080" cy="292608"/>
          </a:xfrm>
          <a:prstGeom prst="rect">
            <a:avLst/>
          </a:prstGeom>
          <a:noFill/>
        </p:spPr>
        <p:txBody>
          <a:bodyPr wrap="square">
            <a:spAutoFit/>
          </a:bodyPr>
          <a:lstStyle/>
          <a:p>
            <a:pPr algn="r"/>
            <a:r>
              <a:rPr sz="1300" b="1" i="0">
                <a:solidFill>
                  <a:srgbClr val="FFFFFF"/>
                </a:solidFill>
              </a:rPr>
              <a:t>$250,000  (5%)</a:t>
            </a:r>
          </a:p>
        </p:txBody>
      </p:sp>
      <p:sp>
        <p:nvSpPr>
          <p:cNvPr id="65" name="TextBox 64"/>
          <p:cNvSpPr txBox="1"/>
          <p:nvPr/>
        </p:nvSpPr>
        <p:spPr>
          <a:xfrm>
            <a:off x="8549640" y="5193792"/>
            <a:ext cx="3383280" cy="502920"/>
          </a:xfrm>
          <a:prstGeom prst="rect">
            <a:avLst/>
          </a:prstGeom>
          <a:noFill/>
        </p:spPr>
        <p:txBody>
          <a:bodyPr wrap="square">
            <a:spAutoFit/>
          </a:bodyPr>
          <a:lstStyle/>
          <a:p>
            <a:pPr algn="l"/>
            <a:r>
              <a:rPr sz="1100" b="0" i="0">
                <a:solidFill>
                  <a:srgbClr val="CCCCCC"/>
                </a:solidFill>
              </a:rPr>
              <a:t>Trademark filings, legal counsel, accounting
Compliance, insurance, executive admin</a:t>
            </a:r>
          </a:p>
        </p:txBody>
      </p:sp>
      <p:sp>
        <p:nvSpPr>
          <p:cNvPr id="66" name="TextBox 65"/>
          <p:cNvSpPr txBox="1"/>
          <p:nvPr/>
        </p:nvSpPr>
        <p:spPr>
          <a:xfrm>
            <a:off x="640080" y="5989320"/>
            <a:ext cx="7315200" cy="365760"/>
          </a:xfrm>
          <a:prstGeom prst="rect">
            <a:avLst/>
          </a:prstGeom>
          <a:noFill/>
        </p:spPr>
        <p:txBody>
          <a:bodyPr wrap="square">
            <a:spAutoFit/>
          </a:bodyPr>
          <a:lstStyle/>
          <a:p>
            <a:pPr algn="l"/>
            <a:r>
              <a:rPr sz="1400" b="1" i="0">
                <a:solidFill>
                  <a:srgbClr val="F5C842"/>
                </a:solidFill>
              </a:rPr>
              <a:t>TOTAL RAISE:  ,000,000</a:t>
            </a:r>
          </a:p>
        </p:txBody>
      </p:sp>
      <p:sp>
        <p:nvSpPr>
          <p:cNvPr id="67" name="Rectangle 66"/>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1280160"/>
            <a:ext cx="109728" cy="43891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256032"/>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71" name="Rectangle 70"/>
          <p:cNvSpPr/>
          <p:nvPr/>
        </p:nvSpPr>
        <p:spPr>
          <a:xfrm>
            <a:off x="640080" y="155448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0080" y="1554480"/>
            <a:ext cx="2487168" cy="2286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0080" y="1298448"/>
            <a:ext cx="5029200" cy="274320"/>
          </a:xfrm>
          <a:prstGeom prst="rect">
            <a:avLst/>
          </a:prstGeom>
          <a:noFill/>
        </p:spPr>
        <p:txBody>
          <a:bodyPr wrap="square">
            <a:spAutoFit/>
          </a:bodyPr>
          <a:lstStyle/>
          <a:p>
            <a:pPr algn="l"/>
            <a:r>
              <a:rPr sz="1200" b="1" i="0">
                <a:solidFill>
                  <a:srgbClr val="F5C842"/>
                </a:solidFill>
              </a:rPr>
              <a:t>Infrastructure &amp; Bare Metal (Colombo)</a:t>
            </a:r>
          </a:p>
        </p:txBody>
      </p:sp>
      <p:sp>
        <p:nvSpPr>
          <p:cNvPr id="74" name="TextBox 73"/>
          <p:cNvSpPr txBox="1"/>
          <p:nvPr/>
        </p:nvSpPr>
        <p:spPr>
          <a:xfrm>
            <a:off x="5486400" y="1298448"/>
            <a:ext cx="2651760" cy="274320"/>
          </a:xfrm>
          <a:prstGeom prst="rect">
            <a:avLst/>
          </a:prstGeom>
          <a:noFill/>
        </p:spPr>
        <p:txBody>
          <a:bodyPr wrap="square">
            <a:spAutoFit/>
          </a:bodyPr>
          <a:lstStyle/>
          <a:p>
            <a:pPr algn="r"/>
            <a:r>
              <a:rPr sz="1200" b="1" i="0">
                <a:solidFill>
                  <a:srgbClr val="FFFFFF"/>
                </a:solidFill>
              </a:rPr>
              <a:t>$1,700,000  (34%)</a:t>
            </a:r>
          </a:p>
        </p:txBody>
      </p:sp>
      <p:sp>
        <p:nvSpPr>
          <p:cNvPr id="75" name="TextBox 74"/>
          <p:cNvSpPr txBox="1"/>
          <p:nvPr/>
        </p:nvSpPr>
        <p:spPr>
          <a:xfrm>
            <a:off x="8229600" y="1316736"/>
            <a:ext cx="3749039" cy="457200"/>
          </a:xfrm>
          <a:prstGeom prst="rect">
            <a:avLst/>
          </a:prstGeom>
          <a:noFill/>
        </p:spPr>
        <p:txBody>
          <a:bodyPr wrap="square">
            <a:spAutoFit/>
          </a:bodyPr>
          <a:lstStyle/>
          <a:p>
            <a:pPr algn="l"/>
            <a:r>
              <a:rPr sz="1050" b="0" i="0">
                <a:solidFill>
                  <a:srgbClr val="CCCCCC"/>
                </a:solidFill>
              </a:rPr>
              <a:t>Bare metal servers, switches, networking hardware
Colombo co-location facility + redundancy build-out</a:t>
            </a:r>
          </a:p>
        </p:txBody>
      </p:sp>
      <p:sp>
        <p:nvSpPr>
          <p:cNvPr id="76" name="Rectangle 75"/>
          <p:cNvSpPr/>
          <p:nvPr/>
        </p:nvSpPr>
        <p:spPr>
          <a:xfrm>
            <a:off x="640080" y="222199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2221992"/>
            <a:ext cx="1755648" cy="2286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40080" y="1965960"/>
            <a:ext cx="5029200" cy="274320"/>
          </a:xfrm>
          <a:prstGeom prst="rect">
            <a:avLst/>
          </a:prstGeom>
          <a:noFill/>
        </p:spPr>
        <p:txBody>
          <a:bodyPr wrap="square">
            <a:spAutoFit/>
          </a:bodyPr>
          <a:lstStyle/>
          <a:p>
            <a:pPr algn="l"/>
            <a:r>
              <a:rPr sz="1200" b="1" i="0">
                <a:solidFill>
                  <a:srgbClr val="FF6B6B"/>
                </a:solidFill>
              </a:rPr>
              <a:t>Engineering Team — Colombo</a:t>
            </a:r>
          </a:p>
        </p:txBody>
      </p:sp>
      <p:sp>
        <p:nvSpPr>
          <p:cNvPr id="79" name="TextBox 78"/>
          <p:cNvSpPr txBox="1"/>
          <p:nvPr/>
        </p:nvSpPr>
        <p:spPr>
          <a:xfrm>
            <a:off x="5486400" y="1965960"/>
            <a:ext cx="2651760" cy="274320"/>
          </a:xfrm>
          <a:prstGeom prst="rect">
            <a:avLst/>
          </a:prstGeom>
          <a:noFill/>
        </p:spPr>
        <p:txBody>
          <a:bodyPr wrap="square">
            <a:spAutoFit/>
          </a:bodyPr>
          <a:lstStyle/>
          <a:p>
            <a:pPr algn="r"/>
            <a:r>
              <a:rPr sz="1200" b="1" i="0">
                <a:solidFill>
                  <a:srgbClr val="FFFFFF"/>
                </a:solidFill>
              </a:rPr>
              <a:t>$1,200,000  (24%)</a:t>
            </a:r>
          </a:p>
        </p:txBody>
      </p:sp>
      <p:sp>
        <p:nvSpPr>
          <p:cNvPr id="80" name="TextBox 79"/>
          <p:cNvSpPr txBox="1"/>
          <p:nvPr/>
        </p:nvSpPr>
        <p:spPr>
          <a:xfrm>
            <a:off x="8229600" y="1984248"/>
            <a:ext cx="3749039" cy="457200"/>
          </a:xfrm>
          <a:prstGeom prst="rect">
            <a:avLst/>
          </a:prstGeom>
          <a:noFill/>
        </p:spPr>
        <p:txBody>
          <a:bodyPr wrap="square">
            <a:spAutoFit/>
          </a:bodyPr>
          <a:lstStyle/>
          <a:p>
            <a:pPr algn="l"/>
            <a:r>
              <a:rPr sz="1050" b="0" i="0">
                <a:solidFill>
                  <a:srgbClr val="CCCCCC"/>
                </a:solidFill>
              </a:rPr>
              <a:t>10–15 developers, QA, DevOps — 24 months
VP Engineering + team leads</a:t>
            </a:r>
          </a:p>
        </p:txBody>
      </p:sp>
      <p:sp>
        <p:nvSpPr>
          <p:cNvPr id="81" name="Rectangle 80"/>
          <p:cNvSpPr/>
          <p:nvPr/>
        </p:nvSpPr>
        <p:spPr>
          <a:xfrm>
            <a:off x="640080" y="2889504"/>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40080" y="2889504"/>
            <a:ext cx="438912" cy="22860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 y="2633472"/>
            <a:ext cx="5029200" cy="274320"/>
          </a:xfrm>
          <a:prstGeom prst="rect">
            <a:avLst/>
          </a:prstGeom>
          <a:noFill/>
        </p:spPr>
        <p:txBody>
          <a:bodyPr wrap="square">
            <a:spAutoFit/>
          </a:bodyPr>
          <a:lstStyle/>
          <a:p>
            <a:pPr algn="l"/>
            <a:r>
              <a:rPr sz="1200" b="1" i="0">
                <a:solidFill>
                  <a:srgbClr val="7BD4FF"/>
                </a:solidFill>
              </a:rPr>
              <a:t>Colombo Corporate Office</a:t>
            </a:r>
          </a:p>
        </p:txBody>
      </p:sp>
      <p:sp>
        <p:nvSpPr>
          <p:cNvPr id="84" name="TextBox 83"/>
          <p:cNvSpPr txBox="1"/>
          <p:nvPr/>
        </p:nvSpPr>
        <p:spPr>
          <a:xfrm>
            <a:off x="5486400" y="2633472"/>
            <a:ext cx="2651760" cy="274320"/>
          </a:xfrm>
          <a:prstGeom prst="rect">
            <a:avLst/>
          </a:prstGeom>
          <a:noFill/>
        </p:spPr>
        <p:txBody>
          <a:bodyPr wrap="square">
            <a:spAutoFit/>
          </a:bodyPr>
          <a:lstStyle/>
          <a:p>
            <a:pPr algn="r"/>
            <a:r>
              <a:rPr sz="1200" b="1" i="0">
                <a:solidFill>
                  <a:srgbClr val="FFFFFF"/>
                </a:solidFill>
              </a:rPr>
              <a:t>$300,000  (6%)</a:t>
            </a:r>
          </a:p>
        </p:txBody>
      </p:sp>
      <p:sp>
        <p:nvSpPr>
          <p:cNvPr id="85" name="TextBox 84"/>
          <p:cNvSpPr txBox="1"/>
          <p:nvPr/>
        </p:nvSpPr>
        <p:spPr>
          <a:xfrm>
            <a:off x="8229600" y="2651760"/>
            <a:ext cx="3749039" cy="457200"/>
          </a:xfrm>
          <a:prstGeom prst="rect">
            <a:avLst/>
          </a:prstGeom>
          <a:noFill/>
        </p:spPr>
        <p:txBody>
          <a:bodyPr wrap="square">
            <a:spAutoFit/>
          </a:bodyPr>
          <a:lstStyle/>
          <a:p>
            <a:pPr algn="l"/>
            <a:r>
              <a:rPr sz="1050" b="0" i="0">
                <a:solidFill>
                  <a:srgbClr val="CCCCCC"/>
                </a:solidFill>
              </a:rPr>
              <a:t>Office lease (Colombo 3/7), fit-out, workstations
High-speed fiber, server room, 24-month commitment</a:t>
            </a:r>
          </a:p>
        </p:txBody>
      </p:sp>
      <p:sp>
        <p:nvSpPr>
          <p:cNvPr id="86" name="Rectangle 85"/>
          <p:cNvSpPr/>
          <p:nvPr/>
        </p:nvSpPr>
        <p:spPr>
          <a:xfrm>
            <a:off x="640080" y="3557016"/>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080" y="3557016"/>
            <a:ext cx="731520" cy="22860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40080" y="3300984"/>
            <a:ext cx="5029200" cy="274320"/>
          </a:xfrm>
          <a:prstGeom prst="rect">
            <a:avLst/>
          </a:prstGeom>
          <a:noFill/>
        </p:spPr>
        <p:txBody>
          <a:bodyPr wrap="square">
            <a:spAutoFit/>
          </a:bodyPr>
          <a:lstStyle/>
          <a:p>
            <a:pPr algn="l"/>
            <a:r>
              <a:rPr sz="1200" b="1" i="0">
                <a:solidFill>
                  <a:srgbClr val="A0FFB0"/>
                </a:solidFill>
              </a:rPr>
              <a:t>U.S. Operations Office (New Jersey)</a:t>
            </a:r>
          </a:p>
        </p:txBody>
      </p:sp>
      <p:sp>
        <p:nvSpPr>
          <p:cNvPr id="89" name="TextBox 88"/>
          <p:cNvSpPr txBox="1"/>
          <p:nvPr/>
        </p:nvSpPr>
        <p:spPr>
          <a:xfrm>
            <a:off x="5486400" y="3300984"/>
            <a:ext cx="2651760" cy="274320"/>
          </a:xfrm>
          <a:prstGeom prst="rect">
            <a:avLst/>
          </a:prstGeom>
          <a:noFill/>
        </p:spPr>
        <p:txBody>
          <a:bodyPr wrap="square">
            <a:spAutoFit/>
          </a:bodyPr>
          <a:lstStyle/>
          <a:p>
            <a:pPr algn="r"/>
            <a:r>
              <a:rPr sz="1200" b="1" i="0">
                <a:solidFill>
                  <a:srgbClr val="FFFFFF"/>
                </a:solidFill>
              </a:rPr>
              <a:t>$500,000  (10%)</a:t>
            </a:r>
          </a:p>
        </p:txBody>
      </p:sp>
      <p:sp>
        <p:nvSpPr>
          <p:cNvPr id="90" name="TextBox 89"/>
          <p:cNvSpPr txBox="1"/>
          <p:nvPr/>
        </p:nvSpPr>
        <p:spPr>
          <a:xfrm>
            <a:off x="8229600" y="3319272"/>
            <a:ext cx="3749039" cy="457200"/>
          </a:xfrm>
          <a:prstGeom prst="rect">
            <a:avLst/>
          </a:prstGeom>
          <a:noFill/>
        </p:spPr>
        <p:txBody>
          <a:bodyPr wrap="square">
            <a:spAutoFit/>
          </a:bodyPr>
          <a:lstStyle/>
          <a:p>
            <a:pPr algn="l"/>
            <a:r>
              <a:rPr sz="1050" b="0" i="0">
                <a:solidFill>
                  <a:srgbClr val="CCCCCC"/>
                </a:solidFill>
              </a:rPr>
              <a:t>NJ headquarters — executive office space
U.S. legal entity ops, compliance, admin</a:t>
            </a:r>
          </a:p>
        </p:txBody>
      </p:sp>
      <p:sp>
        <p:nvSpPr>
          <p:cNvPr id="91" name="Rectangle 90"/>
          <p:cNvSpPr/>
          <p:nvPr/>
        </p:nvSpPr>
        <p:spPr>
          <a:xfrm>
            <a:off x="640080" y="4224528"/>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40080" y="4224528"/>
            <a:ext cx="877824" cy="22860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40080" y="3968496"/>
            <a:ext cx="5029200" cy="274320"/>
          </a:xfrm>
          <a:prstGeom prst="rect">
            <a:avLst/>
          </a:prstGeom>
          <a:noFill/>
        </p:spPr>
        <p:txBody>
          <a:bodyPr wrap="square">
            <a:spAutoFit/>
          </a:bodyPr>
          <a:lstStyle/>
          <a:p>
            <a:pPr algn="l"/>
            <a:r>
              <a:rPr sz="1200" b="1" i="0">
                <a:solidFill>
                  <a:srgbClr val="FFA050"/>
                </a:solidFill>
              </a:rPr>
              <a:t>Platform Development</a:t>
            </a:r>
          </a:p>
        </p:txBody>
      </p:sp>
      <p:sp>
        <p:nvSpPr>
          <p:cNvPr id="94" name="TextBox 93"/>
          <p:cNvSpPr txBox="1"/>
          <p:nvPr/>
        </p:nvSpPr>
        <p:spPr>
          <a:xfrm>
            <a:off x="5486400" y="3968496"/>
            <a:ext cx="2651760" cy="274320"/>
          </a:xfrm>
          <a:prstGeom prst="rect">
            <a:avLst/>
          </a:prstGeom>
          <a:noFill/>
        </p:spPr>
        <p:txBody>
          <a:bodyPr wrap="square">
            <a:spAutoFit/>
          </a:bodyPr>
          <a:lstStyle/>
          <a:p>
            <a:pPr algn="r"/>
            <a:r>
              <a:rPr sz="1200" b="1" i="0">
                <a:solidFill>
                  <a:srgbClr val="FFFFFF"/>
                </a:solidFill>
              </a:rPr>
              <a:t>$600,000  (12%)</a:t>
            </a:r>
          </a:p>
        </p:txBody>
      </p:sp>
      <p:sp>
        <p:nvSpPr>
          <p:cNvPr id="95" name="TextBox 94"/>
          <p:cNvSpPr txBox="1"/>
          <p:nvPr/>
        </p:nvSpPr>
        <p:spPr>
          <a:xfrm>
            <a:off x="8229600" y="3986784"/>
            <a:ext cx="3749039" cy="457200"/>
          </a:xfrm>
          <a:prstGeom prst="rect">
            <a:avLst/>
          </a:prstGeom>
          <a:noFill/>
        </p:spPr>
        <p:txBody>
          <a:bodyPr wrap="square">
            <a:spAutoFit/>
          </a:bodyPr>
          <a:lstStyle/>
          <a:p>
            <a:pPr algn="l"/>
            <a:r>
              <a:rPr sz="1050" b="0" i="0">
                <a:solidFill>
                  <a:srgbClr val="CCCCCC"/>
                </a:solidFill>
              </a:rPr>
              <a:t>iOS/Android App Store launch, feature roadmap
API development, third-party integrations</a:t>
            </a:r>
          </a:p>
        </p:txBody>
      </p:sp>
      <p:sp>
        <p:nvSpPr>
          <p:cNvPr id="96" name="Rectangle 95"/>
          <p:cNvSpPr/>
          <p:nvPr/>
        </p:nvSpPr>
        <p:spPr>
          <a:xfrm>
            <a:off x="640080" y="489204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080" y="4892040"/>
            <a:ext cx="658368" cy="2286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0080" y="4636008"/>
            <a:ext cx="5029200" cy="274320"/>
          </a:xfrm>
          <a:prstGeom prst="rect">
            <a:avLst/>
          </a:prstGeom>
          <a:noFill/>
        </p:spPr>
        <p:txBody>
          <a:bodyPr wrap="square">
            <a:spAutoFit/>
          </a:bodyPr>
          <a:lstStyle/>
          <a:p>
            <a:pPr algn="l"/>
            <a:r>
              <a:rPr sz="1200" b="1" i="0">
                <a:solidFill>
                  <a:srgbClr val="FFD700"/>
                </a:solidFill>
              </a:rPr>
              <a:t>Marketing &amp; User Acquisition</a:t>
            </a:r>
          </a:p>
        </p:txBody>
      </p:sp>
      <p:sp>
        <p:nvSpPr>
          <p:cNvPr id="99" name="TextBox 98"/>
          <p:cNvSpPr txBox="1"/>
          <p:nvPr/>
        </p:nvSpPr>
        <p:spPr>
          <a:xfrm>
            <a:off x="5486400" y="4636008"/>
            <a:ext cx="2651760" cy="274320"/>
          </a:xfrm>
          <a:prstGeom prst="rect">
            <a:avLst/>
          </a:prstGeom>
          <a:noFill/>
        </p:spPr>
        <p:txBody>
          <a:bodyPr wrap="square">
            <a:spAutoFit/>
          </a:bodyPr>
          <a:lstStyle/>
          <a:p>
            <a:pPr algn="r"/>
            <a:r>
              <a:rPr sz="1200" b="1" i="0">
                <a:solidFill>
                  <a:srgbClr val="FFFFFF"/>
                </a:solidFill>
              </a:rPr>
              <a:t>$450,000  (9%)</a:t>
            </a:r>
          </a:p>
        </p:txBody>
      </p:sp>
      <p:sp>
        <p:nvSpPr>
          <p:cNvPr id="100" name="TextBox 99"/>
          <p:cNvSpPr txBox="1"/>
          <p:nvPr/>
        </p:nvSpPr>
        <p:spPr>
          <a:xfrm>
            <a:off x="8229600" y="4654296"/>
            <a:ext cx="3749039" cy="457200"/>
          </a:xfrm>
          <a:prstGeom prst="rect">
            <a:avLst/>
          </a:prstGeom>
          <a:noFill/>
        </p:spPr>
        <p:txBody>
          <a:bodyPr wrap="square">
            <a:spAutoFit/>
          </a:bodyPr>
          <a:lstStyle/>
          <a:p>
            <a:pPr algn="l"/>
            <a:r>
              <a:rPr sz="1050" b="0" i="0">
                <a:solidFill>
                  <a:srgbClr val="CCCCCC"/>
                </a:solidFill>
              </a:rPr>
              <a:t>Creator fund seed, influencer partnerships
Paid acquisition, diaspora community outreach</a:t>
            </a:r>
          </a:p>
        </p:txBody>
      </p:sp>
      <p:sp>
        <p:nvSpPr>
          <p:cNvPr id="101" name="Rectangle 100"/>
          <p:cNvSpPr/>
          <p:nvPr/>
        </p:nvSpPr>
        <p:spPr>
          <a:xfrm>
            <a:off x="640080" y="555955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40080" y="5559552"/>
            <a:ext cx="365760" cy="2286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640080" y="5303520"/>
            <a:ext cx="5029200" cy="274320"/>
          </a:xfrm>
          <a:prstGeom prst="rect">
            <a:avLst/>
          </a:prstGeom>
          <a:noFill/>
        </p:spPr>
        <p:txBody>
          <a:bodyPr wrap="square">
            <a:spAutoFit/>
          </a:bodyPr>
          <a:lstStyle/>
          <a:p>
            <a:pPr algn="l"/>
            <a:r>
              <a:rPr sz="1200" b="1" i="0">
                <a:solidFill>
                  <a:srgbClr val="CCCCCC"/>
                </a:solidFill>
              </a:rPr>
              <a:t>Operations &amp; Legal</a:t>
            </a:r>
          </a:p>
        </p:txBody>
      </p:sp>
      <p:sp>
        <p:nvSpPr>
          <p:cNvPr id="104" name="TextBox 103"/>
          <p:cNvSpPr txBox="1"/>
          <p:nvPr/>
        </p:nvSpPr>
        <p:spPr>
          <a:xfrm>
            <a:off x="5486400" y="5303520"/>
            <a:ext cx="2651760" cy="274320"/>
          </a:xfrm>
          <a:prstGeom prst="rect">
            <a:avLst/>
          </a:prstGeom>
          <a:noFill/>
        </p:spPr>
        <p:txBody>
          <a:bodyPr wrap="square">
            <a:spAutoFit/>
          </a:bodyPr>
          <a:lstStyle/>
          <a:p>
            <a:pPr algn="r"/>
            <a:r>
              <a:rPr sz="1200" b="1" i="0">
                <a:solidFill>
                  <a:srgbClr val="FFFFFF"/>
                </a:solidFill>
              </a:rPr>
              <a:t>$250,000  (5%)</a:t>
            </a:r>
          </a:p>
        </p:txBody>
      </p:sp>
      <p:sp>
        <p:nvSpPr>
          <p:cNvPr id="105" name="TextBox 104"/>
          <p:cNvSpPr txBox="1"/>
          <p:nvPr/>
        </p:nvSpPr>
        <p:spPr>
          <a:xfrm>
            <a:off x="8229600" y="5321808"/>
            <a:ext cx="3749039" cy="457200"/>
          </a:xfrm>
          <a:prstGeom prst="rect">
            <a:avLst/>
          </a:prstGeom>
          <a:noFill/>
        </p:spPr>
        <p:txBody>
          <a:bodyPr wrap="square">
            <a:spAutoFit/>
          </a:bodyPr>
          <a:lstStyle/>
          <a:p>
            <a:pPr algn="l"/>
            <a:r>
              <a:rPr sz="1050" b="0" i="0">
                <a:solidFill>
                  <a:srgbClr val="CCCCCC"/>
                </a:solidFill>
              </a:rPr>
              <a:t>Trademark filings, legal counsel, accounting
Compliance, insurance, executive admin</a:t>
            </a:r>
          </a:p>
        </p:txBody>
      </p:sp>
      <p:sp>
        <p:nvSpPr>
          <p:cNvPr id="106" name="TextBox 105"/>
          <p:cNvSpPr txBox="1"/>
          <p:nvPr/>
        </p:nvSpPr>
        <p:spPr>
          <a:xfrm>
            <a:off x="640080" y="6016752"/>
            <a:ext cx="7315200" cy="347472"/>
          </a:xfrm>
          <a:prstGeom prst="rect">
            <a:avLst/>
          </a:prstGeom>
          <a:noFill/>
        </p:spPr>
        <p:txBody>
          <a:bodyPr wrap="square">
            <a:spAutoFit/>
          </a:bodyPr>
          <a:lstStyle/>
          <a:p>
            <a:pPr algn="l"/>
            <a:r>
              <a:rPr sz="1400" b="1" i="0">
                <a:solidFill>
                  <a:srgbClr val="F5C842"/>
                </a:solidFill>
              </a:rPr>
              <a:t>TOTAL:  $5,000,000</a:t>
            </a:r>
          </a:p>
        </p:txBody>
      </p:sp>
      <p:pic>
        <p:nvPicPr>
          <p:cNvPr id="107" name="Picture 106"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pic>
        <p:nvPicPr>
          <p:cNvPr id="108" name="Picture 107"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pic>
        <p:nvPicPr>
          <p:cNvPr id="105" name="Picture 104"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pic>
        <p:nvPicPr>
          <p:cNvPr id="40" name="Picture 39"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pic>
        <p:nvPicPr>
          <p:cNvPr id="68" name="Picture 67"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pic>
        <p:nvPicPr>
          <p:cNvPr id="12" name="Picture 11" descr="sachi_logo_transparent.png"/>
          <p:cNvPicPr>
            <a:picLocks noChangeAspect="1"/>
          </p:cNvPicPr>
          <p:nvPr/>
        </p:nvPicPr>
        <p:blipFill>
          <a:blip r:embed="rId2"/>
          <a:stretch>
            <a:fillRect/>
          </a:stretch>
        </p:blipFill>
        <p:spPr>
          <a:xfrm>
            <a:off x="11018520" y="6327648"/>
            <a:ext cx="502920" cy="502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