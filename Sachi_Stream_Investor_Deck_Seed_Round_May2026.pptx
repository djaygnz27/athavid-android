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0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686800" y="0"/>
            <a:ext cx="3502152" cy="6858000"/>
          </a:xfrm>
          <a:prstGeom prst="rect">
            <a:avLst/>
          </a:prstGeom>
          <a:solidFill>
            <a:srgbClr val="1011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812280"/>
            <a:ext cx="12188952" cy="45720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7772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 b="1" i="0">
                <a:solidFill>
                  <a:srgbClr val="F5C842"/>
                </a:solidFill>
              </a:rPr>
              <a:t>SACHI STREAM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514600"/>
            <a:ext cx="7772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FFFFFF"/>
                </a:solidFill>
              </a:rPr>
              <a:t>Creator Economy Platform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15468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CCCCCC"/>
                </a:solidFill>
              </a:rPr>
              <a:t>Series A Investment Opportunity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3749039"/>
            <a:ext cx="10881360" cy="27432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3931920"/>
            <a:ext cx="7315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6B6B"/>
                </a:solidFill>
              </a:rPr>
              <a:t>$5,000,000 Seed Round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6177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CCCCC"/>
                </a:solidFill>
              </a:rPr>
              <a:t>LDNA Consulting LLC  ·  sachistream.com  ·  May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0" y="594360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CCCCCC"/>
                </a:solidFill>
              </a:rPr>
              <a:t>Confidential
Not for Distribution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749039"/>
            <a:ext cx="8229600" cy="640080"/>
          </a:xfrm>
          <a:prstGeom prst="rect">
            <a:avLst/>
          </a:prstGeom>
          <a:solidFill>
            <a:srgbClr val="0B0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88620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F6B6B"/>
                </a:solidFill>
              </a:rPr>
              <a:t>M Seed Round  ·  M Series A  ·  0M Total Raise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0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0"/>
            <a:ext cx="12188952" cy="64008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280160"/>
            <a:ext cx="109728" cy="4114800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5C842"/>
                </a:solidFill>
              </a:rPr>
              <a:t>The Vision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005840"/>
            <a:ext cx="10881360" cy="27432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1430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</a:rPr>
              <a:t>A global short-video and live creator platform built for the next generation of digital storytellers — with monetization, community, and cultural authenticity at its core.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286000"/>
            <a:ext cx="9144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5C842"/>
                </a:solidFill>
              </a:rPr>
              <a:t>What We're Building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78892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🎬  Short-form video, photo carousels, and text posts — multi-format creator toolkit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191256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🎙️  Live podcasting and creator rooms with real-time gifting and audience engagement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593592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💰  In-app coin economy — creators earn directly from fans, no algorithm dependency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995928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🌍  Location-aware content, cultural hashtag discovery, and global reach from day one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98264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</a:rPr>
              <a:t>🛡️  AI-powered content moderation with mature content gating and NERC-compliant infrastructure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57784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CCCCCC"/>
                </a:solidFill>
              </a:rPr>
              <a:t>Sachi (幸) — Japanese for happiness, good fortune, and bliss.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0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0"/>
            <a:ext cx="12188952" cy="64008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280160"/>
            <a:ext cx="109728" cy="411480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5C842"/>
                </a:solidFill>
              </a:rPr>
              <a:t>The Problem &amp; Opportunity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005840"/>
            <a:ext cx="10881360" cy="27432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1887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6B6B"/>
                </a:solidFill>
              </a:rPr>
              <a:t>THE PROBLEM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64592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✗  TikTok faces US ban risk — 170M US users need a home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048256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✗  Creators earn pennies from ad revenue splits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450592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✗  Algorithm-driven platforms suppress organic reach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852928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✗  No platform combines video + podcasting + live gifting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255264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✗  Cultural and diaspora communities underserved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11887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5C842"/>
                </a:solidFill>
              </a:rPr>
              <a:t>THE OPPORTUNITY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164592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✓  $300B+ global creator economy by 2030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2048256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✓  1B+ short-video viewers globally, growing 20% YoY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2450592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✓  Live streaming gifts market: $20B+ and accelerating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2852928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✓  Diaspora communities — 280M people, underserved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3255264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✓  First-mover: no platform combines all these features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1188720"/>
            <a:ext cx="27432" cy="41148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5532120"/>
            <a:ext cx="10515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F5C842"/>
                </a:solidFill>
              </a:rPr>
              <a:t>"The window to build the next dominant social platform is open right now. Sachi Stream is ready."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0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0"/>
            <a:ext cx="12188952" cy="64008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280160"/>
            <a:ext cx="109728" cy="4114800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5C842"/>
                </a:solidFill>
              </a:rPr>
              <a:t>What We've Built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005840"/>
            <a:ext cx="10881360" cy="27432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0972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1">
                <a:solidFill>
                  <a:srgbClr val="CCCCCC"/>
                </a:solidFill>
              </a:rPr>
              <a:t>Fully functional platform — live at sachistream.com — built and operational as of May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691640"/>
            <a:ext cx="3520440" cy="1508760"/>
          </a:xfrm>
          <a:prstGeom prst="rect">
            <a:avLst/>
          </a:prstGeom>
          <a:solidFill>
            <a:srgbClr val="161830"/>
          </a:solidFill>
          <a:ln w="10160">
            <a:solidFill>
              <a:srgbClr val="F5C8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783080"/>
            <a:ext cx="3246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5C842"/>
                </a:solidFill>
              </a:rPr>
              <a:t>🎬 Multi-Format Feed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167128"/>
            <a:ext cx="3246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Short video, photo carousels, text posts
AI moderation + mature content gating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34840" y="1691640"/>
            <a:ext cx="3520440" cy="1508760"/>
          </a:xfrm>
          <a:prstGeom prst="rect">
            <a:avLst/>
          </a:prstGeom>
          <a:solidFill>
            <a:srgbClr val="161830"/>
          </a:solidFill>
          <a:ln w="10160">
            <a:solidFill>
              <a:srgbClr val="F5C8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1783080"/>
            <a:ext cx="3246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5C842"/>
                </a:solidFill>
              </a:rPr>
              <a:t>🎙️ Live Podcasting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2167128"/>
            <a:ext cx="3246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Creator rooms, RTMP streaming via
Cloudflare, OBS-ready, episode archive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0" y="1691640"/>
            <a:ext cx="3520440" cy="1508760"/>
          </a:xfrm>
          <a:prstGeom prst="rect">
            <a:avLst/>
          </a:prstGeom>
          <a:solidFill>
            <a:srgbClr val="161830"/>
          </a:solidFill>
          <a:ln w="10160">
            <a:solidFill>
              <a:srgbClr val="F5C8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66760" y="1783080"/>
            <a:ext cx="3246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5C842"/>
                </a:solidFill>
              </a:rPr>
              <a:t>🔴 Live Rooms &amp; Gifting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60" y="2167128"/>
            <a:ext cx="3246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Real-time comments, guest requests,
WebRTC co-hosting, coin-powered gifts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383280"/>
            <a:ext cx="3520440" cy="1508760"/>
          </a:xfrm>
          <a:prstGeom prst="rect">
            <a:avLst/>
          </a:prstGeom>
          <a:solidFill>
            <a:srgbClr val="161830"/>
          </a:solidFill>
          <a:ln w="10160">
            <a:solidFill>
              <a:srgbClr val="F5C8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474720"/>
            <a:ext cx="3246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5C842"/>
                </a:solidFill>
              </a:rPr>
              <a:t>💬 Social Graph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3858768"/>
            <a:ext cx="3246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Follow, DM, notifications, bookmarks,
blocking, threaded comments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434840" y="3383280"/>
            <a:ext cx="3520440" cy="1508760"/>
          </a:xfrm>
          <a:prstGeom prst="rect">
            <a:avLst/>
          </a:prstGeom>
          <a:solidFill>
            <a:srgbClr val="161830"/>
          </a:solidFill>
          <a:ln w="10160">
            <a:solidFill>
              <a:srgbClr val="F5C8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3474720"/>
            <a:ext cx="3246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5C842"/>
                </a:solidFill>
              </a:rPr>
              <a:t>🪙 Coin Economy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3858768"/>
            <a:ext cx="3246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5 coin packages, Stripe payments,
host earns 80% of gift face value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0" y="3383280"/>
            <a:ext cx="3520440" cy="1508760"/>
          </a:xfrm>
          <a:prstGeom prst="rect">
            <a:avLst/>
          </a:prstGeom>
          <a:solidFill>
            <a:srgbClr val="161830"/>
          </a:solidFill>
          <a:ln w="10160">
            <a:solidFill>
              <a:srgbClr val="F5C8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66760" y="3474720"/>
            <a:ext cx="3246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5C842"/>
                </a:solidFill>
              </a:rPr>
              <a:t>🛡️ Moderation &amp; Safety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66760" y="3858768"/>
            <a:ext cx="3246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AI detection, report queue, MOD panel,
user block, mature content toggles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0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0"/>
            <a:ext cx="12188952" cy="64008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280160"/>
            <a:ext cx="109728" cy="4114800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5C842"/>
                </a:solidFill>
              </a:rPr>
              <a:t>Traction &amp; Milestones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005840"/>
            <a:ext cx="10881360" cy="27432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188720"/>
            <a:ext cx="2103120" cy="1280160"/>
          </a:xfrm>
          <a:prstGeom prst="rect">
            <a:avLst/>
          </a:prstGeom>
          <a:solidFill>
            <a:srgbClr val="161830"/>
          </a:solidFill>
          <a:ln w="15240">
            <a:solidFill>
              <a:srgbClr val="F5C8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261872"/>
            <a:ext cx="2103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6B6B"/>
                </a:solidFill>
              </a:rPr>
              <a:t>LIVE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847088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CCCCC"/>
                </a:solidFill>
              </a:rPr>
              <a:t>Platform Status
May 2026</a:t>
            </a:r>
          </a:p>
        </p:txBody>
      </p:sp>
      <p:sp>
        <p:nvSpPr>
          <p:cNvPr id="10" name="Rectangle 9"/>
          <p:cNvSpPr/>
          <p:nvPr/>
        </p:nvSpPr>
        <p:spPr>
          <a:xfrm>
            <a:off x="2926080" y="1188720"/>
            <a:ext cx="2103120" cy="1280160"/>
          </a:xfrm>
          <a:prstGeom prst="rect">
            <a:avLst/>
          </a:prstGeom>
          <a:solidFill>
            <a:srgbClr val="161830"/>
          </a:solidFill>
          <a:ln w="15240">
            <a:solidFill>
              <a:srgbClr val="F5C8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26080" y="1261872"/>
            <a:ext cx="2103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5C842"/>
                </a:solidFill>
              </a:rPr>
              <a:t>27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1847088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CCCCC"/>
                </a:solidFill>
              </a:rPr>
              <a:t>Backend Functions
Deployed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212080" y="1188720"/>
            <a:ext cx="2103120" cy="1280160"/>
          </a:xfrm>
          <a:prstGeom prst="rect">
            <a:avLst/>
          </a:prstGeom>
          <a:solidFill>
            <a:srgbClr val="161830"/>
          </a:solidFill>
          <a:ln w="15240">
            <a:solidFill>
              <a:srgbClr val="F5C8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12080" y="1261872"/>
            <a:ext cx="2103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5C842"/>
                </a:solidFill>
              </a:rPr>
              <a:t>50+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12080" y="1847088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CCCCC"/>
                </a:solidFill>
              </a:rPr>
              <a:t>Founding Creator
Spots Open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98079" y="1188720"/>
            <a:ext cx="2103120" cy="1280160"/>
          </a:xfrm>
          <a:prstGeom prst="rect">
            <a:avLst/>
          </a:prstGeom>
          <a:solidFill>
            <a:srgbClr val="161830"/>
          </a:solidFill>
          <a:ln w="15240">
            <a:solidFill>
              <a:srgbClr val="F5C8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79" y="1261872"/>
            <a:ext cx="2103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5C842"/>
                </a:solidFill>
              </a:rPr>
              <a:t>Android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79" y="1847088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CCCCC"/>
                </a:solidFill>
              </a:rPr>
              <a:t>Closed Beta
Google Play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784080" y="1188720"/>
            <a:ext cx="2103120" cy="1280160"/>
          </a:xfrm>
          <a:prstGeom prst="rect">
            <a:avLst/>
          </a:prstGeom>
          <a:solidFill>
            <a:srgbClr val="161830"/>
          </a:solidFill>
          <a:ln w="15240">
            <a:solidFill>
              <a:srgbClr val="F5C8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84080" y="1261872"/>
            <a:ext cx="2103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5C842"/>
                </a:solidFill>
              </a:rPr>
              <a:t>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84080" y="1847088"/>
            <a:ext cx="2103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CCCCCC"/>
                </a:solidFill>
              </a:rPr>
              <a:t>Sachi Trademark
USPTO Filed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26974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5C842"/>
                </a:solidFill>
              </a:rPr>
              <a:t>Key Milestones Achieved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315468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Q4 2025  →  Platform concept, brand identity, and technical architecture finalized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3584448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Q1 2026  →  Full-stack MVP built: video, live, podcasting, coins, DMs, notifications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4014216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Apr 2026  →  Android APK submitted to Google Play closed testing track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4443984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Apr 2026  →  Sachi™ word mark filed with USPTO (Class 41 — Entertainment Services)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7240" y="4873752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Apr 2026  →  Founding Creator program launched — 50 curated beta creators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5303519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May 2026  →  Platform live at sachistream.com — open beta imminent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0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0"/>
            <a:ext cx="12188952" cy="64008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280160"/>
            <a:ext cx="109728" cy="4114800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5C842"/>
                </a:solidFill>
              </a:rPr>
              <a:t>Business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005840"/>
            <a:ext cx="10881360" cy="27432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371600"/>
            <a:ext cx="5212080" cy="1828800"/>
          </a:xfrm>
          <a:prstGeom prst="rect">
            <a:avLst/>
          </a:prstGeom>
          <a:solidFill>
            <a:srgbClr val="161830"/>
          </a:solidFill>
          <a:ln w="19050">
            <a:solidFill>
              <a:srgbClr val="F5C8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146304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C842"/>
                </a:solidFill>
              </a:rPr>
              <a:t>🪙  Virtual Gifting &amp; Coins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1874520"/>
            <a:ext cx="48463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F0F0"/>
                </a:solidFill>
              </a:rPr>
              <a:t>Users purchase coin bundles ($1.99–$99.99)
Hosts receive 80% of gift value
Platform retains 20% — primary near-term revenue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371600"/>
            <a:ext cx="5212080" cy="1828800"/>
          </a:xfrm>
          <a:prstGeom prst="rect">
            <a:avLst/>
          </a:prstGeom>
          <a:solidFill>
            <a:srgbClr val="161830"/>
          </a:solidFill>
          <a:ln w="1905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82512" y="146304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6B6B"/>
                </a:solidFill>
              </a:rPr>
              <a:t>📺  Creator Subscriptions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82512" y="1874520"/>
            <a:ext cx="48463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F0F0"/>
                </a:solidFill>
              </a:rPr>
              <a:t>Monthly fan subscriptions to creator channels
Revenue split: 85% creator / 15% Sachi
Launching Q3 2026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383280"/>
            <a:ext cx="5212080" cy="1828800"/>
          </a:xfrm>
          <a:prstGeom prst="rect">
            <a:avLst/>
          </a:prstGeom>
          <a:solidFill>
            <a:srgbClr val="161830"/>
          </a:solidFill>
          <a:ln w="19050">
            <a:solidFill>
              <a:srgbClr val="7B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347472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7BD4FF"/>
                </a:solidFill>
              </a:rPr>
              <a:t>🎯  Native Advertising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3886200"/>
            <a:ext cx="48463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F0F0"/>
                </a:solidFill>
              </a:rPr>
              <a:t>Brand integrations and sponsored content
Targeted by interest, location, and hashtag
Launching at 100K MAU threshold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7920" y="3383280"/>
            <a:ext cx="5212080" cy="1828800"/>
          </a:xfrm>
          <a:prstGeom prst="rect">
            <a:avLst/>
          </a:prstGeom>
          <a:solidFill>
            <a:srgbClr val="161830"/>
          </a:solidFill>
          <a:ln w="19050">
            <a:solidFill>
              <a:srgbClr val="A0FF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82512" y="347472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A0FFB0"/>
                </a:solidFill>
              </a:rPr>
              <a:t>🎙️  Podcast Premium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82512" y="3886200"/>
            <a:ext cx="48463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F0F0"/>
                </a:solidFill>
              </a:rPr>
              <a:t>Premium episode access and listener subscriptions
Podcast hosting-as-a-service for creators
Launching Q4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557784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F5C842"/>
                </a:solidFill>
              </a:rPr>
              <a:t>Unit Economics: At 1M MAU — projected $4-8M ARR from gifting alone at 2% conversion rate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0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0"/>
            <a:ext cx="12188952" cy="64008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280160"/>
            <a:ext cx="109728" cy="4114800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5C842"/>
                </a:solidFill>
              </a:rPr>
              <a:t>Growth Strategy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005840"/>
            <a:ext cx="10881360" cy="27432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188720"/>
            <a:ext cx="3566160" cy="4846320"/>
          </a:xfrm>
          <a:prstGeom prst="rect">
            <a:avLst/>
          </a:prstGeom>
          <a:solidFill>
            <a:srgbClr val="161830"/>
          </a:solidFill>
          <a:ln w="19050">
            <a:solidFill>
              <a:srgbClr val="F5C8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298448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C842"/>
                </a:solidFill>
              </a:rPr>
              <a:t>PHASE 1  ·  0–6 Months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874520"/>
            <a:ext cx="3291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50 Founding Creators — seed authentic content library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624327"/>
            <a:ext cx="3291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Diaspora community targeting: South Asian, Sri Lankan, Pacific Islander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374135"/>
            <a:ext cx="3291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App Store launch (iOS + Android) — Q3 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123944"/>
            <a:ext cx="3291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Influencer partnerships and creator referral program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873751"/>
            <a:ext cx="3291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Target: 10,000 MAU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34840" y="1188720"/>
            <a:ext cx="3566160" cy="4846320"/>
          </a:xfrm>
          <a:prstGeom prst="rect">
            <a:avLst/>
          </a:prstGeom>
          <a:solidFill>
            <a:srgbClr val="161830"/>
          </a:solidFill>
          <a:ln w="1905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0" y="1298448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6B6B"/>
                </a:solidFill>
              </a:rPr>
              <a:t>PHASE 2  ·  6–18 Months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1874520"/>
            <a:ext cx="3291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Brand ambassador program in 5 key markets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624327"/>
            <a:ext cx="3291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Podcast network partnerships — syndication deals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3374135"/>
            <a:ext cx="3291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Targeted paid acquisition: TikTok refugees, diaspora communities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4123944"/>
            <a:ext cx="3291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API open for third-party integrations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4873751"/>
            <a:ext cx="3291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Target: 250,000 MAU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0" y="1188720"/>
            <a:ext cx="3566160" cy="4846320"/>
          </a:xfrm>
          <a:prstGeom prst="rect">
            <a:avLst/>
          </a:prstGeom>
          <a:solidFill>
            <a:srgbClr val="161830"/>
          </a:solidFill>
          <a:ln w="19050">
            <a:solidFill>
              <a:srgbClr val="7B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66760" y="1298448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7BD4FF"/>
                </a:solidFill>
              </a:rPr>
              <a:t>PHASE 3  ·  18–36 Months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66760" y="1874520"/>
            <a:ext cx="3291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Bare metal infrastructure deployment — Colombo, Sri Lanka HQ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66760" y="2624327"/>
            <a:ext cx="3291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Regional expansion: South Asia, Pacific, Middle East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66760" y="3374135"/>
            <a:ext cx="3291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Creator fund launch: $1M/year distributed to top creators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66760" y="4123944"/>
            <a:ext cx="3291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Series B raise based on MAU and revenue traction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66760" y="4873751"/>
            <a:ext cx="3291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Target: 1M–5M MAU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0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0"/>
            <a:ext cx="12188952" cy="64008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280160"/>
            <a:ext cx="109728" cy="4114800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 i="0">
                <a:solidFill>
                  <a:srgbClr val="F5C842"/>
                </a:solidFill>
              </a:rPr>
              <a:t>Global Operations: Colombo, Sri Lanka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005840"/>
            <a:ext cx="10881360" cy="27432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14300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FFFFFF"/>
                </a:solidFill>
              </a:rPr>
              <a:t>A dedicated engineering and operations hub in Colombo, Sri Lanka — combining world-class talent, cost efficiency, and 24/7 global coverage.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9202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5C842"/>
                </a:solidFill>
              </a:rPr>
              <a:t>ENGINEERING TEAM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774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· 10–15 full-stack developers (Phase 1 hire)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779776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· Specialties: React, Node.js, mobile (iOS/Android)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182112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· Dedicated QA and DevOps engineers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584448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· Led by a senior engineering director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986784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· Average Sri Lankan developer cost: $15–25K/yr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891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  vs. $120–180K US equivalent — 6–8x cost advantage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19202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6B6B"/>
                </a:solidFill>
              </a:rPr>
              <a:t>RESPONSIBILITIES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237744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· Platform cleanup, optimization, and bug resolution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779776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· Feature development and roadmap execution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3182112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· Migration management for infrastructure scaling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3584448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· 24/7 customer service and platform monitoring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3986784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· App Store compliance and release management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438912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</a:rPr>
              <a:t>· Future: on-site bare metal infrastructure ops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5303520"/>
            <a:ext cx="10881360" cy="1143000"/>
          </a:xfrm>
          <a:prstGeom prst="rect">
            <a:avLst/>
          </a:prstGeom>
          <a:solidFill>
            <a:srgbClr val="161830"/>
          </a:solidFill>
          <a:ln w="12700">
            <a:solidFill>
              <a:srgbClr val="F5C8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5376672"/>
            <a:ext cx="10515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0F0F0"/>
                </a:solidFill>
              </a:rPr>
              <a:t>🏢  Phase 3 Infrastructure: Bare metal servers, switches, and networking equipment co-located at the Colombo facility. Eliminates ongoing cloud costs, provides full data sovereignty, and supports 5M+ user scale. Estimated infrastructure buildout: $2.5M of the $5M raise.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0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0"/>
            <a:ext cx="12188952" cy="64008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280160"/>
            <a:ext cx="109728" cy="4114800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5C842"/>
                </a:solidFill>
              </a:rPr>
              <a:t>Technology &amp; Infrastructure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005840"/>
            <a:ext cx="10881360" cy="27432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0972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CCCCCC"/>
                </a:solidFill>
              </a:rPr>
              <a:t>Enterprise-grade stack — built to scale from 1,000 to 50 million users without architectural rewrites.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00200"/>
            <a:ext cx="3520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C842"/>
                </a:solidFill>
              </a:rPr>
              <a:t>CURRENT STACK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94560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Frontend: React 18, Vite, Tailwind CSS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624328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Backend: Deno / TypeScript serverless functions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054096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Database: Base44 managed (PostgreSQL)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483863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Video CDN: Cloudflare Stream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913631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Live Streaming: Cloudflare Calls SFU (WebRTC)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343400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Payments: Stripe (coins + gifting)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773168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Auth: Google OAuth + email/OTP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202936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Hosting: Vercel (web) + Base44 (API)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632704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Mobile: React Native (Android + iOS)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1600200"/>
            <a:ext cx="3520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6B6B"/>
                </a:solidFill>
              </a:rPr>
              <a:t>SCALE INFRASTRUCTURE
(Phase 3 — Colombo)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2194560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Bare metal servers: Dell PowerEdge / HPE ProLiant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20" y="2624328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Networking: Cisco / Juniper switching fabric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89120" y="3054096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Video ingest: On-prem RTMP + HLS origin servers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120" y="3483863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CDN: Hybrid cloud + bare metal egress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120" y="3913631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Database: Distributed PostgreSQL cluster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89120" y="4343400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Storage: Ceph or MinIO object storage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120" y="4773168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Security: Hardware firewall, DDoS mitigation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9120" y="5202936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Monitoring: Prometheus + Grafana stack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9120" y="5632704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Compliance: GDPR, CCPA, data sovereignty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38159" y="1600200"/>
            <a:ext cx="3520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7BD4FF"/>
                </a:solidFill>
              </a:rPr>
              <a:t>COMPETITIVE ADVANTAGES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38159" y="2194560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AI moderation built-in — no third-party cost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38159" y="2624328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Coin economy fully proprietary — no rev share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38159" y="3054096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Live + podcasting + video in ONE app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38159" y="3483863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Location-aware content discovery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38159" y="3913631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Diaspora-first content strategy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38159" y="4343400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US-owned, US-incorporated (LDNA Consulting LLC)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38159" y="4773168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Trademark protected brand — USPTO filed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38159" y="5202936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No TikTok ban risk — fully independent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38159" y="5632704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Sri Lanka ops = 6–8x US cost efficiency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0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0"/>
            <a:ext cx="12188952" cy="64008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280160"/>
            <a:ext cx="109728" cy="4114800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5C842"/>
                </a:solidFill>
              </a:rPr>
              <a:t>Use of Funds — $5M Seed Round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005840"/>
            <a:ext cx="10881360" cy="27432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581912"/>
            <a:ext cx="7772400" cy="320040"/>
          </a:xfrm>
          <a:prstGeom prst="rect">
            <a:avLst/>
          </a:prstGeom>
          <a:solidFill>
            <a:srgbClr val="161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581912"/>
            <a:ext cx="3886200" cy="320040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5C842"/>
                </a:solidFill>
              </a:rPr>
              <a:t>Infrastructure &amp; Bare Metal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60720" y="1325880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FFFFFF"/>
                </a:solidFill>
              </a:rPr>
              <a:t>$2,500,000  (50%)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49640" y="1399032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CCCC"/>
                </a:solidFill>
              </a:rPr>
              <a:t>Colombo bare metal servers, switches, networking
hardware, co-location facility setup, redundancy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478023"/>
            <a:ext cx="7772400" cy="320040"/>
          </a:xfrm>
          <a:prstGeom prst="rect">
            <a:avLst/>
          </a:prstGeom>
          <a:solidFill>
            <a:srgbClr val="161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2478023"/>
            <a:ext cx="1865376" cy="320040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221991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6B6B"/>
                </a:solidFill>
              </a:rPr>
              <a:t>Engineering Team (Colombo)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60720" y="2221991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FFFFFF"/>
                </a:solidFill>
              </a:rPr>
              <a:t>$1,200,000  (24%)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49640" y="2295143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CCCC"/>
                </a:solidFill>
              </a:rPr>
              <a:t>10–15 developers, QA, DevOps — 24 months
Senior engineering director + team leads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374136"/>
            <a:ext cx="7772400" cy="320040"/>
          </a:xfrm>
          <a:prstGeom prst="rect">
            <a:avLst/>
          </a:prstGeom>
          <a:solidFill>
            <a:srgbClr val="161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3374136"/>
            <a:ext cx="932688" cy="320040"/>
          </a:xfrm>
          <a:prstGeom prst="rect">
            <a:avLst/>
          </a:prstGeom>
          <a:solidFill>
            <a:srgbClr val="7B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11810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7BD4FF"/>
                </a:solidFill>
              </a:rPr>
              <a:t>Platform Development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60720" y="3118104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FFFFFF"/>
                </a:solidFill>
              </a:rPr>
              <a:t>$600,000  (12%)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49640" y="3191256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CCCC"/>
                </a:solidFill>
              </a:rPr>
              <a:t>iOS/Android app store launch, feature roadmap
API development, third-party integrations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4270247"/>
            <a:ext cx="7772400" cy="320040"/>
          </a:xfrm>
          <a:prstGeom prst="rect">
            <a:avLst/>
          </a:prstGeom>
          <a:solidFill>
            <a:srgbClr val="161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270247"/>
            <a:ext cx="699516" cy="320040"/>
          </a:xfrm>
          <a:prstGeom prst="rect">
            <a:avLst/>
          </a:prstGeom>
          <a:solidFill>
            <a:srgbClr val="A0FF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4014215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A0FFB0"/>
                </a:solidFill>
              </a:rPr>
              <a:t>Marketing &amp; User Acquisition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60720" y="4014215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FFFFFF"/>
                </a:solidFill>
              </a:rPr>
              <a:t>$450,000  (9%)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49640" y="4087367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CCCC"/>
                </a:solidFill>
              </a:rPr>
              <a:t>Creator fund seed, influencer partnerships
Paid acquisition, diaspora community outreach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5166360"/>
            <a:ext cx="7772400" cy="320040"/>
          </a:xfrm>
          <a:prstGeom prst="rect">
            <a:avLst/>
          </a:prstGeom>
          <a:solidFill>
            <a:srgbClr val="1618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40080" y="5166360"/>
            <a:ext cx="388620" cy="32004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4910328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CCCCC"/>
                </a:solidFill>
              </a:rPr>
              <a:t>Operations &amp; Legal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760720" y="4910328"/>
            <a:ext cx="2743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FFFFFF"/>
                </a:solidFill>
              </a:rPr>
              <a:t>$250,000  (5%)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49640" y="4983480"/>
            <a:ext cx="3383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CCCC"/>
                </a:solidFill>
              </a:rPr>
              <a:t>US operations, trademark filings, legal
Compliance, accounting, executive team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0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0"/>
            <a:ext cx="12188952" cy="64008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280160"/>
            <a:ext cx="109728" cy="4114800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5C842"/>
                </a:solidFill>
              </a:rPr>
              <a:t>Financial Projections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005840"/>
            <a:ext cx="10881360" cy="27432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0972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CCCCCC"/>
                </a:solidFill>
              </a:rPr>
              <a:t>Conservative model — based on 2% coin conversion rate and 0.5% paid subscriber rate at scale.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1600200"/>
            <a:ext cx="2103120" cy="420624"/>
          </a:xfrm>
          <a:prstGeom prst="rect">
            <a:avLst/>
          </a:prstGeom>
          <a:solidFill>
            <a:srgbClr val="F5C842"/>
          </a:solidFill>
          <a:ln w="6350">
            <a:solidFill>
              <a:srgbClr val="0B0C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664208"/>
            <a:ext cx="20116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B0C1A"/>
                </a:solidFill>
              </a:rPr>
              <a:t>Metric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34640" y="1600200"/>
            <a:ext cx="1828800" cy="420624"/>
          </a:xfrm>
          <a:prstGeom prst="rect">
            <a:avLst/>
          </a:prstGeom>
          <a:solidFill>
            <a:srgbClr val="F5C842"/>
          </a:solidFill>
          <a:ln w="6350">
            <a:solidFill>
              <a:srgbClr val="0B0C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80360" y="1664208"/>
            <a:ext cx="1737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B0C1A"/>
                </a:solidFill>
              </a:rPr>
              <a:t>Year 1 (2026)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63440" y="1600200"/>
            <a:ext cx="1828800" cy="420624"/>
          </a:xfrm>
          <a:prstGeom prst="rect">
            <a:avLst/>
          </a:prstGeom>
          <a:solidFill>
            <a:srgbClr val="F5C842"/>
          </a:solidFill>
          <a:ln w="6350">
            <a:solidFill>
              <a:srgbClr val="0B0C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09160" y="1664208"/>
            <a:ext cx="1737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B0C1A"/>
                </a:solidFill>
              </a:rPr>
              <a:t>Year 2 (2027)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92240" y="1600200"/>
            <a:ext cx="1828800" cy="420624"/>
          </a:xfrm>
          <a:prstGeom prst="rect">
            <a:avLst/>
          </a:prstGeom>
          <a:solidFill>
            <a:srgbClr val="F5C842"/>
          </a:solidFill>
          <a:ln w="6350">
            <a:solidFill>
              <a:srgbClr val="0B0C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60" y="1664208"/>
            <a:ext cx="1737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B0C1A"/>
                </a:solidFill>
              </a:rPr>
              <a:t>Year 3 (2028)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321040" y="1600200"/>
            <a:ext cx="1828800" cy="420624"/>
          </a:xfrm>
          <a:prstGeom prst="rect">
            <a:avLst/>
          </a:prstGeom>
          <a:solidFill>
            <a:srgbClr val="F5C842"/>
          </a:solidFill>
          <a:ln w="6350">
            <a:solidFill>
              <a:srgbClr val="0B0C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66760" y="1664208"/>
            <a:ext cx="1737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B0C1A"/>
                </a:solidFill>
              </a:rPr>
              <a:t>Year 5 (2030)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2020824"/>
            <a:ext cx="2103120" cy="420624"/>
          </a:xfrm>
          <a:prstGeom prst="rect">
            <a:avLst/>
          </a:prstGeom>
          <a:solidFill>
            <a:srgbClr val="16183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2084832"/>
            <a:ext cx="20116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C842"/>
                </a:solidFill>
              </a:rPr>
              <a:t>MAU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834640" y="2020824"/>
            <a:ext cx="1828800" cy="420624"/>
          </a:xfrm>
          <a:prstGeom prst="rect">
            <a:avLst/>
          </a:prstGeom>
          <a:solidFill>
            <a:srgbClr val="16183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880360" y="2084832"/>
            <a:ext cx="1737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10,000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63440" y="2020824"/>
            <a:ext cx="1828800" cy="420624"/>
          </a:xfrm>
          <a:prstGeom prst="rect">
            <a:avLst/>
          </a:prstGeom>
          <a:solidFill>
            <a:srgbClr val="16183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09160" y="2084832"/>
            <a:ext cx="1737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150,000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92240" y="2020824"/>
            <a:ext cx="1828800" cy="420624"/>
          </a:xfrm>
          <a:prstGeom prst="rect">
            <a:avLst/>
          </a:prstGeom>
          <a:solidFill>
            <a:srgbClr val="16183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37960" y="2084832"/>
            <a:ext cx="1737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500,000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321040" y="2020824"/>
            <a:ext cx="1828800" cy="420624"/>
          </a:xfrm>
          <a:prstGeom prst="rect">
            <a:avLst/>
          </a:prstGeom>
          <a:solidFill>
            <a:srgbClr val="16183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66760" y="2084832"/>
            <a:ext cx="1737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3,000,000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2441448"/>
            <a:ext cx="2103120" cy="420624"/>
          </a:xfrm>
          <a:prstGeom prst="rect">
            <a:avLst/>
          </a:prstGeom>
          <a:solidFill>
            <a:srgbClr val="1A1C38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" y="2505456"/>
            <a:ext cx="20116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C842"/>
                </a:solidFill>
              </a:rPr>
              <a:t>Coin Purchasers (2%)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834640" y="2441448"/>
            <a:ext cx="1828800" cy="420624"/>
          </a:xfrm>
          <a:prstGeom prst="rect">
            <a:avLst/>
          </a:prstGeom>
          <a:solidFill>
            <a:srgbClr val="1A1C38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880360" y="2505456"/>
            <a:ext cx="1737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200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663440" y="2441448"/>
            <a:ext cx="1828800" cy="420624"/>
          </a:xfrm>
          <a:prstGeom prst="rect">
            <a:avLst/>
          </a:prstGeom>
          <a:solidFill>
            <a:srgbClr val="1A1C38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09160" y="2505456"/>
            <a:ext cx="1737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3,000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92240" y="2441448"/>
            <a:ext cx="1828800" cy="420624"/>
          </a:xfrm>
          <a:prstGeom prst="rect">
            <a:avLst/>
          </a:prstGeom>
          <a:solidFill>
            <a:srgbClr val="1A1C38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37960" y="2505456"/>
            <a:ext cx="1737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10,000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321040" y="2441448"/>
            <a:ext cx="1828800" cy="420624"/>
          </a:xfrm>
          <a:prstGeom prst="rect">
            <a:avLst/>
          </a:prstGeom>
          <a:solidFill>
            <a:srgbClr val="1A1C38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366760" y="2505456"/>
            <a:ext cx="1737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60,000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" y="2862072"/>
            <a:ext cx="2103120" cy="420624"/>
          </a:xfrm>
          <a:prstGeom prst="rect">
            <a:avLst/>
          </a:prstGeom>
          <a:solidFill>
            <a:srgbClr val="16183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85800" y="2926080"/>
            <a:ext cx="20116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C842"/>
                </a:solidFill>
              </a:rPr>
              <a:t>Avg Spend / Purchaser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834640" y="2862072"/>
            <a:ext cx="1828800" cy="420624"/>
          </a:xfrm>
          <a:prstGeom prst="rect">
            <a:avLst/>
          </a:prstGeom>
          <a:solidFill>
            <a:srgbClr val="16183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2880360" y="2926080"/>
            <a:ext cx="1737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$25/mo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663440" y="2862072"/>
            <a:ext cx="1828800" cy="420624"/>
          </a:xfrm>
          <a:prstGeom prst="rect">
            <a:avLst/>
          </a:prstGeom>
          <a:solidFill>
            <a:srgbClr val="16183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709160" y="2926080"/>
            <a:ext cx="1737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$30/mo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492240" y="2862072"/>
            <a:ext cx="1828800" cy="420624"/>
          </a:xfrm>
          <a:prstGeom prst="rect">
            <a:avLst/>
          </a:prstGeom>
          <a:solidFill>
            <a:srgbClr val="16183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537960" y="2926080"/>
            <a:ext cx="1737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$35/mo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321040" y="2862072"/>
            <a:ext cx="1828800" cy="420624"/>
          </a:xfrm>
          <a:prstGeom prst="rect">
            <a:avLst/>
          </a:prstGeom>
          <a:solidFill>
            <a:srgbClr val="16183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366760" y="2926080"/>
            <a:ext cx="1737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$40/mo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40080" y="3282696"/>
            <a:ext cx="2103120" cy="420624"/>
          </a:xfrm>
          <a:prstGeom prst="rect">
            <a:avLst/>
          </a:prstGeom>
          <a:solidFill>
            <a:srgbClr val="1A1C38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85800" y="3346704"/>
            <a:ext cx="20116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C842"/>
                </a:solidFill>
              </a:rPr>
              <a:t>Gifting Revenue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834640" y="3282696"/>
            <a:ext cx="1828800" cy="420624"/>
          </a:xfrm>
          <a:prstGeom prst="rect">
            <a:avLst/>
          </a:prstGeom>
          <a:solidFill>
            <a:srgbClr val="1A1C38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880360" y="3346704"/>
            <a:ext cx="1737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$60K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663440" y="3282696"/>
            <a:ext cx="1828800" cy="420624"/>
          </a:xfrm>
          <a:prstGeom prst="rect">
            <a:avLst/>
          </a:prstGeom>
          <a:solidFill>
            <a:srgbClr val="1A1C38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709160" y="3346704"/>
            <a:ext cx="1737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$1.1M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492240" y="3282696"/>
            <a:ext cx="1828800" cy="420624"/>
          </a:xfrm>
          <a:prstGeom prst="rect">
            <a:avLst/>
          </a:prstGeom>
          <a:solidFill>
            <a:srgbClr val="1A1C38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537960" y="3346704"/>
            <a:ext cx="1737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$4.2M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321040" y="3282696"/>
            <a:ext cx="1828800" cy="420624"/>
          </a:xfrm>
          <a:prstGeom prst="rect">
            <a:avLst/>
          </a:prstGeom>
          <a:solidFill>
            <a:srgbClr val="1A1C38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366760" y="3346704"/>
            <a:ext cx="1737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$28.8M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40080" y="3703320"/>
            <a:ext cx="2103120" cy="420624"/>
          </a:xfrm>
          <a:prstGeom prst="rect">
            <a:avLst/>
          </a:prstGeom>
          <a:solidFill>
            <a:srgbClr val="16183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85800" y="3767328"/>
            <a:ext cx="20116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C842"/>
                </a:solidFill>
              </a:rPr>
              <a:t>Subscription Revenue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834640" y="3703320"/>
            <a:ext cx="1828800" cy="420624"/>
          </a:xfrm>
          <a:prstGeom prst="rect">
            <a:avLst/>
          </a:prstGeom>
          <a:solidFill>
            <a:srgbClr val="16183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880360" y="3767328"/>
            <a:ext cx="1737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$0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663440" y="3703320"/>
            <a:ext cx="1828800" cy="420624"/>
          </a:xfrm>
          <a:prstGeom prst="rect">
            <a:avLst/>
          </a:prstGeom>
          <a:solidFill>
            <a:srgbClr val="16183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709160" y="3767328"/>
            <a:ext cx="1737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$180K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492240" y="3703320"/>
            <a:ext cx="1828800" cy="420624"/>
          </a:xfrm>
          <a:prstGeom prst="rect">
            <a:avLst/>
          </a:prstGeom>
          <a:solidFill>
            <a:srgbClr val="16183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537960" y="3767328"/>
            <a:ext cx="1737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$900K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321040" y="3703320"/>
            <a:ext cx="1828800" cy="420624"/>
          </a:xfrm>
          <a:prstGeom prst="rect">
            <a:avLst/>
          </a:prstGeom>
          <a:solidFill>
            <a:srgbClr val="16183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8366760" y="3767328"/>
            <a:ext cx="1737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$7.2M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40080" y="4123944"/>
            <a:ext cx="2103120" cy="420624"/>
          </a:xfrm>
          <a:prstGeom prst="rect">
            <a:avLst/>
          </a:prstGeom>
          <a:solidFill>
            <a:srgbClr val="1A1C38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85800" y="4187952"/>
            <a:ext cx="20116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C842"/>
                </a:solidFill>
              </a:rPr>
              <a:t>Ad Revenue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834640" y="4123944"/>
            <a:ext cx="1828800" cy="420624"/>
          </a:xfrm>
          <a:prstGeom prst="rect">
            <a:avLst/>
          </a:prstGeom>
          <a:solidFill>
            <a:srgbClr val="1A1C38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2880360" y="4187952"/>
            <a:ext cx="1737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$0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663440" y="4123944"/>
            <a:ext cx="1828800" cy="420624"/>
          </a:xfrm>
          <a:prstGeom prst="rect">
            <a:avLst/>
          </a:prstGeom>
          <a:solidFill>
            <a:srgbClr val="1A1C38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709160" y="4187952"/>
            <a:ext cx="1737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$75K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492240" y="4123944"/>
            <a:ext cx="1828800" cy="420624"/>
          </a:xfrm>
          <a:prstGeom prst="rect">
            <a:avLst/>
          </a:prstGeom>
          <a:solidFill>
            <a:srgbClr val="1A1C38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537960" y="4187952"/>
            <a:ext cx="1737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$500K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321040" y="4123944"/>
            <a:ext cx="1828800" cy="420624"/>
          </a:xfrm>
          <a:prstGeom prst="rect">
            <a:avLst/>
          </a:prstGeom>
          <a:solidFill>
            <a:srgbClr val="1A1C38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366760" y="4187952"/>
            <a:ext cx="1737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$6.0M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40080" y="4544568"/>
            <a:ext cx="2103120" cy="420624"/>
          </a:xfrm>
          <a:prstGeom prst="rect">
            <a:avLst/>
          </a:prstGeom>
          <a:solidFill>
            <a:srgbClr val="16183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85800" y="4608576"/>
            <a:ext cx="20116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C842"/>
                </a:solidFill>
              </a:rPr>
              <a:t>TOTAL REVENUE</a:t>
            </a:r>
          </a:p>
        </p:txBody>
      </p:sp>
      <p:sp>
        <p:nvSpPr>
          <p:cNvPr id="80" name="Rectangle 79"/>
          <p:cNvSpPr/>
          <p:nvPr/>
        </p:nvSpPr>
        <p:spPr>
          <a:xfrm>
            <a:off x="2834640" y="4544568"/>
            <a:ext cx="1828800" cy="420624"/>
          </a:xfrm>
          <a:prstGeom prst="rect">
            <a:avLst/>
          </a:prstGeom>
          <a:solidFill>
            <a:srgbClr val="16183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2880360" y="4608576"/>
            <a:ext cx="1737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5C842"/>
                </a:solidFill>
              </a:rPr>
              <a:t>$60K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663440" y="4544568"/>
            <a:ext cx="1828800" cy="420624"/>
          </a:xfrm>
          <a:prstGeom prst="rect">
            <a:avLst/>
          </a:prstGeom>
          <a:solidFill>
            <a:srgbClr val="16183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4709160" y="4608576"/>
            <a:ext cx="1737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5C842"/>
                </a:solidFill>
              </a:rPr>
              <a:t>$1.35M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492240" y="4544568"/>
            <a:ext cx="1828800" cy="420624"/>
          </a:xfrm>
          <a:prstGeom prst="rect">
            <a:avLst/>
          </a:prstGeom>
          <a:solidFill>
            <a:srgbClr val="16183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537960" y="4608576"/>
            <a:ext cx="1737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5C842"/>
                </a:solidFill>
              </a:rPr>
              <a:t>$5.6M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321040" y="4544568"/>
            <a:ext cx="1828800" cy="420624"/>
          </a:xfrm>
          <a:prstGeom prst="rect">
            <a:avLst/>
          </a:prstGeom>
          <a:solidFill>
            <a:srgbClr val="16183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366760" y="4608576"/>
            <a:ext cx="1737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5C842"/>
                </a:solidFill>
              </a:rPr>
              <a:t>$42M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40080" y="4965192"/>
            <a:ext cx="2103120" cy="420624"/>
          </a:xfrm>
          <a:prstGeom prst="rect">
            <a:avLst/>
          </a:prstGeom>
          <a:solidFill>
            <a:srgbClr val="1A1C38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85800" y="5029200"/>
            <a:ext cx="20116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5C842"/>
                </a:solidFill>
              </a:rPr>
              <a:t>Gross Margin</a:t>
            </a:r>
          </a:p>
        </p:txBody>
      </p:sp>
      <p:sp>
        <p:nvSpPr>
          <p:cNvPr id="90" name="Rectangle 89"/>
          <p:cNvSpPr/>
          <p:nvPr/>
        </p:nvSpPr>
        <p:spPr>
          <a:xfrm>
            <a:off x="2834640" y="4965192"/>
            <a:ext cx="1828800" cy="420624"/>
          </a:xfrm>
          <a:prstGeom prst="rect">
            <a:avLst/>
          </a:prstGeom>
          <a:solidFill>
            <a:srgbClr val="1A1C38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2880360" y="5029200"/>
            <a:ext cx="1737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—</a:t>
            </a:r>
          </a:p>
        </p:txBody>
      </p:sp>
      <p:sp>
        <p:nvSpPr>
          <p:cNvPr id="92" name="Rectangle 91"/>
          <p:cNvSpPr/>
          <p:nvPr/>
        </p:nvSpPr>
        <p:spPr>
          <a:xfrm>
            <a:off x="4663440" y="4965192"/>
            <a:ext cx="1828800" cy="420624"/>
          </a:xfrm>
          <a:prstGeom prst="rect">
            <a:avLst/>
          </a:prstGeom>
          <a:solidFill>
            <a:srgbClr val="1A1C38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709160" y="5029200"/>
            <a:ext cx="1737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55%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6492240" y="4965192"/>
            <a:ext cx="1828800" cy="420624"/>
          </a:xfrm>
          <a:prstGeom prst="rect">
            <a:avLst/>
          </a:prstGeom>
          <a:solidFill>
            <a:srgbClr val="1A1C38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537960" y="5029200"/>
            <a:ext cx="1737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65%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321040" y="4965192"/>
            <a:ext cx="1828800" cy="420624"/>
          </a:xfrm>
          <a:prstGeom prst="rect">
            <a:avLst/>
          </a:prstGeom>
          <a:solidFill>
            <a:srgbClr val="1A1C38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366760" y="5029200"/>
            <a:ext cx="1737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72%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40080" y="5385816"/>
            <a:ext cx="2103120" cy="420624"/>
          </a:xfrm>
          <a:prstGeom prst="rect">
            <a:avLst/>
          </a:prstGeom>
          <a:solidFill>
            <a:srgbClr val="16183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85800" y="5449824"/>
            <a:ext cx="20116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5C842"/>
                </a:solidFill>
              </a:rPr>
              <a:t>EBITDA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2834640" y="5385816"/>
            <a:ext cx="1828800" cy="420624"/>
          </a:xfrm>
          <a:prstGeom prst="rect">
            <a:avLst/>
          </a:prstGeom>
          <a:solidFill>
            <a:srgbClr val="16183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2880360" y="5449824"/>
            <a:ext cx="1737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5C842"/>
                </a:solidFill>
              </a:rPr>
              <a:t>($3.2M)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4663440" y="5385816"/>
            <a:ext cx="1828800" cy="420624"/>
          </a:xfrm>
          <a:prstGeom prst="rect">
            <a:avLst/>
          </a:prstGeom>
          <a:solidFill>
            <a:srgbClr val="16183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4709160" y="5449824"/>
            <a:ext cx="1737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5C842"/>
                </a:solidFill>
              </a:rPr>
              <a:t>($1.8M)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492240" y="5385816"/>
            <a:ext cx="1828800" cy="420624"/>
          </a:xfrm>
          <a:prstGeom prst="rect">
            <a:avLst/>
          </a:prstGeom>
          <a:solidFill>
            <a:srgbClr val="16183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537960" y="5449824"/>
            <a:ext cx="1737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5C842"/>
                </a:solidFill>
              </a:rPr>
              <a:t>$0.8M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8321040" y="5385816"/>
            <a:ext cx="1828800" cy="420624"/>
          </a:xfrm>
          <a:prstGeom prst="rect">
            <a:avLst/>
          </a:prstGeom>
          <a:solidFill>
            <a:srgbClr val="16183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8366760" y="5449824"/>
            <a:ext cx="1737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5C842"/>
                </a:solidFill>
              </a:rPr>
              <a:t>$18M+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0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0"/>
            <a:ext cx="12188952" cy="64008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280160"/>
            <a:ext cx="109728" cy="4114800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5C842"/>
                </a:solidFill>
              </a:rPr>
              <a:t>Competitive Landscape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005840"/>
            <a:ext cx="10881360" cy="27432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188720"/>
            <a:ext cx="1645920" cy="457200"/>
          </a:xfrm>
          <a:prstGeom prst="rect">
            <a:avLst/>
          </a:prstGeom>
          <a:solidFill>
            <a:srgbClr val="F5C842"/>
          </a:solidFill>
          <a:ln w="6350">
            <a:solidFill>
              <a:srgbClr val="0B0C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261872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B0C1A"/>
                </a:solidFill>
              </a:rPr>
              <a:t>Platform</a:t>
            </a:r>
          </a:p>
        </p:txBody>
      </p:sp>
      <p:sp>
        <p:nvSpPr>
          <p:cNvPr id="9" name="Rectangle 8"/>
          <p:cNvSpPr/>
          <p:nvPr/>
        </p:nvSpPr>
        <p:spPr>
          <a:xfrm>
            <a:off x="2103120" y="1188720"/>
            <a:ext cx="1371600" cy="457200"/>
          </a:xfrm>
          <a:prstGeom prst="rect">
            <a:avLst/>
          </a:prstGeom>
          <a:solidFill>
            <a:srgbClr val="F5C842"/>
          </a:solidFill>
          <a:ln w="6350">
            <a:solidFill>
              <a:srgbClr val="0B0C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48840" y="1261872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B0C1A"/>
                </a:solidFill>
              </a:rPr>
              <a:t>Short Video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74720" y="1188720"/>
            <a:ext cx="1371600" cy="457200"/>
          </a:xfrm>
          <a:prstGeom prst="rect">
            <a:avLst/>
          </a:prstGeom>
          <a:solidFill>
            <a:srgbClr val="F5C842"/>
          </a:solidFill>
          <a:ln w="6350">
            <a:solidFill>
              <a:srgbClr val="0B0C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20440" y="1261872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B0C1A"/>
                </a:solidFill>
              </a:rPr>
              <a:t>Live Gifting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46320" y="1188720"/>
            <a:ext cx="1371600" cy="457200"/>
          </a:xfrm>
          <a:prstGeom prst="rect">
            <a:avLst/>
          </a:prstGeom>
          <a:solidFill>
            <a:srgbClr val="F5C842"/>
          </a:solidFill>
          <a:ln w="6350">
            <a:solidFill>
              <a:srgbClr val="0B0C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92040" y="1261872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B0C1A"/>
                </a:solidFill>
              </a:rPr>
              <a:t>Podcasting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1188720"/>
            <a:ext cx="1371600" cy="457200"/>
          </a:xfrm>
          <a:prstGeom prst="rect">
            <a:avLst/>
          </a:prstGeom>
          <a:solidFill>
            <a:srgbClr val="F5C842"/>
          </a:solidFill>
          <a:ln w="6350">
            <a:solidFill>
              <a:srgbClr val="0B0C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261872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B0C1A"/>
                </a:solidFill>
              </a:rPr>
              <a:t>Coin Economy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589520" y="1188720"/>
            <a:ext cx="1554480" cy="457200"/>
          </a:xfrm>
          <a:prstGeom prst="rect">
            <a:avLst/>
          </a:prstGeom>
          <a:solidFill>
            <a:srgbClr val="F5C842"/>
          </a:solidFill>
          <a:ln w="6350">
            <a:solidFill>
              <a:srgbClr val="0B0C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35240" y="1261872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B0C1A"/>
                </a:solidFill>
              </a:rPr>
              <a:t>Diaspora Focus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144000" y="1188720"/>
            <a:ext cx="2331720" cy="457200"/>
          </a:xfrm>
          <a:prstGeom prst="rect">
            <a:avLst/>
          </a:prstGeom>
          <a:solidFill>
            <a:srgbClr val="F5C842"/>
          </a:solidFill>
          <a:ln w="6350">
            <a:solidFill>
              <a:srgbClr val="0B0C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89720" y="1261872"/>
            <a:ext cx="2240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B0C1A"/>
                </a:solidFill>
              </a:rPr>
              <a:t>Notes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1645920"/>
            <a:ext cx="1645920" cy="457200"/>
          </a:xfrm>
          <a:prstGeom prst="rect">
            <a:avLst/>
          </a:prstGeom>
          <a:solidFill>
            <a:srgbClr val="16183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1719072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TikTok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103120" y="1645920"/>
            <a:ext cx="1371600" cy="457200"/>
          </a:xfrm>
          <a:prstGeom prst="rect">
            <a:avLst/>
          </a:prstGeom>
          <a:solidFill>
            <a:srgbClr val="16183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148840" y="1719072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7BD4FF"/>
                </a:solidFill>
              </a:rPr>
              <a:t>✓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74720" y="1645920"/>
            <a:ext cx="1371600" cy="457200"/>
          </a:xfrm>
          <a:prstGeom prst="rect">
            <a:avLst/>
          </a:prstGeom>
          <a:solidFill>
            <a:srgbClr val="16183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20440" y="1719072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6B6B"/>
                </a:solidFill>
              </a:rPr>
              <a:t>✗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846320" y="1645920"/>
            <a:ext cx="1371600" cy="457200"/>
          </a:xfrm>
          <a:prstGeom prst="rect">
            <a:avLst/>
          </a:prstGeom>
          <a:solidFill>
            <a:srgbClr val="16183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92040" y="1719072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6B6B"/>
                </a:solidFill>
              </a:rPr>
              <a:t>✗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17920" y="1645920"/>
            <a:ext cx="1371600" cy="457200"/>
          </a:xfrm>
          <a:prstGeom prst="rect">
            <a:avLst/>
          </a:prstGeom>
          <a:solidFill>
            <a:srgbClr val="16183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63640" y="1719072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6B6B"/>
                </a:solidFill>
              </a:rPr>
              <a:t>✗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589520" y="1645920"/>
            <a:ext cx="1554480" cy="457200"/>
          </a:xfrm>
          <a:prstGeom prst="rect">
            <a:avLst/>
          </a:prstGeom>
          <a:solidFill>
            <a:srgbClr val="16183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35240" y="1719072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6B6B"/>
                </a:solidFill>
              </a:rPr>
              <a:t>✗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144000" y="1645920"/>
            <a:ext cx="2331720" cy="457200"/>
          </a:xfrm>
          <a:prstGeom prst="rect">
            <a:avLst/>
          </a:prstGeom>
          <a:solidFill>
            <a:srgbClr val="16183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89720" y="1719072"/>
            <a:ext cx="2240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US ban risk, Chinese-owned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2103120"/>
            <a:ext cx="1645920" cy="457200"/>
          </a:xfrm>
          <a:prstGeom prst="rect">
            <a:avLst/>
          </a:prstGeom>
          <a:solidFill>
            <a:srgbClr val="1A1C38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" y="2176272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Instagram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103120" y="2103120"/>
            <a:ext cx="1371600" cy="457200"/>
          </a:xfrm>
          <a:prstGeom prst="rect">
            <a:avLst/>
          </a:prstGeom>
          <a:solidFill>
            <a:srgbClr val="1A1C38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148840" y="2176272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7BD4FF"/>
                </a:solidFill>
              </a:rPr>
              <a:t>✓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474720" y="2103120"/>
            <a:ext cx="1371600" cy="457200"/>
          </a:xfrm>
          <a:prstGeom prst="rect">
            <a:avLst/>
          </a:prstGeom>
          <a:solidFill>
            <a:srgbClr val="1A1C38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520440" y="2176272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6B6B"/>
                </a:solidFill>
              </a:rPr>
              <a:t>✗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846320" y="2103120"/>
            <a:ext cx="1371600" cy="457200"/>
          </a:xfrm>
          <a:prstGeom prst="rect">
            <a:avLst/>
          </a:prstGeom>
          <a:solidFill>
            <a:srgbClr val="1A1C38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892040" y="2176272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6B6B"/>
                </a:solidFill>
              </a:rPr>
              <a:t>✗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217920" y="2103120"/>
            <a:ext cx="1371600" cy="457200"/>
          </a:xfrm>
          <a:prstGeom prst="rect">
            <a:avLst/>
          </a:prstGeom>
          <a:solidFill>
            <a:srgbClr val="1A1C38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263640" y="2176272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Partial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589520" y="2103120"/>
            <a:ext cx="1554480" cy="457200"/>
          </a:xfrm>
          <a:prstGeom prst="rect">
            <a:avLst/>
          </a:prstGeom>
          <a:solidFill>
            <a:srgbClr val="1A1C38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635240" y="2176272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6B6B"/>
                </a:solidFill>
              </a:rPr>
              <a:t>✗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144000" y="2103120"/>
            <a:ext cx="2331720" cy="457200"/>
          </a:xfrm>
          <a:prstGeom prst="rect">
            <a:avLst/>
          </a:prstGeom>
          <a:solidFill>
            <a:srgbClr val="1A1C38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189720" y="2176272"/>
            <a:ext cx="2240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No coins, weak creator pay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57200" y="2560320"/>
            <a:ext cx="1645920" cy="457200"/>
          </a:xfrm>
          <a:prstGeom prst="rect">
            <a:avLst/>
          </a:prstGeom>
          <a:solidFill>
            <a:srgbClr val="16183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02920" y="2633472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YouTube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103120" y="2560320"/>
            <a:ext cx="1371600" cy="457200"/>
          </a:xfrm>
          <a:prstGeom prst="rect">
            <a:avLst/>
          </a:prstGeom>
          <a:solidFill>
            <a:srgbClr val="16183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148840" y="2633472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7BD4FF"/>
                </a:solidFill>
              </a:rPr>
              <a:t>✓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474720" y="2560320"/>
            <a:ext cx="1371600" cy="457200"/>
          </a:xfrm>
          <a:prstGeom prst="rect">
            <a:avLst/>
          </a:prstGeom>
          <a:solidFill>
            <a:srgbClr val="16183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520440" y="2633472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7BD4FF"/>
                </a:solidFill>
              </a:rPr>
              <a:t>✓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846320" y="2560320"/>
            <a:ext cx="1371600" cy="457200"/>
          </a:xfrm>
          <a:prstGeom prst="rect">
            <a:avLst/>
          </a:prstGeom>
          <a:solidFill>
            <a:srgbClr val="16183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892040" y="2633472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Partial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217920" y="2560320"/>
            <a:ext cx="1371600" cy="457200"/>
          </a:xfrm>
          <a:prstGeom prst="rect">
            <a:avLst/>
          </a:prstGeom>
          <a:solidFill>
            <a:srgbClr val="16183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63640" y="2633472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6B6B"/>
                </a:solidFill>
              </a:rPr>
              <a:t>✗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589520" y="2560320"/>
            <a:ext cx="1554480" cy="457200"/>
          </a:xfrm>
          <a:prstGeom prst="rect">
            <a:avLst/>
          </a:prstGeom>
          <a:solidFill>
            <a:srgbClr val="16183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635240" y="2633472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6B6B"/>
                </a:solidFill>
              </a:rPr>
              <a:t>✗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144000" y="2560320"/>
            <a:ext cx="2331720" cy="457200"/>
          </a:xfrm>
          <a:prstGeom prst="rect">
            <a:avLst/>
          </a:prstGeom>
          <a:solidFill>
            <a:srgbClr val="16183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189720" y="2633472"/>
            <a:ext cx="2240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No short-form gifting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57200" y="3017520"/>
            <a:ext cx="1645920" cy="457200"/>
          </a:xfrm>
          <a:prstGeom prst="rect">
            <a:avLst/>
          </a:prstGeom>
          <a:solidFill>
            <a:srgbClr val="1A1C38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02920" y="3090672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Twitch</a:t>
            </a:r>
          </a:p>
        </p:txBody>
      </p:sp>
      <p:sp>
        <p:nvSpPr>
          <p:cNvPr id="65" name="Rectangle 64"/>
          <p:cNvSpPr/>
          <p:nvPr/>
        </p:nvSpPr>
        <p:spPr>
          <a:xfrm>
            <a:off x="2103120" y="3017520"/>
            <a:ext cx="1371600" cy="457200"/>
          </a:xfrm>
          <a:prstGeom prst="rect">
            <a:avLst/>
          </a:prstGeom>
          <a:solidFill>
            <a:srgbClr val="1A1C38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2148840" y="3090672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6B6B"/>
                </a:solidFill>
              </a:rPr>
              <a:t>✗</a:t>
            </a:r>
          </a:p>
        </p:txBody>
      </p:sp>
      <p:sp>
        <p:nvSpPr>
          <p:cNvPr id="67" name="Rectangle 66"/>
          <p:cNvSpPr/>
          <p:nvPr/>
        </p:nvSpPr>
        <p:spPr>
          <a:xfrm>
            <a:off x="3474720" y="3017520"/>
            <a:ext cx="1371600" cy="457200"/>
          </a:xfrm>
          <a:prstGeom prst="rect">
            <a:avLst/>
          </a:prstGeom>
          <a:solidFill>
            <a:srgbClr val="1A1C38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520440" y="3090672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7BD4FF"/>
                </a:solidFill>
              </a:rPr>
              <a:t>✓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846320" y="3017520"/>
            <a:ext cx="1371600" cy="457200"/>
          </a:xfrm>
          <a:prstGeom prst="rect">
            <a:avLst/>
          </a:prstGeom>
          <a:solidFill>
            <a:srgbClr val="1A1C38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892040" y="3090672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7BD4FF"/>
                </a:solidFill>
              </a:rPr>
              <a:t>✓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217920" y="3017520"/>
            <a:ext cx="1371600" cy="457200"/>
          </a:xfrm>
          <a:prstGeom prst="rect">
            <a:avLst/>
          </a:prstGeom>
          <a:solidFill>
            <a:srgbClr val="1A1C38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263640" y="3090672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6B6B"/>
                </a:solidFill>
              </a:rPr>
              <a:t>✗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589520" y="3017520"/>
            <a:ext cx="1554480" cy="457200"/>
          </a:xfrm>
          <a:prstGeom prst="rect">
            <a:avLst/>
          </a:prstGeom>
          <a:solidFill>
            <a:srgbClr val="1A1C38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635240" y="3090672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6B6B"/>
                </a:solidFill>
              </a:rPr>
              <a:t>✗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144000" y="3017520"/>
            <a:ext cx="2331720" cy="457200"/>
          </a:xfrm>
          <a:prstGeom prst="rect">
            <a:avLst/>
          </a:prstGeom>
          <a:solidFill>
            <a:srgbClr val="1A1C38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189720" y="3090672"/>
            <a:ext cx="2240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Gaming-only, no video feed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57200" y="3474720"/>
            <a:ext cx="1645920" cy="457200"/>
          </a:xfrm>
          <a:prstGeom prst="rect">
            <a:avLst/>
          </a:prstGeom>
          <a:solidFill>
            <a:srgbClr val="16183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502920" y="3547872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Spotify</a:t>
            </a:r>
          </a:p>
        </p:txBody>
      </p:sp>
      <p:sp>
        <p:nvSpPr>
          <p:cNvPr id="79" name="Rectangle 78"/>
          <p:cNvSpPr/>
          <p:nvPr/>
        </p:nvSpPr>
        <p:spPr>
          <a:xfrm>
            <a:off x="2103120" y="3474720"/>
            <a:ext cx="1371600" cy="457200"/>
          </a:xfrm>
          <a:prstGeom prst="rect">
            <a:avLst/>
          </a:prstGeom>
          <a:solidFill>
            <a:srgbClr val="16183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2148840" y="3547872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6B6B"/>
                </a:solidFill>
              </a:rPr>
              <a:t>✗</a:t>
            </a:r>
          </a:p>
        </p:txBody>
      </p:sp>
      <p:sp>
        <p:nvSpPr>
          <p:cNvPr id="81" name="Rectangle 80"/>
          <p:cNvSpPr/>
          <p:nvPr/>
        </p:nvSpPr>
        <p:spPr>
          <a:xfrm>
            <a:off x="3474720" y="3474720"/>
            <a:ext cx="1371600" cy="457200"/>
          </a:xfrm>
          <a:prstGeom prst="rect">
            <a:avLst/>
          </a:prstGeom>
          <a:solidFill>
            <a:srgbClr val="16183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3520440" y="3547872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6B6B"/>
                </a:solidFill>
              </a:rPr>
              <a:t>✗</a:t>
            </a:r>
          </a:p>
        </p:txBody>
      </p:sp>
      <p:sp>
        <p:nvSpPr>
          <p:cNvPr id="83" name="Rectangle 82"/>
          <p:cNvSpPr/>
          <p:nvPr/>
        </p:nvSpPr>
        <p:spPr>
          <a:xfrm>
            <a:off x="4846320" y="3474720"/>
            <a:ext cx="1371600" cy="457200"/>
          </a:xfrm>
          <a:prstGeom prst="rect">
            <a:avLst/>
          </a:prstGeom>
          <a:solidFill>
            <a:srgbClr val="16183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892040" y="3547872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7BD4FF"/>
                </a:solidFill>
              </a:rPr>
              <a:t>✓</a:t>
            </a:r>
          </a:p>
        </p:txBody>
      </p:sp>
      <p:sp>
        <p:nvSpPr>
          <p:cNvPr id="85" name="Rectangle 84"/>
          <p:cNvSpPr/>
          <p:nvPr/>
        </p:nvSpPr>
        <p:spPr>
          <a:xfrm>
            <a:off x="6217920" y="3474720"/>
            <a:ext cx="1371600" cy="457200"/>
          </a:xfrm>
          <a:prstGeom prst="rect">
            <a:avLst/>
          </a:prstGeom>
          <a:solidFill>
            <a:srgbClr val="16183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263640" y="3547872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6B6B"/>
                </a:solidFill>
              </a:rPr>
              <a:t>✗</a:t>
            </a:r>
          </a:p>
        </p:txBody>
      </p:sp>
      <p:sp>
        <p:nvSpPr>
          <p:cNvPr id="87" name="Rectangle 86"/>
          <p:cNvSpPr/>
          <p:nvPr/>
        </p:nvSpPr>
        <p:spPr>
          <a:xfrm>
            <a:off x="7589520" y="3474720"/>
            <a:ext cx="1554480" cy="457200"/>
          </a:xfrm>
          <a:prstGeom prst="rect">
            <a:avLst/>
          </a:prstGeom>
          <a:solidFill>
            <a:srgbClr val="16183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7635240" y="3547872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6B6B"/>
                </a:solidFill>
              </a:rPr>
              <a:t>✗</a:t>
            </a:r>
          </a:p>
        </p:txBody>
      </p:sp>
      <p:sp>
        <p:nvSpPr>
          <p:cNvPr id="89" name="Rectangle 88"/>
          <p:cNvSpPr/>
          <p:nvPr/>
        </p:nvSpPr>
        <p:spPr>
          <a:xfrm>
            <a:off x="9144000" y="3474720"/>
            <a:ext cx="2331720" cy="457200"/>
          </a:xfrm>
          <a:prstGeom prst="rect">
            <a:avLst/>
          </a:prstGeom>
          <a:solidFill>
            <a:srgbClr val="16183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9189720" y="3547872"/>
            <a:ext cx="2240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Audio only, no social layer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57200" y="3931920"/>
            <a:ext cx="1645920" cy="457200"/>
          </a:xfrm>
          <a:prstGeom prst="rect">
            <a:avLst/>
          </a:prstGeom>
          <a:solidFill>
            <a:srgbClr val="10181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02920" y="4005072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C842"/>
                </a:solidFill>
              </a:rPr>
              <a:t>Sachi Stream</a:t>
            </a:r>
          </a:p>
        </p:txBody>
      </p:sp>
      <p:sp>
        <p:nvSpPr>
          <p:cNvPr id="93" name="Rectangle 92"/>
          <p:cNvSpPr/>
          <p:nvPr/>
        </p:nvSpPr>
        <p:spPr>
          <a:xfrm>
            <a:off x="2103120" y="3931920"/>
            <a:ext cx="1371600" cy="457200"/>
          </a:xfrm>
          <a:prstGeom prst="rect">
            <a:avLst/>
          </a:prstGeom>
          <a:solidFill>
            <a:srgbClr val="10181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2148840" y="4005072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5C842"/>
                </a:solidFill>
              </a:rPr>
              <a:t>✓</a:t>
            </a:r>
          </a:p>
        </p:txBody>
      </p:sp>
      <p:sp>
        <p:nvSpPr>
          <p:cNvPr id="95" name="Rectangle 94"/>
          <p:cNvSpPr/>
          <p:nvPr/>
        </p:nvSpPr>
        <p:spPr>
          <a:xfrm>
            <a:off x="3474720" y="3931920"/>
            <a:ext cx="1371600" cy="457200"/>
          </a:xfrm>
          <a:prstGeom prst="rect">
            <a:avLst/>
          </a:prstGeom>
          <a:solidFill>
            <a:srgbClr val="10181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3520440" y="4005072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5C842"/>
                </a:solidFill>
              </a:rPr>
              <a:t>✓</a:t>
            </a:r>
          </a:p>
        </p:txBody>
      </p:sp>
      <p:sp>
        <p:nvSpPr>
          <p:cNvPr id="97" name="Rectangle 96"/>
          <p:cNvSpPr/>
          <p:nvPr/>
        </p:nvSpPr>
        <p:spPr>
          <a:xfrm>
            <a:off x="4846320" y="3931920"/>
            <a:ext cx="1371600" cy="457200"/>
          </a:xfrm>
          <a:prstGeom prst="rect">
            <a:avLst/>
          </a:prstGeom>
          <a:solidFill>
            <a:srgbClr val="10181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4892040" y="4005072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5C842"/>
                </a:solidFill>
              </a:rPr>
              <a:t>✓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217920" y="3931920"/>
            <a:ext cx="1371600" cy="457200"/>
          </a:xfrm>
          <a:prstGeom prst="rect">
            <a:avLst/>
          </a:prstGeom>
          <a:solidFill>
            <a:srgbClr val="10181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263640" y="4005072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5C842"/>
                </a:solidFill>
              </a:rPr>
              <a:t>✓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7589520" y="3931920"/>
            <a:ext cx="1554480" cy="457200"/>
          </a:xfrm>
          <a:prstGeom prst="rect">
            <a:avLst/>
          </a:prstGeom>
          <a:solidFill>
            <a:srgbClr val="10181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7635240" y="4005072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5C842"/>
                </a:solidFill>
              </a:rPr>
              <a:t>✓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9144000" y="3931920"/>
            <a:ext cx="2331720" cy="457200"/>
          </a:xfrm>
          <a:prstGeom prst="rect">
            <a:avLst/>
          </a:prstGeom>
          <a:solidFill>
            <a:srgbClr val="101810"/>
          </a:solidFill>
          <a:ln w="6350">
            <a:solidFill>
              <a:srgbClr val="3032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9189720" y="4005072"/>
            <a:ext cx="2240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5C842"/>
                </a:solidFill>
              </a:rPr>
              <a:t>Full stack — only platform
with all 5 features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0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0"/>
            <a:ext cx="12188952" cy="64008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280160"/>
            <a:ext cx="109728" cy="4114800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5C842"/>
                </a:solidFill>
              </a:rPr>
              <a:t>Founding Team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005840"/>
            <a:ext cx="10881360" cy="27432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280160"/>
            <a:ext cx="3520440" cy="4480560"/>
          </a:xfrm>
          <a:prstGeom prst="rect">
            <a:avLst/>
          </a:prstGeom>
          <a:solidFill>
            <a:srgbClr val="161830"/>
          </a:solidFill>
          <a:ln w="19050">
            <a:solidFill>
              <a:srgbClr val="F5C8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965960" y="1417320"/>
            <a:ext cx="868680" cy="868680"/>
          </a:xfrm>
          <a:prstGeom prst="ellipse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57400" y="1554480"/>
            <a:ext cx="685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B0C1A"/>
                </a:solidFill>
              </a:rPr>
              <a:t>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423160"/>
            <a:ext cx="3246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5C842"/>
                </a:solidFill>
              </a:rPr>
              <a:t>Dhananjaya (Jay) Gunaratne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834640"/>
            <a:ext cx="3246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CCCCCC"/>
                </a:solidFill>
              </a:rPr>
              <a:t>Founder &amp; CEO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246120"/>
            <a:ext cx="32461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F0F0"/>
                </a:solidFill>
              </a:rPr>
              <a:t>21+ years Senior Infrastructure Project Manager
Nokia, MPLS, NERC-CIP, SCADA, data center, telecom
PSEG Long Island — $10M+ infrastructure programs
Founder, LDNA Consulting LLC
Architect of Sachi Stream platform vision and strategy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34840" y="1280160"/>
            <a:ext cx="3520440" cy="4480560"/>
          </a:xfrm>
          <a:prstGeom prst="rect">
            <a:avLst/>
          </a:prstGeom>
          <a:solidFill>
            <a:srgbClr val="161830"/>
          </a:solidFill>
          <a:ln w="1905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760720" y="1417320"/>
            <a:ext cx="868680" cy="868680"/>
          </a:xfrm>
          <a:prstGeom prst="ellipse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52160" y="1554480"/>
            <a:ext cx="685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B0C1A"/>
                </a:solidFill>
              </a:rPr>
              <a:t>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2423160"/>
            <a:ext cx="3246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6B6B"/>
                </a:solidFill>
              </a:rPr>
              <a:t>Aanjinie Gunaratne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834640"/>
            <a:ext cx="3246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CCCCCC"/>
                </a:solidFill>
              </a:rPr>
              <a:t>Head of Creator &amp; Community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3246120"/>
            <a:ext cx="32461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F0F0"/>
                </a:solidFill>
              </a:rPr>
              <a:t>Platform creator and founding community lead
Sachi content strategy and creator culture
User experience design and community onboarding
Brand identity and diaspora community engagement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0" y="1280160"/>
            <a:ext cx="3520440" cy="4480560"/>
          </a:xfrm>
          <a:prstGeom prst="rect">
            <a:avLst/>
          </a:prstGeom>
          <a:solidFill>
            <a:srgbClr val="161830"/>
          </a:solidFill>
          <a:ln w="19050">
            <a:solidFill>
              <a:srgbClr val="7B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555480" y="1417320"/>
            <a:ext cx="868680" cy="868680"/>
          </a:xfrm>
          <a:prstGeom prst="ellipse">
            <a:avLst/>
          </a:prstGeom>
          <a:solidFill>
            <a:srgbClr val="7B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46920" y="1554480"/>
            <a:ext cx="685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B0C1A"/>
                </a:solidFill>
              </a:rPr>
              <a:t>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6760" y="2423160"/>
            <a:ext cx="3246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7BD4FF"/>
                </a:solidFill>
              </a:rPr>
              <a:t>Colombo Engineering Director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66760" y="2834640"/>
            <a:ext cx="3246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CCCCCC"/>
                </a:solidFill>
              </a:rPr>
              <a:t>VP Engineering (To Be Hired)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66760" y="3246120"/>
            <a:ext cx="32461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F0F0"/>
                </a:solidFill>
              </a:rPr>
              <a:t>Target: Senior full-stack engineering leader
Based in Colombo, Sri Lanka
Will manage 10–15 developer team
Responsible for platform migration and scaling
Recruitment underway — Q3 2026 target start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0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309360"/>
            <a:ext cx="12188952" cy="64008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1280160"/>
            <a:ext cx="109728" cy="4114800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7432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5C842"/>
                </a:solidFill>
              </a:rPr>
              <a:t>The Ask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005840"/>
            <a:ext cx="10881360" cy="27432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1887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400" b="1" i="0">
                <a:solidFill>
                  <a:srgbClr val="F5C842"/>
                </a:solidFill>
              </a:rPr>
              <a:t>$5,000,000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10312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CCCCCC"/>
                </a:solidFill>
              </a:rPr>
              <a:t>Seed Round  ·  LDNA Consulting LLC  ·  May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651760"/>
            <a:ext cx="10881360" cy="27432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926080"/>
            <a:ext cx="3520440" cy="3246120"/>
          </a:xfrm>
          <a:prstGeom prst="rect">
            <a:avLst/>
          </a:prstGeom>
          <a:solidFill>
            <a:srgbClr val="161830"/>
          </a:solidFill>
          <a:ln w="19050">
            <a:solidFill>
              <a:srgbClr val="F5C8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3017520"/>
            <a:ext cx="3246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C842"/>
                </a:solidFill>
              </a:rPr>
              <a:t>What We're Offering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520440"/>
            <a:ext cx="3246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Equity stake — percentage TBD in negotiation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977639"/>
            <a:ext cx="3246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Board observer seat available at $1M+ commitment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434840"/>
            <a:ext cx="3246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Series A right of first refusal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892040"/>
            <a:ext cx="3246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Quarterly financial reporting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349240"/>
            <a:ext cx="3246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Direct access to founding team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434840" y="2926080"/>
            <a:ext cx="3520440" cy="3246120"/>
          </a:xfrm>
          <a:prstGeom prst="rect">
            <a:avLst/>
          </a:prstGeom>
          <a:solidFill>
            <a:srgbClr val="161830"/>
          </a:solidFill>
          <a:ln w="1905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0" y="3017520"/>
            <a:ext cx="3246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6B6B"/>
                </a:solidFill>
              </a:rPr>
              <a:t>What We'll Deliver in 18 Months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3520440"/>
            <a:ext cx="3246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iOS + Android app live on both stores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3977639"/>
            <a:ext cx="3246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Colombo engineering team operational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4434840"/>
            <a:ext cx="3246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150,000+ MAU target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4892040"/>
            <a:ext cx="3246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Bare metal infrastructure Phase 1 online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5349240"/>
            <a:ext cx="3246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$1M+ ARR run rate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0" y="2926080"/>
            <a:ext cx="3520440" cy="3246120"/>
          </a:xfrm>
          <a:prstGeom prst="rect">
            <a:avLst/>
          </a:prstGeom>
          <a:solidFill>
            <a:srgbClr val="161830"/>
          </a:solidFill>
          <a:ln w="19050">
            <a:solidFill>
              <a:srgbClr val="7B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66760" y="3017520"/>
            <a:ext cx="3246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7BD4FF"/>
                </a:solidFill>
              </a:rPr>
              <a:t>Path to Series 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66760" y="3520440"/>
            <a:ext cx="3246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Series A target: $10–15M at 250K+ MAU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66760" y="3977639"/>
            <a:ext cx="3246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Expected timing: 18–24 months post-seed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66760" y="4434840"/>
            <a:ext cx="3246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Target valuation: $40–60M pre-money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66760" y="4892040"/>
            <a:ext cx="3246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Lead investor for Series A being identified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66760" y="5349240"/>
            <a:ext cx="3246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F0F0"/>
                </a:solidFill>
              </a:rPr>
              <a:t>· Secondary markets: South Asia, Pacific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1005840"/>
            <a:ext cx="12188952" cy="5852160"/>
          </a:xfrm>
          <a:prstGeom prst="rect">
            <a:avLst/>
          </a:prstGeom>
          <a:solidFill>
            <a:srgbClr val="0B0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7240" y="1143000"/>
            <a:ext cx="105156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 i="0">
                <a:solidFill>
                  <a:srgbClr val="F5C842"/>
                </a:solidFill>
              </a:rPr>
              <a:t>0,000,000  Total Raise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20116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CCCCCC"/>
                </a:solidFill>
              </a:rPr>
              <a:t>Two-Round Structure  ·  LDNA Consulting LLC  ·  2026–2027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77240" y="2514600"/>
            <a:ext cx="10515600" cy="27432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94360" y="2697480"/>
            <a:ext cx="3611880" cy="3749039"/>
          </a:xfrm>
          <a:prstGeom prst="rect">
            <a:avLst/>
          </a:prstGeom>
          <a:solidFill>
            <a:srgbClr val="161830"/>
          </a:solidFill>
          <a:ln w="22860">
            <a:solidFill>
              <a:srgbClr val="F5C8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520" y="2788920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5C842"/>
                </a:solidFill>
              </a:rPr>
              <a:t>ROUND 1 — SEED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520" y="3172968"/>
            <a:ext cx="33375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,000,000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520" y="3593592"/>
            <a:ext cx="3337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CC"/>
                </a:solidFill>
              </a:rPr>
              <a:t>Timing: Q2–Q3 2026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31520" y="3904488"/>
            <a:ext cx="3291840" cy="18288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31520" y="4023360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F0F0"/>
                </a:solidFill>
              </a:rPr>
              <a:t>· Platform iOS + Android launch (App Store + Google Play)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1520" y="4407408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F0F0"/>
                </a:solidFill>
              </a:rPr>
              <a:t>· Colombo engineering team: 10–15 developers hired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520" y="4791456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F0F0"/>
                </a:solidFill>
              </a:rPr>
              <a:t>· Bare metal infrastructure Phase 1 — Colombo facility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31520" y="5175504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F0F0"/>
                </a:solidFill>
              </a:rPr>
              <a:t>· Marketing &amp; creator acquisition — 10,000 MAU target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" y="5559552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F0F0"/>
                </a:solidFill>
              </a:rPr>
              <a:t>· Equity offered: TBD in negotiation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1520" y="5943600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F0F0"/>
                </a:solidFill>
              </a:rPr>
              <a:t>· Board observer seat at M+ commitment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434840" y="2697480"/>
            <a:ext cx="3611880" cy="3749039"/>
          </a:xfrm>
          <a:prstGeom prst="rect">
            <a:avLst/>
          </a:prstGeom>
          <a:solidFill>
            <a:srgbClr val="161830"/>
          </a:solidFill>
          <a:ln w="22860">
            <a:solidFill>
              <a:srgbClr val="FF6B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572000" y="2788920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6B6B"/>
                </a:solidFill>
              </a:rPr>
              <a:t>ROUND 2 — SERIES 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0" y="3172968"/>
            <a:ext cx="33375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,000,000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0" y="3593592"/>
            <a:ext cx="3337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CC"/>
                </a:solidFill>
              </a:rPr>
              <a:t>Timing: 18–24 months post-Seed (2027–2028)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0" y="3904488"/>
            <a:ext cx="3291840" cy="18288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572000" y="4023360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F0F0"/>
                </a:solidFill>
              </a:rPr>
              <a:t>· Scale to 250,000–500,000 MAU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0" y="4407408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F0F0"/>
                </a:solidFill>
              </a:rPr>
              <a:t>· Bare metal infrastructure Phase 2 — full data center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0" y="4791456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F0F0"/>
                </a:solidFill>
              </a:rPr>
              <a:t>· Regional expansion: South Asia, Pacific, Middle East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0" y="5175504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F0F0"/>
                </a:solidFill>
              </a:rPr>
              <a:t>· Creator fund launch: M/year to top creators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572000" y="5559552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F0F0"/>
                </a:solidFill>
              </a:rPr>
              <a:t>· Pre-money valuation target: 0–60M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572000" y="5943600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F0F0"/>
                </a:solidFill>
              </a:rPr>
              <a:t>· Trigger: M+ ARR run rate achieved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275320" y="2697480"/>
            <a:ext cx="3611880" cy="3749039"/>
          </a:xfrm>
          <a:prstGeom prst="rect">
            <a:avLst/>
          </a:prstGeom>
          <a:solidFill>
            <a:srgbClr val="161830"/>
          </a:solidFill>
          <a:ln w="22860">
            <a:solidFill>
              <a:srgbClr val="7B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412480" y="2788920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7BD4FF"/>
                </a:solidFill>
              </a:rPr>
              <a:t>PATH TO 2M ARR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412480" y="3172968"/>
            <a:ext cx="33375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Year 5 Target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412480" y="3593592"/>
            <a:ext cx="3337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CCCCC"/>
                </a:solidFill>
              </a:rPr>
              <a:t>By 2030 — 3M MAU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412480" y="3904488"/>
            <a:ext cx="3291840" cy="18288"/>
          </a:xfrm>
          <a:prstGeom prst="rect">
            <a:avLst/>
          </a:prstGeom>
          <a:solidFill>
            <a:srgbClr val="7B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412480" y="4023360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F0F0"/>
                </a:solidFill>
              </a:rPr>
              <a:t>· Gifting revenue: 8.8M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412480" y="4407408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F0F0"/>
                </a:solidFill>
              </a:rPr>
              <a:t>· Subscriptions: .2M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412480" y="4791456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F0F0"/>
                </a:solidFill>
              </a:rPr>
              <a:t>· Advertising: .0M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412480" y="5175504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F0F0"/>
                </a:solidFill>
              </a:rPr>
              <a:t>· EBITDA margin: 72%+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412480" y="5559552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F0F0"/>
                </a:solidFill>
              </a:rPr>
              <a:t>· Series B / strategic acquisition potential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412480" y="5943600"/>
            <a:ext cx="3337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0F0F0"/>
                </a:solidFill>
              </a:rPr>
              <a:t>· IPO or exit evaluation at 5M MAU milestone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B0C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45720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812280"/>
            <a:ext cx="12188952" cy="45720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5C842"/>
                </a:solidFill>
              </a:rPr>
              <a:t>Let's Build the Future
of Creator Culture Together.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3383280"/>
            <a:ext cx="10881360" cy="27432"/>
          </a:xfrm>
          <a:prstGeom prst="rect">
            <a:avLst/>
          </a:prstGeom>
          <a:solidFill>
            <a:srgbClr val="FF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3611880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Dhananjaya (Jay) Gunaratne
Founder &amp; CEO, LDNA Consulting LLC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34340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CCCCCC"/>
                </a:solidFill>
              </a:rPr>
              <a:t>jaygnz27@gmail.com  ·  908-255-2195  ·  sachistream.com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75488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CCCCCC"/>
                </a:solidFill>
              </a:rPr>
              <a:t>New Providence, NJ 07974  ·  LDNA Consulting LLC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5303520"/>
            <a:ext cx="10881360" cy="27432"/>
          </a:xfrm>
          <a:prstGeom prst="rect">
            <a:avLst/>
          </a:prstGeom>
          <a:solidFill>
            <a:srgbClr val="F5C8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5486400"/>
            <a:ext cx="10515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1">
                <a:solidFill>
                  <a:srgbClr val="F5C842"/>
                </a:solidFill>
              </a:rPr>
              <a:t>"Sachi — happiness, good fortune, and bliss.
We're building the platform where creators thrive."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