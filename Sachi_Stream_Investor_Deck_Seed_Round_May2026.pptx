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71" r:id="rId22"/>
    <p:sldId id="259" r:id="rId10"/>
    <p:sldId id="260" r:id="rId11"/>
    <p:sldId id="261" r:id="rId12"/>
    <p:sldId id="262" r:id="rId13"/>
    <p:sldId id="263" r:id="rId14"/>
    <p:sldId id="272" r:id="rId23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4.xml"/><Relationship Id="rId23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0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5C842"/>
                </a:solidFill>
              </a:rPr>
              <a:t>SACHI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Creator Economy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546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Series A Investment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49039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6B"/>
                </a:solidFill>
              </a:rPr>
              <a:t>$5,000,000 Seed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LDNA Consulting LLC  ·  sachistream.com  ·  May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5943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Confidential
Not for Distribution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39"/>
            <a:ext cx="8229600" cy="64008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6B"/>
                </a:solidFill>
              </a:rPr>
              <a:t>M Seed Round  ·  M Series A  ·  0M Total Raise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1440"/>
            <a:ext cx="777240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The 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A global short-video and live creator platform built for the next generation of digital storytellers — with monetization, community, and cultural authenticity at its core.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842"/>
                </a:solidFill>
              </a:rPr>
              <a:t>What We're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🎬  Short-form video, photo carousels, and text posts — multi-format creator toolkit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125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🎙️  Live podcasting and creator rooms with real-time gifting and audience 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9359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💰  In-app coin economy — creators earn directly from fans, no algorithm dependency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9592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🌍  Location-aware content, cultural hashtag discovery, and global reach from day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9826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🛡️  AI-powered content moderation with mature content gating and NERC-compliant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Sachi (幸) — Japanese for happiness, good fortune, and bliss.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The Problem &amp;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TikTok faces US ban risk — 170M US users need a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4825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Creators earn pennies from ad revenue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05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Algorithm-driven platforms suppress organic reach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2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No platform combines video + podcasting + live gifting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5526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Cultural and diaspora communities underserved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842"/>
                </a:solidFill>
              </a:rPr>
              <a:t>THE OPPORTUNITY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$300B+ global creator economy by 2030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4825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1B+ short-video viewers globally, growing 20% YoY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505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Live streaming gifts market: $20B+ and accelerating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852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Diaspora communities — 280M people, underserved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5526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First-mover: no platform combines all these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188720"/>
            <a:ext cx="27432" cy="4114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842"/>
                </a:solidFill>
              </a:rPr>
              <a:t>"The window to build the next dominant social platform is open right now. Sachi Stream is ready."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5603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Truth First — AI Detection &amp; Content Integrity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1556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In a world flooded with deepfakes, AI-generated content, and misinformation — Sachi Stream is built on a foundation of authenticity and truth.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874519"/>
            <a:ext cx="3566160" cy="4160520"/>
          </a:xfrm>
          <a:prstGeom prst="rect">
            <a:avLst/>
          </a:prstGeom>
          <a:solidFill>
            <a:srgbClr val="161830"/>
          </a:solidFill>
          <a:ln w="2286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99339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🤖  AI-Generated
Content Detection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2633472"/>
            <a:ext cx="3246120" cy="228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724912"/>
            <a:ext cx="3246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Every video uploaded is automatically scanned for AI-generated or deepfake content using built-in detection models.
Flagged content is held for review before going live — fake videos never reach the feed unseen.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874519"/>
            <a:ext cx="3566160" cy="4160520"/>
          </a:xfrm>
          <a:prstGeom prst="rect">
            <a:avLst/>
          </a:prstGeom>
          <a:solidFill>
            <a:srgbClr val="161830"/>
          </a:solidFill>
          <a:ln w="228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199339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842"/>
                </a:solidFill>
              </a:rPr>
              <a:t>✅  Verified Real
Content Badge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9432" y="2633472"/>
            <a:ext cx="3246120" cy="2286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2724912"/>
            <a:ext cx="3246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Creators who pass verification receive a "Real Content" badge on their posts — giving audiences confidence that what they watch is genuine, human-created content.
Authenticity is a competitive advantage on Sachi.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874519"/>
            <a:ext cx="3566160" cy="4160520"/>
          </a:xfrm>
          <a:prstGeom prst="rect">
            <a:avLst/>
          </a:prstGeom>
          <a:solidFill>
            <a:srgbClr val="161830"/>
          </a:solidFill>
          <a:ln w="22860">
            <a:solidFill>
              <a:srgbClr val="A0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1993392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0FFB0"/>
                </a:solidFill>
              </a:rPr>
              <a:t>🛡️  Truth-First
Platform Policy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94192" y="2633472"/>
            <a:ext cx="3246120" cy="22860"/>
          </a:xfrm>
          <a:prstGeom prst="rect">
            <a:avLst/>
          </a:prstGeom>
          <a:solidFill>
            <a:srgbClr val="A0F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724912"/>
            <a:ext cx="3246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Zero tolerance for synthetic misinformation, manipulated media, and coordinated fake accounts.
Sachi's moderation stack combines AI flagging, human review, and community reporting — three layers of protection.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842"/>
                </a:solidFill>
              </a:rPr>
              <a:t>"While other platforms profit from viral misinformation, Sachi Stream is where creators and audiences come for the truth."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What We've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Fully functional platform — live at sachistream.com — built and operational as of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🎬 Multi-Format Feed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Short video, photo carousels, text posts
AI moderation + mature content gating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🎙️ Live Podcasting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Creator rooms, RTMP streaming via
Cloudflare, OBS-ready, episode archive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🔴 Live Rooms &amp; Gifting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Real-time comments, guest requests,
WebRTC co-hosting, coin-powered gifts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💬 Social 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Follow, DM, notifications, bookmarks,
blocking, threaded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🪙 Coin Economy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5 coin packages, Stripe payments,
host earns 80% of gift face value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🛡️ Moderation &amp; Safety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AI detection, report queue, MOD panel,
user block, mature content toggles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Traction &amp;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</a:rPr>
              <a:t>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Platform Status
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Backend Functions
Deployed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50+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Founding Creator
Spots Open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Closed Beta
Google Play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Sachi Trademark
USPTO Filed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697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842"/>
                </a:solidFill>
              </a:rPr>
              <a:t>Key Milestones Achieved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1546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Q4 2025  →  Platform concept, brand identity, and technical architecture finalized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5844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Q1 2026  →  Full-stack MVP built: video, live, podcasting, coins, DMs, notifications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1421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Android APK submitted to Google Play closed testing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4398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Sachi™ word mark filed with USPTO (Class 41 — Entertainment Services)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7375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Founding Creator program launched — 50 curated beta creators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03519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May 2026  →  Platform live at sachistream.com — open beta imminent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Business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842"/>
                </a:solidFill>
              </a:rPr>
              <a:t>🪙  Virtual Gifting &amp; Coins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745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Users purchase coin bundles ($1.99–$99.99)
Hosts receive 80% of gift value
Platform retains 20% — primary near-term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📺  Creator Subscriptions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8745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Monthly fan subscriptions to creator channels
Revenue split: 85% creator / 15% Sachi
Launching Q3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74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BD4FF"/>
                </a:solidFill>
              </a:rPr>
              <a:t>🎯  Native Advertising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886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Brand integrations and sponsored content
Targeted by interest, location, and hashtag
Launching at 100K MAU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A0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474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0FFB0"/>
                </a:solidFill>
              </a:rPr>
              <a:t>🎙️  Podcast Premium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86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Premium episode access and listener subscriptions
Podcast hosting-as-a-service for creators
Launching Q4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577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5C842"/>
                </a:solidFill>
              </a:rPr>
              <a:t>Unit Economics: At 1M MAU — projected $4-8M ARR from gifting alone at 2% conversion rate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Growth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PHASE 1  ·  0–6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50 Founding Creators — seed authentic content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Diaspora community targeting: South Asian, Sri Lankan, Pacific Islander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App Store launch (iOS + Android) — Q3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Influencer partnerships and creator referral 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10,000 MAU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PHASE 2  ·  6–18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Brand ambassador program in 5 key markets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Podcast network partnerships — syndication 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Targeted paid acquisition: TikTok refugees, diaspora communities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API open for third-party integrations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250,000 MAU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PHASE 3  ·  18–36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Bare metal infrastructure deployment — Colombo, Sri Lanka HQ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Regional expansion: South Asia, Pacific, Middle East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Creator fund launch: $1M/year distributed to top creators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Series B raise based on MAU and revenue traction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1M–5M MAU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Global Operations: Colombo, Sri Lanka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A dedicated engineering and operations hub in Colombo, Sri Lanka — combining world-class talent, cost efficiency, and 24/7 global coverage.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842"/>
                </a:solidFill>
              </a:rPr>
              <a:t>ENGINEERING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10–15 full-stack developers (Phase 1 hire)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7977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Specialties: React, Node.js, mobile (iOS/Android)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Dedicated QA and DevOps engineers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Led by a senior engineering director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867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Average Sri Lankan developer cost: $15–25K/yr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  vs. $120–180K US equivalent — 6–8x cost advantage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RESPONSIBILITIES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Platform cleanup, optimization, and bug resolution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7977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Feature development and roadmap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1821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Migration management for infrastructure scaling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584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24/7 customer service and platform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8678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App Store compliance and release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Future: on-site bare metal infrastructure 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03520"/>
            <a:ext cx="10881360" cy="1143000"/>
          </a:xfrm>
          <a:prstGeom prst="rect">
            <a:avLst/>
          </a:prstGeom>
          <a:solidFill>
            <a:srgbClr val="161830"/>
          </a:solidFill>
          <a:ln w="1270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76672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🏢  Phase 3 Infrastructure: Bare metal servers, switches, and networking equipment co-located at the Colombo facility. Eliminates ongoing cloud costs, provides full data sovereignty, and supports 5M+ user scale. Estimated infrastructure buildout: $2.5M of the $5M raise.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256032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Global Operations: Colombo, Sri Lanka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1115568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A dedicated corporate engineering headquarters in Colombo — combining world-class talent, cost efficiency, and 24/7 global platform coverage.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1828800"/>
            <a:ext cx="3566160" cy="416052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19202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🏢  CORPORATE OFFICE SPACE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2350008"/>
            <a:ext cx="3291840" cy="2286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245059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Leased corporate office — Colombo 3 or Colombo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29260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Prime tech district: Racecourse Ave / Flower Road area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40156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Capacity: 20–30 workstations + meeting rooms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3877056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High-speed fiber internet: 1Gbps+ dedicated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352544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Server room / infrastructure cage on-premises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82803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Estimated lease: $2,000–$4,000 USD/month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30352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Setup + fit-out budget: $80,000–$120,000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34840" y="1828800"/>
            <a:ext cx="3566160" cy="416052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0" y="19202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👨‍💻  ENGINEERING TEAM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2350008"/>
            <a:ext cx="3291840" cy="228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245059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10–15 full-stack developers (Phase 1 hire)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29260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React, Node.js, mobile (iOS + Android)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40156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Dedicated QA, DevOps, and security engineers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877056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Led by VP Engineering (hiring Q3 2026)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352544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Avg Sri Lankan developer: $15,000–$25,000/yr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482803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vs. $120,000–$180,000 US equivalent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530352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6–8x cost advantage vs. U.S. hiring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1828800"/>
            <a:ext cx="3566160" cy="416052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66760" y="19202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⚙️  RESPONSIBILITIES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66760" y="2350008"/>
            <a:ext cx="3291840" cy="22860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66760" y="245059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Platform cleanup, optimization, bug resolution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60" y="292608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Feature development and roadmap execution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66760" y="3401568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Infrastructure migration and scaling ops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66760" y="3877056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24/7 customer service and monitoring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66760" y="4352544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App Store compliance + release management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66760" y="4828032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Bare metal infrastructure operations (Phase 3)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66760" y="5303520"/>
            <a:ext cx="3291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· LDNA Consulting LLC wholly-owned subsidiary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6053328"/>
            <a:ext cx="10881360" cy="621792"/>
          </a:xfrm>
          <a:prstGeom prst="rect">
            <a:avLst/>
          </a:prstGeom>
          <a:solidFill>
            <a:srgbClr val="161830"/>
          </a:solidFill>
          <a:ln w="1270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2960" y="610819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📍  Colombo is ranked among Asia's top emerging tech hubs — home to 15,000+ software engineers, strong English proficiency, and a rapidly growing startup ecosystem. Office space and talent cost 80% less than equivalent U.S. operations.</a:t>
            </a:r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" cy="4572000"/>
          </a:xfrm>
          <a:prstGeom prst="rect">
            <a:avLst/>
          </a:prstGeom>
          <a:solidFill>
            <a:srgbClr val="00D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Why Colombo, Sri Lanka?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987552"/>
            <a:ext cx="10881360" cy="27432"/>
          </a:xfrm>
          <a:prstGeom prst="rect">
            <a:avLst/>
          </a:prstGeom>
          <a:solidFill>
            <a:srgbClr val="00D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078992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A strategic, cost-efficient headquarters for Sachi Stream's global engineering operations.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600200"/>
            <a:ext cx="2377440" cy="3840480"/>
          </a:xfrm>
          <a:prstGeom prst="roundRect">
            <a:avLst/>
          </a:prstGeom>
          <a:solidFill>
            <a:srgbClr val="1A3A2A"/>
          </a:solidFill>
          <a:ln w="19050">
            <a:solidFill>
              <a:srgbClr val="00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4592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i="0">
                <a:solidFill>
                  <a:srgbClr val="FFFFFF"/>
                </a:solidFill>
              </a:rPr>
              <a:t>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860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D4C8"/>
                </a:solidFill>
              </a:rPr>
              <a:t>SRI LANKA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697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COLOMBO</a:t>
            </a:r>
          </a:p>
        </p:txBody>
      </p:sp>
      <p:sp>
        <p:nvSpPr>
          <p:cNvPr id="14" name="Oval 13"/>
          <p:cNvSpPr/>
          <p:nvPr/>
        </p:nvSpPr>
        <p:spPr>
          <a:xfrm>
            <a:off x="1600200" y="3090672"/>
            <a:ext cx="201168" cy="201168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83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South Asia
Indian Ocean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977639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C842"/>
                </a:solidFill>
              </a:rPr>
              <a:t>15,000+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42519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Software Engineers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4165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C842"/>
                </a:solidFill>
              </a:rPr>
              <a:t>~8K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690872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Avg Dev Salary/yr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85546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5C842"/>
                </a:solidFill>
              </a:rPr>
              <a:t>80%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5129784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CCCCC"/>
                </a:solidFill>
              </a:rPr>
              <a:t>Cost vs. U.S.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1188720"/>
            <a:ext cx="3931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C8"/>
                </a:solidFill>
              </a:rPr>
              <a:t>🏆  WHY SRI LANKA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1572768"/>
            <a:ext cx="3931920" cy="22860"/>
          </a:xfrm>
          <a:prstGeom prst="rect">
            <a:avLst/>
          </a:prstGeom>
          <a:solidFill>
            <a:srgbClr val="00D4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17190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💰  80% Lower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1993392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Developer salaries avg 5K–5K/yr
vs. 20K–80K in the U.S. — same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2468879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🎓  High-Quality Talent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2743199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15,000+ software engineers in Colombo
Strong university pipeline: University of Moratuwa
ranked #1 engineering school in South Asia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3218687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🌐  English Proficiency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46120" y="3493007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Sri Lanka ranks among top English-speaking
nations in South Asia — seamless communication
with U.S. headquarters and investors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396849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⏰  Time Zone Advantage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46120" y="4242816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UTC+5:30 — overlaps with U.S. East Coast
mornings, enabling real-time collaboration
during key business hours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6120" y="4718304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📈  Emerging Tech Hub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46120" y="4992624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Colombo named South Asia's next tech hub
423+ active startups, growing IT export sector
Government incentives for tech companies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546811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✈️  Strategic Location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46120" y="5742432"/>
            <a:ext cx="3931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0F0F0"/>
                </a:solidFill>
              </a:rPr>
              <a:t>Gateway between South Asia, Southeast Asia
and the Middle East — perfect for regional
expansion in Sachi's growth markets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1188720"/>
            <a:ext cx="4480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🏢  OFFICE LOCATIONS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60920" y="1572768"/>
            <a:ext cx="4480560" cy="2286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60920" y="1719072"/>
            <a:ext cx="4480560" cy="1024128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79792" y="17830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📍 World Trade Centre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9792" y="2039112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Colombo 1 — Echelon Square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79792" y="224942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0"/>
                </a:solidFill>
              </a:rPr>
              <a:t>Grade A corporate tower. Regus serviced
offices from 00/mo. Prestige address.
Ideal for investor meetings &amp; HQ branding.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20" y="2834639"/>
            <a:ext cx="4480560" cy="1024128"/>
          </a:xfrm>
          <a:prstGeom prst="rect">
            <a:avLst/>
          </a:prstGeom>
          <a:solidFill>
            <a:srgbClr val="161830"/>
          </a:solidFill>
          <a:ln w="1524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79792" y="289864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</a:rPr>
              <a:t>📍 Colombo 3 — Colpetty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79792" y="3154679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Prime Tech &amp; Business District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3364991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0"/>
                </a:solidFill>
              </a:rPr>
              <a:t>Grade A space: .70/sqft/mo.
2,000 sqft fits 15–20 desks = ~,400/mo.
High-speed fiber, parking, 24/7 access.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60920" y="3950208"/>
            <a:ext cx="4480560" cy="1024128"/>
          </a:xfrm>
          <a:prstGeom prst="rect">
            <a:avLst/>
          </a:prstGeom>
          <a:solidFill>
            <a:srgbClr val="161830"/>
          </a:solidFill>
          <a:ln w="15240">
            <a:solidFill>
              <a:srgbClr val="00D4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79792" y="401421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C8"/>
                </a:solidFill>
              </a:rPr>
              <a:t>📍 Colombo 7 — Cinnamon Gardens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79792" y="4270248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Premium Residential-Commercial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79792" y="44805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0"/>
                </a:solidFill>
              </a:rPr>
              <a:t>Boutique corporate offices ,000–,000/mo.
Quiet, secure, prestigious neighborhood.
Popular with tech firms and embassies.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20" y="5065776"/>
            <a:ext cx="4480560" cy="1024128"/>
          </a:xfrm>
          <a:prstGeom prst="rect">
            <a:avLst/>
          </a:prstGeom>
          <a:solidFill>
            <a:srgbClr val="161830"/>
          </a:solidFill>
          <a:ln w="15240">
            <a:solidFill>
              <a:srgbClr val="A0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79792" y="512978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FFB0"/>
                </a:solidFill>
              </a:rPr>
              <a:t>📍 Rajagiriya / Nawala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79792" y="5385816"/>
            <a:ext cx="4206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CCCCC"/>
                </a:solidFill>
              </a:rPr>
              <a:t>Emerging Tech Corridor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79792" y="559612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0F0F0"/>
                </a:solidFill>
              </a:rPr>
              <a:t>Most affordable: ,200–,500/mo.
Close to University of Moratuwa talent.
Growing startup ecosystem nearby.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989320"/>
            <a:ext cx="10881360" cy="50292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6035040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💡  Recommendation: Colombo 3 (Colpetty) — Grade A office, ~2,000 sqft, fits 15–20 developers, ,400/month. Estimated 24-month lease + fit-out = 00,000 (included in Use of Funds).</a:t>
            </a:r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Technology &amp; Infrastructure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Enterprise-grade stack — built to scale from 1,000 to 50 million users without architectural rewrites.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CURRENT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Frontend: React 18, Vite, Tailwind CSS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Backend: Deno / TypeScript serverless functions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Database: Base44 managed (PostgreSQL)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Video CDN: Cloudflare 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Live Streaming: Cloudflare Calls SFU (WebRTC)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Payments: Stripe (coins + gifting)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Auth: Google OAuth + email/OTP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Hosting: Vercel (web) + Base44 (API)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Mobile: React Native (Android + iOS)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SCALE INFRASTRUCTURE
(Phase 3 — Colombo)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Bare metal servers: Dell PowerEdge / HPE ProLiant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Networking: Cisco / Juniper switching fabric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Video ingest: On-prem RTMP + HLS origin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CDN: Hybrid cloud + bare metal egress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Database: Distributed PostgreSQL cluster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Storage: Ceph or MinIO object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Security: Hardware firewall, DDoS mitigation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Monitoring: Prometheus + Grafana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Compliance: GDPR, CCPA, data sovereignty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59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COMPETITIVE ADVANTAGES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9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AI moderation built-in — no third-party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59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Coin economy fully proprietary — no rev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59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Live + podcasting + video in ONE app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9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Location-aware content discovery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59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Diaspora-first content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59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US-owned, US-incorporated (LDNA Consulting LLC)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59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Trademark protected brand — USPTO filed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9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No TikTok ban risk — fully independent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Sri Lanka ops = 6–8x US cost efficiency</a:t>
            </a:r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" cy="43891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87552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Use of Funds  -  USD 5M Seed Round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481328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481328"/>
            <a:ext cx="2424988" cy="237744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0700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Infrastructure &amp; Bare Metal (Colombo)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20700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1,700,000   (34%)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22529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Bare metal servers, switches, networking hardware
Colombo co-location facility + redundancy build-out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157984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157984"/>
            <a:ext cx="1711756" cy="237744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188366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6B6B"/>
                </a:solidFill>
              </a:rPr>
              <a:t>Engineering Team  -  Colombo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836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1,200,000   (24%)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190195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10-15 developers, QA, DevOps - 24 months
VP Engineering + team leads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834640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2834640"/>
            <a:ext cx="427939" cy="237744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25603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BD4FF"/>
                </a:solidFill>
              </a:rPr>
              <a:t>Colombo Corporate Office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560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300,000     (6%)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2440" y="2578608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Office lease (Colombo 3/7), fit-out, workstations
High-speed fiber, server room, 24-month commitment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511296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3511296"/>
            <a:ext cx="713232" cy="237744"/>
          </a:xfrm>
          <a:prstGeom prst="rect">
            <a:avLst/>
          </a:prstGeom>
          <a:solidFill>
            <a:srgbClr val="A0F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3236976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0FFB0"/>
                </a:solidFill>
              </a:rPr>
              <a:t>U.S. Operations Office (New Jersey)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2369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500,000     (10%)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3255264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NJ headquarters - executive office space
U.S. legal entity ops, compliance, admin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187952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4187952"/>
            <a:ext cx="855878" cy="237744"/>
          </a:xfrm>
          <a:prstGeom prst="rect">
            <a:avLst/>
          </a:prstGeom>
          <a:solidFill>
            <a:srgbClr val="FFA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39136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A050"/>
                </a:solidFill>
              </a:rPr>
              <a:t>Platform Development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391363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600,000     (12%)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92440" y="393192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iOS/Android App Store launch, feature roadmap
API development, third-party integrations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864608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4864608"/>
            <a:ext cx="641908" cy="237744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45902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700"/>
                </a:solidFill>
              </a:rPr>
              <a:t>Marketing &amp; User Acquisition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90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450,000     (9%)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4608576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Creator fund seed, influencer partnerships
Paid acquisition, diaspora community outreach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5541264"/>
            <a:ext cx="7132320" cy="237744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" y="5541264"/>
            <a:ext cx="356616" cy="237744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" y="5266944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CCCCC"/>
                </a:solidFill>
              </a:rPr>
              <a:t>Operations &amp; Legal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12080" y="526694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  USD 250,000     (5%)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2440" y="528523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Trademark filings, legal counsel, accounting
Compliance, insurance, executive admin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60350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TOTAL:  USD 5,000,000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Financial Projections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Conservative model — based on 2% coin conversion rate and 0.5% paid subscriber rate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210312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1 (2026)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2 (2027)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3 (2028)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5 (2030)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020824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08483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MAU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150,000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500,000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3,000,000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441448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505456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Coin Purchasers (2%)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03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60,000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2862072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2926080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Avg Spend / Purchaser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346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803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$25/mo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634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$30/mo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922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$35/mo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10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667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$40/mo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3282696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346704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Gifting Revenue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46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803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$60K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091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$1.1M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379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$4.2M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$28.8M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3703320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3767328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Subscription Revenue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346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803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634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091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$180K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379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$900K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10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$7.2M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4123944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418795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Ad Revenue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8346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8803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091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$75K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922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79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$500K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10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67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$6.0M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4544568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4608576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TOTAL REVENUE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803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$60K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634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091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$1.35M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922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379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$5.6M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10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667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$42M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0080" y="4965192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5800" y="5029200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Gross Margin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346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803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6634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091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55%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4922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379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210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667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72%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0080" y="5385816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5800" y="5449824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EBITDA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8346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8803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($3.2M)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6634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091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($1.8M)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4922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379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$0.8M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10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3667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$18M+</a:t>
            </a:r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Competitive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64592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61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Short Video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Live Gifting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Podcasting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Coin Economy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188720"/>
            <a:ext cx="155448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12618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Diaspora Focus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188720"/>
            <a:ext cx="233172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2618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Notes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6459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17190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TikTok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16459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7190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16459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9720" y="17190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US ban risk, Chinese-owned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103120"/>
            <a:ext cx="16459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1762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Instagram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031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488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04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463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Partial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89520" y="2103120"/>
            <a:ext cx="155448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35240" y="21762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2103120"/>
            <a:ext cx="23317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89720" y="21762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No coins, weak creator pay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5603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26334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YouTube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488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204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Partial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636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5603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26334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0" y="25603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89720" y="26334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No short-form gifting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3017520"/>
            <a:ext cx="16459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0906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Twitch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031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488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747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204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920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636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89520" y="3017520"/>
            <a:ext cx="155448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35240" y="30906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0" y="3017520"/>
            <a:ext cx="23317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89720" y="30906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Gaming-only, no video feed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34747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3547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Spotify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1488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4747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204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463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920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89520" y="34747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35240" y="35478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0" y="34747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189720" y="35478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Audio only, no social layer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3931920"/>
            <a:ext cx="164592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2920" y="40050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Sachi Stream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1031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488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747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5204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463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920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636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89520" y="3931920"/>
            <a:ext cx="155448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35240" y="40050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0" y="3931920"/>
            <a:ext cx="233172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189720" y="40050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Full stack — only platform
with all 5 features</a:t>
            </a:r>
          </a:p>
        </p:txBody>
      </p:sp>
      <p:pic>
        <p:nvPicPr>
          <p:cNvPr id="105" name="Picture 10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Founding Team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91440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078992"/>
            <a:ext cx="6949440" cy="5349240"/>
          </a:xfrm>
          <a:prstGeom prst="rect">
            <a:avLst/>
          </a:prstGeom>
          <a:solidFill>
            <a:srgbClr val="161830"/>
          </a:solidFill>
          <a:ln w="228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jay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34440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880360" y="13258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842"/>
                </a:solidFill>
              </a:rPr>
              <a:t>Dhananjaya (Jay) Gunaratne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7556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Founder &amp; CEO  |  LDNA Consulting LLC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1031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New Providence, NJ  |  jaygnz27@gmail.com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360" y="2450592"/>
            <a:ext cx="4480560" cy="2286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606040"/>
            <a:ext cx="6583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21+ years Senior Infrastructure Project Manager — Nokia, MPLS, NERC-CIP, SCADA, telecom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081528"/>
            <a:ext cx="6583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Architect of Sachi Stream: platform vision, product design, strategy &amp; brand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557016"/>
            <a:ext cx="6583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Creator community strategy, content culture, and diaspora community engagement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4032504"/>
            <a:ext cx="6583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User experience design, creator onboarding, and founding creator 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507992"/>
            <a:ext cx="6583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Manages all technical, operational, and creative aspects of the platform solo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983480"/>
            <a:ext cx="6583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0F0F0"/>
                </a:solidFill>
              </a:rPr>
              <a:t>-  PSEG Long Island  -  USD 10M+ infrastructure programs  |  Founder, LDNA Consulting LLC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26679" y="1078992"/>
            <a:ext cx="4160520" cy="534924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15400" y="1325880"/>
            <a:ext cx="1280160" cy="1280160"/>
          </a:xfrm>
          <a:prstGeom prst="ellipse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400" y="1572768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B0C1A"/>
                </a:solidFill>
              </a:rPr>
              <a:t>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2788920"/>
            <a:ext cx="3840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D4FF"/>
                </a:solidFill>
              </a:rPr>
              <a:t>Colombo Engineering Director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3200400"/>
            <a:ext cx="3840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VP Engineering  (To Be Hired)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547872"/>
            <a:ext cx="3840480" cy="22860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37033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Senior full-stack engineering leader based in Colombo, Sri Lanka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1605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Manages 10-15 developer team across platform, mobile &amp; infrastructure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46177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Platform migration, scaling, and bare metal buildout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50749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App Store compliance, release management, 24/7 ops oversight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5532120"/>
            <a:ext cx="3840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Recruitment underway  -  Q3 2026 target start date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" cy="43891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987552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1168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The 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0972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 i="0">
                <a:solidFill>
                  <a:srgbClr val="F5C842"/>
                </a:solidFill>
              </a:rPr>
              <a:t>USD 10,000,000  Total Raise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9659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CCCC"/>
                </a:solidFill>
              </a:rPr>
              <a:t>Two-Round Structure  |  LDNA Consulting LLC  |  2026-2027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423160"/>
            <a:ext cx="1051560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2606040"/>
            <a:ext cx="3611880" cy="3840480"/>
          </a:xfrm>
          <a:prstGeom prst="rect">
            <a:avLst/>
          </a:prstGeom>
          <a:solidFill>
            <a:srgbClr val="161830"/>
          </a:solidFill>
          <a:ln w="228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697480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ROUND 1  -  SEED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63240"/>
            <a:ext cx="3337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USD 5,000,000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021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Timing: Q2-Q3 2026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794760"/>
            <a:ext cx="3291840" cy="1828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2277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Platform iOS + Android launch (App Store + Google Play)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0682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Colombo engineering team: 10-15 developers hired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90871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Bare metal infrastructure Phase 1  -  Colombo facility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74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Marketing &amp; creator acquisition  -  10,000 MAU 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4589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Equity offered: TBD in negotiation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4301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Board observer seat at USD 1M+ commitment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34840" y="2606040"/>
            <a:ext cx="3611880" cy="3840480"/>
          </a:xfrm>
          <a:prstGeom prst="rect">
            <a:avLst/>
          </a:prstGeom>
          <a:solidFill>
            <a:srgbClr val="161830"/>
          </a:solidFill>
          <a:ln w="2286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697480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ROUND 2  -  SERIES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063240"/>
            <a:ext cx="3337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USD 5,000,000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5021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Timing: 18-24 months post-Seed (2027-2028)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3794760"/>
            <a:ext cx="3291840" cy="182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92277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Scale to 250,000-500,000 MAU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430682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Bare metal infrastructure Phase 2  -  full data center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4690871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Regional expansion: South Asia, Pacific, Middle East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074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Creator fund launch: USD 1M/year to top creators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54589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Pre-money valuation target: USD 40M-60M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584301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Trigger: USD 1M+ ARR run rate achieved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20" y="2606040"/>
            <a:ext cx="3611880" cy="3840480"/>
          </a:xfrm>
          <a:prstGeom prst="rect">
            <a:avLst/>
          </a:prstGeom>
          <a:solidFill>
            <a:srgbClr val="161830"/>
          </a:solidFill>
          <a:ln w="2286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0" y="2697480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PATH TO USD 42M ARR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3063240"/>
            <a:ext cx="3337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Year 5 Target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35021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By 2030  -  3M MAU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12480" y="3794760"/>
            <a:ext cx="3291840" cy="18288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Gifting revenue: USD 28.8M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Subscriptions: USD 7.2M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4690871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Advertising: USD 6.0M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5074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EBITDA margin: 72%+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54589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Series B / strategic acquisition potential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584301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-  IPO or exit evaluation at 5M MAU milestone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C842"/>
                </a:solidFill>
              </a:rPr>
              <a:t>Let's Build the Future
of Creator Culture Together.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8328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Dhananjaya (Jay) Gunaratne
Founder &amp; CEO, LDNA Consulting LLC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jaygnz27@gmail.com  ·  908-255-2195  ·  sachistream.com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</a:rPr>
              <a:t>New Providence, NJ 07974  ·  LDNA Consulting LLC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30352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5C842"/>
                </a:solidFill>
              </a:rPr>
              <a:t>"Sachi — happiness, good fortune, and bliss.
We're building the platform where creators thrive."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914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