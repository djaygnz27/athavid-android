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71" r:id="rId22"/>
    <p:sldId id="259" r:id="rId10"/>
    <p:sldId id="260" r:id="rId11"/>
    <p:sldId id="261" r:id="rId12"/>
    <p:sldId id="262" r:id="rId13"/>
    <p:sldId id="263" r:id="rId14"/>
    <p:sldId id="272" r:id="rId23"/>
    <p:sldId id="264" r:id="rId15"/>
    <p:sldId id="265" r:id="rId16"/>
    <p:sldId id="266" r:id="rId17"/>
    <p:sldId id="267" r:id="rId18"/>
    <p:sldId id="268" r:id="rId19"/>
    <p:sldId id="269" r:id="rId20"/>
    <p:sldId id="270"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4.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0"/>
            <a:ext cx="3502152" cy="6858000"/>
          </a:xfrm>
          <a:prstGeom prst="rect">
            <a:avLst/>
          </a:prstGeom>
          <a:solidFill>
            <a:srgbClr val="1011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81228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63040"/>
            <a:ext cx="7772400" cy="1005840"/>
          </a:xfrm>
          <a:prstGeom prst="rect">
            <a:avLst/>
          </a:prstGeom>
          <a:noFill/>
        </p:spPr>
        <p:txBody>
          <a:bodyPr wrap="square">
            <a:spAutoFit/>
          </a:bodyPr>
          <a:lstStyle/>
          <a:p>
            <a:pPr algn="l"/>
            <a:r>
              <a:rPr sz="5400" b="1" i="0">
                <a:solidFill>
                  <a:srgbClr val="F5C842"/>
                </a:solidFill>
              </a:rPr>
              <a:t>SACHI STREAM</a:t>
            </a:r>
          </a:p>
        </p:txBody>
      </p:sp>
      <p:sp>
        <p:nvSpPr>
          <p:cNvPr id="7" name="TextBox 6"/>
          <p:cNvSpPr txBox="1"/>
          <p:nvPr/>
        </p:nvSpPr>
        <p:spPr>
          <a:xfrm>
            <a:off x="731520" y="2514600"/>
            <a:ext cx="7772400" cy="548640"/>
          </a:xfrm>
          <a:prstGeom prst="rect">
            <a:avLst/>
          </a:prstGeom>
          <a:noFill/>
        </p:spPr>
        <p:txBody>
          <a:bodyPr wrap="square">
            <a:spAutoFit/>
          </a:bodyPr>
          <a:lstStyle/>
          <a:p>
            <a:pPr algn="l"/>
            <a:r>
              <a:rPr sz="2600" b="0" i="0">
                <a:solidFill>
                  <a:srgbClr val="FFFFFF"/>
                </a:solidFill>
              </a:rPr>
              <a:t>Creator Economy Platform</a:t>
            </a:r>
          </a:p>
        </p:txBody>
      </p:sp>
      <p:sp>
        <p:nvSpPr>
          <p:cNvPr id="8" name="TextBox 7"/>
          <p:cNvSpPr txBox="1"/>
          <p:nvPr/>
        </p:nvSpPr>
        <p:spPr>
          <a:xfrm>
            <a:off x="731520" y="3154680"/>
            <a:ext cx="7772400" cy="457200"/>
          </a:xfrm>
          <a:prstGeom prst="rect">
            <a:avLst/>
          </a:prstGeom>
          <a:noFill/>
        </p:spPr>
        <p:txBody>
          <a:bodyPr wrap="square">
            <a:spAutoFit/>
          </a:bodyPr>
          <a:lstStyle/>
          <a:p>
            <a:pPr algn="l"/>
            <a:r>
              <a:rPr sz="1800" b="0" i="1">
                <a:solidFill>
                  <a:srgbClr val="CCCCCC"/>
                </a:solidFill>
              </a:rPr>
              <a:t>Series A Investment Opportunity</a:t>
            </a:r>
          </a:p>
        </p:txBody>
      </p:sp>
      <p:sp>
        <p:nvSpPr>
          <p:cNvPr id="9" name="Rectangle 8"/>
          <p:cNvSpPr/>
          <p:nvPr/>
        </p:nvSpPr>
        <p:spPr>
          <a:xfrm>
            <a:off x="640080" y="3749039"/>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3931920"/>
            <a:ext cx="7315200" cy="502920"/>
          </a:xfrm>
          <a:prstGeom prst="rect">
            <a:avLst/>
          </a:prstGeom>
          <a:noFill/>
        </p:spPr>
        <p:txBody>
          <a:bodyPr wrap="square">
            <a:spAutoFit/>
          </a:bodyPr>
          <a:lstStyle/>
          <a:p>
            <a:pPr algn="l"/>
            <a:r>
              <a:rPr sz="2200" b="1" i="0">
                <a:solidFill>
                  <a:srgbClr val="FF6B6B"/>
                </a:solidFill>
              </a:rPr>
              <a:t>$5,000,000 Seed Round</a:t>
            </a:r>
          </a:p>
        </p:txBody>
      </p:sp>
      <p:sp>
        <p:nvSpPr>
          <p:cNvPr id="11" name="TextBox 10"/>
          <p:cNvSpPr txBox="1"/>
          <p:nvPr/>
        </p:nvSpPr>
        <p:spPr>
          <a:xfrm>
            <a:off x="731520" y="4617720"/>
            <a:ext cx="8229600" cy="365760"/>
          </a:xfrm>
          <a:prstGeom prst="rect">
            <a:avLst/>
          </a:prstGeom>
          <a:noFill/>
        </p:spPr>
        <p:txBody>
          <a:bodyPr wrap="square">
            <a:spAutoFit/>
          </a:bodyPr>
          <a:lstStyle/>
          <a:p>
            <a:pPr algn="l"/>
            <a:r>
              <a:rPr sz="1300" b="0" i="0">
                <a:solidFill>
                  <a:srgbClr val="CCCCCC"/>
                </a:solidFill>
              </a:rPr>
              <a:t>LDNA Consulting LLC  ·  sachistream.com  ·  May 2026</a:t>
            </a:r>
          </a:p>
        </p:txBody>
      </p:sp>
      <p:sp>
        <p:nvSpPr>
          <p:cNvPr id="12" name="TextBox 11"/>
          <p:cNvSpPr txBox="1"/>
          <p:nvPr/>
        </p:nvSpPr>
        <p:spPr>
          <a:xfrm>
            <a:off x="9144000" y="5943600"/>
            <a:ext cx="2743200" cy="640080"/>
          </a:xfrm>
          <a:prstGeom prst="rect">
            <a:avLst/>
          </a:prstGeom>
          <a:noFill/>
        </p:spPr>
        <p:txBody>
          <a:bodyPr wrap="square">
            <a:spAutoFit/>
          </a:bodyPr>
          <a:lstStyle/>
          <a:p>
            <a:pPr algn="ctr"/>
            <a:r>
              <a:rPr sz="1000" b="0" i="1">
                <a:solidFill>
                  <a:srgbClr val="CCCCCC"/>
                </a:solidFill>
              </a:rPr>
              <a:t>Confidential
Not for Distribution</a:t>
            </a:r>
          </a:p>
        </p:txBody>
      </p:sp>
      <p:sp>
        <p:nvSpPr>
          <p:cNvPr id="13" name="Rectangle 12"/>
          <p:cNvSpPr/>
          <p:nvPr/>
        </p:nvSpPr>
        <p:spPr>
          <a:xfrm>
            <a:off x="640080" y="3749039"/>
            <a:ext cx="8229600" cy="64008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886200"/>
            <a:ext cx="8229600" cy="502920"/>
          </a:xfrm>
          <a:prstGeom prst="rect">
            <a:avLst/>
          </a:prstGeom>
          <a:noFill/>
        </p:spPr>
        <p:txBody>
          <a:bodyPr wrap="square">
            <a:spAutoFit/>
          </a:bodyPr>
          <a:lstStyle/>
          <a:p>
            <a:pPr algn="l"/>
            <a:r>
              <a:rPr sz="2000" b="1" i="0">
                <a:solidFill>
                  <a:srgbClr val="FF6B6B"/>
                </a:solidFill>
              </a:rPr>
              <a:t>M Seed Round  ·  M Series A  ·  0M Total Raise</a:t>
            </a:r>
          </a:p>
        </p:txBody>
      </p:sp>
      <p:pic>
        <p:nvPicPr>
          <p:cNvPr id="15" name="Picture 14" descr="sachi_logo_transparent.png"/>
          <p:cNvPicPr>
            <a:picLocks noChangeAspect="1"/>
          </p:cNvPicPr>
          <p:nvPr/>
        </p:nvPicPr>
        <p:blipFill>
          <a:blip r:embed="rId2"/>
          <a:stretch>
            <a:fillRect/>
          </a:stretch>
        </p:blipFill>
        <p:spPr>
          <a:xfrm>
            <a:off x="9235440" y="274320"/>
            <a:ext cx="1005840" cy="100584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The Vision</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43000"/>
            <a:ext cx="10515600" cy="914400"/>
          </a:xfrm>
          <a:prstGeom prst="rect">
            <a:avLst/>
          </a:prstGeom>
          <a:noFill/>
        </p:spPr>
        <p:txBody>
          <a:bodyPr wrap="square">
            <a:spAutoFit/>
          </a:bodyPr>
          <a:lstStyle/>
          <a:p>
            <a:pPr algn="l"/>
            <a:r>
              <a:rPr sz="2000" b="0" i="0">
                <a:solidFill>
                  <a:srgbClr val="FFFFFF"/>
                </a:solidFill>
              </a:rPr>
              <a:t>A global short-video and live creator platform built for the next generation of digital storytellers — with monetization, community, and cultural authenticity at its core.</a:t>
            </a:r>
          </a:p>
        </p:txBody>
      </p:sp>
      <p:sp>
        <p:nvSpPr>
          <p:cNvPr id="8" name="TextBox 7"/>
          <p:cNvSpPr txBox="1"/>
          <p:nvPr/>
        </p:nvSpPr>
        <p:spPr>
          <a:xfrm>
            <a:off x="777240" y="2286000"/>
            <a:ext cx="9144000" cy="411480"/>
          </a:xfrm>
          <a:prstGeom prst="rect">
            <a:avLst/>
          </a:prstGeom>
          <a:noFill/>
        </p:spPr>
        <p:txBody>
          <a:bodyPr wrap="square">
            <a:spAutoFit/>
          </a:bodyPr>
          <a:lstStyle/>
          <a:p>
            <a:pPr algn="l"/>
            <a:r>
              <a:rPr sz="1700" b="1" i="0">
                <a:solidFill>
                  <a:srgbClr val="F5C842"/>
                </a:solidFill>
              </a:rPr>
              <a:t>What We're Building</a:t>
            </a:r>
          </a:p>
        </p:txBody>
      </p:sp>
      <p:sp>
        <p:nvSpPr>
          <p:cNvPr id="9" name="TextBox 8"/>
          <p:cNvSpPr txBox="1"/>
          <p:nvPr/>
        </p:nvSpPr>
        <p:spPr>
          <a:xfrm>
            <a:off x="777240" y="2788920"/>
            <a:ext cx="10789920" cy="365760"/>
          </a:xfrm>
          <a:prstGeom prst="rect">
            <a:avLst/>
          </a:prstGeom>
          <a:noFill/>
        </p:spPr>
        <p:txBody>
          <a:bodyPr wrap="square">
            <a:spAutoFit/>
          </a:bodyPr>
          <a:lstStyle/>
          <a:p>
            <a:pPr algn="l"/>
            <a:r>
              <a:rPr sz="1500" b="0" i="0">
                <a:solidFill>
                  <a:srgbClr val="FFFFFF"/>
                </a:solidFill>
              </a:rPr>
              <a:t>🎬  Short-form video, photo carousels, and text posts — multi-format creator toolkit</a:t>
            </a:r>
          </a:p>
        </p:txBody>
      </p:sp>
      <p:sp>
        <p:nvSpPr>
          <p:cNvPr id="10" name="TextBox 9"/>
          <p:cNvSpPr txBox="1"/>
          <p:nvPr/>
        </p:nvSpPr>
        <p:spPr>
          <a:xfrm>
            <a:off x="777240" y="3191256"/>
            <a:ext cx="10789920" cy="365760"/>
          </a:xfrm>
          <a:prstGeom prst="rect">
            <a:avLst/>
          </a:prstGeom>
          <a:noFill/>
        </p:spPr>
        <p:txBody>
          <a:bodyPr wrap="square">
            <a:spAutoFit/>
          </a:bodyPr>
          <a:lstStyle/>
          <a:p>
            <a:pPr algn="l"/>
            <a:r>
              <a:rPr sz="1500" b="0" i="0">
                <a:solidFill>
                  <a:srgbClr val="FFFFFF"/>
                </a:solidFill>
              </a:rPr>
              <a:t>🎙️  Live podcasting and creator rooms with real-time gifting and audience engagement</a:t>
            </a:r>
          </a:p>
        </p:txBody>
      </p:sp>
      <p:sp>
        <p:nvSpPr>
          <p:cNvPr id="11" name="TextBox 10"/>
          <p:cNvSpPr txBox="1"/>
          <p:nvPr/>
        </p:nvSpPr>
        <p:spPr>
          <a:xfrm>
            <a:off x="777240" y="3593592"/>
            <a:ext cx="10789920" cy="365760"/>
          </a:xfrm>
          <a:prstGeom prst="rect">
            <a:avLst/>
          </a:prstGeom>
          <a:noFill/>
        </p:spPr>
        <p:txBody>
          <a:bodyPr wrap="square">
            <a:spAutoFit/>
          </a:bodyPr>
          <a:lstStyle/>
          <a:p>
            <a:pPr algn="l"/>
            <a:r>
              <a:rPr sz="1500" b="0" i="0">
                <a:solidFill>
                  <a:srgbClr val="FFFFFF"/>
                </a:solidFill>
              </a:rPr>
              <a:t>💰  In-app coin economy — creators earn directly from fans, no algorithm dependency</a:t>
            </a:r>
          </a:p>
        </p:txBody>
      </p:sp>
      <p:sp>
        <p:nvSpPr>
          <p:cNvPr id="12" name="TextBox 11"/>
          <p:cNvSpPr txBox="1"/>
          <p:nvPr/>
        </p:nvSpPr>
        <p:spPr>
          <a:xfrm>
            <a:off x="777240" y="3995928"/>
            <a:ext cx="10789920" cy="365760"/>
          </a:xfrm>
          <a:prstGeom prst="rect">
            <a:avLst/>
          </a:prstGeom>
          <a:noFill/>
        </p:spPr>
        <p:txBody>
          <a:bodyPr wrap="square">
            <a:spAutoFit/>
          </a:bodyPr>
          <a:lstStyle/>
          <a:p>
            <a:pPr algn="l"/>
            <a:r>
              <a:rPr sz="1500" b="0" i="0">
                <a:solidFill>
                  <a:srgbClr val="FFFFFF"/>
                </a:solidFill>
              </a:rPr>
              <a:t>🌍  Location-aware content, cultural hashtag discovery, and global reach from day one</a:t>
            </a:r>
          </a:p>
        </p:txBody>
      </p:sp>
      <p:sp>
        <p:nvSpPr>
          <p:cNvPr id="13" name="TextBox 12"/>
          <p:cNvSpPr txBox="1"/>
          <p:nvPr/>
        </p:nvSpPr>
        <p:spPr>
          <a:xfrm>
            <a:off x="777240" y="4398264"/>
            <a:ext cx="10789920" cy="365760"/>
          </a:xfrm>
          <a:prstGeom prst="rect">
            <a:avLst/>
          </a:prstGeom>
          <a:noFill/>
        </p:spPr>
        <p:txBody>
          <a:bodyPr wrap="square">
            <a:spAutoFit/>
          </a:bodyPr>
          <a:lstStyle/>
          <a:p>
            <a:pPr algn="l"/>
            <a:r>
              <a:rPr sz="1500" b="0" i="0">
                <a:solidFill>
                  <a:srgbClr val="FFFFFF"/>
                </a:solidFill>
              </a:rPr>
              <a:t>🛡️  AI-powered content moderation with mature content gating and NERC-compliant infrastructure</a:t>
            </a:r>
          </a:p>
        </p:txBody>
      </p:sp>
      <p:sp>
        <p:nvSpPr>
          <p:cNvPr id="14" name="TextBox 13"/>
          <p:cNvSpPr txBox="1"/>
          <p:nvPr/>
        </p:nvSpPr>
        <p:spPr>
          <a:xfrm>
            <a:off x="777240" y="5577840"/>
            <a:ext cx="10058400" cy="411480"/>
          </a:xfrm>
          <a:prstGeom prst="rect">
            <a:avLst/>
          </a:prstGeom>
          <a:noFill/>
        </p:spPr>
        <p:txBody>
          <a:bodyPr wrap="square">
            <a:spAutoFit/>
          </a:bodyPr>
          <a:lstStyle/>
          <a:p>
            <a:pPr algn="l"/>
            <a:r>
              <a:rPr sz="1300" b="0" i="1">
                <a:solidFill>
                  <a:srgbClr val="CCCCCC"/>
                </a:solidFill>
              </a:rPr>
              <a:t>Sachi (幸) — Japanese for happiness, good fortune, and bliss.</a:t>
            </a:r>
          </a:p>
        </p:txBody>
      </p:sp>
      <p:pic>
        <p:nvPicPr>
          <p:cNvPr id="15" name="Picture 14"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10058400" cy="594360"/>
          </a:xfrm>
          <a:prstGeom prst="rect">
            <a:avLst/>
          </a:prstGeom>
          <a:noFill/>
        </p:spPr>
        <p:txBody>
          <a:bodyPr wrap="square">
            <a:spAutoFit/>
          </a:bodyPr>
          <a:lstStyle/>
          <a:p>
            <a:pPr algn="l"/>
            <a:r>
              <a:rPr sz="3600" b="1" i="0">
                <a:solidFill>
                  <a:srgbClr val="F5C842"/>
                </a:solidFill>
              </a:rPr>
              <a:t>The Problem &amp; Opportunity</a:t>
            </a:r>
          </a:p>
        </p:txBody>
      </p:sp>
      <p:sp>
        <p:nvSpPr>
          <p:cNvPr id="6" name="Rectangle 5"/>
          <p:cNvSpPr/>
          <p:nvPr/>
        </p:nvSpPr>
        <p:spPr>
          <a:xfrm>
            <a:off x="640080" y="1005840"/>
            <a:ext cx="10881360" cy="2743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88720"/>
            <a:ext cx="5029200" cy="365760"/>
          </a:xfrm>
          <a:prstGeom prst="rect">
            <a:avLst/>
          </a:prstGeom>
          <a:noFill/>
        </p:spPr>
        <p:txBody>
          <a:bodyPr wrap="square">
            <a:spAutoFit/>
          </a:bodyPr>
          <a:lstStyle/>
          <a:p>
            <a:pPr algn="l"/>
            <a:r>
              <a:rPr sz="1600" b="1" i="0">
                <a:solidFill>
                  <a:srgbClr val="FF6B6B"/>
                </a:solidFill>
              </a:rPr>
              <a:t>THE PROBLEM</a:t>
            </a:r>
          </a:p>
        </p:txBody>
      </p:sp>
      <p:sp>
        <p:nvSpPr>
          <p:cNvPr id="8" name="TextBox 7"/>
          <p:cNvSpPr txBox="1"/>
          <p:nvPr/>
        </p:nvSpPr>
        <p:spPr>
          <a:xfrm>
            <a:off x="777240" y="1645920"/>
            <a:ext cx="5303520" cy="365760"/>
          </a:xfrm>
          <a:prstGeom prst="rect">
            <a:avLst/>
          </a:prstGeom>
          <a:noFill/>
        </p:spPr>
        <p:txBody>
          <a:bodyPr wrap="square">
            <a:spAutoFit/>
          </a:bodyPr>
          <a:lstStyle/>
          <a:p>
            <a:pPr algn="l"/>
            <a:r>
              <a:rPr sz="1400" b="0" i="0">
                <a:solidFill>
                  <a:srgbClr val="FFFFFF"/>
                </a:solidFill>
              </a:rPr>
              <a:t>✗  TikTok faces US ban risk — 170M US users need a home</a:t>
            </a:r>
          </a:p>
        </p:txBody>
      </p:sp>
      <p:sp>
        <p:nvSpPr>
          <p:cNvPr id="9" name="TextBox 8"/>
          <p:cNvSpPr txBox="1"/>
          <p:nvPr/>
        </p:nvSpPr>
        <p:spPr>
          <a:xfrm>
            <a:off x="777240" y="2048256"/>
            <a:ext cx="5303520" cy="365760"/>
          </a:xfrm>
          <a:prstGeom prst="rect">
            <a:avLst/>
          </a:prstGeom>
          <a:noFill/>
        </p:spPr>
        <p:txBody>
          <a:bodyPr wrap="square">
            <a:spAutoFit/>
          </a:bodyPr>
          <a:lstStyle/>
          <a:p>
            <a:pPr algn="l"/>
            <a:r>
              <a:rPr sz="1400" b="0" i="0">
                <a:solidFill>
                  <a:srgbClr val="FFFFFF"/>
                </a:solidFill>
              </a:rPr>
              <a:t>✗  Creators earn pennies from ad revenue splits</a:t>
            </a:r>
          </a:p>
        </p:txBody>
      </p:sp>
      <p:sp>
        <p:nvSpPr>
          <p:cNvPr id="10" name="TextBox 9"/>
          <p:cNvSpPr txBox="1"/>
          <p:nvPr/>
        </p:nvSpPr>
        <p:spPr>
          <a:xfrm>
            <a:off x="777240" y="2450592"/>
            <a:ext cx="5303520" cy="365760"/>
          </a:xfrm>
          <a:prstGeom prst="rect">
            <a:avLst/>
          </a:prstGeom>
          <a:noFill/>
        </p:spPr>
        <p:txBody>
          <a:bodyPr wrap="square">
            <a:spAutoFit/>
          </a:bodyPr>
          <a:lstStyle/>
          <a:p>
            <a:pPr algn="l"/>
            <a:r>
              <a:rPr sz="1400" b="0" i="0">
                <a:solidFill>
                  <a:srgbClr val="FFFFFF"/>
                </a:solidFill>
              </a:rPr>
              <a:t>✗  Algorithm-driven platforms suppress organic reach</a:t>
            </a:r>
          </a:p>
        </p:txBody>
      </p:sp>
      <p:sp>
        <p:nvSpPr>
          <p:cNvPr id="11" name="TextBox 10"/>
          <p:cNvSpPr txBox="1"/>
          <p:nvPr/>
        </p:nvSpPr>
        <p:spPr>
          <a:xfrm>
            <a:off x="777240" y="2852928"/>
            <a:ext cx="5303520" cy="365760"/>
          </a:xfrm>
          <a:prstGeom prst="rect">
            <a:avLst/>
          </a:prstGeom>
          <a:noFill/>
        </p:spPr>
        <p:txBody>
          <a:bodyPr wrap="square">
            <a:spAutoFit/>
          </a:bodyPr>
          <a:lstStyle/>
          <a:p>
            <a:pPr algn="l"/>
            <a:r>
              <a:rPr sz="1400" b="0" i="0">
                <a:solidFill>
                  <a:srgbClr val="FFFFFF"/>
                </a:solidFill>
              </a:rPr>
              <a:t>✗  No platform combines video + podcasting + live gifting</a:t>
            </a:r>
          </a:p>
        </p:txBody>
      </p:sp>
      <p:sp>
        <p:nvSpPr>
          <p:cNvPr id="12" name="TextBox 11"/>
          <p:cNvSpPr txBox="1"/>
          <p:nvPr/>
        </p:nvSpPr>
        <p:spPr>
          <a:xfrm>
            <a:off x="777240" y="3255264"/>
            <a:ext cx="5303520" cy="365760"/>
          </a:xfrm>
          <a:prstGeom prst="rect">
            <a:avLst/>
          </a:prstGeom>
          <a:noFill/>
        </p:spPr>
        <p:txBody>
          <a:bodyPr wrap="square">
            <a:spAutoFit/>
          </a:bodyPr>
          <a:lstStyle/>
          <a:p>
            <a:pPr algn="l"/>
            <a:r>
              <a:rPr sz="1400" b="0" i="0">
                <a:solidFill>
                  <a:srgbClr val="FFFFFF"/>
                </a:solidFill>
              </a:rPr>
              <a:t>✗  Cultural and diaspora communities underserved</a:t>
            </a:r>
          </a:p>
        </p:txBody>
      </p:sp>
      <p:sp>
        <p:nvSpPr>
          <p:cNvPr id="13" name="TextBox 12"/>
          <p:cNvSpPr txBox="1"/>
          <p:nvPr/>
        </p:nvSpPr>
        <p:spPr>
          <a:xfrm>
            <a:off x="6583680" y="1188720"/>
            <a:ext cx="5029200" cy="365760"/>
          </a:xfrm>
          <a:prstGeom prst="rect">
            <a:avLst/>
          </a:prstGeom>
          <a:noFill/>
        </p:spPr>
        <p:txBody>
          <a:bodyPr wrap="square">
            <a:spAutoFit/>
          </a:bodyPr>
          <a:lstStyle/>
          <a:p>
            <a:pPr algn="l"/>
            <a:r>
              <a:rPr sz="1600" b="1" i="0">
                <a:solidFill>
                  <a:srgbClr val="F5C842"/>
                </a:solidFill>
              </a:rPr>
              <a:t>THE OPPORTUNITY</a:t>
            </a:r>
          </a:p>
        </p:txBody>
      </p:sp>
      <p:sp>
        <p:nvSpPr>
          <p:cNvPr id="14" name="TextBox 13"/>
          <p:cNvSpPr txBox="1"/>
          <p:nvPr/>
        </p:nvSpPr>
        <p:spPr>
          <a:xfrm>
            <a:off x="6583680" y="1645920"/>
            <a:ext cx="5303520" cy="365760"/>
          </a:xfrm>
          <a:prstGeom prst="rect">
            <a:avLst/>
          </a:prstGeom>
          <a:noFill/>
        </p:spPr>
        <p:txBody>
          <a:bodyPr wrap="square">
            <a:spAutoFit/>
          </a:bodyPr>
          <a:lstStyle/>
          <a:p>
            <a:pPr algn="l"/>
            <a:r>
              <a:rPr sz="1400" b="0" i="0">
                <a:solidFill>
                  <a:srgbClr val="FFFFFF"/>
                </a:solidFill>
              </a:rPr>
              <a:t>✓  $300B+ global creator economy by 2030</a:t>
            </a:r>
          </a:p>
        </p:txBody>
      </p:sp>
      <p:sp>
        <p:nvSpPr>
          <p:cNvPr id="15" name="TextBox 14"/>
          <p:cNvSpPr txBox="1"/>
          <p:nvPr/>
        </p:nvSpPr>
        <p:spPr>
          <a:xfrm>
            <a:off x="6583680" y="2048256"/>
            <a:ext cx="5303520" cy="365760"/>
          </a:xfrm>
          <a:prstGeom prst="rect">
            <a:avLst/>
          </a:prstGeom>
          <a:noFill/>
        </p:spPr>
        <p:txBody>
          <a:bodyPr wrap="square">
            <a:spAutoFit/>
          </a:bodyPr>
          <a:lstStyle/>
          <a:p>
            <a:pPr algn="l"/>
            <a:r>
              <a:rPr sz="1400" b="0" i="0">
                <a:solidFill>
                  <a:srgbClr val="FFFFFF"/>
                </a:solidFill>
              </a:rPr>
              <a:t>✓  1B+ short-video viewers globally, growing 20% YoY</a:t>
            </a:r>
          </a:p>
        </p:txBody>
      </p:sp>
      <p:sp>
        <p:nvSpPr>
          <p:cNvPr id="16" name="TextBox 15"/>
          <p:cNvSpPr txBox="1"/>
          <p:nvPr/>
        </p:nvSpPr>
        <p:spPr>
          <a:xfrm>
            <a:off x="6583680" y="2450592"/>
            <a:ext cx="5303520" cy="365760"/>
          </a:xfrm>
          <a:prstGeom prst="rect">
            <a:avLst/>
          </a:prstGeom>
          <a:noFill/>
        </p:spPr>
        <p:txBody>
          <a:bodyPr wrap="square">
            <a:spAutoFit/>
          </a:bodyPr>
          <a:lstStyle/>
          <a:p>
            <a:pPr algn="l"/>
            <a:r>
              <a:rPr sz="1400" b="0" i="0">
                <a:solidFill>
                  <a:srgbClr val="FFFFFF"/>
                </a:solidFill>
              </a:rPr>
              <a:t>✓  Live streaming gifts market: $20B+ and accelerating</a:t>
            </a:r>
          </a:p>
        </p:txBody>
      </p:sp>
      <p:sp>
        <p:nvSpPr>
          <p:cNvPr id="17" name="TextBox 16"/>
          <p:cNvSpPr txBox="1"/>
          <p:nvPr/>
        </p:nvSpPr>
        <p:spPr>
          <a:xfrm>
            <a:off x="6583680" y="2852928"/>
            <a:ext cx="5303520" cy="365760"/>
          </a:xfrm>
          <a:prstGeom prst="rect">
            <a:avLst/>
          </a:prstGeom>
          <a:noFill/>
        </p:spPr>
        <p:txBody>
          <a:bodyPr wrap="square">
            <a:spAutoFit/>
          </a:bodyPr>
          <a:lstStyle/>
          <a:p>
            <a:pPr algn="l"/>
            <a:r>
              <a:rPr sz="1400" b="0" i="0">
                <a:solidFill>
                  <a:srgbClr val="FFFFFF"/>
                </a:solidFill>
              </a:rPr>
              <a:t>✓  Diaspora communities — 280M people, underserved</a:t>
            </a:r>
          </a:p>
        </p:txBody>
      </p:sp>
      <p:sp>
        <p:nvSpPr>
          <p:cNvPr id="18" name="TextBox 17"/>
          <p:cNvSpPr txBox="1"/>
          <p:nvPr/>
        </p:nvSpPr>
        <p:spPr>
          <a:xfrm>
            <a:off x="6583680" y="3255264"/>
            <a:ext cx="5303520" cy="365760"/>
          </a:xfrm>
          <a:prstGeom prst="rect">
            <a:avLst/>
          </a:prstGeom>
          <a:noFill/>
        </p:spPr>
        <p:txBody>
          <a:bodyPr wrap="square">
            <a:spAutoFit/>
          </a:bodyPr>
          <a:lstStyle/>
          <a:p>
            <a:pPr algn="l"/>
            <a:r>
              <a:rPr sz="1400" b="0" i="0">
                <a:solidFill>
                  <a:srgbClr val="FFFFFF"/>
                </a:solidFill>
              </a:rPr>
              <a:t>✓  First-mover: no platform combines all these features</a:t>
            </a:r>
          </a:p>
        </p:txBody>
      </p:sp>
      <p:sp>
        <p:nvSpPr>
          <p:cNvPr id="19" name="Rectangle 18"/>
          <p:cNvSpPr/>
          <p:nvPr/>
        </p:nvSpPr>
        <p:spPr>
          <a:xfrm>
            <a:off x="6263640" y="1188720"/>
            <a:ext cx="27432" cy="41148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532120"/>
            <a:ext cx="10515600" cy="502920"/>
          </a:xfrm>
          <a:prstGeom prst="rect">
            <a:avLst/>
          </a:prstGeom>
          <a:noFill/>
        </p:spPr>
        <p:txBody>
          <a:bodyPr wrap="square">
            <a:spAutoFit/>
          </a:bodyPr>
          <a:lstStyle/>
          <a:p>
            <a:pPr algn="ctr"/>
            <a:r>
              <a:rPr sz="1400" b="0" i="1">
                <a:solidFill>
                  <a:srgbClr val="F5C842"/>
                </a:solidFill>
              </a:rPr>
              <a:t>"The window to build the next dominant social platform is open right now. Sachi Stream is ready."</a:t>
            </a:r>
          </a:p>
        </p:txBody>
      </p:sp>
      <p:pic>
        <p:nvPicPr>
          <p:cNvPr id="21" name="Picture 20"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1228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09728" cy="41148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6032"/>
            <a:ext cx="10515600" cy="640080"/>
          </a:xfrm>
          <a:prstGeom prst="rect">
            <a:avLst/>
          </a:prstGeom>
          <a:noFill/>
        </p:spPr>
        <p:txBody>
          <a:bodyPr wrap="square">
            <a:spAutoFit/>
          </a:bodyPr>
          <a:lstStyle/>
          <a:p>
            <a:pPr algn="l"/>
            <a:r>
              <a:rPr sz="3400" b="1" i="0">
                <a:solidFill>
                  <a:srgbClr val="F5C842"/>
                </a:solidFill>
              </a:rPr>
              <a:t>Truth First — AI Detection &amp; Content Integrity</a:t>
            </a:r>
          </a:p>
        </p:txBody>
      </p:sp>
      <p:sp>
        <p:nvSpPr>
          <p:cNvPr id="8" name="Rectangle 7"/>
          <p:cNvSpPr/>
          <p:nvPr/>
        </p:nvSpPr>
        <p:spPr>
          <a:xfrm>
            <a:off x="640080" y="1005840"/>
            <a:ext cx="10881360" cy="2743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115568"/>
            <a:ext cx="10515600" cy="594360"/>
          </a:xfrm>
          <a:prstGeom prst="rect">
            <a:avLst/>
          </a:prstGeom>
          <a:noFill/>
        </p:spPr>
        <p:txBody>
          <a:bodyPr wrap="square">
            <a:spAutoFit/>
          </a:bodyPr>
          <a:lstStyle/>
          <a:p>
            <a:pPr algn="l"/>
            <a:r>
              <a:rPr sz="1600" b="0" i="0">
                <a:solidFill>
                  <a:srgbClr val="FFFFFF"/>
                </a:solidFill>
              </a:rPr>
              <a:t>In a world flooded with deepfakes, AI-generated content, and misinformation — Sachi Stream is built on a foundation of authenticity and truth.</a:t>
            </a:r>
          </a:p>
        </p:txBody>
      </p:sp>
      <p:sp>
        <p:nvSpPr>
          <p:cNvPr id="10" name="Rectangle 9"/>
          <p:cNvSpPr/>
          <p:nvPr/>
        </p:nvSpPr>
        <p:spPr>
          <a:xfrm>
            <a:off x="640080" y="1874519"/>
            <a:ext cx="3566160" cy="4160520"/>
          </a:xfrm>
          <a:prstGeom prst="rect">
            <a:avLst/>
          </a:prstGeom>
          <a:solidFill>
            <a:srgbClr val="161830"/>
          </a:solidFill>
          <a:ln w="2286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1993392"/>
            <a:ext cx="3246120" cy="594360"/>
          </a:xfrm>
          <a:prstGeom prst="rect">
            <a:avLst/>
          </a:prstGeom>
          <a:noFill/>
        </p:spPr>
        <p:txBody>
          <a:bodyPr wrap="square">
            <a:spAutoFit/>
          </a:bodyPr>
          <a:lstStyle/>
          <a:p>
            <a:pPr algn="l"/>
            <a:r>
              <a:rPr sz="1500" b="1" i="0">
                <a:solidFill>
                  <a:srgbClr val="FF6B6B"/>
                </a:solidFill>
              </a:rPr>
              <a:t>🤖  AI-Generated
Content Detection</a:t>
            </a:r>
          </a:p>
        </p:txBody>
      </p:sp>
      <p:sp>
        <p:nvSpPr>
          <p:cNvPr id="12" name="Rectangle 11"/>
          <p:cNvSpPr/>
          <p:nvPr/>
        </p:nvSpPr>
        <p:spPr>
          <a:xfrm>
            <a:off x="804672" y="2633472"/>
            <a:ext cx="3246120" cy="228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2724912"/>
            <a:ext cx="3246120" cy="3108960"/>
          </a:xfrm>
          <a:prstGeom prst="rect">
            <a:avLst/>
          </a:prstGeom>
          <a:noFill/>
        </p:spPr>
        <p:txBody>
          <a:bodyPr wrap="square">
            <a:spAutoFit/>
          </a:bodyPr>
          <a:lstStyle/>
          <a:p>
            <a:pPr algn="l"/>
            <a:r>
              <a:rPr sz="1200" b="0" i="0">
                <a:solidFill>
                  <a:srgbClr val="F0F0F0"/>
                </a:solidFill>
              </a:rPr>
              <a:t>Every video uploaded is automatically scanned for AI-generated or deepfake content using built-in detection models.
Flagged content is held for review before going live — fake videos never reach the feed unseen.</a:t>
            </a:r>
          </a:p>
        </p:txBody>
      </p:sp>
      <p:sp>
        <p:nvSpPr>
          <p:cNvPr id="14" name="Rectangle 13"/>
          <p:cNvSpPr/>
          <p:nvPr/>
        </p:nvSpPr>
        <p:spPr>
          <a:xfrm>
            <a:off x="4434840" y="1874519"/>
            <a:ext cx="3566160" cy="4160520"/>
          </a:xfrm>
          <a:prstGeom prst="rect">
            <a:avLst/>
          </a:prstGeom>
          <a:solidFill>
            <a:srgbClr val="161830"/>
          </a:solidFill>
          <a:ln w="228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1993392"/>
            <a:ext cx="3246120" cy="594360"/>
          </a:xfrm>
          <a:prstGeom prst="rect">
            <a:avLst/>
          </a:prstGeom>
          <a:noFill/>
        </p:spPr>
        <p:txBody>
          <a:bodyPr wrap="square">
            <a:spAutoFit/>
          </a:bodyPr>
          <a:lstStyle/>
          <a:p>
            <a:pPr algn="l"/>
            <a:r>
              <a:rPr sz="1500" b="1" i="0">
                <a:solidFill>
                  <a:srgbClr val="F5C842"/>
                </a:solidFill>
              </a:rPr>
              <a:t>✅  Verified Real
Content Badge</a:t>
            </a:r>
          </a:p>
        </p:txBody>
      </p:sp>
      <p:sp>
        <p:nvSpPr>
          <p:cNvPr id="16" name="Rectangle 15"/>
          <p:cNvSpPr/>
          <p:nvPr/>
        </p:nvSpPr>
        <p:spPr>
          <a:xfrm>
            <a:off x="4599432" y="2633472"/>
            <a:ext cx="3246120" cy="2286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99432" y="2724912"/>
            <a:ext cx="3246120" cy="3108960"/>
          </a:xfrm>
          <a:prstGeom prst="rect">
            <a:avLst/>
          </a:prstGeom>
          <a:noFill/>
        </p:spPr>
        <p:txBody>
          <a:bodyPr wrap="square">
            <a:spAutoFit/>
          </a:bodyPr>
          <a:lstStyle/>
          <a:p>
            <a:pPr algn="l"/>
            <a:r>
              <a:rPr sz="1200" b="0" i="0">
                <a:solidFill>
                  <a:srgbClr val="F0F0F0"/>
                </a:solidFill>
              </a:rPr>
              <a:t>Creators who pass verification receive a "Real Content" badge on their posts — giving audiences confidence that what they watch is genuine, human-created content.
Authenticity is a competitive advantage on Sachi.</a:t>
            </a:r>
          </a:p>
        </p:txBody>
      </p:sp>
      <p:sp>
        <p:nvSpPr>
          <p:cNvPr id="18" name="Rectangle 17"/>
          <p:cNvSpPr/>
          <p:nvPr/>
        </p:nvSpPr>
        <p:spPr>
          <a:xfrm>
            <a:off x="8229600" y="1874519"/>
            <a:ext cx="3566160" cy="4160520"/>
          </a:xfrm>
          <a:prstGeom prst="rect">
            <a:avLst/>
          </a:prstGeom>
          <a:solidFill>
            <a:srgbClr val="161830"/>
          </a:solidFill>
          <a:ln w="22860">
            <a:solidFill>
              <a:srgbClr val="A0F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94192" y="1993392"/>
            <a:ext cx="3246120" cy="594360"/>
          </a:xfrm>
          <a:prstGeom prst="rect">
            <a:avLst/>
          </a:prstGeom>
          <a:noFill/>
        </p:spPr>
        <p:txBody>
          <a:bodyPr wrap="square">
            <a:spAutoFit/>
          </a:bodyPr>
          <a:lstStyle/>
          <a:p>
            <a:pPr algn="l"/>
            <a:r>
              <a:rPr sz="1500" b="1" i="0">
                <a:solidFill>
                  <a:srgbClr val="A0FFB0"/>
                </a:solidFill>
              </a:rPr>
              <a:t>🛡️  Truth-First
Platform Policy</a:t>
            </a:r>
          </a:p>
        </p:txBody>
      </p:sp>
      <p:sp>
        <p:nvSpPr>
          <p:cNvPr id="20" name="Rectangle 19"/>
          <p:cNvSpPr/>
          <p:nvPr/>
        </p:nvSpPr>
        <p:spPr>
          <a:xfrm>
            <a:off x="8394192" y="2633472"/>
            <a:ext cx="3246120" cy="22860"/>
          </a:xfrm>
          <a:prstGeom prst="rect">
            <a:avLst/>
          </a:prstGeom>
          <a:solidFill>
            <a:srgbClr val="A0F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94192" y="2724912"/>
            <a:ext cx="3246120" cy="3108960"/>
          </a:xfrm>
          <a:prstGeom prst="rect">
            <a:avLst/>
          </a:prstGeom>
          <a:noFill/>
        </p:spPr>
        <p:txBody>
          <a:bodyPr wrap="square">
            <a:spAutoFit/>
          </a:bodyPr>
          <a:lstStyle/>
          <a:p>
            <a:pPr algn="l"/>
            <a:r>
              <a:rPr sz="1200" b="0" i="0">
                <a:solidFill>
                  <a:srgbClr val="F0F0F0"/>
                </a:solidFill>
              </a:rPr>
              <a:t>Zero tolerance for synthetic misinformation, manipulated media, and coordinated fake accounts.
Sachi's moderation stack combines AI flagging, human review, and community reporting — three layers of protection.</a:t>
            </a:r>
          </a:p>
        </p:txBody>
      </p:sp>
      <p:sp>
        <p:nvSpPr>
          <p:cNvPr id="22" name="TextBox 21"/>
          <p:cNvSpPr txBox="1"/>
          <p:nvPr/>
        </p:nvSpPr>
        <p:spPr>
          <a:xfrm>
            <a:off x="777240" y="5779008"/>
            <a:ext cx="10515600" cy="457200"/>
          </a:xfrm>
          <a:prstGeom prst="rect">
            <a:avLst/>
          </a:prstGeom>
          <a:noFill/>
        </p:spPr>
        <p:txBody>
          <a:bodyPr wrap="square">
            <a:spAutoFit/>
          </a:bodyPr>
          <a:lstStyle/>
          <a:p>
            <a:pPr algn="ctr"/>
            <a:r>
              <a:rPr sz="1400" b="0" i="1">
                <a:solidFill>
                  <a:srgbClr val="F5C842"/>
                </a:solidFill>
              </a:rPr>
              <a:t>"While other platforms profit from viral misinformation, Sachi Stream is where creators and audiences come for the truth."</a:t>
            </a:r>
          </a:p>
        </p:txBody>
      </p:sp>
      <p:pic>
        <p:nvPicPr>
          <p:cNvPr id="23" name="Picture 22"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What We've Built</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097280"/>
            <a:ext cx="10515600" cy="411480"/>
          </a:xfrm>
          <a:prstGeom prst="rect">
            <a:avLst/>
          </a:prstGeom>
          <a:noFill/>
        </p:spPr>
        <p:txBody>
          <a:bodyPr wrap="square">
            <a:spAutoFit/>
          </a:bodyPr>
          <a:lstStyle/>
          <a:p>
            <a:pPr algn="l"/>
            <a:r>
              <a:rPr sz="1600" b="0" i="1">
                <a:solidFill>
                  <a:srgbClr val="CCCCCC"/>
                </a:solidFill>
              </a:rPr>
              <a:t>Fully functional platform — live at sachistream.com — built and operational as of May 2026</a:t>
            </a:r>
          </a:p>
        </p:txBody>
      </p:sp>
      <p:sp>
        <p:nvSpPr>
          <p:cNvPr id="8" name="Rectangle 7"/>
          <p:cNvSpPr/>
          <p:nvPr/>
        </p:nvSpPr>
        <p:spPr>
          <a:xfrm>
            <a:off x="640080" y="169164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83080"/>
            <a:ext cx="3246120" cy="347472"/>
          </a:xfrm>
          <a:prstGeom prst="rect">
            <a:avLst/>
          </a:prstGeom>
          <a:noFill/>
        </p:spPr>
        <p:txBody>
          <a:bodyPr wrap="square">
            <a:spAutoFit/>
          </a:bodyPr>
          <a:lstStyle/>
          <a:p>
            <a:pPr algn="l"/>
            <a:r>
              <a:rPr sz="1400" b="1" i="0">
                <a:solidFill>
                  <a:srgbClr val="F5C842"/>
                </a:solidFill>
              </a:rPr>
              <a:t>🎬 Multi-Format Feed</a:t>
            </a:r>
          </a:p>
        </p:txBody>
      </p:sp>
      <p:sp>
        <p:nvSpPr>
          <p:cNvPr id="10" name="TextBox 9"/>
          <p:cNvSpPr txBox="1"/>
          <p:nvPr/>
        </p:nvSpPr>
        <p:spPr>
          <a:xfrm>
            <a:off x="777240" y="2167128"/>
            <a:ext cx="3246120" cy="914400"/>
          </a:xfrm>
          <a:prstGeom prst="rect">
            <a:avLst/>
          </a:prstGeom>
          <a:noFill/>
        </p:spPr>
        <p:txBody>
          <a:bodyPr wrap="square">
            <a:spAutoFit/>
          </a:bodyPr>
          <a:lstStyle/>
          <a:p>
            <a:pPr algn="l"/>
            <a:r>
              <a:rPr sz="1200" b="0" i="0">
                <a:solidFill>
                  <a:srgbClr val="F0F0F0"/>
                </a:solidFill>
              </a:rPr>
              <a:t>Short video, photo carousels, text posts
AI moderation + mature content gating</a:t>
            </a:r>
          </a:p>
        </p:txBody>
      </p:sp>
      <p:sp>
        <p:nvSpPr>
          <p:cNvPr id="11" name="Rectangle 10"/>
          <p:cNvSpPr/>
          <p:nvPr/>
        </p:nvSpPr>
        <p:spPr>
          <a:xfrm>
            <a:off x="4434840" y="169164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783080"/>
            <a:ext cx="3246120" cy="347472"/>
          </a:xfrm>
          <a:prstGeom prst="rect">
            <a:avLst/>
          </a:prstGeom>
          <a:noFill/>
        </p:spPr>
        <p:txBody>
          <a:bodyPr wrap="square">
            <a:spAutoFit/>
          </a:bodyPr>
          <a:lstStyle/>
          <a:p>
            <a:pPr algn="l"/>
            <a:r>
              <a:rPr sz="1400" b="1" i="0">
                <a:solidFill>
                  <a:srgbClr val="F5C842"/>
                </a:solidFill>
              </a:rPr>
              <a:t>🎙️ Live Podcasting</a:t>
            </a:r>
          </a:p>
        </p:txBody>
      </p:sp>
      <p:sp>
        <p:nvSpPr>
          <p:cNvPr id="13" name="TextBox 12"/>
          <p:cNvSpPr txBox="1"/>
          <p:nvPr/>
        </p:nvSpPr>
        <p:spPr>
          <a:xfrm>
            <a:off x="4572000" y="2167128"/>
            <a:ext cx="3246120" cy="914400"/>
          </a:xfrm>
          <a:prstGeom prst="rect">
            <a:avLst/>
          </a:prstGeom>
          <a:noFill/>
        </p:spPr>
        <p:txBody>
          <a:bodyPr wrap="square">
            <a:spAutoFit/>
          </a:bodyPr>
          <a:lstStyle/>
          <a:p>
            <a:pPr algn="l"/>
            <a:r>
              <a:rPr sz="1200" b="0" i="0">
                <a:solidFill>
                  <a:srgbClr val="F0F0F0"/>
                </a:solidFill>
              </a:rPr>
              <a:t>Creator rooms, RTMP streaming via
Cloudflare, OBS-ready, episode archive</a:t>
            </a:r>
          </a:p>
        </p:txBody>
      </p:sp>
      <p:sp>
        <p:nvSpPr>
          <p:cNvPr id="14" name="Rectangle 13"/>
          <p:cNvSpPr/>
          <p:nvPr/>
        </p:nvSpPr>
        <p:spPr>
          <a:xfrm>
            <a:off x="8229600" y="169164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66760" y="1783080"/>
            <a:ext cx="3246120" cy="347472"/>
          </a:xfrm>
          <a:prstGeom prst="rect">
            <a:avLst/>
          </a:prstGeom>
          <a:noFill/>
        </p:spPr>
        <p:txBody>
          <a:bodyPr wrap="square">
            <a:spAutoFit/>
          </a:bodyPr>
          <a:lstStyle/>
          <a:p>
            <a:pPr algn="l"/>
            <a:r>
              <a:rPr sz="1400" b="1" i="0">
                <a:solidFill>
                  <a:srgbClr val="F5C842"/>
                </a:solidFill>
              </a:rPr>
              <a:t>🔴 Live Rooms &amp; Gifting</a:t>
            </a:r>
          </a:p>
        </p:txBody>
      </p:sp>
      <p:sp>
        <p:nvSpPr>
          <p:cNvPr id="16" name="TextBox 15"/>
          <p:cNvSpPr txBox="1"/>
          <p:nvPr/>
        </p:nvSpPr>
        <p:spPr>
          <a:xfrm>
            <a:off x="8366760" y="2167128"/>
            <a:ext cx="3246120" cy="914400"/>
          </a:xfrm>
          <a:prstGeom prst="rect">
            <a:avLst/>
          </a:prstGeom>
          <a:noFill/>
        </p:spPr>
        <p:txBody>
          <a:bodyPr wrap="square">
            <a:spAutoFit/>
          </a:bodyPr>
          <a:lstStyle/>
          <a:p>
            <a:pPr algn="l"/>
            <a:r>
              <a:rPr sz="1200" b="0" i="0">
                <a:solidFill>
                  <a:srgbClr val="F0F0F0"/>
                </a:solidFill>
              </a:rPr>
              <a:t>Real-time comments, guest requests,
WebRTC co-hosting, coin-powered gifts</a:t>
            </a:r>
          </a:p>
        </p:txBody>
      </p:sp>
      <p:sp>
        <p:nvSpPr>
          <p:cNvPr id="17" name="Rectangle 16"/>
          <p:cNvSpPr/>
          <p:nvPr/>
        </p:nvSpPr>
        <p:spPr>
          <a:xfrm>
            <a:off x="640080" y="338328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474720"/>
            <a:ext cx="3246120" cy="347472"/>
          </a:xfrm>
          <a:prstGeom prst="rect">
            <a:avLst/>
          </a:prstGeom>
          <a:noFill/>
        </p:spPr>
        <p:txBody>
          <a:bodyPr wrap="square">
            <a:spAutoFit/>
          </a:bodyPr>
          <a:lstStyle/>
          <a:p>
            <a:pPr algn="l"/>
            <a:r>
              <a:rPr sz="1400" b="1" i="0">
                <a:solidFill>
                  <a:srgbClr val="F5C842"/>
                </a:solidFill>
              </a:rPr>
              <a:t>💬 Social Graph</a:t>
            </a:r>
          </a:p>
        </p:txBody>
      </p:sp>
      <p:sp>
        <p:nvSpPr>
          <p:cNvPr id="19" name="TextBox 18"/>
          <p:cNvSpPr txBox="1"/>
          <p:nvPr/>
        </p:nvSpPr>
        <p:spPr>
          <a:xfrm>
            <a:off x="777240" y="3858768"/>
            <a:ext cx="3246120" cy="914400"/>
          </a:xfrm>
          <a:prstGeom prst="rect">
            <a:avLst/>
          </a:prstGeom>
          <a:noFill/>
        </p:spPr>
        <p:txBody>
          <a:bodyPr wrap="square">
            <a:spAutoFit/>
          </a:bodyPr>
          <a:lstStyle/>
          <a:p>
            <a:pPr algn="l"/>
            <a:r>
              <a:rPr sz="1200" b="0" i="0">
                <a:solidFill>
                  <a:srgbClr val="F0F0F0"/>
                </a:solidFill>
              </a:rPr>
              <a:t>Follow, DM, notifications, bookmarks,
blocking, threaded comments</a:t>
            </a:r>
          </a:p>
        </p:txBody>
      </p:sp>
      <p:sp>
        <p:nvSpPr>
          <p:cNvPr id="20" name="Rectangle 19"/>
          <p:cNvSpPr/>
          <p:nvPr/>
        </p:nvSpPr>
        <p:spPr>
          <a:xfrm>
            <a:off x="4434840" y="338328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474720"/>
            <a:ext cx="3246120" cy="347472"/>
          </a:xfrm>
          <a:prstGeom prst="rect">
            <a:avLst/>
          </a:prstGeom>
          <a:noFill/>
        </p:spPr>
        <p:txBody>
          <a:bodyPr wrap="square">
            <a:spAutoFit/>
          </a:bodyPr>
          <a:lstStyle/>
          <a:p>
            <a:pPr algn="l"/>
            <a:r>
              <a:rPr sz="1400" b="1" i="0">
                <a:solidFill>
                  <a:srgbClr val="F5C842"/>
                </a:solidFill>
              </a:rPr>
              <a:t>🪙 Coin Economy</a:t>
            </a:r>
          </a:p>
        </p:txBody>
      </p:sp>
      <p:sp>
        <p:nvSpPr>
          <p:cNvPr id="22" name="TextBox 21"/>
          <p:cNvSpPr txBox="1"/>
          <p:nvPr/>
        </p:nvSpPr>
        <p:spPr>
          <a:xfrm>
            <a:off x="4572000" y="3858768"/>
            <a:ext cx="3246120" cy="914400"/>
          </a:xfrm>
          <a:prstGeom prst="rect">
            <a:avLst/>
          </a:prstGeom>
          <a:noFill/>
        </p:spPr>
        <p:txBody>
          <a:bodyPr wrap="square">
            <a:spAutoFit/>
          </a:bodyPr>
          <a:lstStyle/>
          <a:p>
            <a:pPr algn="l"/>
            <a:r>
              <a:rPr sz="1200" b="0" i="0">
                <a:solidFill>
                  <a:srgbClr val="F0F0F0"/>
                </a:solidFill>
              </a:rPr>
              <a:t>5 coin packages, Stripe payments,
host earns 80% of gift face value</a:t>
            </a:r>
          </a:p>
        </p:txBody>
      </p:sp>
      <p:sp>
        <p:nvSpPr>
          <p:cNvPr id="23" name="Rectangle 22"/>
          <p:cNvSpPr/>
          <p:nvPr/>
        </p:nvSpPr>
        <p:spPr>
          <a:xfrm>
            <a:off x="8229600" y="3383280"/>
            <a:ext cx="3520440" cy="150876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3474720"/>
            <a:ext cx="3246120" cy="347472"/>
          </a:xfrm>
          <a:prstGeom prst="rect">
            <a:avLst/>
          </a:prstGeom>
          <a:noFill/>
        </p:spPr>
        <p:txBody>
          <a:bodyPr wrap="square">
            <a:spAutoFit/>
          </a:bodyPr>
          <a:lstStyle/>
          <a:p>
            <a:pPr algn="l"/>
            <a:r>
              <a:rPr sz="1400" b="1" i="0">
                <a:solidFill>
                  <a:srgbClr val="F5C842"/>
                </a:solidFill>
              </a:rPr>
              <a:t>🛡️ Moderation &amp; Safety</a:t>
            </a:r>
          </a:p>
        </p:txBody>
      </p:sp>
      <p:sp>
        <p:nvSpPr>
          <p:cNvPr id="25" name="TextBox 24"/>
          <p:cNvSpPr txBox="1"/>
          <p:nvPr/>
        </p:nvSpPr>
        <p:spPr>
          <a:xfrm>
            <a:off x="8366760" y="3858768"/>
            <a:ext cx="3246120" cy="914400"/>
          </a:xfrm>
          <a:prstGeom prst="rect">
            <a:avLst/>
          </a:prstGeom>
          <a:noFill/>
        </p:spPr>
        <p:txBody>
          <a:bodyPr wrap="square">
            <a:spAutoFit/>
          </a:bodyPr>
          <a:lstStyle/>
          <a:p>
            <a:pPr algn="l"/>
            <a:r>
              <a:rPr sz="1200" b="0" i="0">
                <a:solidFill>
                  <a:srgbClr val="F0F0F0"/>
                </a:solidFill>
              </a:rPr>
              <a:t>AI detection, report queue, MOD panel,
user block, mature content toggles</a:t>
            </a:r>
          </a:p>
        </p:txBody>
      </p:sp>
      <p:pic>
        <p:nvPicPr>
          <p:cNvPr id="26" name="Picture 25"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Traction &amp; Milestones</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188720"/>
            <a:ext cx="2103120" cy="1280160"/>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61872"/>
            <a:ext cx="2103120" cy="594360"/>
          </a:xfrm>
          <a:prstGeom prst="rect">
            <a:avLst/>
          </a:prstGeom>
          <a:noFill/>
        </p:spPr>
        <p:txBody>
          <a:bodyPr wrap="square">
            <a:spAutoFit/>
          </a:bodyPr>
          <a:lstStyle/>
          <a:p>
            <a:pPr algn="ctr"/>
            <a:r>
              <a:rPr sz="2800" b="1" i="0">
                <a:solidFill>
                  <a:srgbClr val="FF6B6B"/>
                </a:solidFill>
              </a:rPr>
              <a:t>LIVE</a:t>
            </a:r>
          </a:p>
        </p:txBody>
      </p:sp>
      <p:sp>
        <p:nvSpPr>
          <p:cNvPr id="9" name="TextBox 8"/>
          <p:cNvSpPr txBox="1"/>
          <p:nvPr/>
        </p:nvSpPr>
        <p:spPr>
          <a:xfrm>
            <a:off x="640080" y="1847088"/>
            <a:ext cx="2103120" cy="502920"/>
          </a:xfrm>
          <a:prstGeom prst="rect">
            <a:avLst/>
          </a:prstGeom>
          <a:noFill/>
        </p:spPr>
        <p:txBody>
          <a:bodyPr wrap="square">
            <a:spAutoFit/>
          </a:bodyPr>
          <a:lstStyle/>
          <a:p>
            <a:pPr algn="ctr"/>
            <a:r>
              <a:rPr sz="1200" b="0" i="0">
                <a:solidFill>
                  <a:srgbClr val="CCCCCC"/>
                </a:solidFill>
              </a:rPr>
              <a:t>Platform Status
May 2026</a:t>
            </a:r>
          </a:p>
        </p:txBody>
      </p:sp>
      <p:sp>
        <p:nvSpPr>
          <p:cNvPr id="10" name="Rectangle 9"/>
          <p:cNvSpPr/>
          <p:nvPr/>
        </p:nvSpPr>
        <p:spPr>
          <a:xfrm>
            <a:off x="2926080" y="1188720"/>
            <a:ext cx="2103120" cy="1280160"/>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26080" y="1261872"/>
            <a:ext cx="2103120" cy="594360"/>
          </a:xfrm>
          <a:prstGeom prst="rect">
            <a:avLst/>
          </a:prstGeom>
          <a:noFill/>
        </p:spPr>
        <p:txBody>
          <a:bodyPr wrap="square">
            <a:spAutoFit/>
          </a:bodyPr>
          <a:lstStyle/>
          <a:p>
            <a:pPr algn="ctr"/>
            <a:r>
              <a:rPr sz="2800" b="1" i="0">
                <a:solidFill>
                  <a:srgbClr val="F5C842"/>
                </a:solidFill>
              </a:rPr>
              <a:t>27</a:t>
            </a:r>
          </a:p>
        </p:txBody>
      </p:sp>
      <p:sp>
        <p:nvSpPr>
          <p:cNvPr id="12" name="TextBox 11"/>
          <p:cNvSpPr txBox="1"/>
          <p:nvPr/>
        </p:nvSpPr>
        <p:spPr>
          <a:xfrm>
            <a:off x="2926080" y="1847088"/>
            <a:ext cx="2103120" cy="502920"/>
          </a:xfrm>
          <a:prstGeom prst="rect">
            <a:avLst/>
          </a:prstGeom>
          <a:noFill/>
        </p:spPr>
        <p:txBody>
          <a:bodyPr wrap="square">
            <a:spAutoFit/>
          </a:bodyPr>
          <a:lstStyle/>
          <a:p>
            <a:pPr algn="ctr"/>
            <a:r>
              <a:rPr sz="1200" b="0" i="0">
                <a:solidFill>
                  <a:srgbClr val="CCCCCC"/>
                </a:solidFill>
              </a:rPr>
              <a:t>Backend Functions
Deployed</a:t>
            </a:r>
          </a:p>
        </p:txBody>
      </p:sp>
      <p:sp>
        <p:nvSpPr>
          <p:cNvPr id="13" name="Rectangle 12"/>
          <p:cNvSpPr/>
          <p:nvPr/>
        </p:nvSpPr>
        <p:spPr>
          <a:xfrm>
            <a:off x="5212080" y="1188720"/>
            <a:ext cx="2103120" cy="1280160"/>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1261872"/>
            <a:ext cx="2103120" cy="594360"/>
          </a:xfrm>
          <a:prstGeom prst="rect">
            <a:avLst/>
          </a:prstGeom>
          <a:noFill/>
        </p:spPr>
        <p:txBody>
          <a:bodyPr wrap="square">
            <a:spAutoFit/>
          </a:bodyPr>
          <a:lstStyle/>
          <a:p>
            <a:pPr algn="ctr"/>
            <a:r>
              <a:rPr sz="2800" b="1" i="0">
                <a:solidFill>
                  <a:srgbClr val="F5C842"/>
                </a:solidFill>
              </a:rPr>
              <a:t>50+</a:t>
            </a:r>
          </a:p>
        </p:txBody>
      </p:sp>
      <p:sp>
        <p:nvSpPr>
          <p:cNvPr id="15" name="TextBox 14"/>
          <p:cNvSpPr txBox="1"/>
          <p:nvPr/>
        </p:nvSpPr>
        <p:spPr>
          <a:xfrm>
            <a:off x="5212080" y="1847088"/>
            <a:ext cx="2103120" cy="502920"/>
          </a:xfrm>
          <a:prstGeom prst="rect">
            <a:avLst/>
          </a:prstGeom>
          <a:noFill/>
        </p:spPr>
        <p:txBody>
          <a:bodyPr wrap="square">
            <a:spAutoFit/>
          </a:bodyPr>
          <a:lstStyle/>
          <a:p>
            <a:pPr algn="ctr"/>
            <a:r>
              <a:rPr sz="1200" b="0" i="0">
                <a:solidFill>
                  <a:srgbClr val="CCCCCC"/>
                </a:solidFill>
              </a:rPr>
              <a:t>Founding Creator
Spots Open</a:t>
            </a:r>
          </a:p>
        </p:txBody>
      </p:sp>
      <p:sp>
        <p:nvSpPr>
          <p:cNvPr id="16" name="Rectangle 15"/>
          <p:cNvSpPr/>
          <p:nvPr/>
        </p:nvSpPr>
        <p:spPr>
          <a:xfrm>
            <a:off x="7498079" y="1188720"/>
            <a:ext cx="2103120" cy="1280160"/>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1261872"/>
            <a:ext cx="2103120" cy="594360"/>
          </a:xfrm>
          <a:prstGeom prst="rect">
            <a:avLst/>
          </a:prstGeom>
          <a:noFill/>
        </p:spPr>
        <p:txBody>
          <a:bodyPr wrap="square">
            <a:spAutoFit/>
          </a:bodyPr>
          <a:lstStyle/>
          <a:p>
            <a:pPr algn="ctr"/>
            <a:r>
              <a:rPr sz="2800" b="1" i="0">
                <a:solidFill>
                  <a:srgbClr val="F5C842"/>
                </a:solidFill>
              </a:rPr>
              <a:t>Android</a:t>
            </a:r>
          </a:p>
        </p:txBody>
      </p:sp>
      <p:sp>
        <p:nvSpPr>
          <p:cNvPr id="18" name="TextBox 17"/>
          <p:cNvSpPr txBox="1"/>
          <p:nvPr/>
        </p:nvSpPr>
        <p:spPr>
          <a:xfrm>
            <a:off x="7498079" y="1847088"/>
            <a:ext cx="2103120" cy="502920"/>
          </a:xfrm>
          <a:prstGeom prst="rect">
            <a:avLst/>
          </a:prstGeom>
          <a:noFill/>
        </p:spPr>
        <p:txBody>
          <a:bodyPr wrap="square">
            <a:spAutoFit/>
          </a:bodyPr>
          <a:lstStyle/>
          <a:p>
            <a:pPr algn="ctr"/>
            <a:r>
              <a:rPr sz="1200" b="0" i="0">
                <a:solidFill>
                  <a:srgbClr val="CCCCCC"/>
                </a:solidFill>
              </a:rPr>
              <a:t>Closed Beta
Google Play</a:t>
            </a:r>
          </a:p>
        </p:txBody>
      </p:sp>
      <p:sp>
        <p:nvSpPr>
          <p:cNvPr id="19" name="Rectangle 18"/>
          <p:cNvSpPr/>
          <p:nvPr/>
        </p:nvSpPr>
        <p:spPr>
          <a:xfrm>
            <a:off x="9784080" y="1188720"/>
            <a:ext cx="2103120" cy="1280160"/>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4080" y="1261872"/>
            <a:ext cx="2103120" cy="594360"/>
          </a:xfrm>
          <a:prstGeom prst="rect">
            <a:avLst/>
          </a:prstGeom>
          <a:noFill/>
        </p:spPr>
        <p:txBody>
          <a:bodyPr wrap="square">
            <a:spAutoFit/>
          </a:bodyPr>
          <a:lstStyle/>
          <a:p>
            <a:pPr algn="ctr"/>
            <a:r>
              <a:rPr sz="2800" b="1" i="0">
                <a:solidFill>
                  <a:srgbClr val="F5C842"/>
                </a:solidFill>
              </a:rPr>
              <a:t>™</a:t>
            </a:r>
          </a:p>
        </p:txBody>
      </p:sp>
      <p:sp>
        <p:nvSpPr>
          <p:cNvPr id="21" name="TextBox 20"/>
          <p:cNvSpPr txBox="1"/>
          <p:nvPr/>
        </p:nvSpPr>
        <p:spPr>
          <a:xfrm>
            <a:off x="9784080" y="1847088"/>
            <a:ext cx="2103120" cy="502920"/>
          </a:xfrm>
          <a:prstGeom prst="rect">
            <a:avLst/>
          </a:prstGeom>
          <a:noFill/>
        </p:spPr>
        <p:txBody>
          <a:bodyPr wrap="square">
            <a:spAutoFit/>
          </a:bodyPr>
          <a:lstStyle/>
          <a:p>
            <a:pPr algn="ctr"/>
            <a:r>
              <a:rPr sz="1200" b="0" i="0">
                <a:solidFill>
                  <a:srgbClr val="CCCCCC"/>
                </a:solidFill>
              </a:rPr>
              <a:t>Sachi Trademark
USPTO Filed</a:t>
            </a:r>
          </a:p>
        </p:txBody>
      </p:sp>
      <p:sp>
        <p:nvSpPr>
          <p:cNvPr id="22" name="TextBox 21"/>
          <p:cNvSpPr txBox="1"/>
          <p:nvPr/>
        </p:nvSpPr>
        <p:spPr>
          <a:xfrm>
            <a:off x="777240" y="2697480"/>
            <a:ext cx="9144000" cy="365760"/>
          </a:xfrm>
          <a:prstGeom prst="rect">
            <a:avLst/>
          </a:prstGeom>
          <a:noFill/>
        </p:spPr>
        <p:txBody>
          <a:bodyPr wrap="square">
            <a:spAutoFit/>
          </a:bodyPr>
          <a:lstStyle/>
          <a:p>
            <a:pPr algn="l"/>
            <a:r>
              <a:rPr sz="1700" b="1" i="0">
                <a:solidFill>
                  <a:srgbClr val="F5C842"/>
                </a:solidFill>
              </a:rPr>
              <a:t>Key Milestones Achieved</a:t>
            </a:r>
          </a:p>
        </p:txBody>
      </p:sp>
      <p:sp>
        <p:nvSpPr>
          <p:cNvPr id="23" name="TextBox 22"/>
          <p:cNvSpPr txBox="1"/>
          <p:nvPr/>
        </p:nvSpPr>
        <p:spPr>
          <a:xfrm>
            <a:off x="777240" y="3154680"/>
            <a:ext cx="10789920" cy="365760"/>
          </a:xfrm>
          <a:prstGeom prst="rect">
            <a:avLst/>
          </a:prstGeom>
          <a:noFill/>
        </p:spPr>
        <p:txBody>
          <a:bodyPr wrap="square">
            <a:spAutoFit/>
          </a:bodyPr>
          <a:lstStyle/>
          <a:p>
            <a:pPr algn="l"/>
            <a:r>
              <a:rPr sz="1400" b="0" i="0">
                <a:solidFill>
                  <a:srgbClr val="FFFFFF"/>
                </a:solidFill>
              </a:rPr>
              <a:t>Q4 2025  →  Platform concept, brand identity, and technical architecture finalized</a:t>
            </a:r>
          </a:p>
        </p:txBody>
      </p:sp>
      <p:sp>
        <p:nvSpPr>
          <p:cNvPr id="24" name="TextBox 23"/>
          <p:cNvSpPr txBox="1"/>
          <p:nvPr/>
        </p:nvSpPr>
        <p:spPr>
          <a:xfrm>
            <a:off x="777240" y="3584448"/>
            <a:ext cx="10789920" cy="365760"/>
          </a:xfrm>
          <a:prstGeom prst="rect">
            <a:avLst/>
          </a:prstGeom>
          <a:noFill/>
        </p:spPr>
        <p:txBody>
          <a:bodyPr wrap="square">
            <a:spAutoFit/>
          </a:bodyPr>
          <a:lstStyle/>
          <a:p>
            <a:pPr algn="l"/>
            <a:r>
              <a:rPr sz="1400" b="0" i="0">
                <a:solidFill>
                  <a:srgbClr val="FFFFFF"/>
                </a:solidFill>
              </a:rPr>
              <a:t>Q1 2026  →  Full-stack MVP built: video, live, podcasting, coins, DMs, notifications</a:t>
            </a:r>
          </a:p>
        </p:txBody>
      </p:sp>
      <p:sp>
        <p:nvSpPr>
          <p:cNvPr id="25" name="TextBox 24"/>
          <p:cNvSpPr txBox="1"/>
          <p:nvPr/>
        </p:nvSpPr>
        <p:spPr>
          <a:xfrm>
            <a:off x="777240" y="4014216"/>
            <a:ext cx="10789920" cy="365760"/>
          </a:xfrm>
          <a:prstGeom prst="rect">
            <a:avLst/>
          </a:prstGeom>
          <a:noFill/>
        </p:spPr>
        <p:txBody>
          <a:bodyPr wrap="square">
            <a:spAutoFit/>
          </a:bodyPr>
          <a:lstStyle/>
          <a:p>
            <a:pPr algn="l"/>
            <a:r>
              <a:rPr sz="1400" b="0" i="0">
                <a:solidFill>
                  <a:srgbClr val="FFFFFF"/>
                </a:solidFill>
              </a:rPr>
              <a:t>Apr 2026  →  Android APK submitted to Google Play closed testing track</a:t>
            </a:r>
          </a:p>
        </p:txBody>
      </p:sp>
      <p:sp>
        <p:nvSpPr>
          <p:cNvPr id="26" name="TextBox 25"/>
          <p:cNvSpPr txBox="1"/>
          <p:nvPr/>
        </p:nvSpPr>
        <p:spPr>
          <a:xfrm>
            <a:off x="777240" y="4443984"/>
            <a:ext cx="10789920" cy="365760"/>
          </a:xfrm>
          <a:prstGeom prst="rect">
            <a:avLst/>
          </a:prstGeom>
          <a:noFill/>
        </p:spPr>
        <p:txBody>
          <a:bodyPr wrap="square">
            <a:spAutoFit/>
          </a:bodyPr>
          <a:lstStyle/>
          <a:p>
            <a:pPr algn="l"/>
            <a:r>
              <a:rPr sz="1400" b="0" i="0">
                <a:solidFill>
                  <a:srgbClr val="FFFFFF"/>
                </a:solidFill>
              </a:rPr>
              <a:t>Apr 2026  →  Sachi™ word mark filed with USPTO (Class 41 — Entertainment Services)</a:t>
            </a:r>
          </a:p>
        </p:txBody>
      </p:sp>
      <p:sp>
        <p:nvSpPr>
          <p:cNvPr id="27" name="TextBox 26"/>
          <p:cNvSpPr txBox="1"/>
          <p:nvPr/>
        </p:nvSpPr>
        <p:spPr>
          <a:xfrm>
            <a:off x="777240" y="4873752"/>
            <a:ext cx="10789920" cy="365760"/>
          </a:xfrm>
          <a:prstGeom prst="rect">
            <a:avLst/>
          </a:prstGeom>
          <a:noFill/>
        </p:spPr>
        <p:txBody>
          <a:bodyPr wrap="square">
            <a:spAutoFit/>
          </a:bodyPr>
          <a:lstStyle/>
          <a:p>
            <a:pPr algn="l"/>
            <a:r>
              <a:rPr sz="1400" b="0" i="0">
                <a:solidFill>
                  <a:srgbClr val="FFFFFF"/>
                </a:solidFill>
              </a:rPr>
              <a:t>Apr 2026  →  Founding Creator program launched — 50 curated beta creators</a:t>
            </a:r>
          </a:p>
        </p:txBody>
      </p:sp>
      <p:sp>
        <p:nvSpPr>
          <p:cNvPr id="28" name="TextBox 27"/>
          <p:cNvSpPr txBox="1"/>
          <p:nvPr/>
        </p:nvSpPr>
        <p:spPr>
          <a:xfrm>
            <a:off x="777240" y="5303519"/>
            <a:ext cx="10789920" cy="365760"/>
          </a:xfrm>
          <a:prstGeom prst="rect">
            <a:avLst/>
          </a:prstGeom>
          <a:noFill/>
        </p:spPr>
        <p:txBody>
          <a:bodyPr wrap="square">
            <a:spAutoFit/>
          </a:bodyPr>
          <a:lstStyle/>
          <a:p>
            <a:pPr algn="l"/>
            <a:r>
              <a:rPr sz="1400" b="0" i="0">
                <a:solidFill>
                  <a:srgbClr val="FFFFFF"/>
                </a:solidFill>
              </a:rPr>
              <a:t>May 2026  →  Platform live at sachistream.com — open beta imminent</a:t>
            </a:r>
          </a:p>
        </p:txBody>
      </p:sp>
      <p:pic>
        <p:nvPicPr>
          <p:cNvPr id="29" name="Picture 28"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Business Model</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371600"/>
            <a:ext cx="5212080" cy="1828800"/>
          </a:xfrm>
          <a:prstGeom prst="rect">
            <a:avLst/>
          </a:prstGeom>
          <a:solidFill>
            <a:srgbClr val="161830"/>
          </a:solidFill>
          <a:ln w="1905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463040"/>
            <a:ext cx="4846320" cy="365760"/>
          </a:xfrm>
          <a:prstGeom prst="rect">
            <a:avLst/>
          </a:prstGeom>
          <a:noFill/>
        </p:spPr>
        <p:txBody>
          <a:bodyPr wrap="square">
            <a:spAutoFit/>
          </a:bodyPr>
          <a:lstStyle/>
          <a:p>
            <a:pPr algn="l"/>
            <a:r>
              <a:rPr sz="1500" b="1" i="0">
                <a:solidFill>
                  <a:srgbClr val="F5C842"/>
                </a:solidFill>
              </a:rPr>
              <a:t>🪙  Virtual Gifting &amp; Coins</a:t>
            </a:r>
          </a:p>
        </p:txBody>
      </p:sp>
      <p:sp>
        <p:nvSpPr>
          <p:cNvPr id="9" name="TextBox 8"/>
          <p:cNvSpPr txBox="1"/>
          <p:nvPr/>
        </p:nvSpPr>
        <p:spPr>
          <a:xfrm>
            <a:off x="804672" y="1874520"/>
            <a:ext cx="4846320" cy="1188720"/>
          </a:xfrm>
          <a:prstGeom prst="rect">
            <a:avLst/>
          </a:prstGeom>
          <a:noFill/>
        </p:spPr>
        <p:txBody>
          <a:bodyPr wrap="square">
            <a:spAutoFit/>
          </a:bodyPr>
          <a:lstStyle/>
          <a:p>
            <a:pPr algn="l"/>
            <a:r>
              <a:rPr sz="1300" b="0" i="0">
                <a:solidFill>
                  <a:srgbClr val="F0F0F0"/>
                </a:solidFill>
              </a:rPr>
              <a:t>Users purchase coin bundles ($1.99–$99.99)
Hosts receive 80% of gift value
Platform retains 20% — primary near-term revenue</a:t>
            </a:r>
          </a:p>
        </p:txBody>
      </p:sp>
      <p:sp>
        <p:nvSpPr>
          <p:cNvPr id="10" name="Rectangle 9"/>
          <p:cNvSpPr/>
          <p:nvPr/>
        </p:nvSpPr>
        <p:spPr>
          <a:xfrm>
            <a:off x="6217920" y="1371600"/>
            <a:ext cx="5212080" cy="1828800"/>
          </a:xfrm>
          <a:prstGeom prst="rect">
            <a:avLst/>
          </a:prstGeom>
          <a:solidFill>
            <a:srgbClr val="161830"/>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463040"/>
            <a:ext cx="4846320" cy="365760"/>
          </a:xfrm>
          <a:prstGeom prst="rect">
            <a:avLst/>
          </a:prstGeom>
          <a:noFill/>
        </p:spPr>
        <p:txBody>
          <a:bodyPr wrap="square">
            <a:spAutoFit/>
          </a:bodyPr>
          <a:lstStyle/>
          <a:p>
            <a:pPr algn="l"/>
            <a:r>
              <a:rPr sz="1500" b="1" i="0">
                <a:solidFill>
                  <a:srgbClr val="FF6B6B"/>
                </a:solidFill>
              </a:rPr>
              <a:t>📺  Creator Subscriptions</a:t>
            </a:r>
          </a:p>
        </p:txBody>
      </p:sp>
      <p:sp>
        <p:nvSpPr>
          <p:cNvPr id="12" name="TextBox 11"/>
          <p:cNvSpPr txBox="1"/>
          <p:nvPr/>
        </p:nvSpPr>
        <p:spPr>
          <a:xfrm>
            <a:off x="6382512" y="1874520"/>
            <a:ext cx="4846320" cy="1188720"/>
          </a:xfrm>
          <a:prstGeom prst="rect">
            <a:avLst/>
          </a:prstGeom>
          <a:noFill/>
        </p:spPr>
        <p:txBody>
          <a:bodyPr wrap="square">
            <a:spAutoFit/>
          </a:bodyPr>
          <a:lstStyle/>
          <a:p>
            <a:pPr algn="l"/>
            <a:r>
              <a:rPr sz="1300" b="0" i="0">
                <a:solidFill>
                  <a:srgbClr val="F0F0F0"/>
                </a:solidFill>
              </a:rPr>
              <a:t>Monthly fan subscriptions to creator channels
Revenue split: 85% creator / 15% Sachi
Launching Q3 2026</a:t>
            </a:r>
          </a:p>
        </p:txBody>
      </p:sp>
      <p:sp>
        <p:nvSpPr>
          <p:cNvPr id="13" name="Rectangle 12"/>
          <p:cNvSpPr/>
          <p:nvPr/>
        </p:nvSpPr>
        <p:spPr>
          <a:xfrm>
            <a:off x="640080" y="3383280"/>
            <a:ext cx="5212080" cy="1828800"/>
          </a:xfrm>
          <a:prstGeom prst="rect">
            <a:avLst/>
          </a:prstGeom>
          <a:solidFill>
            <a:srgbClr val="161830"/>
          </a:solidFill>
          <a:ln w="1905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474720"/>
            <a:ext cx="4846320" cy="365760"/>
          </a:xfrm>
          <a:prstGeom prst="rect">
            <a:avLst/>
          </a:prstGeom>
          <a:noFill/>
        </p:spPr>
        <p:txBody>
          <a:bodyPr wrap="square">
            <a:spAutoFit/>
          </a:bodyPr>
          <a:lstStyle/>
          <a:p>
            <a:pPr algn="l"/>
            <a:r>
              <a:rPr sz="1500" b="1" i="0">
                <a:solidFill>
                  <a:srgbClr val="7BD4FF"/>
                </a:solidFill>
              </a:rPr>
              <a:t>🎯  Native Advertising</a:t>
            </a:r>
          </a:p>
        </p:txBody>
      </p:sp>
      <p:sp>
        <p:nvSpPr>
          <p:cNvPr id="15" name="TextBox 14"/>
          <p:cNvSpPr txBox="1"/>
          <p:nvPr/>
        </p:nvSpPr>
        <p:spPr>
          <a:xfrm>
            <a:off x="804672" y="3886200"/>
            <a:ext cx="4846320" cy="1188720"/>
          </a:xfrm>
          <a:prstGeom prst="rect">
            <a:avLst/>
          </a:prstGeom>
          <a:noFill/>
        </p:spPr>
        <p:txBody>
          <a:bodyPr wrap="square">
            <a:spAutoFit/>
          </a:bodyPr>
          <a:lstStyle/>
          <a:p>
            <a:pPr algn="l"/>
            <a:r>
              <a:rPr sz="1300" b="0" i="0">
                <a:solidFill>
                  <a:srgbClr val="F0F0F0"/>
                </a:solidFill>
              </a:rPr>
              <a:t>Brand integrations and sponsored content
Targeted by interest, location, and hashtag
Launching at 100K MAU threshold</a:t>
            </a:r>
          </a:p>
        </p:txBody>
      </p:sp>
      <p:sp>
        <p:nvSpPr>
          <p:cNvPr id="16" name="Rectangle 15"/>
          <p:cNvSpPr/>
          <p:nvPr/>
        </p:nvSpPr>
        <p:spPr>
          <a:xfrm>
            <a:off x="6217920" y="3383280"/>
            <a:ext cx="5212080" cy="1828800"/>
          </a:xfrm>
          <a:prstGeom prst="rect">
            <a:avLst/>
          </a:prstGeom>
          <a:solidFill>
            <a:srgbClr val="161830"/>
          </a:solidFill>
          <a:ln w="19050">
            <a:solidFill>
              <a:srgbClr val="A0F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3474720"/>
            <a:ext cx="4846320" cy="365760"/>
          </a:xfrm>
          <a:prstGeom prst="rect">
            <a:avLst/>
          </a:prstGeom>
          <a:noFill/>
        </p:spPr>
        <p:txBody>
          <a:bodyPr wrap="square">
            <a:spAutoFit/>
          </a:bodyPr>
          <a:lstStyle/>
          <a:p>
            <a:pPr algn="l"/>
            <a:r>
              <a:rPr sz="1500" b="1" i="0">
                <a:solidFill>
                  <a:srgbClr val="A0FFB0"/>
                </a:solidFill>
              </a:rPr>
              <a:t>🎙️  Podcast Premium</a:t>
            </a:r>
          </a:p>
        </p:txBody>
      </p:sp>
      <p:sp>
        <p:nvSpPr>
          <p:cNvPr id="18" name="TextBox 17"/>
          <p:cNvSpPr txBox="1"/>
          <p:nvPr/>
        </p:nvSpPr>
        <p:spPr>
          <a:xfrm>
            <a:off x="6382512" y="3886200"/>
            <a:ext cx="4846320" cy="1188720"/>
          </a:xfrm>
          <a:prstGeom prst="rect">
            <a:avLst/>
          </a:prstGeom>
          <a:noFill/>
        </p:spPr>
        <p:txBody>
          <a:bodyPr wrap="square">
            <a:spAutoFit/>
          </a:bodyPr>
          <a:lstStyle/>
          <a:p>
            <a:pPr algn="l"/>
            <a:r>
              <a:rPr sz="1300" b="0" i="0">
                <a:solidFill>
                  <a:srgbClr val="F0F0F0"/>
                </a:solidFill>
              </a:rPr>
              <a:t>Premium episode access and listener subscriptions
Podcast hosting-as-a-service for creators
Launching Q4 2026</a:t>
            </a:r>
          </a:p>
        </p:txBody>
      </p:sp>
      <p:sp>
        <p:nvSpPr>
          <p:cNvPr id="19" name="TextBox 18"/>
          <p:cNvSpPr txBox="1"/>
          <p:nvPr/>
        </p:nvSpPr>
        <p:spPr>
          <a:xfrm>
            <a:off x="777240" y="5577840"/>
            <a:ext cx="10515600" cy="411480"/>
          </a:xfrm>
          <a:prstGeom prst="rect">
            <a:avLst/>
          </a:prstGeom>
          <a:noFill/>
        </p:spPr>
        <p:txBody>
          <a:bodyPr wrap="square">
            <a:spAutoFit/>
          </a:bodyPr>
          <a:lstStyle/>
          <a:p>
            <a:pPr algn="ctr"/>
            <a:r>
              <a:rPr sz="1300" b="0" i="1">
                <a:solidFill>
                  <a:srgbClr val="F5C842"/>
                </a:solidFill>
              </a:rPr>
              <a:t>Unit Economics: At 1M MAU — projected $4-8M ARR from gifting alone at 2% conversion rate</a:t>
            </a:r>
          </a:p>
        </p:txBody>
      </p:sp>
      <p:pic>
        <p:nvPicPr>
          <p:cNvPr id="20" name="Picture 19"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Growth Strategy</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188720"/>
            <a:ext cx="3566160" cy="4846320"/>
          </a:xfrm>
          <a:prstGeom prst="rect">
            <a:avLst/>
          </a:prstGeom>
          <a:solidFill>
            <a:srgbClr val="161830"/>
          </a:solidFill>
          <a:ln w="1905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298448"/>
            <a:ext cx="3291840" cy="502920"/>
          </a:xfrm>
          <a:prstGeom prst="rect">
            <a:avLst/>
          </a:prstGeom>
          <a:noFill/>
        </p:spPr>
        <p:txBody>
          <a:bodyPr wrap="square">
            <a:spAutoFit/>
          </a:bodyPr>
          <a:lstStyle/>
          <a:p>
            <a:pPr algn="l"/>
            <a:r>
              <a:rPr sz="1300" b="1" i="0">
                <a:solidFill>
                  <a:srgbClr val="F5C842"/>
                </a:solidFill>
              </a:rPr>
              <a:t>PHASE 1  ·  0–6 Months</a:t>
            </a:r>
          </a:p>
        </p:txBody>
      </p:sp>
      <p:sp>
        <p:nvSpPr>
          <p:cNvPr id="9" name="TextBox 8"/>
          <p:cNvSpPr txBox="1"/>
          <p:nvPr/>
        </p:nvSpPr>
        <p:spPr>
          <a:xfrm>
            <a:off x="777240" y="1874520"/>
            <a:ext cx="3291840" cy="685800"/>
          </a:xfrm>
          <a:prstGeom prst="rect">
            <a:avLst/>
          </a:prstGeom>
          <a:noFill/>
        </p:spPr>
        <p:txBody>
          <a:bodyPr wrap="square">
            <a:spAutoFit/>
          </a:bodyPr>
          <a:lstStyle/>
          <a:p>
            <a:pPr algn="l"/>
            <a:r>
              <a:rPr sz="1200" b="0" i="0">
                <a:solidFill>
                  <a:srgbClr val="F0F0F0"/>
                </a:solidFill>
              </a:rPr>
              <a:t>· 50 Founding Creators — seed authentic content library</a:t>
            </a:r>
          </a:p>
        </p:txBody>
      </p:sp>
      <p:sp>
        <p:nvSpPr>
          <p:cNvPr id="10" name="TextBox 9"/>
          <p:cNvSpPr txBox="1"/>
          <p:nvPr/>
        </p:nvSpPr>
        <p:spPr>
          <a:xfrm>
            <a:off x="777240" y="2624327"/>
            <a:ext cx="3291840" cy="685800"/>
          </a:xfrm>
          <a:prstGeom prst="rect">
            <a:avLst/>
          </a:prstGeom>
          <a:noFill/>
        </p:spPr>
        <p:txBody>
          <a:bodyPr wrap="square">
            <a:spAutoFit/>
          </a:bodyPr>
          <a:lstStyle/>
          <a:p>
            <a:pPr algn="l"/>
            <a:r>
              <a:rPr sz="1200" b="0" i="0">
                <a:solidFill>
                  <a:srgbClr val="F0F0F0"/>
                </a:solidFill>
              </a:rPr>
              <a:t>· Diaspora community targeting: South Asian, Sri Lankan, Pacific Islander</a:t>
            </a:r>
          </a:p>
        </p:txBody>
      </p:sp>
      <p:sp>
        <p:nvSpPr>
          <p:cNvPr id="11" name="TextBox 10"/>
          <p:cNvSpPr txBox="1"/>
          <p:nvPr/>
        </p:nvSpPr>
        <p:spPr>
          <a:xfrm>
            <a:off x="777240" y="3374135"/>
            <a:ext cx="3291840" cy="685800"/>
          </a:xfrm>
          <a:prstGeom prst="rect">
            <a:avLst/>
          </a:prstGeom>
          <a:noFill/>
        </p:spPr>
        <p:txBody>
          <a:bodyPr wrap="square">
            <a:spAutoFit/>
          </a:bodyPr>
          <a:lstStyle/>
          <a:p>
            <a:pPr algn="l"/>
            <a:r>
              <a:rPr sz="1200" b="0" i="0">
                <a:solidFill>
                  <a:srgbClr val="F0F0F0"/>
                </a:solidFill>
              </a:rPr>
              <a:t>· App Store launch (iOS + Android) — Q3 2026</a:t>
            </a:r>
          </a:p>
        </p:txBody>
      </p:sp>
      <p:sp>
        <p:nvSpPr>
          <p:cNvPr id="12" name="TextBox 11"/>
          <p:cNvSpPr txBox="1"/>
          <p:nvPr/>
        </p:nvSpPr>
        <p:spPr>
          <a:xfrm>
            <a:off x="777240" y="4123944"/>
            <a:ext cx="3291840" cy="685800"/>
          </a:xfrm>
          <a:prstGeom prst="rect">
            <a:avLst/>
          </a:prstGeom>
          <a:noFill/>
        </p:spPr>
        <p:txBody>
          <a:bodyPr wrap="square">
            <a:spAutoFit/>
          </a:bodyPr>
          <a:lstStyle/>
          <a:p>
            <a:pPr algn="l"/>
            <a:r>
              <a:rPr sz="1200" b="0" i="0">
                <a:solidFill>
                  <a:srgbClr val="F0F0F0"/>
                </a:solidFill>
              </a:rPr>
              <a:t>· Influencer partnerships and creator referral program</a:t>
            </a:r>
          </a:p>
        </p:txBody>
      </p:sp>
      <p:sp>
        <p:nvSpPr>
          <p:cNvPr id="13" name="TextBox 12"/>
          <p:cNvSpPr txBox="1"/>
          <p:nvPr/>
        </p:nvSpPr>
        <p:spPr>
          <a:xfrm>
            <a:off x="777240" y="4873751"/>
            <a:ext cx="3291840" cy="685800"/>
          </a:xfrm>
          <a:prstGeom prst="rect">
            <a:avLst/>
          </a:prstGeom>
          <a:noFill/>
        </p:spPr>
        <p:txBody>
          <a:bodyPr wrap="square">
            <a:spAutoFit/>
          </a:bodyPr>
          <a:lstStyle/>
          <a:p>
            <a:pPr algn="l"/>
            <a:r>
              <a:rPr sz="1200" b="0" i="0">
                <a:solidFill>
                  <a:srgbClr val="F0F0F0"/>
                </a:solidFill>
              </a:rPr>
              <a:t>· Target: 10,000 MAU</a:t>
            </a:r>
          </a:p>
        </p:txBody>
      </p:sp>
      <p:sp>
        <p:nvSpPr>
          <p:cNvPr id="14" name="Rectangle 13"/>
          <p:cNvSpPr/>
          <p:nvPr/>
        </p:nvSpPr>
        <p:spPr>
          <a:xfrm>
            <a:off x="4434840" y="1188720"/>
            <a:ext cx="3566160" cy="4846320"/>
          </a:xfrm>
          <a:prstGeom prst="rect">
            <a:avLst/>
          </a:prstGeom>
          <a:solidFill>
            <a:srgbClr val="161830"/>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0" y="1298448"/>
            <a:ext cx="3291840" cy="502920"/>
          </a:xfrm>
          <a:prstGeom prst="rect">
            <a:avLst/>
          </a:prstGeom>
          <a:noFill/>
        </p:spPr>
        <p:txBody>
          <a:bodyPr wrap="square">
            <a:spAutoFit/>
          </a:bodyPr>
          <a:lstStyle/>
          <a:p>
            <a:pPr algn="l"/>
            <a:r>
              <a:rPr sz="1300" b="1" i="0">
                <a:solidFill>
                  <a:srgbClr val="FF6B6B"/>
                </a:solidFill>
              </a:rPr>
              <a:t>PHASE 2  ·  6–18 Months</a:t>
            </a:r>
          </a:p>
        </p:txBody>
      </p:sp>
      <p:sp>
        <p:nvSpPr>
          <p:cNvPr id="16" name="TextBox 15"/>
          <p:cNvSpPr txBox="1"/>
          <p:nvPr/>
        </p:nvSpPr>
        <p:spPr>
          <a:xfrm>
            <a:off x="4572000" y="1874520"/>
            <a:ext cx="3291840" cy="685800"/>
          </a:xfrm>
          <a:prstGeom prst="rect">
            <a:avLst/>
          </a:prstGeom>
          <a:noFill/>
        </p:spPr>
        <p:txBody>
          <a:bodyPr wrap="square">
            <a:spAutoFit/>
          </a:bodyPr>
          <a:lstStyle/>
          <a:p>
            <a:pPr algn="l"/>
            <a:r>
              <a:rPr sz="1200" b="0" i="0">
                <a:solidFill>
                  <a:srgbClr val="F0F0F0"/>
                </a:solidFill>
              </a:rPr>
              <a:t>· Brand ambassador program in 5 key markets</a:t>
            </a:r>
          </a:p>
        </p:txBody>
      </p:sp>
      <p:sp>
        <p:nvSpPr>
          <p:cNvPr id="17" name="TextBox 16"/>
          <p:cNvSpPr txBox="1"/>
          <p:nvPr/>
        </p:nvSpPr>
        <p:spPr>
          <a:xfrm>
            <a:off x="4572000" y="2624327"/>
            <a:ext cx="3291840" cy="685800"/>
          </a:xfrm>
          <a:prstGeom prst="rect">
            <a:avLst/>
          </a:prstGeom>
          <a:noFill/>
        </p:spPr>
        <p:txBody>
          <a:bodyPr wrap="square">
            <a:spAutoFit/>
          </a:bodyPr>
          <a:lstStyle/>
          <a:p>
            <a:pPr algn="l"/>
            <a:r>
              <a:rPr sz="1200" b="0" i="0">
                <a:solidFill>
                  <a:srgbClr val="F0F0F0"/>
                </a:solidFill>
              </a:rPr>
              <a:t>· Podcast network partnerships — syndication deals</a:t>
            </a:r>
          </a:p>
        </p:txBody>
      </p:sp>
      <p:sp>
        <p:nvSpPr>
          <p:cNvPr id="18" name="TextBox 17"/>
          <p:cNvSpPr txBox="1"/>
          <p:nvPr/>
        </p:nvSpPr>
        <p:spPr>
          <a:xfrm>
            <a:off x="4572000" y="3374135"/>
            <a:ext cx="3291840" cy="685800"/>
          </a:xfrm>
          <a:prstGeom prst="rect">
            <a:avLst/>
          </a:prstGeom>
          <a:noFill/>
        </p:spPr>
        <p:txBody>
          <a:bodyPr wrap="square">
            <a:spAutoFit/>
          </a:bodyPr>
          <a:lstStyle/>
          <a:p>
            <a:pPr algn="l"/>
            <a:r>
              <a:rPr sz="1200" b="0" i="0">
                <a:solidFill>
                  <a:srgbClr val="F0F0F0"/>
                </a:solidFill>
              </a:rPr>
              <a:t>· Targeted paid acquisition: TikTok refugees, diaspora communities</a:t>
            </a:r>
          </a:p>
        </p:txBody>
      </p:sp>
      <p:sp>
        <p:nvSpPr>
          <p:cNvPr id="19" name="TextBox 18"/>
          <p:cNvSpPr txBox="1"/>
          <p:nvPr/>
        </p:nvSpPr>
        <p:spPr>
          <a:xfrm>
            <a:off x="4572000" y="4123944"/>
            <a:ext cx="3291840" cy="685800"/>
          </a:xfrm>
          <a:prstGeom prst="rect">
            <a:avLst/>
          </a:prstGeom>
          <a:noFill/>
        </p:spPr>
        <p:txBody>
          <a:bodyPr wrap="square">
            <a:spAutoFit/>
          </a:bodyPr>
          <a:lstStyle/>
          <a:p>
            <a:pPr algn="l"/>
            <a:r>
              <a:rPr sz="1200" b="0" i="0">
                <a:solidFill>
                  <a:srgbClr val="F0F0F0"/>
                </a:solidFill>
              </a:rPr>
              <a:t>· API open for third-party integrations</a:t>
            </a:r>
          </a:p>
        </p:txBody>
      </p:sp>
      <p:sp>
        <p:nvSpPr>
          <p:cNvPr id="20" name="TextBox 19"/>
          <p:cNvSpPr txBox="1"/>
          <p:nvPr/>
        </p:nvSpPr>
        <p:spPr>
          <a:xfrm>
            <a:off x="4572000" y="4873751"/>
            <a:ext cx="3291840" cy="685800"/>
          </a:xfrm>
          <a:prstGeom prst="rect">
            <a:avLst/>
          </a:prstGeom>
          <a:noFill/>
        </p:spPr>
        <p:txBody>
          <a:bodyPr wrap="square">
            <a:spAutoFit/>
          </a:bodyPr>
          <a:lstStyle/>
          <a:p>
            <a:pPr algn="l"/>
            <a:r>
              <a:rPr sz="1200" b="0" i="0">
                <a:solidFill>
                  <a:srgbClr val="F0F0F0"/>
                </a:solidFill>
              </a:rPr>
              <a:t>· Target: 250,000 MAU</a:t>
            </a:r>
          </a:p>
        </p:txBody>
      </p:sp>
      <p:sp>
        <p:nvSpPr>
          <p:cNvPr id="21" name="Rectangle 20"/>
          <p:cNvSpPr/>
          <p:nvPr/>
        </p:nvSpPr>
        <p:spPr>
          <a:xfrm>
            <a:off x="8229600" y="1188720"/>
            <a:ext cx="3566160" cy="4846320"/>
          </a:xfrm>
          <a:prstGeom prst="rect">
            <a:avLst/>
          </a:prstGeom>
          <a:solidFill>
            <a:srgbClr val="161830"/>
          </a:solidFill>
          <a:ln w="1905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66760" y="1298448"/>
            <a:ext cx="3291840" cy="502920"/>
          </a:xfrm>
          <a:prstGeom prst="rect">
            <a:avLst/>
          </a:prstGeom>
          <a:noFill/>
        </p:spPr>
        <p:txBody>
          <a:bodyPr wrap="square">
            <a:spAutoFit/>
          </a:bodyPr>
          <a:lstStyle/>
          <a:p>
            <a:pPr algn="l"/>
            <a:r>
              <a:rPr sz="1300" b="1" i="0">
                <a:solidFill>
                  <a:srgbClr val="7BD4FF"/>
                </a:solidFill>
              </a:rPr>
              <a:t>PHASE 3  ·  18–36 Months</a:t>
            </a:r>
          </a:p>
        </p:txBody>
      </p:sp>
      <p:sp>
        <p:nvSpPr>
          <p:cNvPr id="23" name="TextBox 22"/>
          <p:cNvSpPr txBox="1"/>
          <p:nvPr/>
        </p:nvSpPr>
        <p:spPr>
          <a:xfrm>
            <a:off x="8366760" y="1874520"/>
            <a:ext cx="3291840" cy="685800"/>
          </a:xfrm>
          <a:prstGeom prst="rect">
            <a:avLst/>
          </a:prstGeom>
          <a:noFill/>
        </p:spPr>
        <p:txBody>
          <a:bodyPr wrap="square">
            <a:spAutoFit/>
          </a:bodyPr>
          <a:lstStyle/>
          <a:p>
            <a:pPr algn="l"/>
            <a:r>
              <a:rPr sz="1200" b="0" i="0">
                <a:solidFill>
                  <a:srgbClr val="F0F0F0"/>
                </a:solidFill>
              </a:rPr>
              <a:t>· Bare metal infrastructure deployment — Colombo, Sri Lanka HQ</a:t>
            </a:r>
          </a:p>
        </p:txBody>
      </p:sp>
      <p:sp>
        <p:nvSpPr>
          <p:cNvPr id="24" name="TextBox 23"/>
          <p:cNvSpPr txBox="1"/>
          <p:nvPr/>
        </p:nvSpPr>
        <p:spPr>
          <a:xfrm>
            <a:off x="8366760" y="2624327"/>
            <a:ext cx="3291840" cy="685800"/>
          </a:xfrm>
          <a:prstGeom prst="rect">
            <a:avLst/>
          </a:prstGeom>
          <a:noFill/>
        </p:spPr>
        <p:txBody>
          <a:bodyPr wrap="square">
            <a:spAutoFit/>
          </a:bodyPr>
          <a:lstStyle/>
          <a:p>
            <a:pPr algn="l"/>
            <a:r>
              <a:rPr sz="1200" b="0" i="0">
                <a:solidFill>
                  <a:srgbClr val="F0F0F0"/>
                </a:solidFill>
              </a:rPr>
              <a:t>· Regional expansion: South Asia, Pacific, Middle East</a:t>
            </a:r>
          </a:p>
        </p:txBody>
      </p:sp>
      <p:sp>
        <p:nvSpPr>
          <p:cNvPr id="25" name="TextBox 24"/>
          <p:cNvSpPr txBox="1"/>
          <p:nvPr/>
        </p:nvSpPr>
        <p:spPr>
          <a:xfrm>
            <a:off x="8366760" y="3374135"/>
            <a:ext cx="3291840" cy="685800"/>
          </a:xfrm>
          <a:prstGeom prst="rect">
            <a:avLst/>
          </a:prstGeom>
          <a:noFill/>
        </p:spPr>
        <p:txBody>
          <a:bodyPr wrap="square">
            <a:spAutoFit/>
          </a:bodyPr>
          <a:lstStyle/>
          <a:p>
            <a:pPr algn="l"/>
            <a:r>
              <a:rPr sz="1200" b="0" i="0">
                <a:solidFill>
                  <a:srgbClr val="F0F0F0"/>
                </a:solidFill>
              </a:rPr>
              <a:t>· Creator fund launch: $1M/year distributed to top creators</a:t>
            </a:r>
          </a:p>
        </p:txBody>
      </p:sp>
      <p:sp>
        <p:nvSpPr>
          <p:cNvPr id="26" name="TextBox 25"/>
          <p:cNvSpPr txBox="1"/>
          <p:nvPr/>
        </p:nvSpPr>
        <p:spPr>
          <a:xfrm>
            <a:off x="8366760" y="4123944"/>
            <a:ext cx="3291840" cy="685800"/>
          </a:xfrm>
          <a:prstGeom prst="rect">
            <a:avLst/>
          </a:prstGeom>
          <a:noFill/>
        </p:spPr>
        <p:txBody>
          <a:bodyPr wrap="square">
            <a:spAutoFit/>
          </a:bodyPr>
          <a:lstStyle/>
          <a:p>
            <a:pPr algn="l"/>
            <a:r>
              <a:rPr sz="1200" b="0" i="0">
                <a:solidFill>
                  <a:srgbClr val="F0F0F0"/>
                </a:solidFill>
              </a:rPr>
              <a:t>· Series B raise based on MAU and revenue traction</a:t>
            </a:r>
          </a:p>
        </p:txBody>
      </p:sp>
      <p:sp>
        <p:nvSpPr>
          <p:cNvPr id="27" name="TextBox 26"/>
          <p:cNvSpPr txBox="1"/>
          <p:nvPr/>
        </p:nvSpPr>
        <p:spPr>
          <a:xfrm>
            <a:off x="8366760" y="4873751"/>
            <a:ext cx="3291840" cy="685800"/>
          </a:xfrm>
          <a:prstGeom prst="rect">
            <a:avLst/>
          </a:prstGeom>
          <a:noFill/>
        </p:spPr>
        <p:txBody>
          <a:bodyPr wrap="square">
            <a:spAutoFit/>
          </a:bodyPr>
          <a:lstStyle/>
          <a:p>
            <a:pPr algn="l"/>
            <a:r>
              <a:rPr sz="1200" b="0" i="0">
                <a:solidFill>
                  <a:srgbClr val="F0F0F0"/>
                </a:solidFill>
              </a:rPr>
              <a:t>· Target: 1M–5M MAU</a:t>
            </a:r>
          </a:p>
        </p:txBody>
      </p:sp>
      <p:pic>
        <p:nvPicPr>
          <p:cNvPr id="28" name="Picture 27"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10515600" cy="594360"/>
          </a:xfrm>
          <a:prstGeom prst="rect">
            <a:avLst/>
          </a:prstGeom>
          <a:noFill/>
        </p:spPr>
        <p:txBody>
          <a:bodyPr wrap="square">
            <a:spAutoFit/>
          </a:bodyPr>
          <a:lstStyle/>
          <a:p>
            <a:pPr algn="l"/>
            <a:r>
              <a:rPr sz="3400" b="1" i="0">
                <a:solidFill>
                  <a:srgbClr val="F5C842"/>
                </a:solidFill>
              </a:rPr>
              <a:t>Global Operations: Colombo, Sri Lanka</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43000"/>
            <a:ext cx="10515600" cy="594360"/>
          </a:xfrm>
          <a:prstGeom prst="rect">
            <a:avLst/>
          </a:prstGeom>
          <a:noFill/>
        </p:spPr>
        <p:txBody>
          <a:bodyPr wrap="square">
            <a:spAutoFit/>
          </a:bodyPr>
          <a:lstStyle/>
          <a:p>
            <a:pPr algn="l"/>
            <a:r>
              <a:rPr sz="1600" b="0" i="0">
                <a:solidFill>
                  <a:srgbClr val="FFFFFF"/>
                </a:solidFill>
              </a:rPr>
              <a:t>A dedicated engineering and operations hub in Colombo, Sri Lanka — combining world-class talent, cost efficiency, and 24/7 global coverage.</a:t>
            </a:r>
          </a:p>
        </p:txBody>
      </p:sp>
      <p:sp>
        <p:nvSpPr>
          <p:cNvPr id="8" name="TextBox 7"/>
          <p:cNvSpPr txBox="1"/>
          <p:nvPr/>
        </p:nvSpPr>
        <p:spPr>
          <a:xfrm>
            <a:off x="777240" y="1920240"/>
            <a:ext cx="5029200" cy="365760"/>
          </a:xfrm>
          <a:prstGeom prst="rect">
            <a:avLst/>
          </a:prstGeom>
          <a:noFill/>
        </p:spPr>
        <p:txBody>
          <a:bodyPr wrap="square">
            <a:spAutoFit/>
          </a:bodyPr>
          <a:lstStyle/>
          <a:p>
            <a:pPr algn="l"/>
            <a:r>
              <a:rPr sz="1500" b="1" i="0">
                <a:solidFill>
                  <a:srgbClr val="F5C842"/>
                </a:solidFill>
              </a:rPr>
              <a:t>ENGINEERING TEAM</a:t>
            </a:r>
          </a:p>
        </p:txBody>
      </p:sp>
      <p:sp>
        <p:nvSpPr>
          <p:cNvPr id="9" name="TextBox 8"/>
          <p:cNvSpPr txBox="1"/>
          <p:nvPr/>
        </p:nvSpPr>
        <p:spPr>
          <a:xfrm>
            <a:off x="777240" y="2377440"/>
            <a:ext cx="5029200" cy="365760"/>
          </a:xfrm>
          <a:prstGeom prst="rect">
            <a:avLst/>
          </a:prstGeom>
          <a:noFill/>
        </p:spPr>
        <p:txBody>
          <a:bodyPr wrap="square">
            <a:spAutoFit/>
          </a:bodyPr>
          <a:lstStyle/>
          <a:p>
            <a:pPr algn="l"/>
            <a:r>
              <a:rPr sz="1400" b="0" i="0">
                <a:solidFill>
                  <a:srgbClr val="FFFFFF"/>
                </a:solidFill>
              </a:rPr>
              <a:t>· 10–15 full-stack developers (Phase 1 hire)</a:t>
            </a:r>
          </a:p>
        </p:txBody>
      </p:sp>
      <p:sp>
        <p:nvSpPr>
          <p:cNvPr id="10" name="TextBox 9"/>
          <p:cNvSpPr txBox="1"/>
          <p:nvPr/>
        </p:nvSpPr>
        <p:spPr>
          <a:xfrm>
            <a:off x="777240" y="2779776"/>
            <a:ext cx="5029200" cy="365760"/>
          </a:xfrm>
          <a:prstGeom prst="rect">
            <a:avLst/>
          </a:prstGeom>
          <a:noFill/>
        </p:spPr>
        <p:txBody>
          <a:bodyPr wrap="square">
            <a:spAutoFit/>
          </a:bodyPr>
          <a:lstStyle/>
          <a:p>
            <a:pPr algn="l"/>
            <a:r>
              <a:rPr sz="1400" b="0" i="0">
                <a:solidFill>
                  <a:srgbClr val="FFFFFF"/>
                </a:solidFill>
              </a:rPr>
              <a:t>· Specialties: React, Node.js, mobile (iOS/Android)</a:t>
            </a:r>
          </a:p>
        </p:txBody>
      </p:sp>
      <p:sp>
        <p:nvSpPr>
          <p:cNvPr id="11" name="TextBox 10"/>
          <p:cNvSpPr txBox="1"/>
          <p:nvPr/>
        </p:nvSpPr>
        <p:spPr>
          <a:xfrm>
            <a:off x="777240" y="3182112"/>
            <a:ext cx="5029200" cy="365760"/>
          </a:xfrm>
          <a:prstGeom prst="rect">
            <a:avLst/>
          </a:prstGeom>
          <a:noFill/>
        </p:spPr>
        <p:txBody>
          <a:bodyPr wrap="square">
            <a:spAutoFit/>
          </a:bodyPr>
          <a:lstStyle/>
          <a:p>
            <a:pPr algn="l"/>
            <a:r>
              <a:rPr sz="1400" b="0" i="0">
                <a:solidFill>
                  <a:srgbClr val="FFFFFF"/>
                </a:solidFill>
              </a:rPr>
              <a:t>· Dedicated QA and DevOps engineers</a:t>
            </a:r>
          </a:p>
        </p:txBody>
      </p:sp>
      <p:sp>
        <p:nvSpPr>
          <p:cNvPr id="12" name="TextBox 11"/>
          <p:cNvSpPr txBox="1"/>
          <p:nvPr/>
        </p:nvSpPr>
        <p:spPr>
          <a:xfrm>
            <a:off x="777240" y="3584448"/>
            <a:ext cx="5029200" cy="365760"/>
          </a:xfrm>
          <a:prstGeom prst="rect">
            <a:avLst/>
          </a:prstGeom>
          <a:noFill/>
        </p:spPr>
        <p:txBody>
          <a:bodyPr wrap="square">
            <a:spAutoFit/>
          </a:bodyPr>
          <a:lstStyle/>
          <a:p>
            <a:pPr algn="l"/>
            <a:r>
              <a:rPr sz="1400" b="0" i="0">
                <a:solidFill>
                  <a:srgbClr val="FFFFFF"/>
                </a:solidFill>
              </a:rPr>
              <a:t>· Led by a senior engineering director</a:t>
            </a:r>
          </a:p>
        </p:txBody>
      </p:sp>
      <p:sp>
        <p:nvSpPr>
          <p:cNvPr id="13" name="TextBox 12"/>
          <p:cNvSpPr txBox="1"/>
          <p:nvPr/>
        </p:nvSpPr>
        <p:spPr>
          <a:xfrm>
            <a:off x="777240" y="3986784"/>
            <a:ext cx="5029200" cy="365760"/>
          </a:xfrm>
          <a:prstGeom prst="rect">
            <a:avLst/>
          </a:prstGeom>
          <a:noFill/>
        </p:spPr>
        <p:txBody>
          <a:bodyPr wrap="square">
            <a:spAutoFit/>
          </a:bodyPr>
          <a:lstStyle/>
          <a:p>
            <a:pPr algn="l"/>
            <a:r>
              <a:rPr sz="1400" b="0" i="0">
                <a:solidFill>
                  <a:srgbClr val="FFFFFF"/>
                </a:solidFill>
              </a:rPr>
              <a:t>· Average Sri Lankan developer cost: $15–25K/yr</a:t>
            </a:r>
          </a:p>
        </p:txBody>
      </p:sp>
      <p:sp>
        <p:nvSpPr>
          <p:cNvPr id="14" name="TextBox 13"/>
          <p:cNvSpPr txBox="1"/>
          <p:nvPr/>
        </p:nvSpPr>
        <p:spPr>
          <a:xfrm>
            <a:off x="777240" y="4389120"/>
            <a:ext cx="5029200" cy="365760"/>
          </a:xfrm>
          <a:prstGeom prst="rect">
            <a:avLst/>
          </a:prstGeom>
          <a:noFill/>
        </p:spPr>
        <p:txBody>
          <a:bodyPr wrap="square">
            <a:spAutoFit/>
          </a:bodyPr>
          <a:lstStyle/>
          <a:p>
            <a:pPr algn="l"/>
            <a:r>
              <a:rPr sz="1400" b="0" i="0">
                <a:solidFill>
                  <a:srgbClr val="FFFFFF"/>
                </a:solidFill>
              </a:rPr>
              <a:t>  vs. $120–180K US equivalent — 6–8x cost advantage</a:t>
            </a:r>
          </a:p>
        </p:txBody>
      </p:sp>
      <p:sp>
        <p:nvSpPr>
          <p:cNvPr id="15" name="TextBox 14"/>
          <p:cNvSpPr txBox="1"/>
          <p:nvPr/>
        </p:nvSpPr>
        <p:spPr>
          <a:xfrm>
            <a:off x="6400800" y="1920240"/>
            <a:ext cx="5029200" cy="365760"/>
          </a:xfrm>
          <a:prstGeom prst="rect">
            <a:avLst/>
          </a:prstGeom>
          <a:noFill/>
        </p:spPr>
        <p:txBody>
          <a:bodyPr wrap="square">
            <a:spAutoFit/>
          </a:bodyPr>
          <a:lstStyle/>
          <a:p>
            <a:pPr algn="l"/>
            <a:r>
              <a:rPr sz="1500" b="1" i="0">
                <a:solidFill>
                  <a:srgbClr val="FF6B6B"/>
                </a:solidFill>
              </a:rPr>
              <a:t>RESPONSIBILITIES</a:t>
            </a:r>
          </a:p>
        </p:txBody>
      </p:sp>
      <p:sp>
        <p:nvSpPr>
          <p:cNvPr id="16" name="TextBox 15"/>
          <p:cNvSpPr txBox="1"/>
          <p:nvPr/>
        </p:nvSpPr>
        <p:spPr>
          <a:xfrm>
            <a:off x="6400800" y="2377440"/>
            <a:ext cx="5303520" cy="365760"/>
          </a:xfrm>
          <a:prstGeom prst="rect">
            <a:avLst/>
          </a:prstGeom>
          <a:noFill/>
        </p:spPr>
        <p:txBody>
          <a:bodyPr wrap="square">
            <a:spAutoFit/>
          </a:bodyPr>
          <a:lstStyle/>
          <a:p>
            <a:pPr algn="l"/>
            <a:r>
              <a:rPr sz="1400" b="0" i="0">
                <a:solidFill>
                  <a:srgbClr val="FFFFFF"/>
                </a:solidFill>
              </a:rPr>
              <a:t>· Platform cleanup, optimization, and bug resolution</a:t>
            </a:r>
          </a:p>
        </p:txBody>
      </p:sp>
      <p:sp>
        <p:nvSpPr>
          <p:cNvPr id="17" name="TextBox 16"/>
          <p:cNvSpPr txBox="1"/>
          <p:nvPr/>
        </p:nvSpPr>
        <p:spPr>
          <a:xfrm>
            <a:off x="6400800" y="2779776"/>
            <a:ext cx="5303520" cy="365760"/>
          </a:xfrm>
          <a:prstGeom prst="rect">
            <a:avLst/>
          </a:prstGeom>
          <a:noFill/>
        </p:spPr>
        <p:txBody>
          <a:bodyPr wrap="square">
            <a:spAutoFit/>
          </a:bodyPr>
          <a:lstStyle/>
          <a:p>
            <a:pPr algn="l"/>
            <a:r>
              <a:rPr sz="1400" b="0" i="0">
                <a:solidFill>
                  <a:srgbClr val="FFFFFF"/>
                </a:solidFill>
              </a:rPr>
              <a:t>· Feature development and roadmap execution</a:t>
            </a:r>
          </a:p>
        </p:txBody>
      </p:sp>
      <p:sp>
        <p:nvSpPr>
          <p:cNvPr id="18" name="TextBox 17"/>
          <p:cNvSpPr txBox="1"/>
          <p:nvPr/>
        </p:nvSpPr>
        <p:spPr>
          <a:xfrm>
            <a:off x="6400800" y="3182112"/>
            <a:ext cx="5303520" cy="365760"/>
          </a:xfrm>
          <a:prstGeom prst="rect">
            <a:avLst/>
          </a:prstGeom>
          <a:noFill/>
        </p:spPr>
        <p:txBody>
          <a:bodyPr wrap="square">
            <a:spAutoFit/>
          </a:bodyPr>
          <a:lstStyle/>
          <a:p>
            <a:pPr algn="l"/>
            <a:r>
              <a:rPr sz="1400" b="0" i="0">
                <a:solidFill>
                  <a:srgbClr val="FFFFFF"/>
                </a:solidFill>
              </a:rPr>
              <a:t>· Migration management for infrastructure scaling</a:t>
            </a:r>
          </a:p>
        </p:txBody>
      </p:sp>
      <p:sp>
        <p:nvSpPr>
          <p:cNvPr id="19" name="TextBox 18"/>
          <p:cNvSpPr txBox="1"/>
          <p:nvPr/>
        </p:nvSpPr>
        <p:spPr>
          <a:xfrm>
            <a:off x="6400800" y="3584448"/>
            <a:ext cx="5303520" cy="365760"/>
          </a:xfrm>
          <a:prstGeom prst="rect">
            <a:avLst/>
          </a:prstGeom>
          <a:noFill/>
        </p:spPr>
        <p:txBody>
          <a:bodyPr wrap="square">
            <a:spAutoFit/>
          </a:bodyPr>
          <a:lstStyle/>
          <a:p>
            <a:pPr algn="l"/>
            <a:r>
              <a:rPr sz="1400" b="0" i="0">
                <a:solidFill>
                  <a:srgbClr val="FFFFFF"/>
                </a:solidFill>
              </a:rPr>
              <a:t>· 24/7 customer service and platform monitoring</a:t>
            </a:r>
          </a:p>
        </p:txBody>
      </p:sp>
      <p:sp>
        <p:nvSpPr>
          <p:cNvPr id="20" name="TextBox 19"/>
          <p:cNvSpPr txBox="1"/>
          <p:nvPr/>
        </p:nvSpPr>
        <p:spPr>
          <a:xfrm>
            <a:off x="6400800" y="3986784"/>
            <a:ext cx="5303520" cy="365760"/>
          </a:xfrm>
          <a:prstGeom prst="rect">
            <a:avLst/>
          </a:prstGeom>
          <a:noFill/>
        </p:spPr>
        <p:txBody>
          <a:bodyPr wrap="square">
            <a:spAutoFit/>
          </a:bodyPr>
          <a:lstStyle/>
          <a:p>
            <a:pPr algn="l"/>
            <a:r>
              <a:rPr sz="1400" b="0" i="0">
                <a:solidFill>
                  <a:srgbClr val="FFFFFF"/>
                </a:solidFill>
              </a:rPr>
              <a:t>· App Store compliance and release management</a:t>
            </a:r>
          </a:p>
        </p:txBody>
      </p:sp>
      <p:sp>
        <p:nvSpPr>
          <p:cNvPr id="21" name="TextBox 20"/>
          <p:cNvSpPr txBox="1"/>
          <p:nvPr/>
        </p:nvSpPr>
        <p:spPr>
          <a:xfrm>
            <a:off x="6400800" y="4389120"/>
            <a:ext cx="5303520" cy="365760"/>
          </a:xfrm>
          <a:prstGeom prst="rect">
            <a:avLst/>
          </a:prstGeom>
          <a:noFill/>
        </p:spPr>
        <p:txBody>
          <a:bodyPr wrap="square">
            <a:spAutoFit/>
          </a:bodyPr>
          <a:lstStyle/>
          <a:p>
            <a:pPr algn="l"/>
            <a:r>
              <a:rPr sz="1400" b="0" i="0">
                <a:solidFill>
                  <a:srgbClr val="FFFFFF"/>
                </a:solidFill>
              </a:rPr>
              <a:t>· Future: on-site bare metal infrastructure ops</a:t>
            </a:r>
          </a:p>
        </p:txBody>
      </p:sp>
      <p:sp>
        <p:nvSpPr>
          <p:cNvPr id="22" name="Rectangle 21"/>
          <p:cNvSpPr/>
          <p:nvPr/>
        </p:nvSpPr>
        <p:spPr>
          <a:xfrm>
            <a:off x="640080" y="5303520"/>
            <a:ext cx="10881360" cy="1143000"/>
          </a:xfrm>
          <a:prstGeom prst="rect">
            <a:avLst/>
          </a:prstGeom>
          <a:solidFill>
            <a:srgbClr val="161830"/>
          </a:solidFill>
          <a:ln w="1270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376672"/>
            <a:ext cx="10515600" cy="1005840"/>
          </a:xfrm>
          <a:prstGeom prst="rect">
            <a:avLst/>
          </a:prstGeom>
          <a:noFill/>
        </p:spPr>
        <p:txBody>
          <a:bodyPr wrap="square">
            <a:spAutoFit/>
          </a:bodyPr>
          <a:lstStyle/>
          <a:p>
            <a:pPr algn="l"/>
            <a:r>
              <a:rPr sz="1300" b="0" i="0">
                <a:solidFill>
                  <a:srgbClr val="F0F0F0"/>
                </a:solidFill>
              </a:rPr>
              <a:t>🏢  Phase 3 Infrastructure: Bare metal servers, switches, and networking equipment co-located at the Colombo facility. Eliminates ongoing cloud costs, provides full data sovereignty, and supports 5M+ user scale. Estimated infrastructure buildout: $2.5M of the $5M raise.</a:t>
            </a:r>
          </a:p>
        </p:txBody>
      </p:sp>
      <p:sp>
        <p:nvSpPr>
          <p:cNvPr id="24" name="Rectangle 23"/>
          <p:cNvSpPr/>
          <p:nvPr/>
        </p:nvSpPr>
        <p:spPr>
          <a:xfrm>
            <a:off x="0" y="1005840"/>
            <a:ext cx="12188952" cy="585216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256032"/>
            <a:ext cx="10515600" cy="594360"/>
          </a:xfrm>
          <a:prstGeom prst="rect">
            <a:avLst/>
          </a:prstGeom>
          <a:noFill/>
        </p:spPr>
        <p:txBody>
          <a:bodyPr wrap="square">
            <a:spAutoFit/>
          </a:bodyPr>
          <a:lstStyle/>
          <a:p>
            <a:pPr algn="l"/>
            <a:r>
              <a:rPr sz="3400" b="1" i="0">
                <a:solidFill>
                  <a:srgbClr val="F5C842"/>
                </a:solidFill>
              </a:rPr>
              <a:t>Global Operations: Colombo, Sri Lanka</a:t>
            </a:r>
          </a:p>
        </p:txBody>
      </p:sp>
      <p:sp>
        <p:nvSpPr>
          <p:cNvPr id="27" name="Rectangle 26"/>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1115568"/>
            <a:ext cx="10515600" cy="502920"/>
          </a:xfrm>
          <a:prstGeom prst="rect">
            <a:avLst/>
          </a:prstGeom>
          <a:noFill/>
        </p:spPr>
        <p:txBody>
          <a:bodyPr wrap="square">
            <a:spAutoFit/>
          </a:bodyPr>
          <a:lstStyle/>
          <a:p>
            <a:pPr algn="l"/>
            <a:r>
              <a:rPr sz="1500" b="0" i="0">
                <a:solidFill>
                  <a:srgbClr val="FFFFFF"/>
                </a:solidFill>
              </a:rPr>
              <a:t>A dedicated corporate engineering headquarters in Colombo — combining world-class talent, cost efficiency, and 24/7 global platform coverage.</a:t>
            </a:r>
          </a:p>
        </p:txBody>
      </p:sp>
      <p:sp>
        <p:nvSpPr>
          <p:cNvPr id="29" name="Rectangle 28"/>
          <p:cNvSpPr/>
          <p:nvPr/>
        </p:nvSpPr>
        <p:spPr>
          <a:xfrm>
            <a:off x="640080" y="1828800"/>
            <a:ext cx="3566160" cy="4160520"/>
          </a:xfrm>
          <a:prstGeom prst="rect">
            <a:avLst/>
          </a:prstGeom>
          <a:solidFill>
            <a:srgbClr val="161830"/>
          </a:solidFill>
          <a:ln w="1905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1920240"/>
            <a:ext cx="3291840" cy="384048"/>
          </a:xfrm>
          <a:prstGeom prst="rect">
            <a:avLst/>
          </a:prstGeom>
          <a:noFill/>
        </p:spPr>
        <p:txBody>
          <a:bodyPr wrap="square">
            <a:spAutoFit/>
          </a:bodyPr>
          <a:lstStyle/>
          <a:p>
            <a:pPr algn="l"/>
            <a:r>
              <a:rPr sz="1300" b="1" i="0">
                <a:solidFill>
                  <a:srgbClr val="F5C842"/>
                </a:solidFill>
              </a:rPr>
              <a:t>🏢  CORPORATE OFFICE SPACE</a:t>
            </a:r>
          </a:p>
        </p:txBody>
      </p:sp>
      <p:sp>
        <p:nvSpPr>
          <p:cNvPr id="31" name="Rectangle 30"/>
          <p:cNvSpPr/>
          <p:nvPr/>
        </p:nvSpPr>
        <p:spPr>
          <a:xfrm>
            <a:off x="777240" y="2350008"/>
            <a:ext cx="3291840" cy="2286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2450592"/>
            <a:ext cx="3291840" cy="438912"/>
          </a:xfrm>
          <a:prstGeom prst="rect">
            <a:avLst/>
          </a:prstGeom>
          <a:noFill/>
        </p:spPr>
        <p:txBody>
          <a:bodyPr wrap="square">
            <a:spAutoFit/>
          </a:bodyPr>
          <a:lstStyle/>
          <a:p>
            <a:pPr algn="l"/>
            <a:r>
              <a:rPr sz="1150" b="0" i="0">
                <a:solidFill>
                  <a:srgbClr val="F0F0F0"/>
                </a:solidFill>
              </a:rPr>
              <a:t>· Leased corporate office — Colombo 3 or Colombo 7</a:t>
            </a:r>
          </a:p>
        </p:txBody>
      </p:sp>
      <p:sp>
        <p:nvSpPr>
          <p:cNvPr id="33" name="TextBox 32"/>
          <p:cNvSpPr txBox="1"/>
          <p:nvPr/>
        </p:nvSpPr>
        <p:spPr>
          <a:xfrm>
            <a:off x="777240" y="2926080"/>
            <a:ext cx="3291840" cy="438912"/>
          </a:xfrm>
          <a:prstGeom prst="rect">
            <a:avLst/>
          </a:prstGeom>
          <a:noFill/>
        </p:spPr>
        <p:txBody>
          <a:bodyPr wrap="square">
            <a:spAutoFit/>
          </a:bodyPr>
          <a:lstStyle/>
          <a:p>
            <a:pPr algn="l"/>
            <a:r>
              <a:rPr sz="1150" b="0" i="0">
                <a:solidFill>
                  <a:srgbClr val="F0F0F0"/>
                </a:solidFill>
              </a:rPr>
              <a:t>· Prime tech district: Racecourse Ave / Flower Road area</a:t>
            </a:r>
          </a:p>
        </p:txBody>
      </p:sp>
      <p:sp>
        <p:nvSpPr>
          <p:cNvPr id="34" name="TextBox 33"/>
          <p:cNvSpPr txBox="1"/>
          <p:nvPr/>
        </p:nvSpPr>
        <p:spPr>
          <a:xfrm>
            <a:off x="777240" y="3401568"/>
            <a:ext cx="3291840" cy="438912"/>
          </a:xfrm>
          <a:prstGeom prst="rect">
            <a:avLst/>
          </a:prstGeom>
          <a:noFill/>
        </p:spPr>
        <p:txBody>
          <a:bodyPr wrap="square">
            <a:spAutoFit/>
          </a:bodyPr>
          <a:lstStyle/>
          <a:p>
            <a:pPr algn="l"/>
            <a:r>
              <a:rPr sz="1150" b="0" i="0">
                <a:solidFill>
                  <a:srgbClr val="F0F0F0"/>
                </a:solidFill>
              </a:rPr>
              <a:t>· Capacity: 20–30 workstations + meeting rooms</a:t>
            </a:r>
          </a:p>
        </p:txBody>
      </p:sp>
      <p:sp>
        <p:nvSpPr>
          <p:cNvPr id="35" name="TextBox 34"/>
          <p:cNvSpPr txBox="1"/>
          <p:nvPr/>
        </p:nvSpPr>
        <p:spPr>
          <a:xfrm>
            <a:off x="777240" y="3877056"/>
            <a:ext cx="3291840" cy="438912"/>
          </a:xfrm>
          <a:prstGeom prst="rect">
            <a:avLst/>
          </a:prstGeom>
          <a:noFill/>
        </p:spPr>
        <p:txBody>
          <a:bodyPr wrap="square">
            <a:spAutoFit/>
          </a:bodyPr>
          <a:lstStyle/>
          <a:p>
            <a:pPr algn="l"/>
            <a:r>
              <a:rPr sz="1150" b="0" i="0">
                <a:solidFill>
                  <a:srgbClr val="F0F0F0"/>
                </a:solidFill>
              </a:rPr>
              <a:t>· High-speed fiber internet: 1Gbps+ dedicated</a:t>
            </a:r>
          </a:p>
        </p:txBody>
      </p:sp>
      <p:sp>
        <p:nvSpPr>
          <p:cNvPr id="36" name="TextBox 35"/>
          <p:cNvSpPr txBox="1"/>
          <p:nvPr/>
        </p:nvSpPr>
        <p:spPr>
          <a:xfrm>
            <a:off x="777240" y="4352544"/>
            <a:ext cx="3291840" cy="438912"/>
          </a:xfrm>
          <a:prstGeom prst="rect">
            <a:avLst/>
          </a:prstGeom>
          <a:noFill/>
        </p:spPr>
        <p:txBody>
          <a:bodyPr wrap="square">
            <a:spAutoFit/>
          </a:bodyPr>
          <a:lstStyle/>
          <a:p>
            <a:pPr algn="l"/>
            <a:r>
              <a:rPr sz="1150" b="0" i="0">
                <a:solidFill>
                  <a:srgbClr val="F0F0F0"/>
                </a:solidFill>
              </a:rPr>
              <a:t>· Server room / infrastructure cage on-premises</a:t>
            </a:r>
          </a:p>
        </p:txBody>
      </p:sp>
      <p:sp>
        <p:nvSpPr>
          <p:cNvPr id="37" name="TextBox 36"/>
          <p:cNvSpPr txBox="1"/>
          <p:nvPr/>
        </p:nvSpPr>
        <p:spPr>
          <a:xfrm>
            <a:off x="777240" y="4828032"/>
            <a:ext cx="3291840" cy="438912"/>
          </a:xfrm>
          <a:prstGeom prst="rect">
            <a:avLst/>
          </a:prstGeom>
          <a:noFill/>
        </p:spPr>
        <p:txBody>
          <a:bodyPr wrap="square">
            <a:spAutoFit/>
          </a:bodyPr>
          <a:lstStyle/>
          <a:p>
            <a:pPr algn="l"/>
            <a:r>
              <a:rPr sz="1150" b="0" i="0">
                <a:solidFill>
                  <a:srgbClr val="F0F0F0"/>
                </a:solidFill>
              </a:rPr>
              <a:t>· Estimated lease: $2,000–$4,000 USD/month</a:t>
            </a:r>
          </a:p>
        </p:txBody>
      </p:sp>
      <p:sp>
        <p:nvSpPr>
          <p:cNvPr id="38" name="TextBox 37"/>
          <p:cNvSpPr txBox="1"/>
          <p:nvPr/>
        </p:nvSpPr>
        <p:spPr>
          <a:xfrm>
            <a:off x="777240" y="5303520"/>
            <a:ext cx="3291840" cy="438912"/>
          </a:xfrm>
          <a:prstGeom prst="rect">
            <a:avLst/>
          </a:prstGeom>
          <a:noFill/>
        </p:spPr>
        <p:txBody>
          <a:bodyPr wrap="square">
            <a:spAutoFit/>
          </a:bodyPr>
          <a:lstStyle/>
          <a:p>
            <a:pPr algn="l"/>
            <a:r>
              <a:rPr sz="1150" b="0" i="0">
                <a:solidFill>
                  <a:srgbClr val="F0F0F0"/>
                </a:solidFill>
              </a:rPr>
              <a:t>· Setup + fit-out budget: $80,000–$120,000</a:t>
            </a:r>
          </a:p>
        </p:txBody>
      </p:sp>
      <p:sp>
        <p:nvSpPr>
          <p:cNvPr id="39" name="Rectangle 38"/>
          <p:cNvSpPr/>
          <p:nvPr/>
        </p:nvSpPr>
        <p:spPr>
          <a:xfrm>
            <a:off x="4434840" y="1828800"/>
            <a:ext cx="3566160" cy="4160520"/>
          </a:xfrm>
          <a:prstGeom prst="rect">
            <a:avLst/>
          </a:prstGeom>
          <a:solidFill>
            <a:srgbClr val="161830"/>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0" y="1920240"/>
            <a:ext cx="3291840" cy="384048"/>
          </a:xfrm>
          <a:prstGeom prst="rect">
            <a:avLst/>
          </a:prstGeom>
          <a:noFill/>
        </p:spPr>
        <p:txBody>
          <a:bodyPr wrap="square">
            <a:spAutoFit/>
          </a:bodyPr>
          <a:lstStyle/>
          <a:p>
            <a:pPr algn="l"/>
            <a:r>
              <a:rPr sz="1300" b="1" i="0">
                <a:solidFill>
                  <a:srgbClr val="FF6B6B"/>
                </a:solidFill>
              </a:rPr>
              <a:t>👨‍💻  ENGINEERING TEAM</a:t>
            </a:r>
          </a:p>
        </p:txBody>
      </p:sp>
      <p:sp>
        <p:nvSpPr>
          <p:cNvPr id="41" name="Rectangle 40"/>
          <p:cNvSpPr/>
          <p:nvPr/>
        </p:nvSpPr>
        <p:spPr>
          <a:xfrm>
            <a:off x="4572000" y="2350008"/>
            <a:ext cx="3291840" cy="228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72000" y="2450592"/>
            <a:ext cx="3291840" cy="438912"/>
          </a:xfrm>
          <a:prstGeom prst="rect">
            <a:avLst/>
          </a:prstGeom>
          <a:noFill/>
        </p:spPr>
        <p:txBody>
          <a:bodyPr wrap="square">
            <a:spAutoFit/>
          </a:bodyPr>
          <a:lstStyle/>
          <a:p>
            <a:pPr algn="l"/>
            <a:r>
              <a:rPr sz="1150" b="0" i="0">
                <a:solidFill>
                  <a:srgbClr val="F0F0F0"/>
                </a:solidFill>
              </a:rPr>
              <a:t>· 10–15 full-stack developers (Phase 1 hire)</a:t>
            </a:r>
          </a:p>
        </p:txBody>
      </p:sp>
      <p:sp>
        <p:nvSpPr>
          <p:cNvPr id="43" name="TextBox 42"/>
          <p:cNvSpPr txBox="1"/>
          <p:nvPr/>
        </p:nvSpPr>
        <p:spPr>
          <a:xfrm>
            <a:off x="4572000" y="2926080"/>
            <a:ext cx="3291840" cy="438912"/>
          </a:xfrm>
          <a:prstGeom prst="rect">
            <a:avLst/>
          </a:prstGeom>
          <a:noFill/>
        </p:spPr>
        <p:txBody>
          <a:bodyPr wrap="square">
            <a:spAutoFit/>
          </a:bodyPr>
          <a:lstStyle/>
          <a:p>
            <a:pPr algn="l"/>
            <a:r>
              <a:rPr sz="1150" b="0" i="0">
                <a:solidFill>
                  <a:srgbClr val="F0F0F0"/>
                </a:solidFill>
              </a:rPr>
              <a:t>· React, Node.js, mobile (iOS + Android)</a:t>
            </a:r>
          </a:p>
        </p:txBody>
      </p:sp>
      <p:sp>
        <p:nvSpPr>
          <p:cNvPr id="44" name="TextBox 43"/>
          <p:cNvSpPr txBox="1"/>
          <p:nvPr/>
        </p:nvSpPr>
        <p:spPr>
          <a:xfrm>
            <a:off x="4572000" y="3401568"/>
            <a:ext cx="3291840" cy="438912"/>
          </a:xfrm>
          <a:prstGeom prst="rect">
            <a:avLst/>
          </a:prstGeom>
          <a:noFill/>
        </p:spPr>
        <p:txBody>
          <a:bodyPr wrap="square">
            <a:spAutoFit/>
          </a:bodyPr>
          <a:lstStyle/>
          <a:p>
            <a:pPr algn="l"/>
            <a:r>
              <a:rPr sz="1150" b="0" i="0">
                <a:solidFill>
                  <a:srgbClr val="F0F0F0"/>
                </a:solidFill>
              </a:rPr>
              <a:t>· Dedicated QA, DevOps, and security engineers</a:t>
            </a:r>
          </a:p>
        </p:txBody>
      </p:sp>
      <p:sp>
        <p:nvSpPr>
          <p:cNvPr id="45" name="TextBox 44"/>
          <p:cNvSpPr txBox="1"/>
          <p:nvPr/>
        </p:nvSpPr>
        <p:spPr>
          <a:xfrm>
            <a:off x="4572000" y="3877056"/>
            <a:ext cx="3291840" cy="438912"/>
          </a:xfrm>
          <a:prstGeom prst="rect">
            <a:avLst/>
          </a:prstGeom>
          <a:noFill/>
        </p:spPr>
        <p:txBody>
          <a:bodyPr wrap="square">
            <a:spAutoFit/>
          </a:bodyPr>
          <a:lstStyle/>
          <a:p>
            <a:pPr algn="l"/>
            <a:r>
              <a:rPr sz="1150" b="0" i="0">
                <a:solidFill>
                  <a:srgbClr val="F0F0F0"/>
                </a:solidFill>
              </a:rPr>
              <a:t>· Led by VP Engineering (hiring Q3 2026)</a:t>
            </a:r>
          </a:p>
        </p:txBody>
      </p:sp>
      <p:sp>
        <p:nvSpPr>
          <p:cNvPr id="46" name="TextBox 45"/>
          <p:cNvSpPr txBox="1"/>
          <p:nvPr/>
        </p:nvSpPr>
        <p:spPr>
          <a:xfrm>
            <a:off x="4572000" y="4352544"/>
            <a:ext cx="3291840" cy="438912"/>
          </a:xfrm>
          <a:prstGeom prst="rect">
            <a:avLst/>
          </a:prstGeom>
          <a:noFill/>
        </p:spPr>
        <p:txBody>
          <a:bodyPr wrap="square">
            <a:spAutoFit/>
          </a:bodyPr>
          <a:lstStyle/>
          <a:p>
            <a:pPr algn="l"/>
            <a:r>
              <a:rPr sz="1150" b="0" i="0">
                <a:solidFill>
                  <a:srgbClr val="F0F0F0"/>
                </a:solidFill>
              </a:rPr>
              <a:t>· Avg Sri Lankan developer: $15,000–$25,000/yr</a:t>
            </a:r>
          </a:p>
        </p:txBody>
      </p:sp>
      <p:sp>
        <p:nvSpPr>
          <p:cNvPr id="47" name="TextBox 46"/>
          <p:cNvSpPr txBox="1"/>
          <p:nvPr/>
        </p:nvSpPr>
        <p:spPr>
          <a:xfrm>
            <a:off x="4572000" y="4828032"/>
            <a:ext cx="3291840" cy="438912"/>
          </a:xfrm>
          <a:prstGeom prst="rect">
            <a:avLst/>
          </a:prstGeom>
          <a:noFill/>
        </p:spPr>
        <p:txBody>
          <a:bodyPr wrap="square">
            <a:spAutoFit/>
          </a:bodyPr>
          <a:lstStyle/>
          <a:p>
            <a:pPr algn="l"/>
            <a:r>
              <a:rPr sz="1150" b="0" i="0">
                <a:solidFill>
                  <a:srgbClr val="F0F0F0"/>
                </a:solidFill>
              </a:rPr>
              <a:t>· vs. $120,000–$180,000 US equivalent</a:t>
            </a:r>
          </a:p>
        </p:txBody>
      </p:sp>
      <p:sp>
        <p:nvSpPr>
          <p:cNvPr id="48" name="TextBox 47"/>
          <p:cNvSpPr txBox="1"/>
          <p:nvPr/>
        </p:nvSpPr>
        <p:spPr>
          <a:xfrm>
            <a:off x="4572000" y="5303520"/>
            <a:ext cx="3291840" cy="438912"/>
          </a:xfrm>
          <a:prstGeom prst="rect">
            <a:avLst/>
          </a:prstGeom>
          <a:noFill/>
        </p:spPr>
        <p:txBody>
          <a:bodyPr wrap="square">
            <a:spAutoFit/>
          </a:bodyPr>
          <a:lstStyle/>
          <a:p>
            <a:pPr algn="l"/>
            <a:r>
              <a:rPr sz="1150" b="0" i="0">
                <a:solidFill>
                  <a:srgbClr val="F0F0F0"/>
                </a:solidFill>
              </a:rPr>
              <a:t>· 6–8x cost advantage vs. U.S. hiring</a:t>
            </a:r>
          </a:p>
        </p:txBody>
      </p:sp>
      <p:sp>
        <p:nvSpPr>
          <p:cNvPr id="49" name="Rectangle 48"/>
          <p:cNvSpPr/>
          <p:nvPr/>
        </p:nvSpPr>
        <p:spPr>
          <a:xfrm>
            <a:off x="8229600" y="1828800"/>
            <a:ext cx="3566160" cy="4160520"/>
          </a:xfrm>
          <a:prstGeom prst="rect">
            <a:avLst/>
          </a:prstGeom>
          <a:solidFill>
            <a:srgbClr val="161830"/>
          </a:solidFill>
          <a:ln w="1905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66760" y="1920240"/>
            <a:ext cx="3291840" cy="384048"/>
          </a:xfrm>
          <a:prstGeom prst="rect">
            <a:avLst/>
          </a:prstGeom>
          <a:noFill/>
        </p:spPr>
        <p:txBody>
          <a:bodyPr wrap="square">
            <a:spAutoFit/>
          </a:bodyPr>
          <a:lstStyle/>
          <a:p>
            <a:pPr algn="l"/>
            <a:r>
              <a:rPr sz="1300" b="1" i="0">
                <a:solidFill>
                  <a:srgbClr val="7BD4FF"/>
                </a:solidFill>
              </a:rPr>
              <a:t>⚙️  RESPONSIBILITIES</a:t>
            </a:r>
          </a:p>
        </p:txBody>
      </p:sp>
      <p:sp>
        <p:nvSpPr>
          <p:cNvPr id="51" name="Rectangle 50"/>
          <p:cNvSpPr/>
          <p:nvPr/>
        </p:nvSpPr>
        <p:spPr>
          <a:xfrm>
            <a:off x="8366760" y="2350008"/>
            <a:ext cx="3291840" cy="22860"/>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66760" y="2450592"/>
            <a:ext cx="3291840" cy="438912"/>
          </a:xfrm>
          <a:prstGeom prst="rect">
            <a:avLst/>
          </a:prstGeom>
          <a:noFill/>
        </p:spPr>
        <p:txBody>
          <a:bodyPr wrap="square">
            <a:spAutoFit/>
          </a:bodyPr>
          <a:lstStyle/>
          <a:p>
            <a:pPr algn="l"/>
            <a:r>
              <a:rPr sz="1150" b="0" i="0">
                <a:solidFill>
                  <a:srgbClr val="F0F0F0"/>
                </a:solidFill>
              </a:rPr>
              <a:t>· Platform cleanup, optimization, bug resolution</a:t>
            </a:r>
          </a:p>
        </p:txBody>
      </p:sp>
      <p:sp>
        <p:nvSpPr>
          <p:cNvPr id="53" name="TextBox 52"/>
          <p:cNvSpPr txBox="1"/>
          <p:nvPr/>
        </p:nvSpPr>
        <p:spPr>
          <a:xfrm>
            <a:off x="8366760" y="2926080"/>
            <a:ext cx="3291840" cy="438912"/>
          </a:xfrm>
          <a:prstGeom prst="rect">
            <a:avLst/>
          </a:prstGeom>
          <a:noFill/>
        </p:spPr>
        <p:txBody>
          <a:bodyPr wrap="square">
            <a:spAutoFit/>
          </a:bodyPr>
          <a:lstStyle/>
          <a:p>
            <a:pPr algn="l"/>
            <a:r>
              <a:rPr sz="1150" b="0" i="0">
                <a:solidFill>
                  <a:srgbClr val="F0F0F0"/>
                </a:solidFill>
              </a:rPr>
              <a:t>· Feature development and roadmap execution</a:t>
            </a:r>
          </a:p>
        </p:txBody>
      </p:sp>
      <p:sp>
        <p:nvSpPr>
          <p:cNvPr id="54" name="TextBox 53"/>
          <p:cNvSpPr txBox="1"/>
          <p:nvPr/>
        </p:nvSpPr>
        <p:spPr>
          <a:xfrm>
            <a:off x="8366760" y="3401568"/>
            <a:ext cx="3291840" cy="438912"/>
          </a:xfrm>
          <a:prstGeom prst="rect">
            <a:avLst/>
          </a:prstGeom>
          <a:noFill/>
        </p:spPr>
        <p:txBody>
          <a:bodyPr wrap="square">
            <a:spAutoFit/>
          </a:bodyPr>
          <a:lstStyle/>
          <a:p>
            <a:pPr algn="l"/>
            <a:r>
              <a:rPr sz="1150" b="0" i="0">
                <a:solidFill>
                  <a:srgbClr val="F0F0F0"/>
                </a:solidFill>
              </a:rPr>
              <a:t>· Infrastructure migration and scaling ops</a:t>
            </a:r>
          </a:p>
        </p:txBody>
      </p:sp>
      <p:sp>
        <p:nvSpPr>
          <p:cNvPr id="55" name="TextBox 54"/>
          <p:cNvSpPr txBox="1"/>
          <p:nvPr/>
        </p:nvSpPr>
        <p:spPr>
          <a:xfrm>
            <a:off x="8366760" y="3877056"/>
            <a:ext cx="3291840" cy="438912"/>
          </a:xfrm>
          <a:prstGeom prst="rect">
            <a:avLst/>
          </a:prstGeom>
          <a:noFill/>
        </p:spPr>
        <p:txBody>
          <a:bodyPr wrap="square">
            <a:spAutoFit/>
          </a:bodyPr>
          <a:lstStyle/>
          <a:p>
            <a:pPr algn="l"/>
            <a:r>
              <a:rPr sz="1150" b="0" i="0">
                <a:solidFill>
                  <a:srgbClr val="F0F0F0"/>
                </a:solidFill>
              </a:rPr>
              <a:t>· 24/7 customer service and monitoring</a:t>
            </a:r>
          </a:p>
        </p:txBody>
      </p:sp>
      <p:sp>
        <p:nvSpPr>
          <p:cNvPr id="56" name="TextBox 55"/>
          <p:cNvSpPr txBox="1"/>
          <p:nvPr/>
        </p:nvSpPr>
        <p:spPr>
          <a:xfrm>
            <a:off x="8366760" y="4352544"/>
            <a:ext cx="3291840" cy="438912"/>
          </a:xfrm>
          <a:prstGeom prst="rect">
            <a:avLst/>
          </a:prstGeom>
          <a:noFill/>
        </p:spPr>
        <p:txBody>
          <a:bodyPr wrap="square">
            <a:spAutoFit/>
          </a:bodyPr>
          <a:lstStyle/>
          <a:p>
            <a:pPr algn="l"/>
            <a:r>
              <a:rPr sz="1150" b="0" i="0">
                <a:solidFill>
                  <a:srgbClr val="F0F0F0"/>
                </a:solidFill>
              </a:rPr>
              <a:t>· App Store compliance + release management</a:t>
            </a:r>
          </a:p>
        </p:txBody>
      </p:sp>
      <p:sp>
        <p:nvSpPr>
          <p:cNvPr id="57" name="TextBox 56"/>
          <p:cNvSpPr txBox="1"/>
          <p:nvPr/>
        </p:nvSpPr>
        <p:spPr>
          <a:xfrm>
            <a:off x="8366760" y="4828032"/>
            <a:ext cx="3291840" cy="438912"/>
          </a:xfrm>
          <a:prstGeom prst="rect">
            <a:avLst/>
          </a:prstGeom>
          <a:noFill/>
        </p:spPr>
        <p:txBody>
          <a:bodyPr wrap="square">
            <a:spAutoFit/>
          </a:bodyPr>
          <a:lstStyle/>
          <a:p>
            <a:pPr algn="l"/>
            <a:r>
              <a:rPr sz="1150" b="0" i="0">
                <a:solidFill>
                  <a:srgbClr val="F0F0F0"/>
                </a:solidFill>
              </a:rPr>
              <a:t>· Bare metal infrastructure operations (Phase 3)</a:t>
            </a:r>
          </a:p>
        </p:txBody>
      </p:sp>
      <p:sp>
        <p:nvSpPr>
          <p:cNvPr id="58" name="TextBox 57"/>
          <p:cNvSpPr txBox="1"/>
          <p:nvPr/>
        </p:nvSpPr>
        <p:spPr>
          <a:xfrm>
            <a:off x="8366760" y="5303520"/>
            <a:ext cx="3291840" cy="438912"/>
          </a:xfrm>
          <a:prstGeom prst="rect">
            <a:avLst/>
          </a:prstGeom>
          <a:noFill/>
        </p:spPr>
        <p:txBody>
          <a:bodyPr wrap="square">
            <a:spAutoFit/>
          </a:bodyPr>
          <a:lstStyle/>
          <a:p>
            <a:pPr algn="l"/>
            <a:r>
              <a:rPr sz="1150" b="0" i="0">
                <a:solidFill>
                  <a:srgbClr val="F0F0F0"/>
                </a:solidFill>
              </a:rPr>
              <a:t>· LDNA Consulting LLC wholly-owned subsidiary</a:t>
            </a:r>
          </a:p>
        </p:txBody>
      </p:sp>
      <p:sp>
        <p:nvSpPr>
          <p:cNvPr id="59" name="Rectangle 58"/>
          <p:cNvSpPr/>
          <p:nvPr/>
        </p:nvSpPr>
        <p:spPr>
          <a:xfrm>
            <a:off x="640080" y="6053328"/>
            <a:ext cx="10881360" cy="621792"/>
          </a:xfrm>
          <a:prstGeom prst="rect">
            <a:avLst/>
          </a:prstGeom>
          <a:solidFill>
            <a:srgbClr val="161830"/>
          </a:solidFill>
          <a:ln w="1270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22960" y="6108192"/>
            <a:ext cx="10515600" cy="548640"/>
          </a:xfrm>
          <a:prstGeom prst="rect">
            <a:avLst/>
          </a:prstGeom>
          <a:noFill/>
        </p:spPr>
        <p:txBody>
          <a:bodyPr wrap="square">
            <a:spAutoFit/>
          </a:bodyPr>
          <a:lstStyle/>
          <a:p>
            <a:pPr algn="l"/>
            <a:r>
              <a:rPr sz="1200" b="0" i="0">
                <a:solidFill>
                  <a:srgbClr val="F0F0F0"/>
                </a:solidFill>
              </a:rPr>
              <a:t>📍  Colombo is ranked among Asia's top emerging tech hubs — home to 15,000+ software engineers, strong English proficiency, and a rapidly growing startup ecosystem. Office space and talent cost 80% less than equivalent U.S. operations.</a:t>
            </a:r>
          </a:p>
        </p:txBody>
      </p:sp>
      <p:pic>
        <p:nvPicPr>
          <p:cNvPr id="61" name="Picture 60"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10058400" cy="594360"/>
          </a:xfrm>
          <a:prstGeom prst="rect">
            <a:avLst/>
          </a:prstGeom>
          <a:noFill/>
        </p:spPr>
        <p:txBody>
          <a:bodyPr wrap="square">
            <a:spAutoFit/>
          </a:bodyPr>
          <a:lstStyle/>
          <a:p>
            <a:pPr algn="l"/>
            <a:r>
              <a:rPr sz="3600" b="1" i="0">
                <a:solidFill>
                  <a:srgbClr val="F5C842"/>
                </a:solidFill>
              </a:rPr>
              <a:t>Technology &amp; Infrastructure</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097280"/>
            <a:ext cx="10515600" cy="411480"/>
          </a:xfrm>
          <a:prstGeom prst="rect">
            <a:avLst/>
          </a:prstGeom>
          <a:noFill/>
        </p:spPr>
        <p:txBody>
          <a:bodyPr wrap="square">
            <a:spAutoFit/>
          </a:bodyPr>
          <a:lstStyle/>
          <a:p>
            <a:pPr algn="l"/>
            <a:r>
              <a:rPr sz="1500" b="0" i="1">
                <a:solidFill>
                  <a:srgbClr val="CCCCCC"/>
                </a:solidFill>
              </a:rPr>
              <a:t>Enterprise-grade stack — built to scale from 1,000 to 50 million users without architectural rewrites.</a:t>
            </a:r>
          </a:p>
        </p:txBody>
      </p:sp>
      <p:sp>
        <p:nvSpPr>
          <p:cNvPr id="8" name="TextBox 7"/>
          <p:cNvSpPr txBox="1"/>
          <p:nvPr/>
        </p:nvSpPr>
        <p:spPr>
          <a:xfrm>
            <a:off x="640080" y="1600200"/>
            <a:ext cx="3520440" cy="502920"/>
          </a:xfrm>
          <a:prstGeom prst="rect">
            <a:avLst/>
          </a:prstGeom>
          <a:noFill/>
        </p:spPr>
        <p:txBody>
          <a:bodyPr wrap="square">
            <a:spAutoFit/>
          </a:bodyPr>
          <a:lstStyle/>
          <a:p>
            <a:pPr algn="l"/>
            <a:r>
              <a:rPr sz="1300" b="1" i="0">
                <a:solidFill>
                  <a:srgbClr val="F5C842"/>
                </a:solidFill>
              </a:rPr>
              <a:t>CURRENT STACK</a:t>
            </a:r>
          </a:p>
        </p:txBody>
      </p:sp>
      <p:sp>
        <p:nvSpPr>
          <p:cNvPr id="9" name="TextBox 8"/>
          <p:cNvSpPr txBox="1"/>
          <p:nvPr/>
        </p:nvSpPr>
        <p:spPr>
          <a:xfrm>
            <a:off x="640080" y="2194560"/>
            <a:ext cx="3566160" cy="384048"/>
          </a:xfrm>
          <a:prstGeom prst="rect">
            <a:avLst/>
          </a:prstGeom>
          <a:noFill/>
        </p:spPr>
        <p:txBody>
          <a:bodyPr wrap="square">
            <a:spAutoFit/>
          </a:bodyPr>
          <a:lstStyle/>
          <a:p>
            <a:pPr algn="l"/>
            <a:r>
              <a:rPr sz="1200" b="0" i="0">
                <a:solidFill>
                  <a:srgbClr val="F0F0F0"/>
                </a:solidFill>
              </a:rPr>
              <a:t>· Frontend: React 18, Vite, Tailwind CSS</a:t>
            </a:r>
          </a:p>
        </p:txBody>
      </p:sp>
      <p:sp>
        <p:nvSpPr>
          <p:cNvPr id="10" name="TextBox 9"/>
          <p:cNvSpPr txBox="1"/>
          <p:nvPr/>
        </p:nvSpPr>
        <p:spPr>
          <a:xfrm>
            <a:off x="640080" y="2624328"/>
            <a:ext cx="3566160" cy="384048"/>
          </a:xfrm>
          <a:prstGeom prst="rect">
            <a:avLst/>
          </a:prstGeom>
          <a:noFill/>
        </p:spPr>
        <p:txBody>
          <a:bodyPr wrap="square">
            <a:spAutoFit/>
          </a:bodyPr>
          <a:lstStyle/>
          <a:p>
            <a:pPr algn="l"/>
            <a:r>
              <a:rPr sz="1200" b="0" i="0">
                <a:solidFill>
                  <a:srgbClr val="F0F0F0"/>
                </a:solidFill>
              </a:rPr>
              <a:t>· Backend: Deno / TypeScript serverless functions</a:t>
            </a:r>
          </a:p>
        </p:txBody>
      </p:sp>
      <p:sp>
        <p:nvSpPr>
          <p:cNvPr id="11" name="TextBox 10"/>
          <p:cNvSpPr txBox="1"/>
          <p:nvPr/>
        </p:nvSpPr>
        <p:spPr>
          <a:xfrm>
            <a:off x="640080" y="3054096"/>
            <a:ext cx="3566160" cy="384048"/>
          </a:xfrm>
          <a:prstGeom prst="rect">
            <a:avLst/>
          </a:prstGeom>
          <a:noFill/>
        </p:spPr>
        <p:txBody>
          <a:bodyPr wrap="square">
            <a:spAutoFit/>
          </a:bodyPr>
          <a:lstStyle/>
          <a:p>
            <a:pPr algn="l"/>
            <a:r>
              <a:rPr sz="1200" b="0" i="0">
                <a:solidFill>
                  <a:srgbClr val="F0F0F0"/>
                </a:solidFill>
              </a:rPr>
              <a:t>· Database: Base44 managed (PostgreSQL)</a:t>
            </a:r>
          </a:p>
        </p:txBody>
      </p:sp>
      <p:sp>
        <p:nvSpPr>
          <p:cNvPr id="12" name="TextBox 11"/>
          <p:cNvSpPr txBox="1"/>
          <p:nvPr/>
        </p:nvSpPr>
        <p:spPr>
          <a:xfrm>
            <a:off x="640080" y="3483863"/>
            <a:ext cx="3566160" cy="384048"/>
          </a:xfrm>
          <a:prstGeom prst="rect">
            <a:avLst/>
          </a:prstGeom>
          <a:noFill/>
        </p:spPr>
        <p:txBody>
          <a:bodyPr wrap="square">
            <a:spAutoFit/>
          </a:bodyPr>
          <a:lstStyle/>
          <a:p>
            <a:pPr algn="l"/>
            <a:r>
              <a:rPr sz="1200" b="0" i="0">
                <a:solidFill>
                  <a:srgbClr val="F0F0F0"/>
                </a:solidFill>
              </a:rPr>
              <a:t>· Video CDN: Cloudflare Stream</a:t>
            </a:r>
          </a:p>
        </p:txBody>
      </p:sp>
      <p:sp>
        <p:nvSpPr>
          <p:cNvPr id="13" name="TextBox 12"/>
          <p:cNvSpPr txBox="1"/>
          <p:nvPr/>
        </p:nvSpPr>
        <p:spPr>
          <a:xfrm>
            <a:off x="640080" y="3913631"/>
            <a:ext cx="3566160" cy="384048"/>
          </a:xfrm>
          <a:prstGeom prst="rect">
            <a:avLst/>
          </a:prstGeom>
          <a:noFill/>
        </p:spPr>
        <p:txBody>
          <a:bodyPr wrap="square">
            <a:spAutoFit/>
          </a:bodyPr>
          <a:lstStyle/>
          <a:p>
            <a:pPr algn="l"/>
            <a:r>
              <a:rPr sz="1200" b="0" i="0">
                <a:solidFill>
                  <a:srgbClr val="F0F0F0"/>
                </a:solidFill>
              </a:rPr>
              <a:t>· Live Streaming: Cloudflare Calls SFU (WebRTC)</a:t>
            </a:r>
          </a:p>
        </p:txBody>
      </p:sp>
      <p:sp>
        <p:nvSpPr>
          <p:cNvPr id="14" name="TextBox 13"/>
          <p:cNvSpPr txBox="1"/>
          <p:nvPr/>
        </p:nvSpPr>
        <p:spPr>
          <a:xfrm>
            <a:off x="640080" y="4343400"/>
            <a:ext cx="3566160" cy="384048"/>
          </a:xfrm>
          <a:prstGeom prst="rect">
            <a:avLst/>
          </a:prstGeom>
          <a:noFill/>
        </p:spPr>
        <p:txBody>
          <a:bodyPr wrap="square">
            <a:spAutoFit/>
          </a:bodyPr>
          <a:lstStyle/>
          <a:p>
            <a:pPr algn="l"/>
            <a:r>
              <a:rPr sz="1200" b="0" i="0">
                <a:solidFill>
                  <a:srgbClr val="F0F0F0"/>
                </a:solidFill>
              </a:rPr>
              <a:t>· Payments: Stripe (coins + gifting)</a:t>
            </a:r>
          </a:p>
        </p:txBody>
      </p:sp>
      <p:sp>
        <p:nvSpPr>
          <p:cNvPr id="15" name="TextBox 14"/>
          <p:cNvSpPr txBox="1"/>
          <p:nvPr/>
        </p:nvSpPr>
        <p:spPr>
          <a:xfrm>
            <a:off x="640080" y="4773168"/>
            <a:ext cx="3566160" cy="384048"/>
          </a:xfrm>
          <a:prstGeom prst="rect">
            <a:avLst/>
          </a:prstGeom>
          <a:noFill/>
        </p:spPr>
        <p:txBody>
          <a:bodyPr wrap="square">
            <a:spAutoFit/>
          </a:bodyPr>
          <a:lstStyle/>
          <a:p>
            <a:pPr algn="l"/>
            <a:r>
              <a:rPr sz="1200" b="0" i="0">
                <a:solidFill>
                  <a:srgbClr val="F0F0F0"/>
                </a:solidFill>
              </a:rPr>
              <a:t>· Auth: Google OAuth + email/OTP</a:t>
            </a:r>
          </a:p>
        </p:txBody>
      </p:sp>
      <p:sp>
        <p:nvSpPr>
          <p:cNvPr id="16" name="TextBox 15"/>
          <p:cNvSpPr txBox="1"/>
          <p:nvPr/>
        </p:nvSpPr>
        <p:spPr>
          <a:xfrm>
            <a:off x="640080" y="5202936"/>
            <a:ext cx="3566160" cy="384048"/>
          </a:xfrm>
          <a:prstGeom prst="rect">
            <a:avLst/>
          </a:prstGeom>
          <a:noFill/>
        </p:spPr>
        <p:txBody>
          <a:bodyPr wrap="square">
            <a:spAutoFit/>
          </a:bodyPr>
          <a:lstStyle/>
          <a:p>
            <a:pPr algn="l"/>
            <a:r>
              <a:rPr sz="1200" b="0" i="0">
                <a:solidFill>
                  <a:srgbClr val="F0F0F0"/>
                </a:solidFill>
              </a:rPr>
              <a:t>· Hosting: Vercel (web) + Base44 (API)</a:t>
            </a:r>
          </a:p>
        </p:txBody>
      </p:sp>
      <p:sp>
        <p:nvSpPr>
          <p:cNvPr id="17" name="TextBox 16"/>
          <p:cNvSpPr txBox="1"/>
          <p:nvPr/>
        </p:nvSpPr>
        <p:spPr>
          <a:xfrm>
            <a:off x="640080" y="5632704"/>
            <a:ext cx="3566160" cy="384048"/>
          </a:xfrm>
          <a:prstGeom prst="rect">
            <a:avLst/>
          </a:prstGeom>
          <a:noFill/>
        </p:spPr>
        <p:txBody>
          <a:bodyPr wrap="square">
            <a:spAutoFit/>
          </a:bodyPr>
          <a:lstStyle/>
          <a:p>
            <a:pPr algn="l"/>
            <a:r>
              <a:rPr sz="1200" b="0" i="0">
                <a:solidFill>
                  <a:srgbClr val="F0F0F0"/>
                </a:solidFill>
              </a:rPr>
              <a:t>· Mobile: React Native (Android + iOS)</a:t>
            </a:r>
          </a:p>
        </p:txBody>
      </p:sp>
      <p:sp>
        <p:nvSpPr>
          <p:cNvPr id="18" name="TextBox 17"/>
          <p:cNvSpPr txBox="1"/>
          <p:nvPr/>
        </p:nvSpPr>
        <p:spPr>
          <a:xfrm>
            <a:off x="4389120" y="1600200"/>
            <a:ext cx="3520440" cy="502920"/>
          </a:xfrm>
          <a:prstGeom prst="rect">
            <a:avLst/>
          </a:prstGeom>
          <a:noFill/>
        </p:spPr>
        <p:txBody>
          <a:bodyPr wrap="square">
            <a:spAutoFit/>
          </a:bodyPr>
          <a:lstStyle/>
          <a:p>
            <a:pPr algn="l"/>
            <a:r>
              <a:rPr sz="1300" b="1" i="0">
                <a:solidFill>
                  <a:srgbClr val="FF6B6B"/>
                </a:solidFill>
              </a:rPr>
              <a:t>SCALE INFRASTRUCTURE
(Phase 3 — Colombo)</a:t>
            </a:r>
          </a:p>
        </p:txBody>
      </p:sp>
      <p:sp>
        <p:nvSpPr>
          <p:cNvPr id="19" name="TextBox 18"/>
          <p:cNvSpPr txBox="1"/>
          <p:nvPr/>
        </p:nvSpPr>
        <p:spPr>
          <a:xfrm>
            <a:off x="4389120" y="2194560"/>
            <a:ext cx="3566160" cy="384048"/>
          </a:xfrm>
          <a:prstGeom prst="rect">
            <a:avLst/>
          </a:prstGeom>
          <a:noFill/>
        </p:spPr>
        <p:txBody>
          <a:bodyPr wrap="square">
            <a:spAutoFit/>
          </a:bodyPr>
          <a:lstStyle/>
          <a:p>
            <a:pPr algn="l"/>
            <a:r>
              <a:rPr sz="1200" b="0" i="0">
                <a:solidFill>
                  <a:srgbClr val="F0F0F0"/>
                </a:solidFill>
              </a:rPr>
              <a:t>· Bare metal servers: Dell PowerEdge / HPE ProLiant</a:t>
            </a:r>
          </a:p>
        </p:txBody>
      </p:sp>
      <p:sp>
        <p:nvSpPr>
          <p:cNvPr id="20" name="TextBox 19"/>
          <p:cNvSpPr txBox="1"/>
          <p:nvPr/>
        </p:nvSpPr>
        <p:spPr>
          <a:xfrm>
            <a:off x="4389120" y="2624328"/>
            <a:ext cx="3566160" cy="384048"/>
          </a:xfrm>
          <a:prstGeom prst="rect">
            <a:avLst/>
          </a:prstGeom>
          <a:noFill/>
        </p:spPr>
        <p:txBody>
          <a:bodyPr wrap="square">
            <a:spAutoFit/>
          </a:bodyPr>
          <a:lstStyle/>
          <a:p>
            <a:pPr algn="l"/>
            <a:r>
              <a:rPr sz="1200" b="0" i="0">
                <a:solidFill>
                  <a:srgbClr val="F0F0F0"/>
                </a:solidFill>
              </a:rPr>
              <a:t>· Networking: Cisco / Juniper switching fabric</a:t>
            </a:r>
          </a:p>
        </p:txBody>
      </p:sp>
      <p:sp>
        <p:nvSpPr>
          <p:cNvPr id="21" name="TextBox 20"/>
          <p:cNvSpPr txBox="1"/>
          <p:nvPr/>
        </p:nvSpPr>
        <p:spPr>
          <a:xfrm>
            <a:off x="4389120" y="3054096"/>
            <a:ext cx="3566160" cy="384048"/>
          </a:xfrm>
          <a:prstGeom prst="rect">
            <a:avLst/>
          </a:prstGeom>
          <a:noFill/>
        </p:spPr>
        <p:txBody>
          <a:bodyPr wrap="square">
            <a:spAutoFit/>
          </a:bodyPr>
          <a:lstStyle/>
          <a:p>
            <a:pPr algn="l"/>
            <a:r>
              <a:rPr sz="1200" b="0" i="0">
                <a:solidFill>
                  <a:srgbClr val="F0F0F0"/>
                </a:solidFill>
              </a:rPr>
              <a:t>· Video ingest: On-prem RTMP + HLS origin servers</a:t>
            </a:r>
          </a:p>
        </p:txBody>
      </p:sp>
      <p:sp>
        <p:nvSpPr>
          <p:cNvPr id="22" name="TextBox 21"/>
          <p:cNvSpPr txBox="1"/>
          <p:nvPr/>
        </p:nvSpPr>
        <p:spPr>
          <a:xfrm>
            <a:off x="4389120" y="3483863"/>
            <a:ext cx="3566160" cy="384048"/>
          </a:xfrm>
          <a:prstGeom prst="rect">
            <a:avLst/>
          </a:prstGeom>
          <a:noFill/>
        </p:spPr>
        <p:txBody>
          <a:bodyPr wrap="square">
            <a:spAutoFit/>
          </a:bodyPr>
          <a:lstStyle/>
          <a:p>
            <a:pPr algn="l"/>
            <a:r>
              <a:rPr sz="1200" b="0" i="0">
                <a:solidFill>
                  <a:srgbClr val="F0F0F0"/>
                </a:solidFill>
              </a:rPr>
              <a:t>· CDN: Hybrid cloud + bare metal egress</a:t>
            </a:r>
          </a:p>
        </p:txBody>
      </p:sp>
      <p:sp>
        <p:nvSpPr>
          <p:cNvPr id="23" name="TextBox 22"/>
          <p:cNvSpPr txBox="1"/>
          <p:nvPr/>
        </p:nvSpPr>
        <p:spPr>
          <a:xfrm>
            <a:off x="4389120" y="3913631"/>
            <a:ext cx="3566160" cy="384048"/>
          </a:xfrm>
          <a:prstGeom prst="rect">
            <a:avLst/>
          </a:prstGeom>
          <a:noFill/>
        </p:spPr>
        <p:txBody>
          <a:bodyPr wrap="square">
            <a:spAutoFit/>
          </a:bodyPr>
          <a:lstStyle/>
          <a:p>
            <a:pPr algn="l"/>
            <a:r>
              <a:rPr sz="1200" b="0" i="0">
                <a:solidFill>
                  <a:srgbClr val="F0F0F0"/>
                </a:solidFill>
              </a:rPr>
              <a:t>· Database: Distributed PostgreSQL cluster</a:t>
            </a:r>
          </a:p>
        </p:txBody>
      </p:sp>
      <p:sp>
        <p:nvSpPr>
          <p:cNvPr id="24" name="TextBox 23"/>
          <p:cNvSpPr txBox="1"/>
          <p:nvPr/>
        </p:nvSpPr>
        <p:spPr>
          <a:xfrm>
            <a:off x="4389120" y="4343400"/>
            <a:ext cx="3566160" cy="384048"/>
          </a:xfrm>
          <a:prstGeom prst="rect">
            <a:avLst/>
          </a:prstGeom>
          <a:noFill/>
        </p:spPr>
        <p:txBody>
          <a:bodyPr wrap="square">
            <a:spAutoFit/>
          </a:bodyPr>
          <a:lstStyle/>
          <a:p>
            <a:pPr algn="l"/>
            <a:r>
              <a:rPr sz="1200" b="0" i="0">
                <a:solidFill>
                  <a:srgbClr val="F0F0F0"/>
                </a:solidFill>
              </a:rPr>
              <a:t>· Storage: Ceph or MinIO object storage</a:t>
            </a:r>
          </a:p>
        </p:txBody>
      </p:sp>
      <p:sp>
        <p:nvSpPr>
          <p:cNvPr id="25" name="TextBox 24"/>
          <p:cNvSpPr txBox="1"/>
          <p:nvPr/>
        </p:nvSpPr>
        <p:spPr>
          <a:xfrm>
            <a:off x="4389120" y="4773168"/>
            <a:ext cx="3566160" cy="384048"/>
          </a:xfrm>
          <a:prstGeom prst="rect">
            <a:avLst/>
          </a:prstGeom>
          <a:noFill/>
        </p:spPr>
        <p:txBody>
          <a:bodyPr wrap="square">
            <a:spAutoFit/>
          </a:bodyPr>
          <a:lstStyle/>
          <a:p>
            <a:pPr algn="l"/>
            <a:r>
              <a:rPr sz="1200" b="0" i="0">
                <a:solidFill>
                  <a:srgbClr val="F0F0F0"/>
                </a:solidFill>
              </a:rPr>
              <a:t>· Security: Hardware firewall, DDoS mitigation</a:t>
            </a:r>
          </a:p>
        </p:txBody>
      </p:sp>
      <p:sp>
        <p:nvSpPr>
          <p:cNvPr id="26" name="TextBox 25"/>
          <p:cNvSpPr txBox="1"/>
          <p:nvPr/>
        </p:nvSpPr>
        <p:spPr>
          <a:xfrm>
            <a:off x="4389120" y="5202936"/>
            <a:ext cx="3566160" cy="384048"/>
          </a:xfrm>
          <a:prstGeom prst="rect">
            <a:avLst/>
          </a:prstGeom>
          <a:noFill/>
        </p:spPr>
        <p:txBody>
          <a:bodyPr wrap="square">
            <a:spAutoFit/>
          </a:bodyPr>
          <a:lstStyle/>
          <a:p>
            <a:pPr algn="l"/>
            <a:r>
              <a:rPr sz="1200" b="0" i="0">
                <a:solidFill>
                  <a:srgbClr val="F0F0F0"/>
                </a:solidFill>
              </a:rPr>
              <a:t>· Monitoring: Prometheus + Grafana stack</a:t>
            </a:r>
          </a:p>
        </p:txBody>
      </p:sp>
      <p:sp>
        <p:nvSpPr>
          <p:cNvPr id="27" name="TextBox 26"/>
          <p:cNvSpPr txBox="1"/>
          <p:nvPr/>
        </p:nvSpPr>
        <p:spPr>
          <a:xfrm>
            <a:off x="4389120" y="5632704"/>
            <a:ext cx="3566160" cy="384048"/>
          </a:xfrm>
          <a:prstGeom prst="rect">
            <a:avLst/>
          </a:prstGeom>
          <a:noFill/>
        </p:spPr>
        <p:txBody>
          <a:bodyPr wrap="square">
            <a:spAutoFit/>
          </a:bodyPr>
          <a:lstStyle/>
          <a:p>
            <a:pPr algn="l"/>
            <a:r>
              <a:rPr sz="1200" b="0" i="0">
                <a:solidFill>
                  <a:srgbClr val="F0F0F0"/>
                </a:solidFill>
              </a:rPr>
              <a:t>· Compliance: GDPR, CCPA, data sovereignty</a:t>
            </a:r>
          </a:p>
        </p:txBody>
      </p:sp>
      <p:sp>
        <p:nvSpPr>
          <p:cNvPr id="28" name="TextBox 27"/>
          <p:cNvSpPr txBox="1"/>
          <p:nvPr/>
        </p:nvSpPr>
        <p:spPr>
          <a:xfrm>
            <a:off x="8138159" y="1600200"/>
            <a:ext cx="3520440" cy="502920"/>
          </a:xfrm>
          <a:prstGeom prst="rect">
            <a:avLst/>
          </a:prstGeom>
          <a:noFill/>
        </p:spPr>
        <p:txBody>
          <a:bodyPr wrap="square">
            <a:spAutoFit/>
          </a:bodyPr>
          <a:lstStyle/>
          <a:p>
            <a:pPr algn="l"/>
            <a:r>
              <a:rPr sz="1300" b="1" i="0">
                <a:solidFill>
                  <a:srgbClr val="7BD4FF"/>
                </a:solidFill>
              </a:rPr>
              <a:t>COMPETITIVE ADVANTAGES</a:t>
            </a:r>
          </a:p>
        </p:txBody>
      </p:sp>
      <p:sp>
        <p:nvSpPr>
          <p:cNvPr id="29" name="TextBox 28"/>
          <p:cNvSpPr txBox="1"/>
          <p:nvPr/>
        </p:nvSpPr>
        <p:spPr>
          <a:xfrm>
            <a:off x="8138159" y="2194560"/>
            <a:ext cx="3566160" cy="384048"/>
          </a:xfrm>
          <a:prstGeom prst="rect">
            <a:avLst/>
          </a:prstGeom>
          <a:noFill/>
        </p:spPr>
        <p:txBody>
          <a:bodyPr wrap="square">
            <a:spAutoFit/>
          </a:bodyPr>
          <a:lstStyle/>
          <a:p>
            <a:pPr algn="l"/>
            <a:r>
              <a:rPr sz="1200" b="0" i="0">
                <a:solidFill>
                  <a:srgbClr val="F0F0F0"/>
                </a:solidFill>
              </a:rPr>
              <a:t>· AI moderation built-in — no third-party cost</a:t>
            </a:r>
          </a:p>
        </p:txBody>
      </p:sp>
      <p:sp>
        <p:nvSpPr>
          <p:cNvPr id="30" name="TextBox 29"/>
          <p:cNvSpPr txBox="1"/>
          <p:nvPr/>
        </p:nvSpPr>
        <p:spPr>
          <a:xfrm>
            <a:off x="8138159" y="2624328"/>
            <a:ext cx="3566160" cy="384048"/>
          </a:xfrm>
          <a:prstGeom prst="rect">
            <a:avLst/>
          </a:prstGeom>
          <a:noFill/>
        </p:spPr>
        <p:txBody>
          <a:bodyPr wrap="square">
            <a:spAutoFit/>
          </a:bodyPr>
          <a:lstStyle/>
          <a:p>
            <a:pPr algn="l"/>
            <a:r>
              <a:rPr sz="1200" b="0" i="0">
                <a:solidFill>
                  <a:srgbClr val="F0F0F0"/>
                </a:solidFill>
              </a:rPr>
              <a:t>· Coin economy fully proprietary — no rev share</a:t>
            </a:r>
          </a:p>
        </p:txBody>
      </p:sp>
      <p:sp>
        <p:nvSpPr>
          <p:cNvPr id="31" name="TextBox 30"/>
          <p:cNvSpPr txBox="1"/>
          <p:nvPr/>
        </p:nvSpPr>
        <p:spPr>
          <a:xfrm>
            <a:off x="8138159" y="3054096"/>
            <a:ext cx="3566160" cy="384048"/>
          </a:xfrm>
          <a:prstGeom prst="rect">
            <a:avLst/>
          </a:prstGeom>
          <a:noFill/>
        </p:spPr>
        <p:txBody>
          <a:bodyPr wrap="square">
            <a:spAutoFit/>
          </a:bodyPr>
          <a:lstStyle/>
          <a:p>
            <a:pPr algn="l"/>
            <a:r>
              <a:rPr sz="1200" b="0" i="0">
                <a:solidFill>
                  <a:srgbClr val="F0F0F0"/>
                </a:solidFill>
              </a:rPr>
              <a:t>· Live + podcasting + video in ONE app</a:t>
            </a:r>
          </a:p>
        </p:txBody>
      </p:sp>
      <p:sp>
        <p:nvSpPr>
          <p:cNvPr id="32" name="TextBox 31"/>
          <p:cNvSpPr txBox="1"/>
          <p:nvPr/>
        </p:nvSpPr>
        <p:spPr>
          <a:xfrm>
            <a:off x="8138159" y="3483863"/>
            <a:ext cx="3566160" cy="384048"/>
          </a:xfrm>
          <a:prstGeom prst="rect">
            <a:avLst/>
          </a:prstGeom>
          <a:noFill/>
        </p:spPr>
        <p:txBody>
          <a:bodyPr wrap="square">
            <a:spAutoFit/>
          </a:bodyPr>
          <a:lstStyle/>
          <a:p>
            <a:pPr algn="l"/>
            <a:r>
              <a:rPr sz="1200" b="0" i="0">
                <a:solidFill>
                  <a:srgbClr val="F0F0F0"/>
                </a:solidFill>
              </a:rPr>
              <a:t>· Location-aware content discovery</a:t>
            </a:r>
          </a:p>
        </p:txBody>
      </p:sp>
      <p:sp>
        <p:nvSpPr>
          <p:cNvPr id="33" name="TextBox 32"/>
          <p:cNvSpPr txBox="1"/>
          <p:nvPr/>
        </p:nvSpPr>
        <p:spPr>
          <a:xfrm>
            <a:off x="8138159" y="3913631"/>
            <a:ext cx="3566160" cy="384048"/>
          </a:xfrm>
          <a:prstGeom prst="rect">
            <a:avLst/>
          </a:prstGeom>
          <a:noFill/>
        </p:spPr>
        <p:txBody>
          <a:bodyPr wrap="square">
            <a:spAutoFit/>
          </a:bodyPr>
          <a:lstStyle/>
          <a:p>
            <a:pPr algn="l"/>
            <a:r>
              <a:rPr sz="1200" b="0" i="0">
                <a:solidFill>
                  <a:srgbClr val="F0F0F0"/>
                </a:solidFill>
              </a:rPr>
              <a:t>· Diaspora-first content strategy</a:t>
            </a:r>
          </a:p>
        </p:txBody>
      </p:sp>
      <p:sp>
        <p:nvSpPr>
          <p:cNvPr id="34" name="TextBox 33"/>
          <p:cNvSpPr txBox="1"/>
          <p:nvPr/>
        </p:nvSpPr>
        <p:spPr>
          <a:xfrm>
            <a:off x="8138159" y="4343400"/>
            <a:ext cx="3566160" cy="384048"/>
          </a:xfrm>
          <a:prstGeom prst="rect">
            <a:avLst/>
          </a:prstGeom>
          <a:noFill/>
        </p:spPr>
        <p:txBody>
          <a:bodyPr wrap="square">
            <a:spAutoFit/>
          </a:bodyPr>
          <a:lstStyle/>
          <a:p>
            <a:pPr algn="l"/>
            <a:r>
              <a:rPr sz="1200" b="0" i="0">
                <a:solidFill>
                  <a:srgbClr val="F0F0F0"/>
                </a:solidFill>
              </a:rPr>
              <a:t>· US-owned, US-incorporated (LDNA Consulting LLC)</a:t>
            </a:r>
          </a:p>
        </p:txBody>
      </p:sp>
      <p:sp>
        <p:nvSpPr>
          <p:cNvPr id="35" name="TextBox 34"/>
          <p:cNvSpPr txBox="1"/>
          <p:nvPr/>
        </p:nvSpPr>
        <p:spPr>
          <a:xfrm>
            <a:off x="8138159" y="4773168"/>
            <a:ext cx="3566160" cy="384048"/>
          </a:xfrm>
          <a:prstGeom prst="rect">
            <a:avLst/>
          </a:prstGeom>
          <a:noFill/>
        </p:spPr>
        <p:txBody>
          <a:bodyPr wrap="square">
            <a:spAutoFit/>
          </a:bodyPr>
          <a:lstStyle/>
          <a:p>
            <a:pPr algn="l"/>
            <a:r>
              <a:rPr sz="1200" b="0" i="0">
                <a:solidFill>
                  <a:srgbClr val="F0F0F0"/>
                </a:solidFill>
              </a:rPr>
              <a:t>· Trademark protected brand — USPTO filed</a:t>
            </a:r>
          </a:p>
        </p:txBody>
      </p:sp>
      <p:sp>
        <p:nvSpPr>
          <p:cNvPr id="36" name="TextBox 35"/>
          <p:cNvSpPr txBox="1"/>
          <p:nvPr/>
        </p:nvSpPr>
        <p:spPr>
          <a:xfrm>
            <a:off x="8138159" y="5202936"/>
            <a:ext cx="3566160" cy="384048"/>
          </a:xfrm>
          <a:prstGeom prst="rect">
            <a:avLst/>
          </a:prstGeom>
          <a:noFill/>
        </p:spPr>
        <p:txBody>
          <a:bodyPr wrap="square">
            <a:spAutoFit/>
          </a:bodyPr>
          <a:lstStyle/>
          <a:p>
            <a:pPr algn="l"/>
            <a:r>
              <a:rPr sz="1200" b="0" i="0">
                <a:solidFill>
                  <a:srgbClr val="F0F0F0"/>
                </a:solidFill>
              </a:rPr>
              <a:t>· No TikTok ban risk — fully independent</a:t>
            </a:r>
          </a:p>
        </p:txBody>
      </p:sp>
      <p:sp>
        <p:nvSpPr>
          <p:cNvPr id="37" name="TextBox 36"/>
          <p:cNvSpPr txBox="1"/>
          <p:nvPr/>
        </p:nvSpPr>
        <p:spPr>
          <a:xfrm>
            <a:off x="8138159" y="5632704"/>
            <a:ext cx="3566160" cy="384048"/>
          </a:xfrm>
          <a:prstGeom prst="rect">
            <a:avLst/>
          </a:prstGeom>
          <a:noFill/>
        </p:spPr>
        <p:txBody>
          <a:bodyPr wrap="square">
            <a:spAutoFit/>
          </a:bodyPr>
          <a:lstStyle/>
          <a:p>
            <a:pPr algn="l"/>
            <a:r>
              <a:rPr sz="1200" b="0" i="0">
                <a:solidFill>
                  <a:srgbClr val="F0F0F0"/>
                </a:solidFill>
              </a:rPr>
              <a:t>· Sri Lanka ops = 6–8x US cost efficiency</a:t>
            </a:r>
          </a:p>
        </p:txBody>
      </p:sp>
      <p:pic>
        <p:nvPicPr>
          <p:cNvPr id="38" name="Picture 37"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10058400" cy="594360"/>
          </a:xfrm>
          <a:prstGeom prst="rect">
            <a:avLst/>
          </a:prstGeom>
          <a:noFill/>
        </p:spPr>
        <p:txBody>
          <a:bodyPr wrap="square">
            <a:spAutoFit/>
          </a:bodyPr>
          <a:lstStyle/>
          <a:p>
            <a:pPr algn="l"/>
            <a:r>
              <a:rPr sz="3600" b="1" i="0">
                <a:solidFill>
                  <a:srgbClr val="F5C842"/>
                </a:solidFill>
              </a:rPr>
              <a:t>Use of Funds — $5M Seed Round</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581912"/>
            <a:ext cx="7772400" cy="32004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581912"/>
            <a:ext cx="3886200" cy="32004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25880"/>
            <a:ext cx="5029200" cy="292608"/>
          </a:xfrm>
          <a:prstGeom prst="rect">
            <a:avLst/>
          </a:prstGeom>
          <a:noFill/>
        </p:spPr>
        <p:txBody>
          <a:bodyPr wrap="square">
            <a:spAutoFit/>
          </a:bodyPr>
          <a:lstStyle/>
          <a:p>
            <a:pPr algn="l"/>
            <a:r>
              <a:rPr sz="1400" b="1" i="0">
                <a:solidFill>
                  <a:srgbClr val="F5C842"/>
                </a:solidFill>
              </a:rPr>
              <a:t>Infrastructure &amp; Bare Metal</a:t>
            </a:r>
          </a:p>
        </p:txBody>
      </p:sp>
      <p:sp>
        <p:nvSpPr>
          <p:cNvPr id="10" name="TextBox 9"/>
          <p:cNvSpPr txBox="1"/>
          <p:nvPr/>
        </p:nvSpPr>
        <p:spPr>
          <a:xfrm>
            <a:off x="5760720" y="1325880"/>
            <a:ext cx="2743200" cy="292608"/>
          </a:xfrm>
          <a:prstGeom prst="rect">
            <a:avLst/>
          </a:prstGeom>
          <a:noFill/>
        </p:spPr>
        <p:txBody>
          <a:bodyPr wrap="square">
            <a:spAutoFit/>
          </a:bodyPr>
          <a:lstStyle/>
          <a:p>
            <a:pPr algn="r"/>
            <a:r>
              <a:rPr sz="1400" b="1" i="0">
                <a:solidFill>
                  <a:srgbClr val="FFFFFF"/>
                </a:solidFill>
              </a:rPr>
              <a:t>$2,500,000  (50%)</a:t>
            </a:r>
          </a:p>
        </p:txBody>
      </p:sp>
      <p:sp>
        <p:nvSpPr>
          <p:cNvPr id="11" name="TextBox 10"/>
          <p:cNvSpPr txBox="1"/>
          <p:nvPr/>
        </p:nvSpPr>
        <p:spPr>
          <a:xfrm>
            <a:off x="8549640" y="1399032"/>
            <a:ext cx="3383280" cy="502920"/>
          </a:xfrm>
          <a:prstGeom prst="rect">
            <a:avLst/>
          </a:prstGeom>
          <a:noFill/>
        </p:spPr>
        <p:txBody>
          <a:bodyPr wrap="square">
            <a:spAutoFit/>
          </a:bodyPr>
          <a:lstStyle/>
          <a:p>
            <a:pPr algn="l"/>
            <a:r>
              <a:rPr sz="1100" b="0" i="0">
                <a:solidFill>
                  <a:srgbClr val="CCCCCC"/>
                </a:solidFill>
              </a:rPr>
              <a:t>Colombo bare metal servers, switches, networking
hardware, co-location facility setup, redundancy</a:t>
            </a:r>
          </a:p>
        </p:txBody>
      </p:sp>
      <p:sp>
        <p:nvSpPr>
          <p:cNvPr id="12" name="Rectangle 11"/>
          <p:cNvSpPr/>
          <p:nvPr/>
        </p:nvSpPr>
        <p:spPr>
          <a:xfrm>
            <a:off x="640080" y="2478023"/>
            <a:ext cx="7772400" cy="32004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2478023"/>
            <a:ext cx="1865376" cy="32004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221991"/>
            <a:ext cx="5029200" cy="292608"/>
          </a:xfrm>
          <a:prstGeom prst="rect">
            <a:avLst/>
          </a:prstGeom>
          <a:noFill/>
        </p:spPr>
        <p:txBody>
          <a:bodyPr wrap="square">
            <a:spAutoFit/>
          </a:bodyPr>
          <a:lstStyle/>
          <a:p>
            <a:pPr algn="l"/>
            <a:r>
              <a:rPr sz="1400" b="1" i="0">
                <a:solidFill>
                  <a:srgbClr val="FF6B6B"/>
                </a:solidFill>
              </a:rPr>
              <a:t>Engineering Team (Colombo)</a:t>
            </a:r>
          </a:p>
        </p:txBody>
      </p:sp>
      <p:sp>
        <p:nvSpPr>
          <p:cNvPr id="15" name="TextBox 14"/>
          <p:cNvSpPr txBox="1"/>
          <p:nvPr/>
        </p:nvSpPr>
        <p:spPr>
          <a:xfrm>
            <a:off x="5760720" y="2221991"/>
            <a:ext cx="2743200" cy="292608"/>
          </a:xfrm>
          <a:prstGeom prst="rect">
            <a:avLst/>
          </a:prstGeom>
          <a:noFill/>
        </p:spPr>
        <p:txBody>
          <a:bodyPr wrap="square">
            <a:spAutoFit/>
          </a:bodyPr>
          <a:lstStyle/>
          <a:p>
            <a:pPr algn="r"/>
            <a:r>
              <a:rPr sz="1400" b="1" i="0">
                <a:solidFill>
                  <a:srgbClr val="FFFFFF"/>
                </a:solidFill>
              </a:rPr>
              <a:t>$1,200,000  (24%)</a:t>
            </a:r>
          </a:p>
        </p:txBody>
      </p:sp>
      <p:sp>
        <p:nvSpPr>
          <p:cNvPr id="16" name="TextBox 15"/>
          <p:cNvSpPr txBox="1"/>
          <p:nvPr/>
        </p:nvSpPr>
        <p:spPr>
          <a:xfrm>
            <a:off x="8549640" y="2295143"/>
            <a:ext cx="3383280" cy="502920"/>
          </a:xfrm>
          <a:prstGeom prst="rect">
            <a:avLst/>
          </a:prstGeom>
          <a:noFill/>
        </p:spPr>
        <p:txBody>
          <a:bodyPr wrap="square">
            <a:spAutoFit/>
          </a:bodyPr>
          <a:lstStyle/>
          <a:p>
            <a:pPr algn="l"/>
            <a:r>
              <a:rPr sz="1100" b="0" i="0">
                <a:solidFill>
                  <a:srgbClr val="CCCCCC"/>
                </a:solidFill>
              </a:rPr>
              <a:t>10–15 developers, QA, DevOps — 24 months
Senior engineering director + team leads</a:t>
            </a:r>
          </a:p>
        </p:txBody>
      </p:sp>
      <p:sp>
        <p:nvSpPr>
          <p:cNvPr id="17" name="Rectangle 16"/>
          <p:cNvSpPr/>
          <p:nvPr/>
        </p:nvSpPr>
        <p:spPr>
          <a:xfrm>
            <a:off x="640080" y="3374136"/>
            <a:ext cx="7772400" cy="32004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3374136"/>
            <a:ext cx="932688" cy="320040"/>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118104"/>
            <a:ext cx="5029200" cy="292608"/>
          </a:xfrm>
          <a:prstGeom prst="rect">
            <a:avLst/>
          </a:prstGeom>
          <a:noFill/>
        </p:spPr>
        <p:txBody>
          <a:bodyPr wrap="square">
            <a:spAutoFit/>
          </a:bodyPr>
          <a:lstStyle/>
          <a:p>
            <a:pPr algn="l"/>
            <a:r>
              <a:rPr sz="1400" b="1" i="0">
                <a:solidFill>
                  <a:srgbClr val="7BD4FF"/>
                </a:solidFill>
              </a:rPr>
              <a:t>Platform Development</a:t>
            </a:r>
          </a:p>
        </p:txBody>
      </p:sp>
      <p:sp>
        <p:nvSpPr>
          <p:cNvPr id="20" name="TextBox 19"/>
          <p:cNvSpPr txBox="1"/>
          <p:nvPr/>
        </p:nvSpPr>
        <p:spPr>
          <a:xfrm>
            <a:off x="5760720" y="3118104"/>
            <a:ext cx="2743200" cy="292608"/>
          </a:xfrm>
          <a:prstGeom prst="rect">
            <a:avLst/>
          </a:prstGeom>
          <a:noFill/>
        </p:spPr>
        <p:txBody>
          <a:bodyPr wrap="square">
            <a:spAutoFit/>
          </a:bodyPr>
          <a:lstStyle/>
          <a:p>
            <a:pPr algn="r"/>
            <a:r>
              <a:rPr sz="1400" b="1" i="0">
                <a:solidFill>
                  <a:srgbClr val="FFFFFF"/>
                </a:solidFill>
              </a:rPr>
              <a:t>$600,000  (12%)</a:t>
            </a:r>
          </a:p>
        </p:txBody>
      </p:sp>
      <p:sp>
        <p:nvSpPr>
          <p:cNvPr id="21" name="TextBox 20"/>
          <p:cNvSpPr txBox="1"/>
          <p:nvPr/>
        </p:nvSpPr>
        <p:spPr>
          <a:xfrm>
            <a:off x="8549640" y="3191256"/>
            <a:ext cx="3383280" cy="502920"/>
          </a:xfrm>
          <a:prstGeom prst="rect">
            <a:avLst/>
          </a:prstGeom>
          <a:noFill/>
        </p:spPr>
        <p:txBody>
          <a:bodyPr wrap="square">
            <a:spAutoFit/>
          </a:bodyPr>
          <a:lstStyle/>
          <a:p>
            <a:pPr algn="l"/>
            <a:r>
              <a:rPr sz="1100" b="0" i="0">
                <a:solidFill>
                  <a:srgbClr val="CCCCCC"/>
                </a:solidFill>
              </a:rPr>
              <a:t>iOS/Android app store launch, feature roadmap
API development, third-party integrations</a:t>
            </a:r>
          </a:p>
        </p:txBody>
      </p:sp>
      <p:sp>
        <p:nvSpPr>
          <p:cNvPr id="22" name="Rectangle 21"/>
          <p:cNvSpPr/>
          <p:nvPr/>
        </p:nvSpPr>
        <p:spPr>
          <a:xfrm>
            <a:off x="640080" y="4270247"/>
            <a:ext cx="7772400" cy="32004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4270247"/>
            <a:ext cx="699516" cy="320040"/>
          </a:xfrm>
          <a:prstGeom prst="rect">
            <a:avLst/>
          </a:prstGeom>
          <a:solidFill>
            <a:srgbClr val="A0F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014215"/>
            <a:ext cx="5029200" cy="292608"/>
          </a:xfrm>
          <a:prstGeom prst="rect">
            <a:avLst/>
          </a:prstGeom>
          <a:noFill/>
        </p:spPr>
        <p:txBody>
          <a:bodyPr wrap="square">
            <a:spAutoFit/>
          </a:bodyPr>
          <a:lstStyle/>
          <a:p>
            <a:pPr algn="l"/>
            <a:r>
              <a:rPr sz="1400" b="1" i="0">
                <a:solidFill>
                  <a:srgbClr val="A0FFB0"/>
                </a:solidFill>
              </a:rPr>
              <a:t>Marketing &amp; User Acquisition</a:t>
            </a:r>
          </a:p>
        </p:txBody>
      </p:sp>
      <p:sp>
        <p:nvSpPr>
          <p:cNvPr id="25" name="TextBox 24"/>
          <p:cNvSpPr txBox="1"/>
          <p:nvPr/>
        </p:nvSpPr>
        <p:spPr>
          <a:xfrm>
            <a:off x="5760720" y="4014215"/>
            <a:ext cx="2743200" cy="292608"/>
          </a:xfrm>
          <a:prstGeom prst="rect">
            <a:avLst/>
          </a:prstGeom>
          <a:noFill/>
        </p:spPr>
        <p:txBody>
          <a:bodyPr wrap="square">
            <a:spAutoFit/>
          </a:bodyPr>
          <a:lstStyle/>
          <a:p>
            <a:pPr algn="r"/>
            <a:r>
              <a:rPr sz="1400" b="1" i="0">
                <a:solidFill>
                  <a:srgbClr val="FFFFFF"/>
                </a:solidFill>
              </a:rPr>
              <a:t>$450,000  (9%)</a:t>
            </a:r>
          </a:p>
        </p:txBody>
      </p:sp>
      <p:sp>
        <p:nvSpPr>
          <p:cNvPr id="26" name="TextBox 25"/>
          <p:cNvSpPr txBox="1"/>
          <p:nvPr/>
        </p:nvSpPr>
        <p:spPr>
          <a:xfrm>
            <a:off x="8549640" y="4087367"/>
            <a:ext cx="3383280" cy="502920"/>
          </a:xfrm>
          <a:prstGeom prst="rect">
            <a:avLst/>
          </a:prstGeom>
          <a:noFill/>
        </p:spPr>
        <p:txBody>
          <a:bodyPr wrap="square">
            <a:spAutoFit/>
          </a:bodyPr>
          <a:lstStyle/>
          <a:p>
            <a:pPr algn="l"/>
            <a:r>
              <a:rPr sz="1100" b="0" i="0">
                <a:solidFill>
                  <a:srgbClr val="CCCCCC"/>
                </a:solidFill>
              </a:rPr>
              <a:t>Creator fund seed, influencer partnerships
Paid acquisition, diaspora community outreach</a:t>
            </a:r>
          </a:p>
        </p:txBody>
      </p:sp>
      <p:sp>
        <p:nvSpPr>
          <p:cNvPr id="27" name="Rectangle 26"/>
          <p:cNvSpPr/>
          <p:nvPr/>
        </p:nvSpPr>
        <p:spPr>
          <a:xfrm>
            <a:off x="640080" y="5166360"/>
            <a:ext cx="7772400" cy="32004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5166360"/>
            <a:ext cx="388620" cy="32004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910328"/>
            <a:ext cx="5029200" cy="292608"/>
          </a:xfrm>
          <a:prstGeom prst="rect">
            <a:avLst/>
          </a:prstGeom>
          <a:noFill/>
        </p:spPr>
        <p:txBody>
          <a:bodyPr wrap="square">
            <a:spAutoFit/>
          </a:bodyPr>
          <a:lstStyle/>
          <a:p>
            <a:pPr algn="l"/>
            <a:r>
              <a:rPr sz="1400" b="1" i="0">
                <a:solidFill>
                  <a:srgbClr val="CCCCCC"/>
                </a:solidFill>
              </a:rPr>
              <a:t>Operations &amp; Legal</a:t>
            </a:r>
          </a:p>
        </p:txBody>
      </p:sp>
      <p:sp>
        <p:nvSpPr>
          <p:cNvPr id="30" name="TextBox 29"/>
          <p:cNvSpPr txBox="1"/>
          <p:nvPr/>
        </p:nvSpPr>
        <p:spPr>
          <a:xfrm>
            <a:off x="5760720" y="4910328"/>
            <a:ext cx="2743200" cy="292608"/>
          </a:xfrm>
          <a:prstGeom prst="rect">
            <a:avLst/>
          </a:prstGeom>
          <a:noFill/>
        </p:spPr>
        <p:txBody>
          <a:bodyPr wrap="square">
            <a:spAutoFit/>
          </a:bodyPr>
          <a:lstStyle/>
          <a:p>
            <a:pPr algn="r"/>
            <a:r>
              <a:rPr sz="1400" b="1" i="0">
                <a:solidFill>
                  <a:srgbClr val="FFFFFF"/>
                </a:solidFill>
              </a:rPr>
              <a:t>$250,000  (5%)</a:t>
            </a:r>
          </a:p>
        </p:txBody>
      </p:sp>
      <p:sp>
        <p:nvSpPr>
          <p:cNvPr id="31" name="TextBox 30"/>
          <p:cNvSpPr txBox="1"/>
          <p:nvPr/>
        </p:nvSpPr>
        <p:spPr>
          <a:xfrm>
            <a:off x="8549640" y="4983480"/>
            <a:ext cx="3383280" cy="502920"/>
          </a:xfrm>
          <a:prstGeom prst="rect">
            <a:avLst/>
          </a:prstGeom>
          <a:noFill/>
        </p:spPr>
        <p:txBody>
          <a:bodyPr wrap="square">
            <a:spAutoFit/>
          </a:bodyPr>
          <a:lstStyle/>
          <a:p>
            <a:pPr algn="l"/>
            <a:r>
              <a:rPr sz="1100" b="0" i="0">
                <a:solidFill>
                  <a:srgbClr val="CCCCCC"/>
                </a:solidFill>
              </a:rPr>
              <a:t>US operations, trademark filings, legal
Compliance, accounting, executive team</a:t>
            </a:r>
          </a:p>
        </p:txBody>
      </p:sp>
      <p:sp>
        <p:nvSpPr>
          <p:cNvPr id="32" name="Rectangle 31"/>
          <p:cNvSpPr/>
          <p:nvPr/>
        </p:nvSpPr>
        <p:spPr>
          <a:xfrm>
            <a:off x="0" y="1005840"/>
            <a:ext cx="12188952" cy="585216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274320"/>
            <a:ext cx="10058400" cy="594360"/>
          </a:xfrm>
          <a:prstGeom prst="rect">
            <a:avLst/>
          </a:prstGeom>
          <a:noFill/>
        </p:spPr>
        <p:txBody>
          <a:bodyPr wrap="square">
            <a:spAutoFit/>
          </a:bodyPr>
          <a:lstStyle/>
          <a:p>
            <a:pPr algn="l"/>
            <a:r>
              <a:rPr sz="3600" b="1" i="0">
                <a:solidFill>
                  <a:srgbClr val="F5C842"/>
                </a:solidFill>
              </a:rPr>
              <a:t>Use of Funds — M Seed Round</a:t>
            </a:r>
          </a:p>
        </p:txBody>
      </p:sp>
      <p:sp>
        <p:nvSpPr>
          <p:cNvPr id="34" name="Rectangle 33"/>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40080" y="1600200"/>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1600200"/>
            <a:ext cx="3108960" cy="2743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0080" y="1325880"/>
            <a:ext cx="5029200" cy="292608"/>
          </a:xfrm>
          <a:prstGeom prst="rect">
            <a:avLst/>
          </a:prstGeom>
          <a:noFill/>
        </p:spPr>
        <p:txBody>
          <a:bodyPr wrap="square">
            <a:spAutoFit/>
          </a:bodyPr>
          <a:lstStyle/>
          <a:p>
            <a:pPr algn="l"/>
            <a:r>
              <a:rPr sz="1300" b="1" i="0">
                <a:solidFill>
                  <a:srgbClr val="F5C842"/>
                </a:solidFill>
              </a:rPr>
              <a:t>Infrastructure &amp; Bare Metal</a:t>
            </a:r>
          </a:p>
        </p:txBody>
      </p:sp>
      <p:sp>
        <p:nvSpPr>
          <p:cNvPr id="39" name="TextBox 38"/>
          <p:cNvSpPr txBox="1"/>
          <p:nvPr/>
        </p:nvSpPr>
        <p:spPr>
          <a:xfrm>
            <a:off x="5577840" y="1325880"/>
            <a:ext cx="2926080" cy="292608"/>
          </a:xfrm>
          <a:prstGeom prst="rect">
            <a:avLst/>
          </a:prstGeom>
          <a:noFill/>
        </p:spPr>
        <p:txBody>
          <a:bodyPr wrap="square">
            <a:spAutoFit/>
          </a:bodyPr>
          <a:lstStyle/>
          <a:p>
            <a:pPr algn="r"/>
            <a:r>
              <a:rPr sz="1300" b="1" i="0">
                <a:solidFill>
                  <a:srgbClr val="FFFFFF"/>
                </a:solidFill>
              </a:rPr>
              <a:t>$2,000,000  (40%)</a:t>
            </a:r>
          </a:p>
        </p:txBody>
      </p:sp>
      <p:sp>
        <p:nvSpPr>
          <p:cNvPr id="40" name="TextBox 39"/>
          <p:cNvSpPr txBox="1"/>
          <p:nvPr/>
        </p:nvSpPr>
        <p:spPr>
          <a:xfrm>
            <a:off x="8549640" y="1399032"/>
            <a:ext cx="3383280" cy="502920"/>
          </a:xfrm>
          <a:prstGeom prst="rect">
            <a:avLst/>
          </a:prstGeom>
          <a:noFill/>
        </p:spPr>
        <p:txBody>
          <a:bodyPr wrap="square">
            <a:spAutoFit/>
          </a:bodyPr>
          <a:lstStyle/>
          <a:p>
            <a:pPr algn="l"/>
            <a:r>
              <a:rPr sz="1100" b="0" i="0">
                <a:solidFill>
                  <a:srgbClr val="CCCCCC"/>
                </a:solidFill>
              </a:rPr>
              <a:t>Colombo bare metal servers, switches, networking
hardware, co-location facility setup, redundancy</a:t>
            </a:r>
          </a:p>
        </p:txBody>
      </p:sp>
      <p:sp>
        <p:nvSpPr>
          <p:cNvPr id="41" name="Rectangle 40"/>
          <p:cNvSpPr/>
          <p:nvPr/>
        </p:nvSpPr>
        <p:spPr>
          <a:xfrm>
            <a:off x="640080" y="2359151"/>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40080" y="2359151"/>
            <a:ext cx="1865376" cy="27432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2084831"/>
            <a:ext cx="5029200" cy="292608"/>
          </a:xfrm>
          <a:prstGeom prst="rect">
            <a:avLst/>
          </a:prstGeom>
          <a:noFill/>
        </p:spPr>
        <p:txBody>
          <a:bodyPr wrap="square">
            <a:spAutoFit/>
          </a:bodyPr>
          <a:lstStyle/>
          <a:p>
            <a:pPr algn="l"/>
            <a:r>
              <a:rPr sz="1300" b="1" i="0">
                <a:solidFill>
                  <a:srgbClr val="FF6B6B"/>
                </a:solidFill>
              </a:rPr>
              <a:t>Engineering Team (Colombo)</a:t>
            </a:r>
          </a:p>
        </p:txBody>
      </p:sp>
      <p:sp>
        <p:nvSpPr>
          <p:cNvPr id="44" name="TextBox 43"/>
          <p:cNvSpPr txBox="1"/>
          <p:nvPr/>
        </p:nvSpPr>
        <p:spPr>
          <a:xfrm>
            <a:off x="5577840" y="2084831"/>
            <a:ext cx="2926080" cy="292608"/>
          </a:xfrm>
          <a:prstGeom prst="rect">
            <a:avLst/>
          </a:prstGeom>
          <a:noFill/>
        </p:spPr>
        <p:txBody>
          <a:bodyPr wrap="square">
            <a:spAutoFit/>
          </a:bodyPr>
          <a:lstStyle/>
          <a:p>
            <a:pPr algn="r"/>
            <a:r>
              <a:rPr sz="1300" b="1" i="0">
                <a:solidFill>
                  <a:srgbClr val="FFFFFF"/>
                </a:solidFill>
              </a:rPr>
              <a:t>$1,200,000  (24%)</a:t>
            </a:r>
          </a:p>
        </p:txBody>
      </p:sp>
      <p:sp>
        <p:nvSpPr>
          <p:cNvPr id="45" name="TextBox 44"/>
          <p:cNvSpPr txBox="1"/>
          <p:nvPr/>
        </p:nvSpPr>
        <p:spPr>
          <a:xfrm>
            <a:off x="8549640" y="2157983"/>
            <a:ext cx="3383280" cy="502920"/>
          </a:xfrm>
          <a:prstGeom prst="rect">
            <a:avLst/>
          </a:prstGeom>
          <a:noFill/>
        </p:spPr>
        <p:txBody>
          <a:bodyPr wrap="square">
            <a:spAutoFit/>
          </a:bodyPr>
          <a:lstStyle/>
          <a:p>
            <a:pPr algn="l"/>
            <a:r>
              <a:rPr sz="1100" b="0" i="0">
                <a:solidFill>
                  <a:srgbClr val="CCCCCC"/>
                </a:solidFill>
              </a:rPr>
              <a:t>10–15 developers, QA, DevOps — 24 months
Senior engineering director + team leads</a:t>
            </a:r>
          </a:p>
        </p:txBody>
      </p:sp>
      <p:sp>
        <p:nvSpPr>
          <p:cNvPr id="46" name="Rectangle 45"/>
          <p:cNvSpPr/>
          <p:nvPr/>
        </p:nvSpPr>
        <p:spPr>
          <a:xfrm>
            <a:off x="640080" y="3118104"/>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40080" y="3118104"/>
            <a:ext cx="777240" cy="274320"/>
          </a:xfrm>
          <a:prstGeom prst="rect">
            <a:avLst/>
          </a:prstGeom>
          <a:solidFill>
            <a:srgbClr val="A0F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2843784"/>
            <a:ext cx="5029200" cy="292608"/>
          </a:xfrm>
          <a:prstGeom prst="rect">
            <a:avLst/>
          </a:prstGeom>
          <a:noFill/>
        </p:spPr>
        <p:txBody>
          <a:bodyPr wrap="square">
            <a:spAutoFit/>
          </a:bodyPr>
          <a:lstStyle/>
          <a:p>
            <a:pPr algn="l"/>
            <a:r>
              <a:rPr sz="1300" b="1" i="0">
                <a:solidFill>
                  <a:srgbClr val="A0FFB0"/>
                </a:solidFill>
              </a:rPr>
              <a:t>U.S. Operations Office</a:t>
            </a:r>
          </a:p>
        </p:txBody>
      </p:sp>
      <p:sp>
        <p:nvSpPr>
          <p:cNvPr id="49" name="TextBox 48"/>
          <p:cNvSpPr txBox="1"/>
          <p:nvPr/>
        </p:nvSpPr>
        <p:spPr>
          <a:xfrm>
            <a:off x="5577840" y="2843784"/>
            <a:ext cx="2926080" cy="292608"/>
          </a:xfrm>
          <a:prstGeom prst="rect">
            <a:avLst/>
          </a:prstGeom>
          <a:noFill/>
        </p:spPr>
        <p:txBody>
          <a:bodyPr wrap="square">
            <a:spAutoFit/>
          </a:bodyPr>
          <a:lstStyle/>
          <a:p>
            <a:pPr algn="r"/>
            <a:r>
              <a:rPr sz="1300" b="1" i="0">
                <a:solidFill>
                  <a:srgbClr val="FFFFFF"/>
                </a:solidFill>
              </a:rPr>
              <a:t>$500,000  (10%)</a:t>
            </a:r>
          </a:p>
        </p:txBody>
      </p:sp>
      <p:sp>
        <p:nvSpPr>
          <p:cNvPr id="50" name="TextBox 49"/>
          <p:cNvSpPr txBox="1"/>
          <p:nvPr/>
        </p:nvSpPr>
        <p:spPr>
          <a:xfrm>
            <a:off x="8549640" y="2916936"/>
            <a:ext cx="3383280" cy="502920"/>
          </a:xfrm>
          <a:prstGeom prst="rect">
            <a:avLst/>
          </a:prstGeom>
          <a:noFill/>
        </p:spPr>
        <p:txBody>
          <a:bodyPr wrap="square">
            <a:spAutoFit/>
          </a:bodyPr>
          <a:lstStyle/>
          <a:p>
            <a:pPr algn="l"/>
            <a:r>
              <a:rPr sz="1100" b="0" i="0">
                <a:solidFill>
                  <a:srgbClr val="CCCCCC"/>
                </a:solidFill>
              </a:rPr>
              <a:t>New Providence, NJ headquarters — office space,
U.S. executive team, legal entity ops, compliance</a:t>
            </a:r>
          </a:p>
        </p:txBody>
      </p:sp>
      <p:sp>
        <p:nvSpPr>
          <p:cNvPr id="51" name="Rectangle 50"/>
          <p:cNvSpPr/>
          <p:nvPr/>
        </p:nvSpPr>
        <p:spPr>
          <a:xfrm>
            <a:off x="640080" y="3877055"/>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40080" y="3877055"/>
            <a:ext cx="932688" cy="274320"/>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3602735"/>
            <a:ext cx="5029200" cy="292608"/>
          </a:xfrm>
          <a:prstGeom prst="rect">
            <a:avLst/>
          </a:prstGeom>
          <a:noFill/>
        </p:spPr>
        <p:txBody>
          <a:bodyPr wrap="square">
            <a:spAutoFit/>
          </a:bodyPr>
          <a:lstStyle/>
          <a:p>
            <a:pPr algn="l"/>
            <a:r>
              <a:rPr sz="1300" b="1" i="0">
                <a:solidFill>
                  <a:srgbClr val="7BD4FF"/>
                </a:solidFill>
              </a:rPr>
              <a:t>Platform Development</a:t>
            </a:r>
          </a:p>
        </p:txBody>
      </p:sp>
      <p:sp>
        <p:nvSpPr>
          <p:cNvPr id="54" name="TextBox 53"/>
          <p:cNvSpPr txBox="1"/>
          <p:nvPr/>
        </p:nvSpPr>
        <p:spPr>
          <a:xfrm>
            <a:off x="5577840" y="3602735"/>
            <a:ext cx="2926080" cy="292608"/>
          </a:xfrm>
          <a:prstGeom prst="rect">
            <a:avLst/>
          </a:prstGeom>
          <a:noFill/>
        </p:spPr>
        <p:txBody>
          <a:bodyPr wrap="square">
            <a:spAutoFit/>
          </a:bodyPr>
          <a:lstStyle/>
          <a:p>
            <a:pPr algn="r"/>
            <a:r>
              <a:rPr sz="1300" b="1" i="0">
                <a:solidFill>
                  <a:srgbClr val="FFFFFF"/>
                </a:solidFill>
              </a:rPr>
              <a:t>$600,000  (12%)</a:t>
            </a:r>
          </a:p>
        </p:txBody>
      </p:sp>
      <p:sp>
        <p:nvSpPr>
          <p:cNvPr id="55" name="TextBox 54"/>
          <p:cNvSpPr txBox="1"/>
          <p:nvPr/>
        </p:nvSpPr>
        <p:spPr>
          <a:xfrm>
            <a:off x="8549640" y="3675887"/>
            <a:ext cx="3383280" cy="502920"/>
          </a:xfrm>
          <a:prstGeom prst="rect">
            <a:avLst/>
          </a:prstGeom>
          <a:noFill/>
        </p:spPr>
        <p:txBody>
          <a:bodyPr wrap="square">
            <a:spAutoFit/>
          </a:bodyPr>
          <a:lstStyle/>
          <a:p>
            <a:pPr algn="l"/>
            <a:r>
              <a:rPr sz="1100" b="0" i="0">
                <a:solidFill>
                  <a:srgbClr val="CCCCCC"/>
                </a:solidFill>
              </a:rPr>
              <a:t>iOS/Android app store launch, feature roadmap
API development, third-party integrations</a:t>
            </a:r>
          </a:p>
        </p:txBody>
      </p:sp>
      <p:sp>
        <p:nvSpPr>
          <p:cNvPr id="56" name="Rectangle 55"/>
          <p:cNvSpPr/>
          <p:nvPr/>
        </p:nvSpPr>
        <p:spPr>
          <a:xfrm>
            <a:off x="640080" y="4636008"/>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40080" y="4636008"/>
            <a:ext cx="699516" cy="274320"/>
          </a:xfrm>
          <a:prstGeom prst="rect">
            <a:avLst/>
          </a:prstGeom>
          <a:solidFill>
            <a:srgbClr val="FFA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40080" y="4361688"/>
            <a:ext cx="5029200" cy="292608"/>
          </a:xfrm>
          <a:prstGeom prst="rect">
            <a:avLst/>
          </a:prstGeom>
          <a:noFill/>
        </p:spPr>
        <p:txBody>
          <a:bodyPr wrap="square">
            <a:spAutoFit/>
          </a:bodyPr>
          <a:lstStyle/>
          <a:p>
            <a:pPr algn="l"/>
            <a:r>
              <a:rPr sz="1300" b="1" i="0">
                <a:solidFill>
                  <a:srgbClr val="FFA050"/>
                </a:solidFill>
              </a:rPr>
              <a:t>Marketing &amp; User Acquisition</a:t>
            </a:r>
          </a:p>
        </p:txBody>
      </p:sp>
      <p:sp>
        <p:nvSpPr>
          <p:cNvPr id="59" name="TextBox 58"/>
          <p:cNvSpPr txBox="1"/>
          <p:nvPr/>
        </p:nvSpPr>
        <p:spPr>
          <a:xfrm>
            <a:off x="5577840" y="4361688"/>
            <a:ext cx="2926080" cy="292608"/>
          </a:xfrm>
          <a:prstGeom prst="rect">
            <a:avLst/>
          </a:prstGeom>
          <a:noFill/>
        </p:spPr>
        <p:txBody>
          <a:bodyPr wrap="square">
            <a:spAutoFit/>
          </a:bodyPr>
          <a:lstStyle/>
          <a:p>
            <a:pPr algn="r"/>
            <a:r>
              <a:rPr sz="1300" b="1" i="0">
                <a:solidFill>
                  <a:srgbClr val="FFFFFF"/>
                </a:solidFill>
              </a:rPr>
              <a:t>$450,000  (9%)</a:t>
            </a:r>
          </a:p>
        </p:txBody>
      </p:sp>
      <p:sp>
        <p:nvSpPr>
          <p:cNvPr id="60" name="TextBox 59"/>
          <p:cNvSpPr txBox="1"/>
          <p:nvPr/>
        </p:nvSpPr>
        <p:spPr>
          <a:xfrm>
            <a:off x="8549640" y="4434840"/>
            <a:ext cx="3383280" cy="502920"/>
          </a:xfrm>
          <a:prstGeom prst="rect">
            <a:avLst/>
          </a:prstGeom>
          <a:noFill/>
        </p:spPr>
        <p:txBody>
          <a:bodyPr wrap="square">
            <a:spAutoFit/>
          </a:bodyPr>
          <a:lstStyle/>
          <a:p>
            <a:pPr algn="l"/>
            <a:r>
              <a:rPr sz="1100" b="0" i="0">
                <a:solidFill>
                  <a:srgbClr val="CCCCCC"/>
                </a:solidFill>
              </a:rPr>
              <a:t>Creator fund seed, influencer partnerships
Paid acquisition, diaspora community outreach</a:t>
            </a:r>
          </a:p>
        </p:txBody>
      </p:sp>
      <p:sp>
        <p:nvSpPr>
          <p:cNvPr id="61" name="Rectangle 60"/>
          <p:cNvSpPr/>
          <p:nvPr/>
        </p:nvSpPr>
        <p:spPr>
          <a:xfrm>
            <a:off x="640080" y="5394960"/>
            <a:ext cx="7772400" cy="27432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40080" y="5394960"/>
            <a:ext cx="388620" cy="27432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40080" y="5120640"/>
            <a:ext cx="5029200" cy="292608"/>
          </a:xfrm>
          <a:prstGeom prst="rect">
            <a:avLst/>
          </a:prstGeom>
          <a:noFill/>
        </p:spPr>
        <p:txBody>
          <a:bodyPr wrap="square">
            <a:spAutoFit/>
          </a:bodyPr>
          <a:lstStyle/>
          <a:p>
            <a:pPr algn="l"/>
            <a:r>
              <a:rPr sz="1300" b="1" i="0">
                <a:solidFill>
                  <a:srgbClr val="CCCCCC"/>
                </a:solidFill>
              </a:rPr>
              <a:t>Operations &amp; Legal</a:t>
            </a:r>
          </a:p>
        </p:txBody>
      </p:sp>
      <p:sp>
        <p:nvSpPr>
          <p:cNvPr id="64" name="TextBox 63"/>
          <p:cNvSpPr txBox="1"/>
          <p:nvPr/>
        </p:nvSpPr>
        <p:spPr>
          <a:xfrm>
            <a:off x="5577840" y="5120640"/>
            <a:ext cx="2926080" cy="292608"/>
          </a:xfrm>
          <a:prstGeom prst="rect">
            <a:avLst/>
          </a:prstGeom>
          <a:noFill/>
        </p:spPr>
        <p:txBody>
          <a:bodyPr wrap="square">
            <a:spAutoFit/>
          </a:bodyPr>
          <a:lstStyle/>
          <a:p>
            <a:pPr algn="r"/>
            <a:r>
              <a:rPr sz="1300" b="1" i="0">
                <a:solidFill>
                  <a:srgbClr val="FFFFFF"/>
                </a:solidFill>
              </a:rPr>
              <a:t>$250,000  (5%)</a:t>
            </a:r>
          </a:p>
        </p:txBody>
      </p:sp>
      <p:sp>
        <p:nvSpPr>
          <p:cNvPr id="65" name="TextBox 64"/>
          <p:cNvSpPr txBox="1"/>
          <p:nvPr/>
        </p:nvSpPr>
        <p:spPr>
          <a:xfrm>
            <a:off x="8549640" y="5193792"/>
            <a:ext cx="3383280" cy="502920"/>
          </a:xfrm>
          <a:prstGeom prst="rect">
            <a:avLst/>
          </a:prstGeom>
          <a:noFill/>
        </p:spPr>
        <p:txBody>
          <a:bodyPr wrap="square">
            <a:spAutoFit/>
          </a:bodyPr>
          <a:lstStyle/>
          <a:p>
            <a:pPr algn="l"/>
            <a:r>
              <a:rPr sz="1100" b="0" i="0">
                <a:solidFill>
                  <a:srgbClr val="CCCCCC"/>
                </a:solidFill>
              </a:rPr>
              <a:t>Trademark filings, legal counsel, accounting
Compliance, insurance, executive admin</a:t>
            </a:r>
          </a:p>
        </p:txBody>
      </p:sp>
      <p:sp>
        <p:nvSpPr>
          <p:cNvPr id="66" name="TextBox 65"/>
          <p:cNvSpPr txBox="1"/>
          <p:nvPr/>
        </p:nvSpPr>
        <p:spPr>
          <a:xfrm>
            <a:off x="640080" y="5989320"/>
            <a:ext cx="7315200" cy="365760"/>
          </a:xfrm>
          <a:prstGeom prst="rect">
            <a:avLst/>
          </a:prstGeom>
          <a:noFill/>
        </p:spPr>
        <p:txBody>
          <a:bodyPr wrap="square">
            <a:spAutoFit/>
          </a:bodyPr>
          <a:lstStyle/>
          <a:p>
            <a:pPr algn="l"/>
            <a:r>
              <a:rPr sz="1400" b="1" i="0">
                <a:solidFill>
                  <a:srgbClr val="F5C842"/>
                </a:solidFill>
              </a:rPr>
              <a:t>TOTAL RAISE:  ,000,000</a:t>
            </a:r>
          </a:p>
        </p:txBody>
      </p:sp>
      <p:sp>
        <p:nvSpPr>
          <p:cNvPr id="67" name="Rectangle 66"/>
          <p:cNvSpPr/>
          <p:nvPr/>
        </p:nvSpPr>
        <p:spPr>
          <a:xfrm>
            <a:off x="0" y="1005840"/>
            <a:ext cx="12188952" cy="585216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57200" y="1280160"/>
            <a:ext cx="109728" cy="43891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77240" y="256032"/>
            <a:ext cx="10058400" cy="594360"/>
          </a:xfrm>
          <a:prstGeom prst="rect">
            <a:avLst/>
          </a:prstGeom>
          <a:noFill/>
        </p:spPr>
        <p:txBody>
          <a:bodyPr wrap="square">
            <a:spAutoFit/>
          </a:bodyPr>
          <a:lstStyle/>
          <a:p>
            <a:pPr algn="l"/>
            <a:r>
              <a:rPr sz="3600" b="1" i="0">
                <a:solidFill>
                  <a:srgbClr val="F5C842"/>
                </a:solidFill>
              </a:rPr>
              <a:t>Use of Funds — $5M Seed Round</a:t>
            </a:r>
          </a:p>
        </p:txBody>
      </p:sp>
      <p:sp>
        <p:nvSpPr>
          <p:cNvPr id="71" name="Rectangle 70"/>
          <p:cNvSpPr/>
          <p:nvPr/>
        </p:nvSpPr>
        <p:spPr>
          <a:xfrm>
            <a:off x="640080" y="1554480"/>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40080" y="1554480"/>
            <a:ext cx="2487168" cy="2286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40080" y="1298448"/>
            <a:ext cx="5029200" cy="274320"/>
          </a:xfrm>
          <a:prstGeom prst="rect">
            <a:avLst/>
          </a:prstGeom>
          <a:noFill/>
        </p:spPr>
        <p:txBody>
          <a:bodyPr wrap="square">
            <a:spAutoFit/>
          </a:bodyPr>
          <a:lstStyle/>
          <a:p>
            <a:pPr algn="l"/>
            <a:r>
              <a:rPr sz="1200" b="1" i="0">
                <a:solidFill>
                  <a:srgbClr val="F5C842"/>
                </a:solidFill>
              </a:rPr>
              <a:t>Infrastructure &amp; Bare Metal (Colombo)</a:t>
            </a:r>
          </a:p>
        </p:txBody>
      </p:sp>
      <p:sp>
        <p:nvSpPr>
          <p:cNvPr id="74" name="TextBox 73"/>
          <p:cNvSpPr txBox="1"/>
          <p:nvPr/>
        </p:nvSpPr>
        <p:spPr>
          <a:xfrm>
            <a:off x="5486400" y="1298448"/>
            <a:ext cx="2651760" cy="274320"/>
          </a:xfrm>
          <a:prstGeom prst="rect">
            <a:avLst/>
          </a:prstGeom>
          <a:noFill/>
        </p:spPr>
        <p:txBody>
          <a:bodyPr wrap="square">
            <a:spAutoFit/>
          </a:bodyPr>
          <a:lstStyle/>
          <a:p>
            <a:pPr algn="r"/>
            <a:r>
              <a:rPr sz="1200" b="1" i="0">
                <a:solidFill>
                  <a:srgbClr val="FFFFFF"/>
                </a:solidFill>
              </a:rPr>
              <a:t>$1,700,000  (34%)</a:t>
            </a:r>
          </a:p>
        </p:txBody>
      </p:sp>
      <p:sp>
        <p:nvSpPr>
          <p:cNvPr id="75" name="TextBox 74"/>
          <p:cNvSpPr txBox="1"/>
          <p:nvPr/>
        </p:nvSpPr>
        <p:spPr>
          <a:xfrm>
            <a:off x="8229600" y="1316736"/>
            <a:ext cx="3749039" cy="457200"/>
          </a:xfrm>
          <a:prstGeom prst="rect">
            <a:avLst/>
          </a:prstGeom>
          <a:noFill/>
        </p:spPr>
        <p:txBody>
          <a:bodyPr wrap="square">
            <a:spAutoFit/>
          </a:bodyPr>
          <a:lstStyle/>
          <a:p>
            <a:pPr algn="l"/>
            <a:r>
              <a:rPr sz="1050" b="0" i="0">
                <a:solidFill>
                  <a:srgbClr val="CCCCCC"/>
                </a:solidFill>
              </a:rPr>
              <a:t>Bare metal servers, switches, networking hardware
Colombo co-location facility + redundancy build-out</a:t>
            </a:r>
          </a:p>
        </p:txBody>
      </p:sp>
      <p:sp>
        <p:nvSpPr>
          <p:cNvPr id="76" name="Rectangle 75"/>
          <p:cNvSpPr/>
          <p:nvPr/>
        </p:nvSpPr>
        <p:spPr>
          <a:xfrm>
            <a:off x="640080" y="2221992"/>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40080" y="2221992"/>
            <a:ext cx="1755648" cy="22860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40080" y="1965960"/>
            <a:ext cx="5029200" cy="274320"/>
          </a:xfrm>
          <a:prstGeom prst="rect">
            <a:avLst/>
          </a:prstGeom>
          <a:noFill/>
        </p:spPr>
        <p:txBody>
          <a:bodyPr wrap="square">
            <a:spAutoFit/>
          </a:bodyPr>
          <a:lstStyle/>
          <a:p>
            <a:pPr algn="l"/>
            <a:r>
              <a:rPr sz="1200" b="1" i="0">
                <a:solidFill>
                  <a:srgbClr val="FF6B6B"/>
                </a:solidFill>
              </a:rPr>
              <a:t>Engineering Team — Colombo</a:t>
            </a:r>
          </a:p>
        </p:txBody>
      </p:sp>
      <p:sp>
        <p:nvSpPr>
          <p:cNvPr id="79" name="TextBox 78"/>
          <p:cNvSpPr txBox="1"/>
          <p:nvPr/>
        </p:nvSpPr>
        <p:spPr>
          <a:xfrm>
            <a:off x="5486400" y="1965960"/>
            <a:ext cx="2651760" cy="274320"/>
          </a:xfrm>
          <a:prstGeom prst="rect">
            <a:avLst/>
          </a:prstGeom>
          <a:noFill/>
        </p:spPr>
        <p:txBody>
          <a:bodyPr wrap="square">
            <a:spAutoFit/>
          </a:bodyPr>
          <a:lstStyle/>
          <a:p>
            <a:pPr algn="r"/>
            <a:r>
              <a:rPr sz="1200" b="1" i="0">
                <a:solidFill>
                  <a:srgbClr val="FFFFFF"/>
                </a:solidFill>
              </a:rPr>
              <a:t>$1,200,000  (24%)</a:t>
            </a:r>
          </a:p>
        </p:txBody>
      </p:sp>
      <p:sp>
        <p:nvSpPr>
          <p:cNvPr id="80" name="TextBox 79"/>
          <p:cNvSpPr txBox="1"/>
          <p:nvPr/>
        </p:nvSpPr>
        <p:spPr>
          <a:xfrm>
            <a:off x="8229600" y="1984248"/>
            <a:ext cx="3749039" cy="457200"/>
          </a:xfrm>
          <a:prstGeom prst="rect">
            <a:avLst/>
          </a:prstGeom>
          <a:noFill/>
        </p:spPr>
        <p:txBody>
          <a:bodyPr wrap="square">
            <a:spAutoFit/>
          </a:bodyPr>
          <a:lstStyle/>
          <a:p>
            <a:pPr algn="l"/>
            <a:r>
              <a:rPr sz="1050" b="0" i="0">
                <a:solidFill>
                  <a:srgbClr val="CCCCCC"/>
                </a:solidFill>
              </a:rPr>
              <a:t>10–15 developers, QA, DevOps — 24 months
VP Engineering + team leads</a:t>
            </a:r>
          </a:p>
        </p:txBody>
      </p:sp>
      <p:sp>
        <p:nvSpPr>
          <p:cNvPr id="81" name="Rectangle 80"/>
          <p:cNvSpPr/>
          <p:nvPr/>
        </p:nvSpPr>
        <p:spPr>
          <a:xfrm>
            <a:off x="640080" y="2889504"/>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40080" y="2889504"/>
            <a:ext cx="438912" cy="228600"/>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2633472"/>
            <a:ext cx="5029200" cy="274320"/>
          </a:xfrm>
          <a:prstGeom prst="rect">
            <a:avLst/>
          </a:prstGeom>
          <a:noFill/>
        </p:spPr>
        <p:txBody>
          <a:bodyPr wrap="square">
            <a:spAutoFit/>
          </a:bodyPr>
          <a:lstStyle/>
          <a:p>
            <a:pPr algn="l"/>
            <a:r>
              <a:rPr sz="1200" b="1" i="0">
                <a:solidFill>
                  <a:srgbClr val="7BD4FF"/>
                </a:solidFill>
              </a:rPr>
              <a:t>Colombo Corporate Office</a:t>
            </a:r>
          </a:p>
        </p:txBody>
      </p:sp>
      <p:sp>
        <p:nvSpPr>
          <p:cNvPr id="84" name="TextBox 83"/>
          <p:cNvSpPr txBox="1"/>
          <p:nvPr/>
        </p:nvSpPr>
        <p:spPr>
          <a:xfrm>
            <a:off x="5486400" y="2633472"/>
            <a:ext cx="2651760" cy="274320"/>
          </a:xfrm>
          <a:prstGeom prst="rect">
            <a:avLst/>
          </a:prstGeom>
          <a:noFill/>
        </p:spPr>
        <p:txBody>
          <a:bodyPr wrap="square">
            <a:spAutoFit/>
          </a:bodyPr>
          <a:lstStyle/>
          <a:p>
            <a:pPr algn="r"/>
            <a:r>
              <a:rPr sz="1200" b="1" i="0">
                <a:solidFill>
                  <a:srgbClr val="FFFFFF"/>
                </a:solidFill>
              </a:rPr>
              <a:t>$300,000  (6%)</a:t>
            </a:r>
          </a:p>
        </p:txBody>
      </p:sp>
      <p:sp>
        <p:nvSpPr>
          <p:cNvPr id="85" name="TextBox 84"/>
          <p:cNvSpPr txBox="1"/>
          <p:nvPr/>
        </p:nvSpPr>
        <p:spPr>
          <a:xfrm>
            <a:off x="8229600" y="2651760"/>
            <a:ext cx="3749039" cy="457200"/>
          </a:xfrm>
          <a:prstGeom prst="rect">
            <a:avLst/>
          </a:prstGeom>
          <a:noFill/>
        </p:spPr>
        <p:txBody>
          <a:bodyPr wrap="square">
            <a:spAutoFit/>
          </a:bodyPr>
          <a:lstStyle/>
          <a:p>
            <a:pPr algn="l"/>
            <a:r>
              <a:rPr sz="1050" b="0" i="0">
                <a:solidFill>
                  <a:srgbClr val="CCCCCC"/>
                </a:solidFill>
              </a:rPr>
              <a:t>Office lease (Colombo 3/7), fit-out, workstations
High-speed fiber, server room, 24-month commitment</a:t>
            </a:r>
          </a:p>
        </p:txBody>
      </p:sp>
      <p:sp>
        <p:nvSpPr>
          <p:cNvPr id="86" name="Rectangle 85"/>
          <p:cNvSpPr/>
          <p:nvPr/>
        </p:nvSpPr>
        <p:spPr>
          <a:xfrm>
            <a:off x="640080" y="3557016"/>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640080" y="3557016"/>
            <a:ext cx="731520" cy="228600"/>
          </a:xfrm>
          <a:prstGeom prst="rect">
            <a:avLst/>
          </a:prstGeom>
          <a:solidFill>
            <a:srgbClr val="A0FF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40080" y="3300984"/>
            <a:ext cx="5029200" cy="274320"/>
          </a:xfrm>
          <a:prstGeom prst="rect">
            <a:avLst/>
          </a:prstGeom>
          <a:noFill/>
        </p:spPr>
        <p:txBody>
          <a:bodyPr wrap="square">
            <a:spAutoFit/>
          </a:bodyPr>
          <a:lstStyle/>
          <a:p>
            <a:pPr algn="l"/>
            <a:r>
              <a:rPr sz="1200" b="1" i="0">
                <a:solidFill>
                  <a:srgbClr val="A0FFB0"/>
                </a:solidFill>
              </a:rPr>
              <a:t>U.S. Operations Office (New Jersey)</a:t>
            </a:r>
          </a:p>
        </p:txBody>
      </p:sp>
      <p:sp>
        <p:nvSpPr>
          <p:cNvPr id="89" name="TextBox 88"/>
          <p:cNvSpPr txBox="1"/>
          <p:nvPr/>
        </p:nvSpPr>
        <p:spPr>
          <a:xfrm>
            <a:off x="5486400" y="3300984"/>
            <a:ext cx="2651760" cy="274320"/>
          </a:xfrm>
          <a:prstGeom prst="rect">
            <a:avLst/>
          </a:prstGeom>
          <a:noFill/>
        </p:spPr>
        <p:txBody>
          <a:bodyPr wrap="square">
            <a:spAutoFit/>
          </a:bodyPr>
          <a:lstStyle/>
          <a:p>
            <a:pPr algn="r"/>
            <a:r>
              <a:rPr sz="1200" b="1" i="0">
                <a:solidFill>
                  <a:srgbClr val="FFFFFF"/>
                </a:solidFill>
              </a:rPr>
              <a:t>$500,000  (10%)</a:t>
            </a:r>
          </a:p>
        </p:txBody>
      </p:sp>
      <p:sp>
        <p:nvSpPr>
          <p:cNvPr id="90" name="TextBox 89"/>
          <p:cNvSpPr txBox="1"/>
          <p:nvPr/>
        </p:nvSpPr>
        <p:spPr>
          <a:xfrm>
            <a:off x="8229600" y="3319272"/>
            <a:ext cx="3749039" cy="457200"/>
          </a:xfrm>
          <a:prstGeom prst="rect">
            <a:avLst/>
          </a:prstGeom>
          <a:noFill/>
        </p:spPr>
        <p:txBody>
          <a:bodyPr wrap="square">
            <a:spAutoFit/>
          </a:bodyPr>
          <a:lstStyle/>
          <a:p>
            <a:pPr algn="l"/>
            <a:r>
              <a:rPr sz="1050" b="0" i="0">
                <a:solidFill>
                  <a:srgbClr val="CCCCCC"/>
                </a:solidFill>
              </a:rPr>
              <a:t>NJ headquarters — executive office space
U.S. legal entity ops, compliance, admin</a:t>
            </a:r>
          </a:p>
        </p:txBody>
      </p:sp>
      <p:sp>
        <p:nvSpPr>
          <p:cNvPr id="91" name="Rectangle 90"/>
          <p:cNvSpPr/>
          <p:nvPr/>
        </p:nvSpPr>
        <p:spPr>
          <a:xfrm>
            <a:off x="640080" y="4224528"/>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640080" y="4224528"/>
            <a:ext cx="877824" cy="228600"/>
          </a:xfrm>
          <a:prstGeom prst="rect">
            <a:avLst/>
          </a:prstGeom>
          <a:solidFill>
            <a:srgbClr val="FFA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40080" y="3968496"/>
            <a:ext cx="5029200" cy="274320"/>
          </a:xfrm>
          <a:prstGeom prst="rect">
            <a:avLst/>
          </a:prstGeom>
          <a:noFill/>
        </p:spPr>
        <p:txBody>
          <a:bodyPr wrap="square">
            <a:spAutoFit/>
          </a:bodyPr>
          <a:lstStyle/>
          <a:p>
            <a:pPr algn="l"/>
            <a:r>
              <a:rPr sz="1200" b="1" i="0">
                <a:solidFill>
                  <a:srgbClr val="FFA050"/>
                </a:solidFill>
              </a:rPr>
              <a:t>Platform Development</a:t>
            </a:r>
          </a:p>
        </p:txBody>
      </p:sp>
      <p:sp>
        <p:nvSpPr>
          <p:cNvPr id="94" name="TextBox 93"/>
          <p:cNvSpPr txBox="1"/>
          <p:nvPr/>
        </p:nvSpPr>
        <p:spPr>
          <a:xfrm>
            <a:off x="5486400" y="3968496"/>
            <a:ext cx="2651760" cy="274320"/>
          </a:xfrm>
          <a:prstGeom prst="rect">
            <a:avLst/>
          </a:prstGeom>
          <a:noFill/>
        </p:spPr>
        <p:txBody>
          <a:bodyPr wrap="square">
            <a:spAutoFit/>
          </a:bodyPr>
          <a:lstStyle/>
          <a:p>
            <a:pPr algn="r"/>
            <a:r>
              <a:rPr sz="1200" b="1" i="0">
                <a:solidFill>
                  <a:srgbClr val="FFFFFF"/>
                </a:solidFill>
              </a:rPr>
              <a:t>$600,000  (12%)</a:t>
            </a:r>
          </a:p>
        </p:txBody>
      </p:sp>
      <p:sp>
        <p:nvSpPr>
          <p:cNvPr id="95" name="TextBox 94"/>
          <p:cNvSpPr txBox="1"/>
          <p:nvPr/>
        </p:nvSpPr>
        <p:spPr>
          <a:xfrm>
            <a:off x="8229600" y="3986784"/>
            <a:ext cx="3749039" cy="457200"/>
          </a:xfrm>
          <a:prstGeom prst="rect">
            <a:avLst/>
          </a:prstGeom>
          <a:noFill/>
        </p:spPr>
        <p:txBody>
          <a:bodyPr wrap="square">
            <a:spAutoFit/>
          </a:bodyPr>
          <a:lstStyle/>
          <a:p>
            <a:pPr algn="l"/>
            <a:r>
              <a:rPr sz="1050" b="0" i="0">
                <a:solidFill>
                  <a:srgbClr val="CCCCCC"/>
                </a:solidFill>
              </a:rPr>
              <a:t>iOS/Android App Store launch, feature roadmap
API development, third-party integrations</a:t>
            </a:r>
          </a:p>
        </p:txBody>
      </p:sp>
      <p:sp>
        <p:nvSpPr>
          <p:cNvPr id="96" name="Rectangle 95"/>
          <p:cNvSpPr/>
          <p:nvPr/>
        </p:nvSpPr>
        <p:spPr>
          <a:xfrm>
            <a:off x="640080" y="4892040"/>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640080" y="4892040"/>
            <a:ext cx="658368" cy="2286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640080" y="4636008"/>
            <a:ext cx="5029200" cy="274320"/>
          </a:xfrm>
          <a:prstGeom prst="rect">
            <a:avLst/>
          </a:prstGeom>
          <a:noFill/>
        </p:spPr>
        <p:txBody>
          <a:bodyPr wrap="square">
            <a:spAutoFit/>
          </a:bodyPr>
          <a:lstStyle/>
          <a:p>
            <a:pPr algn="l"/>
            <a:r>
              <a:rPr sz="1200" b="1" i="0">
                <a:solidFill>
                  <a:srgbClr val="FFD700"/>
                </a:solidFill>
              </a:rPr>
              <a:t>Marketing &amp; User Acquisition</a:t>
            </a:r>
          </a:p>
        </p:txBody>
      </p:sp>
      <p:sp>
        <p:nvSpPr>
          <p:cNvPr id="99" name="TextBox 98"/>
          <p:cNvSpPr txBox="1"/>
          <p:nvPr/>
        </p:nvSpPr>
        <p:spPr>
          <a:xfrm>
            <a:off x="5486400" y="4636008"/>
            <a:ext cx="2651760" cy="274320"/>
          </a:xfrm>
          <a:prstGeom prst="rect">
            <a:avLst/>
          </a:prstGeom>
          <a:noFill/>
        </p:spPr>
        <p:txBody>
          <a:bodyPr wrap="square">
            <a:spAutoFit/>
          </a:bodyPr>
          <a:lstStyle/>
          <a:p>
            <a:pPr algn="r"/>
            <a:r>
              <a:rPr sz="1200" b="1" i="0">
                <a:solidFill>
                  <a:srgbClr val="FFFFFF"/>
                </a:solidFill>
              </a:rPr>
              <a:t>$450,000  (9%)</a:t>
            </a:r>
          </a:p>
        </p:txBody>
      </p:sp>
      <p:sp>
        <p:nvSpPr>
          <p:cNvPr id="100" name="TextBox 99"/>
          <p:cNvSpPr txBox="1"/>
          <p:nvPr/>
        </p:nvSpPr>
        <p:spPr>
          <a:xfrm>
            <a:off x="8229600" y="4654296"/>
            <a:ext cx="3749039" cy="457200"/>
          </a:xfrm>
          <a:prstGeom prst="rect">
            <a:avLst/>
          </a:prstGeom>
          <a:noFill/>
        </p:spPr>
        <p:txBody>
          <a:bodyPr wrap="square">
            <a:spAutoFit/>
          </a:bodyPr>
          <a:lstStyle/>
          <a:p>
            <a:pPr algn="l"/>
            <a:r>
              <a:rPr sz="1050" b="0" i="0">
                <a:solidFill>
                  <a:srgbClr val="CCCCCC"/>
                </a:solidFill>
              </a:rPr>
              <a:t>Creator fund seed, influencer partnerships
Paid acquisition, diaspora community outreach</a:t>
            </a:r>
          </a:p>
        </p:txBody>
      </p:sp>
      <p:sp>
        <p:nvSpPr>
          <p:cNvPr id="101" name="Rectangle 100"/>
          <p:cNvSpPr/>
          <p:nvPr/>
        </p:nvSpPr>
        <p:spPr>
          <a:xfrm>
            <a:off x="640080" y="5559552"/>
            <a:ext cx="7315200" cy="228600"/>
          </a:xfrm>
          <a:prstGeom prst="rect">
            <a:avLst/>
          </a:prstGeom>
          <a:solidFill>
            <a:srgbClr val="1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640080" y="5559552"/>
            <a:ext cx="365760" cy="2286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640080" y="5303520"/>
            <a:ext cx="5029200" cy="274320"/>
          </a:xfrm>
          <a:prstGeom prst="rect">
            <a:avLst/>
          </a:prstGeom>
          <a:noFill/>
        </p:spPr>
        <p:txBody>
          <a:bodyPr wrap="square">
            <a:spAutoFit/>
          </a:bodyPr>
          <a:lstStyle/>
          <a:p>
            <a:pPr algn="l"/>
            <a:r>
              <a:rPr sz="1200" b="1" i="0">
                <a:solidFill>
                  <a:srgbClr val="CCCCCC"/>
                </a:solidFill>
              </a:rPr>
              <a:t>Operations &amp; Legal</a:t>
            </a:r>
          </a:p>
        </p:txBody>
      </p:sp>
      <p:sp>
        <p:nvSpPr>
          <p:cNvPr id="104" name="TextBox 103"/>
          <p:cNvSpPr txBox="1"/>
          <p:nvPr/>
        </p:nvSpPr>
        <p:spPr>
          <a:xfrm>
            <a:off x="5486400" y="5303520"/>
            <a:ext cx="2651760" cy="274320"/>
          </a:xfrm>
          <a:prstGeom prst="rect">
            <a:avLst/>
          </a:prstGeom>
          <a:noFill/>
        </p:spPr>
        <p:txBody>
          <a:bodyPr wrap="square">
            <a:spAutoFit/>
          </a:bodyPr>
          <a:lstStyle/>
          <a:p>
            <a:pPr algn="r"/>
            <a:r>
              <a:rPr sz="1200" b="1" i="0">
                <a:solidFill>
                  <a:srgbClr val="FFFFFF"/>
                </a:solidFill>
              </a:rPr>
              <a:t>$250,000  (5%)</a:t>
            </a:r>
          </a:p>
        </p:txBody>
      </p:sp>
      <p:sp>
        <p:nvSpPr>
          <p:cNvPr id="105" name="TextBox 104"/>
          <p:cNvSpPr txBox="1"/>
          <p:nvPr/>
        </p:nvSpPr>
        <p:spPr>
          <a:xfrm>
            <a:off x="8229600" y="5321808"/>
            <a:ext cx="3749039" cy="457200"/>
          </a:xfrm>
          <a:prstGeom prst="rect">
            <a:avLst/>
          </a:prstGeom>
          <a:noFill/>
        </p:spPr>
        <p:txBody>
          <a:bodyPr wrap="square">
            <a:spAutoFit/>
          </a:bodyPr>
          <a:lstStyle/>
          <a:p>
            <a:pPr algn="l"/>
            <a:r>
              <a:rPr sz="1050" b="0" i="0">
                <a:solidFill>
                  <a:srgbClr val="CCCCCC"/>
                </a:solidFill>
              </a:rPr>
              <a:t>Trademark filings, legal counsel, accounting
Compliance, insurance, executive admin</a:t>
            </a:r>
          </a:p>
        </p:txBody>
      </p:sp>
      <p:sp>
        <p:nvSpPr>
          <p:cNvPr id="106" name="TextBox 105"/>
          <p:cNvSpPr txBox="1"/>
          <p:nvPr/>
        </p:nvSpPr>
        <p:spPr>
          <a:xfrm>
            <a:off x="640080" y="6016752"/>
            <a:ext cx="7315200" cy="347472"/>
          </a:xfrm>
          <a:prstGeom prst="rect">
            <a:avLst/>
          </a:prstGeom>
          <a:noFill/>
        </p:spPr>
        <p:txBody>
          <a:bodyPr wrap="square">
            <a:spAutoFit/>
          </a:bodyPr>
          <a:lstStyle/>
          <a:p>
            <a:pPr algn="l"/>
            <a:r>
              <a:rPr sz="1400" b="1" i="0">
                <a:solidFill>
                  <a:srgbClr val="F5C842"/>
                </a:solidFill>
              </a:rPr>
              <a:t>TOTAL:  $5,000,000</a:t>
            </a:r>
          </a:p>
        </p:txBody>
      </p:sp>
      <p:pic>
        <p:nvPicPr>
          <p:cNvPr id="107" name="Picture 106"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Financial Projections</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097280"/>
            <a:ext cx="10515600" cy="365760"/>
          </a:xfrm>
          <a:prstGeom prst="rect">
            <a:avLst/>
          </a:prstGeom>
          <a:noFill/>
        </p:spPr>
        <p:txBody>
          <a:bodyPr wrap="square">
            <a:spAutoFit/>
          </a:bodyPr>
          <a:lstStyle/>
          <a:p>
            <a:pPr algn="l"/>
            <a:r>
              <a:rPr sz="1400" b="0" i="1">
                <a:solidFill>
                  <a:srgbClr val="CCCCCC"/>
                </a:solidFill>
              </a:rPr>
              <a:t>Conservative model — based on 2% coin conversion rate and 0.5% paid subscriber rate at scale.</a:t>
            </a:r>
          </a:p>
        </p:txBody>
      </p:sp>
      <p:sp>
        <p:nvSpPr>
          <p:cNvPr id="8" name="Rectangle 7"/>
          <p:cNvSpPr/>
          <p:nvPr/>
        </p:nvSpPr>
        <p:spPr>
          <a:xfrm>
            <a:off x="640080" y="1600200"/>
            <a:ext cx="2103120" cy="420624"/>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64208"/>
            <a:ext cx="2011680" cy="420624"/>
          </a:xfrm>
          <a:prstGeom prst="rect">
            <a:avLst/>
          </a:prstGeom>
          <a:noFill/>
        </p:spPr>
        <p:txBody>
          <a:bodyPr wrap="square">
            <a:spAutoFit/>
          </a:bodyPr>
          <a:lstStyle/>
          <a:p>
            <a:pPr algn="ctr"/>
            <a:r>
              <a:rPr sz="1200" b="1" i="0">
                <a:solidFill>
                  <a:srgbClr val="0B0C1A"/>
                </a:solidFill>
              </a:rPr>
              <a:t>Metric</a:t>
            </a:r>
          </a:p>
        </p:txBody>
      </p:sp>
      <p:sp>
        <p:nvSpPr>
          <p:cNvPr id="10" name="Rectangle 9"/>
          <p:cNvSpPr/>
          <p:nvPr/>
        </p:nvSpPr>
        <p:spPr>
          <a:xfrm>
            <a:off x="2834640" y="1600200"/>
            <a:ext cx="1828800" cy="420624"/>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80360" y="1664208"/>
            <a:ext cx="1737360" cy="420624"/>
          </a:xfrm>
          <a:prstGeom prst="rect">
            <a:avLst/>
          </a:prstGeom>
          <a:noFill/>
        </p:spPr>
        <p:txBody>
          <a:bodyPr wrap="square">
            <a:spAutoFit/>
          </a:bodyPr>
          <a:lstStyle/>
          <a:p>
            <a:pPr algn="ctr"/>
            <a:r>
              <a:rPr sz="1200" b="1" i="0">
                <a:solidFill>
                  <a:srgbClr val="0B0C1A"/>
                </a:solidFill>
              </a:rPr>
              <a:t>Year 1 (2026)</a:t>
            </a:r>
          </a:p>
        </p:txBody>
      </p:sp>
      <p:sp>
        <p:nvSpPr>
          <p:cNvPr id="12" name="Rectangle 11"/>
          <p:cNvSpPr/>
          <p:nvPr/>
        </p:nvSpPr>
        <p:spPr>
          <a:xfrm>
            <a:off x="4663440" y="1600200"/>
            <a:ext cx="1828800" cy="420624"/>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9160" y="1664208"/>
            <a:ext cx="1737360" cy="420624"/>
          </a:xfrm>
          <a:prstGeom prst="rect">
            <a:avLst/>
          </a:prstGeom>
          <a:noFill/>
        </p:spPr>
        <p:txBody>
          <a:bodyPr wrap="square">
            <a:spAutoFit/>
          </a:bodyPr>
          <a:lstStyle/>
          <a:p>
            <a:pPr algn="ctr"/>
            <a:r>
              <a:rPr sz="1200" b="1" i="0">
                <a:solidFill>
                  <a:srgbClr val="0B0C1A"/>
                </a:solidFill>
              </a:rPr>
              <a:t>Year 2 (2027)</a:t>
            </a:r>
          </a:p>
        </p:txBody>
      </p:sp>
      <p:sp>
        <p:nvSpPr>
          <p:cNvPr id="14" name="Rectangle 13"/>
          <p:cNvSpPr/>
          <p:nvPr/>
        </p:nvSpPr>
        <p:spPr>
          <a:xfrm>
            <a:off x="6492240" y="1600200"/>
            <a:ext cx="1828800" cy="420624"/>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664208"/>
            <a:ext cx="1737360" cy="420624"/>
          </a:xfrm>
          <a:prstGeom prst="rect">
            <a:avLst/>
          </a:prstGeom>
          <a:noFill/>
        </p:spPr>
        <p:txBody>
          <a:bodyPr wrap="square">
            <a:spAutoFit/>
          </a:bodyPr>
          <a:lstStyle/>
          <a:p>
            <a:pPr algn="ctr"/>
            <a:r>
              <a:rPr sz="1200" b="1" i="0">
                <a:solidFill>
                  <a:srgbClr val="0B0C1A"/>
                </a:solidFill>
              </a:rPr>
              <a:t>Year 3 (2028)</a:t>
            </a:r>
          </a:p>
        </p:txBody>
      </p:sp>
      <p:sp>
        <p:nvSpPr>
          <p:cNvPr id="16" name="Rectangle 15"/>
          <p:cNvSpPr/>
          <p:nvPr/>
        </p:nvSpPr>
        <p:spPr>
          <a:xfrm>
            <a:off x="8321040" y="1600200"/>
            <a:ext cx="1828800" cy="420624"/>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664208"/>
            <a:ext cx="1737360" cy="420624"/>
          </a:xfrm>
          <a:prstGeom prst="rect">
            <a:avLst/>
          </a:prstGeom>
          <a:noFill/>
        </p:spPr>
        <p:txBody>
          <a:bodyPr wrap="square">
            <a:spAutoFit/>
          </a:bodyPr>
          <a:lstStyle/>
          <a:p>
            <a:pPr algn="ctr"/>
            <a:r>
              <a:rPr sz="1200" b="1" i="0">
                <a:solidFill>
                  <a:srgbClr val="0B0C1A"/>
                </a:solidFill>
              </a:rPr>
              <a:t>Year 5 (2030)</a:t>
            </a:r>
          </a:p>
        </p:txBody>
      </p:sp>
      <p:sp>
        <p:nvSpPr>
          <p:cNvPr id="18" name="Rectangle 17"/>
          <p:cNvSpPr/>
          <p:nvPr/>
        </p:nvSpPr>
        <p:spPr>
          <a:xfrm>
            <a:off x="640080" y="2020824"/>
            <a:ext cx="210312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084832"/>
            <a:ext cx="2011680" cy="420624"/>
          </a:xfrm>
          <a:prstGeom prst="rect">
            <a:avLst/>
          </a:prstGeom>
          <a:noFill/>
        </p:spPr>
        <p:txBody>
          <a:bodyPr wrap="square">
            <a:spAutoFit/>
          </a:bodyPr>
          <a:lstStyle/>
          <a:p>
            <a:pPr algn="l"/>
            <a:r>
              <a:rPr sz="1200" b="0" i="0">
                <a:solidFill>
                  <a:srgbClr val="F5C842"/>
                </a:solidFill>
              </a:rPr>
              <a:t>MAU</a:t>
            </a:r>
          </a:p>
        </p:txBody>
      </p:sp>
      <p:sp>
        <p:nvSpPr>
          <p:cNvPr id="20" name="Rectangle 19"/>
          <p:cNvSpPr/>
          <p:nvPr/>
        </p:nvSpPr>
        <p:spPr>
          <a:xfrm>
            <a:off x="2834640" y="2020824"/>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80360" y="2084832"/>
            <a:ext cx="1737360" cy="420624"/>
          </a:xfrm>
          <a:prstGeom prst="rect">
            <a:avLst/>
          </a:prstGeom>
          <a:noFill/>
        </p:spPr>
        <p:txBody>
          <a:bodyPr wrap="square">
            <a:spAutoFit/>
          </a:bodyPr>
          <a:lstStyle/>
          <a:p>
            <a:pPr algn="ctr"/>
            <a:r>
              <a:rPr sz="1200" b="0" i="0">
                <a:solidFill>
                  <a:srgbClr val="FFFFFF"/>
                </a:solidFill>
              </a:rPr>
              <a:t>10,000</a:t>
            </a:r>
          </a:p>
        </p:txBody>
      </p:sp>
      <p:sp>
        <p:nvSpPr>
          <p:cNvPr id="22" name="Rectangle 21"/>
          <p:cNvSpPr/>
          <p:nvPr/>
        </p:nvSpPr>
        <p:spPr>
          <a:xfrm>
            <a:off x="4663440" y="2020824"/>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09160" y="2084832"/>
            <a:ext cx="1737360" cy="420624"/>
          </a:xfrm>
          <a:prstGeom prst="rect">
            <a:avLst/>
          </a:prstGeom>
          <a:noFill/>
        </p:spPr>
        <p:txBody>
          <a:bodyPr wrap="square">
            <a:spAutoFit/>
          </a:bodyPr>
          <a:lstStyle/>
          <a:p>
            <a:pPr algn="ctr"/>
            <a:r>
              <a:rPr sz="1200" b="0" i="0">
                <a:solidFill>
                  <a:srgbClr val="FFFFFF"/>
                </a:solidFill>
              </a:rPr>
              <a:t>150,000</a:t>
            </a:r>
          </a:p>
        </p:txBody>
      </p:sp>
      <p:sp>
        <p:nvSpPr>
          <p:cNvPr id="24" name="Rectangle 23"/>
          <p:cNvSpPr/>
          <p:nvPr/>
        </p:nvSpPr>
        <p:spPr>
          <a:xfrm>
            <a:off x="6492240" y="2020824"/>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2084832"/>
            <a:ext cx="1737360" cy="420624"/>
          </a:xfrm>
          <a:prstGeom prst="rect">
            <a:avLst/>
          </a:prstGeom>
          <a:noFill/>
        </p:spPr>
        <p:txBody>
          <a:bodyPr wrap="square">
            <a:spAutoFit/>
          </a:bodyPr>
          <a:lstStyle/>
          <a:p>
            <a:pPr algn="ctr"/>
            <a:r>
              <a:rPr sz="1200" b="0" i="0">
                <a:solidFill>
                  <a:srgbClr val="FFFFFF"/>
                </a:solidFill>
              </a:rPr>
              <a:t>500,000</a:t>
            </a:r>
          </a:p>
        </p:txBody>
      </p:sp>
      <p:sp>
        <p:nvSpPr>
          <p:cNvPr id="26" name="Rectangle 25"/>
          <p:cNvSpPr/>
          <p:nvPr/>
        </p:nvSpPr>
        <p:spPr>
          <a:xfrm>
            <a:off x="8321040" y="2020824"/>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66760" y="2084832"/>
            <a:ext cx="1737360" cy="420624"/>
          </a:xfrm>
          <a:prstGeom prst="rect">
            <a:avLst/>
          </a:prstGeom>
          <a:noFill/>
        </p:spPr>
        <p:txBody>
          <a:bodyPr wrap="square">
            <a:spAutoFit/>
          </a:bodyPr>
          <a:lstStyle/>
          <a:p>
            <a:pPr algn="ctr"/>
            <a:r>
              <a:rPr sz="1200" b="0" i="0">
                <a:solidFill>
                  <a:srgbClr val="FFFFFF"/>
                </a:solidFill>
              </a:rPr>
              <a:t>3,000,000</a:t>
            </a:r>
          </a:p>
        </p:txBody>
      </p:sp>
      <p:sp>
        <p:nvSpPr>
          <p:cNvPr id="28" name="Rectangle 27"/>
          <p:cNvSpPr/>
          <p:nvPr/>
        </p:nvSpPr>
        <p:spPr>
          <a:xfrm>
            <a:off x="640080" y="2441448"/>
            <a:ext cx="210312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505456"/>
            <a:ext cx="2011680" cy="420624"/>
          </a:xfrm>
          <a:prstGeom prst="rect">
            <a:avLst/>
          </a:prstGeom>
          <a:noFill/>
        </p:spPr>
        <p:txBody>
          <a:bodyPr wrap="square">
            <a:spAutoFit/>
          </a:bodyPr>
          <a:lstStyle/>
          <a:p>
            <a:pPr algn="l"/>
            <a:r>
              <a:rPr sz="1200" b="0" i="0">
                <a:solidFill>
                  <a:srgbClr val="F5C842"/>
                </a:solidFill>
              </a:rPr>
              <a:t>Coin Purchasers (2%)</a:t>
            </a:r>
          </a:p>
        </p:txBody>
      </p:sp>
      <p:sp>
        <p:nvSpPr>
          <p:cNvPr id="30" name="Rectangle 29"/>
          <p:cNvSpPr/>
          <p:nvPr/>
        </p:nvSpPr>
        <p:spPr>
          <a:xfrm>
            <a:off x="2834640" y="2441448"/>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80360" y="2505456"/>
            <a:ext cx="1737360" cy="420624"/>
          </a:xfrm>
          <a:prstGeom prst="rect">
            <a:avLst/>
          </a:prstGeom>
          <a:noFill/>
        </p:spPr>
        <p:txBody>
          <a:bodyPr wrap="square">
            <a:spAutoFit/>
          </a:bodyPr>
          <a:lstStyle/>
          <a:p>
            <a:pPr algn="ctr"/>
            <a:r>
              <a:rPr sz="1200" b="0" i="0">
                <a:solidFill>
                  <a:srgbClr val="FFFFFF"/>
                </a:solidFill>
              </a:rPr>
              <a:t>200</a:t>
            </a:r>
          </a:p>
        </p:txBody>
      </p:sp>
      <p:sp>
        <p:nvSpPr>
          <p:cNvPr id="32" name="Rectangle 31"/>
          <p:cNvSpPr/>
          <p:nvPr/>
        </p:nvSpPr>
        <p:spPr>
          <a:xfrm>
            <a:off x="4663440" y="2441448"/>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09160" y="2505456"/>
            <a:ext cx="1737360" cy="420624"/>
          </a:xfrm>
          <a:prstGeom prst="rect">
            <a:avLst/>
          </a:prstGeom>
          <a:noFill/>
        </p:spPr>
        <p:txBody>
          <a:bodyPr wrap="square">
            <a:spAutoFit/>
          </a:bodyPr>
          <a:lstStyle/>
          <a:p>
            <a:pPr algn="ctr"/>
            <a:r>
              <a:rPr sz="1200" b="0" i="0">
                <a:solidFill>
                  <a:srgbClr val="FFFFFF"/>
                </a:solidFill>
              </a:rPr>
              <a:t>3,000</a:t>
            </a:r>
          </a:p>
        </p:txBody>
      </p:sp>
      <p:sp>
        <p:nvSpPr>
          <p:cNvPr id="34" name="Rectangle 33"/>
          <p:cNvSpPr/>
          <p:nvPr/>
        </p:nvSpPr>
        <p:spPr>
          <a:xfrm>
            <a:off x="6492240" y="2441448"/>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60" y="2505456"/>
            <a:ext cx="1737360" cy="420624"/>
          </a:xfrm>
          <a:prstGeom prst="rect">
            <a:avLst/>
          </a:prstGeom>
          <a:noFill/>
        </p:spPr>
        <p:txBody>
          <a:bodyPr wrap="square">
            <a:spAutoFit/>
          </a:bodyPr>
          <a:lstStyle/>
          <a:p>
            <a:pPr algn="ctr"/>
            <a:r>
              <a:rPr sz="1200" b="0" i="0">
                <a:solidFill>
                  <a:srgbClr val="FFFFFF"/>
                </a:solidFill>
              </a:rPr>
              <a:t>10,000</a:t>
            </a:r>
          </a:p>
        </p:txBody>
      </p:sp>
      <p:sp>
        <p:nvSpPr>
          <p:cNvPr id="36" name="Rectangle 35"/>
          <p:cNvSpPr/>
          <p:nvPr/>
        </p:nvSpPr>
        <p:spPr>
          <a:xfrm>
            <a:off x="8321040" y="2441448"/>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66760" y="2505456"/>
            <a:ext cx="1737360" cy="420624"/>
          </a:xfrm>
          <a:prstGeom prst="rect">
            <a:avLst/>
          </a:prstGeom>
          <a:noFill/>
        </p:spPr>
        <p:txBody>
          <a:bodyPr wrap="square">
            <a:spAutoFit/>
          </a:bodyPr>
          <a:lstStyle/>
          <a:p>
            <a:pPr algn="ctr"/>
            <a:r>
              <a:rPr sz="1200" b="0" i="0">
                <a:solidFill>
                  <a:srgbClr val="FFFFFF"/>
                </a:solidFill>
              </a:rPr>
              <a:t>60,000</a:t>
            </a:r>
          </a:p>
        </p:txBody>
      </p:sp>
      <p:sp>
        <p:nvSpPr>
          <p:cNvPr id="38" name="Rectangle 37"/>
          <p:cNvSpPr/>
          <p:nvPr/>
        </p:nvSpPr>
        <p:spPr>
          <a:xfrm>
            <a:off x="640080" y="2862072"/>
            <a:ext cx="210312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2926080"/>
            <a:ext cx="2011680" cy="420624"/>
          </a:xfrm>
          <a:prstGeom prst="rect">
            <a:avLst/>
          </a:prstGeom>
          <a:noFill/>
        </p:spPr>
        <p:txBody>
          <a:bodyPr wrap="square">
            <a:spAutoFit/>
          </a:bodyPr>
          <a:lstStyle/>
          <a:p>
            <a:pPr algn="l"/>
            <a:r>
              <a:rPr sz="1200" b="0" i="0">
                <a:solidFill>
                  <a:srgbClr val="F5C842"/>
                </a:solidFill>
              </a:rPr>
              <a:t>Avg Spend / Purchaser</a:t>
            </a:r>
          </a:p>
        </p:txBody>
      </p:sp>
      <p:sp>
        <p:nvSpPr>
          <p:cNvPr id="40" name="Rectangle 39"/>
          <p:cNvSpPr/>
          <p:nvPr/>
        </p:nvSpPr>
        <p:spPr>
          <a:xfrm>
            <a:off x="2834640" y="2862072"/>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880360" y="2926080"/>
            <a:ext cx="1737360" cy="420624"/>
          </a:xfrm>
          <a:prstGeom prst="rect">
            <a:avLst/>
          </a:prstGeom>
          <a:noFill/>
        </p:spPr>
        <p:txBody>
          <a:bodyPr wrap="square">
            <a:spAutoFit/>
          </a:bodyPr>
          <a:lstStyle/>
          <a:p>
            <a:pPr algn="ctr"/>
            <a:r>
              <a:rPr sz="1200" b="0" i="0">
                <a:solidFill>
                  <a:srgbClr val="FFFFFF"/>
                </a:solidFill>
              </a:rPr>
              <a:t>$25/mo</a:t>
            </a:r>
          </a:p>
        </p:txBody>
      </p:sp>
      <p:sp>
        <p:nvSpPr>
          <p:cNvPr id="42" name="Rectangle 41"/>
          <p:cNvSpPr/>
          <p:nvPr/>
        </p:nvSpPr>
        <p:spPr>
          <a:xfrm>
            <a:off x="4663440" y="2862072"/>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709160" y="2926080"/>
            <a:ext cx="1737360" cy="420624"/>
          </a:xfrm>
          <a:prstGeom prst="rect">
            <a:avLst/>
          </a:prstGeom>
          <a:noFill/>
        </p:spPr>
        <p:txBody>
          <a:bodyPr wrap="square">
            <a:spAutoFit/>
          </a:bodyPr>
          <a:lstStyle/>
          <a:p>
            <a:pPr algn="ctr"/>
            <a:r>
              <a:rPr sz="1200" b="0" i="0">
                <a:solidFill>
                  <a:srgbClr val="FFFFFF"/>
                </a:solidFill>
              </a:rPr>
              <a:t>$30/mo</a:t>
            </a:r>
          </a:p>
        </p:txBody>
      </p:sp>
      <p:sp>
        <p:nvSpPr>
          <p:cNvPr id="44" name="Rectangle 43"/>
          <p:cNvSpPr/>
          <p:nvPr/>
        </p:nvSpPr>
        <p:spPr>
          <a:xfrm>
            <a:off x="6492240" y="2862072"/>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537960" y="2926080"/>
            <a:ext cx="1737360" cy="420624"/>
          </a:xfrm>
          <a:prstGeom prst="rect">
            <a:avLst/>
          </a:prstGeom>
          <a:noFill/>
        </p:spPr>
        <p:txBody>
          <a:bodyPr wrap="square">
            <a:spAutoFit/>
          </a:bodyPr>
          <a:lstStyle/>
          <a:p>
            <a:pPr algn="ctr"/>
            <a:r>
              <a:rPr sz="1200" b="0" i="0">
                <a:solidFill>
                  <a:srgbClr val="FFFFFF"/>
                </a:solidFill>
              </a:rPr>
              <a:t>$35/mo</a:t>
            </a:r>
          </a:p>
        </p:txBody>
      </p:sp>
      <p:sp>
        <p:nvSpPr>
          <p:cNvPr id="46" name="Rectangle 45"/>
          <p:cNvSpPr/>
          <p:nvPr/>
        </p:nvSpPr>
        <p:spPr>
          <a:xfrm>
            <a:off x="8321040" y="2862072"/>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366760" y="2926080"/>
            <a:ext cx="1737360" cy="420624"/>
          </a:xfrm>
          <a:prstGeom prst="rect">
            <a:avLst/>
          </a:prstGeom>
          <a:noFill/>
        </p:spPr>
        <p:txBody>
          <a:bodyPr wrap="square">
            <a:spAutoFit/>
          </a:bodyPr>
          <a:lstStyle/>
          <a:p>
            <a:pPr algn="ctr"/>
            <a:r>
              <a:rPr sz="1200" b="0" i="0">
                <a:solidFill>
                  <a:srgbClr val="FFFFFF"/>
                </a:solidFill>
              </a:rPr>
              <a:t>$40/mo</a:t>
            </a:r>
          </a:p>
        </p:txBody>
      </p:sp>
      <p:sp>
        <p:nvSpPr>
          <p:cNvPr id="48" name="Rectangle 47"/>
          <p:cNvSpPr/>
          <p:nvPr/>
        </p:nvSpPr>
        <p:spPr>
          <a:xfrm>
            <a:off x="640080" y="3282696"/>
            <a:ext cx="210312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5800" y="3346704"/>
            <a:ext cx="2011680" cy="420624"/>
          </a:xfrm>
          <a:prstGeom prst="rect">
            <a:avLst/>
          </a:prstGeom>
          <a:noFill/>
        </p:spPr>
        <p:txBody>
          <a:bodyPr wrap="square">
            <a:spAutoFit/>
          </a:bodyPr>
          <a:lstStyle/>
          <a:p>
            <a:pPr algn="l"/>
            <a:r>
              <a:rPr sz="1200" b="0" i="0">
                <a:solidFill>
                  <a:srgbClr val="F5C842"/>
                </a:solidFill>
              </a:rPr>
              <a:t>Gifting Revenue</a:t>
            </a:r>
          </a:p>
        </p:txBody>
      </p:sp>
      <p:sp>
        <p:nvSpPr>
          <p:cNvPr id="50" name="Rectangle 49"/>
          <p:cNvSpPr/>
          <p:nvPr/>
        </p:nvSpPr>
        <p:spPr>
          <a:xfrm>
            <a:off x="2834640" y="3282696"/>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80360" y="3346704"/>
            <a:ext cx="1737360" cy="420624"/>
          </a:xfrm>
          <a:prstGeom prst="rect">
            <a:avLst/>
          </a:prstGeom>
          <a:noFill/>
        </p:spPr>
        <p:txBody>
          <a:bodyPr wrap="square">
            <a:spAutoFit/>
          </a:bodyPr>
          <a:lstStyle/>
          <a:p>
            <a:pPr algn="ctr"/>
            <a:r>
              <a:rPr sz="1200" b="0" i="0">
                <a:solidFill>
                  <a:srgbClr val="FFFFFF"/>
                </a:solidFill>
              </a:rPr>
              <a:t>$60K</a:t>
            </a:r>
          </a:p>
        </p:txBody>
      </p:sp>
      <p:sp>
        <p:nvSpPr>
          <p:cNvPr id="52" name="Rectangle 51"/>
          <p:cNvSpPr/>
          <p:nvPr/>
        </p:nvSpPr>
        <p:spPr>
          <a:xfrm>
            <a:off x="4663440" y="3282696"/>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709160" y="3346704"/>
            <a:ext cx="1737360" cy="420624"/>
          </a:xfrm>
          <a:prstGeom prst="rect">
            <a:avLst/>
          </a:prstGeom>
          <a:noFill/>
        </p:spPr>
        <p:txBody>
          <a:bodyPr wrap="square">
            <a:spAutoFit/>
          </a:bodyPr>
          <a:lstStyle/>
          <a:p>
            <a:pPr algn="ctr"/>
            <a:r>
              <a:rPr sz="1200" b="0" i="0">
                <a:solidFill>
                  <a:srgbClr val="FFFFFF"/>
                </a:solidFill>
              </a:rPr>
              <a:t>$1.1M</a:t>
            </a:r>
          </a:p>
        </p:txBody>
      </p:sp>
      <p:sp>
        <p:nvSpPr>
          <p:cNvPr id="54" name="Rectangle 53"/>
          <p:cNvSpPr/>
          <p:nvPr/>
        </p:nvSpPr>
        <p:spPr>
          <a:xfrm>
            <a:off x="6492240" y="3282696"/>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60" y="3346704"/>
            <a:ext cx="1737360" cy="420624"/>
          </a:xfrm>
          <a:prstGeom prst="rect">
            <a:avLst/>
          </a:prstGeom>
          <a:noFill/>
        </p:spPr>
        <p:txBody>
          <a:bodyPr wrap="square">
            <a:spAutoFit/>
          </a:bodyPr>
          <a:lstStyle/>
          <a:p>
            <a:pPr algn="ctr"/>
            <a:r>
              <a:rPr sz="1200" b="0" i="0">
                <a:solidFill>
                  <a:srgbClr val="FFFFFF"/>
                </a:solidFill>
              </a:rPr>
              <a:t>$4.2M</a:t>
            </a:r>
          </a:p>
        </p:txBody>
      </p:sp>
      <p:sp>
        <p:nvSpPr>
          <p:cNvPr id="56" name="Rectangle 55"/>
          <p:cNvSpPr/>
          <p:nvPr/>
        </p:nvSpPr>
        <p:spPr>
          <a:xfrm>
            <a:off x="8321040" y="3282696"/>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66760" y="3346704"/>
            <a:ext cx="1737360" cy="420624"/>
          </a:xfrm>
          <a:prstGeom prst="rect">
            <a:avLst/>
          </a:prstGeom>
          <a:noFill/>
        </p:spPr>
        <p:txBody>
          <a:bodyPr wrap="square">
            <a:spAutoFit/>
          </a:bodyPr>
          <a:lstStyle/>
          <a:p>
            <a:pPr algn="ctr"/>
            <a:r>
              <a:rPr sz="1200" b="0" i="0">
                <a:solidFill>
                  <a:srgbClr val="FFFFFF"/>
                </a:solidFill>
              </a:rPr>
              <a:t>$28.8M</a:t>
            </a:r>
          </a:p>
        </p:txBody>
      </p:sp>
      <p:sp>
        <p:nvSpPr>
          <p:cNvPr id="58" name="Rectangle 57"/>
          <p:cNvSpPr/>
          <p:nvPr/>
        </p:nvSpPr>
        <p:spPr>
          <a:xfrm>
            <a:off x="640080" y="3703320"/>
            <a:ext cx="210312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85800" y="3767328"/>
            <a:ext cx="2011680" cy="420624"/>
          </a:xfrm>
          <a:prstGeom prst="rect">
            <a:avLst/>
          </a:prstGeom>
          <a:noFill/>
        </p:spPr>
        <p:txBody>
          <a:bodyPr wrap="square">
            <a:spAutoFit/>
          </a:bodyPr>
          <a:lstStyle/>
          <a:p>
            <a:pPr algn="l"/>
            <a:r>
              <a:rPr sz="1200" b="0" i="0">
                <a:solidFill>
                  <a:srgbClr val="F5C842"/>
                </a:solidFill>
              </a:rPr>
              <a:t>Subscription Revenue</a:t>
            </a:r>
          </a:p>
        </p:txBody>
      </p:sp>
      <p:sp>
        <p:nvSpPr>
          <p:cNvPr id="60" name="Rectangle 59"/>
          <p:cNvSpPr/>
          <p:nvPr/>
        </p:nvSpPr>
        <p:spPr>
          <a:xfrm>
            <a:off x="2834640" y="3703320"/>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880360" y="3767328"/>
            <a:ext cx="1737360" cy="420624"/>
          </a:xfrm>
          <a:prstGeom prst="rect">
            <a:avLst/>
          </a:prstGeom>
          <a:noFill/>
        </p:spPr>
        <p:txBody>
          <a:bodyPr wrap="square">
            <a:spAutoFit/>
          </a:bodyPr>
          <a:lstStyle/>
          <a:p>
            <a:pPr algn="ctr"/>
            <a:r>
              <a:rPr sz="1200" b="0" i="0">
                <a:solidFill>
                  <a:srgbClr val="FFFFFF"/>
                </a:solidFill>
              </a:rPr>
              <a:t>$0</a:t>
            </a:r>
          </a:p>
        </p:txBody>
      </p:sp>
      <p:sp>
        <p:nvSpPr>
          <p:cNvPr id="62" name="Rectangle 61"/>
          <p:cNvSpPr/>
          <p:nvPr/>
        </p:nvSpPr>
        <p:spPr>
          <a:xfrm>
            <a:off x="4663440" y="3703320"/>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709160" y="3767328"/>
            <a:ext cx="1737360" cy="420624"/>
          </a:xfrm>
          <a:prstGeom prst="rect">
            <a:avLst/>
          </a:prstGeom>
          <a:noFill/>
        </p:spPr>
        <p:txBody>
          <a:bodyPr wrap="square">
            <a:spAutoFit/>
          </a:bodyPr>
          <a:lstStyle/>
          <a:p>
            <a:pPr algn="ctr"/>
            <a:r>
              <a:rPr sz="1200" b="0" i="0">
                <a:solidFill>
                  <a:srgbClr val="FFFFFF"/>
                </a:solidFill>
              </a:rPr>
              <a:t>$180K</a:t>
            </a:r>
          </a:p>
        </p:txBody>
      </p:sp>
      <p:sp>
        <p:nvSpPr>
          <p:cNvPr id="64" name="Rectangle 63"/>
          <p:cNvSpPr/>
          <p:nvPr/>
        </p:nvSpPr>
        <p:spPr>
          <a:xfrm>
            <a:off x="6492240" y="3703320"/>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537960" y="3767328"/>
            <a:ext cx="1737360" cy="420624"/>
          </a:xfrm>
          <a:prstGeom prst="rect">
            <a:avLst/>
          </a:prstGeom>
          <a:noFill/>
        </p:spPr>
        <p:txBody>
          <a:bodyPr wrap="square">
            <a:spAutoFit/>
          </a:bodyPr>
          <a:lstStyle/>
          <a:p>
            <a:pPr algn="ctr"/>
            <a:r>
              <a:rPr sz="1200" b="0" i="0">
                <a:solidFill>
                  <a:srgbClr val="FFFFFF"/>
                </a:solidFill>
              </a:rPr>
              <a:t>$900K</a:t>
            </a:r>
          </a:p>
        </p:txBody>
      </p:sp>
      <p:sp>
        <p:nvSpPr>
          <p:cNvPr id="66" name="Rectangle 65"/>
          <p:cNvSpPr/>
          <p:nvPr/>
        </p:nvSpPr>
        <p:spPr>
          <a:xfrm>
            <a:off x="8321040" y="3703320"/>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366760" y="3767328"/>
            <a:ext cx="1737360" cy="420624"/>
          </a:xfrm>
          <a:prstGeom prst="rect">
            <a:avLst/>
          </a:prstGeom>
          <a:noFill/>
        </p:spPr>
        <p:txBody>
          <a:bodyPr wrap="square">
            <a:spAutoFit/>
          </a:bodyPr>
          <a:lstStyle/>
          <a:p>
            <a:pPr algn="ctr"/>
            <a:r>
              <a:rPr sz="1200" b="0" i="0">
                <a:solidFill>
                  <a:srgbClr val="FFFFFF"/>
                </a:solidFill>
              </a:rPr>
              <a:t>$7.2M</a:t>
            </a:r>
          </a:p>
        </p:txBody>
      </p:sp>
      <p:sp>
        <p:nvSpPr>
          <p:cNvPr id="68" name="Rectangle 67"/>
          <p:cNvSpPr/>
          <p:nvPr/>
        </p:nvSpPr>
        <p:spPr>
          <a:xfrm>
            <a:off x="640080" y="4123944"/>
            <a:ext cx="210312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85800" y="4187952"/>
            <a:ext cx="2011680" cy="420624"/>
          </a:xfrm>
          <a:prstGeom prst="rect">
            <a:avLst/>
          </a:prstGeom>
          <a:noFill/>
        </p:spPr>
        <p:txBody>
          <a:bodyPr wrap="square">
            <a:spAutoFit/>
          </a:bodyPr>
          <a:lstStyle/>
          <a:p>
            <a:pPr algn="l"/>
            <a:r>
              <a:rPr sz="1200" b="0" i="0">
                <a:solidFill>
                  <a:srgbClr val="F5C842"/>
                </a:solidFill>
              </a:rPr>
              <a:t>Ad Revenue</a:t>
            </a:r>
          </a:p>
        </p:txBody>
      </p:sp>
      <p:sp>
        <p:nvSpPr>
          <p:cNvPr id="70" name="Rectangle 69"/>
          <p:cNvSpPr/>
          <p:nvPr/>
        </p:nvSpPr>
        <p:spPr>
          <a:xfrm>
            <a:off x="2834640" y="4123944"/>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80360" y="4187952"/>
            <a:ext cx="1737360" cy="420624"/>
          </a:xfrm>
          <a:prstGeom prst="rect">
            <a:avLst/>
          </a:prstGeom>
          <a:noFill/>
        </p:spPr>
        <p:txBody>
          <a:bodyPr wrap="square">
            <a:spAutoFit/>
          </a:bodyPr>
          <a:lstStyle/>
          <a:p>
            <a:pPr algn="ctr"/>
            <a:r>
              <a:rPr sz="1200" b="0" i="0">
                <a:solidFill>
                  <a:srgbClr val="FFFFFF"/>
                </a:solidFill>
              </a:rPr>
              <a:t>$0</a:t>
            </a:r>
          </a:p>
        </p:txBody>
      </p:sp>
      <p:sp>
        <p:nvSpPr>
          <p:cNvPr id="72" name="Rectangle 71"/>
          <p:cNvSpPr/>
          <p:nvPr/>
        </p:nvSpPr>
        <p:spPr>
          <a:xfrm>
            <a:off x="4663440" y="4123944"/>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709160" y="4187952"/>
            <a:ext cx="1737360" cy="420624"/>
          </a:xfrm>
          <a:prstGeom prst="rect">
            <a:avLst/>
          </a:prstGeom>
          <a:noFill/>
        </p:spPr>
        <p:txBody>
          <a:bodyPr wrap="square">
            <a:spAutoFit/>
          </a:bodyPr>
          <a:lstStyle/>
          <a:p>
            <a:pPr algn="ctr"/>
            <a:r>
              <a:rPr sz="1200" b="0" i="0">
                <a:solidFill>
                  <a:srgbClr val="FFFFFF"/>
                </a:solidFill>
              </a:rPr>
              <a:t>$75K</a:t>
            </a:r>
          </a:p>
        </p:txBody>
      </p:sp>
      <p:sp>
        <p:nvSpPr>
          <p:cNvPr id="74" name="Rectangle 73"/>
          <p:cNvSpPr/>
          <p:nvPr/>
        </p:nvSpPr>
        <p:spPr>
          <a:xfrm>
            <a:off x="6492240" y="4123944"/>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37960" y="4187952"/>
            <a:ext cx="1737360" cy="420624"/>
          </a:xfrm>
          <a:prstGeom prst="rect">
            <a:avLst/>
          </a:prstGeom>
          <a:noFill/>
        </p:spPr>
        <p:txBody>
          <a:bodyPr wrap="square">
            <a:spAutoFit/>
          </a:bodyPr>
          <a:lstStyle/>
          <a:p>
            <a:pPr algn="ctr"/>
            <a:r>
              <a:rPr sz="1200" b="0" i="0">
                <a:solidFill>
                  <a:srgbClr val="FFFFFF"/>
                </a:solidFill>
              </a:rPr>
              <a:t>$500K</a:t>
            </a:r>
          </a:p>
        </p:txBody>
      </p:sp>
      <p:sp>
        <p:nvSpPr>
          <p:cNvPr id="76" name="Rectangle 75"/>
          <p:cNvSpPr/>
          <p:nvPr/>
        </p:nvSpPr>
        <p:spPr>
          <a:xfrm>
            <a:off x="8321040" y="4123944"/>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8366760" y="4187952"/>
            <a:ext cx="1737360" cy="420624"/>
          </a:xfrm>
          <a:prstGeom prst="rect">
            <a:avLst/>
          </a:prstGeom>
          <a:noFill/>
        </p:spPr>
        <p:txBody>
          <a:bodyPr wrap="square">
            <a:spAutoFit/>
          </a:bodyPr>
          <a:lstStyle/>
          <a:p>
            <a:pPr algn="ctr"/>
            <a:r>
              <a:rPr sz="1200" b="0" i="0">
                <a:solidFill>
                  <a:srgbClr val="FFFFFF"/>
                </a:solidFill>
              </a:rPr>
              <a:t>$6.0M</a:t>
            </a:r>
          </a:p>
        </p:txBody>
      </p:sp>
      <p:sp>
        <p:nvSpPr>
          <p:cNvPr id="78" name="Rectangle 77"/>
          <p:cNvSpPr/>
          <p:nvPr/>
        </p:nvSpPr>
        <p:spPr>
          <a:xfrm>
            <a:off x="640080" y="4544568"/>
            <a:ext cx="210312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85800" y="4608576"/>
            <a:ext cx="2011680" cy="420624"/>
          </a:xfrm>
          <a:prstGeom prst="rect">
            <a:avLst/>
          </a:prstGeom>
          <a:noFill/>
        </p:spPr>
        <p:txBody>
          <a:bodyPr wrap="square">
            <a:spAutoFit/>
          </a:bodyPr>
          <a:lstStyle/>
          <a:p>
            <a:pPr algn="l"/>
            <a:r>
              <a:rPr sz="1200" b="1" i="0">
                <a:solidFill>
                  <a:srgbClr val="F5C842"/>
                </a:solidFill>
              </a:rPr>
              <a:t>TOTAL REVENUE</a:t>
            </a:r>
          </a:p>
        </p:txBody>
      </p:sp>
      <p:sp>
        <p:nvSpPr>
          <p:cNvPr id="80" name="Rectangle 79"/>
          <p:cNvSpPr/>
          <p:nvPr/>
        </p:nvSpPr>
        <p:spPr>
          <a:xfrm>
            <a:off x="2834640" y="4544568"/>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80360" y="4608576"/>
            <a:ext cx="1737360" cy="420624"/>
          </a:xfrm>
          <a:prstGeom prst="rect">
            <a:avLst/>
          </a:prstGeom>
          <a:noFill/>
        </p:spPr>
        <p:txBody>
          <a:bodyPr wrap="square">
            <a:spAutoFit/>
          </a:bodyPr>
          <a:lstStyle/>
          <a:p>
            <a:pPr algn="ctr"/>
            <a:r>
              <a:rPr sz="1200" b="1" i="0">
                <a:solidFill>
                  <a:srgbClr val="F5C842"/>
                </a:solidFill>
              </a:rPr>
              <a:t>$60K</a:t>
            </a:r>
          </a:p>
        </p:txBody>
      </p:sp>
      <p:sp>
        <p:nvSpPr>
          <p:cNvPr id="82" name="Rectangle 81"/>
          <p:cNvSpPr/>
          <p:nvPr/>
        </p:nvSpPr>
        <p:spPr>
          <a:xfrm>
            <a:off x="4663440" y="4544568"/>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4709160" y="4608576"/>
            <a:ext cx="1737360" cy="420624"/>
          </a:xfrm>
          <a:prstGeom prst="rect">
            <a:avLst/>
          </a:prstGeom>
          <a:noFill/>
        </p:spPr>
        <p:txBody>
          <a:bodyPr wrap="square">
            <a:spAutoFit/>
          </a:bodyPr>
          <a:lstStyle/>
          <a:p>
            <a:pPr algn="ctr"/>
            <a:r>
              <a:rPr sz="1200" b="1" i="0">
                <a:solidFill>
                  <a:srgbClr val="F5C842"/>
                </a:solidFill>
              </a:rPr>
              <a:t>$1.35M</a:t>
            </a:r>
          </a:p>
        </p:txBody>
      </p:sp>
      <p:sp>
        <p:nvSpPr>
          <p:cNvPr id="84" name="Rectangle 83"/>
          <p:cNvSpPr/>
          <p:nvPr/>
        </p:nvSpPr>
        <p:spPr>
          <a:xfrm>
            <a:off x="6492240" y="4544568"/>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537960" y="4608576"/>
            <a:ext cx="1737360" cy="420624"/>
          </a:xfrm>
          <a:prstGeom prst="rect">
            <a:avLst/>
          </a:prstGeom>
          <a:noFill/>
        </p:spPr>
        <p:txBody>
          <a:bodyPr wrap="square">
            <a:spAutoFit/>
          </a:bodyPr>
          <a:lstStyle/>
          <a:p>
            <a:pPr algn="ctr"/>
            <a:r>
              <a:rPr sz="1200" b="1" i="0">
                <a:solidFill>
                  <a:srgbClr val="F5C842"/>
                </a:solidFill>
              </a:rPr>
              <a:t>$5.6M</a:t>
            </a:r>
          </a:p>
        </p:txBody>
      </p:sp>
      <p:sp>
        <p:nvSpPr>
          <p:cNvPr id="86" name="Rectangle 85"/>
          <p:cNvSpPr/>
          <p:nvPr/>
        </p:nvSpPr>
        <p:spPr>
          <a:xfrm>
            <a:off x="8321040" y="4544568"/>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8366760" y="4608576"/>
            <a:ext cx="1737360" cy="420624"/>
          </a:xfrm>
          <a:prstGeom prst="rect">
            <a:avLst/>
          </a:prstGeom>
          <a:noFill/>
        </p:spPr>
        <p:txBody>
          <a:bodyPr wrap="square">
            <a:spAutoFit/>
          </a:bodyPr>
          <a:lstStyle/>
          <a:p>
            <a:pPr algn="ctr"/>
            <a:r>
              <a:rPr sz="1200" b="1" i="0">
                <a:solidFill>
                  <a:srgbClr val="F5C842"/>
                </a:solidFill>
              </a:rPr>
              <a:t>$42M</a:t>
            </a:r>
          </a:p>
        </p:txBody>
      </p:sp>
      <p:sp>
        <p:nvSpPr>
          <p:cNvPr id="88" name="Rectangle 87"/>
          <p:cNvSpPr/>
          <p:nvPr/>
        </p:nvSpPr>
        <p:spPr>
          <a:xfrm>
            <a:off x="640080" y="4965192"/>
            <a:ext cx="210312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85800" y="5029200"/>
            <a:ext cx="2011680" cy="420624"/>
          </a:xfrm>
          <a:prstGeom prst="rect">
            <a:avLst/>
          </a:prstGeom>
          <a:noFill/>
        </p:spPr>
        <p:txBody>
          <a:bodyPr wrap="square">
            <a:spAutoFit/>
          </a:bodyPr>
          <a:lstStyle/>
          <a:p>
            <a:pPr algn="l"/>
            <a:r>
              <a:rPr sz="1200" b="0" i="0">
                <a:solidFill>
                  <a:srgbClr val="F5C842"/>
                </a:solidFill>
              </a:rPr>
              <a:t>Gross Margin</a:t>
            </a:r>
          </a:p>
        </p:txBody>
      </p:sp>
      <p:sp>
        <p:nvSpPr>
          <p:cNvPr id="90" name="Rectangle 89"/>
          <p:cNvSpPr/>
          <p:nvPr/>
        </p:nvSpPr>
        <p:spPr>
          <a:xfrm>
            <a:off x="2834640" y="4965192"/>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880360" y="5029200"/>
            <a:ext cx="1737360" cy="420624"/>
          </a:xfrm>
          <a:prstGeom prst="rect">
            <a:avLst/>
          </a:prstGeom>
          <a:noFill/>
        </p:spPr>
        <p:txBody>
          <a:bodyPr wrap="square">
            <a:spAutoFit/>
          </a:bodyPr>
          <a:lstStyle/>
          <a:p>
            <a:pPr algn="ctr"/>
            <a:r>
              <a:rPr sz="1200" b="0" i="0">
                <a:solidFill>
                  <a:srgbClr val="FFFFFF"/>
                </a:solidFill>
              </a:rPr>
              <a:t>—</a:t>
            </a:r>
          </a:p>
        </p:txBody>
      </p:sp>
      <p:sp>
        <p:nvSpPr>
          <p:cNvPr id="92" name="Rectangle 91"/>
          <p:cNvSpPr/>
          <p:nvPr/>
        </p:nvSpPr>
        <p:spPr>
          <a:xfrm>
            <a:off x="4663440" y="4965192"/>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709160" y="5029200"/>
            <a:ext cx="1737360" cy="420624"/>
          </a:xfrm>
          <a:prstGeom prst="rect">
            <a:avLst/>
          </a:prstGeom>
          <a:noFill/>
        </p:spPr>
        <p:txBody>
          <a:bodyPr wrap="square">
            <a:spAutoFit/>
          </a:bodyPr>
          <a:lstStyle/>
          <a:p>
            <a:pPr algn="ctr"/>
            <a:r>
              <a:rPr sz="1200" b="0" i="0">
                <a:solidFill>
                  <a:srgbClr val="FFFFFF"/>
                </a:solidFill>
              </a:rPr>
              <a:t>55%</a:t>
            </a:r>
          </a:p>
        </p:txBody>
      </p:sp>
      <p:sp>
        <p:nvSpPr>
          <p:cNvPr id="94" name="Rectangle 93"/>
          <p:cNvSpPr/>
          <p:nvPr/>
        </p:nvSpPr>
        <p:spPr>
          <a:xfrm>
            <a:off x="6492240" y="4965192"/>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6537960" y="5029200"/>
            <a:ext cx="1737360" cy="420624"/>
          </a:xfrm>
          <a:prstGeom prst="rect">
            <a:avLst/>
          </a:prstGeom>
          <a:noFill/>
        </p:spPr>
        <p:txBody>
          <a:bodyPr wrap="square">
            <a:spAutoFit/>
          </a:bodyPr>
          <a:lstStyle/>
          <a:p>
            <a:pPr algn="ctr"/>
            <a:r>
              <a:rPr sz="1200" b="0" i="0">
                <a:solidFill>
                  <a:srgbClr val="FFFFFF"/>
                </a:solidFill>
              </a:rPr>
              <a:t>65%</a:t>
            </a:r>
          </a:p>
        </p:txBody>
      </p:sp>
      <p:sp>
        <p:nvSpPr>
          <p:cNvPr id="96" name="Rectangle 95"/>
          <p:cNvSpPr/>
          <p:nvPr/>
        </p:nvSpPr>
        <p:spPr>
          <a:xfrm>
            <a:off x="8321040" y="4965192"/>
            <a:ext cx="1828800" cy="420624"/>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366760" y="5029200"/>
            <a:ext cx="1737360" cy="420624"/>
          </a:xfrm>
          <a:prstGeom prst="rect">
            <a:avLst/>
          </a:prstGeom>
          <a:noFill/>
        </p:spPr>
        <p:txBody>
          <a:bodyPr wrap="square">
            <a:spAutoFit/>
          </a:bodyPr>
          <a:lstStyle/>
          <a:p>
            <a:pPr algn="ctr"/>
            <a:r>
              <a:rPr sz="1200" b="0" i="0">
                <a:solidFill>
                  <a:srgbClr val="FFFFFF"/>
                </a:solidFill>
              </a:rPr>
              <a:t>72%</a:t>
            </a:r>
          </a:p>
        </p:txBody>
      </p:sp>
      <p:sp>
        <p:nvSpPr>
          <p:cNvPr id="98" name="Rectangle 97"/>
          <p:cNvSpPr/>
          <p:nvPr/>
        </p:nvSpPr>
        <p:spPr>
          <a:xfrm>
            <a:off x="640080" y="5385816"/>
            <a:ext cx="210312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685800" y="5449824"/>
            <a:ext cx="2011680" cy="420624"/>
          </a:xfrm>
          <a:prstGeom prst="rect">
            <a:avLst/>
          </a:prstGeom>
          <a:noFill/>
        </p:spPr>
        <p:txBody>
          <a:bodyPr wrap="square">
            <a:spAutoFit/>
          </a:bodyPr>
          <a:lstStyle/>
          <a:p>
            <a:pPr algn="l"/>
            <a:r>
              <a:rPr sz="1200" b="1" i="0">
                <a:solidFill>
                  <a:srgbClr val="F5C842"/>
                </a:solidFill>
              </a:rPr>
              <a:t>EBITDA</a:t>
            </a:r>
          </a:p>
        </p:txBody>
      </p:sp>
      <p:sp>
        <p:nvSpPr>
          <p:cNvPr id="100" name="Rectangle 99"/>
          <p:cNvSpPr/>
          <p:nvPr/>
        </p:nvSpPr>
        <p:spPr>
          <a:xfrm>
            <a:off x="2834640" y="5385816"/>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880360" y="5449824"/>
            <a:ext cx="1737360" cy="420624"/>
          </a:xfrm>
          <a:prstGeom prst="rect">
            <a:avLst/>
          </a:prstGeom>
          <a:noFill/>
        </p:spPr>
        <p:txBody>
          <a:bodyPr wrap="square">
            <a:spAutoFit/>
          </a:bodyPr>
          <a:lstStyle/>
          <a:p>
            <a:pPr algn="ctr"/>
            <a:r>
              <a:rPr sz="1200" b="1" i="0">
                <a:solidFill>
                  <a:srgbClr val="F5C842"/>
                </a:solidFill>
              </a:rPr>
              <a:t>($3.2M)</a:t>
            </a:r>
          </a:p>
        </p:txBody>
      </p:sp>
      <p:sp>
        <p:nvSpPr>
          <p:cNvPr id="102" name="Rectangle 101"/>
          <p:cNvSpPr/>
          <p:nvPr/>
        </p:nvSpPr>
        <p:spPr>
          <a:xfrm>
            <a:off x="4663440" y="5385816"/>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4709160" y="5449824"/>
            <a:ext cx="1737360" cy="420624"/>
          </a:xfrm>
          <a:prstGeom prst="rect">
            <a:avLst/>
          </a:prstGeom>
          <a:noFill/>
        </p:spPr>
        <p:txBody>
          <a:bodyPr wrap="square">
            <a:spAutoFit/>
          </a:bodyPr>
          <a:lstStyle/>
          <a:p>
            <a:pPr algn="ctr"/>
            <a:r>
              <a:rPr sz="1200" b="1" i="0">
                <a:solidFill>
                  <a:srgbClr val="F5C842"/>
                </a:solidFill>
              </a:rPr>
              <a:t>($1.8M)</a:t>
            </a:r>
          </a:p>
        </p:txBody>
      </p:sp>
      <p:sp>
        <p:nvSpPr>
          <p:cNvPr id="104" name="Rectangle 103"/>
          <p:cNvSpPr/>
          <p:nvPr/>
        </p:nvSpPr>
        <p:spPr>
          <a:xfrm>
            <a:off x="6492240" y="5385816"/>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537960" y="5449824"/>
            <a:ext cx="1737360" cy="420624"/>
          </a:xfrm>
          <a:prstGeom prst="rect">
            <a:avLst/>
          </a:prstGeom>
          <a:noFill/>
        </p:spPr>
        <p:txBody>
          <a:bodyPr wrap="square">
            <a:spAutoFit/>
          </a:bodyPr>
          <a:lstStyle/>
          <a:p>
            <a:pPr algn="ctr"/>
            <a:r>
              <a:rPr sz="1200" b="1" i="0">
                <a:solidFill>
                  <a:srgbClr val="F5C842"/>
                </a:solidFill>
              </a:rPr>
              <a:t>$0.8M</a:t>
            </a:r>
          </a:p>
        </p:txBody>
      </p:sp>
      <p:sp>
        <p:nvSpPr>
          <p:cNvPr id="106" name="Rectangle 105"/>
          <p:cNvSpPr/>
          <p:nvPr/>
        </p:nvSpPr>
        <p:spPr>
          <a:xfrm>
            <a:off x="8321040" y="5385816"/>
            <a:ext cx="1828800" cy="420624"/>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366760" y="5449824"/>
            <a:ext cx="1737360" cy="420624"/>
          </a:xfrm>
          <a:prstGeom prst="rect">
            <a:avLst/>
          </a:prstGeom>
          <a:noFill/>
        </p:spPr>
        <p:txBody>
          <a:bodyPr wrap="square">
            <a:spAutoFit/>
          </a:bodyPr>
          <a:lstStyle/>
          <a:p>
            <a:pPr algn="ctr"/>
            <a:r>
              <a:rPr sz="1200" b="1" i="0">
                <a:solidFill>
                  <a:srgbClr val="F5C842"/>
                </a:solidFill>
              </a:rPr>
              <a:t>$18M+</a:t>
            </a:r>
          </a:p>
        </p:txBody>
      </p:sp>
      <p:pic>
        <p:nvPicPr>
          <p:cNvPr id="108" name="Picture 107"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Competitive Landscape</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188720"/>
            <a:ext cx="164592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261872"/>
            <a:ext cx="1554480" cy="457200"/>
          </a:xfrm>
          <a:prstGeom prst="rect">
            <a:avLst/>
          </a:prstGeom>
          <a:noFill/>
        </p:spPr>
        <p:txBody>
          <a:bodyPr wrap="square">
            <a:spAutoFit/>
          </a:bodyPr>
          <a:lstStyle/>
          <a:p>
            <a:pPr algn="ctr"/>
            <a:r>
              <a:rPr sz="1200" b="1" i="0">
                <a:solidFill>
                  <a:srgbClr val="0B0C1A"/>
                </a:solidFill>
              </a:rPr>
              <a:t>Platform</a:t>
            </a:r>
          </a:p>
        </p:txBody>
      </p:sp>
      <p:sp>
        <p:nvSpPr>
          <p:cNvPr id="9" name="Rectangle 8"/>
          <p:cNvSpPr/>
          <p:nvPr/>
        </p:nvSpPr>
        <p:spPr>
          <a:xfrm>
            <a:off x="2103120" y="1188720"/>
            <a:ext cx="137160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48840" y="1261872"/>
            <a:ext cx="1280160" cy="457200"/>
          </a:xfrm>
          <a:prstGeom prst="rect">
            <a:avLst/>
          </a:prstGeom>
          <a:noFill/>
        </p:spPr>
        <p:txBody>
          <a:bodyPr wrap="square">
            <a:spAutoFit/>
          </a:bodyPr>
          <a:lstStyle/>
          <a:p>
            <a:pPr algn="ctr"/>
            <a:r>
              <a:rPr sz="1200" b="1" i="0">
                <a:solidFill>
                  <a:srgbClr val="0B0C1A"/>
                </a:solidFill>
              </a:rPr>
              <a:t>Short Video</a:t>
            </a:r>
          </a:p>
        </p:txBody>
      </p:sp>
      <p:sp>
        <p:nvSpPr>
          <p:cNvPr id="11" name="Rectangle 10"/>
          <p:cNvSpPr/>
          <p:nvPr/>
        </p:nvSpPr>
        <p:spPr>
          <a:xfrm>
            <a:off x="3474720" y="1188720"/>
            <a:ext cx="137160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261872"/>
            <a:ext cx="1280160" cy="457200"/>
          </a:xfrm>
          <a:prstGeom prst="rect">
            <a:avLst/>
          </a:prstGeom>
          <a:noFill/>
        </p:spPr>
        <p:txBody>
          <a:bodyPr wrap="square">
            <a:spAutoFit/>
          </a:bodyPr>
          <a:lstStyle/>
          <a:p>
            <a:pPr algn="ctr"/>
            <a:r>
              <a:rPr sz="1200" b="1" i="0">
                <a:solidFill>
                  <a:srgbClr val="0B0C1A"/>
                </a:solidFill>
              </a:rPr>
              <a:t>Live Gifting</a:t>
            </a:r>
          </a:p>
        </p:txBody>
      </p:sp>
      <p:sp>
        <p:nvSpPr>
          <p:cNvPr id="13" name="Rectangle 12"/>
          <p:cNvSpPr/>
          <p:nvPr/>
        </p:nvSpPr>
        <p:spPr>
          <a:xfrm>
            <a:off x="4846320" y="1188720"/>
            <a:ext cx="137160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92040" y="1261872"/>
            <a:ext cx="1280160" cy="457200"/>
          </a:xfrm>
          <a:prstGeom prst="rect">
            <a:avLst/>
          </a:prstGeom>
          <a:noFill/>
        </p:spPr>
        <p:txBody>
          <a:bodyPr wrap="square">
            <a:spAutoFit/>
          </a:bodyPr>
          <a:lstStyle/>
          <a:p>
            <a:pPr algn="ctr"/>
            <a:r>
              <a:rPr sz="1200" b="1" i="0">
                <a:solidFill>
                  <a:srgbClr val="0B0C1A"/>
                </a:solidFill>
              </a:rPr>
              <a:t>Podcasting</a:t>
            </a:r>
          </a:p>
        </p:txBody>
      </p:sp>
      <p:sp>
        <p:nvSpPr>
          <p:cNvPr id="15" name="Rectangle 14"/>
          <p:cNvSpPr/>
          <p:nvPr/>
        </p:nvSpPr>
        <p:spPr>
          <a:xfrm>
            <a:off x="6217920" y="1188720"/>
            <a:ext cx="137160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1261872"/>
            <a:ext cx="1280160" cy="457200"/>
          </a:xfrm>
          <a:prstGeom prst="rect">
            <a:avLst/>
          </a:prstGeom>
          <a:noFill/>
        </p:spPr>
        <p:txBody>
          <a:bodyPr wrap="square">
            <a:spAutoFit/>
          </a:bodyPr>
          <a:lstStyle/>
          <a:p>
            <a:pPr algn="ctr"/>
            <a:r>
              <a:rPr sz="1200" b="1" i="0">
                <a:solidFill>
                  <a:srgbClr val="0B0C1A"/>
                </a:solidFill>
              </a:rPr>
              <a:t>Coin Economy</a:t>
            </a:r>
          </a:p>
        </p:txBody>
      </p:sp>
      <p:sp>
        <p:nvSpPr>
          <p:cNvPr id="17" name="Rectangle 16"/>
          <p:cNvSpPr/>
          <p:nvPr/>
        </p:nvSpPr>
        <p:spPr>
          <a:xfrm>
            <a:off x="7589520" y="1188720"/>
            <a:ext cx="155448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1261872"/>
            <a:ext cx="1463040" cy="457200"/>
          </a:xfrm>
          <a:prstGeom prst="rect">
            <a:avLst/>
          </a:prstGeom>
          <a:noFill/>
        </p:spPr>
        <p:txBody>
          <a:bodyPr wrap="square">
            <a:spAutoFit/>
          </a:bodyPr>
          <a:lstStyle/>
          <a:p>
            <a:pPr algn="ctr"/>
            <a:r>
              <a:rPr sz="1200" b="1" i="0">
                <a:solidFill>
                  <a:srgbClr val="0B0C1A"/>
                </a:solidFill>
              </a:rPr>
              <a:t>Diaspora Focus</a:t>
            </a:r>
          </a:p>
        </p:txBody>
      </p:sp>
      <p:sp>
        <p:nvSpPr>
          <p:cNvPr id="19" name="Rectangle 18"/>
          <p:cNvSpPr/>
          <p:nvPr/>
        </p:nvSpPr>
        <p:spPr>
          <a:xfrm>
            <a:off x="9144000" y="1188720"/>
            <a:ext cx="2331720" cy="457200"/>
          </a:xfrm>
          <a:prstGeom prst="rect">
            <a:avLst/>
          </a:prstGeom>
          <a:solidFill>
            <a:srgbClr val="F5C842"/>
          </a:solidFill>
          <a:ln w="6350">
            <a:solidFill>
              <a:srgbClr val="0B0C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261872"/>
            <a:ext cx="2240280" cy="457200"/>
          </a:xfrm>
          <a:prstGeom prst="rect">
            <a:avLst/>
          </a:prstGeom>
          <a:noFill/>
        </p:spPr>
        <p:txBody>
          <a:bodyPr wrap="square">
            <a:spAutoFit/>
          </a:bodyPr>
          <a:lstStyle/>
          <a:p>
            <a:pPr algn="ctr"/>
            <a:r>
              <a:rPr sz="1200" b="1" i="0">
                <a:solidFill>
                  <a:srgbClr val="0B0C1A"/>
                </a:solidFill>
              </a:rPr>
              <a:t>Notes</a:t>
            </a:r>
          </a:p>
        </p:txBody>
      </p:sp>
      <p:sp>
        <p:nvSpPr>
          <p:cNvPr id="21" name="Rectangle 20"/>
          <p:cNvSpPr/>
          <p:nvPr/>
        </p:nvSpPr>
        <p:spPr>
          <a:xfrm>
            <a:off x="457200" y="1645920"/>
            <a:ext cx="16459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1719072"/>
            <a:ext cx="1554480" cy="457200"/>
          </a:xfrm>
          <a:prstGeom prst="rect">
            <a:avLst/>
          </a:prstGeom>
          <a:noFill/>
        </p:spPr>
        <p:txBody>
          <a:bodyPr wrap="square">
            <a:spAutoFit/>
          </a:bodyPr>
          <a:lstStyle/>
          <a:p>
            <a:pPr algn="l"/>
            <a:r>
              <a:rPr sz="1300" b="0" i="0">
                <a:solidFill>
                  <a:srgbClr val="FFFFFF"/>
                </a:solidFill>
              </a:rPr>
              <a:t>TikTok</a:t>
            </a:r>
          </a:p>
        </p:txBody>
      </p:sp>
      <p:sp>
        <p:nvSpPr>
          <p:cNvPr id="23" name="Rectangle 22"/>
          <p:cNvSpPr/>
          <p:nvPr/>
        </p:nvSpPr>
        <p:spPr>
          <a:xfrm>
            <a:off x="2103120" y="16459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148840" y="1719072"/>
            <a:ext cx="1280160" cy="457200"/>
          </a:xfrm>
          <a:prstGeom prst="rect">
            <a:avLst/>
          </a:prstGeom>
          <a:noFill/>
        </p:spPr>
        <p:txBody>
          <a:bodyPr wrap="square">
            <a:spAutoFit/>
          </a:bodyPr>
          <a:lstStyle/>
          <a:p>
            <a:pPr algn="ctr"/>
            <a:r>
              <a:rPr sz="1200" b="0" i="0">
                <a:solidFill>
                  <a:srgbClr val="7BD4FF"/>
                </a:solidFill>
              </a:rPr>
              <a:t>✓</a:t>
            </a:r>
          </a:p>
        </p:txBody>
      </p:sp>
      <p:sp>
        <p:nvSpPr>
          <p:cNvPr id="25" name="Rectangle 24"/>
          <p:cNvSpPr/>
          <p:nvPr/>
        </p:nvSpPr>
        <p:spPr>
          <a:xfrm>
            <a:off x="3474720" y="16459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20440" y="1719072"/>
            <a:ext cx="1280160" cy="457200"/>
          </a:xfrm>
          <a:prstGeom prst="rect">
            <a:avLst/>
          </a:prstGeom>
          <a:noFill/>
        </p:spPr>
        <p:txBody>
          <a:bodyPr wrap="square">
            <a:spAutoFit/>
          </a:bodyPr>
          <a:lstStyle/>
          <a:p>
            <a:pPr algn="ctr"/>
            <a:r>
              <a:rPr sz="1200" b="0" i="0">
                <a:solidFill>
                  <a:srgbClr val="FF6B6B"/>
                </a:solidFill>
              </a:rPr>
              <a:t>✗</a:t>
            </a:r>
          </a:p>
        </p:txBody>
      </p:sp>
      <p:sp>
        <p:nvSpPr>
          <p:cNvPr id="27" name="Rectangle 26"/>
          <p:cNvSpPr/>
          <p:nvPr/>
        </p:nvSpPr>
        <p:spPr>
          <a:xfrm>
            <a:off x="4846320" y="16459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892040" y="1719072"/>
            <a:ext cx="1280160" cy="457200"/>
          </a:xfrm>
          <a:prstGeom prst="rect">
            <a:avLst/>
          </a:prstGeom>
          <a:noFill/>
        </p:spPr>
        <p:txBody>
          <a:bodyPr wrap="square">
            <a:spAutoFit/>
          </a:bodyPr>
          <a:lstStyle/>
          <a:p>
            <a:pPr algn="ctr"/>
            <a:r>
              <a:rPr sz="1200" b="0" i="0">
                <a:solidFill>
                  <a:srgbClr val="FF6B6B"/>
                </a:solidFill>
              </a:rPr>
              <a:t>✗</a:t>
            </a:r>
          </a:p>
        </p:txBody>
      </p:sp>
      <p:sp>
        <p:nvSpPr>
          <p:cNvPr id="29" name="Rectangle 28"/>
          <p:cNvSpPr/>
          <p:nvPr/>
        </p:nvSpPr>
        <p:spPr>
          <a:xfrm>
            <a:off x="6217920" y="16459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1719072"/>
            <a:ext cx="1280160" cy="457200"/>
          </a:xfrm>
          <a:prstGeom prst="rect">
            <a:avLst/>
          </a:prstGeom>
          <a:noFill/>
        </p:spPr>
        <p:txBody>
          <a:bodyPr wrap="square">
            <a:spAutoFit/>
          </a:bodyPr>
          <a:lstStyle/>
          <a:p>
            <a:pPr algn="ctr"/>
            <a:r>
              <a:rPr sz="1200" b="0" i="0">
                <a:solidFill>
                  <a:srgbClr val="FF6B6B"/>
                </a:solidFill>
              </a:rPr>
              <a:t>✗</a:t>
            </a:r>
          </a:p>
        </p:txBody>
      </p:sp>
      <p:sp>
        <p:nvSpPr>
          <p:cNvPr id="31" name="Rectangle 30"/>
          <p:cNvSpPr/>
          <p:nvPr/>
        </p:nvSpPr>
        <p:spPr>
          <a:xfrm>
            <a:off x="7589520" y="1645920"/>
            <a:ext cx="155448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35240" y="1719072"/>
            <a:ext cx="1463040" cy="457200"/>
          </a:xfrm>
          <a:prstGeom prst="rect">
            <a:avLst/>
          </a:prstGeom>
          <a:noFill/>
        </p:spPr>
        <p:txBody>
          <a:bodyPr wrap="square">
            <a:spAutoFit/>
          </a:bodyPr>
          <a:lstStyle/>
          <a:p>
            <a:pPr algn="ctr"/>
            <a:r>
              <a:rPr sz="1200" b="0" i="0">
                <a:solidFill>
                  <a:srgbClr val="FF6B6B"/>
                </a:solidFill>
              </a:rPr>
              <a:t>✗</a:t>
            </a:r>
          </a:p>
        </p:txBody>
      </p:sp>
      <p:sp>
        <p:nvSpPr>
          <p:cNvPr id="33" name="Rectangle 32"/>
          <p:cNvSpPr/>
          <p:nvPr/>
        </p:nvSpPr>
        <p:spPr>
          <a:xfrm>
            <a:off x="9144000" y="1645920"/>
            <a:ext cx="23317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89720" y="1719072"/>
            <a:ext cx="2240280" cy="457200"/>
          </a:xfrm>
          <a:prstGeom prst="rect">
            <a:avLst/>
          </a:prstGeom>
          <a:noFill/>
        </p:spPr>
        <p:txBody>
          <a:bodyPr wrap="square">
            <a:spAutoFit/>
          </a:bodyPr>
          <a:lstStyle/>
          <a:p>
            <a:pPr algn="ctr"/>
            <a:r>
              <a:rPr sz="1200" b="0" i="0">
                <a:solidFill>
                  <a:srgbClr val="FFFFFF"/>
                </a:solidFill>
              </a:rPr>
              <a:t>US ban risk, Chinese-owned</a:t>
            </a:r>
          </a:p>
        </p:txBody>
      </p:sp>
      <p:sp>
        <p:nvSpPr>
          <p:cNvPr id="35" name="Rectangle 34"/>
          <p:cNvSpPr/>
          <p:nvPr/>
        </p:nvSpPr>
        <p:spPr>
          <a:xfrm>
            <a:off x="457200" y="2103120"/>
            <a:ext cx="164592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2176272"/>
            <a:ext cx="1554480" cy="457200"/>
          </a:xfrm>
          <a:prstGeom prst="rect">
            <a:avLst/>
          </a:prstGeom>
          <a:noFill/>
        </p:spPr>
        <p:txBody>
          <a:bodyPr wrap="square">
            <a:spAutoFit/>
          </a:bodyPr>
          <a:lstStyle/>
          <a:p>
            <a:pPr algn="l"/>
            <a:r>
              <a:rPr sz="1300" b="0" i="0">
                <a:solidFill>
                  <a:srgbClr val="FFFFFF"/>
                </a:solidFill>
              </a:rPr>
              <a:t>Instagram</a:t>
            </a:r>
          </a:p>
        </p:txBody>
      </p:sp>
      <p:sp>
        <p:nvSpPr>
          <p:cNvPr id="37" name="Rectangle 36"/>
          <p:cNvSpPr/>
          <p:nvPr/>
        </p:nvSpPr>
        <p:spPr>
          <a:xfrm>
            <a:off x="2103120" y="21031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48840" y="2176272"/>
            <a:ext cx="1280160" cy="457200"/>
          </a:xfrm>
          <a:prstGeom prst="rect">
            <a:avLst/>
          </a:prstGeom>
          <a:noFill/>
        </p:spPr>
        <p:txBody>
          <a:bodyPr wrap="square">
            <a:spAutoFit/>
          </a:bodyPr>
          <a:lstStyle/>
          <a:p>
            <a:pPr algn="ctr"/>
            <a:r>
              <a:rPr sz="1200" b="0" i="0">
                <a:solidFill>
                  <a:srgbClr val="7BD4FF"/>
                </a:solidFill>
              </a:rPr>
              <a:t>✓</a:t>
            </a:r>
          </a:p>
        </p:txBody>
      </p:sp>
      <p:sp>
        <p:nvSpPr>
          <p:cNvPr id="39" name="Rectangle 38"/>
          <p:cNvSpPr/>
          <p:nvPr/>
        </p:nvSpPr>
        <p:spPr>
          <a:xfrm>
            <a:off x="3474720" y="21031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20440" y="2176272"/>
            <a:ext cx="1280160" cy="457200"/>
          </a:xfrm>
          <a:prstGeom prst="rect">
            <a:avLst/>
          </a:prstGeom>
          <a:noFill/>
        </p:spPr>
        <p:txBody>
          <a:bodyPr wrap="square">
            <a:spAutoFit/>
          </a:bodyPr>
          <a:lstStyle/>
          <a:p>
            <a:pPr algn="ctr"/>
            <a:r>
              <a:rPr sz="1200" b="0" i="0">
                <a:solidFill>
                  <a:srgbClr val="FF6B6B"/>
                </a:solidFill>
              </a:rPr>
              <a:t>✗</a:t>
            </a:r>
          </a:p>
        </p:txBody>
      </p:sp>
      <p:sp>
        <p:nvSpPr>
          <p:cNvPr id="41" name="Rectangle 40"/>
          <p:cNvSpPr/>
          <p:nvPr/>
        </p:nvSpPr>
        <p:spPr>
          <a:xfrm>
            <a:off x="4846320" y="21031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2040" y="2176272"/>
            <a:ext cx="1280160" cy="457200"/>
          </a:xfrm>
          <a:prstGeom prst="rect">
            <a:avLst/>
          </a:prstGeom>
          <a:noFill/>
        </p:spPr>
        <p:txBody>
          <a:bodyPr wrap="square">
            <a:spAutoFit/>
          </a:bodyPr>
          <a:lstStyle/>
          <a:p>
            <a:pPr algn="ctr"/>
            <a:r>
              <a:rPr sz="1200" b="0" i="0">
                <a:solidFill>
                  <a:srgbClr val="FF6B6B"/>
                </a:solidFill>
              </a:rPr>
              <a:t>✗</a:t>
            </a:r>
          </a:p>
        </p:txBody>
      </p:sp>
      <p:sp>
        <p:nvSpPr>
          <p:cNvPr id="43" name="Rectangle 42"/>
          <p:cNvSpPr/>
          <p:nvPr/>
        </p:nvSpPr>
        <p:spPr>
          <a:xfrm>
            <a:off x="6217920" y="21031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63640" y="2176272"/>
            <a:ext cx="1280160" cy="457200"/>
          </a:xfrm>
          <a:prstGeom prst="rect">
            <a:avLst/>
          </a:prstGeom>
          <a:noFill/>
        </p:spPr>
        <p:txBody>
          <a:bodyPr wrap="square">
            <a:spAutoFit/>
          </a:bodyPr>
          <a:lstStyle/>
          <a:p>
            <a:pPr algn="ctr"/>
            <a:r>
              <a:rPr sz="1200" b="0" i="0">
                <a:solidFill>
                  <a:srgbClr val="FFFFFF"/>
                </a:solidFill>
              </a:rPr>
              <a:t>Partial</a:t>
            </a:r>
          </a:p>
        </p:txBody>
      </p:sp>
      <p:sp>
        <p:nvSpPr>
          <p:cNvPr id="45" name="Rectangle 44"/>
          <p:cNvSpPr/>
          <p:nvPr/>
        </p:nvSpPr>
        <p:spPr>
          <a:xfrm>
            <a:off x="7589520" y="2103120"/>
            <a:ext cx="155448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5240" y="2176272"/>
            <a:ext cx="1463040" cy="457200"/>
          </a:xfrm>
          <a:prstGeom prst="rect">
            <a:avLst/>
          </a:prstGeom>
          <a:noFill/>
        </p:spPr>
        <p:txBody>
          <a:bodyPr wrap="square">
            <a:spAutoFit/>
          </a:bodyPr>
          <a:lstStyle/>
          <a:p>
            <a:pPr algn="ctr"/>
            <a:r>
              <a:rPr sz="1200" b="0" i="0">
                <a:solidFill>
                  <a:srgbClr val="FF6B6B"/>
                </a:solidFill>
              </a:rPr>
              <a:t>✗</a:t>
            </a:r>
          </a:p>
        </p:txBody>
      </p:sp>
      <p:sp>
        <p:nvSpPr>
          <p:cNvPr id="47" name="Rectangle 46"/>
          <p:cNvSpPr/>
          <p:nvPr/>
        </p:nvSpPr>
        <p:spPr>
          <a:xfrm>
            <a:off x="9144000" y="2103120"/>
            <a:ext cx="233172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89720" y="2176272"/>
            <a:ext cx="2240280" cy="457200"/>
          </a:xfrm>
          <a:prstGeom prst="rect">
            <a:avLst/>
          </a:prstGeom>
          <a:noFill/>
        </p:spPr>
        <p:txBody>
          <a:bodyPr wrap="square">
            <a:spAutoFit/>
          </a:bodyPr>
          <a:lstStyle/>
          <a:p>
            <a:pPr algn="ctr"/>
            <a:r>
              <a:rPr sz="1200" b="0" i="0">
                <a:solidFill>
                  <a:srgbClr val="FFFFFF"/>
                </a:solidFill>
              </a:rPr>
              <a:t>No coins, weak creator pay</a:t>
            </a:r>
          </a:p>
        </p:txBody>
      </p:sp>
      <p:sp>
        <p:nvSpPr>
          <p:cNvPr id="49" name="Rectangle 48"/>
          <p:cNvSpPr/>
          <p:nvPr/>
        </p:nvSpPr>
        <p:spPr>
          <a:xfrm>
            <a:off x="457200" y="2560320"/>
            <a:ext cx="16459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02920" y="2633472"/>
            <a:ext cx="1554480" cy="457200"/>
          </a:xfrm>
          <a:prstGeom prst="rect">
            <a:avLst/>
          </a:prstGeom>
          <a:noFill/>
        </p:spPr>
        <p:txBody>
          <a:bodyPr wrap="square">
            <a:spAutoFit/>
          </a:bodyPr>
          <a:lstStyle/>
          <a:p>
            <a:pPr algn="l"/>
            <a:r>
              <a:rPr sz="1300" b="0" i="0">
                <a:solidFill>
                  <a:srgbClr val="FFFFFF"/>
                </a:solidFill>
              </a:rPr>
              <a:t>YouTube</a:t>
            </a:r>
          </a:p>
        </p:txBody>
      </p:sp>
      <p:sp>
        <p:nvSpPr>
          <p:cNvPr id="51" name="Rectangle 50"/>
          <p:cNvSpPr/>
          <p:nvPr/>
        </p:nvSpPr>
        <p:spPr>
          <a:xfrm>
            <a:off x="2103120" y="25603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148840" y="2633472"/>
            <a:ext cx="1280160" cy="457200"/>
          </a:xfrm>
          <a:prstGeom prst="rect">
            <a:avLst/>
          </a:prstGeom>
          <a:noFill/>
        </p:spPr>
        <p:txBody>
          <a:bodyPr wrap="square">
            <a:spAutoFit/>
          </a:bodyPr>
          <a:lstStyle/>
          <a:p>
            <a:pPr algn="ctr"/>
            <a:r>
              <a:rPr sz="1200" b="0" i="0">
                <a:solidFill>
                  <a:srgbClr val="7BD4FF"/>
                </a:solidFill>
              </a:rPr>
              <a:t>✓</a:t>
            </a:r>
          </a:p>
        </p:txBody>
      </p:sp>
      <p:sp>
        <p:nvSpPr>
          <p:cNvPr id="53" name="Rectangle 52"/>
          <p:cNvSpPr/>
          <p:nvPr/>
        </p:nvSpPr>
        <p:spPr>
          <a:xfrm>
            <a:off x="3474720" y="25603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520440" y="2633472"/>
            <a:ext cx="1280160" cy="457200"/>
          </a:xfrm>
          <a:prstGeom prst="rect">
            <a:avLst/>
          </a:prstGeom>
          <a:noFill/>
        </p:spPr>
        <p:txBody>
          <a:bodyPr wrap="square">
            <a:spAutoFit/>
          </a:bodyPr>
          <a:lstStyle/>
          <a:p>
            <a:pPr algn="ctr"/>
            <a:r>
              <a:rPr sz="1200" b="0" i="0">
                <a:solidFill>
                  <a:srgbClr val="7BD4FF"/>
                </a:solidFill>
              </a:rPr>
              <a:t>✓</a:t>
            </a:r>
          </a:p>
        </p:txBody>
      </p:sp>
      <p:sp>
        <p:nvSpPr>
          <p:cNvPr id="55" name="Rectangle 54"/>
          <p:cNvSpPr/>
          <p:nvPr/>
        </p:nvSpPr>
        <p:spPr>
          <a:xfrm>
            <a:off x="4846320" y="25603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892040" y="2633472"/>
            <a:ext cx="1280160" cy="457200"/>
          </a:xfrm>
          <a:prstGeom prst="rect">
            <a:avLst/>
          </a:prstGeom>
          <a:noFill/>
        </p:spPr>
        <p:txBody>
          <a:bodyPr wrap="square">
            <a:spAutoFit/>
          </a:bodyPr>
          <a:lstStyle/>
          <a:p>
            <a:pPr algn="ctr"/>
            <a:r>
              <a:rPr sz="1200" b="0" i="0">
                <a:solidFill>
                  <a:srgbClr val="FFFFFF"/>
                </a:solidFill>
              </a:rPr>
              <a:t>Partial</a:t>
            </a:r>
          </a:p>
        </p:txBody>
      </p:sp>
      <p:sp>
        <p:nvSpPr>
          <p:cNvPr id="57" name="Rectangle 56"/>
          <p:cNvSpPr/>
          <p:nvPr/>
        </p:nvSpPr>
        <p:spPr>
          <a:xfrm>
            <a:off x="6217920" y="25603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3640" y="2633472"/>
            <a:ext cx="1280160" cy="457200"/>
          </a:xfrm>
          <a:prstGeom prst="rect">
            <a:avLst/>
          </a:prstGeom>
          <a:noFill/>
        </p:spPr>
        <p:txBody>
          <a:bodyPr wrap="square">
            <a:spAutoFit/>
          </a:bodyPr>
          <a:lstStyle/>
          <a:p>
            <a:pPr algn="ctr"/>
            <a:r>
              <a:rPr sz="1200" b="0" i="0">
                <a:solidFill>
                  <a:srgbClr val="FF6B6B"/>
                </a:solidFill>
              </a:rPr>
              <a:t>✗</a:t>
            </a:r>
          </a:p>
        </p:txBody>
      </p:sp>
      <p:sp>
        <p:nvSpPr>
          <p:cNvPr id="59" name="Rectangle 58"/>
          <p:cNvSpPr/>
          <p:nvPr/>
        </p:nvSpPr>
        <p:spPr>
          <a:xfrm>
            <a:off x="7589520" y="2560320"/>
            <a:ext cx="155448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635240" y="2633472"/>
            <a:ext cx="1463040" cy="457200"/>
          </a:xfrm>
          <a:prstGeom prst="rect">
            <a:avLst/>
          </a:prstGeom>
          <a:noFill/>
        </p:spPr>
        <p:txBody>
          <a:bodyPr wrap="square">
            <a:spAutoFit/>
          </a:bodyPr>
          <a:lstStyle/>
          <a:p>
            <a:pPr algn="ctr"/>
            <a:r>
              <a:rPr sz="1200" b="0" i="0">
                <a:solidFill>
                  <a:srgbClr val="FF6B6B"/>
                </a:solidFill>
              </a:rPr>
              <a:t>✗</a:t>
            </a:r>
          </a:p>
        </p:txBody>
      </p:sp>
      <p:sp>
        <p:nvSpPr>
          <p:cNvPr id="61" name="Rectangle 60"/>
          <p:cNvSpPr/>
          <p:nvPr/>
        </p:nvSpPr>
        <p:spPr>
          <a:xfrm>
            <a:off x="9144000" y="2560320"/>
            <a:ext cx="23317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189720" y="2633472"/>
            <a:ext cx="2240280" cy="457200"/>
          </a:xfrm>
          <a:prstGeom prst="rect">
            <a:avLst/>
          </a:prstGeom>
          <a:noFill/>
        </p:spPr>
        <p:txBody>
          <a:bodyPr wrap="square">
            <a:spAutoFit/>
          </a:bodyPr>
          <a:lstStyle/>
          <a:p>
            <a:pPr algn="ctr"/>
            <a:r>
              <a:rPr sz="1200" b="0" i="0">
                <a:solidFill>
                  <a:srgbClr val="FFFFFF"/>
                </a:solidFill>
              </a:rPr>
              <a:t>No short-form gifting</a:t>
            </a:r>
          </a:p>
        </p:txBody>
      </p:sp>
      <p:sp>
        <p:nvSpPr>
          <p:cNvPr id="63" name="Rectangle 62"/>
          <p:cNvSpPr/>
          <p:nvPr/>
        </p:nvSpPr>
        <p:spPr>
          <a:xfrm>
            <a:off x="457200" y="3017520"/>
            <a:ext cx="164592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02920" y="3090672"/>
            <a:ext cx="1554480" cy="457200"/>
          </a:xfrm>
          <a:prstGeom prst="rect">
            <a:avLst/>
          </a:prstGeom>
          <a:noFill/>
        </p:spPr>
        <p:txBody>
          <a:bodyPr wrap="square">
            <a:spAutoFit/>
          </a:bodyPr>
          <a:lstStyle/>
          <a:p>
            <a:pPr algn="l"/>
            <a:r>
              <a:rPr sz="1300" b="0" i="0">
                <a:solidFill>
                  <a:srgbClr val="FFFFFF"/>
                </a:solidFill>
              </a:rPr>
              <a:t>Twitch</a:t>
            </a:r>
          </a:p>
        </p:txBody>
      </p:sp>
      <p:sp>
        <p:nvSpPr>
          <p:cNvPr id="65" name="Rectangle 64"/>
          <p:cNvSpPr/>
          <p:nvPr/>
        </p:nvSpPr>
        <p:spPr>
          <a:xfrm>
            <a:off x="2103120" y="30175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148840" y="3090672"/>
            <a:ext cx="1280160" cy="457200"/>
          </a:xfrm>
          <a:prstGeom prst="rect">
            <a:avLst/>
          </a:prstGeom>
          <a:noFill/>
        </p:spPr>
        <p:txBody>
          <a:bodyPr wrap="square">
            <a:spAutoFit/>
          </a:bodyPr>
          <a:lstStyle/>
          <a:p>
            <a:pPr algn="ctr"/>
            <a:r>
              <a:rPr sz="1200" b="0" i="0">
                <a:solidFill>
                  <a:srgbClr val="FF6B6B"/>
                </a:solidFill>
              </a:rPr>
              <a:t>✗</a:t>
            </a:r>
          </a:p>
        </p:txBody>
      </p:sp>
      <p:sp>
        <p:nvSpPr>
          <p:cNvPr id="67" name="Rectangle 66"/>
          <p:cNvSpPr/>
          <p:nvPr/>
        </p:nvSpPr>
        <p:spPr>
          <a:xfrm>
            <a:off x="3474720" y="30175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520440" y="3090672"/>
            <a:ext cx="1280160" cy="457200"/>
          </a:xfrm>
          <a:prstGeom prst="rect">
            <a:avLst/>
          </a:prstGeom>
          <a:noFill/>
        </p:spPr>
        <p:txBody>
          <a:bodyPr wrap="square">
            <a:spAutoFit/>
          </a:bodyPr>
          <a:lstStyle/>
          <a:p>
            <a:pPr algn="ctr"/>
            <a:r>
              <a:rPr sz="1200" b="0" i="0">
                <a:solidFill>
                  <a:srgbClr val="7BD4FF"/>
                </a:solidFill>
              </a:rPr>
              <a:t>✓</a:t>
            </a:r>
          </a:p>
        </p:txBody>
      </p:sp>
      <p:sp>
        <p:nvSpPr>
          <p:cNvPr id="69" name="Rectangle 68"/>
          <p:cNvSpPr/>
          <p:nvPr/>
        </p:nvSpPr>
        <p:spPr>
          <a:xfrm>
            <a:off x="4846320" y="30175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892040" y="3090672"/>
            <a:ext cx="1280160" cy="457200"/>
          </a:xfrm>
          <a:prstGeom prst="rect">
            <a:avLst/>
          </a:prstGeom>
          <a:noFill/>
        </p:spPr>
        <p:txBody>
          <a:bodyPr wrap="square">
            <a:spAutoFit/>
          </a:bodyPr>
          <a:lstStyle/>
          <a:p>
            <a:pPr algn="ctr"/>
            <a:r>
              <a:rPr sz="1200" b="0" i="0">
                <a:solidFill>
                  <a:srgbClr val="7BD4FF"/>
                </a:solidFill>
              </a:rPr>
              <a:t>✓</a:t>
            </a:r>
          </a:p>
        </p:txBody>
      </p:sp>
      <p:sp>
        <p:nvSpPr>
          <p:cNvPr id="71" name="Rectangle 70"/>
          <p:cNvSpPr/>
          <p:nvPr/>
        </p:nvSpPr>
        <p:spPr>
          <a:xfrm>
            <a:off x="6217920" y="3017520"/>
            <a:ext cx="137160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63640" y="3090672"/>
            <a:ext cx="1280160" cy="457200"/>
          </a:xfrm>
          <a:prstGeom prst="rect">
            <a:avLst/>
          </a:prstGeom>
          <a:noFill/>
        </p:spPr>
        <p:txBody>
          <a:bodyPr wrap="square">
            <a:spAutoFit/>
          </a:bodyPr>
          <a:lstStyle/>
          <a:p>
            <a:pPr algn="ctr"/>
            <a:r>
              <a:rPr sz="1200" b="0" i="0">
                <a:solidFill>
                  <a:srgbClr val="FF6B6B"/>
                </a:solidFill>
              </a:rPr>
              <a:t>✗</a:t>
            </a:r>
          </a:p>
        </p:txBody>
      </p:sp>
      <p:sp>
        <p:nvSpPr>
          <p:cNvPr id="73" name="Rectangle 72"/>
          <p:cNvSpPr/>
          <p:nvPr/>
        </p:nvSpPr>
        <p:spPr>
          <a:xfrm>
            <a:off x="7589520" y="3017520"/>
            <a:ext cx="155448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7635240" y="3090672"/>
            <a:ext cx="1463040" cy="457200"/>
          </a:xfrm>
          <a:prstGeom prst="rect">
            <a:avLst/>
          </a:prstGeom>
          <a:noFill/>
        </p:spPr>
        <p:txBody>
          <a:bodyPr wrap="square">
            <a:spAutoFit/>
          </a:bodyPr>
          <a:lstStyle/>
          <a:p>
            <a:pPr algn="ctr"/>
            <a:r>
              <a:rPr sz="1200" b="0" i="0">
                <a:solidFill>
                  <a:srgbClr val="FF6B6B"/>
                </a:solidFill>
              </a:rPr>
              <a:t>✗</a:t>
            </a:r>
          </a:p>
        </p:txBody>
      </p:sp>
      <p:sp>
        <p:nvSpPr>
          <p:cNvPr id="75" name="Rectangle 74"/>
          <p:cNvSpPr/>
          <p:nvPr/>
        </p:nvSpPr>
        <p:spPr>
          <a:xfrm>
            <a:off x="9144000" y="3017520"/>
            <a:ext cx="2331720" cy="457200"/>
          </a:xfrm>
          <a:prstGeom prst="rect">
            <a:avLst/>
          </a:prstGeom>
          <a:solidFill>
            <a:srgbClr val="1A1C38"/>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189720" y="3090672"/>
            <a:ext cx="2240280" cy="457200"/>
          </a:xfrm>
          <a:prstGeom prst="rect">
            <a:avLst/>
          </a:prstGeom>
          <a:noFill/>
        </p:spPr>
        <p:txBody>
          <a:bodyPr wrap="square">
            <a:spAutoFit/>
          </a:bodyPr>
          <a:lstStyle/>
          <a:p>
            <a:pPr algn="ctr"/>
            <a:r>
              <a:rPr sz="1200" b="0" i="0">
                <a:solidFill>
                  <a:srgbClr val="FFFFFF"/>
                </a:solidFill>
              </a:rPr>
              <a:t>Gaming-only, no video feed</a:t>
            </a:r>
          </a:p>
        </p:txBody>
      </p:sp>
      <p:sp>
        <p:nvSpPr>
          <p:cNvPr id="77" name="Rectangle 76"/>
          <p:cNvSpPr/>
          <p:nvPr/>
        </p:nvSpPr>
        <p:spPr>
          <a:xfrm>
            <a:off x="457200" y="3474720"/>
            <a:ext cx="16459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02920" y="3547872"/>
            <a:ext cx="1554480" cy="457200"/>
          </a:xfrm>
          <a:prstGeom prst="rect">
            <a:avLst/>
          </a:prstGeom>
          <a:noFill/>
        </p:spPr>
        <p:txBody>
          <a:bodyPr wrap="square">
            <a:spAutoFit/>
          </a:bodyPr>
          <a:lstStyle/>
          <a:p>
            <a:pPr algn="l"/>
            <a:r>
              <a:rPr sz="1300" b="0" i="0">
                <a:solidFill>
                  <a:srgbClr val="FFFFFF"/>
                </a:solidFill>
              </a:rPr>
              <a:t>Spotify</a:t>
            </a:r>
          </a:p>
        </p:txBody>
      </p:sp>
      <p:sp>
        <p:nvSpPr>
          <p:cNvPr id="79" name="Rectangle 78"/>
          <p:cNvSpPr/>
          <p:nvPr/>
        </p:nvSpPr>
        <p:spPr>
          <a:xfrm>
            <a:off x="2103120" y="34747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2148840" y="3547872"/>
            <a:ext cx="1280160" cy="457200"/>
          </a:xfrm>
          <a:prstGeom prst="rect">
            <a:avLst/>
          </a:prstGeom>
          <a:noFill/>
        </p:spPr>
        <p:txBody>
          <a:bodyPr wrap="square">
            <a:spAutoFit/>
          </a:bodyPr>
          <a:lstStyle/>
          <a:p>
            <a:pPr algn="ctr"/>
            <a:r>
              <a:rPr sz="1200" b="0" i="0">
                <a:solidFill>
                  <a:srgbClr val="FF6B6B"/>
                </a:solidFill>
              </a:rPr>
              <a:t>✗</a:t>
            </a:r>
          </a:p>
        </p:txBody>
      </p:sp>
      <p:sp>
        <p:nvSpPr>
          <p:cNvPr id="81" name="Rectangle 80"/>
          <p:cNvSpPr/>
          <p:nvPr/>
        </p:nvSpPr>
        <p:spPr>
          <a:xfrm>
            <a:off x="3474720" y="34747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3520440" y="3547872"/>
            <a:ext cx="1280160" cy="457200"/>
          </a:xfrm>
          <a:prstGeom prst="rect">
            <a:avLst/>
          </a:prstGeom>
          <a:noFill/>
        </p:spPr>
        <p:txBody>
          <a:bodyPr wrap="square">
            <a:spAutoFit/>
          </a:bodyPr>
          <a:lstStyle/>
          <a:p>
            <a:pPr algn="ctr"/>
            <a:r>
              <a:rPr sz="1200" b="0" i="0">
                <a:solidFill>
                  <a:srgbClr val="FF6B6B"/>
                </a:solidFill>
              </a:rPr>
              <a:t>✗</a:t>
            </a:r>
          </a:p>
        </p:txBody>
      </p:sp>
      <p:sp>
        <p:nvSpPr>
          <p:cNvPr id="83" name="Rectangle 82"/>
          <p:cNvSpPr/>
          <p:nvPr/>
        </p:nvSpPr>
        <p:spPr>
          <a:xfrm>
            <a:off x="4846320" y="34747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892040" y="3547872"/>
            <a:ext cx="1280160" cy="457200"/>
          </a:xfrm>
          <a:prstGeom prst="rect">
            <a:avLst/>
          </a:prstGeom>
          <a:noFill/>
        </p:spPr>
        <p:txBody>
          <a:bodyPr wrap="square">
            <a:spAutoFit/>
          </a:bodyPr>
          <a:lstStyle/>
          <a:p>
            <a:pPr algn="ctr"/>
            <a:r>
              <a:rPr sz="1200" b="0" i="0">
                <a:solidFill>
                  <a:srgbClr val="7BD4FF"/>
                </a:solidFill>
              </a:rPr>
              <a:t>✓</a:t>
            </a:r>
          </a:p>
        </p:txBody>
      </p:sp>
      <p:sp>
        <p:nvSpPr>
          <p:cNvPr id="85" name="Rectangle 84"/>
          <p:cNvSpPr/>
          <p:nvPr/>
        </p:nvSpPr>
        <p:spPr>
          <a:xfrm>
            <a:off x="6217920" y="3474720"/>
            <a:ext cx="137160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263640" y="3547872"/>
            <a:ext cx="1280160" cy="457200"/>
          </a:xfrm>
          <a:prstGeom prst="rect">
            <a:avLst/>
          </a:prstGeom>
          <a:noFill/>
        </p:spPr>
        <p:txBody>
          <a:bodyPr wrap="square">
            <a:spAutoFit/>
          </a:bodyPr>
          <a:lstStyle/>
          <a:p>
            <a:pPr algn="ctr"/>
            <a:r>
              <a:rPr sz="1200" b="0" i="0">
                <a:solidFill>
                  <a:srgbClr val="FF6B6B"/>
                </a:solidFill>
              </a:rPr>
              <a:t>✗</a:t>
            </a:r>
          </a:p>
        </p:txBody>
      </p:sp>
      <p:sp>
        <p:nvSpPr>
          <p:cNvPr id="87" name="Rectangle 86"/>
          <p:cNvSpPr/>
          <p:nvPr/>
        </p:nvSpPr>
        <p:spPr>
          <a:xfrm>
            <a:off x="7589520" y="3474720"/>
            <a:ext cx="155448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7635240" y="3547872"/>
            <a:ext cx="1463040" cy="457200"/>
          </a:xfrm>
          <a:prstGeom prst="rect">
            <a:avLst/>
          </a:prstGeom>
          <a:noFill/>
        </p:spPr>
        <p:txBody>
          <a:bodyPr wrap="square">
            <a:spAutoFit/>
          </a:bodyPr>
          <a:lstStyle/>
          <a:p>
            <a:pPr algn="ctr"/>
            <a:r>
              <a:rPr sz="1200" b="0" i="0">
                <a:solidFill>
                  <a:srgbClr val="FF6B6B"/>
                </a:solidFill>
              </a:rPr>
              <a:t>✗</a:t>
            </a:r>
          </a:p>
        </p:txBody>
      </p:sp>
      <p:sp>
        <p:nvSpPr>
          <p:cNvPr id="89" name="Rectangle 88"/>
          <p:cNvSpPr/>
          <p:nvPr/>
        </p:nvSpPr>
        <p:spPr>
          <a:xfrm>
            <a:off x="9144000" y="3474720"/>
            <a:ext cx="2331720" cy="457200"/>
          </a:xfrm>
          <a:prstGeom prst="rect">
            <a:avLst/>
          </a:prstGeom>
          <a:solidFill>
            <a:srgbClr val="16183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9189720" y="3547872"/>
            <a:ext cx="2240280" cy="457200"/>
          </a:xfrm>
          <a:prstGeom prst="rect">
            <a:avLst/>
          </a:prstGeom>
          <a:noFill/>
        </p:spPr>
        <p:txBody>
          <a:bodyPr wrap="square">
            <a:spAutoFit/>
          </a:bodyPr>
          <a:lstStyle/>
          <a:p>
            <a:pPr algn="ctr"/>
            <a:r>
              <a:rPr sz="1200" b="0" i="0">
                <a:solidFill>
                  <a:srgbClr val="FFFFFF"/>
                </a:solidFill>
              </a:rPr>
              <a:t>Audio only, no social layer</a:t>
            </a:r>
          </a:p>
        </p:txBody>
      </p:sp>
      <p:sp>
        <p:nvSpPr>
          <p:cNvPr id="91" name="Rectangle 90"/>
          <p:cNvSpPr/>
          <p:nvPr/>
        </p:nvSpPr>
        <p:spPr>
          <a:xfrm>
            <a:off x="457200" y="3931920"/>
            <a:ext cx="164592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502920" y="4005072"/>
            <a:ext cx="1554480" cy="457200"/>
          </a:xfrm>
          <a:prstGeom prst="rect">
            <a:avLst/>
          </a:prstGeom>
          <a:noFill/>
        </p:spPr>
        <p:txBody>
          <a:bodyPr wrap="square">
            <a:spAutoFit/>
          </a:bodyPr>
          <a:lstStyle/>
          <a:p>
            <a:pPr algn="l"/>
            <a:r>
              <a:rPr sz="1300" b="1" i="0">
                <a:solidFill>
                  <a:srgbClr val="F5C842"/>
                </a:solidFill>
              </a:rPr>
              <a:t>Sachi Stream</a:t>
            </a:r>
          </a:p>
        </p:txBody>
      </p:sp>
      <p:sp>
        <p:nvSpPr>
          <p:cNvPr id="93" name="Rectangle 92"/>
          <p:cNvSpPr/>
          <p:nvPr/>
        </p:nvSpPr>
        <p:spPr>
          <a:xfrm>
            <a:off x="2103120" y="3931920"/>
            <a:ext cx="137160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2148840" y="4005072"/>
            <a:ext cx="1280160" cy="457200"/>
          </a:xfrm>
          <a:prstGeom prst="rect">
            <a:avLst/>
          </a:prstGeom>
          <a:noFill/>
        </p:spPr>
        <p:txBody>
          <a:bodyPr wrap="square">
            <a:spAutoFit/>
          </a:bodyPr>
          <a:lstStyle/>
          <a:p>
            <a:pPr algn="ctr"/>
            <a:r>
              <a:rPr sz="1200" b="1" i="0">
                <a:solidFill>
                  <a:srgbClr val="F5C842"/>
                </a:solidFill>
              </a:rPr>
              <a:t>✓</a:t>
            </a:r>
          </a:p>
        </p:txBody>
      </p:sp>
      <p:sp>
        <p:nvSpPr>
          <p:cNvPr id="95" name="Rectangle 94"/>
          <p:cNvSpPr/>
          <p:nvPr/>
        </p:nvSpPr>
        <p:spPr>
          <a:xfrm>
            <a:off x="3474720" y="3931920"/>
            <a:ext cx="137160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3520440" y="4005072"/>
            <a:ext cx="1280160" cy="457200"/>
          </a:xfrm>
          <a:prstGeom prst="rect">
            <a:avLst/>
          </a:prstGeom>
          <a:noFill/>
        </p:spPr>
        <p:txBody>
          <a:bodyPr wrap="square">
            <a:spAutoFit/>
          </a:bodyPr>
          <a:lstStyle/>
          <a:p>
            <a:pPr algn="ctr"/>
            <a:r>
              <a:rPr sz="1200" b="1" i="0">
                <a:solidFill>
                  <a:srgbClr val="F5C842"/>
                </a:solidFill>
              </a:rPr>
              <a:t>✓</a:t>
            </a:r>
          </a:p>
        </p:txBody>
      </p:sp>
      <p:sp>
        <p:nvSpPr>
          <p:cNvPr id="97" name="Rectangle 96"/>
          <p:cNvSpPr/>
          <p:nvPr/>
        </p:nvSpPr>
        <p:spPr>
          <a:xfrm>
            <a:off x="4846320" y="3931920"/>
            <a:ext cx="137160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892040" y="4005072"/>
            <a:ext cx="1280160" cy="457200"/>
          </a:xfrm>
          <a:prstGeom prst="rect">
            <a:avLst/>
          </a:prstGeom>
          <a:noFill/>
        </p:spPr>
        <p:txBody>
          <a:bodyPr wrap="square">
            <a:spAutoFit/>
          </a:bodyPr>
          <a:lstStyle/>
          <a:p>
            <a:pPr algn="ctr"/>
            <a:r>
              <a:rPr sz="1200" b="1" i="0">
                <a:solidFill>
                  <a:srgbClr val="F5C842"/>
                </a:solidFill>
              </a:rPr>
              <a:t>✓</a:t>
            </a:r>
          </a:p>
        </p:txBody>
      </p:sp>
      <p:sp>
        <p:nvSpPr>
          <p:cNvPr id="99" name="Rectangle 98"/>
          <p:cNvSpPr/>
          <p:nvPr/>
        </p:nvSpPr>
        <p:spPr>
          <a:xfrm>
            <a:off x="6217920" y="3931920"/>
            <a:ext cx="137160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263640" y="4005072"/>
            <a:ext cx="1280160" cy="457200"/>
          </a:xfrm>
          <a:prstGeom prst="rect">
            <a:avLst/>
          </a:prstGeom>
          <a:noFill/>
        </p:spPr>
        <p:txBody>
          <a:bodyPr wrap="square">
            <a:spAutoFit/>
          </a:bodyPr>
          <a:lstStyle/>
          <a:p>
            <a:pPr algn="ctr"/>
            <a:r>
              <a:rPr sz="1200" b="1" i="0">
                <a:solidFill>
                  <a:srgbClr val="F5C842"/>
                </a:solidFill>
              </a:rPr>
              <a:t>✓</a:t>
            </a:r>
          </a:p>
        </p:txBody>
      </p:sp>
      <p:sp>
        <p:nvSpPr>
          <p:cNvPr id="101" name="Rectangle 100"/>
          <p:cNvSpPr/>
          <p:nvPr/>
        </p:nvSpPr>
        <p:spPr>
          <a:xfrm>
            <a:off x="7589520" y="3931920"/>
            <a:ext cx="155448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7635240" y="4005072"/>
            <a:ext cx="1463040" cy="457200"/>
          </a:xfrm>
          <a:prstGeom prst="rect">
            <a:avLst/>
          </a:prstGeom>
          <a:noFill/>
        </p:spPr>
        <p:txBody>
          <a:bodyPr wrap="square">
            <a:spAutoFit/>
          </a:bodyPr>
          <a:lstStyle/>
          <a:p>
            <a:pPr algn="ctr"/>
            <a:r>
              <a:rPr sz="1200" b="1" i="0">
                <a:solidFill>
                  <a:srgbClr val="F5C842"/>
                </a:solidFill>
              </a:rPr>
              <a:t>✓</a:t>
            </a:r>
          </a:p>
        </p:txBody>
      </p:sp>
      <p:sp>
        <p:nvSpPr>
          <p:cNvPr id="103" name="Rectangle 102"/>
          <p:cNvSpPr/>
          <p:nvPr/>
        </p:nvSpPr>
        <p:spPr>
          <a:xfrm>
            <a:off x="9144000" y="3931920"/>
            <a:ext cx="2331720" cy="457200"/>
          </a:xfrm>
          <a:prstGeom prst="rect">
            <a:avLst/>
          </a:prstGeom>
          <a:solidFill>
            <a:srgbClr val="101810"/>
          </a:solidFill>
          <a:ln w="6350">
            <a:solidFill>
              <a:srgbClr val="30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9189720" y="4005072"/>
            <a:ext cx="2240280" cy="457200"/>
          </a:xfrm>
          <a:prstGeom prst="rect">
            <a:avLst/>
          </a:prstGeom>
          <a:noFill/>
        </p:spPr>
        <p:txBody>
          <a:bodyPr wrap="square">
            <a:spAutoFit/>
          </a:bodyPr>
          <a:lstStyle/>
          <a:p>
            <a:pPr algn="ctr"/>
            <a:r>
              <a:rPr sz="1200" b="1" i="0">
                <a:solidFill>
                  <a:srgbClr val="F5C842"/>
                </a:solidFill>
              </a:rPr>
              <a:t>Full stack — only platform
with all 5 features</a:t>
            </a:r>
          </a:p>
        </p:txBody>
      </p:sp>
      <p:pic>
        <p:nvPicPr>
          <p:cNvPr id="105" name="Picture 104"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Founding Team</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1280160"/>
            <a:ext cx="3520440" cy="4480560"/>
          </a:xfrm>
          <a:prstGeom prst="rect">
            <a:avLst/>
          </a:prstGeom>
          <a:solidFill>
            <a:srgbClr val="161830"/>
          </a:solidFill>
          <a:ln w="1905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965960" y="1417320"/>
            <a:ext cx="868680" cy="868680"/>
          </a:xfrm>
          <a:prstGeom prst="ellipse">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57400" y="1554480"/>
            <a:ext cx="685800" cy="594360"/>
          </a:xfrm>
          <a:prstGeom prst="rect">
            <a:avLst/>
          </a:prstGeom>
          <a:noFill/>
        </p:spPr>
        <p:txBody>
          <a:bodyPr wrap="square">
            <a:spAutoFit/>
          </a:bodyPr>
          <a:lstStyle/>
          <a:p>
            <a:pPr algn="ctr"/>
            <a:r>
              <a:rPr sz="2200" b="1" i="0">
                <a:solidFill>
                  <a:srgbClr val="0B0C1A"/>
                </a:solidFill>
              </a:rPr>
              <a:t>D</a:t>
            </a:r>
          </a:p>
        </p:txBody>
      </p:sp>
      <p:sp>
        <p:nvSpPr>
          <p:cNvPr id="10" name="TextBox 9"/>
          <p:cNvSpPr txBox="1"/>
          <p:nvPr/>
        </p:nvSpPr>
        <p:spPr>
          <a:xfrm>
            <a:off x="777240" y="2423160"/>
            <a:ext cx="3246120" cy="411480"/>
          </a:xfrm>
          <a:prstGeom prst="rect">
            <a:avLst/>
          </a:prstGeom>
          <a:noFill/>
        </p:spPr>
        <p:txBody>
          <a:bodyPr wrap="square">
            <a:spAutoFit/>
          </a:bodyPr>
          <a:lstStyle/>
          <a:p>
            <a:pPr algn="l"/>
            <a:r>
              <a:rPr sz="1400" b="1" i="0">
                <a:solidFill>
                  <a:srgbClr val="F5C842"/>
                </a:solidFill>
              </a:rPr>
              <a:t>Dhananjaya (Jay) Gunaratne</a:t>
            </a:r>
          </a:p>
        </p:txBody>
      </p:sp>
      <p:sp>
        <p:nvSpPr>
          <p:cNvPr id="11" name="TextBox 10"/>
          <p:cNvSpPr txBox="1"/>
          <p:nvPr/>
        </p:nvSpPr>
        <p:spPr>
          <a:xfrm>
            <a:off x="777240" y="2834640"/>
            <a:ext cx="3246120" cy="320040"/>
          </a:xfrm>
          <a:prstGeom prst="rect">
            <a:avLst/>
          </a:prstGeom>
          <a:noFill/>
        </p:spPr>
        <p:txBody>
          <a:bodyPr wrap="square">
            <a:spAutoFit/>
          </a:bodyPr>
          <a:lstStyle/>
          <a:p>
            <a:pPr algn="l"/>
            <a:r>
              <a:rPr sz="1200" b="0" i="1">
                <a:solidFill>
                  <a:srgbClr val="CCCCCC"/>
                </a:solidFill>
              </a:rPr>
              <a:t>Founder &amp; CEO</a:t>
            </a:r>
          </a:p>
        </p:txBody>
      </p:sp>
      <p:sp>
        <p:nvSpPr>
          <p:cNvPr id="12" name="TextBox 11"/>
          <p:cNvSpPr txBox="1"/>
          <p:nvPr/>
        </p:nvSpPr>
        <p:spPr>
          <a:xfrm>
            <a:off x="777240" y="3246120"/>
            <a:ext cx="3246120" cy="2286000"/>
          </a:xfrm>
          <a:prstGeom prst="rect">
            <a:avLst/>
          </a:prstGeom>
          <a:noFill/>
        </p:spPr>
        <p:txBody>
          <a:bodyPr wrap="square">
            <a:spAutoFit/>
          </a:bodyPr>
          <a:lstStyle/>
          <a:p>
            <a:pPr algn="l"/>
            <a:r>
              <a:rPr sz="1100" b="0" i="0">
                <a:solidFill>
                  <a:srgbClr val="F0F0F0"/>
                </a:solidFill>
              </a:rPr>
              <a:t>21+ years Senior Infrastructure Project Manager
Nokia, MPLS, NERC-CIP, SCADA, data center, telecom
PSEG Long Island — $10M+ infrastructure programs
Founder, LDNA Consulting LLC
Architect of Sachi Stream platform vision and strategy</a:t>
            </a:r>
          </a:p>
        </p:txBody>
      </p:sp>
      <p:sp>
        <p:nvSpPr>
          <p:cNvPr id="13" name="Rectangle 12"/>
          <p:cNvSpPr/>
          <p:nvPr/>
        </p:nvSpPr>
        <p:spPr>
          <a:xfrm>
            <a:off x="4434840" y="1280160"/>
            <a:ext cx="3520440" cy="4480560"/>
          </a:xfrm>
          <a:prstGeom prst="rect">
            <a:avLst/>
          </a:prstGeom>
          <a:solidFill>
            <a:srgbClr val="161830"/>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60720" y="1417320"/>
            <a:ext cx="868680" cy="868680"/>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1554480"/>
            <a:ext cx="685800" cy="594360"/>
          </a:xfrm>
          <a:prstGeom prst="rect">
            <a:avLst/>
          </a:prstGeom>
          <a:noFill/>
        </p:spPr>
        <p:txBody>
          <a:bodyPr wrap="square">
            <a:spAutoFit/>
          </a:bodyPr>
          <a:lstStyle/>
          <a:p>
            <a:pPr algn="ctr"/>
            <a:r>
              <a:rPr sz="2200" b="1" i="0">
                <a:solidFill>
                  <a:srgbClr val="0B0C1A"/>
                </a:solidFill>
              </a:rPr>
              <a:t>A</a:t>
            </a:r>
          </a:p>
        </p:txBody>
      </p:sp>
      <p:sp>
        <p:nvSpPr>
          <p:cNvPr id="16" name="TextBox 15"/>
          <p:cNvSpPr txBox="1"/>
          <p:nvPr/>
        </p:nvSpPr>
        <p:spPr>
          <a:xfrm>
            <a:off x="4572000" y="2423160"/>
            <a:ext cx="3246120" cy="411480"/>
          </a:xfrm>
          <a:prstGeom prst="rect">
            <a:avLst/>
          </a:prstGeom>
          <a:noFill/>
        </p:spPr>
        <p:txBody>
          <a:bodyPr wrap="square">
            <a:spAutoFit/>
          </a:bodyPr>
          <a:lstStyle/>
          <a:p>
            <a:pPr algn="l"/>
            <a:r>
              <a:rPr sz="1400" b="1" i="0">
                <a:solidFill>
                  <a:srgbClr val="FF6B6B"/>
                </a:solidFill>
              </a:rPr>
              <a:t>Aanjinie Gunaratne</a:t>
            </a:r>
          </a:p>
        </p:txBody>
      </p:sp>
      <p:sp>
        <p:nvSpPr>
          <p:cNvPr id="17" name="TextBox 16"/>
          <p:cNvSpPr txBox="1"/>
          <p:nvPr/>
        </p:nvSpPr>
        <p:spPr>
          <a:xfrm>
            <a:off x="4572000" y="2834640"/>
            <a:ext cx="3246120" cy="320040"/>
          </a:xfrm>
          <a:prstGeom prst="rect">
            <a:avLst/>
          </a:prstGeom>
          <a:noFill/>
        </p:spPr>
        <p:txBody>
          <a:bodyPr wrap="square">
            <a:spAutoFit/>
          </a:bodyPr>
          <a:lstStyle/>
          <a:p>
            <a:pPr algn="l"/>
            <a:r>
              <a:rPr sz="1200" b="0" i="1">
                <a:solidFill>
                  <a:srgbClr val="CCCCCC"/>
                </a:solidFill>
              </a:rPr>
              <a:t>Head of Creator &amp; Community</a:t>
            </a:r>
          </a:p>
        </p:txBody>
      </p:sp>
      <p:sp>
        <p:nvSpPr>
          <p:cNvPr id="18" name="TextBox 17"/>
          <p:cNvSpPr txBox="1"/>
          <p:nvPr/>
        </p:nvSpPr>
        <p:spPr>
          <a:xfrm>
            <a:off x="4572000" y="3246120"/>
            <a:ext cx="3246120" cy="2286000"/>
          </a:xfrm>
          <a:prstGeom prst="rect">
            <a:avLst/>
          </a:prstGeom>
          <a:noFill/>
        </p:spPr>
        <p:txBody>
          <a:bodyPr wrap="square">
            <a:spAutoFit/>
          </a:bodyPr>
          <a:lstStyle/>
          <a:p>
            <a:pPr algn="l"/>
            <a:r>
              <a:rPr sz="1100" b="0" i="0">
                <a:solidFill>
                  <a:srgbClr val="F0F0F0"/>
                </a:solidFill>
              </a:rPr>
              <a:t>Platform creator and founding community lead
Sachi content strategy and creator culture
User experience design and community onboarding
Brand identity and diaspora community engagement</a:t>
            </a:r>
          </a:p>
        </p:txBody>
      </p:sp>
      <p:sp>
        <p:nvSpPr>
          <p:cNvPr id="19" name="Rectangle 18"/>
          <p:cNvSpPr/>
          <p:nvPr/>
        </p:nvSpPr>
        <p:spPr>
          <a:xfrm>
            <a:off x="8229600" y="1280160"/>
            <a:ext cx="3520440" cy="4480560"/>
          </a:xfrm>
          <a:prstGeom prst="rect">
            <a:avLst/>
          </a:prstGeom>
          <a:solidFill>
            <a:srgbClr val="161830"/>
          </a:solidFill>
          <a:ln w="1905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555480" y="1417320"/>
            <a:ext cx="868680" cy="868680"/>
          </a:xfrm>
          <a:prstGeom prst="ellipse">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46920" y="1554480"/>
            <a:ext cx="685800" cy="594360"/>
          </a:xfrm>
          <a:prstGeom prst="rect">
            <a:avLst/>
          </a:prstGeom>
          <a:noFill/>
        </p:spPr>
        <p:txBody>
          <a:bodyPr wrap="square">
            <a:spAutoFit/>
          </a:bodyPr>
          <a:lstStyle/>
          <a:p>
            <a:pPr algn="ctr"/>
            <a:r>
              <a:rPr sz="2200" b="1" i="0">
                <a:solidFill>
                  <a:srgbClr val="0B0C1A"/>
                </a:solidFill>
              </a:rPr>
              <a:t>C</a:t>
            </a:r>
          </a:p>
        </p:txBody>
      </p:sp>
      <p:sp>
        <p:nvSpPr>
          <p:cNvPr id="22" name="TextBox 21"/>
          <p:cNvSpPr txBox="1"/>
          <p:nvPr/>
        </p:nvSpPr>
        <p:spPr>
          <a:xfrm>
            <a:off x="8366760" y="2423160"/>
            <a:ext cx="3246120" cy="411480"/>
          </a:xfrm>
          <a:prstGeom prst="rect">
            <a:avLst/>
          </a:prstGeom>
          <a:noFill/>
        </p:spPr>
        <p:txBody>
          <a:bodyPr wrap="square">
            <a:spAutoFit/>
          </a:bodyPr>
          <a:lstStyle/>
          <a:p>
            <a:pPr algn="l"/>
            <a:r>
              <a:rPr sz="1400" b="1" i="0">
                <a:solidFill>
                  <a:srgbClr val="7BD4FF"/>
                </a:solidFill>
              </a:rPr>
              <a:t>Colombo Engineering Director</a:t>
            </a:r>
          </a:p>
        </p:txBody>
      </p:sp>
      <p:sp>
        <p:nvSpPr>
          <p:cNvPr id="23" name="TextBox 22"/>
          <p:cNvSpPr txBox="1"/>
          <p:nvPr/>
        </p:nvSpPr>
        <p:spPr>
          <a:xfrm>
            <a:off x="8366760" y="2834640"/>
            <a:ext cx="3246120" cy="320040"/>
          </a:xfrm>
          <a:prstGeom prst="rect">
            <a:avLst/>
          </a:prstGeom>
          <a:noFill/>
        </p:spPr>
        <p:txBody>
          <a:bodyPr wrap="square">
            <a:spAutoFit/>
          </a:bodyPr>
          <a:lstStyle/>
          <a:p>
            <a:pPr algn="l"/>
            <a:r>
              <a:rPr sz="1200" b="0" i="1">
                <a:solidFill>
                  <a:srgbClr val="CCCCCC"/>
                </a:solidFill>
              </a:rPr>
              <a:t>VP Engineering (To Be Hired)</a:t>
            </a:r>
          </a:p>
        </p:txBody>
      </p:sp>
      <p:sp>
        <p:nvSpPr>
          <p:cNvPr id="24" name="TextBox 23"/>
          <p:cNvSpPr txBox="1"/>
          <p:nvPr/>
        </p:nvSpPr>
        <p:spPr>
          <a:xfrm>
            <a:off x="8366760" y="3246120"/>
            <a:ext cx="3246120" cy="2286000"/>
          </a:xfrm>
          <a:prstGeom prst="rect">
            <a:avLst/>
          </a:prstGeom>
          <a:noFill/>
        </p:spPr>
        <p:txBody>
          <a:bodyPr wrap="square">
            <a:spAutoFit/>
          </a:bodyPr>
          <a:lstStyle/>
          <a:p>
            <a:pPr algn="l"/>
            <a:r>
              <a:rPr sz="1100" b="0" i="0">
                <a:solidFill>
                  <a:srgbClr val="F0F0F0"/>
                </a:solidFill>
              </a:rPr>
              <a:t>Target: Senior full-stack engineering leader
Based in Colombo, Sri Lanka
Will manage 10–15 developer team
Responsible for platform migration and scaling
Recruitment underway — Q3 2026 target start</a:t>
            </a:r>
          </a:p>
        </p:txBody>
      </p:sp>
      <p:sp>
        <p:nvSpPr>
          <p:cNvPr id="25" name="Rectangle 24"/>
          <p:cNvSpPr/>
          <p:nvPr/>
        </p:nvSpPr>
        <p:spPr>
          <a:xfrm>
            <a:off x="0" y="1005840"/>
            <a:ext cx="12188952" cy="585216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1280160"/>
            <a:ext cx="5394960" cy="5120640"/>
          </a:xfrm>
          <a:prstGeom prst="rect">
            <a:avLst/>
          </a:prstGeom>
          <a:solidFill>
            <a:srgbClr val="161830"/>
          </a:solidFill>
          <a:ln w="228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2743200" y="1417320"/>
            <a:ext cx="1005840" cy="1005840"/>
          </a:xfrm>
          <a:prstGeom prst="ellipse">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880360" y="1554480"/>
            <a:ext cx="731520" cy="731520"/>
          </a:xfrm>
          <a:prstGeom prst="rect">
            <a:avLst/>
          </a:prstGeom>
          <a:noFill/>
        </p:spPr>
        <p:txBody>
          <a:bodyPr wrap="square">
            <a:spAutoFit/>
          </a:bodyPr>
          <a:lstStyle/>
          <a:p>
            <a:pPr algn="ctr"/>
            <a:r>
              <a:rPr sz="2600" b="1" i="0">
                <a:solidFill>
                  <a:srgbClr val="0B0C1A"/>
                </a:solidFill>
              </a:rPr>
              <a:t>D</a:t>
            </a:r>
          </a:p>
        </p:txBody>
      </p:sp>
      <p:sp>
        <p:nvSpPr>
          <p:cNvPr id="29" name="TextBox 28"/>
          <p:cNvSpPr txBox="1"/>
          <p:nvPr/>
        </p:nvSpPr>
        <p:spPr>
          <a:xfrm>
            <a:off x="822960" y="2578608"/>
            <a:ext cx="5029200" cy="411480"/>
          </a:xfrm>
          <a:prstGeom prst="rect">
            <a:avLst/>
          </a:prstGeom>
          <a:noFill/>
        </p:spPr>
        <p:txBody>
          <a:bodyPr wrap="square">
            <a:spAutoFit/>
          </a:bodyPr>
          <a:lstStyle/>
          <a:p>
            <a:pPr algn="l"/>
            <a:r>
              <a:rPr sz="1500" b="1" i="0">
                <a:solidFill>
                  <a:srgbClr val="F5C842"/>
                </a:solidFill>
              </a:rPr>
              <a:t>Dhananjaya (Jay) Gunaratne</a:t>
            </a:r>
          </a:p>
        </p:txBody>
      </p:sp>
      <p:sp>
        <p:nvSpPr>
          <p:cNvPr id="30" name="TextBox 29"/>
          <p:cNvSpPr txBox="1"/>
          <p:nvPr/>
        </p:nvSpPr>
        <p:spPr>
          <a:xfrm>
            <a:off x="822960" y="3017520"/>
            <a:ext cx="5029200" cy="320040"/>
          </a:xfrm>
          <a:prstGeom prst="rect">
            <a:avLst/>
          </a:prstGeom>
          <a:noFill/>
        </p:spPr>
        <p:txBody>
          <a:bodyPr wrap="square">
            <a:spAutoFit/>
          </a:bodyPr>
          <a:lstStyle/>
          <a:p>
            <a:pPr algn="l"/>
            <a:r>
              <a:rPr sz="1200" b="0" i="1">
                <a:solidFill>
                  <a:srgbClr val="CCCCCC"/>
                </a:solidFill>
              </a:rPr>
              <a:t>Founder &amp; CEO</a:t>
            </a:r>
          </a:p>
        </p:txBody>
      </p:sp>
      <p:sp>
        <p:nvSpPr>
          <p:cNvPr id="31" name="Rectangle 30"/>
          <p:cNvSpPr/>
          <p:nvPr/>
        </p:nvSpPr>
        <p:spPr>
          <a:xfrm>
            <a:off x="822960" y="3401568"/>
            <a:ext cx="5029200" cy="1828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960" y="3520440"/>
            <a:ext cx="5029200" cy="2606040"/>
          </a:xfrm>
          <a:prstGeom prst="rect">
            <a:avLst/>
          </a:prstGeom>
          <a:noFill/>
        </p:spPr>
        <p:txBody>
          <a:bodyPr wrap="square">
            <a:spAutoFit/>
          </a:bodyPr>
          <a:lstStyle/>
          <a:p>
            <a:pPr algn="l"/>
            <a:r>
              <a:rPr sz="1200" b="0" i="0">
                <a:solidFill>
                  <a:srgbClr val="F0F0F0"/>
                </a:solidFill>
              </a:rPr>
              <a:t>21+ years Senior Infrastructure Project Manager — Nokia, MPLS, NERC-CIP, SCADA, telecom
Architect of Sachi Stream: platform vision, strategy, product design, and brand identity
Creator community strategy, content culture, and diaspora community engagement
User experience design, creator onboarding, and founding creator program
PSEG Long Island — 0M+ infrastructure programs  ·  Founder, LDNA Consulting LLC</a:t>
            </a:r>
          </a:p>
        </p:txBody>
      </p:sp>
      <p:sp>
        <p:nvSpPr>
          <p:cNvPr id="33" name="Rectangle 32"/>
          <p:cNvSpPr/>
          <p:nvPr/>
        </p:nvSpPr>
        <p:spPr>
          <a:xfrm>
            <a:off x="6492240" y="1280160"/>
            <a:ext cx="5394960" cy="5120640"/>
          </a:xfrm>
          <a:prstGeom prst="rect">
            <a:avLst/>
          </a:prstGeom>
          <a:solidFill>
            <a:srgbClr val="161830"/>
          </a:solidFill>
          <a:ln w="2286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595360" y="1417320"/>
            <a:ext cx="1005840" cy="1005840"/>
          </a:xfrm>
          <a:prstGeom prst="ellipse">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32520" y="1554480"/>
            <a:ext cx="731520" cy="731520"/>
          </a:xfrm>
          <a:prstGeom prst="rect">
            <a:avLst/>
          </a:prstGeom>
          <a:noFill/>
        </p:spPr>
        <p:txBody>
          <a:bodyPr wrap="square">
            <a:spAutoFit/>
          </a:bodyPr>
          <a:lstStyle/>
          <a:p>
            <a:pPr algn="ctr"/>
            <a:r>
              <a:rPr sz="2600" b="1" i="0">
                <a:solidFill>
                  <a:srgbClr val="0B0C1A"/>
                </a:solidFill>
              </a:rPr>
              <a:t>C</a:t>
            </a:r>
          </a:p>
        </p:txBody>
      </p:sp>
      <p:sp>
        <p:nvSpPr>
          <p:cNvPr id="36" name="TextBox 35"/>
          <p:cNvSpPr txBox="1"/>
          <p:nvPr/>
        </p:nvSpPr>
        <p:spPr>
          <a:xfrm>
            <a:off x="6675120" y="2578608"/>
            <a:ext cx="5029200" cy="411480"/>
          </a:xfrm>
          <a:prstGeom prst="rect">
            <a:avLst/>
          </a:prstGeom>
          <a:noFill/>
        </p:spPr>
        <p:txBody>
          <a:bodyPr wrap="square">
            <a:spAutoFit/>
          </a:bodyPr>
          <a:lstStyle/>
          <a:p>
            <a:pPr algn="l"/>
            <a:r>
              <a:rPr sz="1500" b="1" i="0">
                <a:solidFill>
                  <a:srgbClr val="7BD4FF"/>
                </a:solidFill>
              </a:rPr>
              <a:t>Colombo Engineering Director</a:t>
            </a:r>
          </a:p>
        </p:txBody>
      </p:sp>
      <p:sp>
        <p:nvSpPr>
          <p:cNvPr id="37" name="TextBox 36"/>
          <p:cNvSpPr txBox="1"/>
          <p:nvPr/>
        </p:nvSpPr>
        <p:spPr>
          <a:xfrm>
            <a:off x="6675120" y="3017520"/>
            <a:ext cx="5029200" cy="320040"/>
          </a:xfrm>
          <a:prstGeom prst="rect">
            <a:avLst/>
          </a:prstGeom>
          <a:noFill/>
        </p:spPr>
        <p:txBody>
          <a:bodyPr wrap="square">
            <a:spAutoFit/>
          </a:bodyPr>
          <a:lstStyle/>
          <a:p>
            <a:pPr algn="l"/>
            <a:r>
              <a:rPr sz="1200" b="0" i="1">
                <a:solidFill>
                  <a:srgbClr val="CCCCCC"/>
                </a:solidFill>
              </a:rPr>
              <a:t>VP Engineering (To Be Hired)</a:t>
            </a:r>
          </a:p>
        </p:txBody>
      </p:sp>
      <p:sp>
        <p:nvSpPr>
          <p:cNvPr id="38" name="Rectangle 37"/>
          <p:cNvSpPr/>
          <p:nvPr/>
        </p:nvSpPr>
        <p:spPr>
          <a:xfrm>
            <a:off x="6675120" y="3401568"/>
            <a:ext cx="5029200" cy="18288"/>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75120" y="3520440"/>
            <a:ext cx="5029200" cy="2606040"/>
          </a:xfrm>
          <a:prstGeom prst="rect">
            <a:avLst/>
          </a:prstGeom>
          <a:noFill/>
        </p:spPr>
        <p:txBody>
          <a:bodyPr wrap="square">
            <a:spAutoFit/>
          </a:bodyPr>
          <a:lstStyle/>
          <a:p>
            <a:pPr algn="l"/>
            <a:r>
              <a:rPr sz="1200" b="0" i="0">
                <a:solidFill>
                  <a:srgbClr val="F0F0F0"/>
                </a:solidFill>
              </a:rPr>
              <a:t>Target: Senior full-stack engineering leader based in Colombo, Sri Lanka
Will manage 10–15 developer team across platform, mobile, and infrastructure
Responsible for platform migration, scaling, and bare metal buildout
App Store compliance, release management, and 24/7 ops oversight
Recruitment underway — Q3 2026 target start date</a:t>
            </a:r>
          </a:p>
        </p:txBody>
      </p:sp>
      <p:pic>
        <p:nvPicPr>
          <p:cNvPr id="40" name="Picture 39"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160"/>
            <a:ext cx="109728" cy="411480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274320"/>
            <a:ext cx="9144000" cy="594360"/>
          </a:xfrm>
          <a:prstGeom prst="rect">
            <a:avLst/>
          </a:prstGeom>
          <a:noFill/>
        </p:spPr>
        <p:txBody>
          <a:bodyPr wrap="square">
            <a:spAutoFit/>
          </a:bodyPr>
          <a:lstStyle/>
          <a:p>
            <a:pPr algn="l"/>
            <a:r>
              <a:rPr sz="3600" b="1" i="0">
                <a:solidFill>
                  <a:srgbClr val="F5C842"/>
                </a:solidFill>
              </a:rPr>
              <a:t>The Ask</a:t>
            </a:r>
          </a:p>
        </p:txBody>
      </p:sp>
      <p:sp>
        <p:nvSpPr>
          <p:cNvPr id="6" name="Rectangle 5"/>
          <p:cNvSpPr/>
          <p:nvPr/>
        </p:nvSpPr>
        <p:spPr>
          <a:xfrm>
            <a:off x="640080" y="100584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188720"/>
            <a:ext cx="10515600" cy="914400"/>
          </a:xfrm>
          <a:prstGeom prst="rect">
            <a:avLst/>
          </a:prstGeom>
          <a:noFill/>
        </p:spPr>
        <p:txBody>
          <a:bodyPr wrap="square">
            <a:spAutoFit/>
          </a:bodyPr>
          <a:lstStyle/>
          <a:p>
            <a:pPr algn="ctr"/>
            <a:r>
              <a:rPr sz="6400" b="1" i="0">
                <a:solidFill>
                  <a:srgbClr val="F5C842"/>
                </a:solidFill>
              </a:rPr>
              <a:t>$5,000,000</a:t>
            </a:r>
          </a:p>
        </p:txBody>
      </p:sp>
      <p:sp>
        <p:nvSpPr>
          <p:cNvPr id="8" name="TextBox 7"/>
          <p:cNvSpPr txBox="1"/>
          <p:nvPr/>
        </p:nvSpPr>
        <p:spPr>
          <a:xfrm>
            <a:off x="777240" y="2103120"/>
            <a:ext cx="10515600" cy="411480"/>
          </a:xfrm>
          <a:prstGeom prst="rect">
            <a:avLst/>
          </a:prstGeom>
          <a:noFill/>
        </p:spPr>
        <p:txBody>
          <a:bodyPr wrap="square">
            <a:spAutoFit/>
          </a:bodyPr>
          <a:lstStyle/>
          <a:p>
            <a:pPr algn="ctr"/>
            <a:r>
              <a:rPr sz="1800" b="0" i="0">
                <a:solidFill>
                  <a:srgbClr val="CCCCCC"/>
                </a:solidFill>
              </a:rPr>
              <a:t>Seed Round  ·  LDNA Consulting LLC  ·  May 2026</a:t>
            </a:r>
          </a:p>
        </p:txBody>
      </p:sp>
      <p:sp>
        <p:nvSpPr>
          <p:cNvPr id="9" name="Rectangle 8"/>
          <p:cNvSpPr/>
          <p:nvPr/>
        </p:nvSpPr>
        <p:spPr>
          <a:xfrm>
            <a:off x="640080" y="2651760"/>
            <a:ext cx="10881360" cy="2743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2926080"/>
            <a:ext cx="3520440" cy="3246120"/>
          </a:xfrm>
          <a:prstGeom prst="rect">
            <a:avLst/>
          </a:prstGeom>
          <a:solidFill>
            <a:srgbClr val="161830"/>
          </a:solidFill>
          <a:ln w="1905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17520"/>
            <a:ext cx="3246120" cy="365760"/>
          </a:xfrm>
          <a:prstGeom prst="rect">
            <a:avLst/>
          </a:prstGeom>
          <a:noFill/>
        </p:spPr>
        <p:txBody>
          <a:bodyPr wrap="square">
            <a:spAutoFit/>
          </a:bodyPr>
          <a:lstStyle/>
          <a:p>
            <a:pPr algn="l"/>
            <a:r>
              <a:rPr sz="1300" b="1" i="0">
                <a:solidFill>
                  <a:srgbClr val="F5C842"/>
                </a:solidFill>
              </a:rPr>
              <a:t>What We're Offering</a:t>
            </a:r>
          </a:p>
        </p:txBody>
      </p:sp>
      <p:sp>
        <p:nvSpPr>
          <p:cNvPr id="12" name="TextBox 11"/>
          <p:cNvSpPr txBox="1"/>
          <p:nvPr/>
        </p:nvSpPr>
        <p:spPr>
          <a:xfrm>
            <a:off x="777240" y="3520440"/>
            <a:ext cx="3246120" cy="411480"/>
          </a:xfrm>
          <a:prstGeom prst="rect">
            <a:avLst/>
          </a:prstGeom>
          <a:noFill/>
        </p:spPr>
        <p:txBody>
          <a:bodyPr wrap="square">
            <a:spAutoFit/>
          </a:bodyPr>
          <a:lstStyle/>
          <a:p>
            <a:pPr algn="l"/>
            <a:r>
              <a:rPr sz="1200" b="0" i="0">
                <a:solidFill>
                  <a:srgbClr val="F0F0F0"/>
                </a:solidFill>
              </a:rPr>
              <a:t>· Equity stake — percentage TBD in negotiation</a:t>
            </a:r>
          </a:p>
        </p:txBody>
      </p:sp>
      <p:sp>
        <p:nvSpPr>
          <p:cNvPr id="13" name="TextBox 12"/>
          <p:cNvSpPr txBox="1"/>
          <p:nvPr/>
        </p:nvSpPr>
        <p:spPr>
          <a:xfrm>
            <a:off x="777240" y="3977639"/>
            <a:ext cx="3246120" cy="411480"/>
          </a:xfrm>
          <a:prstGeom prst="rect">
            <a:avLst/>
          </a:prstGeom>
          <a:noFill/>
        </p:spPr>
        <p:txBody>
          <a:bodyPr wrap="square">
            <a:spAutoFit/>
          </a:bodyPr>
          <a:lstStyle/>
          <a:p>
            <a:pPr algn="l"/>
            <a:r>
              <a:rPr sz="1200" b="0" i="0">
                <a:solidFill>
                  <a:srgbClr val="F0F0F0"/>
                </a:solidFill>
              </a:rPr>
              <a:t>· Board observer seat available at $1M+ commitment</a:t>
            </a:r>
          </a:p>
        </p:txBody>
      </p:sp>
      <p:sp>
        <p:nvSpPr>
          <p:cNvPr id="14" name="TextBox 13"/>
          <p:cNvSpPr txBox="1"/>
          <p:nvPr/>
        </p:nvSpPr>
        <p:spPr>
          <a:xfrm>
            <a:off x="777240" y="4434840"/>
            <a:ext cx="3246120" cy="411480"/>
          </a:xfrm>
          <a:prstGeom prst="rect">
            <a:avLst/>
          </a:prstGeom>
          <a:noFill/>
        </p:spPr>
        <p:txBody>
          <a:bodyPr wrap="square">
            <a:spAutoFit/>
          </a:bodyPr>
          <a:lstStyle/>
          <a:p>
            <a:pPr algn="l"/>
            <a:r>
              <a:rPr sz="1200" b="0" i="0">
                <a:solidFill>
                  <a:srgbClr val="F0F0F0"/>
                </a:solidFill>
              </a:rPr>
              <a:t>· Series A right of first refusal</a:t>
            </a:r>
          </a:p>
        </p:txBody>
      </p:sp>
      <p:sp>
        <p:nvSpPr>
          <p:cNvPr id="15" name="TextBox 14"/>
          <p:cNvSpPr txBox="1"/>
          <p:nvPr/>
        </p:nvSpPr>
        <p:spPr>
          <a:xfrm>
            <a:off x="777240" y="4892040"/>
            <a:ext cx="3246120" cy="411480"/>
          </a:xfrm>
          <a:prstGeom prst="rect">
            <a:avLst/>
          </a:prstGeom>
          <a:noFill/>
        </p:spPr>
        <p:txBody>
          <a:bodyPr wrap="square">
            <a:spAutoFit/>
          </a:bodyPr>
          <a:lstStyle/>
          <a:p>
            <a:pPr algn="l"/>
            <a:r>
              <a:rPr sz="1200" b="0" i="0">
                <a:solidFill>
                  <a:srgbClr val="F0F0F0"/>
                </a:solidFill>
              </a:rPr>
              <a:t>· Quarterly financial reporting</a:t>
            </a:r>
          </a:p>
        </p:txBody>
      </p:sp>
      <p:sp>
        <p:nvSpPr>
          <p:cNvPr id="16" name="TextBox 15"/>
          <p:cNvSpPr txBox="1"/>
          <p:nvPr/>
        </p:nvSpPr>
        <p:spPr>
          <a:xfrm>
            <a:off x="777240" y="5349240"/>
            <a:ext cx="3246120" cy="411480"/>
          </a:xfrm>
          <a:prstGeom prst="rect">
            <a:avLst/>
          </a:prstGeom>
          <a:noFill/>
        </p:spPr>
        <p:txBody>
          <a:bodyPr wrap="square">
            <a:spAutoFit/>
          </a:bodyPr>
          <a:lstStyle/>
          <a:p>
            <a:pPr algn="l"/>
            <a:r>
              <a:rPr sz="1200" b="0" i="0">
                <a:solidFill>
                  <a:srgbClr val="F0F0F0"/>
                </a:solidFill>
              </a:rPr>
              <a:t>· Direct access to founding team</a:t>
            </a:r>
          </a:p>
        </p:txBody>
      </p:sp>
      <p:sp>
        <p:nvSpPr>
          <p:cNvPr id="17" name="Rectangle 16"/>
          <p:cNvSpPr/>
          <p:nvPr/>
        </p:nvSpPr>
        <p:spPr>
          <a:xfrm>
            <a:off x="4434840" y="2926080"/>
            <a:ext cx="3520440" cy="3246120"/>
          </a:xfrm>
          <a:prstGeom prst="rect">
            <a:avLst/>
          </a:prstGeom>
          <a:solidFill>
            <a:srgbClr val="161830"/>
          </a:solidFill>
          <a:ln w="1905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3017520"/>
            <a:ext cx="3246120" cy="365760"/>
          </a:xfrm>
          <a:prstGeom prst="rect">
            <a:avLst/>
          </a:prstGeom>
          <a:noFill/>
        </p:spPr>
        <p:txBody>
          <a:bodyPr wrap="square">
            <a:spAutoFit/>
          </a:bodyPr>
          <a:lstStyle/>
          <a:p>
            <a:pPr algn="l"/>
            <a:r>
              <a:rPr sz="1300" b="1" i="0">
                <a:solidFill>
                  <a:srgbClr val="FF6B6B"/>
                </a:solidFill>
              </a:rPr>
              <a:t>What We'll Deliver in 18 Months</a:t>
            </a:r>
          </a:p>
        </p:txBody>
      </p:sp>
      <p:sp>
        <p:nvSpPr>
          <p:cNvPr id="19" name="TextBox 18"/>
          <p:cNvSpPr txBox="1"/>
          <p:nvPr/>
        </p:nvSpPr>
        <p:spPr>
          <a:xfrm>
            <a:off x="4572000" y="3520440"/>
            <a:ext cx="3246120" cy="411480"/>
          </a:xfrm>
          <a:prstGeom prst="rect">
            <a:avLst/>
          </a:prstGeom>
          <a:noFill/>
        </p:spPr>
        <p:txBody>
          <a:bodyPr wrap="square">
            <a:spAutoFit/>
          </a:bodyPr>
          <a:lstStyle/>
          <a:p>
            <a:pPr algn="l"/>
            <a:r>
              <a:rPr sz="1200" b="0" i="0">
                <a:solidFill>
                  <a:srgbClr val="F0F0F0"/>
                </a:solidFill>
              </a:rPr>
              <a:t>· iOS + Android app live on both stores</a:t>
            </a:r>
          </a:p>
        </p:txBody>
      </p:sp>
      <p:sp>
        <p:nvSpPr>
          <p:cNvPr id="20" name="TextBox 19"/>
          <p:cNvSpPr txBox="1"/>
          <p:nvPr/>
        </p:nvSpPr>
        <p:spPr>
          <a:xfrm>
            <a:off x="4572000" y="3977639"/>
            <a:ext cx="3246120" cy="411480"/>
          </a:xfrm>
          <a:prstGeom prst="rect">
            <a:avLst/>
          </a:prstGeom>
          <a:noFill/>
        </p:spPr>
        <p:txBody>
          <a:bodyPr wrap="square">
            <a:spAutoFit/>
          </a:bodyPr>
          <a:lstStyle/>
          <a:p>
            <a:pPr algn="l"/>
            <a:r>
              <a:rPr sz="1200" b="0" i="0">
                <a:solidFill>
                  <a:srgbClr val="F0F0F0"/>
                </a:solidFill>
              </a:rPr>
              <a:t>· Colombo engineering team operational</a:t>
            </a:r>
          </a:p>
        </p:txBody>
      </p:sp>
      <p:sp>
        <p:nvSpPr>
          <p:cNvPr id="21" name="TextBox 20"/>
          <p:cNvSpPr txBox="1"/>
          <p:nvPr/>
        </p:nvSpPr>
        <p:spPr>
          <a:xfrm>
            <a:off x="4572000" y="4434840"/>
            <a:ext cx="3246120" cy="411480"/>
          </a:xfrm>
          <a:prstGeom prst="rect">
            <a:avLst/>
          </a:prstGeom>
          <a:noFill/>
        </p:spPr>
        <p:txBody>
          <a:bodyPr wrap="square">
            <a:spAutoFit/>
          </a:bodyPr>
          <a:lstStyle/>
          <a:p>
            <a:pPr algn="l"/>
            <a:r>
              <a:rPr sz="1200" b="0" i="0">
                <a:solidFill>
                  <a:srgbClr val="F0F0F0"/>
                </a:solidFill>
              </a:rPr>
              <a:t>· 150,000+ MAU target</a:t>
            </a:r>
          </a:p>
        </p:txBody>
      </p:sp>
      <p:sp>
        <p:nvSpPr>
          <p:cNvPr id="22" name="TextBox 21"/>
          <p:cNvSpPr txBox="1"/>
          <p:nvPr/>
        </p:nvSpPr>
        <p:spPr>
          <a:xfrm>
            <a:off x="4572000" y="4892040"/>
            <a:ext cx="3246120" cy="411480"/>
          </a:xfrm>
          <a:prstGeom prst="rect">
            <a:avLst/>
          </a:prstGeom>
          <a:noFill/>
        </p:spPr>
        <p:txBody>
          <a:bodyPr wrap="square">
            <a:spAutoFit/>
          </a:bodyPr>
          <a:lstStyle/>
          <a:p>
            <a:pPr algn="l"/>
            <a:r>
              <a:rPr sz="1200" b="0" i="0">
                <a:solidFill>
                  <a:srgbClr val="F0F0F0"/>
                </a:solidFill>
              </a:rPr>
              <a:t>· Bare metal infrastructure Phase 1 online</a:t>
            </a:r>
          </a:p>
        </p:txBody>
      </p:sp>
      <p:sp>
        <p:nvSpPr>
          <p:cNvPr id="23" name="TextBox 22"/>
          <p:cNvSpPr txBox="1"/>
          <p:nvPr/>
        </p:nvSpPr>
        <p:spPr>
          <a:xfrm>
            <a:off x="4572000" y="5349240"/>
            <a:ext cx="3246120" cy="411480"/>
          </a:xfrm>
          <a:prstGeom prst="rect">
            <a:avLst/>
          </a:prstGeom>
          <a:noFill/>
        </p:spPr>
        <p:txBody>
          <a:bodyPr wrap="square">
            <a:spAutoFit/>
          </a:bodyPr>
          <a:lstStyle/>
          <a:p>
            <a:pPr algn="l"/>
            <a:r>
              <a:rPr sz="1200" b="0" i="0">
                <a:solidFill>
                  <a:srgbClr val="F0F0F0"/>
                </a:solidFill>
              </a:rPr>
              <a:t>· $1M+ ARR run rate</a:t>
            </a:r>
          </a:p>
        </p:txBody>
      </p:sp>
      <p:sp>
        <p:nvSpPr>
          <p:cNvPr id="24" name="Rectangle 23"/>
          <p:cNvSpPr/>
          <p:nvPr/>
        </p:nvSpPr>
        <p:spPr>
          <a:xfrm>
            <a:off x="8229600" y="2926080"/>
            <a:ext cx="3520440" cy="3246120"/>
          </a:xfrm>
          <a:prstGeom prst="rect">
            <a:avLst/>
          </a:prstGeom>
          <a:solidFill>
            <a:srgbClr val="161830"/>
          </a:solidFill>
          <a:ln w="1905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66760" y="3017520"/>
            <a:ext cx="3246120" cy="365760"/>
          </a:xfrm>
          <a:prstGeom prst="rect">
            <a:avLst/>
          </a:prstGeom>
          <a:noFill/>
        </p:spPr>
        <p:txBody>
          <a:bodyPr wrap="square">
            <a:spAutoFit/>
          </a:bodyPr>
          <a:lstStyle/>
          <a:p>
            <a:pPr algn="l"/>
            <a:r>
              <a:rPr sz="1300" b="1" i="0">
                <a:solidFill>
                  <a:srgbClr val="7BD4FF"/>
                </a:solidFill>
              </a:rPr>
              <a:t>Path to Series A</a:t>
            </a:r>
          </a:p>
        </p:txBody>
      </p:sp>
      <p:sp>
        <p:nvSpPr>
          <p:cNvPr id="26" name="TextBox 25"/>
          <p:cNvSpPr txBox="1"/>
          <p:nvPr/>
        </p:nvSpPr>
        <p:spPr>
          <a:xfrm>
            <a:off x="8366760" y="3520440"/>
            <a:ext cx="3246120" cy="411480"/>
          </a:xfrm>
          <a:prstGeom prst="rect">
            <a:avLst/>
          </a:prstGeom>
          <a:noFill/>
        </p:spPr>
        <p:txBody>
          <a:bodyPr wrap="square">
            <a:spAutoFit/>
          </a:bodyPr>
          <a:lstStyle/>
          <a:p>
            <a:pPr algn="l"/>
            <a:r>
              <a:rPr sz="1200" b="0" i="0">
                <a:solidFill>
                  <a:srgbClr val="F0F0F0"/>
                </a:solidFill>
              </a:rPr>
              <a:t>· Series A target: $10–15M at 250K+ MAU</a:t>
            </a:r>
          </a:p>
        </p:txBody>
      </p:sp>
      <p:sp>
        <p:nvSpPr>
          <p:cNvPr id="27" name="TextBox 26"/>
          <p:cNvSpPr txBox="1"/>
          <p:nvPr/>
        </p:nvSpPr>
        <p:spPr>
          <a:xfrm>
            <a:off x="8366760" y="3977639"/>
            <a:ext cx="3246120" cy="411480"/>
          </a:xfrm>
          <a:prstGeom prst="rect">
            <a:avLst/>
          </a:prstGeom>
          <a:noFill/>
        </p:spPr>
        <p:txBody>
          <a:bodyPr wrap="square">
            <a:spAutoFit/>
          </a:bodyPr>
          <a:lstStyle/>
          <a:p>
            <a:pPr algn="l"/>
            <a:r>
              <a:rPr sz="1200" b="0" i="0">
                <a:solidFill>
                  <a:srgbClr val="F0F0F0"/>
                </a:solidFill>
              </a:rPr>
              <a:t>· Expected timing: 18–24 months post-seed</a:t>
            </a:r>
          </a:p>
        </p:txBody>
      </p:sp>
      <p:sp>
        <p:nvSpPr>
          <p:cNvPr id="28" name="TextBox 27"/>
          <p:cNvSpPr txBox="1"/>
          <p:nvPr/>
        </p:nvSpPr>
        <p:spPr>
          <a:xfrm>
            <a:off x="8366760" y="4434840"/>
            <a:ext cx="3246120" cy="411480"/>
          </a:xfrm>
          <a:prstGeom prst="rect">
            <a:avLst/>
          </a:prstGeom>
          <a:noFill/>
        </p:spPr>
        <p:txBody>
          <a:bodyPr wrap="square">
            <a:spAutoFit/>
          </a:bodyPr>
          <a:lstStyle/>
          <a:p>
            <a:pPr algn="l"/>
            <a:r>
              <a:rPr sz="1200" b="0" i="0">
                <a:solidFill>
                  <a:srgbClr val="F0F0F0"/>
                </a:solidFill>
              </a:rPr>
              <a:t>· Target valuation: $40–60M pre-money</a:t>
            </a:r>
          </a:p>
        </p:txBody>
      </p:sp>
      <p:sp>
        <p:nvSpPr>
          <p:cNvPr id="29" name="TextBox 28"/>
          <p:cNvSpPr txBox="1"/>
          <p:nvPr/>
        </p:nvSpPr>
        <p:spPr>
          <a:xfrm>
            <a:off x="8366760" y="4892040"/>
            <a:ext cx="3246120" cy="411480"/>
          </a:xfrm>
          <a:prstGeom prst="rect">
            <a:avLst/>
          </a:prstGeom>
          <a:noFill/>
        </p:spPr>
        <p:txBody>
          <a:bodyPr wrap="square">
            <a:spAutoFit/>
          </a:bodyPr>
          <a:lstStyle/>
          <a:p>
            <a:pPr algn="l"/>
            <a:r>
              <a:rPr sz="1200" b="0" i="0">
                <a:solidFill>
                  <a:srgbClr val="F0F0F0"/>
                </a:solidFill>
              </a:rPr>
              <a:t>· Lead investor for Series A being identified</a:t>
            </a:r>
          </a:p>
        </p:txBody>
      </p:sp>
      <p:sp>
        <p:nvSpPr>
          <p:cNvPr id="30" name="TextBox 29"/>
          <p:cNvSpPr txBox="1"/>
          <p:nvPr/>
        </p:nvSpPr>
        <p:spPr>
          <a:xfrm>
            <a:off x="8366760" y="5349240"/>
            <a:ext cx="3246120" cy="411480"/>
          </a:xfrm>
          <a:prstGeom prst="rect">
            <a:avLst/>
          </a:prstGeom>
          <a:noFill/>
        </p:spPr>
        <p:txBody>
          <a:bodyPr wrap="square">
            <a:spAutoFit/>
          </a:bodyPr>
          <a:lstStyle/>
          <a:p>
            <a:pPr algn="l"/>
            <a:r>
              <a:rPr sz="1200" b="0" i="0">
                <a:solidFill>
                  <a:srgbClr val="F0F0F0"/>
                </a:solidFill>
              </a:rPr>
              <a:t>· Secondary markets: South Asia, Pacific</a:t>
            </a:r>
          </a:p>
        </p:txBody>
      </p:sp>
      <p:sp>
        <p:nvSpPr>
          <p:cNvPr id="31" name="Rectangle 30"/>
          <p:cNvSpPr/>
          <p:nvPr/>
        </p:nvSpPr>
        <p:spPr>
          <a:xfrm>
            <a:off x="0" y="1005840"/>
            <a:ext cx="12188952" cy="585216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1143000"/>
            <a:ext cx="10515600" cy="868680"/>
          </a:xfrm>
          <a:prstGeom prst="rect">
            <a:avLst/>
          </a:prstGeom>
          <a:noFill/>
        </p:spPr>
        <p:txBody>
          <a:bodyPr wrap="square">
            <a:spAutoFit/>
          </a:bodyPr>
          <a:lstStyle/>
          <a:p>
            <a:pPr algn="ctr"/>
            <a:r>
              <a:rPr sz="5200" b="1" i="0">
                <a:solidFill>
                  <a:srgbClr val="F5C842"/>
                </a:solidFill>
              </a:rPr>
              <a:t>0,000,000  Total Raise</a:t>
            </a:r>
          </a:p>
        </p:txBody>
      </p:sp>
      <p:sp>
        <p:nvSpPr>
          <p:cNvPr id="33" name="TextBox 32"/>
          <p:cNvSpPr txBox="1"/>
          <p:nvPr/>
        </p:nvSpPr>
        <p:spPr>
          <a:xfrm>
            <a:off x="777240" y="2011680"/>
            <a:ext cx="10515600" cy="365760"/>
          </a:xfrm>
          <a:prstGeom prst="rect">
            <a:avLst/>
          </a:prstGeom>
          <a:noFill/>
        </p:spPr>
        <p:txBody>
          <a:bodyPr wrap="square">
            <a:spAutoFit/>
          </a:bodyPr>
          <a:lstStyle/>
          <a:p>
            <a:pPr algn="ctr"/>
            <a:r>
              <a:rPr sz="1600" b="0" i="0">
                <a:solidFill>
                  <a:srgbClr val="CCCCCC"/>
                </a:solidFill>
              </a:rPr>
              <a:t>Two-Round Structure  ·  LDNA Consulting LLC  ·  2026–2027</a:t>
            </a:r>
          </a:p>
        </p:txBody>
      </p:sp>
      <p:sp>
        <p:nvSpPr>
          <p:cNvPr id="34" name="Rectangle 33"/>
          <p:cNvSpPr/>
          <p:nvPr/>
        </p:nvSpPr>
        <p:spPr>
          <a:xfrm>
            <a:off x="777240" y="2514600"/>
            <a:ext cx="10515600" cy="2743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 y="2697480"/>
            <a:ext cx="3611880" cy="3749039"/>
          </a:xfrm>
          <a:prstGeom prst="rect">
            <a:avLst/>
          </a:prstGeom>
          <a:solidFill>
            <a:srgbClr val="161830"/>
          </a:solidFill>
          <a:ln w="228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2788920"/>
            <a:ext cx="3337560" cy="347472"/>
          </a:xfrm>
          <a:prstGeom prst="rect">
            <a:avLst/>
          </a:prstGeom>
          <a:noFill/>
        </p:spPr>
        <p:txBody>
          <a:bodyPr wrap="square">
            <a:spAutoFit/>
          </a:bodyPr>
          <a:lstStyle/>
          <a:p>
            <a:pPr algn="l"/>
            <a:r>
              <a:rPr sz="1300" b="1" i="0">
                <a:solidFill>
                  <a:srgbClr val="F5C842"/>
                </a:solidFill>
              </a:rPr>
              <a:t>ROUND 1 — SEED</a:t>
            </a:r>
          </a:p>
        </p:txBody>
      </p:sp>
      <p:sp>
        <p:nvSpPr>
          <p:cNvPr id="37" name="TextBox 36"/>
          <p:cNvSpPr txBox="1"/>
          <p:nvPr/>
        </p:nvSpPr>
        <p:spPr>
          <a:xfrm>
            <a:off x="731520" y="3172968"/>
            <a:ext cx="3337560" cy="438912"/>
          </a:xfrm>
          <a:prstGeom prst="rect">
            <a:avLst/>
          </a:prstGeom>
          <a:noFill/>
        </p:spPr>
        <p:txBody>
          <a:bodyPr wrap="square">
            <a:spAutoFit/>
          </a:bodyPr>
          <a:lstStyle/>
          <a:p>
            <a:pPr algn="l"/>
            <a:r>
              <a:rPr sz="2200" b="1" i="0">
                <a:solidFill>
                  <a:srgbClr val="FFFFFF"/>
                </a:solidFill>
              </a:rPr>
              <a:t>,000,000</a:t>
            </a:r>
          </a:p>
        </p:txBody>
      </p:sp>
      <p:sp>
        <p:nvSpPr>
          <p:cNvPr id="38" name="TextBox 37"/>
          <p:cNvSpPr txBox="1"/>
          <p:nvPr/>
        </p:nvSpPr>
        <p:spPr>
          <a:xfrm>
            <a:off x="731520" y="3593592"/>
            <a:ext cx="3337560" cy="274320"/>
          </a:xfrm>
          <a:prstGeom prst="rect">
            <a:avLst/>
          </a:prstGeom>
          <a:noFill/>
        </p:spPr>
        <p:txBody>
          <a:bodyPr wrap="square">
            <a:spAutoFit/>
          </a:bodyPr>
          <a:lstStyle/>
          <a:p>
            <a:pPr algn="l"/>
            <a:r>
              <a:rPr sz="1100" b="0" i="1">
                <a:solidFill>
                  <a:srgbClr val="CCCCCC"/>
                </a:solidFill>
              </a:rPr>
              <a:t>Timing: Q2–Q3 2026</a:t>
            </a:r>
          </a:p>
        </p:txBody>
      </p:sp>
      <p:sp>
        <p:nvSpPr>
          <p:cNvPr id="39" name="Rectangle 38"/>
          <p:cNvSpPr/>
          <p:nvPr/>
        </p:nvSpPr>
        <p:spPr>
          <a:xfrm>
            <a:off x="731520" y="3904488"/>
            <a:ext cx="3291840" cy="1828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 y="4023360"/>
            <a:ext cx="3337560" cy="347472"/>
          </a:xfrm>
          <a:prstGeom prst="rect">
            <a:avLst/>
          </a:prstGeom>
          <a:noFill/>
        </p:spPr>
        <p:txBody>
          <a:bodyPr wrap="square">
            <a:spAutoFit/>
          </a:bodyPr>
          <a:lstStyle/>
          <a:p>
            <a:pPr algn="l"/>
            <a:r>
              <a:rPr sz="1100" b="0" i="0">
                <a:solidFill>
                  <a:srgbClr val="F0F0F0"/>
                </a:solidFill>
              </a:rPr>
              <a:t>· Platform iOS + Android launch (App Store + Google Play)</a:t>
            </a:r>
          </a:p>
        </p:txBody>
      </p:sp>
      <p:sp>
        <p:nvSpPr>
          <p:cNvPr id="41" name="TextBox 40"/>
          <p:cNvSpPr txBox="1"/>
          <p:nvPr/>
        </p:nvSpPr>
        <p:spPr>
          <a:xfrm>
            <a:off x="731520" y="4407408"/>
            <a:ext cx="3337560" cy="347472"/>
          </a:xfrm>
          <a:prstGeom prst="rect">
            <a:avLst/>
          </a:prstGeom>
          <a:noFill/>
        </p:spPr>
        <p:txBody>
          <a:bodyPr wrap="square">
            <a:spAutoFit/>
          </a:bodyPr>
          <a:lstStyle/>
          <a:p>
            <a:pPr algn="l"/>
            <a:r>
              <a:rPr sz="1100" b="0" i="0">
                <a:solidFill>
                  <a:srgbClr val="F0F0F0"/>
                </a:solidFill>
              </a:rPr>
              <a:t>· Colombo engineering team: 10–15 developers hired</a:t>
            </a:r>
          </a:p>
        </p:txBody>
      </p:sp>
      <p:sp>
        <p:nvSpPr>
          <p:cNvPr id="42" name="TextBox 41"/>
          <p:cNvSpPr txBox="1"/>
          <p:nvPr/>
        </p:nvSpPr>
        <p:spPr>
          <a:xfrm>
            <a:off x="731520" y="4791456"/>
            <a:ext cx="3337560" cy="347472"/>
          </a:xfrm>
          <a:prstGeom prst="rect">
            <a:avLst/>
          </a:prstGeom>
          <a:noFill/>
        </p:spPr>
        <p:txBody>
          <a:bodyPr wrap="square">
            <a:spAutoFit/>
          </a:bodyPr>
          <a:lstStyle/>
          <a:p>
            <a:pPr algn="l"/>
            <a:r>
              <a:rPr sz="1100" b="0" i="0">
                <a:solidFill>
                  <a:srgbClr val="F0F0F0"/>
                </a:solidFill>
              </a:rPr>
              <a:t>· Bare metal infrastructure Phase 1 — Colombo facility</a:t>
            </a:r>
          </a:p>
        </p:txBody>
      </p:sp>
      <p:sp>
        <p:nvSpPr>
          <p:cNvPr id="43" name="TextBox 42"/>
          <p:cNvSpPr txBox="1"/>
          <p:nvPr/>
        </p:nvSpPr>
        <p:spPr>
          <a:xfrm>
            <a:off x="731520" y="5175504"/>
            <a:ext cx="3337560" cy="347472"/>
          </a:xfrm>
          <a:prstGeom prst="rect">
            <a:avLst/>
          </a:prstGeom>
          <a:noFill/>
        </p:spPr>
        <p:txBody>
          <a:bodyPr wrap="square">
            <a:spAutoFit/>
          </a:bodyPr>
          <a:lstStyle/>
          <a:p>
            <a:pPr algn="l"/>
            <a:r>
              <a:rPr sz="1100" b="0" i="0">
                <a:solidFill>
                  <a:srgbClr val="F0F0F0"/>
                </a:solidFill>
              </a:rPr>
              <a:t>· Marketing &amp; creator acquisition — 10,000 MAU target</a:t>
            </a:r>
          </a:p>
        </p:txBody>
      </p:sp>
      <p:sp>
        <p:nvSpPr>
          <p:cNvPr id="44" name="TextBox 43"/>
          <p:cNvSpPr txBox="1"/>
          <p:nvPr/>
        </p:nvSpPr>
        <p:spPr>
          <a:xfrm>
            <a:off x="731520" y="5559552"/>
            <a:ext cx="3337560" cy="347472"/>
          </a:xfrm>
          <a:prstGeom prst="rect">
            <a:avLst/>
          </a:prstGeom>
          <a:noFill/>
        </p:spPr>
        <p:txBody>
          <a:bodyPr wrap="square">
            <a:spAutoFit/>
          </a:bodyPr>
          <a:lstStyle/>
          <a:p>
            <a:pPr algn="l"/>
            <a:r>
              <a:rPr sz="1100" b="0" i="0">
                <a:solidFill>
                  <a:srgbClr val="F0F0F0"/>
                </a:solidFill>
              </a:rPr>
              <a:t>· Equity offered: TBD in negotiation</a:t>
            </a:r>
          </a:p>
        </p:txBody>
      </p:sp>
      <p:sp>
        <p:nvSpPr>
          <p:cNvPr id="45" name="TextBox 44"/>
          <p:cNvSpPr txBox="1"/>
          <p:nvPr/>
        </p:nvSpPr>
        <p:spPr>
          <a:xfrm>
            <a:off x="731520" y="5943600"/>
            <a:ext cx="3337560" cy="347472"/>
          </a:xfrm>
          <a:prstGeom prst="rect">
            <a:avLst/>
          </a:prstGeom>
          <a:noFill/>
        </p:spPr>
        <p:txBody>
          <a:bodyPr wrap="square">
            <a:spAutoFit/>
          </a:bodyPr>
          <a:lstStyle/>
          <a:p>
            <a:pPr algn="l"/>
            <a:r>
              <a:rPr sz="1100" b="0" i="0">
                <a:solidFill>
                  <a:srgbClr val="F0F0F0"/>
                </a:solidFill>
              </a:rPr>
              <a:t>· Board observer seat at M+ commitment</a:t>
            </a:r>
          </a:p>
        </p:txBody>
      </p:sp>
      <p:sp>
        <p:nvSpPr>
          <p:cNvPr id="46" name="Rectangle 45"/>
          <p:cNvSpPr/>
          <p:nvPr/>
        </p:nvSpPr>
        <p:spPr>
          <a:xfrm>
            <a:off x="4434840" y="2697480"/>
            <a:ext cx="3611880" cy="3749039"/>
          </a:xfrm>
          <a:prstGeom prst="rect">
            <a:avLst/>
          </a:prstGeom>
          <a:solidFill>
            <a:srgbClr val="161830"/>
          </a:solidFill>
          <a:ln w="2286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572000" y="2788920"/>
            <a:ext cx="3337560" cy="347472"/>
          </a:xfrm>
          <a:prstGeom prst="rect">
            <a:avLst/>
          </a:prstGeom>
          <a:noFill/>
        </p:spPr>
        <p:txBody>
          <a:bodyPr wrap="square">
            <a:spAutoFit/>
          </a:bodyPr>
          <a:lstStyle/>
          <a:p>
            <a:pPr algn="l"/>
            <a:r>
              <a:rPr sz="1300" b="1" i="0">
                <a:solidFill>
                  <a:srgbClr val="FF6B6B"/>
                </a:solidFill>
              </a:rPr>
              <a:t>ROUND 2 — SERIES A</a:t>
            </a:r>
          </a:p>
        </p:txBody>
      </p:sp>
      <p:sp>
        <p:nvSpPr>
          <p:cNvPr id="48" name="TextBox 47"/>
          <p:cNvSpPr txBox="1"/>
          <p:nvPr/>
        </p:nvSpPr>
        <p:spPr>
          <a:xfrm>
            <a:off x="4572000" y="3172968"/>
            <a:ext cx="3337560" cy="438912"/>
          </a:xfrm>
          <a:prstGeom prst="rect">
            <a:avLst/>
          </a:prstGeom>
          <a:noFill/>
        </p:spPr>
        <p:txBody>
          <a:bodyPr wrap="square">
            <a:spAutoFit/>
          </a:bodyPr>
          <a:lstStyle/>
          <a:p>
            <a:pPr algn="l"/>
            <a:r>
              <a:rPr sz="2200" b="1" i="0">
                <a:solidFill>
                  <a:srgbClr val="FFFFFF"/>
                </a:solidFill>
              </a:rPr>
              <a:t>,000,000</a:t>
            </a:r>
          </a:p>
        </p:txBody>
      </p:sp>
      <p:sp>
        <p:nvSpPr>
          <p:cNvPr id="49" name="TextBox 48"/>
          <p:cNvSpPr txBox="1"/>
          <p:nvPr/>
        </p:nvSpPr>
        <p:spPr>
          <a:xfrm>
            <a:off x="4572000" y="3593592"/>
            <a:ext cx="3337560" cy="274320"/>
          </a:xfrm>
          <a:prstGeom prst="rect">
            <a:avLst/>
          </a:prstGeom>
          <a:noFill/>
        </p:spPr>
        <p:txBody>
          <a:bodyPr wrap="square">
            <a:spAutoFit/>
          </a:bodyPr>
          <a:lstStyle/>
          <a:p>
            <a:pPr algn="l"/>
            <a:r>
              <a:rPr sz="1100" b="0" i="1">
                <a:solidFill>
                  <a:srgbClr val="CCCCCC"/>
                </a:solidFill>
              </a:rPr>
              <a:t>Timing: 18–24 months post-Seed (2027–2028)</a:t>
            </a:r>
          </a:p>
        </p:txBody>
      </p:sp>
      <p:sp>
        <p:nvSpPr>
          <p:cNvPr id="50" name="Rectangle 49"/>
          <p:cNvSpPr/>
          <p:nvPr/>
        </p:nvSpPr>
        <p:spPr>
          <a:xfrm>
            <a:off x="4572000" y="3904488"/>
            <a:ext cx="3291840" cy="18288"/>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0" y="4023360"/>
            <a:ext cx="3337560" cy="347472"/>
          </a:xfrm>
          <a:prstGeom prst="rect">
            <a:avLst/>
          </a:prstGeom>
          <a:noFill/>
        </p:spPr>
        <p:txBody>
          <a:bodyPr wrap="square">
            <a:spAutoFit/>
          </a:bodyPr>
          <a:lstStyle/>
          <a:p>
            <a:pPr algn="l"/>
            <a:r>
              <a:rPr sz="1100" b="0" i="0">
                <a:solidFill>
                  <a:srgbClr val="F0F0F0"/>
                </a:solidFill>
              </a:rPr>
              <a:t>· Scale to 250,000–500,000 MAU</a:t>
            </a:r>
          </a:p>
        </p:txBody>
      </p:sp>
      <p:sp>
        <p:nvSpPr>
          <p:cNvPr id="52" name="TextBox 51"/>
          <p:cNvSpPr txBox="1"/>
          <p:nvPr/>
        </p:nvSpPr>
        <p:spPr>
          <a:xfrm>
            <a:off x="4572000" y="4407408"/>
            <a:ext cx="3337560" cy="347472"/>
          </a:xfrm>
          <a:prstGeom prst="rect">
            <a:avLst/>
          </a:prstGeom>
          <a:noFill/>
        </p:spPr>
        <p:txBody>
          <a:bodyPr wrap="square">
            <a:spAutoFit/>
          </a:bodyPr>
          <a:lstStyle/>
          <a:p>
            <a:pPr algn="l"/>
            <a:r>
              <a:rPr sz="1100" b="0" i="0">
                <a:solidFill>
                  <a:srgbClr val="F0F0F0"/>
                </a:solidFill>
              </a:rPr>
              <a:t>· Bare metal infrastructure Phase 2 — full data center</a:t>
            </a:r>
          </a:p>
        </p:txBody>
      </p:sp>
      <p:sp>
        <p:nvSpPr>
          <p:cNvPr id="53" name="TextBox 52"/>
          <p:cNvSpPr txBox="1"/>
          <p:nvPr/>
        </p:nvSpPr>
        <p:spPr>
          <a:xfrm>
            <a:off x="4572000" y="4791456"/>
            <a:ext cx="3337560" cy="347472"/>
          </a:xfrm>
          <a:prstGeom prst="rect">
            <a:avLst/>
          </a:prstGeom>
          <a:noFill/>
        </p:spPr>
        <p:txBody>
          <a:bodyPr wrap="square">
            <a:spAutoFit/>
          </a:bodyPr>
          <a:lstStyle/>
          <a:p>
            <a:pPr algn="l"/>
            <a:r>
              <a:rPr sz="1100" b="0" i="0">
                <a:solidFill>
                  <a:srgbClr val="F0F0F0"/>
                </a:solidFill>
              </a:rPr>
              <a:t>· Regional expansion: South Asia, Pacific, Middle East</a:t>
            </a:r>
          </a:p>
        </p:txBody>
      </p:sp>
      <p:sp>
        <p:nvSpPr>
          <p:cNvPr id="54" name="TextBox 53"/>
          <p:cNvSpPr txBox="1"/>
          <p:nvPr/>
        </p:nvSpPr>
        <p:spPr>
          <a:xfrm>
            <a:off x="4572000" y="5175504"/>
            <a:ext cx="3337560" cy="347472"/>
          </a:xfrm>
          <a:prstGeom prst="rect">
            <a:avLst/>
          </a:prstGeom>
          <a:noFill/>
        </p:spPr>
        <p:txBody>
          <a:bodyPr wrap="square">
            <a:spAutoFit/>
          </a:bodyPr>
          <a:lstStyle/>
          <a:p>
            <a:pPr algn="l"/>
            <a:r>
              <a:rPr sz="1100" b="0" i="0">
                <a:solidFill>
                  <a:srgbClr val="F0F0F0"/>
                </a:solidFill>
              </a:rPr>
              <a:t>· Creator fund launch: M/year to top creators</a:t>
            </a:r>
          </a:p>
        </p:txBody>
      </p:sp>
      <p:sp>
        <p:nvSpPr>
          <p:cNvPr id="55" name="TextBox 54"/>
          <p:cNvSpPr txBox="1"/>
          <p:nvPr/>
        </p:nvSpPr>
        <p:spPr>
          <a:xfrm>
            <a:off x="4572000" y="5559552"/>
            <a:ext cx="3337560" cy="347472"/>
          </a:xfrm>
          <a:prstGeom prst="rect">
            <a:avLst/>
          </a:prstGeom>
          <a:noFill/>
        </p:spPr>
        <p:txBody>
          <a:bodyPr wrap="square">
            <a:spAutoFit/>
          </a:bodyPr>
          <a:lstStyle/>
          <a:p>
            <a:pPr algn="l"/>
            <a:r>
              <a:rPr sz="1100" b="0" i="0">
                <a:solidFill>
                  <a:srgbClr val="F0F0F0"/>
                </a:solidFill>
              </a:rPr>
              <a:t>· Pre-money valuation target: 0–60M</a:t>
            </a:r>
          </a:p>
        </p:txBody>
      </p:sp>
      <p:sp>
        <p:nvSpPr>
          <p:cNvPr id="56" name="TextBox 55"/>
          <p:cNvSpPr txBox="1"/>
          <p:nvPr/>
        </p:nvSpPr>
        <p:spPr>
          <a:xfrm>
            <a:off x="4572000" y="5943600"/>
            <a:ext cx="3337560" cy="347472"/>
          </a:xfrm>
          <a:prstGeom prst="rect">
            <a:avLst/>
          </a:prstGeom>
          <a:noFill/>
        </p:spPr>
        <p:txBody>
          <a:bodyPr wrap="square">
            <a:spAutoFit/>
          </a:bodyPr>
          <a:lstStyle/>
          <a:p>
            <a:pPr algn="l"/>
            <a:r>
              <a:rPr sz="1100" b="0" i="0">
                <a:solidFill>
                  <a:srgbClr val="F0F0F0"/>
                </a:solidFill>
              </a:rPr>
              <a:t>· Trigger: M+ ARR run rate achieved</a:t>
            </a:r>
          </a:p>
        </p:txBody>
      </p:sp>
      <p:sp>
        <p:nvSpPr>
          <p:cNvPr id="57" name="Rectangle 56"/>
          <p:cNvSpPr/>
          <p:nvPr/>
        </p:nvSpPr>
        <p:spPr>
          <a:xfrm>
            <a:off x="8275320" y="2697480"/>
            <a:ext cx="3611880" cy="3749039"/>
          </a:xfrm>
          <a:prstGeom prst="rect">
            <a:avLst/>
          </a:prstGeom>
          <a:solidFill>
            <a:srgbClr val="161830"/>
          </a:solidFill>
          <a:ln w="22860">
            <a:solidFill>
              <a:srgbClr val="7BD4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12480" y="2788920"/>
            <a:ext cx="3337560" cy="347472"/>
          </a:xfrm>
          <a:prstGeom prst="rect">
            <a:avLst/>
          </a:prstGeom>
          <a:noFill/>
        </p:spPr>
        <p:txBody>
          <a:bodyPr wrap="square">
            <a:spAutoFit/>
          </a:bodyPr>
          <a:lstStyle/>
          <a:p>
            <a:pPr algn="l"/>
            <a:r>
              <a:rPr sz="1300" b="1" i="0">
                <a:solidFill>
                  <a:srgbClr val="7BD4FF"/>
                </a:solidFill>
              </a:rPr>
              <a:t>PATH TO 2M ARR</a:t>
            </a:r>
          </a:p>
        </p:txBody>
      </p:sp>
      <p:sp>
        <p:nvSpPr>
          <p:cNvPr id="59" name="TextBox 58"/>
          <p:cNvSpPr txBox="1"/>
          <p:nvPr/>
        </p:nvSpPr>
        <p:spPr>
          <a:xfrm>
            <a:off x="8412480" y="3172968"/>
            <a:ext cx="3337560" cy="438912"/>
          </a:xfrm>
          <a:prstGeom prst="rect">
            <a:avLst/>
          </a:prstGeom>
          <a:noFill/>
        </p:spPr>
        <p:txBody>
          <a:bodyPr wrap="square">
            <a:spAutoFit/>
          </a:bodyPr>
          <a:lstStyle/>
          <a:p>
            <a:pPr algn="l"/>
            <a:r>
              <a:rPr sz="2200" b="1" i="0">
                <a:solidFill>
                  <a:srgbClr val="FFFFFF"/>
                </a:solidFill>
              </a:rPr>
              <a:t>Year 5 Target</a:t>
            </a:r>
          </a:p>
        </p:txBody>
      </p:sp>
      <p:sp>
        <p:nvSpPr>
          <p:cNvPr id="60" name="TextBox 59"/>
          <p:cNvSpPr txBox="1"/>
          <p:nvPr/>
        </p:nvSpPr>
        <p:spPr>
          <a:xfrm>
            <a:off x="8412480" y="3593592"/>
            <a:ext cx="3337560" cy="274320"/>
          </a:xfrm>
          <a:prstGeom prst="rect">
            <a:avLst/>
          </a:prstGeom>
          <a:noFill/>
        </p:spPr>
        <p:txBody>
          <a:bodyPr wrap="square">
            <a:spAutoFit/>
          </a:bodyPr>
          <a:lstStyle/>
          <a:p>
            <a:pPr algn="l"/>
            <a:r>
              <a:rPr sz="1100" b="0" i="1">
                <a:solidFill>
                  <a:srgbClr val="CCCCCC"/>
                </a:solidFill>
              </a:rPr>
              <a:t>By 2030 — 3M MAU</a:t>
            </a:r>
          </a:p>
        </p:txBody>
      </p:sp>
      <p:sp>
        <p:nvSpPr>
          <p:cNvPr id="61" name="Rectangle 60"/>
          <p:cNvSpPr/>
          <p:nvPr/>
        </p:nvSpPr>
        <p:spPr>
          <a:xfrm>
            <a:off x="8412480" y="3904488"/>
            <a:ext cx="3291840" cy="18288"/>
          </a:xfrm>
          <a:prstGeom prst="rect">
            <a:avLst/>
          </a:prstGeom>
          <a:solidFill>
            <a:srgbClr val="7B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412480" y="4023360"/>
            <a:ext cx="3337560" cy="347472"/>
          </a:xfrm>
          <a:prstGeom prst="rect">
            <a:avLst/>
          </a:prstGeom>
          <a:noFill/>
        </p:spPr>
        <p:txBody>
          <a:bodyPr wrap="square">
            <a:spAutoFit/>
          </a:bodyPr>
          <a:lstStyle/>
          <a:p>
            <a:pPr algn="l"/>
            <a:r>
              <a:rPr sz="1100" b="0" i="0">
                <a:solidFill>
                  <a:srgbClr val="F0F0F0"/>
                </a:solidFill>
              </a:rPr>
              <a:t>· Gifting revenue: 8.8M</a:t>
            </a:r>
          </a:p>
        </p:txBody>
      </p:sp>
      <p:sp>
        <p:nvSpPr>
          <p:cNvPr id="63" name="TextBox 62"/>
          <p:cNvSpPr txBox="1"/>
          <p:nvPr/>
        </p:nvSpPr>
        <p:spPr>
          <a:xfrm>
            <a:off x="8412480" y="4407408"/>
            <a:ext cx="3337560" cy="347472"/>
          </a:xfrm>
          <a:prstGeom prst="rect">
            <a:avLst/>
          </a:prstGeom>
          <a:noFill/>
        </p:spPr>
        <p:txBody>
          <a:bodyPr wrap="square">
            <a:spAutoFit/>
          </a:bodyPr>
          <a:lstStyle/>
          <a:p>
            <a:pPr algn="l"/>
            <a:r>
              <a:rPr sz="1100" b="0" i="0">
                <a:solidFill>
                  <a:srgbClr val="F0F0F0"/>
                </a:solidFill>
              </a:rPr>
              <a:t>· Subscriptions: .2M</a:t>
            </a:r>
          </a:p>
        </p:txBody>
      </p:sp>
      <p:sp>
        <p:nvSpPr>
          <p:cNvPr id="64" name="TextBox 63"/>
          <p:cNvSpPr txBox="1"/>
          <p:nvPr/>
        </p:nvSpPr>
        <p:spPr>
          <a:xfrm>
            <a:off x="8412480" y="4791456"/>
            <a:ext cx="3337560" cy="347472"/>
          </a:xfrm>
          <a:prstGeom prst="rect">
            <a:avLst/>
          </a:prstGeom>
          <a:noFill/>
        </p:spPr>
        <p:txBody>
          <a:bodyPr wrap="square">
            <a:spAutoFit/>
          </a:bodyPr>
          <a:lstStyle/>
          <a:p>
            <a:pPr algn="l"/>
            <a:r>
              <a:rPr sz="1100" b="0" i="0">
                <a:solidFill>
                  <a:srgbClr val="F0F0F0"/>
                </a:solidFill>
              </a:rPr>
              <a:t>· Advertising: .0M</a:t>
            </a:r>
          </a:p>
        </p:txBody>
      </p:sp>
      <p:sp>
        <p:nvSpPr>
          <p:cNvPr id="65" name="TextBox 64"/>
          <p:cNvSpPr txBox="1"/>
          <p:nvPr/>
        </p:nvSpPr>
        <p:spPr>
          <a:xfrm>
            <a:off x="8412480" y="5175504"/>
            <a:ext cx="3337560" cy="347472"/>
          </a:xfrm>
          <a:prstGeom prst="rect">
            <a:avLst/>
          </a:prstGeom>
          <a:noFill/>
        </p:spPr>
        <p:txBody>
          <a:bodyPr wrap="square">
            <a:spAutoFit/>
          </a:bodyPr>
          <a:lstStyle/>
          <a:p>
            <a:pPr algn="l"/>
            <a:r>
              <a:rPr sz="1100" b="0" i="0">
                <a:solidFill>
                  <a:srgbClr val="F0F0F0"/>
                </a:solidFill>
              </a:rPr>
              <a:t>· EBITDA margin: 72%+</a:t>
            </a:r>
          </a:p>
        </p:txBody>
      </p:sp>
      <p:sp>
        <p:nvSpPr>
          <p:cNvPr id="66" name="TextBox 65"/>
          <p:cNvSpPr txBox="1"/>
          <p:nvPr/>
        </p:nvSpPr>
        <p:spPr>
          <a:xfrm>
            <a:off x="8412480" y="5559552"/>
            <a:ext cx="3337560" cy="347472"/>
          </a:xfrm>
          <a:prstGeom prst="rect">
            <a:avLst/>
          </a:prstGeom>
          <a:noFill/>
        </p:spPr>
        <p:txBody>
          <a:bodyPr wrap="square">
            <a:spAutoFit/>
          </a:bodyPr>
          <a:lstStyle/>
          <a:p>
            <a:pPr algn="l"/>
            <a:r>
              <a:rPr sz="1100" b="0" i="0">
                <a:solidFill>
                  <a:srgbClr val="F0F0F0"/>
                </a:solidFill>
              </a:rPr>
              <a:t>· Series B / strategic acquisition potential</a:t>
            </a:r>
          </a:p>
        </p:txBody>
      </p:sp>
      <p:sp>
        <p:nvSpPr>
          <p:cNvPr id="67" name="TextBox 66"/>
          <p:cNvSpPr txBox="1"/>
          <p:nvPr/>
        </p:nvSpPr>
        <p:spPr>
          <a:xfrm>
            <a:off x="8412480" y="5943600"/>
            <a:ext cx="3337560" cy="347472"/>
          </a:xfrm>
          <a:prstGeom prst="rect">
            <a:avLst/>
          </a:prstGeom>
          <a:noFill/>
        </p:spPr>
        <p:txBody>
          <a:bodyPr wrap="square">
            <a:spAutoFit/>
          </a:bodyPr>
          <a:lstStyle/>
          <a:p>
            <a:pPr algn="l"/>
            <a:r>
              <a:rPr sz="1100" b="0" i="0">
                <a:solidFill>
                  <a:srgbClr val="F0F0F0"/>
                </a:solidFill>
              </a:rPr>
              <a:t>· IPO or exit evaluation at 5M MAU milestone</a:t>
            </a:r>
          </a:p>
        </p:txBody>
      </p:sp>
      <p:pic>
        <p:nvPicPr>
          <p:cNvPr id="68" name="Picture 67"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1228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71600"/>
            <a:ext cx="10515600" cy="1828800"/>
          </a:xfrm>
          <a:prstGeom prst="rect">
            <a:avLst/>
          </a:prstGeom>
          <a:noFill/>
        </p:spPr>
        <p:txBody>
          <a:bodyPr wrap="square">
            <a:spAutoFit/>
          </a:bodyPr>
          <a:lstStyle/>
          <a:p>
            <a:pPr algn="ctr"/>
            <a:r>
              <a:rPr sz="4000" b="1" i="0">
                <a:solidFill>
                  <a:srgbClr val="F5C842"/>
                </a:solidFill>
              </a:rPr>
              <a:t>Let's Build the Future
of Creator Culture Together.</a:t>
            </a:r>
          </a:p>
        </p:txBody>
      </p:sp>
      <p:sp>
        <p:nvSpPr>
          <p:cNvPr id="6" name="Rectangle 5"/>
          <p:cNvSpPr/>
          <p:nvPr/>
        </p:nvSpPr>
        <p:spPr>
          <a:xfrm>
            <a:off x="640080" y="3383280"/>
            <a:ext cx="10881360" cy="27432"/>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3611880"/>
            <a:ext cx="10515600" cy="685800"/>
          </a:xfrm>
          <a:prstGeom prst="rect">
            <a:avLst/>
          </a:prstGeom>
          <a:noFill/>
        </p:spPr>
        <p:txBody>
          <a:bodyPr wrap="square">
            <a:spAutoFit/>
          </a:bodyPr>
          <a:lstStyle/>
          <a:p>
            <a:pPr algn="ctr"/>
            <a:r>
              <a:rPr sz="1800" b="1" i="0">
                <a:solidFill>
                  <a:srgbClr val="FFFFFF"/>
                </a:solidFill>
              </a:rPr>
              <a:t>Dhananjaya (Jay) Gunaratne
Founder &amp; CEO, LDNA Consulting LLC</a:t>
            </a:r>
          </a:p>
        </p:txBody>
      </p:sp>
      <p:sp>
        <p:nvSpPr>
          <p:cNvPr id="8" name="TextBox 7"/>
          <p:cNvSpPr txBox="1"/>
          <p:nvPr/>
        </p:nvSpPr>
        <p:spPr>
          <a:xfrm>
            <a:off x="731520" y="4343400"/>
            <a:ext cx="10515600" cy="411480"/>
          </a:xfrm>
          <a:prstGeom prst="rect">
            <a:avLst/>
          </a:prstGeom>
          <a:noFill/>
        </p:spPr>
        <p:txBody>
          <a:bodyPr wrap="square">
            <a:spAutoFit/>
          </a:bodyPr>
          <a:lstStyle/>
          <a:p>
            <a:pPr algn="ctr"/>
            <a:r>
              <a:rPr sz="1600" b="0" i="0">
                <a:solidFill>
                  <a:srgbClr val="CCCCCC"/>
                </a:solidFill>
              </a:rPr>
              <a:t>jaygnz27@gmail.com  ·  908-255-2195  ·  sachistream.com</a:t>
            </a:r>
          </a:p>
        </p:txBody>
      </p:sp>
      <p:sp>
        <p:nvSpPr>
          <p:cNvPr id="9" name="TextBox 8"/>
          <p:cNvSpPr txBox="1"/>
          <p:nvPr/>
        </p:nvSpPr>
        <p:spPr>
          <a:xfrm>
            <a:off x="731520" y="4754880"/>
            <a:ext cx="10515600" cy="365760"/>
          </a:xfrm>
          <a:prstGeom prst="rect">
            <a:avLst/>
          </a:prstGeom>
          <a:noFill/>
        </p:spPr>
        <p:txBody>
          <a:bodyPr wrap="square">
            <a:spAutoFit/>
          </a:bodyPr>
          <a:lstStyle/>
          <a:p>
            <a:pPr algn="ctr"/>
            <a:r>
              <a:rPr sz="1300" b="0" i="1">
                <a:solidFill>
                  <a:srgbClr val="CCCCCC"/>
                </a:solidFill>
              </a:rPr>
              <a:t>New Providence, NJ 07974  ·  LDNA Consulting LLC</a:t>
            </a:r>
          </a:p>
        </p:txBody>
      </p:sp>
      <p:sp>
        <p:nvSpPr>
          <p:cNvPr id="10" name="Rectangle 9"/>
          <p:cNvSpPr/>
          <p:nvPr/>
        </p:nvSpPr>
        <p:spPr>
          <a:xfrm>
            <a:off x="640080" y="5303520"/>
            <a:ext cx="10881360" cy="27432"/>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5486400"/>
            <a:ext cx="10515600" cy="685800"/>
          </a:xfrm>
          <a:prstGeom prst="rect">
            <a:avLst/>
          </a:prstGeom>
          <a:noFill/>
        </p:spPr>
        <p:txBody>
          <a:bodyPr wrap="square">
            <a:spAutoFit/>
          </a:bodyPr>
          <a:lstStyle/>
          <a:p>
            <a:pPr algn="ctr"/>
            <a:r>
              <a:rPr sz="1500" b="0" i="1">
                <a:solidFill>
                  <a:srgbClr val="F5C842"/>
                </a:solidFill>
              </a:rPr>
              <a:t>"Sachi — happiness, good fortune, and bliss.
We're building the platform where creators thrive."</a:t>
            </a:r>
          </a:p>
        </p:txBody>
      </p:sp>
      <p:pic>
        <p:nvPicPr>
          <p:cNvPr id="12" name="Picture 11" descr="sachi_logo_transparent.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B0C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812280"/>
            <a:ext cx="12188952" cy="45720"/>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309360"/>
            <a:ext cx="12188952" cy="64008"/>
          </a:xfrm>
          <a:prstGeom prst="rect">
            <a:avLst/>
          </a:prstGeom>
          <a:solidFill>
            <a:srgbClr val="F5C8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109728" cy="4572000"/>
          </a:xfrm>
          <a:prstGeom prst="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28600"/>
            <a:ext cx="10515600" cy="640080"/>
          </a:xfrm>
          <a:prstGeom prst="rect">
            <a:avLst/>
          </a:prstGeom>
          <a:noFill/>
        </p:spPr>
        <p:txBody>
          <a:bodyPr wrap="square">
            <a:spAutoFit/>
          </a:bodyPr>
          <a:lstStyle/>
          <a:p>
            <a:pPr algn="l"/>
            <a:r>
              <a:rPr sz="3600" b="1" i="0">
                <a:solidFill>
                  <a:srgbClr val="F5C842"/>
                </a:solidFill>
              </a:rPr>
              <a:t>Why Colombo, Sri Lanka?</a:t>
            </a:r>
          </a:p>
        </p:txBody>
      </p:sp>
      <p:sp>
        <p:nvSpPr>
          <p:cNvPr id="8" name="Rectangle 7"/>
          <p:cNvSpPr/>
          <p:nvPr/>
        </p:nvSpPr>
        <p:spPr>
          <a:xfrm>
            <a:off x="640080" y="987552"/>
            <a:ext cx="10881360" cy="27432"/>
          </a:xfrm>
          <a:prstGeom prst="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078992"/>
            <a:ext cx="10515600" cy="384048"/>
          </a:xfrm>
          <a:prstGeom prst="rect">
            <a:avLst/>
          </a:prstGeom>
          <a:noFill/>
        </p:spPr>
        <p:txBody>
          <a:bodyPr wrap="square">
            <a:spAutoFit/>
          </a:bodyPr>
          <a:lstStyle/>
          <a:p>
            <a:pPr algn="l"/>
            <a:r>
              <a:rPr sz="1400" b="0" i="1">
                <a:solidFill>
                  <a:srgbClr val="CCCCCC"/>
                </a:solidFill>
              </a:rPr>
              <a:t>A strategic, cost-efficient headquarters for Sachi Stream's global engineering operations.</a:t>
            </a:r>
          </a:p>
        </p:txBody>
      </p:sp>
      <p:sp>
        <p:nvSpPr>
          <p:cNvPr id="10" name="Rounded Rectangle 9"/>
          <p:cNvSpPr/>
          <p:nvPr/>
        </p:nvSpPr>
        <p:spPr>
          <a:xfrm>
            <a:off x="640080" y="1600200"/>
            <a:ext cx="2377440" cy="3840480"/>
          </a:xfrm>
          <a:prstGeom prst="roundRect">
            <a:avLst/>
          </a:prstGeom>
          <a:solidFill>
            <a:srgbClr val="1A3A2A"/>
          </a:solidFill>
          <a:ln w="19050">
            <a:solidFill>
              <a:srgbClr val="00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645920"/>
            <a:ext cx="2286000" cy="548640"/>
          </a:xfrm>
          <a:prstGeom prst="rect">
            <a:avLst/>
          </a:prstGeom>
          <a:noFill/>
        </p:spPr>
        <p:txBody>
          <a:bodyPr wrap="square">
            <a:spAutoFit/>
          </a:bodyPr>
          <a:lstStyle/>
          <a:p>
            <a:pPr algn="ctr"/>
            <a:r>
              <a:rPr sz="3200" b="0" i="0">
                <a:solidFill>
                  <a:srgbClr val="FFFFFF"/>
                </a:solidFill>
              </a:rPr>
              <a:t>🌏</a:t>
            </a:r>
          </a:p>
        </p:txBody>
      </p:sp>
      <p:sp>
        <p:nvSpPr>
          <p:cNvPr id="12" name="TextBox 11"/>
          <p:cNvSpPr txBox="1"/>
          <p:nvPr/>
        </p:nvSpPr>
        <p:spPr>
          <a:xfrm>
            <a:off x="685800" y="2286000"/>
            <a:ext cx="2286000" cy="365760"/>
          </a:xfrm>
          <a:prstGeom prst="rect">
            <a:avLst/>
          </a:prstGeom>
          <a:noFill/>
        </p:spPr>
        <p:txBody>
          <a:bodyPr wrap="square">
            <a:spAutoFit/>
          </a:bodyPr>
          <a:lstStyle/>
          <a:p>
            <a:pPr algn="ctr"/>
            <a:r>
              <a:rPr sz="1400" b="1" i="0">
                <a:solidFill>
                  <a:srgbClr val="00D4C8"/>
                </a:solidFill>
              </a:rPr>
              <a:t>SRI LANKA</a:t>
            </a:r>
          </a:p>
        </p:txBody>
      </p:sp>
      <p:sp>
        <p:nvSpPr>
          <p:cNvPr id="13" name="TextBox 12"/>
          <p:cNvSpPr txBox="1"/>
          <p:nvPr/>
        </p:nvSpPr>
        <p:spPr>
          <a:xfrm>
            <a:off x="685800" y="2697480"/>
            <a:ext cx="2286000" cy="320040"/>
          </a:xfrm>
          <a:prstGeom prst="rect">
            <a:avLst/>
          </a:prstGeom>
          <a:noFill/>
        </p:spPr>
        <p:txBody>
          <a:bodyPr wrap="square">
            <a:spAutoFit/>
          </a:bodyPr>
          <a:lstStyle/>
          <a:p>
            <a:pPr algn="ctr"/>
            <a:r>
              <a:rPr sz="1200" b="1" i="0">
                <a:solidFill>
                  <a:srgbClr val="F5C842"/>
                </a:solidFill>
              </a:rPr>
              <a:t>COLOMBO</a:t>
            </a:r>
          </a:p>
        </p:txBody>
      </p:sp>
      <p:sp>
        <p:nvSpPr>
          <p:cNvPr id="14" name="Oval 13"/>
          <p:cNvSpPr/>
          <p:nvPr/>
        </p:nvSpPr>
        <p:spPr>
          <a:xfrm>
            <a:off x="1600200" y="3090672"/>
            <a:ext cx="201168" cy="201168"/>
          </a:xfrm>
          <a:prstGeom prst="ellipse">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83280"/>
            <a:ext cx="2286000" cy="457200"/>
          </a:xfrm>
          <a:prstGeom prst="rect">
            <a:avLst/>
          </a:prstGeom>
          <a:noFill/>
        </p:spPr>
        <p:txBody>
          <a:bodyPr wrap="square">
            <a:spAutoFit/>
          </a:bodyPr>
          <a:lstStyle/>
          <a:p>
            <a:pPr algn="ctr"/>
            <a:r>
              <a:rPr sz="1000" b="0" i="1">
                <a:solidFill>
                  <a:srgbClr val="CCCCCC"/>
                </a:solidFill>
              </a:rPr>
              <a:t>South Asia
Indian Ocean</a:t>
            </a:r>
          </a:p>
        </p:txBody>
      </p:sp>
      <p:sp>
        <p:nvSpPr>
          <p:cNvPr id="16" name="TextBox 15"/>
          <p:cNvSpPr txBox="1"/>
          <p:nvPr/>
        </p:nvSpPr>
        <p:spPr>
          <a:xfrm>
            <a:off x="713232" y="3977639"/>
            <a:ext cx="2286000" cy="292608"/>
          </a:xfrm>
          <a:prstGeom prst="rect">
            <a:avLst/>
          </a:prstGeom>
          <a:noFill/>
        </p:spPr>
        <p:txBody>
          <a:bodyPr wrap="square">
            <a:spAutoFit/>
          </a:bodyPr>
          <a:lstStyle/>
          <a:p>
            <a:pPr algn="ctr"/>
            <a:r>
              <a:rPr sz="1500" b="1" i="0">
                <a:solidFill>
                  <a:srgbClr val="F5C842"/>
                </a:solidFill>
              </a:rPr>
              <a:t>15,000+</a:t>
            </a:r>
          </a:p>
        </p:txBody>
      </p:sp>
      <p:sp>
        <p:nvSpPr>
          <p:cNvPr id="17" name="TextBox 16"/>
          <p:cNvSpPr txBox="1"/>
          <p:nvPr/>
        </p:nvSpPr>
        <p:spPr>
          <a:xfrm>
            <a:off x="713232" y="4251960"/>
            <a:ext cx="2286000" cy="256032"/>
          </a:xfrm>
          <a:prstGeom prst="rect">
            <a:avLst/>
          </a:prstGeom>
          <a:noFill/>
        </p:spPr>
        <p:txBody>
          <a:bodyPr wrap="square">
            <a:spAutoFit/>
          </a:bodyPr>
          <a:lstStyle/>
          <a:p>
            <a:pPr algn="ctr"/>
            <a:r>
              <a:rPr sz="1000" b="0" i="0">
                <a:solidFill>
                  <a:srgbClr val="CCCCCC"/>
                </a:solidFill>
              </a:rPr>
              <a:t>Software Engineers</a:t>
            </a:r>
          </a:p>
        </p:txBody>
      </p:sp>
      <p:sp>
        <p:nvSpPr>
          <p:cNvPr id="18" name="TextBox 17"/>
          <p:cNvSpPr txBox="1"/>
          <p:nvPr/>
        </p:nvSpPr>
        <p:spPr>
          <a:xfrm>
            <a:off x="713232" y="4416552"/>
            <a:ext cx="2286000" cy="292608"/>
          </a:xfrm>
          <a:prstGeom prst="rect">
            <a:avLst/>
          </a:prstGeom>
          <a:noFill/>
        </p:spPr>
        <p:txBody>
          <a:bodyPr wrap="square">
            <a:spAutoFit/>
          </a:bodyPr>
          <a:lstStyle/>
          <a:p>
            <a:pPr algn="ctr"/>
            <a:r>
              <a:rPr sz="1500" b="1" i="0">
                <a:solidFill>
                  <a:srgbClr val="F5C842"/>
                </a:solidFill>
              </a:rPr>
              <a:t>~8K</a:t>
            </a:r>
          </a:p>
        </p:txBody>
      </p:sp>
      <p:sp>
        <p:nvSpPr>
          <p:cNvPr id="19" name="TextBox 18"/>
          <p:cNvSpPr txBox="1"/>
          <p:nvPr/>
        </p:nvSpPr>
        <p:spPr>
          <a:xfrm>
            <a:off x="713232" y="4690872"/>
            <a:ext cx="2286000" cy="256032"/>
          </a:xfrm>
          <a:prstGeom prst="rect">
            <a:avLst/>
          </a:prstGeom>
          <a:noFill/>
        </p:spPr>
        <p:txBody>
          <a:bodyPr wrap="square">
            <a:spAutoFit/>
          </a:bodyPr>
          <a:lstStyle/>
          <a:p>
            <a:pPr algn="ctr"/>
            <a:r>
              <a:rPr sz="1000" b="0" i="0">
                <a:solidFill>
                  <a:srgbClr val="CCCCCC"/>
                </a:solidFill>
              </a:rPr>
              <a:t>Avg Dev Salary/yr</a:t>
            </a:r>
          </a:p>
        </p:txBody>
      </p:sp>
      <p:sp>
        <p:nvSpPr>
          <p:cNvPr id="20" name="TextBox 19"/>
          <p:cNvSpPr txBox="1"/>
          <p:nvPr/>
        </p:nvSpPr>
        <p:spPr>
          <a:xfrm>
            <a:off x="713232" y="4855464"/>
            <a:ext cx="2286000" cy="292608"/>
          </a:xfrm>
          <a:prstGeom prst="rect">
            <a:avLst/>
          </a:prstGeom>
          <a:noFill/>
        </p:spPr>
        <p:txBody>
          <a:bodyPr wrap="square">
            <a:spAutoFit/>
          </a:bodyPr>
          <a:lstStyle/>
          <a:p>
            <a:pPr algn="ctr"/>
            <a:r>
              <a:rPr sz="1500" b="1" i="0">
                <a:solidFill>
                  <a:srgbClr val="F5C842"/>
                </a:solidFill>
              </a:rPr>
              <a:t>80%</a:t>
            </a:r>
          </a:p>
        </p:txBody>
      </p:sp>
      <p:sp>
        <p:nvSpPr>
          <p:cNvPr id="21" name="TextBox 20"/>
          <p:cNvSpPr txBox="1"/>
          <p:nvPr/>
        </p:nvSpPr>
        <p:spPr>
          <a:xfrm>
            <a:off x="713232" y="5129784"/>
            <a:ext cx="2286000" cy="256032"/>
          </a:xfrm>
          <a:prstGeom prst="rect">
            <a:avLst/>
          </a:prstGeom>
          <a:noFill/>
        </p:spPr>
        <p:txBody>
          <a:bodyPr wrap="square">
            <a:spAutoFit/>
          </a:bodyPr>
          <a:lstStyle/>
          <a:p>
            <a:pPr algn="ctr"/>
            <a:r>
              <a:rPr sz="1000" b="0" i="0">
                <a:solidFill>
                  <a:srgbClr val="CCCCCC"/>
                </a:solidFill>
              </a:rPr>
              <a:t>Cost vs. U.S.</a:t>
            </a:r>
          </a:p>
        </p:txBody>
      </p:sp>
      <p:sp>
        <p:nvSpPr>
          <p:cNvPr id="22" name="TextBox 21"/>
          <p:cNvSpPr txBox="1"/>
          <p:nvPr/>
        </p:nvSpPr>
        <p:spPr>
          <a:xfrm>
            <a:off x="3246120" y="1188720"/>
            <a:ext cx="3931920" cy="347472"/>
          </a:xfrm>
          <a:prstGeom prst="rect">
            <a:avLst/>
          </a:prstGeom>
          <a:noFill/>
        </p:spPr>
        <p:txBody>
          <a:bodyPr wrap="square">
            <a:spAutoFit/>
          </a:bodyPr>
          <a:lstStyle/>
          <a:p>
            <a:pPr algn="l"/>
            <a:r>
              <a:rPr sz="1300" b="1" i="0">
                <a:solidFill>
                  <a:srgbClr val="00D4C8"/>
                </a:solidFill>
              </a:rPr>
              <a:t>🏆  WHY SRI LANKA</a:t>
            </a:r>
          </a:p>
        </p:txBody>
      </p:sp>
      <p:sp>
        <p:nvSpPr>
          <p:cNvPr id="23" name="Rectangle 22"/>
          <p:cNvSpPr/>
          <p:nvPr/>
        </p:nvSpPr>
        <p:spPr>
          <a:xfrm>
            <a:off x="3246120" y="1572768"/>
            <a:ext cx="3931920" cy="22860"/>
          </a:xfrm>
          <a:prstGeom prst="rect">
            <a:avLst/>
          </a:prstGeom>
          <a:solidFill>
            <a:srgbClr val="00D4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46120" y="1719072"/>
            <a:ext cx="3931920" cy="274320"/>
          </a:xfrm>
          <a:prstGeom prst="rect">
            <a:avLst/>
          </a:prstGeom>
          <a:noFill/>
        </p:spPr>
        <p:txBody>
          <a:bodyPr wrap="square">
            <a:spAutoFit/>
          </a:bodyPr>
          <a:lstStyle/>
          <a:p>
            <a:pPr algn="l"/>
            <a:r>
              <a:rPr sz="1200" b="1" i="0">
                <a:solidFill>
                  <a:srgbClr val="F5C842"/>
                </a:solidFill>
              </a:rPr>
              <a:t>💰  80% Lower Cost</a:t>
            </a:r>
          </a:p>
        </p:txBody>
      </p:sp>
      <p:sp>
        <p:nvSpPr>
          <p:cNvPr id="25" name="TextBox 24"/>
          <p:cNvSpPr txBox="1"/>
          <p:nvPr/>
        </p:nvSpPr>
        <p:spPr>
          <a:xfrm>
            <a:off x="3246120" y="1993392"/>
            <a:ext cx="3931920" cy="438912"/>
          </a:xfrm>
          <a:prstGeom prst="rect">
            <a:avLst/>
          </a:prstGeom>
          <a:noFill/>
        </p:spPr>
        <p:txBody>
          <a:bodyPr wrap="square">
            <a:spAutoFit/>
          </a:bodyPr>
          <a:lstStyle/>
          <a:p>
            <a:pPr algn="l"/>
            <a:r>
              <a:rPr sz="1050" b="0" i="0">
                <a:solidFill>
                  <a:srgbClr val="F0F0F0"/>
                </a:solidFill>
              </a:rPr>
              <a:t>Developer salaries avg 5K–5K/yr
vs. 20K–80K in the U.S. — same output</a:t>
            </a:r>
          </a:p>
        </p:txBody>
      </p:sp>
      <p:sp>
        <p:nvSpPr>
          <p:cNvPr id="26" name="TextBox 25"/>
          <p:cNvSpPr txBox="1"/>
          <p:nvPr/>
        </p:nvSpPr>
        <p:spPr>
          <a:xfrm>
            <a:off x="3246120" y="2468879"/>
            <a:ext cx="3931920" cy="274320"/>
          </a:xfrm>
          <a:prstGeom prst="rect">
            <a:avLst/>
          </a:prstGeom>
          <a:noFill/>
        </p:spPr>
        <p:txBody>
          <a:bodyPr wrap="square">
            <a:spAutoFit/>
          </a:bodyPr>
          <a:lstStyle/>
          <a:p>
            <a:pPr algn="l"/>
            <a:r>
              <a:rPr sz="1200" b="1" i="0">
                <a:solidFill>
                  <a:srgbClr val="F5C842"/>
                </a:solidFill>
              </a:rPr>
              <a:t>🎓  High-Quality Talent</a:t>
            </a:r>
          </a:p>
        </p:txBody>
      </p:sp>
      <p:sp>
        <p:nvSpPr>
          <p:cNvPr id="27" name="TextBox 26"/>
          <p:cNvSpPr txBox="1"/>
          <p:nvPr/>
        </p:nvSpPr>
        <p:spPr>
          <a:xfrm>
            <a:off x="3246120" y="2743199"/>
            <a:ext cx="3931920" cy="438912"/>
          </a:xfrm>
          <a:prstGeom prst="rect">
            <a:avLst/>
          </a:prstGeom>
          <a:noFill/>
        </p:spPr>
        <p:txBody>
          <a:bodyPr wrap="square">
            <a:spAutoFit/>
          </a:bodyPr>
          <a:lstStyle/>
          <a:p>
            <a:pPr algn="l"/>
            <a:r>
              <a:rPr sz="1050" b="0" i="0">
                <a:solidFill>
                  <a:srgbClr val="F0F0F0"/>
                </a:solidFill>
              </a:rPr>
              <a:t>15,000+ software engineers in Colombo
Strong university pipeline: University of Moratuwa
ranked #1 engineering school in South Asia</a:t>
            </a:r>
          </a:p>
        </p:txBody>
      </p:sp>
      <p:sp>
        <p:nvSpPr>
          <p:cNvPr id="28" name="TextBox 27"/>
          <p:cNvSpPr txBox="1"/>
          <p:nvPr/>
        </p:nvSpPr>
        <p:spPr>
          <a:xfrm>
            <a:off x="3246120" y="3218687"/>
            <a:ext cx="3931920" cy="274320"/>
          </a:xfrm>
          <a:prstGeom prst="rect">
            <a:avLst/>
          </a:prstGeom>
          <a:noFill/>
        </p:spPr>
        <p:txBody>
          <a:bodyPr wrap="square">
            <a:spAutoFit/>
          </a:bodyPr>
          <a:lstStyle/>
          <a:p>
            <a:pPr algn="l"/>
            <a:r>
              <a:rPr sz="1200" b="1" i="0">
                <a:solidFill>
                  <a:srgbClr val="F5C842"/>
                </a:solidFill>
              </a:rPr>
              <a:t>🌐  English Proficiency</a:t>
            </a:r>
          </a:p>
        </p:txBody>
      </p:sp>
      <p:sp>
        <p:nvSpPr>
          <p:cNvPr id="29" name="TextBox 28"/>
          <p:cNvSpPr txBox="1"/>
          <p:nvPr/>
        </p:nvSpPr>
        <p:spPr>
          <a:xfrm>
            <a:off x="3246120" y="3493007"/>
            <a:ext cx="3931920" cy="438912"/>
          </a:xfrm>
          <a:prstGeom prst="rect">
            <a:avLst/>
          </a:prstGeom>
          <a:noFill/>
        </p:spPr>
        <p:txBody>
          <a:bodyPr wrap="square">
            <a:spAutoFit/>
          </a:bodyPr>
          <a:lstStyle/>
          <a:p>
            <a:pPr algn="l"/>
            <a:r>
              <a:rPr sz="1050" b="0" i="0">
                <a:solidFill>
                  <a:srgbClr val="F0F0F0"/>
                </a:solidFill>
              </a:rPr>
              <a:t>Sri Lanka ranks among top English-speaking
nations in South Asia — seamless communication
with U.S. headquarters and investors</a:t>
            </a:r>
          </a:p>
        </p:txBody>
      </p:sp>
      <p:sp>
        <p:nvSpPr>
          <p:cNvPr id="30" name="TextBox 29"/>
          <p:cNvSpPr txBox="1"/>
          <p:nvPr/>
        </p:nvSpPr>
        <p:spPr>
          <a:xfrm>
            <a:off x="3246120" y="3968496"/>
            <a:ext cx="3931920" cy="274320"/>
          </a:xfrm>
          <a:prstGeom prst="rect">
            <a:avLst/>
          </a:prstGeom>
          <a:noFill/>
        </p:spPr>
        <p:txBody>
          <a:bodyPr wrap="square">
            <a:spAutoFit/>
          </a:bodyPr>
          <a:lstStyle/>
          <a:p>
            <a:pPr algn="l"/>
            <a:r>
              <a:rPr sz="1200" b="1" i="0">
                <a:solidFill>
                  <a:srgbClr val="F5C842"/>
                </a:solidFill>
              </a:rPr>
              <a:t>⏰  Time Zone Advantage</a:t>
            </a:r>
          </a:p>
        </p:txBody>
      </p:sp>
      <p:sp>
        <p:nvSpPr>
          <p:cNvPr id="31" name="TextBox 30"/>
          <p:cNvSpPr txBox="1"/>
          <p:nvPr/>
        </p:nvSpPr>
        <p:spPr>
          <a:xfrm>
            <a:off x="3246120" y="4242816"/>
            <a:ext cx="3931920" cy="438912"/>
          </a:xfrm>
          <a:prstGeom prst="rect">
            <a:avLst/>
          </a:prstGeom>
          <a:noFill/>
        </p:spPr>
        <p:txBody>
          <a:bodyPr wrap="square">
            <a:spAutoFit/>
          </a:bodyPr>
          <a:lstStyle/>
          <a:p>
            <a:pPr algn="l"/>
            <a:r>
              <a:rPr sz="1050" b="0" i="0">
                <a:solidFill>
                  <a:srgbClr val="F0F0F0"/>
                </a:solidFill>
              </a:rPr>
              <a:t>UTC+5:30 — overlaps with U.S. East Coast
mornings, enabling real-time collaboration
during key business hours</a:t>
            </a:r>
          </a:p>
        </p:txBody>
      </p:sp>
      <p:sp>
        <p:nvSpPr>
          <p:cNvPr id="32" name="TextBox 31"/>
          <p:cNvSpPr txBox="1"/>
          <p:nvPr/>
        </p:nvSpPr>
        <p:spPr>
          <a:xfrm>
            <a:off x="3246120" y="4718304"/>
            <a:ext cx="3931920" cy="274320"/>
          </a:xfrm>
          <a:prstGeom prst="rect">
            <a:avLst/>
          </a:prstGeom>
          <a:noFill/>
        </p:spPr>
        <p:txBody>
          <a:bodyPr wrap="square">
            <a:spAutoFit/>
          </a:bodyPr>
          <a:lstStyle/>
          <a:p>
            <a:pPr algn="l"/>
            <a:r>
              <a:rPr sz="1200" b="1" i="0">
                <a:solidFill>
                  <a:srgbClr val="F5C842"/>
                </a:solidFill>
              </a:rPr>
              <a:t>📈  Emerging Tech Hub</a:t>
            </a:r>
          </a:p>
        </p:txBody>
      </p:sp>
      <p:sp>
        <p:nvSpPr>
          <p:cNvPr id="33" name="TextBox 32"/>
          <p:cNvSpPr txBox="1"/>
          <p:nvPr/>
        </p:nvSpPr>
        <p:spPr>
          <a:xfrm>
            <a:off x="3246120" y="4992624"/>
            <a:ext cx="3931920" cy="438912"/>
          </a:xfrm>
          <a:prstGeom prst="rect">
            <a:avLst/>
          </a:prstGeom>
          <a:noFill/>
        </p:spPr>
        <p:txBody>
          <a:bodyPr wrap="square">
            <a:spAutoFit/>
          </a:bodyPr>
          <a:lstStyle/>
          <a:p>
            <a:pPr algn="l"/>
            <a:r>
              <a:rPr sz="1050" b="0" i="0">
                <a:solidFill>
                  <a:srgbClr val="F0F0F0"/>
                </a:solidFill>
              </a:rPr>
              <a:t>Colombo named South Asia's next tech hub
423+ active startups, growing IT export sector
Government incentives for tech companies</a:t>
            </a:r>
          </a:p>
        </p:txBody>
      </p:sp>
      <p:sp>
        <p:nvSpPr>
          <p:cNvPr id="34" name="TextBox 33"/>
          <p:cNvSpPr txBox="1"/>
          <p:nvPr/>
        </p:nvSpPr>
        <p:spPr>
          <a:xfrm>
            <a:off x="3246120" y="5468112"/>
            <a:ext cx="3931920" cy="274320"/>
          </a:xfrm>
          <a:prstGeom prst="rect">
            <a:avLst/>
          </a:prstGeom>
          <a:noFill/>
        </p:spPr>
        <p:txBody>
          <a:bodyPr wrap="square">
            <a:spAutoFit/>
          </a:bodyPr>
          <a:lstStyle/>
          <a:p>
            <a:pPr algn="l"/>
            <a:r>
              <a:rPr sz="1200" b="1" i="0">
                <a:solidFill>
                  <a:srgbClr val="F5C842"/>
                </a:solidFill>
              </a:rPr>
              <a:t>✈️  Strategic Location</a:t>
            </a:r>
          </a:p>
        </p:txBody>
      </p:sp>
      <p:sp>
        <p:nvSpPr>
          <p:cNvPr id="35" name="TextBox 34"/>
          <p:cNvSpPr txBox="1"/>
          <p:nvPr/>
        </p:nvSpPr>
        <p:spPr>
          <a:xfrm>
            <a:off x="3246120" y="5742432"/>
            <a:ext cx="3931920" cy="438912"/>
          </a:xfrm>
          <a:prstGeom prst="rect">
            <a:avLst/>
          </a:prstGeom>
          <a:noFill/>
        </p:spPr>
        <p:txBody>
          <a:bodyPr wrap="square">
            <a:spAutoFit/>
          </a:bodyPr>
          <a:lstStyle/>
          <a:p>
            <a:pPr algn="l"/>
            <a:r>
              <a:rPr sz="1050" b="0" i="0">
                <a:solidFill>
                  <a:srgbClr val="F0F0F0"/>
                </a:solidFill>
              </a:rPr>
              <a:t>Gateway between South Asia, Southeast Asia
and the Middle East — perfect for regional
expansion in Sachi's growth markets</a:t>
            </a:r>
          </a:p>
        </p:txBody>
      </p:sp>
      <p:sp>
        <p:nvSpPr>
          <p:cNvPr id="36" name="TextBox 35"/>
          <p:cNvSpPr txBox="1"/>
          <p:nvPr/>
        </p:nvSpPr>
        <p:spPr>
          <a:xfrm>
            <a:off x="7360920" y="1188720"/>
            <a:ext cx="4480560" cy="347472"/>
          </a:xfrm>
          <a:prstGeom prst="rect">
            <a:avLst/>
          </a:prstGeom>
          <a:noFill/>
        </p:spPr>
        <p:txBody>
          <a:bodyPr wrap="square">
            <a:spAutoFit/>
          </a:bodyPr>
          <a:lstStyle/>
          <a:p>
            <a:pPr algn="l"/>
            <a:r>
              <a:rPr sz="1300" b="1" i="0">
                <a:solidFill>
                  <a:srgbClr val="FF6B6B"/>
                </a:solidFill>
              </a:rPr>
              <a:t>🏢  OFFICE LOCATIONS</a:t>
            </a:r>
          </a:p>
        </p:txBody>
      </p:sp>
      <p:sp>
        <p:nvSpPr>
          <p:cNvPr id="37" name="Rectangle 36"/>
          <p:cNvSpPr/>
          <p:nvPr/>
        </p:nvSpPr>
        <p:spPr>
          <a:xfrm>
            <a:off x="7360920" y="1572768"/>
            <a:ext cx="4480560" cy="22860"/>
          </a:xfrm>
          <a:prstGeom prst="rect">
            <a:avLst/>
          </a:prstGeom>
          <a:solidFill>
            <a:srgbClr val="FF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360920" y="1719072"/>
            <a:ext cx="4480560" cy="1024128"/>
          </a:xfrm>
          <a:prstGeom prst="rect">
            <a:avLst/>
          </a:prstGeom>
          <a:solidFill>
            <a:srgbClr val="161830"/>
          </a:solidFill>
          <a:ln w="1524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79792" y="1783080"/>
            <a:ext cx="4206240" cy="274320"/>
          </a:xfrm>
          <a:prstGeom prst="rect">
            <a:avLst/>
          </a:prstGeom>
          <a:noFill/>
        </p:spPr>
        <p:txBody>
          <a:bodyPr wrap="square">
            <a:spAutoFit/>
          </a:bodyPr>
          <a:lstStyle/>
          <a:p>
            <a:pPr algn="l"/>
            <a:r>
              <a:rPr sz="1200" b="1" i="0">
                <a:solidFill>
                  <a:srgbClr val="F5C842"/>
                </a:solidFill>
              </a:rPr>
              <a:t>📍 World Trade Centre</a:t>
            </a:r>
          </a:p>
        </p:txBody>
      </p:sp>
      <p:sp>
        <p:nvSpPr>
          <p:cNvPr id="40" name="TextBox 39"/>
          <p:cNvSpPr txBox="1"/>
          <p:nvPr/>
        </p:nvSpPr>
        <p:spPr>
          <a:xfrm>
            <a:off x="7479792" y="2039112"/>
            <a:ext cx="4206240" cy="228600"/>
          </a:xfrm>
          <a:prstGeom prst="rect">
            <a:avLst/>
          </a:prstGeom>
          <a:noFill/>
        </p:spPr>
        <p:txBody>
          <a:bodyPr wrap="square">
            <a:spAutoFit/>
          </a:bodyPr>
          <a:lstStyle/>
          <a:p>
            <a:pPr algn="l"/>
            <a:r>
              <a:rPr sz="1000" b="0" i="1">
                <a:solidFill>
                  <a:srgbClr val="CCCCCC"/>
                </a:solidFill>
              </a:rPr>
              <a:t>Colombo 1 — Echelon Square</a:t>
            </a:r>
          </a:p>
        </p:txBody>
      </p:sp>
      <p:sp>
        <p:nvSpPr>
          <p:cNvPr id="41" name="TextBox 40"/>
          <p:cNvSpPr txBox="1"/>
          <p:nvPr/>
        </p:nvSpPr>
        <p:spPr>
          <a:xfrm>
            <a:off x="7479792" y="2249424"/>
            <a:ext cx="4206240" cy="457200"/>
          </a:xfrm>
          <a:prstGeom prst="rect">
            <a:avLst/>
          </a:prstGeom>
          <a:noFill/>
        </p:spPr>
        <p:txBody>
          <a:bodyPr wrap="square">
            <a:spAutoFit/>
          </a:bodyPr>
          <a:lstStyle/>
          <a:p>
            <a:pPr algn="l"/>
            <a:r>
              <a:rPr sz="1000" b="0" i="0">
                <a:solidFill>
                  <a:srgbClr val="F0F0F0"/>
                </a:solidFill>
              </a:rPr>
              <a:t>Grade A corporate tower. Regus serviced
offices from 00/mo. Prestige address.
Ideal for investor meetings &amp; HQ branding.</a:t>
            </a:r>
          </a:p>
        </p:txBody>
      </p:sp>
      <p:sp>
        <p:nvSpPr>
          <p:cNvPr id="42" name="Rectangle 41"/>
          <p:cNvSpPr/>
          <p:nvPr/>
        </p:nvSpPr>
        <p:spPr>
          <a:xfrm>
            <a:off x="7360920" y="2834639"/>
            <a:ext cx="4480560" cy="1024128"/>
          </a:xfrm>
          <a:prstGeom prst="rect">
            <a:avLst/>
          </a:prstGeom>
          <a:solidFill>
            <a:srgbClr val="161830"/>
          </a:solidFill>
          <a:ln w="1524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79792" y="2898647"/>
            <a:ext cx="4206240" cy="274320"/>
          </a:xfrm>
          <a:prstGeom prst="rect">
            <a:avLst/>
          </a:prstGeom>
          <a:noFill/>
        </p:spPr>
        <p:txBody>
          <a:bodyPr wrap="square">
            <a:spAutoFit/>
          </a:bodyPr>
          <a:lstStyle/>
          <a:p>
            <a:pPr algn="l"/>
            <a:r>
              <a:rPr sz="1200" b="1" i="0">
                <a:solidFill>
                  <a:srgbClr val="FF6B6B"/>
                </a:solidFill>
              </a:rPr>
              <a:t>📍 Colombo 3 — Colpetty</a:t>
            </a:r>
          </a:p>
        </p:txBody>
      </p:sp>
      <p:sp>
        <p:nvSpPr>
          <p:cNvPr id="44" name="TextBox 43"/>
          <p:cNvSpPr txBox="1"/>
          <p:nvPr/>
        </p:nvSpPr>
        <p:spPr>
          <a:xfrm>
            <a:off x="7479792" y="3154679"/>
            <a:ext cx="4206240" cy="228600"/>
          </a:xfrm>
          <a:prstGeom prst="rect">
            <a:avLst/>
          </a:prstGeom>
          <a:noFill/>
        </p:spPr>
        <p:txBody>
          <a:bodyPr wrap="square">
            <a:spAutoFit/>
          </a:bodyPr>
          <a:lstStyle/>
          <a:p>
            <a:pPr algn="l"/>
            <a:r>
              <a:rPr sz="1000" b="0" i="1">
                <a:solidFill>
                  <a:srgbClr val="CCCCCC"/>
                </a:solidFill>
              </a:rPr>
              <a:t>Prime Tech &amp; Business District</a:t>
            </a:r>
          </a:p>
        </p:txBody>
      </p:sp>
      <p:sp>
        <p:nvSpPr>
          <p:cNvPr id="45" name="TextBox 44"/>
          <p:cNvSpPr txBox="1"/>
          <p:nvPr/>
        </p:nvSpPr>
        <p:spPr>
          <a:xfrm>
            <a:off x="7479792" y="3364991"/>
            <a:ext cx="4206240" cy="457200"/>
          </a:xfrm>
          <a:prstGeom prst="rect">
            <a:avLst/>
          </a:prstGeom>
          <a:noFill/>
        </p:spPr>
        <p:txBody>
          <a:bodyPr wrap="square">
            <a:spAutoFit/>
          </a:bodyPr>
          <a:lstStyle/>
          <a:p>
            <a:pPr algn="l"/>
            <a:r>
              <a:rPr sz="1000" b="0" i="0">
                <a:solidFill>
                  <a:srgbClr val="F0F0F0"/>
                </a:solidFill>
              </a:rPr>
              <a:t>Grade A space: .70/sqft/mo.
2,000 sqft fits 15–20 desks = ~,400/mo.
High-speed fiber, parking, 24/7 access.</a:t>
            </a:r>
          </a:p>
        </p:txBody>
      </p:sp>
      <p:sp>
        <p:nvSpPr>
          <p:cNvPr id="46" name="Rectangle 45"/>
          <p:cNvSpPr/>
          <p:nvPr/>
        </p:nvSpPr>
        <p:spPr>
          <a:xfrm>
            <a:off x="7360920" y="3950208"/>
            <a:ext cx="4480560" cy="1024128"/>
          </a:xfrm>
          <a:prstGeom prst="rect">
            <a:avLst/>
          </a:prstGeom>
          <a:solidFill>
            <a:srgbClr val="161830"/>
          </a:solidFill>
          <a:ln w="15240">
            <a:solidFill>
              <a:srgbClr val="00D4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79792" y="4014216"/>
            <a:ext cx="4206240" cy="274320"/>
          </a:xfrm>
          <a:prstGeom prst="rect">
            <a:avLst/>
          </a:prstGeom>
          <a:noFill/>
        </p:spPr>
        <p:txBody>
          <a:bodyPr wrap="square">
            <a:spAutoFit/>
          </a:bodyPr>
          <a:lstStyle/>
          <a:p>
            <a:pPr algn="l"/>
            <a:r>
              <a:rPr sz="1200" b="1" i="0">
                <a:solidFill>
                  <a:srgbClr val="00D4C8"/>
                </a:solidFill>
              </a:rPr>
              <a:t>📍 Colombo 7 — Cinnamon Gardens</a:t>
            </a:r>
          </a:p>
        </p:txBody>
      </p:sp>
      <p:sp>
        <p:nvSpPr>
          <p:cNvPr id="48" name="TextBox 47"/>
          <p:cNvSpPr txBox="1"/>
          <p:nvPr/>
        </p:nvSpPr>
        <p:spPr>
          <a:xfrm>
            <a:off x="7479792" y="4270248"/>
            <a:ext cx="4206240" cy="228600"/>
          </a:xfrm>
          <a:prstGeom prst="rect">
            <a:avLst/>
          </a:prstGeom>
          <a:noFill/>
        </p:spPr>
        <p:txBody>
          <a:bodyPr wrap="square">
            <a:spAutoFit/>
          </a:bodyPr>
          <a:lstStyle/>
          <a:p>
            <a:pPr algn="l"/>
            <a:r>
              <a:rPr sz="1000" b="0" i="1">
                <a:solidFill>
                  <a:srgbClr val="CCCCCC"/>
                </a:solidFill>
              </a:rPr>
              <a:t>Premium Residential-Commercial</a:t>
            </a:r>
          </a:p>
        </p:txBody>
      </p:sp>
      <p:sp>
        <p:nvSpPr>
          <p:cNvPr id="49" name="TextBox 48"/>
          <p:cNvSpPr txBox="1"/>
          <p:nvPr/>
        </p:nvSpPr>
        <p:spPr>
          <a:xfrm>
            <a:off x="7479792" y="4480560"/>
            <a:ext cx="4206240" cy="457200"/>
          </a:xfrm>
          <a:prstGeom prst="rect">
            <a:avLst/>
          </a:prstGeom>
          <a:noFill/>
        </p:spPr>
        <p:txBody>
          <a:bodyPr wrap="square">
            <a:spAutoFit/>
          </a:bodyPr>
          <a:lstStyle/>
          <a:p>
            <a:pPr algn="l"/>
            <a:r>
              <a:rPr sz="1000" b="0" i="0">
                <a:solidFill>
                  <a:srgbClr val="F0F0F0"/>
                </a:solidFill>
              </a:rPr>
              <a:t>Boutique corporate offices ,000–,000/mo.
Quiet, secure, prestigious neighborhood.
Popular with tech firms and embassies.</a:t>
            </a:r>
          </a:p>
        </p:txBody>
      </p:sp>
      <p:sp>
        <p:nvSpPr>
          <p:cNvPr id="50" name="Rectangle 49"/>
          <p:cNvSpPr/>
          <p:nvPr/>
        </p:nvSpPr>
        <p:spPr>
          <a:xfrm>
            <a:off x="7360920" y="5065776"/>
            <a:ext cx="4480560" cy="1024128"/>
          </a:xfrm>
          <a:prstGeom prst="rect">
            <a:avLst/>
          </a:prstGeom>
          <a:solidFill>
            <a:srgbClr val="161830"/>
          </a:solidFill>
          <a:ln w="15240">
            <a:solidFill>
              <a:srgbClr val="A0FF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479792" y="5129784"/>
            <a:ext cx="4206240" cy="274320"/>
          </a:xfrm>
          <a:prstGeom prst="rect">
            <a:avLst/>
          </a:prstGeom>
          <a:noFill/>
        </p:spPr>
        <p:txBody>
          <a:bodyPr wrap="square">
            <a:spAutoFit/>
          </a:bodyPr>
          <a:lstStyle/>
          <a:p>
            <a:pPr algn="l"/>
            <a:r>
              <a:rPr sz="1200" b="1" i="0">
                <a:solidFill>
                  <a:srgbClr val="A0FFB0"/>
                </a:solidFill>
              </a:rPr>
              <a:t>📍 Rajagiriya / Nawala</a:t>
            </a:r>
          </a:p>
        </p:txBody>
      </p:sp>
      <p:sp>
        <p:nvSpPr>
          <p:cNvPr id="52" name="TextBox 51"/>
          <p:cNvSpPr txBox="1"/>
          <p:nvPr/>
        </p:nvSpPr>
        <p:spPr>
          <a:xfrm>
            <a:off x="7479792" y="5385816"/>
            <a:ext cx="4206240" cy="228600"/>
          </a:xfrm>
          <a:prstGeom prst="rect">
            <a:avLst/>
          </a:prstGeom>
          <a:noFill/>
        </p:spPr>
        <p:txBody>
          <a:bodyPr wrap="square">
            <a:spAutoFit/>
          </a:bodyPr>
          <a:lstStyle/>
          <a:p>
            <a:pPr algn="l"/>
            <a:r>
              <a:rPr sz="1000" b="0" i="1">
                <a:solidFill>
                  <a:srgbClr val="CCCCCC"/>
                </a:solidFill>
              </a:rPr>
              <a:t>Emerging Tech Corridor</a:t>
            </a:r>
          </a:p>
        </p:txBody>
      </p:sp>
      <p:sp>
        <p:nvSpPr>
          <p:cNvPr id="53" name="TextBox 52"/>
          <p:cNvSpPr txBox="1"/>
          <p:nvPr/>
        </p:nvSpPr>
        <p:spPr>
          <a:xfrm>
            <a:off x="7479792" y="5596128"/>
            <a:ext cx="4206240" cy="457200"/>
          </a:xfrm>
          <a:prstGeom prst="rect">
            <a:avLst/>
          </a:prstGeom>
          <a:noFill/>
        </p:spPr>
        <p:txBody>
          <a:bodyPr wrap="square">
            <a:spAutoFit/>
          </a:bodyPr>
          <a:lstStyle/>
          <a:p>
            <a:pPr algn="l"/>
            <a:r>
              <a:rPr sz="1000" b="0" i="0">
                <a:solidFill>
                  <a:srgbClr val="F0F0F0"/>
                </a:solidFill>
              </a:rPr>
              <a:t>Most affordable: ,200–,500/mo.
Close to University of Moratuwa talent.
Growing startup ecosystem nearby.</a:t>
            </a:r>
          </a:p>
        </p:txBody>
      </p:sp>
      <p:sp>
        <p:nvSpPr>
          <p:cNvPr id="54" name="Rectangle 53"/>
          <p:cNvSpPr/>
          <p:nvPr/>
        </p:nvSpPr>
        <p:spPr>
          <a:xfrm>
            <a:off x="640080" y="5989320"/>
            <a:ext cx="10881360" cy="502920"/>
          </a:xfrm>
          <a:prstGeom prst="rect">
            <a:avLst/>
          </a:prstGeom>
          <a:solidFill>
            <a:srgbClr val="161830"/>
          </a:solidFill>
          <a:ln w="10160">
            <a:solidFill>
              <a:srgbClr val="F5C8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22960" y="6035040"/>
            <a:ext cx="10515600" cy="438912"/>
          </a:xfrm>
          <a:prstGeom prst="rect">
            <a:avLst/>
          </a:prstGeom>
          <a:noFill/>
        </p:spPr>
        <p:txBody>
          <a:bodyPr wrap="square">
            <a:spAutoFit/>
          </a:bodyPr>
          <a:lstStyle/>
          <a:p>
            <a:pPr algn="l"/>
            <a:r>
              <a:rPr sz="1150" b="0" i="0">
                <a:solidFill>
                  <a:srgbClr val="F0F0F0"/>
                </a:solidFill>
              </a:rPr>
              <a:t>💡  Recommendation: Colombo 3 (Colpetty) — Grade A office, ~2,000 sqft, fits 15–20 developers, ,400/month. Estimated 24-month lease + fit-out = 00,000 (included in Use of Funds).</a:t>
            </a:r>
          </a:p>
        </p:txBody>
      </p:sp>
      <p:pic>
        <p:nvPicPr>
          <p:cNvPr id="56" name="Picture 55" descr="image.png"/>
          <p:cNvPicPr>
            <a:picLocks noChangeAspect="1"/>
          </p:cNvPicPr>
          <p:nvPr/>
        </p:nvPicPr>
        <p:blipFill>
          <a:blip r:embed="rId2"/>
          <a:stretch>
            <a:fillRect/>
          </a:stretch>
        </p:blipFill>
        <p:spPr>
          <a:xfrm>
            <a:off x="11018520" y="6327648"/>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