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7" r:id="rId7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48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3690" autoAdjust="0"/>
  </p:normalViewPr>
  <p:slideViewPr>
    <p:cSldViewPr snapToGrid="0">
      <p:cViewPr varScale="1">
        <p:scale>
          <a:sx n="64" d="100"/>
          <a:sy n="64" d="100"/>
        </p:scale>
        <p:origin x="4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package" Target="../embeddings/Microsoft_Excel_Binary_Worksheet.xlsb"/><Relationship Id="rId3" Type="http://schemas.openxmlformats.org/officeDocument/2006/relationships/image" Target="../media/image8.emf"/><Relationship Id="rId4" Type="http://schemas.openxmlformats.org/officeDocument/2006/relationships/image" Target="../media/image9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kits,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stacking, and power during staging. Perform site surveys for construction support. Install all equipment per the approved IFC documents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Install fiber and copper cabling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b="1" sz="1000">
                <a:solidFill>
                  <a:srgbClr val="1F497D"/>
                </a:solidFill>
              </a:rPr>
              <a:t>PHASE 1 — Completed Milestones</a:t>
            </a:r>
            <a:endParaRPr lang="en-US" sz="1400" dirty="0"/>
          </a:p>
          <a:p>
            <a:r>
              <a:rPr b="1" sz="1000">
                <a:solidFill>
                  <a:srgbClr val="17601E"/>
                </a:solidFill>
              </a:rPr>
              <a:t>✅  Remote Connectivity — Hicksville &amp; Melville — COMPLETE</a:t>
            </a:r>
          </a:p>
          <a:p>
            <a:r>
              <a:rPr b="0" sz="900">
                <a:solidFill>
                  <a:srgbClr val="404040"/>
                </a:solidFill>
              </a:rPr>
              <a:t>     Corporate Nokia MPLS integration established. BGP executed 4/1–4/2.</a:t>
            </a:r>
          </a:p>
          <a:p>
            <a:r>
              <a:rPr b="1" sz="1000">
                <a:solidFill>
                  <a:srgbClr val="17601E"/>
                </a:solidFill>
              </a:rPr>
              <a:t>✅  iLO Corporate Connectivity — Hicksville &amp; Melville — COMPLETE</a:t>
            </a:r>
          </a:p>
          <a:p>
            <a:r>
              <a:rPr b="0" sz="900">
                <a:solidFill>
                  <a:srgbClr val="404040"/>
                </a:solidFill>
              </a:rPr>
              <a:t>     iLO interfaces turned up and confirmed operational.</a:t>
            </a:r>
          </a:p>
          <a:p>
            <a:r>
              <a:rPr b="1" sz="1000">
                <a:solidFill>
                  <a:srgbClr val="17601E"/>
                </a:solidFill>
              </a:rPr>
              <a:t>✅  Layer 3 BGP Network Design &amp; Configuration — COMPLETE</a:t>
            </a:r>
          </a:p>
          <a:p>
            <a:r>
              <a:rPr b="0" sz="900">
                <a:solidFill>
                  <a:srgbClr val="404040"/>
                </a:solidFill>
              </a:rPr>
              <a:t>     BGP approved by Vikas Vohra 3/16. Fully executed 4/1–4/2.</a:t>
            </a:r>
          </a:p>
          <a:p>
            <a:r>
              <a:rPr b="1" sz="1000">
                <a:solidFill>
                  <a:srgbClr val="17601E"/>
                </a:solidFill>
              </a:rPr>
              <a:t>✅  NSP Installation &amp; Stand-Up — Hicksville — COMPLETE</a:t>
            </a:r>
          </a:p>
          <a:p>
            <a:r>
              <a:rPr b="0" sz="900">
                <a:solidFill>
                  <a:srgbClr val="404040"/>
                </a:solidFill>
              </a:rPr>
              <a:t>     Fiber cabled, terminated, NSP appliance stood up 4/10.</a:t>
            </a:r>
          </a:p>
          <a:p>
            <a:r>
              <a:rPr b="1" sz="1000">
                <a:solidFill>
                  <a:srgbClr val="17601E"/>
                </a:solidFill>
              </a:rPr>
              <a:t>✅  Northport DC Power &amp; OTDR Testing — COMPLETE</a:t>
            </a:r>
          </a:p>
          <a:p>
            <a:r>
              <a:rPr b="0" sz="900">
                <a:solidFill>
                  <a:srgbClr val="404040"/>
                </a:solidFill>
              </a:rPr>
              <a:t>     DC power live 3/18. Bad CWDM filter replaced. Link active.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PHASE 2 — Running In Parallel — ON TRACK 🟢</a:t>
            </a:r>
          </a:p>
          <a:p>
            <a:r>
              <a:rPr b="0" sz="900">
                <a:solidFill>
                  <a:srgbClr val="404040"/>
                </a:solidFill>
              </a:rPr>
              <a:t>✅  IFR/IFC Packages — 9 of 39 sites complete. Hewlett IFR submitted 4/20.</a:t>
            </a:r>
          </a:p>
          <a:p>
            <a:r>
              <a:rPr b="0" sz="900">
                <a:solidFill>
                  <a:srgbClr val="404040"/>
                </a:solidFill>
              </a:rPr>
              <a:t>✅  Equipment Staged — All Nokia Phase 2 equipment at Hawkeye staging trailer.</a:t>
            </a:r>
          </a:p>
          <a:p>
            <a:r>
              <a:rPr b="0" sz="900">
                <a:solidFill>
                  <a:srgbClr val="404040"/>
                </a:solidFill>
              </a:rPr>
              <a:t>🔄  Site Surveys — Hawkeye field crews dispatched this week. Collecting cable,</a:t>
            </a:r>
          </a:p>
          <a:p>
            <a:r>
              <a:rPr b="0" sz="900">
                <a:solidFill>
                  <a:srgbClr val="404040"/>
                </a:solidFill>
              </a:rPr>
              <a:t>      SFP, and equipment inventory at all Phase 2 sites.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0" sz="900">
                <a:solidFill>
                  <a:srgbClr val="BF6000"/>
                </a:solidFill>
              </a:rPr>
              <a:t>🔄  Nokia NSP Configuration — 90% complete. DNS update pending (escalated to Vic).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4283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41222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43513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BF6000"/>
                </a:solidFill>
              </a:rPr>
              <a:t>Overall: 🟡 YELLOW — Trending ⬆️ TOWARD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Important Clarification — Phase 1 vs. Overall Project: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b="1" sz="1000">
                <a:solidFill>
                  <a:srgbClr val="1F497D"/>
                </a:solidFill>
              </a:rPr>
              <a:t>⚠️  The ~3 month delay applies ONLY to Phase 1 remaining activities — NOT the entire project.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Phase 1 — Delayed (Recovering):</a:t>
            </a:r>
          </a:p>
          <a:p>
            <a:r>
              <a:rPr b="0" sz="900">
                <a:solidFill>
                  <a:srgbClr val="404040"/>
                </a:solidFill>
              </a:rPr>
              <a:t>• Nokia NSP finalization — 90% done, DNS update escalated to Vic this week</a:t>
            </a:r>
          </a:p>
          <a:p>
            <a:r>
              <a:rPr b="0" sz="900">
                <a:solidFill>
                  <a:srgbClr val="404040"/>
                </a:solidFill>
              </a:rPr>
              <a:t>• RTU serial port test at Hicksville — cables sourced from Hawkeye, scheduling in progress</a:t>
            </a:r>
          </a:p>
          <a:p>
            <a:r>
              <a:rPr b="0" sz="900">
                <a:solidFill>
                  <a:srgbClr val="404040"/>
                </a:solidFill>
              </a:rPr>
              <a:t>• Relay RTU cutover to Nokia — pending RTU test</a:t>
            </a:r>
          </a:p>
          <a:p>
            <a:r>
              <a:rPr b="0" sz="900">
                <a:solidFill>
                  <a:srgbClr val="404040"/>
                </a:solidFill>
              </a:rPr>
              <a:t>• Layer 3 / 2-Way Radio migration — pending NSP completion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Phase 2 — ON TRACK 🟢 (Running in Parallel):</a:t>
            </a:r>
          </a:p>
          <a:p>
            <a:r>
              <a:rPr b="0" sz="900">
                <a:solidFill>
                  <a:srgbClr val="404040"/>
                </a:solidFill>
              </a:rPr>
              <a:t>• IFR/IFC engineering packages — on schedule. Hewlett submitted 4/20. Lindenhurst due 4/27.</a:t>
            </a:r>
          </a:p>
          <a:p>
            <a:r>
              <a:rPr b="0" sz="900">
                <a:solidFill>
                  <a:srgbClr val="404040"/>
                </a:solidFill>
              </a:rPr>
              <a:t>• Hawkeye field crews dispatched for site surveys — capturing cables, SFPs, equipment needs</a:t>
            </a:r>
          </a:p>
          <a:p>
            <a:r>
              <a:rPr b="0" sz="900">
                <a:solidFill>
                  <a:srgbClr val="404040"/>
                </a:solidFill>
              </a:rPr>
              <a:t>• All Nokia Phase 2 equipment staged at Hawkeye trailer ✅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Recovery Actions:</a:t>
            </a:r>
          </a:p>
          <a:p>
            <a:r>
              <a:rPr b="0" sz="900">
                <a:solidFill>
                  <a:srgbClr val="404040"/>
                </a:solidFill>
              </a:rPr>
              <a:t>• DNS escalated to Vic — one-line fix, expected resolution this week</a:t>
            </a:r>
          </a:p>
          <a:p>
            <a:r>
              <a:rPr b="0" sz="900">
                <a:solidFill>
                  <a:srgbClr val="404040"/>
                </a:solidFill>
              </a:rPr>
              <a:t>• Vinny (Hawkeye) dispatched for DB9 cable sourcing today — unblocks RTU test</a:t>
            </a:r>
          </a:p>
          <a:p>
            <a:r>
              <a:rPr b="0" sz="900">
                <a:solidFill>
                  <a:srgbClr val="404040"/>
                </a:solidFill>
              </a:rPr>
              <a:t>• Additional resources applied to close Phase 1 gap</a:t>
            </a:r>
          </a:p>
          <a:p>
            <a:r>
              <a:rPr b="0" sz="900">
                <a:solidFill>
                  <a:srgbClr val="404040"/>
                </a:solidFill>
              </a:rPr>
              <a:t>• Phase 3 stakeholders already engaged proactively to prevent scope surprises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6875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Cumulative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equipment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(complete ✅)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99BD1-7B90-9B44-C818-CE8A61ADE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8" y="633603"/>
            <a:ext cx="7479664" cy="13011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PROJECT FINANCIAL SUMMARY — As of March 11, 2026</a:t>
            </a:r>
          </a:p>
          <a:p>
            <a:r>
              <a:rPr sz="900" b="0"/>
              <a:t/>
            </a:r>
          </a:p>
          <a:p>
            <a:r>
              <a:rPr sz="1100" b="0"/>
              <a:t>Total Capital Budget:   $6,600,000     |     Spend to Date:   $4,722,381     |     Remaining Budget:   $1,877,619</a:t>
            </a:r>
          </a:p>
          <a:p>
            <a:r>
              <a:rPr sz="1100" b="0"/>
              <a:t>Estimate to Complete:   $2,545,728     |     Estimate at Completion:   $7,268,109</a:t>
            </a:r>
          </a:p>
          <a:p>
            <a:r>
              <a:rPr sz="900" b="0"/>
              <a:t/>
            </a:r>
          </a:p>
          <a:p>
            <a:r>
              <a:rPr sz="1200" b="1">
                <a:solidFill>
                  <a:srgbClr val="C00000"/>
                </a:solidFill>
              </a:rPr>
              <a:t>⚠️  Projected Total Variance:   -$668,109  (-10.1%)</a:t>
            </a:r>
          </a:p>
          <a:p>
            <a:r>
              <a:rPr sz="1200" b="1">
                <a:solidFill>
                  <a:srgbClr val="C00000"/>
                </a:solidFill>
              </a:rPr>
              <a:t>⚠️  Projected 2026 Capital Variance:   -$796,783  (-31%)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APPROVED CAPITAL BUDGET:   $2,600,000</a:t>
            </a:r>
          </a:p>
          <a:p>
            <a:r>
              <a:rPr sz="1100" b="0"/>
              <a:t>2026 Spend to Date:   $851,055     |     2026 Remaining:   $1,748,945</a:t>
            </a:r>
          </a:p>
          <a:p>
            <a:r>
              <a:rPr sz="1100" b="0"/>
              <a:t>2026 ETC:   $2,545,728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VENDOR FORECAST</a:t>
            </a:r>
          </a:p>
          <a:p>
            <a:r>
              <a:rPr sz="1000" b="0"/>
              <a:t>Nokia (2026 Order — Brian Basarath):   $951,773     |     Nokia Credits (NSP License cancellations):   ~$218,480</a:t>
            </a:r>
          </a:p>
          <a:p>
            <a:r>
              <a:rPr sz="1000" b="0"/>
              <a:t>Burns &amp; McDonnell (PO 7000002099 — remaining):   $1,222,710</a:t>
            </a:r>
          </a:p>
          <a:p>
            <a:r>
              <a:rPr sz="1000" b="0"/>
              <a:t>Elecnor Hawkeye (PO 7000002054 — remaining):   $205,276</a:t>
            </a:r>
          </a:p>
          <a:p>
            <a:r>
              <a:rPr sz="900" b="0"/>
              <a:t/>
            </a:r>
          </a:p>
          <a:p>
            <a:r>
              <a:rPr sz="900" b="0"/>
              <a:t>NOTE: Budget variance driven by unplanned PAR migration scope (Iniven RC-30 devices, 6 sites) and extended engineering/labor.</a:t>
            </a:r>
          </a:p>
          <a:p>
            <a:r>
              <a:rPr sz="900" b="0"/>
              <a:t>Formal Change Request to be submitted to capture additional 2026 capital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sz="1000">
                <a:solidFill>
                  <a:srgbClr val="1F497D"/>
                </a:solidFill>
              </a:rPr>
              <a:t>CURRENT RISKS</a:t>
            </a:r>
          </a:p>
          <a:p>
            <a:r>
              <a:rPr b="0" sz="900">
                <a:solidFill>
                  <a:srgbClr val="404040"/>
                </a:solidFill>
              </a:rPr>
              <a:t>🔴  PAR Serial-to-IP Equipment (Iniven RC-30) — 8-week lead time. PO not yet placed. CRITICAL PATH.</a:t>
            </a:r>
          </a:p>
          <a:p>
            <a:r>
              <a:rPr b="0" sz="900">
                <a:solidFill>
                  <a:srgbClr val="404040"/>
                </a:solidFill>
              </a:rPr>
              <a:t>🟡  DNS update delay — blocking NSP remote access. Escalated to Vic. Expected resolution this week.</a:t>
            </a:r>
          </a:p>
          <a:p>
            <a:r>
              <a:rPr b="0" sz="900">
                <a:solidFill>
                  <a:srgbClr val="404040"/>
                </a:solidFill>
              </a:rPr>
              <a:t>🟡  Weather delays — substation closures possible at temps &gt;90°F. Potential 2-week delay per event.</a:t>
            </a:r>
          </a:p>
          <a:p>
            <a:r>
              <a:rPr b="0" sz="900">
                <a:solidFill>
                  <a:srgbClr val="404040"/>
                </a:solidFill>
              </a:rPr>
              <a:t>     (Risk — not yet an issue. Monitor summer forecast. Schedule critical work in cooler windows.)</a:t>
            </a:r>
          </a:p>
          <a:p>
            <a:r>
              <a:rPr b="0" sz="900">
                <a:solidFill>
                  <a:srgbClr val="404040"/>
                </a:solidFill>
              </a:rPr>
              <a:t>🟡  RTU serial test scheduling — awaiting John Ng confirmation. Cables sourced from Hawkeye.</a:t>
            </a:r>
          </a:p>
          <a:p>
            <a:r>
              <a:rPr b="0" sz="900">
                <a:solidFill>
                  <a:srgbClr val="404040"/>
                </a:solidFill>
              </a:rPr>
              <a:t>🟡  Melville &amp; 6DL Pilgrim IFR/IFC — dates still TBD. Monitoring for schedule impact.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sz="1000">
                <a:solidFill>
                  <a:srgbClr val="1F497D"/>
                </a:solidFill>
              </a:rPr>
              <a:t>NEXT STEPS — Priority Order</a:t>
            </a:r>
          </a:p>
          <a:p>
            <a:r>
              <a:rPr b="0" sz="900">
                <a:solidFill>
                  <a:srgbClr val="404040"/>
                </a:solidFill>
              </a:rPr>
              <a:t>1️⃣  Resolve DNS (.11→.15, .21→.25) — confirm NSP GUI access to ALL Nokia routers  [Vic / Lee / Wayne]</a:t>
            </a:r>
          </a:p>
          <a:p>
            <a:r>
              <a:rPr b="0" sz="900">
                <a:solidFill>
                  <a:srgbClr val="404040"/>
                </a:solidFill>
              </a:rPr>
              <a:t>2️⃣  Execute RTU serial port test at Hicksville — validate pinout before Phase 2 construction  [Ethan / John Ng / Jay]</a:t>
            </a:r>
          </a:p>
          <a:p>
            <a:r>
              <a:rPr b="0" sz="900">
                <a:solidFill>
                  <a:srgbClr val="404040"/>
                </a:solidFill>
              </a:rPr>
              <a:t>3️⃣  Relay RTU cutover to Nokia network — first production circuit migration  [Lee / John Ng]</a:t>
            </a:r>
          </a:p>
          <a:p>
            <a:r>
              <a:rPr b="0" sz="900">
                <a:solidFill>
                  <a:srgbClr val="404040"/>
                </a:solidFill>
              </a:rPr>
              <a:t>4️⃣  ⚠️ Place PO — Iniven RC-30 (6 PAR sites) — 8-WEEK LEAD TIME — ORDER IMMEDIATELY  [Jay]</a:t>
            </a:r>
          </a:p>
          <a:p>
            <a:r>
              <a:rPr b="0" sz="900">
                <a:solidFill>
                  <a:srgbClr val="404040"/>
                </a:solidFill>
              </a:rPr>
              <a:t>5️⃣  ⚠️ Start PAR engineering design concurrently with PO placement  [BMcD / Jay]</a:t>
            </a:r>
          </a:p>
          <a:p>
            <a:r>
              <a:rPr b="0" sz="900">
                <a:solidFill>
                  <a:srgbClr val="404040"/>
                </a:solidFill>
              </a:rPr>
              <a:t>6️⃣  Hawkeye site surveys — cable &amp; SFP inventory across all Phase 2 sites  [Vinny / Hawkeye]</a:t>
            </a:r>
          </a:p>
          <a:p>
            <a:r>
              <a:rPr b="0" sz="900">
                <a:solidFill>
                  <a:srgbClr val="404040"/>
                </a:solidFill>
              </a:rPr>
              <a:t>7️⃣  Confirm Nokia training dates with Glenn — identify attendees  [Jay]</a:t>
            </a:r>
          </a:p>
          <a:p>
            <a:r>
              <a:rPr b="0" sz="900">
                <a:solidFill>
                  <a:srgbClr val="404040"/>
                </a:solidFill>
              </a:rPr>
              <a:t>8️⃣  Lindenhurst IFR submission — due Monday April 27  [Burns &amp; McDonnell]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143041</TotalTime>
  <Words>1357</Words>
  <Application>Microsoft Office PowerPoint</Application>
  <PresentationFormat>Widescreen</PresentationFormat>
  <Paragraphs>490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922</cp:revision>
  <dcterms:modified xsi:type="dcterms:W3CDTF">2026-04-19T22:22:29Z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