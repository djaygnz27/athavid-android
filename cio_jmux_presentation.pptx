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645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JMUX Replacement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7941D"/>
                </a:solidFill>
              </a:rPr>
              <a:t>CIO Briefing | Phase 1 Complete · Phase 2 Underway · Path to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PRJ13797  |  Program Manager: Dhananjaya Gunaratne  |  March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PSEG Long Island  |  IT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7941D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JMUX Replacement Program — Status as of March 12,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161288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657600" cy="5029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Phase 1
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365760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31 substations cutover to MPLS
All Wave 1 &amp; Wave 2 cutovers done
NSP installed at Melville &amp; Hicksville
SSP &amp; CMDB documentation approved
Minor close-outs in progress (Hicksville cabling, OTDR)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097280"/>
            <a:ext cx="365760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🟡  Phase 2
IN 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600200"/>
            <a:ext cx="365760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6916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36-site engineering design underway
Site surveys completed during Phase 1
Burns &amp; McDonnell issuing IFRs &amp; IFCs
Nokia Phase 2 equipment delivered 2/19
Schedule: Yellow (2.5-wk delay, recovering)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097280"/>
            <a:ext cx="3657600" cy="5029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📋  CIO Actions
REQUIRED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600200"/>
            <a:ext cx="365760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6916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Awareness: Schedule is yellow, recovery plan in place
Approval: Confirm Phase 2 vendor engagement continues
Decision: Resource support for SSP/security reviews
Support: Crown Castle fiber issue at Hicksville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Phase 1 Accomplishments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31 Substations | 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7498079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005840"/>
            <a:ext cx="393192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7498079" cy="41148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42415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ACCOMPLISHMENTS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9047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All 31 substation sites installed &amp; commissioned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47672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29384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Wave 1 cutover (12/8–12/18/25) — non-tie sites 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86584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68296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Wave 2 cutover (1/6–1/8/26) — tie sites 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825496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07208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CWDM cutover complete at Hicksville &amp; ACC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64408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46120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Nokia NSP racked &amp; powered at Melville &amp; Hicksville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03320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8503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Staging completed at Hawkeye Warehouse — 9/29/25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142231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23944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SSP documentation approved by security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81144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62856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CMDB inventory updated &amp; confirmed — 2/24/26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020056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01768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2 site surveys completed during Phase 1 (ahead of schedule)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458968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40680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7 additional nodes added to complete Ring 1 &amp; Ring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1005840"/>
            <a:ext cx="3931920" cy="41148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042415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1 AT A GLANCE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150876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15270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31 / 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185623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Sites Complete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228600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230428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6334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Cutover Done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3063239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308152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41071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Network Rings Closed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3840479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385876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Sept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18795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Staging Complete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1000" y="461772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463600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Jan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9651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Final Cutover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1000" y="539496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54132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$4.44M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7424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Spent to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Phase 2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36 Sites | Engineering Design Underway | Burns &amp; McDonnell SOW: $1.37M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828800" cy="5029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Site Surveys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79" y="1051560"/>
            <a:ext cx="1828800" cy="5029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5999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Nokia Equip.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5999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051560"/>
            <a:ext cx="182880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IFR Design (B&amp;McD)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199" y="1051560"/>
            <a:ext cx="182880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19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IFC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051560"/>
            <a:ext cx="1828800" cy="5029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NOT STARTED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04120" y="1051560"/>
            <a:ext cx="1828800" cy="5029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Cutover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NOT STARTED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691640"/>
            <a:ext cx="11612880" cy="34747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17099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Milestone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170992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Contract 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17099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17099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103120"/>
            <a:ext cx="1161288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148839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Phase 1 Staging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2148839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8/22/2025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148839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000"/>
                </a:solidFill>
              </a:rPr>
              <a:t>✅ Complete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148839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$57,300 paid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761487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807207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Phase 1 Construction Coordinator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39" y="2807207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Aug 2025–Jan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2807207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000"/>
                </a:solidFill>
              </a:rPr>
              <a:t>✅ Complete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2807207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$368,100 — monthly invoiced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419856"/>
            <a:ext cx="1161288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465575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Substation Site Surveys (Phase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39" y="3465575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2/27/2026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3465575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000"/>
                </a:solidFill>
              </a:rPr>
              <a:t>✅ 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3465575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Completed during Phase 1 — ahead of schedule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078224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123944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MPLS Network Node Design — IFR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4123944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Wave 1: 2/23/26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412394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000"/>
                </a:solidFill>
              </a:rPr>
              <a:t>🟡 In Progress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4123944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B&amp;McD issuing IFRs; PSEG LI review 2-wk window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736592"/>
            <a:ext cx="1161288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478231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MPLS Network Node Design — IFC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7639" y="4782312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Wave 1: 3/23/26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478231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⏳ Upcoming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4782312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IFC follows PSEG LI review &amp; comment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394959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5440679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Construction &amp; Installation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77639" y="5440679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Aug–Dec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5440679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⏳ Not Started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18120" y="5440679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Pending IFC completion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30352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1005840"/>
            <a:ext cx="612648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5303520" cy="411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3327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SCHEDULE PERFORMANCE INDEX (SPI)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000"/>
                </a:solidFill>
              </a:rPr>
              <a:t>SPI: 0.75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</a:rPr>
              <a:t>🟡  YELLOW — Schedule delayed ~2.5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690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Inclement weather affecting field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Crown Castle fiber issue at Hicksville (OTDR testing pending)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All approvals received. Remaining Phase 1 close-out is remote configuration — no physical site access needed. Phase 2 IFR/IFC design on track.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005840"/>
            <a:ext cx="6126480" cy="41148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1033271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PROGRAM TIMELINE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15087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4904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Apr 2024  —  Project Start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19659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19476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Oct 2024  —  RFP Award &amp; SOW Executed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24231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2404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Jan 2025  —  Phase 1 Detailed Design Start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28803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8620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Sep 2025  —  Staging Complete (Hawkeye)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33375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33192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Oct 2025  —  Phase 1 Construction Start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37947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7764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Dec 2025 – Jan 2026  —  Wave 1 &amp; 2 Cutovers Complete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42519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42336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Feb 2026  —  Nokia Phase 2 Equipment Delivered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4709160"/>
            <a:ext cx="182880" cy="25603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4690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941D"/>
                </a:solidFill>
              </a:rPr>
              <a:t>Mar 2026  —  Phase 2 IFR Design in Progress  ◀ NOW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5166360"/>
            <a:ext cx="182880" cy="2560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51480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Mar–Jul 2026  —  Phase 2 IFC Design &amp; Review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5623560"/>
            <a:ext cx="182880" cy="2560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56052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Aug–Dec 2026  —  Phase 2 Construction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6080760"/>
            <a:ext cx="182880" cy="2560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60624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Jul 2027  —  Program Completion (Target)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Financial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Program Budget: $6,600,000 | Status: ON BUDGET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$6,600,000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Total URB
Approved Budget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$4,437,070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Spent
To Date (67%)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$2,162,930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Estimate to
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051560"/>
            <a:ext cx="2743200" cy="1463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Over /
Under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Budget Utilization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63240"/>
            <a:ext cx="1161288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063240"/>
            <a:ext cx="7780629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90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67% Spent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90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33% Remaining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11880"/>
            <a:ext cx="11612880" cy="34747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6301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 #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6301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Supplier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6301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36301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Invoiced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6301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Remaining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6301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23360"/>
            <a:ext cx="116128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041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7000001429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041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Burns &amp; McDonnell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0416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$137,500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40416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$49,500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0416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$88,000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04164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🟡 Active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361688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3799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7000001415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3799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Burns &amp; McDonnell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43799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$869,235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59" y="43799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$798,665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43799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$70,570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37997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🟡 Active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00016"/>
            <a:ext cx="116128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7183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7000002099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47183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Burns &amp; McDonnell (Ph2)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4718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$1,370,040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59" y="4718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$388,740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4718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$981,300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471830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🟡 Active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038344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5056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7000001857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91640" y="505663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Nokia of America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2040" y="505663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$1,899,030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59" y="505663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$532,525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79" y="505663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$1,366,505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5056631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🟡 Active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76672"/>
            <a:ext cx="116128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394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7000002054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91640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Elecnor Hawkeye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9204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$402,793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59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$257,619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79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$145,174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9800" y="5394960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🟡 Active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715000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5733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7000001175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91640" y="5733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Nokia of America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92040" y="57332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$190,575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59" y="57332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$190,575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83879" y="57332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29800" y="573328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Paid in Full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6053328"/>
            <a:ext cx="116128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" y="6071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7000001748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91640" y="60716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Presidio Networked Sol.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92040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$40,955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59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$40,955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83879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29800" y="607161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Paid in Full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6391656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0040" y="6409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7000001767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91640" y="64099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Graybar Electric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92040" y="64099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$24,759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37959" y="64099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$24,759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83879" y="64099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29800" y="640994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Paid in Full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Risks &amp;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Active Risks | Mitigations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48640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3327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ACTIVE RISKS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05840"/>
            <a:ext cx="5943600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033271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🔧  ACTIVE ISSUES / IN RESOLUTION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00584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14996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49961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Legacy Equipment Fragility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8470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JMUX equipment 25+ yrs old. Faulty connectors, brittle fiber panels. Potential for unplanned outage during cutover.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212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87"/>
                </a:solidFill>
              </a:rPr>
              <a:t>Mitigation: Careful cutover planning; dedicated B&amp;McD on-site support. Phase 1 complete — risk reduced going into Ph2.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97480"/>
            <a:ext cx="54864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697480"/>
            <a:ext cx="100584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27340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73405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Substation Access Delays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0815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Weather, scheduling conflicts, or escort availability can delay field 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4472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87"/>
                </a:solidFill>
              </a:rPr>
              <a:t>Mitigation: Verify weekly before mobilizing. Adjust site plan if specific sites inaccessible.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54864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931920"/>
            <a:ext cx="100584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39684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96849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Phase 2 Schedule Slippage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159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IFR/IFC design cycle (4-wk IFR + 2-wk review + 2-wk IFC) leaves limited buffer.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6817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87"/>
                </a:solidFill>
              </a:rPr>
              <a:t>Mitigation: Phase 2 surveys done early. B&amp;McD running concurrent site designs. Weekly status calls tracking.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166360"/>
            <a:ext cx="54864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166360"/>
            <a:ext cx="1005840" cy="34747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52029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20293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Crown Castle Fiber Issue (Hicksville)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5504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Low dB levels on fiber — may be Crown Castle's network, not PSEG LI.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916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87"/>
                </a:solidFill>
              </a:rPr>
              <a:t>Mitigation: OTDR testing planned 3/3. If Crown Castle issue confirmed, escalate to vendor.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1463040"/>
            <a:ext cx="59436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1463040"/>
            <a:ext cx="164592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61888" y="1499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149961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Cat 6 Cabling — Hicksville NSP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1901952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Cables ordered; Hawkeye scheduled to complete 3/3/2026.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2697480"/>
            <a:ext cx="59436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2697480"/>
            <a:ext cx="1645920" cy="34747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61888" y="27340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SCHEDULED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273405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OTDR Testing — Hicksville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3136392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Low dB levels. OTDR test set confirmed for 1550 &amp; 1310nm. Site visit 3/3–3/4/2026.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931920"/>
            <a:ext cx="59436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3931920"/>
            <a:ext cx="164592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61888" y="39684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396849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Remote Access — Phase 2 Nodes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4370832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NSP at Hicksville &amp; Melville. Remote access needed before router configuration can begin.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5166360"/>
            <a:ext cx="59436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5166360"/>
            <a:ext cx="1645920" cy="34747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61888" y="52029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520293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Phase 2 SSP / Security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5605272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Architecture review, security assessment, compliance readiness all approved 2/10/2026.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CIO Actions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3 Items for Decision or Awareness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6128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594360" cy="16916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591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097280"/>
            <a:ext cx="128016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12471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AWARENESS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1155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</a:rPr>
              <a:t>Schedule Recovery — Yellow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5270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Context: Phase 1 experienced a 2.5-week delay due to SSP documentation processing and inclement weather. The SPI stands at 0.75 for February.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920239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Detail: Recovery plan is in place. Remaining Phase 1 close-out items are remote (no site access required). Phase 2 engineering is running concurrently. Overall program target end date remains July 2027.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500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➤  No action required — for awareness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39"/>
            <a:ext cx="116128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34639"/>
            <a:ext cx="594360" cy="169164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42899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2880359"/>
            <a:ext cx="1280160" cy="34747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2907791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898647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</a:rPr>
              <a:t>Continue Phase 2 Vendor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10127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Context: Burns &amp; McDonnell Phase 2 SOW ($1.37M) is active. IFR design has commenced for 36 sites. Nokia equipment delivered to staging. Phase 2 is on track to hit IFC milestones per SOW schedule.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Detail: Confirm continued engagement of B&amp;McD and Elecnor Hawkeye for Phase 2 construction support as design packages are issued.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133087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87"/>
                </a:solidFill>
              </a:rPr>
              <a:t>➤  Approval requested to proceed with Phase 2 construction mobilization once IFC packages are complete (expected Q2 2026).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617720"/>
            <a:ext cx="116128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617720"/>
            <a:ext cx="594360" cy="1691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2120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4663440"/>
            <a:ext cx="12801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46908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6817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</a:rPr>
              <a:t>Crown Castle Fiber Issue — Hicksville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0932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Context: OTDR testing revealed low dB levels on fiber at Hicksville substation. This may be a Crown Castle infrastructure issue outside PSEG LI's control.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864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Detail: OTDR testing was scheduled for 3/3–3/4/2026. If confirmed as Crown Castle issue, formal escalation to Crown Castle will be required, which may impact Phase 2 schedule at that site.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9161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➤  Request CIO support if vendor escalation to Crown Castle is needed to expedite resolution.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Next Steps &amp; Path to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March 2026 — July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39496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1051560"/>
            <a:ext cx="603504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394960" cy="38404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IMMEDIATE (Next 30 Days)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36192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159105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59105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Hawkeye completes Cat 6 cabling for NSP at Hicksville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03120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15798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15798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OTDR testing at Hicksville — resolve Crown Castle fiber issue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70048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72491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7249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Remote router configuration begins (Layer 1-3 setup)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236976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329184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291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B&amp;McD continues Wave 1 IFR submissions (Far Rockaway, Valley Stream, Cedarhurst)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03904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" y="385876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587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PSEG LI review window opens for Wave 1 IFR packages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370832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442569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4256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Wave 1 IFC target completion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937759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4992623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Ongoing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992623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Weekly status calls with B&amp;McD; monthly schedule updates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51560"/>
            <a:ext cx="6035040" cy="38404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10789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PATH TO COMPLETION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1536192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97880" y="1536192"/>
            <a:ext cx="1371600" cy="5669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16168" y="164591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1645919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1 close-out &amp; Phase 2 IFR design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97880" y="2194560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7880" y="2194560"/>
            <a:ext cx="1371600" cy="5669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16168" y="23042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230428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2 IFC completion (all 36 sites)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97880" y="2852928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97880" y="2852928"/>
            <a:ext cx="1371600" cy="56692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16168" y="296265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Q2–Q3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96265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2 construction mobilization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97880" y="3511296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97880" y="3511296"/>
            <a:ext cx="1371600" cy="56692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16168" y="362102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Q3–Q4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62102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2 installations at all 36 sites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4169663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97880" y="4169663"/>
            <a:ext cx="1371600" cy="56692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16168" y="427939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27939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2 cutovers — Waves 3 &amp;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97880" y="4828031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97880" y="4828031"/>
            <a:ext cx="1371600" cy="56692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16168" y="493775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 2027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4937759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As-built documentation complete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97880" y="5486400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97880" y="5486400"/>
            <a:ext cx="1371600" cy="56692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16168" y="559612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Jul 2027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559612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🏁  Program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